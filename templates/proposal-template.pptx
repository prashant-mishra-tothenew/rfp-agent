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3" r:id="rId6"/>
    <p:sldMasterId id="2147483664"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Lst>
  <p:sldSz cy="5143500" cx="9144000"/>
  <p:notesSz cx="6858000" cy="9144000"/>
  <p:embeddedFontLst>
    <p:embeddedFont>
      <p:font typeface="Montserrat SemiBold"/>
      <p:regular r:id="rId37"/>
      <p:bold r:id="rId38"/>
      <p:italic r:id="rId39"/>
      <p:boldItalic r:id="rId40"/>
    </p:embeddedFont>
    <p:embeddedFont>
      <p:font typeface="Montserrat"/>
      <p:regular r:id="rId41"/>
      <p:bold r:id="rId42"/>
      <p:italic r:id="rId43"/>
      <p:boldItalic r:id="rId44"/>
    </p:embeddedFont>
    <p:embeddedFont>
      <p:font typeface="Montserrat Medium"/>
      <p:regular r:id="rId45"/>
      <p:bold r:id="rId46"/>
      <p:italic r:id="rId47"/>
      <p:boldItalic r:id="rId48"/>
    </p:embeddedFont>
    <p:embeddedFont>
      <p:font typeface="Tahoma"/>
      <p:regular r:id="rId49"/>
      <p:bold r:id="rId50"/>
    </p:embeddedFont>
    <p:embeddedFont>
      <p:font typeface="Montserrat Light"/>
      <p:regular r:id="rId51"/>
      <p:bold r:id="rId52"/>
      <p:italic r:id="rId53"/>
      <p:boldItalic r:id="rId54"/>
    </p:embeddedFont>
    <p:embeddedFont>
      <p:font typeface="Century Gothic"/>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g+XVHHZtUgQyD+yhX5zsEimkFhE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D1BC328-F04A-43E0-85B5-ED5C37AF30D6}">
  <a:tblStyle styleId="{0D1BC328-F04A-43E0-85B5-ED5C37AF30D6}"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E4DFB4FF-8893-4974-80CE-CFFE3B34FB83}" styleName="Table_1">
    <a:wholeTbl>
      <a:tcTxStyle b="off" i="off">
        <a:font>
          <a:latin typeface="Arial"/>
          <a:ea typeface="Arial"/>
          <a:cs typeface="Arial"/>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9EFF7"/>
          </a:solidFill>
        </a:fill>
      </a:tcStyle>
    </a:wholeTbl>
    <a:band1H>
      <a:tcTxStyle b="off" i="off"/>
      <a:tcStyle>
        <a:fill>
          <a:solidFill>
            <a:srgbClr val="D0DEEF"/>
          </a:solidFill>
        </a:fill>
      </a:tcStyle>
    </a:band1H>
    <a:band2H>
      <a:tcTxStyle b="off" i="off"/>
    </a:band2H>
    <a:band1V>
      <a:tcTxStyle b="off" i="off"/>
      <a:tcStyle>
        <a:fill>
          <a:solidFill>
            <a:srgbClr val="D0DEEF"/>
          </a:solidFill>
        </a:fill>
      </a:tcStyle>
    </a:band1V>
    <a:band2V>
      <a:tcTxStyle b="off" i="off"/>
    </a:band2V>
    <a:lastCol>
      <a:tcTxStyle b="on" i="off">
        <a:font>
          <a:latin typeface="Arial"/>
          <a:ea typeface="Arial"/>
          <a:cs typeface="Arial"/>
        </a:font>
        <a:srgbClr val="FFFFFF"/>
      </a:tcTxStyle>
      <a:tcStyle>
        <a:fill>
          <a:solidFill>
            <a:srgbClr val="D71B7F"/>
          </a:solidFill>
        </a:fill>
      </a:tcStyle>
    </a:lastCol>
    <a:firstCol>
      <a:tcTxStyle b="on" i="off">
        <a:font>
          <a:latin typeface="Arial"/>
          <a:ea typeface="Arial"/>
          <a:cs typeface="Arial"/>
        </a:font>
        <a:srgbClr val="FFFFFF"/>
      </a:tcTxStyle>
      <a:tcStyle>
        <a:fill>
          <a:solidFill>
            <a:srgbClr val="D71B7F"/>
          </a:solidFill>
        </a:fill>
      </a:tcStyle>
    </a:firstCol>
    <a:lastRow>
      <a:tcTxStyle b="on" i="off">
        <a:font>
          <a:latin typeface="Arial"/>
          <a:ea typeface="Arial"/>
          <a:cs typeface="Arial"/>
        </a:font>
        <a:srgbClr val="FFFFFF"/>
      </a:tcTxStyle>
      <a:tcStyle>
        <a:tcBdr>
          <a:top>
            <a:ln cap="flat" cmpd="sng" w="38100">
              <a:solidFill>
                <a:srgbClr val="FFFFFF"/>
              </a:solidFill>
              <a:prstDash val="solid"/>
              <a:round/>
              <a:headEnd len="sm" w="sm" type="none"/>
              <a:tailEnd len="sm" w="sm" type="none"/>
            </a:ln>
          </a:top>
        </a:tcBdr>
        <a:fill>
          <a:solidFill>
            <a:srgbClr val="D71B7F"/>
          </a:solidFill>
        </a:fill>
      </a:tcStyle>
    </a:lastRow>
    <a:seCell>
      <a:tcTxStyle b="off" i="off"/>
    </a:seCell>
    <a:swCell>
      <a:tcTxStyle b="off" i="off"/>
    </a:swCell>
    <a:firstRow>
      <a:tcTxStyle b="on" i="off">
        <a:font>
          <a:latin typeface="Arial"/>
          <a:ea typeface="Arial"/>
          <a:cs typeface="Arial"/>
        </a:font>
        <a:srgbClr val="FFFFFF"/>
      </a:tcTxStyle>
      <a:tcStyle>
        <a:tcBdr>
          <a:bottom>
            <a:ln cap="flat" cmpd="sng" w="38100">
              <a:solidFill>
                <a:srgbClr val="FFFFFF"/>
              </a:solidFill>
              <a:prstDash val="solid"/>
              <a:round/>
              <a:headEnd len="sm" w="sm" type="none"/>
              <a:tailEnd len="sm" w="sm" type="none"/>
            </a:ln>
          </a:bottom>
        </a:tcBdr>
        <a:fill>
          <a:solidFill>
            <a:srgbClr val="D71B7F"/>
          </a:solidFill>
        </a:fill>
      </a:tcStyle>
    </a:firstRow>
    <a:neCell>
      <a:tcTxStyle b="off" i="off"/>
    </a:neCell>
    <a:nwCell>
      <a:tcTxStyle b="off" i="off"/>
    </a:nwCell>
  </a:tblStyle>
  <a:tblStyle styleId="{8E411067-61D8-4564-84A8-C3C864F6D0E8}" styleName="Table_2">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D3CB79B0-8641-4349-AAA0-2024F650DA97}" styleName="Table_3">
    <a:wholeTbl>
      <a:tcTxStyle b="off" i="off">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font" Target="fonts/MontserratSemiBold-regular.fntdata"/><Relationship Id="rId38" Type="http://schemas.openxmlformats.org/officeDocument/2006/relationships/font" Target="fonts/MontserratSemiBold-bold.fntdata"/><Relationship Id="rId39" Type="http://schemas.openxmlformats.org/officeDocument/2006/relationships/font" Target="fonts/MontserratSemiBold-italic.fntdata"/><Relationship Id="rId40" Type="http://schemas.openxmlformats.org/officeDocument/2006/relationships/font" Target="fonts/MontserratSemiBold-boldItalic.fntdata"/><Relationship Id="rId41" Type="http://schemas.openxmlformats.org/officeDocument/2006/relationships/font" Target="fonts/Montserrat-regular.fntdata"/><Relationship Id="rId42" Type="http://schemas.openxmlformats.org/officeDocument/2006/relationships/font" Target="fonts/Montserrat-bold.fntdata"/><Relationship Id="rId43" Type="http://schemas.openxmlformats.org/officeDocument/2006/relationships/font" Target="fonts/Montserrat-italic.fntdata"/><Relationship Id="rId44" Type="http://schemas.openxmlformats.org/officeDocument/2006/relationships/font" Target="fonts/Montserrat-boldItalic.fntdata"/><Relationship Id="rId45" Type="http://schemas.openxmlformats.org/officeDocument/2006/relationships/font" Target="fonts/MontserratMedium-regular.fntdata"/><Relationship Id="rId46" Type="http://schemas.openxmlformats.org/officeDocument/2006/relationships/font" Target="fonts/MontserratMedium-bold.fntdata"/><Relationship Id="rId47" Type="http://schemas.openxmlformats.org/officeDocument/2006/relationships/font" Target="fonts/MontserratMedium-italic.fntdata"/><Relationship Id="rId48" Type="http://schemas.openxmlformats.org/officeDocument/2006/relationships/font" Target="fonts/MontserratMedium-boldItalic.fntdata"/><Relationship Id="rId49" Type="http://schemas.openxmlformats.org/officeDocument/2006/relationships/font" Target="fonts/Tahoma-regular.fntdata"/><Relationship Id="rId50" Type="http://schemas.openxmlformats.org/officeDocument/2006/relationships/font" Target="fonts/Tahoma-bold.fntdata"/><Relationship Id="rId51" Type="http://schemas.openxmlformats.org/officeDocument/2006/relationships/font" Target="fonts/MontserratLight-regular.fntdata"/><Relationship Id="rId52" Type="http://schemas.openxmlformats.org/officeDocument/2006/relationships/font" Target="fonts/MontserratLight-bold.fntdata"/><Relationship Id="rId53" Type="http://schemas.openxmlformats.org/officeDocument/2006/relationships/font" Target="fonts/MontserratLight-italic.fntdata"/><Relationship Id="rId54" Type="http://schemas.openxmlformats.org/officeDocument/2006/relationships/font" Target="fonts/MontserratLight-boldItalic.fntdata"/><Relationship Id="rId55" Type="http://schemas.openxmlformats.org/officeDocument/2006/relationships/font" Target="fonts/CenturyGothic-regular.fntdata"/><Relationship Id="rId56" Type="http://schemas.openxmlformats.org/officeDocument/2006/relationships/font" Target="fonts/CenturyGothic-bold.fntdata"/><Relationship Id="rId57" Type="http://schemas.openxmlformats.org/officeDocument/2006/relationships/font" Target="fonts/CenturyGothic-italic.fntdata"/><Relationship Id="rId58" Type="http://schemas.openxmlformats.org/officeDocument/2006/relationships/font" Target="fonts/CenturyGothic-boldItalic.fntdata"/><Relationship Id="rId5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sz="800">
                <a:solidFill>
                  <a:srgbClr val="666666"/>
                </a:solidFill>
                <a:latin typeface="Montserrat"/>
                <a:ea typeface="Montserrat"/>
                <a:cs typeface="Montserrat"/>
                <a:sym typeface="Montserrat"/>
              </a:rPr>
              <a:t>ChatBot Development - Sales &amp; After Sales ( Text to sequel problem)</a:t>
            </a:r>
            <a:endParaRPr sz="800">
              <a:latin typeface="Montserrat"/>
              <a:ea typeface="Montserrat"/>
              <a:cs typeface="Montserrat"/>
              <a:sym typeface="Montserrat"/>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 name="Google Shape;167;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457200" rtl="0" algn="l">
              <a:lnSpc>
                <a:spcPct val="115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9" name="Google Shape;189;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8" name="Google Shape;19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9" name="Google Shape;209;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9" name="Google Shape;219;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6" name="Google Shape;246;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5" name="Google Shape;255;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7" name="Google Shape;277;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9" name="Google Shape;29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8" name="Google Shape;30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8" name="Google Shape;33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5" name="Google Shape;355;p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7" name="Google Shape;377;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5" name="Google Shape;455;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1" name="Google Shape;5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4" name="Google Shape;544;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6" name="Google Shape;566;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p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78" name="Google Shape;578;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5" name="Google Shape;585;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7" name="Google Shape;607;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22" name="Google Shape;622;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38" name="Google Shape;638;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7" name="Google Shape;657;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6" name="Google Shape;666;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7.png"/><Relationship Id="rId9" Type="http://schemas.openxmlformats.org/officeDocument/2006/relationships/image" Target="../media/image9.png"/><Relationship Id="rId10"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2">
  <p:cSld name="TITLE_2">
    <p:spTree>
      <p:nvGrpSpPr>
        <p:cNvPr id="8" name="Shape 8"/>
        <p:cNvGrpSpPr/>
        <p:nvPr/>
      </p:nvGrpSpPr>
      <p:grpSpPr>
        <a:xfrm>
          <a:off x="0" y="0"/>
          <a:ext cx="0" cy="0"/>
          <a:chOff x="0" y="0"/>
          <a:chExt cx="0" cy="0"/>
        </a:xfrm>
      </p:grpSpPr>
      <p:pic>
        <p:nvPicPr>
          <p:cNvPr id="9" name="Google Shape;9;p30"/>
          <p:cNvPicPr preferRelativeResize="0"/>
          <p:nvPr/>
        </p:nvPicPr>
        <p:blipFill rotWithShape="1">
          <a:blip r:embed="rId2">
            <a:alphaModFix/>
          </a:blip>
          <a:srcRect b="0" l="0" r="0" t="0"/>
          <a:stretch/>
        </p:blipFill>
        <p:spPr>
          <a:xfrm>
            <a:off x="7465" y="0"/>
            <a:ext cx="9144008" cy="5143501"/>
          </a:xfrm>
          <a:prstGeom prst="rect">
            <a:avLst/>
          </a:prstGeom>
          <a:noFill/>
          <a:ln>
            <a:noFill/>
          </a:ln>
        </p:spPr>
      </p:pic>
      <p:sp>
        <p:nvSpPr>
          <p:cNvPr id="10" name="Google Shape;10;p30"/>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11" name="Google Shape;11;p30"/>
          <p:cNvPicPr preferRelativeResize="0"/>
          <p:nvPr/>
        </p:nvPicPr>
        <p:blipFill rotWithShape="1">
          <a:blip r:embed="rId3">
            <a:alphaModFix/>
          </a:blip>
          <a:srcRect b="0" l="0" r="0" t="0"/>
          <a:stretch/>
        </p:blipFill>
        <p:spPr>
          <a:xfrm>
            <a:off x="-10" y="5071684"/>
            <a:ext cx="9151473" cy="8044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ust Logo without Title 1">
  <p:cSld name="TITLE_AND_TWO_COLUMNS_2_1">
    <p:spTree>
      <p:nvGrpSpPr>
        <p:cNvPr id="12" name="Shape 12"/>
        <p:cNvGrpSpPr/>
        <p:nvPr/>
      </p:nvGrpSpPr>
      <p:grpSpPr>
        <a:xfrm>
          <a:off x="0" y="0"/>
          <a:ext cx="0" cy="0"/>
          <a:chOff x="0" y="0"/>
          <a:chExt cx="0" cy="0"/>
        </a:xfrm>
      </p:grpSpPr>
      <p:sp>
        <p:nvSpPr>
          <p:cNvPr id="13" name="Google Shape;13;p31"/>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31"/>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000000"/>
              </a:buClr>
              <a:buSzPts val="2000"/>
              <a:buFont typeface="Montserrat"/>
              <a:buNone/>
              <a:defRPr b="1" i="0" sz="2000" u="none" cap="none" strike="noStrike">
                <a:solidFill>
                  <a:srgbClr val="000000"/>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9pPr>
          </a:lstStyle>
          <a:p/>
        </p:txBody>
      </p:sp>
      <p:sp>
        <p:nvSpPr>
          <p:cNvPr id="15" name="Google Shape;15;p3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
              <a:t>‹#›</a:t>
            </a:fld>
            <a:endParaRPr/>
          </a:p>
        </p:txBody>
      </p:sp>
      <p:pic>
        <p:nvPicPr>
          <p:cNvPr descr="TTN Logo.png" id="16" name="Google Shape;16;p31"/>
          <p:cNvPicPr preferRelativeResize="0"/>
          <p:nvPr/>
        </p:nvPicPr>
        <p:blipFill rotWithShape="1">
          <a:blip r:embed="rId2">
            <a:alphaModFix/>
          </a:blip>
          <a:srcRect b="0" l="0" r="0" t="0"/>
          <a:stretch/>
        </p:blipFill>
        <p:spPr>
          <a:xfrm>
            <a:off x="8414781" y="117828"/>
            <a:ext cx="625544" cy="349439"/>
          </a:xfrm>
          <a:prstGeom prst="rect">
            <a:avLst/>
          </a:prstGeom>
          <a:noFill/>
          <a:ln>
            <a:noFill/>
          </a:ln>
        </p:spPr>
      </p:pic>
      <p:cxnSp>
        <p:nvCxnSpPr>
          <p:cNvPr id="17" name="Google Shape;17;p31"/>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19" name="Shape 19"/>
        <p:cNvGrpSpPr/>
        <p:nvPr/>
      </p:nvGrpSpPr>
      <p:grpSpPr>
        <a:xfrm>
          <a:off x="0" y="0"/>
          <a:ext cx="0" cy="0"/>
          <a:chOff x="0" y="0"/>
          <a:chExt cx="0" cy="0"/>
        </a:xfrm>
      </p:grpSpPr>
      <p:pic>
        <p:nvPicPr>
          <p:cNvPr id="20" name="Google Shape;20;p36"/>
          <p:cNvPicPr preferRelativeResize="0"/>
          <p:nvPr/>
        </p:nvPicPr>
        <p:blipFill rotWithShape="1">
          <a:blip r:embed="rId2">
            <a:alphaModFix/>
          </a:blip>
          <a:srcRect b="0" l="0" r="0" t="0"/>
          <a:stretch/>
        </p:blipFill>
        <p:spPr>
          <a:xfrm>
            <a:off x="7465" y="0"/>
            <a:ext cx="9144008" cy="5143501"/>
          </a:xfrm>
          <a:prstGeom prst="rect">
            <a:avLst/>
          </a:prstGeom>
          <a:noFill/>
          <a:ln>
            <a:noFill/>
          </a:ln>
        </p:spPr>
      </p:pic>
      <p:sp>
        <p:nvSpPr>
          <p:cNvPr id="21" name="Google Shape;21;p36"/>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36"/>
          <p:cNvPicPr preferRelativeResize="0"/>
          <p:nvPr/>
        </p:nvPicPr>
        <p:blipFill rotWithShape="1">
          <a:blip r:embed="rId3">
            <a:alphaModFix/>
          </a:blip>
          <a:srcRect b="0" l="0" r="0" t="0"/>
          <a:stretch/>
        </p:blipFill>
        <p:spPr>
          <a:xfrm>
            <a:off x="-10" y="5071684"/>
            <a:ext cx="9151473" cy="80441"/>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Slide">
  <p:cSld name="CUSTOM_6_1_1_1_1_1_1_1_2_1_2_1_1_1">
    <p:bg>
      <p:bgPr>
        <a:noFill/>
      </p:bgPr>
    </p:bg>
    <p:spTree>
      <p:nvGrpSpPr>
        <p:cNvPr id="23" name="Shape 23"/>
        <p:cNvGrpSpPr/>
        <p:nvPr/>
      </p:nvGrpSpPr>
      <p:grpSpPr>
        <a:xfrm>
          <a:off x="0" y="0"/>
          <a:ext cx="0" cy="0"/>
          <a:chOff x="0" y="0"/>
          <a:chExt cx="0" cy="0"/>
        </a:xfrm>
      </p:grpSpPr>
      <p:pic>
        <p:nvPicPr>
          <p:cNvPr id="24" name="Google Shape;24;p44"/>
          <p:cNvPicPr preferRelativeResize="0"/>
          <p:nvPr/>
        </p:nvPicPr>
        <p:blipFill rotWithShape="1">
          <a:blip r:embed="rId2">
            <a:alphaModFix/>
          </a:blip>
          <a:srcRect b="0" l="-10120" r="10120" t="0"/>
          <a:stretch/>
        </p:blipFill>
        <p:spPr>
          <a:xfrm>
            <a:off x="0" y="-7476"/>
            <a:ext cx="9143956" cy="5143501"/>
          </a:xfrm>
          <a:prstGeom prst="rect">
            <a:avLst/>
          </a:prstGeom>
          <a:noFill/>
          <a:ln>
            <a:noFill/>
          </a:ln>
        </p:spPr>
      </p:pic>
      <p:pic>
        <p:nvPicPr>
          <p:cNvPr descr="TTN Logo.png" id="25" name="Google Shape;25;p44"/>
          <p:cNvPicPr preferRelativeResize="0"/>
          <p:nvPr/>
        </p:nvPicPr>
        <p:blipFill rotWithShape="1">
          <a:blip r:embed="rId3">
            <a:alphaModFix/>
          </a:blip>
          <a:srcRect b="0" l="0" r="0" t="0"/>
          <a:stretch/>
        </p:blipFill>
        <p:spPr>
          <a:xfrm>
            <a:off x="8295649" y="178006"/>
            <a:ext cx="648924" cy="362494"/>
          </a:xfrm>
          <a:prstGeom prst="rect">
            <a:avLst/>
          </a:prstGeom>
          <a:noFill/>
          <a:ln>
            <a:noFill/>
          </a:ln>
        </p:spPr>
      </p:pic>
      <p:sp>
        <p:nvSpPr>
          <p:cNvPr id="26" name="Google Shape;26;p44"/>
          <p:cNvSpPr/>
          <p:nvPr/>
        </p:nvSpPr>
        <p:spPr>
          <a:xfrm>
            <a:off x="3929500" y="2179825"/>
            <a:ext cx="559800" cy="559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ust Logo without Title">
  <p:cSld name="TITLE_AND_TWO_COLUMNS_2">
    <p:spTree>
      <p:nvGrpSpPr>
        <p:cNvPr id="31" name="Shape 31"/>
        <p:cNvGrpSpPr/>
        <p:nvPr/>
      </p:nvGrpSpPr>
      <p:grpSpPr>
        <a:xfrm>
          <a:off x="0" y="0"/>
          <a:ext cx="0" cy="0"/>
          <a:chOff x="0" y="0"/>
          <a:chExt cx="0" cy="0"/>
        </a:xfrm>
      </p:grpSpPr>
      <p:sp>
        <p:nvSpPr>
          <p:cNvPr id="32" name="Google Shape;32;p33"/>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33"/>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000000"/>
              </a:buClr>
              <a:buSzPts val="2000"/>
              <a:buFont typeface="Montserrat"/>
              <a:buNone/>
              <a:defRPr b="1" i="0" sz="2000" u="none" cap="none" strike="noStrike">
                <a:solidFill>
                  <a:srgbClr val="000000"/>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9pPr>
          </a:lstStyle>
          <a:p/>
        </p:txBody>
      </p:sp>
      <p:pic>
        <p:nvPicPr>
          <p:cNvPr descr="TTN Logo.png" id="34" name="Google Shape;34;p33"/>
          <p:cNvPicPr preferRelativeResize="0"/>
          <p:nvPr/>
        </p:nvPicPr>
        <p:blipFill rotWithShape="1">
          <a:blip r:embed="rId2">
            <a:alphaModFix/>
          </a:blip>
          <a:srcRect b="0" l="0" r="0" t="0"/>
          <a:stretch/>
        </p:blipFill>
        <p:spPr>
          <a:xfrm>
            <a:off x="8414781" y="117828"/>
            <a:ext cx="625544" cy="349439"/>
          </a:xfrm>
          <a:prstGeom prst="rect">
            <a:avLst/>
          </a:prstGeom>
          <a:noFill/>
          <a:ln>
            <a:noFill/>
          </a:ln>
        </p:spPr>
      </p:pic>
      <p:cxnSp>
        <p:nvCxnSpPr>
          <p:cNvPr id="35" name="Google Shape;35;p33"/>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
        <p:nvSpPr>
          <p:cNvPr id="37" name="Google Shape;37;p3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ust Logo without Title 1">
  <p:cSld name="TITLE_AND_TWO_COLUMNS_2_1">
    <p:spTree>
      <p:nvGrpSpPr>
        <p:cNvPr id="38" name="Shape 38"/>
        <p:cNvGrpSpPr/>
        <p:nvPr/>
      </p:nvGrpSpPr>
      <p:grpSpPr>
        <a:xfrm>
          <a:off x="0" y="0"/>
          <a:ext cx="0" cy="0"/>
          <a:chOff x="0" y="0"/>
          <a:chExt cx="0" cy="0"/>
        </a:xfrm>
      </p:grpSpPr>
      <p:pic>
        <p:nvPicPr>
          <p:cNvPr id="39" name="Google Shape;39;p34"/>
          <p:cNvPicPr preferRelativeResize="0"/>
          <p:nvPr/>
        </p:nvPicPr>
        <p:blipFill rotWithShape="1">
          <a:blip r:embed="rId2">
            <a:alphaModFix/>
          </a:blip>
          <a:srcRect b="0" l="0" r="0" t="0"/>
          <a:stretch/>
        </p:blipFill>
        <p:spPr>
          <a:xfrm rot="10800000">
            <a:off x="-12" y="0"/>
            <a:ext cx="3890275" cy="5143501"/>
          </a:xfrm>
          <a:prstGeom prst="rect">
            <a:avLst/>
          </a:prstGeom>
          <a:noFill/>
          <a:ln>
            <a:noFill/>
          </a:ln>
        </p:spPr>
      </p:pic>
      <p:sp>
        <p:nvSpPr>
          <p:cNvPr id="40" name="Google Shape;40;p34"/>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34"/>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000000"/>
              </a:buClr>
              <a:buSzPts val="2000"/>
              <a:buFont typeface="Montserrat"/>
              <a:buNone/>
              <a:defRPr b="1" i="0" sz="2000" u="none" cap="none" strike="noStrike">
                <a:solidFill>
                  <a:srgbClr val="000000"/>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9pPr>
          </a:lstStyle>
          <a:p/>
        </p:txBody>
      </p:sp>
      <p:pic>
        <p:nvPicPr>
          <p:cNvPr descr="TTN Logo.png" id="42" name="Google Shape;42;p34"/>
          <p:cNvPicPr preferRelativeResize="0"/>
          <p:nvPr/>
        </p:nvPicPr>
        <p:blipFill rotWithShape="1">
          <a:blip r:embed="rId3">
            <a:alphaModFix/>
          </a:blip>
          <a:srcRect b="0" l="0" r="0" t="0"/>
          <a:stretch/>
        </p:blipFill>
        <p:spPr>
          <a:xfrm>
            <a:off x="8414781" y="117828"/>
            <a:ext cx="625544" cy="349439"/>
          </a:xfrm>
          <a:prstGeom prst="rect">
            <a:avLst/>
          </a:prstGeom>
          <a:noFill/>
          <a:ln>
            <a:noFill/>
          </a:ln>
        </p:spPr>
      </p:pic>
      <p:cxnSp>
        <p:nvCxnSpPr>
          <p:cNvPr id="43" name="Google Shape;43;p34"/>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45" name="Shape 45"/>
        <p:cNvGrpSpPr/>
        <p:nvPr/>
      </p:nvGrpSpPr>
      <p:grpSpPr>
        <a:xfrm>
          <a:off x="0" y="0"/>
          <a:ext cx="0" cy="0"/>
          <a:chOff x="0" y="0"/>
          <a:chExt cx="0" cy="0"/>
        </a:xfrm>
      </p:grpSpPr>
      <p:sp>
        <p:nvSpPr>
          <p:cNvPr id="46" name="Google Shape;46;p35"/>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1pPr>
            <a:lvl2pPr lvl="1"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5200"/>
              <a:buFont typeface="Arial"/>
              <a:buChar char="■"/>
              <a:defRPr b="0" i="0" sz="5200" u="none" cap="none" strike="noStrike">
                <a:solidFill>
                  <a:srgbClr val="000000"/>
                </a:solidFill>
                <a:latin typeface="Arial"/>
                <a:ea typeface="Arial"/>
                <a:cs typeface="Arial"/>
                <a:sym typeface="Arial"/>
              </a:defRPr>
            </a:lvl9pPr>
          </a:lstStyle>
          <a:p/>
        </p:txBody>
      </p:sp>
      <p:sp>
        <p:nvSpPr>
          <p:cNvPr id="47" name="Google Shape;47;p35"/>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lvl="1"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9pPr>
          </a:lstStyle>
          <a:p/>
        </p:txBody>
      </p:sp>
      <p:sp>
        <p:nvSpPr>
          <p:cNvPr id="48" name="Google Shape;48;p35"/>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400"/>
              <a:buFont typeface="Arial"/>
              <a:buNone/>
              <a:defRPr b="0" i="0" sz="14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p:cSld name="CUSTOM_6_1_1_1_1_1_1_1_2_1_2_1">
    <p:bg>
      <p:bgPr>
        <a:noFill/>
      </p:bgPr>
    </p:bg>
    <p:spTree>
      <p:nvGrpSpPr>
        <p:cNvPr id="49" name="Shape 49"/>
        <p:cNvGrpSpPr/>
        <p:nvPr/>
      </p:nvGrpSpPr>
      <p:grpSpPr>
        <a:xfrm>
          <a:off x="0" y="0"/>
          <a:ext cx="0" cy="0"/>
          <a:chOff x="0" y="0"/>
          <a:chExt cx="0" cy="0"/>
        </a:xfrm>
      </p:grpSpPr>
      <p:pic>
        <p:nvPicPr>
          <p:cNvPr id="50" name="Google Shape;50;p37"/>
          <p:cNvPicPr preferRelativeResize="0"/>
          <p:nvPr/>
        </p:nvPicPr>
        <p:blipFill rotWithShape="1">
          <a:blip r:embed="rId2">
            <a:alphaModFix/>
          </a:blip>
          <a:srcRect b="2519" l="41915" r="12791" t="6877"/>
          <a:stretch/>
        </p:blipFill>
        <p:spPr>
          <a:xfrm>
            <a:off x="5286150" y="0"/>
            <a:ext cx="3857848" cy="5143501"/>
          </a:xfrm>
          <a:prstGeom prst="rect">
            <a:avLst/>
          </a:prstGeom>
          <a:noFill/>
          <a:ln>
            <a:noFill/>
          </a:ln>
        </p:spPr>
      </p:pic>
      <p:sp>
        <p:nvSpPr>
          <p:cNvPr id="51" name="Google Shape;51;p37"/>
          <p:cNvSpPr/>
          <p:nvPr/>
        </p:nvSpPr>
        <p:spPr>
          <a:xfrm>
            <a:off x="0" y="-25"/>
            <a:ext cx="6464700" cy="5143500"/>
          </a:xfrm>
          <a:prstGeom prst="snip1Rect">
            <a:avLst>
              <a:gd fmla="val 18290" name="adj"/>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52" name="Google Shape;52;p37"/>
          <p:cNvCxnSpPr/>
          <p:nvPr/>
        </p:nvCxnSpPr>
        <p:spPr>
          <a:xfrm>
            <a:off x="6406775" y="3956400"/>
            <a:ext cx="0" cy="1187100"/>
          </a:xfrm>
          <a:prstGeom prst="straightConnector1">
            <a:avLst/>
          </a:prstGeom>
          <a:noFill/>
          <a:ln cap="flat" cmpd="sng" w="114300">
            <a:solidFill>
              <a:schemeClr val="accent3"/>
            </a:solidFill>
            <a:prstDash val="solid"/>
            <a:round/>
            <a:headEnd len="sm" w="sm" type="none"/>
            <a:tailEnd len="sm" w="sm" type="none"/>
          </a:ln>
        </p:spPr>
      </p:cxnSp>
      <p:pic>
        <p:nvPicPr>
          <p:cNvPr id="53" name="Google Shape;53;p37"/>
          <p:cNvPicPr preferRelativeResize="0"/>
          <p:nvPr/>
        </p:nvPicPr>
        <p:blipFill rotWithShape="1">
          <a:blip r:embed="rId3">
            <a:alphaModFix/>
          </a:blip>
          <a:srcRect b="56881" l="299" r="0" t="4"/>
          <a:stretch/>
        </p:blipFill>
        <p:spPr>
          <a:xfrm>
            <a:off x="-7475" y="5125600"/>
            <a:ext cx="9151474" cy="17899"/>
          </a:xfrm>
          <a:prstGeom prst="rect">
            <a:avLst/>
          </a:prstGeom>
          <a:noFill/>
          <a:ln>
            <a:noFill/>
          </a:ln>
        </p:spPr>
      </p:pic>
      <p:pic>
        <p:nvPicPr>
          <p:cNvPr id="54" name="Google Shape;54;p37"/>
          <p:cNvPicPr preferRelativeResize="0"/>
          <p:nvPr/>
        </p:nvPicPr>
        <p:blipFill rotWithShape="1">
          <a:blip r:embed="rId4">
            <a:alphaModFix/>
          </a:blip>
          <a:srcRect b="3747" l="0" r="0" t="3738"/>
          <a:stretch/>
        </p:blipFill>
        <p:spPr>
          <a:xfrm>
            <a:off x="5628871" y="4764214"/>
            <a:ext cx="527963" cy="207109"/>
          </a:xfrm>
          <a:prstGeom prst="rect">
            <a:avLst/>
          </a:prstGeom>
          <a:noFill/>
          <a:ln>
            <a:noFill/>
          </a:ln>
        </p:spPr>
      </p:pic>
      <p:pic>
        <p:nvPicPr>
          <p:cNvPr id="55" name="Google Shape;55;p37"/>
          <p:cNvPicPr preferRelativeResize="0"/>
          <p:nvPr/>
        </p:nvPicPr>
        <p:blipFill rotWithShape="1">
          <a:blip r:embed="rId5">
            <a:alphaModFix/>
          </a:blip>
          <a:srcRect b="0" l="0" r="0" t="0"/>
          <a:stretch/>
        </p:blipFill>
        <p:spPr>
          <a:xfrm>
            <a:off x="4492492" y="4767423"/>
            <a:ext cx="1005406" cy="200690"/>
          </a:xfrm>
          <a:prstGeom prst="rect">
            <a:avLst/>
          </a:prstGeom>
          <a:noFill/>
          <a:ln>
            <a:noFill/>
          </a:ln>
        </p:spPr>
      </p:pic>
      <p:sp>
        <p:nvSpPr>
          <p:cNvPr id="56" name="Google Shape;56;p37"/>
          <p:cNvSpPr txBox="1"/>
          <p:nvPr/>
        </p:nvSpPr>
        <p:spPr>
          <a:xfrm>
            <a:off x="160663" y="4752390"/>
            <a:ext cx="1432800" cy="230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Proudly recognised by</a:t>
            </a:r>
            <a:endParaRPr b="0" i="0" sz="800" u="none" cap="none" strike="noStrike">
              <a:solidFill>
                <a:srgbClr val="000000"/>
              </a:solidFill>
              <a:latin typeface="Montserrat"/>
              <a:ea typeface="Montserrat"/>
              <a:cs typeface="Montserrat"/>
              <a:sym typeface="Montserrat"/>
            </a:endParaRPr>
          </a:p>
        </p:txBody>
      </p:sp>
      <p:cxnSp>
        <p:nvCxnSpPr>
          <p:cNvPr id="57" name="Google Shape;57;p37"/>
          <p:cNvCxnSpPr/>
          <p:nvPr/>
        </p:nvCxnSpPr>
        <p:spPr>
          <a:xfrm>
            <a:off x="1434913" y="4877373"/>
            <a:ext cx="329100" cy="0"/>
          </a:xfrm>
          <a:prstGeom prst="straightConnector1">
            <a:avLst/>
          </a:prstGeom>
          <a:noFill/>
          <a:ln cap="flat" cmpd="sng" w="9525">
            <a:solidFill>
              <a:srgbClr val="D41883"/>
            </a:solidFill>
            <a:prstDash val="solid"/>
            <a:round/>
            <a:headEnd len="sm" w="sm" type="none"/>
            <a:tailEnd len="med" w="med" type="oval"/>
          </a:ln>
        </p:spPr>
      </p:cxnSp>
      <p:cxnSp>
        <p:nvCxnSpPr>
          <p:cNvPr id="58" name="Google Shape;58;p37"/>
          <p:cNvCxnSpPr/>
          <p:nvPr/>
        </p:nvCxnSpPr>
        <p:spPr>
          <a:xfrm>
            <a:off x="2619072" y="4811830"/>
            <a:ext cx="0" cy="158700"/>
          </a:xfrm>
          <a:prstGeom prst="straightConnector1">
            <a:avLst/>
          </a:prstGeom>
          <a:noFill/>
          <a:ln cap="flat" cmpd="sng" w="9525">
            <a:solidFill>
              <a:srgbClr val="999999"/>
            </a:solidFill>
            <a:prstDash val="dot"/>
            <a:round/>
            <a:headEnd len="sm" w="sm" type="none"/>
            <a:tailEnd len="sm" w="sm" type="none"/>
          </a:ln>
        </p:spPr>
      </p:cxnSp>
      <p:pic>
        <p:nvPicPr>
          <p:cNvPr id="59" name="Google Shape;59;p37"/>
          <p:cNvPicPr preferRelativeResize="0"/>
          <p:nvPr/>
        </p:nvPicPr>
        <p:blipFill rotWithShape="1">
          <a:blip r:embed="rId6">
            <a:alphaModFix/>
          </a:blip>
          <a:srcRect b="0" l="0" r="0" t="0"/>
          <a:stretch/>
        </p:blipFill>
        <p:spPr>
          <a:xfrm>
            <a:off x="3582794" y="4773820"/>
            <a:ext cx="772999" cy="207102"/>
          </a:xfrm>
          <a:prstGeom prst="rect">
            <a:avLst/>
          </a:prstGeom>
          <a:noFill/>
          <a:ln>
            <a:noFill/>
          </a:ln>
        </p:spPr>
      </p:pic>
      <p:cxnSp>
        <p:nvCxnSpPr>
          <p:cNvPr id="60" name="Google Shape;60;p37"/>
          <p:cNvCxnSpPr/>
          <p:nvPr/>
        </p:nvCxnSpPr>
        <p:spPr>
          <a:xfrm>
            <a:off x="3524628" y="4805984"/>
            <a:ext cx="0" cy="158700"/>
          </a:xfrm>
          <a:prstGeom prst="straightConnector1">
            <a:avLst/>
          </a:prstGeom>
          <a:noFill/>
          <a:ln cap="flat" cmpd="sng" w="9525">
            <a:solidFill>
              <a:srgbClr val="999999"/>
            </a:solidFill>
            <a:prstDash val="dot"/>
            <a:round/>
            <a:headEnd len="sm" w="sm" type="none"/>
            <a:tailEnd len="sm" w="sm" type="none"/>
          </a:ln>
        </p:spPr>
      </p:cxnSp>
      <p:cxnSp>
        <p:nvCxnSpPr>
          <p:cNvPr id="61" name="Google Shape;61;p37"/>
          <p:cNvCxnSpPr/>
          <p:nvPr/>
        </p:nvCxnSpPr>
        <p:spPr>
          <a:xfrm>
            <a:off x="4413966" y="4811830"/>
            <a:ext cx="0" cy="158700"/>
          </a:xfrm>
          <a:prstGeom prst="straightConnector1">
            <a:avLst/>
          </a:prstGeom>
          <a:noFill/>
          <a:ln cap="flat" cmpd="sng" w="9525">
            <a:solidFill>
              <a:srgbClr val="999999"/>
            </a:solidFill>
            <a:prstDash val="dot"/>
            <a:round/>
            <a:headEnd len="sm" w="sm" type="none"/>
            <a:tailEnd len="sm" w="sm" type="none"/>
          </a:ln>
        </p:spPr>
      </p:cxnSp>
      <p:cxnSp>
        <p:nvCxnSpPr>
          <p:cNvPr id="62" name="Google Shape;62;p37"/>
          <p:cNvCxnSpPr/>
          <p:nvPr/>
        </p:nvCxnSpPr>
        <p:spPr>
          <a:xfrm>
            <a:off x="5542956" y="4811830"/>
            <a:ext cx="0" cy="158700"/>
          </a:xfrm>
          <a:prstGeom prst="straightConnector1">
            <a:avLst/>
          </a:prstGeom>
          <a:noFill/>
          <a:ln cap="flat" cmpd="sng" w="9525">
            <a:solidFill>
              <a:srgbClr val="999999"/>
            </a:solidFill>
            <a:prstDash val="dot"/>
            <a:round/>
            <a:headEnd len="sm" w="sm" type="none"/>
            <a:tailEnd len="sm" w="sm" type="none"/>
          </a:ln>
        </p:spPr>
      </p:cxnSp>
      <p:pic>
        <p:nvPicPr>
          <p:cNvPr id="63" name="Google Shape;63;p37"/>
          <p:cNvPicPr preferRelativeResize="0"/>
          <p:nvPr/>
        </p:nvPicPr>
        <p:blipFill rotWithShape="1">
          <a:blip r:embed="rId7">
            <a:alphaModFix/>
          </a:blip>
          <a:srcRect b="0" l="0" r="0" t="0"/>
          <a:stretch/>
        </p:blipFill>
        <p:spPr>
          <a:xfrm>
            <a:off x="1835298" y="4767421"/>
            <a:ext cx="711135" cy="200693"/>
          </a:xfrm>
          <a:prstGeom prst="rect">
            <a:avLst/>
          </a:prstGeom>
          <a:noFill/>
          <a:ln>
            <a:noFill/>
          </a:ln>
        </p:spPr>
      </p:pic>
      <p:pic>
        <p:nvPicPr>
          <p:cNvPr id="64" name="Google Shape;64;p37"/>
          <p:cNvPicPr preferRelativeResize="0"/>
          <p:nvPr/>
        </p:nvPicPr>
        <p:blipFill rotWithShape="1">
          <a:blip r:embed="rId8">
            <a:alphaModFix/>
          </a:blip>
          <a:srcRect b="0" l="0" r="0" t="0"/>
          <a:stretch/>
        </p:blipFill>
        <p:spPr>
          <a:xfrm>
            <a:off x="2709573" y="4788445"/>
            <a:ext cx="730426" cy="158646"/>
          </a:xfrm>
          <a:prstGeom prst="rect">
            <a:avLst/>
          </a:prstGeom>
          <a:noFill/>
          <a:ln>
            <a:noFill/>
          </a:ln>
        </p:spPr>
      </p:pic>
      <p:pic>
        <p:nvPicPr>
          <p:cNvPr id="65" name="Google Shape;65;p37"/>
          <p:cNvPicPr preferRelativeResize="0"/>
          <p:nvPr/>
        </p:nvPicPr>
        <p:blipFill rotWithShape="1">
          <a:blip r:embed="rId9">
            <a:alphaModFix/>
          </a:blip>
          <a:srcRect b="0" l="0" r="0" t="0"/>
          <a:stretch/>
        </p:blipFill>
        <p:spPr>
          <a:xfrm>
            <a:off x="1238250" y="271780"/>
            <a:ext cx="1380825" cy="706105"/>
          </a:xfrm>
          <a:prstGeom prst="rect">
            <a:avLst/>
          </a:prstGeom>
          <a:noFill/>
          <a:ln>
            <a:noFill/>
          </a:ln>
        </p:spPr>
      </p:pic>
      <p:pic>
        <p:nvPicPr>
          <p:cNvPr id="66" name="Google Shape;66;p37"/>
          <p:cNvPicPr preferRelativeResize="0"/>
          <p:nvPr/>
        </p:nvPicPr>
        <p:blipFill rotWithShape="1">
          <a:blip r:embed="rId10">
            <a:alphaModFix/>
          </a:blip>
          <a:srcRect b="0" l="0" r="0" t="0"/>
          <a:stretch/>
        </p:blipFill>
        <p:spPr>
          <a:xfrm>
            <a:off x="190536" y="188515"/>
            <a:ext cx="941500" cy="1410499"/>
          </a:xfrm>
          <a:prstGeom prst="rect">
            <a:avLst/>
          </a:prstGeom>
          <a:noFill/>
          <a:ln>
            <a:noFill/>
          </a:ln>
        </p:spPr>
      </p:pic>
      <p:sp>
        <p:nvSpPr>
          <p:cNvPr id="67" name="Google Shape;67;p37"/>
          <p:cNvSpPr txBox="1"/>
          <p:nvPr>
            <p:ph type="title"/>
          </p:nvPr>
        </p:nvSpPr>
        <p:spPr>
          <a:xfrm>
            <a:off x="283675" y="2500825"/>
            <a:ext cx="5466600" cy="11346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1pPr>
            <a:lvl2pPr lvl="1"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2pPr>
            <a:lvl3pPr lvl="2"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3pPr>
            <a:lvl4pPr lvl="3"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4pPr>
            <a:lvl5pPr lvl="4"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5pPr>
            <a:lvl6pPr lvl="5"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6pPr>
            <a:lvl7pPr lvl="6"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7pPr>
            <a:lvl8pPr lvl="7"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8pPr>
            <a:lvl9pPr lvl="8" marR="0" rtl="0" algn="l">
              <a:lnSpc>
                <a:spcPct val="100000"/>
              </a:lnSpc>
              <a:spcBef>
                <a:spcPts val="0"/>
              </a:spcBef>
              <a:spcAft>
                <a:spcPts val="0"/>
              </a:spcAft>
              <a:buClr>
                <a:schemeClr val="accent1"/>
              </a:buClr>
              <a:buSzPts val="3700"/>
              <a:buFont typeface="Montserrat"/>
              <a:buNone/>
              <a:defRPr b="1" i="0" sz="3700" u="none" cap="none" strike="noStrike">
                <a:solidFill>
                  <a:schemeClr val="accent1"/>
                </a:solidFill>
                <a:latin typeface="Montserrat"/>
                <a:ea typeface="Montserrat"/>
                <a:cs typeface="Montserrat"/>
                <a:sym typeface="Montserrat"/>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Slide">
  <p:cSld name="CUSTOM_6_1_1_1_1_1_1_1_2_1_2_1_1_1">
    <p:bg>
      <p:bgPr>
        <a:noFill/>
      </p:bgPr>
    </p:bg>
    <p:spTree>
      <p:nvGrpSpPr>
        <p:cNvPr id="68" name="Shape 68"/>
        <p:cNvGrpSpPr/>
        <p:nvPr/>
      </p:nvGrpSpPr>
      <p:grpSpPr>
        <a:xfrm>
          <a:off x="0" y="0"/>
          <a:ext cx="0" cy="0"/>
          <a:chOff x="0" y="0"/>
          <a:chExt cx="0" cy="0"/>
        </a:xfrm>
      </p:grpSpPr>
      <p:pic>
        <p:nvPicPr>
          <p:cNvPr id="69" name="Google Shape;69;p38"/>
          <p:cNvPicPr preferRelativeResize="0"/>
          <p:nvPr/>
        </p:nvPicPr>
        <p:blipFill rotWithShape="1">
          <a:blip r:embed="rId2">
            <a:alphaModFix/>
          </a:blip>
          <a:srcRect b="0" l="-10120" r="10120" t="0"/>
          <a:stretch/>
        </p:blipFill>
        <p:spPr>
          <a:xfrm>
            <a:off x="0" y="-7476"/>
            <a:ext cx="9143956" cy="5143501"/>
          </a:xfrm>
          <a:prstGeom prst="rect">
            <a:avLst/>
          </a:prstGeom>
          <a:noFill/>
          <a:ln>
            <a:noFill/>
          </a:ln>
        </p:spPr>
      </p:pic>
      <p:pic>
        <p:nvPicPr>
          <p:cNvPr descr="TTN Logo.png" id="70" name="Google Shape;70;p38"/>
          <p:cNvPicPr preferRelativeResize="0"/>
          <p:nvPr/>
        </p:nvPicPr>
        <p:blipFill rotWithShape="1">
          <a:blip r:embed="rId3">
            <a:alphaModFix/>
          </a:blip>
          <a:srcRect b="0" l="0" r="0" t="0"/>
          <a:stretch/>
        </p:blipFill>
        <p:spPr>
          <a:xfrm>
            <a:off x="8295649" y="178006"/>
            <a:ext cx="648924" cy="362494"/>
          </a:xfrm>
          <a:prstGeom prst="rect">
            <a:avLst/>
          </a:prstGeom>
          <a:noFill/>
          <a:ln>
            <a:noFill/>
          </a:ln>
        </p:spPr>
      </p:pic>
      <p:sp>
        <p:nvSpPr>
          <p:cNvPr id="71" name="Google Shape;71;p38"/>
          <p:cNvSpPr/>
          <p:nvPr/>
        </p:nvSpPr>
        <p:spPr>
          <a:xfrm>
            <a:off x="3929500" y="2179825"/>
            <a:ext cx="559800" cy="559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with Black logo 1 1 1 1 1 1 1 2 1 2 1">
  <p:cSld name="CUSTOM_6_1_1_1_1_1_1_1_2_1_2_1_1">
    <p:bg>
      <p:bgPr>
        <a:noFill/>
      </p:bgPr>
    </p:bg>
    <p:spTree>
      <p:nvGrpSpPr>
        <p:cNvPr id="72" name="Shape 72"/>
        <p:cNvGrpSpPr/>
        <p:nvPr/>
      </p:nvGrpSpPr>
      <p:grpSpPr>
        <a:xfrm>
          <a:off x="0" y="0"/>
          <a:ext cx="0" cy="0"/>
          <a:chOff x="0" y="0"/>
          <a:chExt cx="0" cy="0"/>
        </a:xfrm>
      </p:grpSpPr>
      <p:pic>
        <p:nvPicPr>
          <p:cNvPr id="73" name="Google Shape;73;p39"/>
          <p:cNvPicPr preferRelativeResize="0"/>
          <p:nvPr/>
        </p:nvPicPr>
        <p:blipFill rotWithShape="1">
          <a:blip r:embed="rId2">
            <a:alphaModFix/>
          </a:blip>
          <a:srcRect b="2519" l="41915" r="12791" t="6877"/>
          <a:stretch/>
        </p:blipFill>
        <p:spPr>
          <a:xfrm>
            <a:off x="5286150" y="0"/>
            <a:ext cx="3857848" cy="5143501"/>
          </a:xfrm>
          <a:prstGeom prst="rect">
            <a:avLst/>
          </a:prstGeom>
          <a:noFill/>
          <a:ln>
            <a:noFill/>
          </a:ln>
        </p:spPr>
      </p:pic>
      <p:sp>
        <p:nvSpPr>
          <p:cNvPr id="74" name="Google Shape;74;p3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39"/>
          <p:cNvSpPr/>
          <p:nvPr/>
        </p:nvSpPr>
        <p:spPr>
          <a:xfrm>
            <a:off x="0" y="-25"/>
            <a:ext cx="6464700" cy="5143500"/>
          </a:xfrm>
          <a:prstGeom prst="snip1Rect">
            <a:avLst>
              <a:gd fmla="val 18290" name="adj"/>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76" name="Google Shape;76;p39"/>
          <p:cNvCxnSpPr/>
          <p:nvPr/>
        </p:nvCxnSpPr>
        <p:spPr>
          <a:xfrm>
            <a:off x="6406775" y="3956400"/>
            <a:ext cx="0" cy="1187100"/>
          </a:xfrm>
          <a:prstGeom prst="straightConnector1">
            <a:avLst/>
          </a:prstGeom>
          <a:noFill/>
          <a:ln cap="flat" cmpd="sng" w="114300">
            <a:solidFill>
              <a:schemeClr val="accent3"/>
            </a:solidFill>
            <a:prstDash val="solid"/>
            <a:round/>
            <a:headEnd len="sm" w="sm" type="none"/>
            <a:tailEnd len="sm" w="sm" type="none"/>
          </a:ln>
        </p:spPr>
      </p:cxnSp>
      <p:pic>
        <p:nvPicPr>
          <p:cNvPr id="77" name="Google Shape;77;p39"/>
          <p:cNvPicPr preferRelativeResize="0"/>
          <p:nvPr/>
        </p:nvPicPr>
        <p:blipFill rotWithShape="1">
          <a:blip r:embed="rId3">
            <a:alphaModFix/>
          </a:blip>
          <a:srcRect b="56881" l="299" r="0" t="4"/>
          <a:stretch/>
        </p:blipFill>
        <p:spPr>
          <a:xfrm>
            <a:off x="-7475" y="5125600"/>
            <a:ext cx="9151474" cy="17899"/>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Slide - with Title &amp; Logo  4">
  <p:cSld name="TITLE_AND_TWO_COLUMNS_1_2_7">
    <p:spTree>
      <p:nvGrpSpPr>
        <p:cNvPr id="78" name="Shape 78"/>
        <p:cNvGrpSpPr/>
        <p:nvPr/>
      </p:nvGrpSpPr>
      <p:grpSpPr>
        <a:xfrm>
          <a:off x="0" y="0"/>
          <a:ext cx="0" cy="0"/>
          <a:chOff x="0" y="0"/>
          <a:chExt cx="0" cy="0"/>
        </a:xfrm>
      </p:grpSpPr>
      <p:sp>
        <p:nvSpPr>
          <p:cNvPr id="79" name="Google Shape;79;p40"/>
          <p:cNvSpPr txBox="1"/>
          <p:nvPr>
            <p:ph type="ctrTitle"/>
          </p:nvPr>
        </p:nvSpPr>
        <p:spPr>
          <a:xfrm>
            <a:off x="264425" y="171950"/>
            <a:ext cx="6858000" cy="290100"/>
          </a:xfrm>
          <a:prstGeom prst="rect">
            <a:avLst/>
          </a:prstGeom>
          <a:noFill/>
          <a:ln>
            <a:noFill/>
          </a:ln>
        </p:spPr>
        <p:txBody>
          <a:bodyPr anchorCtr="0" anchor="t" bIns="91425" lIns="0" spcFirstLastPara="1" rIns="91425" wrap="square" tIns="0">
            <a:noAutofit/>
          </a:bodyPr>
          <a:lstStyle>
            <a:lvl1pPr lvl="0" marR="0" rtl="0" algn="l">
              <a:lnSpc>
                <a:spcPct val="90000"/>
              </a:lnSpc>
              <a:spcBef>
                <a:spcPts val="0"/>
              </a:spcBef>
              <a:spcAft>
                <a:spcPts val="0"/>
              </a:spcAft>
              <a:buClr>
                <a:schemeClr val="dk1"/>
              </a:buClr>
              <a:buSzPts val="2100"/>
              <a:buFont typeface="Tahoma"/>
              <a:buNone/>
              <a:defRPr b="1" i="0" sz="2100" u="none" cap="none" strike="noStrike">
                <a:solidFill>
                  <a:schemeClr val="dk1"/>
                </a:solidFill>
                <a:latin typeface="Tahoma"/>
                <a:ea typeface="Tahoma"/>
                <a:cs typeface="Tahoma"/>
                <a:sym typeface="Tahoma"/>
              </a:defRPr>
            </a:lvl1pPr>
            <a:lvl2pPr lvl="1"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2pPr>
            <a:lvl3pPr lvl="2"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3pPr>
            <a:lvl4pPr lvl="3"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4pPr>
            <a:lvl5pPr lvl="4"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5pPr>
            <a:lvl6pPr lvl="5"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6pPr>
            <a:lvl7pPr lvl="6"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7pPr>
            <a:lvl8pPr lvl="7"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8pPr>
            <a:lvl9pPr lvl="8"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9pPr>
          </a:lstStyle>
          <a:p/>
        </p:txBody>
      </p:sp>
      <p:pic>
        <p:nvPicPr>
          <p:cNvPr descr="TTN Logo.png" id="80" name="Google Shape;80;p40"/>
          <p:cNvPicPr preferRelativeResize="0"/>
          <p:nvPr/>
        </p:nvPicPr>
        <p:blipFill rotWithShape="1">
          <a:blip r:embed="rId2">
            <a:alphaModFix/>
          </a:blip>
          <a:srcRect b="0" l="0" r="0" t="0"/>
          <a:stretch/>
        </p:blipFill>
        <p:spPr>
          <a:xfrm>
            <a:off x="8414781" y="117828"/>
            <a:ext cx="625544" cy="349439"/>
          </a:xfrm>
          <a:prstGeom prst="rect">
            <a:avLst/>
          </a:prstGeom>
          <a:noFill/>
          <a:ln>
            <a:noFill/>
          </a:ln>
        </p:spPr>
      </p:pic>
      <p:cxnSp>
        <p:nvCxnSpPr>
          <p:cNvPr id="81" name="Google Shape;81;p40"/>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Slide - with Title &amp; Logo  2">
  <p:cSld name="TITLE_AND_TWO_COLUMNS_1_2_9">
    <p:spTree>
      <p:nvGrpSpPr>
        <p:cNvPr id="83" name="Shape 83"/>
        <p:cNvGrpSpPr/>
        <p:nvPr/>
      </p:nvGrpSpPr>
      <p:grpSpPr>
        <a:xfrm>
          <a:off x="0" y="0"/>
          <a:ext cx="0" cy="0"/>
          <a:chOff x="0" y="0"/>
          <a:chExt cx="0" cy="0"/>
        </a:xfrm>
      </p:grpSpPr>
      <p:sp>
        <p:nvSpPr>
          <p:cNvPr id="84" name="Google Shape;84;p41"/>
          <p:cNvSpPr txBox="1"/>
          <p:nvPr>
            <p:ph type="ctrTitle"/>
          </p:nvPr>
        </p:nvSpPr>
        <p:spPr>
          <a:xfrm>
            <a:off x="264425" y="171950"/>
            <a:ext cx="6858000" cy="290100"/>
          </a:xfrm>
          <a:prstGeom prst="rect">
            <a:avLst/>
          </a:prstGeom>
          <a:noFill/>
          <a:ln>
            <a:noFill/>
          </a:ln>
        </p:spPr>
        <p:txBody>
          <a:bodyPr anchorCtr="0" anchor="t" bIns="91425" lIns="0" spcFirstLastPara="1" rIns="91425" wrap="square" tIns="0">
            <a:noAutofit/>
          </a:bodyPr>
          <a:lstStyle>
            <a:lvl1pPr lvl="0" marR="0" rtl="0" algn="l">
              <a:lnSpc>
                <a:spcPct val="90000"/>
              </a:lnSpc>
              <a:spcBef>
                <a:spcPts val="0"/>
              </a:spcBef>
              <a:spcAft>
                <a:spcPts val="0"/>
              </a:spcAft>
              <a:buClr>
                <a:schemeClr val="dk1"/>
              </a:buClr>
              <a:buSzPts val="2100"/>
              <a:buFont typeface="Tahoma"/>
              <a:buNone/>
              <a:defRPr b="1" i="0" sz="2100" u="none" cap="none" strike="noStrike">
                <a:solidFill>
                  <a:schemeClr val="dk1"/>
                </a:solidFill>
                <a:latin typeface="Tahoma"/>
                <a:ea typeface="Tahoma"/>
                <a:cs typeface="Tahoma"/>
                <a:sym typeface="Tahoma"/>
              </a:defRPr>
            </a:lvl1pPr>
            <a:lvl2pPr lvl="1"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2pPr>
            <a:lvl3pPr lvl="2"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3pPr>
            <a:lvl4pPr lvl="3"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4pPr>
            <a:lvl5pPr lvl="4"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5pPr>
            <a:lvl6pPr lvl="5"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6pPr>
            <a:lvl7pPr lvl="6"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7pPr>
            <a:lvl8pPr lvl="7"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8pPr>
            <a:lvl9pPr lvl="8"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9pPr>
          </a:lstStyle>
          <a:p/>
        </p:txBody>
      </p:sp>
      <p:pic>
        <p:nvPicPr>
          <p:cNvPr descr="TTN Logo.png" id="85" name="Google Shape;85;p41"/>
          <p:cNvPicPr preferRelativeResize="0"/>
          <p:nvPr/>
        </p:nvPicPr>
        <p:blipFill rotWithShape="1">
          <a:blip r:embed="rId2">
            <a:alphaModFix/>
          </a:blip>
          <a:srcRect b="0" l="0" r="0" t="0"/>
          <a:stretch/>
        </p:blipFill>
        <p:spPr>
          <a:xfrm>
            <a:off x="8414781" y="117828"/>
            <a:ext cx="625544" cy="349439"/>
          </a:xfrm>
          <a:prstGeom prst="rect">
            <a:avLst/>
          </a:prstGeom>
          <a:noFill/>
          <a:ln>
            <a:noFill/>
          </a:ln>
        </p:spPr>
      </p:pic>
      <p:cxnSp>
        <p:nvCxnSpPr>
          <p:cNvPr id="86" name="Google Shape;86;p41"/>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Slide - with Title &amp; Logo  3">
  <p:cSld name="TITLE_AND_TWO_COLUMNS_1_2_10">
    <p:spTree>
      <p:nvGrpSpPr>
        <p:cNvPr id="88" name="Shape 88"/>
        <p:cNvGrpSpPr/>
        <p:nvPr/>
      </p:nvGrpSpPr>
      <p:grpSpPr>
        <a:xfrm>
          <a:off x="0" y="0"/>
          <a:ext cx="0" cy="0"/>
          <a:chOff x="0" y="0"/>
          <a:chExt cx="0" cy="0"/>
        </a:xfrm>
      </p:grpSpPr>
      <p:sp>
        <p:nvSpPr>
          <p:cNvPr id="89" name="Google Shape;89;p42"/>
          <p:cNvSpPr txBox="1"/>
          <p:nvPr>
            <p:ph type="ctrTitle"/>
          </p:nvPr>
        </p:nvSpPr>
        <p:spPr>
          <a:xfrm>
            <a:off x="264425" y="171950"/>
            <a:ext cx="6858000" cy="290100"/>
          </a:xfrm>
          <a:prstGeom prst="rect">
            <a:avLst/>
          </a:prstGeom>
          <a:noFill/>
          <a:ln>
            <a:noFill/>
          </a:ln>
        </p:spPr>
        <p:txBody>
          <a:bodyPr anchorCtr="0" anchor="t" bIns="91425" lIns="0" spcFirstLastPara="1" rIns="91425" wrap="square" tIns="0">
            <a:noAutofit/>
          </a:bodyPr>
          <a:lstStyle>
            <a:lvl1pPr lvl="0" marR="0" rtl="0" algn="l">
              <a:lnSpc>
                <a:spcPct val="90000"/>
              </a:lnSpc>
              <a:spcBef>
                <a:spcPts val="0"/>
              </a:spcBef>
              <a:spcAft>
                <a:spcPts val="0"/>
              </a:spcAft>
              <a:buClr>
                <a:schemeClr val="dk1"/>
              </a:buClr>
              <a:buSzPts val="2100"/>
              <a:buFont typeface="Tahoma"/>
              <a:buNone/>
              <a:defRPr b="1" i="0" sz="2100" u="none" cap="none" strike="noStrike">
                <a:solidFill>
                  <a:schemeClr val="dk1"/>
                </a:solidFill>
                <a:latin typeface="Tahoma"/>
                <a:ea typeface="Tahoma"/>
                <a:cs typeface="Tahoma"/>
                <a:sym typeface="Tahoma"/>
              </a:defRPr>
            </a:lvl1pPr>
            <a:lvl2pPr lvl="1"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2pPr>
            <a:lvl3pPr lvl="2"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3pPr>
            <a:lvl4pPr lvl="3"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4pPr>
            <a:lvl5pPr lvl="4"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5pPr>
            <a:lvl6pPr lvl="5"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6pPr>
            <a:lvl7pPr lvl="6"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7pPr>
            <a:lvl8pPr lvl="7"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8pPr>
            <a:lvl9pPr lvl="8" marR="0" rtl="0" algn="l">
              <a:lnSpc>
                <a:spcPct val="100000"/>
              </a:lnSpc>
              <a:spcBef>
                <a:spcPts val="0"/>
              </a:spcBef>
              <a:spcAft>
                <a:spcPts val="0"/>
              </a:spcAft>
              <a:buClr>
                <a:srgbClr val="000000"/>
              </a:buClr>
              <a:buSzPts val="2100"/>
              <a:buFont typeface="Tahoma"/>
              <a:buNone/>
              <a:defRPr b="0" i="0" sz="2100" u="none" cap="none" strike="noStrike">
                <a:solidFill>
                  <a:srgbClr val="000000"/>
                </a:solidFill>
                <a:latin typeface="Tahoma"/>
                <a:ea typeface="Tahoma"/>
                <a:cs typeface="Tahoma"/>
                <a:sym typeface="Tahoma"/>
              </a:defRPr>
            </a:lvl9pPr>
          </a:lstStyle>
          <a:p/>
        </p:txBody>
      </p:sp>
      <p:pic>
        <p:nvPicPr>
          <p:cNvPr descr="TTN Logo.png" id="90" name="Google Shape;90;p42"/>
          <p:cNvPicPr preferRelativeResize="0"/>
          <p:nvPr/>
        </p:nvPicPr>
        <p:blipFill rotWithShape="1">
          <a:blip r:embed="rId2">
            <a:alphaModFix/>
          </a:blip>
          <a:srcRect b="0" l="0" r="0" t="0"/>
          <a:stretch/>
        </p:blipFill>
        <p:spPr>
          <a:xfrm>
            <a:off x="8295649" y="178006"/>
            <a:ext cx="648924" cy="36249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Just Logo without Title 1 1 1">
  <p:cSld name="TITLE_AND_TWO_COLUMNS_2_1_1_1">
    <p:spTree>
      <p:nvGrpSpPr>
        <p:cNvPr id="91" name="Shape 91"/>
        <p:cNvGrpSpPr/>
        <p:nvPr/>
      </p:nvGrpSpPr>
      <p:grpSpPr>
        <a:xfrm>
          <a:off x="0" y="0"/>
          <a:ext cx="0" cy="0"/>
          <a:chOff x="0" y="0"/>
          <a:chExt cx="0" cy="0"/>
        </a:xfrm>
      </p:grpSpPr>
      <p:pic>
        <p:nvPicPr>
          <p:cNvPr id="92" name="Google Shape;92;p43"/>
          <p:cNvPicPr preferRelativeResize="0"/>
          <p:nvPr/>
        </p:nvPicPr>
        <p:blipFill rotWithShape="1">
          <a:blip r:embed="rId2">
            <a:alphaModFix/>
          </a:blip>
          <a:srcRect b="0" l="0" r="0" t="0"/>
          <a:stretch/>
        </p:blipFill>
        <p:spPr>
          <a:xfrm rot="10800000">
            <a:off x="-12" y="0"/>
            <a:ext cx="3890275" cy="5143501"/>
          </a:xfrm>
          <a:prstGeom prst="rect">
            <a:avLst/>
          </a:prstGeom>
          <a:noFill/>
          <a:ln>
            <a:noFill/>
          </a:ln>
        </p:spPr>
      </p:pic>
      <p:sp>
        <p:nvSpPr>
          <p:cNvPr id="93" name="Google Shape;93;p43"/>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 name="Google Shape;94;p43"/>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000000"/>
              </a:buClr>
              <a:buSzPts val="2000"/>
              <a:buFont typeface="Montserrat"/>
              <a:buNone/>
              <a:defRPr b="1" i="0" sz="2000" u="none" cap="none" strike="noStrike">
                <a:solidFill>
                  <a:srgbClr val="000000"/>
                </a:solidFill>
                <a:latin typeface="Montserrat"/>
                <a:ea typeface="Montserrat"/>
                <a:cs typeface="Montserrat"/>
                <a:sym typeface="Montserrat"/>
              </a:defRPr>
            </a:lvl1pPr>
            <a:lvl2pPr lvl="1"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2pPr>
            <a:lvl3pPr lvl="2"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3pPr>
            <a:lvl4pPr lvl="3"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4pPr>
            <a:lvl5pPr lvl="4"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5pPr>
            <a:lvl6pPr lvl="5"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6pPr>
            <a:lvl7pPr lvl="6"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7pPr>
            <a:lvl8pPr lvl="7"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8pPr>
            <a:lvl9pPr lvl="8" marR="0" rtl="0" algn="l">
              <a:lnSpc>
                <a:spcPct val="100000"/>
              </a:lnSpc>
              <a:spcBef>
                <a:spcPts val="0"/>
              </a:spcBef>
              <a:spcAft>
                <a:spcPts val="0"/>
              </a:spcAft>
              <a:buClr>
                <a:srgbClr val="000000"/>
              </a:buClr>
              <a:buSzPts val="1400"/>
              <a:buFont typeface="Montserrat"/>
              <a:buNone/>
              <a:defRPr b="1" i="0" sz="1400" u="none" cap="none" strike="noStrike">
                <a:solidFill>
                  <a:srgbClr val="000000"/>
                </a:solidFill>
                <a:latin typeface="Montserrat"/>
                <a:ea typeface="Montserrat"/>
                <a:cs typeface="Montserrat"/>
                <a:sym typeface="Montserrat"/>
              </a:defRPr>
            </a:lvl9pPr>
          </a:lstStyle>
          <a:p/>
        </p:txBody>
      </p:sp>
      <p:sp>
        <p:nvSpPr>
          <p:cNvPr id="95" name="Google Shape;95;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000000"/>
                </a:solidFill>
                <a:latin typeface="Montserrat"/>
                <a:ea typeface="Montserrat"/>
                <a:cs typeface="Montserrat"/>
                <a:sym typeface="Montserrat"/>
              </a:defRPr>
            </a:lvl9pPr>
          </a:lstStyle>
          <a:p>
            <a:pPr indent="0" lvl="0" marL="0" rtl="0" algn="r">
              <a:spcBef>
                <a:spcPts val="0"/>
              </a:spcBef>
              <a:spcAft>
                <a:spcPts val="0"/>
              </a:spcAft>
              <a:buNone/>
            </a:pPr>
            <a:fld id="{00000000-1234-1234-1234-123412341234}" type="slidenum">
              <a:rPr lang="en"/>
              <a:t>‹#›</a:t>
            </a:fld>
            <a:endParaRPr/>
          </a:p>
        </p:txBody>
      </p:sp>
      <p:pic>
        <p:nvPicPr>
          <p:cNvPr descr="TTN Logo.png" id="96" name="Google Shape;96;p43"/>
          <p:cNvPicPr preferRelativeResize="0"/>
          <p:nvPr/>
        </p:nvPicPr>
        <p:blipFill rotWithShape="1">
          <a:blip r:embed="rId3">
            <a:alphaModFix/>
          </a:blip>
          <a:srcRect b="0" l="0" r="0" t="0"/>
          <a:stretch/>
        </p:blipFill>
        <p:spPr>
          <a:xfrm>
            <a:off x="8414781" y="117828"/>
            <a:ext cx="625544" cy="349439"/>
          </a:xfrm>
          <a:prstGeom prst="rect">
            <a:avLst/>
          </a:prstGeom>
          <a:noFill/>
          <a:ln>
            <a:noFill/>
          </a:ln>
        </p:spPr>
      </p:pic>
      <p:cxnSp>
        <p:nvCxnSpPr>
          <p:cNvPr id="97" name="Google Shape;97;p43"/>
          <p:cNvCxnSpPr/>
          <p:nvPr/>
        </p:nvCxnSpPr>
        <p:spPr>
          <a:xfrm>
            <a:off x="8286793" y="153689"/>
            <a:ext cx="0" cy="324300"/>
          </a:xfrm>
          <a:prstGeom prst="straightConnector1">
            <a:avLst/>
          </a:prstGeom>
          <a:noFill/>
          <a:ln cap="flat" cmpd="sng" w="9525">
            <a:solidFill>
              <a:srgbClr val="595959"/>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3" name="Shape 103"/>
        <p:cNvGrpSpPr/>
        <p:nvPr/>
      </p:nvGrpSpPr>
      <p:grpSpPr>
        <a:xfrm>
          <a:off x="0" y="0"/>
          <a:ext cx="0" cy="0"/>
          <a:chOff x="0" y="0"/>
          <a:chExt cx="0" cy="0"/>
        </a:xfrm>
      </p:grpSpPr>
      <p:sp>
        <p:nvSpPr>
          <p:cNvPr id="104" name="Google Shape;104;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05" name="Google Shape;105;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06" name="Google Shape;106;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7" name="Shape 107"/>
        <p:cNvGrpSpPr/>
        <p:nvPr/>
      </p:nvGrpSpPr>
      <p:grpSpPr>
        <a:xfrm>
          <a:off x="0" y="0"/>
          <a:ext cx="0" cy="0"/>
          <a:chOff x="0" y="0"/>
          <a:chExt cx="0" cy="0"/>
        </a:xfrm>
      </p:grpSpPr>
      <p:sp>
        <p:nvSpPr>
          <p:cNvPr id="108" name="Google Shape;108;p4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09" name="Google Shape;109;p4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10" name="Shape 110"/>
        <p:cNvGrpSpPr/>
        <p:nvPr/>
      </p:nvGrpSpPr>
      <p:grpSpPr>
        <a:xfrm>
          <a:off x="0" y="0"/>
          <a:ext cx="0" cy="0"/>
          <a:chOff x="0" y="0"/>
          <a:chExt cx="0" cy="0"/>
        </a:xfrm>
      </p:grpSpPr>
      <p:sp>
        <p:nvSpPr>
          <p:cNvPr id="111" name="Google Shape;111;p4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2" name="Google Shape;112;p4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13" name="Google Shape;113;p4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4" name="Shape 114"/>
        <p:cNvGrpSpPr/>
        <p:nvPr/>
      </p:nvGrpSpPr>
      <p:grpSpPr>
        <a:xfrm>
          <a:off x="0" y="0"/>
          <a:ext cx="0" cy="0"/>
          <a:chOff x="0" y="0"/>
          <a:chExt cx="0" cy="0"/>
        </a:xfrm>
      </p:grpSpPr>
      <p:sp>
        <p:nvSpPr>
          <p:cNvPr id="115" name="Google Shape;115;p4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6" name="Google Shape;116;p4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17" name="Google Shape;117;p4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18" name="Google Shape;118;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9" name="Shape 119"/>
        <p:cNvGrpSpPr/>
        <p:nvPr/>
      </p:nvGrpSpPr>
      <p:grpSpPr>
        <a:xfrm>
          <a:off x="0" y="0"/>
          <a:ext cx="0" cy="0"/>
          <a:chOff x="0" y="0"/>
          <a:chExt cx="0" cy="0"/>
        </a:xfrm>
      </p:grpSpPr>
      <p:sp>
        <p:nvSpPr>
          <p:cNvPr id="120" name="Google Shape;120;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1" name="Google Shape;121;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2" name="Shape 122"/>
        <p:cNvGrpSpPr/>
        <p:nvPr/>
      </p:nvGrpSpPr>
      <p:grpSpPr>
        <a:xfrm>
          <a:off x="0" y="0"/>
          <a:ext cx="0" cy="0"/>
          <a:chOff x="0" y="0"/>
          <a:chExt cx="0" cy="0"/>
        </a:xfrm>
      </p:grpSpPr>
      <p:sp>
        <p:nvSpPr>
          <p:cNvPr id="123" name="Google Shape;123;p5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24" name="Google Shape;124;p5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25" name="Google Shape;125;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26" name="Shape 126"/>
        <p:cNvGrpSpPr/>
        <p:nvPr/>
      </p:nvGrpSpPr>
      <p:grpSpPr>
        <a:xfrm>
          <a:off x="0" y="0"/>
          <a:ext cx="0" cy="0"/>
          <a:chOff x="0" y="0"/>
          <a:chExt cx="0" cy="0"/>
        </a:xfrm>
      </p:grpSpPr>
      <p:sp>
        <p:nvSpPr>
          <p:cNvPr id="127" name="Google Shape;127;p5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128" name="Google Shape;128;p5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9" name="Shape 129"/>
        <p:cNvGrpSpPr/>
        <p:nvPr/>
      </p:nvGrpSpPr>
      <p:grpSpPr>
        <a:xfrm>
          <a:off x="0" y="0"/>
          <a:ext cx="0" cy="0"/>
          <a:chOff x="0" y="0"/>
          <a:chExt cx="0" cy="0"/>
        </a:xfrm>
      </p:grpSpPr>
      <p:sp>
        <p:nvSpPr>
          <p:cNvPr id="130" name="Google Shape;130;p5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5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132" name="Google Shape;132;p5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33" name="Google Shape;133;p5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34" name="Google Shape;134;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5" name="Shape 135"/>
        <p:cNvGrpSpPr/>
        <p:nvPr/>
      </p:nvGrpSpPr>
      <p:grpSpPr>
        <a:xfrm>
          <a:off x="0" y="0"/>
          <a:ext cx="0" cy="0"/>
          <a:chOff x="0" y="0"/>
          <a:chExt cx="0" cy="0"/>
        </a:xfrm>
      </p:grpSpPr>
      <p:sp>
        <p:nvSpPr>
          <p:cNvPr id="136" name="Google Shape;136;p5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37" name="Google Shape;137;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8" name="Shape 138"/>
        <p:cNvGrpSpPr/>
        <p:nvPr/>
      </p:nvGrpSpPr>
      <p:grpSpPr>
        <a:xfrm>
          <a:off x="0" y="0"/>
          <a:ext cx="0" cy="0"/>
          <a:chOff x="0" y="0"/>
          <a:chExt cx="0" cy="0"/>
        </a:xfrm>
      </p:grpSpPr>
      <p:sp>
        <p:nvSpPr>
          <p:cNvPr id="139" name="Google Shape;139;p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40" name="Google Shape;140;p5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141" name="Google Shape;141;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2" name="Shape 142"/>
        <p:cNvGrpSpPr/>
        <p:nvPr/>
      </p:nvGrpSpPr>
      <p:grpSpPr>
        <a:xfrm>
          <a:off x="0" y="0"/>
          <a:ext cx="0" cy="0"/>
          <a:chOff x="0" y="0"/>
          <a:chExt cx="0" cy="0"/>
        </a:xfrm>
      </p:grpSpPr>
      <p:sp>
        <p:nvSpPr>
          <p:cNvPr id="143" name="Google Shape;143;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png"/><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slideLayout" Target="../slideLayouts/slideLayout14.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pic>
        <p:nvPicPr>
          <p:cNvPr id="6" name="Google Shape;6;p29"/>
          <p:cNvPicPr preferRelativeResize="0"/>
          <p:nvPr/>
        </p:nvPicPr>
        <p:blipFill rotWithShape="1">
          <a:blip r:embed="rId1">
            <a:alphaModFix/>
          </a:blip>
          <a:srcRect b="0" l="0" r="0" t="0"/>
          <a:stretch/>
        </p:blipFill>
        <p:spPr>
          <a:xfrm>
            <a:off x="-10" y="5071684"/>
            <a:ext cx="9151473" cy="80441"/>
          </a:xfrm>
          <a:prstGeom prst="rect">
            <a:avLst/>
          </a:prstGeom>
          <a:noFill/>
          <a:ln>
            <a:noFill/>
          </a:ln>
        </p:spPr>
      </p:pic>
      <p:sp>
        <p:nvSpPr>
          <p:cNvPr id="7" name="Google Shape;7;p2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 name="Shape 27"/>
        <p:cNvGrpSpPr/>
        <p:nvPr/>
      </p:nvGrpSpPr>
      <p:grpSpPr>
        <a:xfrm>
          <a:off x="0" y="0"/>
          <a:ext cx="0" cy="0"/>
          <a:chOff x="0" y="0"/>
          <a:chExt cx="0" cy="0"/>
        </a:xfrm>
      </p:grpSpPr>
      <p:pic>
        <p:nvPicPr>
          <p:cNvPr id="28" name="Google Shape;28;p32"/>
          <p:cNvPicPr preferRelativeResize="0"/>
          <p:nvPr/>
        </p:nvPicPr>
        <p:blipFill rotWithShape="1">
          <a:blip r:embed="rId1">
            <a:alphaModFix/>
          </a:blip>
          <a:srcRect b="56881" l="299" r="0" t="4"/>
          <a:stretch/>
        </p:blipFill>
        <p:spPr>
          <a:xfrm>
            <a:off x="-7475" y="5125600"/>
            <a:ext cx="9151474" cy="17899"/>
          </a:xfrm>
          <a:prstGeom prst="rect">
            <a:avLst/>
          </a:prstGeom>
          <a:noFill/>
          <a:ln>
            <a:noFill/>
          </a:ln>
        </p:spPr>
      </p:pic>
      <p:pic>
        <p:nvPicPr>
          <p:cNvPr id="29" name="Google Shape;29;p32"/>
          <p:cNvPicPr preferRelativeResize="0"/>
          <p:nvPr/>
        </p:nvPicPr>
        <p:blipFill rotWithShape="1">
          <a:blip r:embed="rId2">
            <a:alphaModFix/>
          </a:blip>
          <a:srcRect b="0" l="0" r="0" t="0"/>
          <a:stretch/>
        </p:blipFill>
        <p:spPr>
          <a:xfrm>
            <a:off x="-10" y="5071684"/>
            <a:ext cx="9151473" cy="80441"/>
          </a:xfrm>
          <a:prstGeom prst="rect">
            <a:avLst/>
          </a:prstGeom>
          <a:noFill/>
          <a:ln>
            <a:noFill/>
          </a:ln>
        </p:spPr>
      </p:pic>
      <p:sp>
        <p:nvSpPr>
          <p:cNvPr id="30" name="Google Shape;30;p3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99" name="Shape 99"/>
        <p:cNvGrpSpPr/>
        <p:nvPr/>
      </p:nvGrpSpPr>
      <p:grpSpPr>
        <a:xfrm>
          <a:off x="0" y="0"/>
          <a:ext cx="0" cy="0"/>
          <a:chOff x="0" y="0"/>
          <a:chExt cx="0" cy="0"/>
        </a:xfrm>
      </p:grpSpPr>
      <p:sp>
        <p:nvSpPr>
          <p:cNvPr id="100" name="Google Shape;100;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01" name="Google Shape;101;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02" name="Google Shape;102;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9.png"/><Relationship Id="rId9" Type="http://schemas.openxmlformats.org/officeDocument/2006/relationships/image" Target="../media/image15.png"/><Relationship Id="rId10"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27.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32.png"/><Relationship Id="rId6" Type="http://schemas.openxmlformats.org/officeDocument/2006/relationships/image" Target="../media/image30.png"/><Relationship Id="rId7"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21.png"/><Relationship Id="rId9" Type="http://schemas.openxmlformats.org/officeDocument/2006/relationships/image" Target="../media/image35.png"/><Relationship Id="rId10" Type="http://schemas.openxmlformats.org/officeDocument/2006/relationships/image" Target="../media/image13.png"/><Relationship Id="rId11"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42.png"/><Relationship Id="rId5" Type="http://schemas.openxmlformats.org/officeDocument/2006/relationships/image" Target="../media/image34.png"/><Relationship Id="rId6" Type="http://schemas.openxmlformats.org/officeDocument/2006/relationships/image" Target="../media/image44.png"/><Relationship Id="rId7" Type="http://schemas.openxmlformats.org/officeDocument/2006/relationships/image" Target="../media/image33.png"/><Relationship Id="rId8" Type="http://schemas.openxmlformats.org/officeDocument/2006/relationships/image" Target="../media/image41.png"/><Relationship Id="rId9" Type="http://schemas.openxmlformats.org/officeDocument/2006/relationships/image" Target="../media/image40.png"/><Relationship Id="rId10"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42.png"/><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41.png"/><Relationship Id="rId9" Type="http://schemas.openxmlformats.org/officeDocument/2006/relationships/image" Target="../media/image43.png"/><Relationship Id="rId10" Type="http://schemas.openxmlformats.org/officeDocument/2006/relationships/image" Target="../media/image39.png"/><Relationship Id="rId11"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 Id="rId4" Type="http://schemas.openxmlformats.org/officeDocument/2006/relationships/image" Target="../media/image42.png"/><Relationship Id="rId5" Type="http://schemas.openxmlformats.org/officeDocument/2006/relationships/image" Target="../media/image34.png"/><Relationship Id="rId6" Type="http://schemas.openxmlformats.org/officeDocument/2006/relationships/image" Target="../media/image33.png"/><Relationship Id="rId7" Type="http://schemas.openxmlformats.org/officeDocument/2006/relationships/image" Target="../media/image41.png"/><Relationship Id="rId8" Type="http://schemas.openxmlformats.org/officeDocument/2006/relationships/image" Target="../media/image48.png"/><Relationship Id="rId9" Type="http://schemas.openxmlformats.org/officeDocument/2006/relationships/image" Target="../media/image45.png"/><Relationship Id="rId10" Type="http://schemas.openxmlformats.org/officeDocument/2006/relationships/image" Target="../media/image13.png"/><Relationship Id="rId11" Type="http://schemas.openxmlformats.org/officeDocument/2006/relationships/image" Target="../media/image47.png"/><Relationship Id="rId12" Type="http://schemas.openxmlformats.org/officeDocument/2006/relationships/image" Target="../media/image46.png"/><Relationship Id="rId13"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1"/>
          <p:cNvPicPr preferRelativeResize="0"/>
          <p:nvPr/>
        </p:nvPicPr>
        <p:blipFill rotWithShape="1">
          <a:blip r:embed="rId3">
            <a:alphaModFix/>
          </a:blip>
          <a:srcRect b="3747" l="0" r="0" t="3738"/>
          <a:stretch/>
        </p:blipFill>
        <p:spPr>
          <a:xfrm>
            <a:off x="5628871" y="4764214"/>
            <a:ext cx="527963" cy="207109"/>
          </a:xfrm>
          <a:prstGeom prst="rect">
            <a:avLst/>
          </a:prstGeom>
          <a:noFill/>
          <a:ln>
            <a:noFill/>
          </a:ln>
        </p:spPr>
      </p:pic>
      <p:pic>
        <p:nvPicPr>
          <p:cNvPr id="149" name="Google Shape;149;p1"/>
          <p:cNvPicPr preferRelativeResize="0"/>
          <p:nvPr/>
        </p:nvPicPr>
        <p:blipFill rotWithShape="1">
          <a:blip r:embed="rId4">
            <a:alphaModFix/>
          </a:blip>
          <a:srcRect b="0" l="0" r="0" t="0"/>
          <a:stretch/>
        </p:blipFill>
        <p:spPr>
          <a:xfrm>
            <a:off x="4492492" y="4767423"/>
            <a:ext cx="1005406" cy="200690"/>
          </a:xfrm>
          <a:prstGeom prst="rect">
            <a:avLst/>
          </a:prstGeom>
          <a:noFill/>
          <a:ln>
            <a:noFill/>
          </a:ln>
        </p:spPr>
      </p:pic>
      <p:sp>
        <p:nvSpPr>
          <p:cNvPr id="150" name="Google Shape;150;p1"/>
          <p:cNvSpPr txBox="1"/>
          <p:nvPr/>
        </p:nvSpPr>
        <p:spPr>
          <a:xfrm>
            <a:off x="160663" y="4752390"/>
            <a:ext cx="1432800" cy="230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Proudly recognised by</a:t>
            </a:r>
            <a:endParaRPr b="0" i="0" sz="800" u="none" cap="none" strike="noStrike">
              <a:solidFill>
                <a:srgbClr val="000000"/>
              </a:solidFill>
              <a:latin typeface="Montserrat"/>
              <a:ea typeface="Montserrat"/>
              <a:cs typeface="Montserrat"/>
              <a:sym typeface="Montserrat"/>
            </a:endParaRPr>
          </a:p>
        </p:txBody>
      </p:sp>
      <p:cxnSp>
        <p:nvCxnSpPr>
          <p:cNvPr id="151" name="Google Shape;151;p1"/>
          <p:cNvCxnSpPr/>
          <p:nvPr/>
        </p:nvCxnSpPr>
        <p:spPr>
          <a:xfrm>
            <a:off x="1434913" y="4877373"/>
            <a:ext cx="329100" cy="0"/>
          </a:xfrm>
          <a:prstGeom prst="straightConnector1">
            <a:avLst/>
          </a:prstGeom>
          <a:noFill/>
          <a:ln cap="flat" cmpd="sng" w="9525">
            <a:solidFill>
              <a:srgbClr val="D41883"/>
            </a:solidFill>
            <a:prstDash val="solid"/>
            <a:round/>
            <a:headEnd len="sm" w="sm" type="none"/>
            <a:tailEnd len="med" w="med" type="oval"/>
          </a:ln>
        </p:spPr>
      </p:cxnSp>
      <p:cxnSp>
        <p:nvCxnSpPr>
          <p:cNvPr id="152" name="Google Shape;152;p1"/>
          <p:cNvCxnSpPr/>
          <p:nvPr/>
        </p:nvCxnSpPr>
        <p:spPr>
          <a:xfrm>
            <a:off x="2619072" y="4811830"/>
            <a:ext cx="0" cy="158700"/>
          </a:xfrm>
          <a:prstGeom prst="straightConnector1">
            <a:avLst/>
          </a:prstGeom>
          <a:noFill/>
          <a:ln cap="flat" cmpd="sng" w="9525">
            <a:solidFill>
              <a:srgbClr val="999999"/>
            </a:solidFill>
            <a:prstDash val="dot"/>
            <a:round/>
            <a:headEnd len="sm" w="sm" type="none"/>
            <a:tailEnd len="sm" w="sm" type="none"/>
          </a:ln>
        </p:spPr>
      </p:cxnSp>
      <p:pic>
        <p:nvPicPr>
          <p:cNvPr id="153" name="Google Shape;153;p1"/>
          <p:cNvPicPr preferRelativeResize="0"/>
          <p:nvPr/>
        </p:nvPicPr>
        <p:blipFill rotWithShape="1">
          <a:blip r:embed="rId5">
            <a:alphaModFix/>
          </a:blip>
          <a:srcRect b="0" l="0" r="0" t="0"/>
          <a:stretch/>
        </p:blipFill>
        <p:spPr>
          <a:xfrm>
            <a:off x="3582794" y="4773820"/>
            <a:ext cx="772999" cy="207102"/>
          </a:xfrm>
          <a:prstGeom prst="rect">
            <a:avLst/>
          </a:prstGeom>
          <a:noFill/>
          <a:ln>
            <a:noFill/>
          </a:ln>
        </p:spPr>
      </p:pic>
      <p:cxnSp>
        <p:nvCxnSpPr>
          <p:cNvPr id="154" name="Google Shape;154;p1"/>
          <p:cNvCxnSpPr/>
          <p:nvPr/>
        </p:nvCxnSpPr>
        <p:spPr>
          <a:xfrm>
            <a:off x="3524628" y="4805984"/>
            <a:ext cx="0" cy="158700"/>
          </a:xfrm>
          <a:prstGeom prst="straightConnector1">
            <a:avLst/>
          </a:prstGeom>
          <a:noFill/>
          <a:ln cap="flat" cmpd="sng" w="9525">
            <a:solidFill>
              <a:srgbClr val="999999"/>
            </a:solidFill>
            <a:prstDash val="dot"/>
            <a:round/>
            <a:headEnd len="sm" w="sm" type="none"/>
            <a:tailEnd len="sm" w="sm" type="none"/>
          </a:ln>
        </p:spPr>
      </p:cxnSp>
      <p:cxnSp>
        <p:nvCxnSpPr>
          <p:cNvPr id="155" name="Google Shape;155;p1"/>
          <p:cNvCxnSpPr/>
          <p:nvPr/>
        </p:nvCxnSpPr>
        <p:spPr>
          <a:xfrm>
            <a:off x="4413966" y="4811830"/>
            <a:ext cx="0" cy="158700"/>
          </a:xfrm>
          <a:prstGeom prst="straightConnector1">
            <a:avLst/>
          </a:prstGeom>
          <a:noFill/>
          <a:ln cap="flat" cmpd="sng" w="9525">
            <a:solidFill>
              <a:srgbClr val="999999"/>
            </a:solidFill>
            <a:prstDash val="dot"/>
            <a:round/>
            <a:headEnd len="sm" w="sm" type="none"/>
            <a:tailEnd len="sm" w="sm" type="none"/>
          </a:ln>
        </p:spPr>
      </p:cxnSp>
      <p:cxnSp>
        <p:nvCxnSpPr>
          <p:cNvPr id="156" name="Google Shape;156;p1"/>
          <p:cNvCxnSpPr/>
          <p:nvPr/>
        </p:nvCxnSpPr>
        <p:spPr>
          <a:xfrm>
            <a:off x="5542956" y="4811830"/>
            <a:ext cx="0" cy="158700"/>
          </a:xfrm>
          <a:prstGeom prst="straightConnector1">
            <a:avLst/>
          </a:prstGeom>
          <a:noFill/>
          <a:ln cap="flat" cmpd="sng" w="9525">
            <a:solidFill>
              <a:srgbClr val="999999"/>
            </a:solidFill>
            <a:prstDash val="dot"/>
            <a:round/>
            <a:headEnd len="sm" w="sm" type="none"/>
            <a:tailEnd len="sm" w="sm" type="none"/>
          </a:ln>
        </p:spPr>
      </p:cxnSp>
      <p:pic>
        <p:nvPicPr>
          <p:cNvPr id="157" name="Google Shape;157;p1"/>
          <p:cNvPicPr preferRelativeResize="0"/>
          <p:nvPr/>
        </p:nvPicPr>
        <p:blipFill rotWithShape="1">
          <a:blip r:embed="rId6">
            <a:alphaModFix/>
          </a:blip>
          <a:srcRect b="0" l="0" r="0" t="0"/>
          <a:stretch/>
        </p:blipFill>
        <p:spPr>
          <a:xfrm>
            <a:off x="1835298" y="4767421"/>
            <a:ext cx="711135" cy="200693"/>
          </a:xfrm>
          <a:prstGeom prst="rect">
            <a:avLst/>
          </a:prstGeom>
          <a:noFill/>
          <a:ln>
            <a:noFill/>
          </a:ln>
        </p:spPr>
      </p:pic>
      <p:pic>
        <p:nvPicPr>
          <p:cNvPr id="158" name="Google Shape;158;p1"/>
          <p:cNvPicPr preferRelativeResize="0"/>
          <p:nvPr/>
        </p:nvPicPr>
        <p:blipFill rotWithShape="1">
          <a:blip r:embed="rId7">
            <a:alphaModFix/>
          </a:blip>
          <a:srcRect b="0" l="0" r="0" t="0"/>
          <a:stretch/>
        </p:blipFill>
        <p:spPr>
          <a:xfrm>
            <a:off x="2709573" y="4788445"/>
            <a:ext cx="730426" cy="158646"/>
          </a:xfrm>
          <a:prstGeom prst="rect">
            <a:avLst/>
          </a:prstGeom>
          <a:noFill/>
          <a:ln>
            <a:noFill/>
          </a:ln>
        </p:spPr>
      </p:pic>
      <p:pic>
        <p:nvPicPr>
          <p:cNvPr id="159" name="Google Shape;159;p1"/>
          <p:cNvPicPr preferRelativeResize="0"/>
          <p:nvPr/>
        </p:nvPicPr>
        <p:blipFill rotWithShape="1">
          <a:blip r:embed="rId8">
            <a:alphaModFix/>
          </a:blip>
          <a:srcRect b="0" l="0" r="0" t="0"/>
          <a:stretch/>
        </p:blipFill>
        <p:spPr>
          <a:xfrm>
            <a:off x="249975" y="246249"/>
            <a:ext cx="1145175" cy="585599"/>
          </a:xfrm>
          <a:prstGeom prst="rect">
            <a:avLst/>
          </a:prstGeom>
          <a:noFill/>
          <a:ln>
            <a:noFill/>
          </a:ln>
        </p:spPr>
      </p:pic>
      <p:sp>
        <p:nvSpPr>
          <p:cNvPr id="160" name="Google Shape;160;p1"/>
          <p:cNvSpPr txBox="1"/>
          <p:nvPr/>
        </p:nvSpPr>
        <p:spPr>
          <a:xfrm>
            <a:off x="452550" y="2096825"/>
            <a:ext cx="6849000" cy="21237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100"/>
              <a:buFont typeface="Arial"/>
              <a:buNone/>
            </a:pPr>
            <a:r>
              <a:rPr b="1" i="0" lang="en" sz="2300" u="none" cap="none" strike="noStrike">
                <a:solidFill>
                  <a:srgbClr val="FF0082"/>
                </a:solidFill>
                <a:latin typeface="Montserrat"/>
                <a:ea typeface="Montserrat"/>
                <a:cs typeface="Montserrat"/>
                <a:sym typeface="Montserrat"/>
              </a:rPr>
              <a:t>TTN Proposal for Mobile App Development | Racing Queensland v1.0</a:t>
            </a:r>
            <a:endParaRPr b="1" i="0" sz="2300" u="none" cap="none" strike="noStrike">
              <a:solidFill>
                <a:srgbClr val="FF0082"/>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rPr b="0" i="0" lang="en" sz="1100" u="none" cap="none" strike="noStrike">
                <a:solidFill>
                  <a:srgbClr val="666666"/>
                </a:solidFill>
                <a:latin typeface="Montserrat"/>
                <a:ea typeface="Montserrat"/>
                <a:cs typeface="Montserrat"/>
                <a:sym typeface="Montserrat"/>
              </a:rPr>
              <a:t>Date : 29 May 2025</a:t>
            </a:r>
            <a:endParaRPr b="1" i="0" sz="1300" u="none" cap="none" strike="noStrike">
              <a:solidFill>
                <a:srgbClr val="666666"/>
              </a:solidFill>
              <a:latin typeface="Montserrat"/>
              <a:ea typeface="Montserrat"/>
              <a:cs typeface="Montserrat"/>
              <a:sym typeface="Montserrat"/>
            </a:endParaRPr>
          </a:p>
        </p:txBody>
      </p:sp>
      <p:cxnSp>
        <p:nvCxnSpPr>
          <p:cNvPr id="161" name="Google Shape;161;p1"/>
          <p:cNvCxnSpPr/>
          <p:nvPr/>
        </p:nvCxnSpPr>
        <p:spPr>
          <a:xfrm>
            <a:off x="300149" y="2165563"/>
            <a:ext cx="0" cy="1057800"/>
          </a:xfrm>
          <a:prstGeom prst="straightConnector1">
            <a:avLst/>
          </a:prstGeom>
          <a:noFill/>
          <a:ln cap="flat" cmpd="sng" w="76200">
            <a:solidFill>
              <a:srgbClr val="5424A0"/>
            </a:solidFill>
            <a:prstDash val="solid"/>
            <a:round/>
            <a:headEnd len="sm" w="sm" type="none"/>
            <a:tailEnd len="sm" w="sm" type="none"/>
          </a:ln>
        </p:spPr>
      </p:cxnSp>
      <p:pic>
        <p:nvPicPr>
          <p:cNvPr id="163" name="Google Shape;163;p1"/>
          <p:cNvPicPr preferRelativeResize="0"/>
          <p:nvPr/>
        </p:nvPicPr>
        <p:blipFill rotWithShape="1">
          <a:blip r:embed="rId10">
            <a:alphaModFix/>
          </a:blip>
          <a:srcRect b="-10" l="-6921" r="-6910" t="10"/>
          <a:stretch/>
        </p:blipFill>
        <p:spPr>
          <a:xfrm>
            <a:off x="6287808" y="4668680"/>
            <a:ext cx="265774" cy="398125"/>
          </a:xfrm>
          <a:prstGeom prst="rect">
            <a:avLst/>
          </a:prstGeom>
          <a:noFill/>
          <a:ln>
            <a:noFill/>
          </a:ln>
        </p:spPr>
      </p:pic>
      <p:cxnSp>
        <p:nvCxnSpPr>
          <p:cNvPr id="164" name="Google Shape;164;p1"/>
          <p:cNvCxnSpPr/>
          <p:nvPr/>
        </p:nvCxnSpPr>
        <p:spPr>
          <a:xfrm>
            <a:off x="6204494" y="4811830"/>
            <a:ext cx="0" cy="158700"/>
          </a:xfrm>
          <a:prstGeom prst="straightConnector1">
            <a:avLst/>
          </a:prstGeom>
          <a:noFill/>
          <a:ln cap="flat" cmpd="sng" w="9525">
            <a:solidFill>
              <a:srgbClr val="999999"/>
            </a:solidFill>
            <a:prstDash val="dot"/>
            <a:round/>
            <a:headEnd len="sm" w="sm" type="none"/>
            <a:tailEnd len="sm" w="sm"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2"/>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t>Agenda</a:t>
            </a:r>
            <a:endParaRPr/>
          </a:p>
        </p:txBody>
      </p:sp>
      <p:sp>
        <p:nvSpPr>
          <p:cNvPr id="171" name="Google Shape;171;p2"/>
          <p:cNvSpPr/>
          <p:nvPr/>
        </p:nvSpPr>
        <p:spPr>
          <a:xfrm>
            <a:off x="1358763" y="111102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1" i="0" lang="en" sz="1200" u="none" cap="none" strike="noStrike">
                <a:solidFill>
                  <a:srgbClr val="D71B7F"/>
                </a:solidFill>
                <a:latin typeface="Montserrat"/>
                <a:ea typeface="Montserrat"/>
                <a:cs typeface="Montserrat"/>
                <a:sym typeface="Montserrat"/>
              </a:rPr>
              <a:t>Executive Summary and Our Understanding of Project Requirements</a:t>
            </a:r>
            <a:endParaRPr b="1" i="0" sz="1200" u="none" cap="none" strike="noStrike">
              <a:solidFill>
                <a:srgbClr val="D71B7F"/>
              </a:solidFill>
              <a:latin typeface="Montserrat"/>
              <a:ea typeface="Montserrat"/>
              <a:cs typeface="Montserrat"/>
              <a:sym typeface="Montserrat"/>
            </a:endParaRPr>
          </a:p>
        </p:txBody>
      </p:sp>
      <p:sp>
        <p:nvSpPr>
          <p:cNvPr id="172" name="Google Shape;172;p2"/>
          <p:cNvSpPr/>
          <p:nvPr/>
        </p:nvSpPr>
        <p:spPr>
          <a:xfrm>
            <a:off x="1358763" y="1678410"/>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Proposed Technical Solution Approach</a:t>
            </a:r>
            <a:endParaRPr b="0" i="0" sz="1200" u="none" cap="none" strike="noStrike">
              <a:solidFill>
                <a:srgbClr val="000000"/>
              </a:solidFill>
              <a:latin typeface="Montserrat"/>
              <a:ea typeface="Montserrat"/>
              <a:cs typeface="Montserrat"/>
              <a:sym typeface="Montserrat"/>
            </a:endParaRPr>
          </a:p>
        </p:txBody>
      </p:sp>
      <p:sp>
        <p:nvSpPr>
          <p:cNvPr id="173" name="Google Shape;173;p2"/>
          <p:cNvSpPr/>
          <p:nvPr/>
        </p:nvSpPr>
        <p:spPr>
          <a:xfrm>
            <a:off x="1358763" y="328987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Success Stories</a:t>
            </a:r>
            <a:endParaRPr b="0" i="0" sz="1200" u="none" cap="none" strike="noStrike">
              <a:solidFill>
                <a:srgbClr val="000000"/>
              </a:solidFill>
              <a:latin typeface="Montserrat"/>
              <a:ea typeface="Montserrat"/>
              <a:cs typeface="Montserrat"/>
              <a:sym typeface="Montserrat"/>
            </a:endParaRPr>
          </a:p>
        </p:txBody>
      </p:sp>
      <p:cxnSp>
        <p:nvCxnSpPr>
          <p:cNvPr id="174" name="Google Shape;174;p2"/>
          <p:cNvCxnSpPr/>
          <p:nvPr/>
        </p:nvCxnSpPr>
        <p:spPr>
          <a:xfrm>
            <a:off x="1367196" y="1108050"/>
            <a:ext cx="0" cy="382200"/>
          </a:xfrm>
          <a:prstGeom prst="straightConnector1">
            <a:avLst/>
          </a:prstGeom>
          <a:noFill/>
          <a:ln cap="flat" cmpd="sng" w="19050">
            <a:solidFill>
              <a:srgbClr val="12519C"/>
            </a:solidFill>
            <a:prstDash val="solid"/>
            <a:round/>
            <a:headEnd len="sm" w="sm" type="none"/>
            <a:tailEnd len="sm" w="sm" type="none"/>
          </a:ln>
        </p:spPr>
      </p:cxnSp>
      <p:cxnSp>
        <p:nvCxnSpPr>
          <p:cNvPr id="175" name="Google Shape;175;p2"/>
          <p:cNvCxnSpPr/>
          <p:nvPr/>
        </p:nvCxnSpPr>
        <p:spPr>
          <a:xfrm>
            <a:off x="1367196" y="1675436"/>
            <a:ext cx="0" cy="382200"/>
          </a:xfrm>
          <a:prstGeom prst="straightConnector1">
            <a:avLst/>
          </a:prstGeom>
          <a:noFill/>
          <a:ln cap="flat" cmpd="sng" w="19050">
            <a:solidFill>
              <a:srgbClr val="12519C"/>
            </a:solidFill>
            <a:prstDash val="solid"/>
            <a:round/>
            <a:headEnd len="sm" w="sm" type="none"/>
            <a:tailEnd len="sm" w="sm" type="none"/>
          </a:ln>
        </p:spPr>
      </p:cxnSp>
      <p:cxnSp>
        <p:nvCxnSpPr>
          <p:cNvPr id="176" name="Google Shape;176;p2"/>
          <p:cNvCxnSpPr/>
          <p:nvPr/>
        </p:nvCxnSpPr>
        <p:spPr>
          <a:xfrm>
            <a:off x="1367196" y="3288390"/>
            <a:ext cx="0" cy="382200"/>
          </a:xfrm>
          <a:prstGeom prst="straightConnector1">
            <a:avLst/>
          </a:prstGeom>
          <a:noFill/>
          <a:ln cap="flat" cmpd="sng" w="19050">
            <a:solidFill>
              <a:srgbClr val="12519C"/>
            </a:solidFill>
            <a:prstDash val="solid"/>
            <a:round/>
            <a:headEnd len="sm" w="sm" type="none"/>
            <a:tailEnd len="sm" w="sm" type="none"/>
          </a:ln>
        </p:spPr>
      </p:cxnSp>
      <p:sp>
        <p:nvSpPr>
          <p:cNvPr id="177" name="Google Shape;177;p2"/>
          <p:cNvSpPr/>
          <p:nvPr/>
        </p:nvSpPr>
        <p:spPr>
          <a:xfrm>
            <a:off x="1048238" y="1260478"/>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2"/>
          <p:cNvSpPr/>
          <p:nvPr/>
        </p:nvSpPr>
        <p:spPr>
          <a:xfrm>
            <a:off x="1048238" y="1827880"/>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 name="Google Shape;179;p2"/>
          <p:cNvSpPr/>
          <p:nvPr/>
        </p:nvSpPr>
        <p:spPr>
          <a:xfrm>
            <a:off x="1048238" y="3439362"/>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2"/>
          <p:cNvSpPr/>
          <p:nvPr/>
        </p:nvSpPr>
        <p:spPr>
          <a:xfrm>
            <a:off x="1358763" y="224580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Project Plan and Key Deliverables</a:t>
            </a:r>
            <a:endParaRPr b="0" i="0" sz="1200" u="none" cap="none" strike="noStrike">
              <a:solidFill>
                <a:srgbClr val="000000"/>
              </a:solidFill>
              <a:latin typeface="Montserrat"/>
              <a:ea typeface="Montserrat"/>
              <a:cs typeface="Montserrat"/>
              <a:sym typeface="Montserrat"/>
            </a:endParaRPr>
          </a:p>
        </p:txBody>
      </p:sp>
      <p:cxnSp>
        <p:nvCxnSpPr>
          <p:cNvPr id="181" name="Google Shape;181;p2"/>
          <p:cNvCxnSpPr/>
          <p:nvPr/>
        </p:nvCxnSpPr>
        <p:spPr>
          <a:xfrm>
            <a:off x="1367196" y="2242832"/>
            <a:ext cx="0" cy="382200"/>
          </a:xfrm>
          <a:prstGeom prst="straightConnector1">
            <a:avLst/>
          </a:prstGeom>
          <a:noFill/>
          <a:ln cap="flat" cmpd="sng" w="19050">
            <a:solidFill>
              <a:srgbClr val="12519C"/>
            </a:solidFill>
            <a:prstDash val="solid"/>
            <a:round/>
            <a:headEnd len="sm" w="sm" type="none"/>
            <a:tailEnd len="sm" w="sm" type="none"/>
          </a:ln>
        </p:spPr>
      </p:cxnSp>
      <p:sp>
        <p:nvSpPr>
          <p:cNvPr id="182" name="Google Shape;182;p2"/>
          <p:cNvSpPr/>
          <p:nvPr/>
        </p:nvSpPr>
        <p:spPr>
          <a:xfrm>
            <a:off x="1048238" y="239527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2"/>
          <p:cNvSpPr/>
          <p:nvPr/>
        </p:nvSpPr>
        <p:spPr>
          <a:xfrm>
            <a:off x="1358763" y="275588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Commercial Summary</a:t>
            </a:r>
            <a:endParaRPr b="0" i="0" sz="1200" u="none" cap="none" strike="noStrike">
              <a:solidFill>
                <a:srgbClr val="000000"/>
              </a:solidFill>
              <a:latin typeface="Montserrat"/>
              <a:ea typeface="Montserrat"/>
              <a:cs typeface="Montserrat"/>
              <a:sym typeface="Montserrat"/>
            </a:endParaRPr>
          </a:p>
        </p:txBody>
      </p:sp>
      <p:cxnSp>
        <p:nvCxnSpPr>
          <p:cNvPr id="184" name="Google Shape;184;p2"/>
          <p:cNvCxnSpPr/>
          <p:nvPr/>
        </p:nvCxnSpPr>
        <p:spPr>
          <a:xfrm>
            <a:off x="1367196" y="2752912"/>
            <a:ext cx="0" cy="382200"/>
          </a:xfrm>
          <a:prstGeom prst="straightConnector1">
            <a:avLst/>
          </a:prstGeom>
          <a:noFill/>
          <a:ln cap="flat" cmpd="sng" w="19050">
            <a:solidFill>
              <a:srgbClr val="12519C"/>
            </a:solidFill>
            <a:prstDash val="solid"/>
            <a:round/>
            <a:headEnd len="sm" w="sm" type="none"/>
            <a:tailEnd len="sm" w="sm" type="none"/>
          </a:ln>
        </p:spPr>
      </p:cxnSp>
      <p:sp>
        <p:nvSpPr>
          <p:cNvPr id="185" name="Google Shape;185;p2"/>
          <p:cNvSpPr/>
          <p:nvPr/>
        </p:nvSpPr>
        <p:spPr>
          <a:xfrm>
            <a:off x="1048238" y="290535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300"/>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3"/>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3"/>
          <p:cNvSpPr txBox="1"/>
          <p:nvPr>
            <p:ph type="title"/>
          </p:nvPr>
        </p:nvSpPr>
        <p:spPr>
          <a:xfrm>
            <a:off x="104500" y="141850"/>
            <a:ext cx="59949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Executive Summary</a:t>
            </a:r>
            <a:endParaRPr/>
          </a:p>
        </p:txBody>
      </p:sp>
      <p:sp>
        <p:nvSpPr>
          <p:cNvPr id="193" name="Google Shape;193;p3"/>
          <p:cNvSpPr/>
          <p:nvPr/>
        </p:nvSpPr>
        <p:spPr>
          <a:xfrm>
            <a:off x="223850" y="746325"/>
            <a:ext cx="8690100" cy="4099200"/>
          </a:xfrm>
          <a:prstGeom prst="snip1Rect">
            <a:avLst>
              <a:gd fmla="val 1633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121875" lIns="121875" spcFirstLastPara="1" rIns="0" wrap="square" tIns="27425">
            <a:noAutofit/>
          </a:bodyPr>
          <a:lstStyle/>
          <a:p>
            <a:pPr indent="0" lvl="0" marL="0" marR="0" rtl="0" algn="l">
              <a:lnSpc>
                <a:spcPct val="150000"/>
              </a:lnSpc>
              <a:spcBef>
                <a:spcPts val="0"/>
              </a:spcBef>
              <a:spcAft>
                <a:spcPts val="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Following our recent discussions with </a:t>
            </a:r>
            <a:r>
              <a:rPr b="1" i="0" lang="en" sz="1100" u="none" cap="none" strike="noStrike">
                <a:solidFill>
                  <a:schemeClr val="accent1"/>
                </a:solidFill>
                <a:latin typeface="Montserrat"/>
                <a:ea typeface="Montserrat"/>
                <a:cs typeface="Montserrat"/>
                <a:sym typeface="Montserrat"/>
              </a:rPr>
              <a:t>Racing Queensland Networks (here in after referred to as Racing Queensland) </a:t>
            </a:r>
            <a:r>
              <a:rPr b="0" i="0" lang="en" sz="1100" u="none" cap="none" strike="noStrike">
                <a:solidFill>
                  <a:schemeClr val="dk1"/>
                </a:solidFill>
                <a:latin typeface="Montserrat"/>
                <a:ea typeface="Montserrat"/>
                <a:cs typeface="Montserrat"/>
                <a:sym typeface="Montserrat"/>
              </a:rPr>
              <a:t>, we are pleased to submit this proposal for the design and development of a custom mobile application tailored to Racing Queensland current and future needs. The application is envisioned to be a comprehensive digital platform that enhances user engagement, delivers real-time racing content, and offers a seamless, intuitive experience to racing enthusiasts and stakeholders alike with following objectives: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15000"/>
              </a:lnSpc>
              <a:spcBef>
                <a:spcPts val="1000"/>
              </a:spcBef>
              <a:spcAft>
                <a:spcPts val="0"/>
              </a:spcAft>
              <a:buClr>
                <a:schemeClr val="accent1"/>
              </a:buClr>
              <a:buSzPts val="1100"/>
              <a:buFont typeface="Montserrat"/>
              <a:buChar char="●"/>
            </a:pPr>
            <a:r>
              <a:rPr b="0" i="0" lang="en" sz="1100" u="none" cap="none" strike="noStrike">
                <a:solidFill>
                  <a:schemeClr val="dk1"/>
                </a:solidFill>
                <a:latin typeface="Montserrat"/>
                <a:ea typeface="Montserrat"/>
                <a:cs typeface="Montserrat"/>
                <a:sym typeface="Montserrat"/>
              </a:rPr>
              <a:t>Develop a robust admin portal that empowers seamless content management and real-time updates.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chemeClr val="dk1"/>
                </a:solidFill>
                <a:latin typeface="Montserrat"/>
                <a:ea typeface="Montserrat"/>
                <a:cs typeface="Montserrat"/>
                <a:sym typeface="Montserrat"/>
              </a:rPr>
              <a:t>Seamlessly embed live race videos and TAB replays with adaptive streaming for smooth playback on all networks.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chemeClr val="dk1"/>
                </a:solidFill>
                <a:latin typeface="Montserrat"/>
                <a:ea typeface="Montserrat"/>
                <a:cs typeface="Montserrat"/>
                <a:sym typeface="Montserrat"/>
              </a:rPr>
              <a:t>Enable smart filtering, contextual search, and Blackbook tracking with real-time push alerts for favorite runners and jockeys.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chemeClr val="dk1"/>
                </a:solidFill>
                <a:latin typeface="Montserrat"/>
                <a:ea typeface="Montserrat"/>
                <a:cs typeface="Montserrat"/>
                <a:sym typeface="Montserrat"/>
              </a:rPr>
              <a:t>Allow users to access and export steward and sectional data in multiple formats (CSV, PDF, print) directly from the app.</a:t>
            </a:r>
            <a:endParaRPr b="0" i="0" sz="1100" u="none" cap="none" strike="noStrike">
              <a:solidFill>
                <a:schemeClr val="dk1"/>
              </a:solidFill>
              <a:latin typeface="Montserrat"/>
              <a:ea typeface="Montserrat"/>
              <a:cs typeface="Montserrat"/>
              <a:sym typeface="Montserrat"/>
            </a:endParaRPr>
          </a:p>
          <a:p>
            <a:pPr indent="0" lvl="0" marL="0" marR="0" rtl="0" algn="l">
              <a:lnSpc>
                <a:spcPct val="150000"/>
              </a:lnSpc>
              <a:spcBef>
                <a:spcPts val="1000"/>
              </a:spcBef>
              <a:spcAft>
                <a:spcPts val="100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As a strategic technology partner with proven expertise in UX design and end-to-end mobile app development, </a:t>
            </a:r>
            <a:r>
              <a:rPr b="1" i="0" lang="en" sz="1100" u="none" cap="none" strike="noStrike">
                <a:solidFill>
                  <a:schemeClr val="accent1"/>
                </a:solidFill>
                <a:latin typeface="Montserrat"/>
                <a:ea typeface="Montserrat"/>
                <a:cs typeface="Montserrat"/>
                <a:sym typeface="Montserrat"/>
              </a:rPr>
              <a:t>TO THE NEW (TTN)</a:t>
            </a:r>
            <a:r>
              <a:rPr b="0" i="0" lang="en" sz="1100" u="none" cap="none" strike="noStrike">
                <a:solidFill>
                  <a:schemeClr val="dk1"/>
                </a:solidFill>
                <a:latin typeface="Montserrat"/>
                <a:ea typeface="Montserrat"/>
                <a:cs typeface="Montserrat"/>
                <a:sym typeface="Montserrat"/>
              </a:rPr>
              <a:t> are well-positioned to bring this vision to life.  This proposal outlines our understanding of project requirements , a high level view of technical solution and approach followed by the project plan and commercials.</a:t>
            </a:r>
            <a:endParaRPr b="0" i="0" sz="1100" u="none" cap="none" strike="noStrike">
              <a:solidFill>
                <a:schemeClr val="dk1"/>
              </a:solidFill>
              <a:latin typeface="Montserrat"/>
              <a:ea typeface="Montserrat"/>
              <a:cs typeface="Montserrat"/>
              <a:sym typeface="Montserrat"/>
            </a:endParaRPr>
          </a:p>
        </p:txBody>
      </p:sp>
      <p:cxnSp>
        <p:nvCxnSpPr>
          <p:cNvPr id="194" name="Google Shape;194;p3"/>
          <p:cNvCxnSpPr/>
          <p:nvPr/>
        </p:nvCxnSpPr>
        <p:spPr>
          <a:xfrm flipH="1">
            <a:off x="242444" y="754971"/>
            <a:ext cx="3900" cy="4102800"/>
          </a:xfrm>
          <a:prstGeom prst="straightConnector1">
            <a:avLst/>
          </a:prstGeom>
          <a:noFill/>
          <a:ln cap="flat" cmpd="sng" w="19050">
            <a:solidFill>
              <a:srgbClr val="12519C"/>
            </a:solidFill>
            <a:prstDash val="solid"/>
            <a:round/>
            <a:headEnd len="sm" w="sm" type="none"/>
            <a:tailEnd len="sm" w="sm" type="none"/>
          </a:ln>
        </p:spPr>
      </p:cxnSp>
      <p:sp>
        <p:nvSpPr>
          <p:cNvPr id="195" name="Google Shape;195;p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4"/>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4"/>
          <p:cNvSpPr txBox="1"/>
          <p:nvPr>
            <p:ph type="title"/>
          </p:nvPr>
        </p:nvSpPr>
        <p:spPr>
          <a:xfrm>
            <a:off x="104500" y="141850"/>
            <a:ext cx="59949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Why TTN?</a:t>
            </a:r>
            <a:endParaRPr/>
          </a:p>
        </p:txBody>
      </p:sp>
      <p:sp>
        <p:nvSpPr>
          <p:cNvPr id="202" name="Google Shape;202;p4"/>
          <p:cNvSpPr/>
          <p:nvPr/>
        </p:nvSpPr>
        <p:spPr>
          <a:xfrm>
            <a:off x="474900" y="910600"/>
            <a:ext cx="3914100" cy="1666500"/>
          </a:xfrm>
          <a:prstGeom prst="snip1Rect">
            <a:avLst>
              <a:gd fmla="val 16667" name="adj"/>
            </a:avLst>
          </a:prstGeom>
          <a:noFill/>
          <a:ln cap="flat" cmpd="sng" w="9525">
            <a:solidFill>
              <a:schemeClr val="accent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50000"/>
              </a:lnSpc>
              <a:spcBef>
                <a:spcPts val="0"/>
              </a:spcBef>
              <a:spcAft>
                <a:spcPts val="0"/>
              </a:spcAft>
              <a:buClr>
                <a:srgbClr val="000000"/>
              </a:buClr>
              <a:buSzPts val="1100"/>
              <a:buFont typeface="Arial"/>
              <a:buNone/>
            </a:pPr>
            <a:r>
              <a:rPr b="1" i="0" lang="en" sz="1100" u="none" cap="none" strike="noStrike">
                <a:solidFill>
                  <a:schemeClr val="dk1"/>
                </a:solidFill>
                <a:latin typeface="Montserrat"/>
                <a:ea typeface="Montserrat"/>
                <a:cs typeface="Montserrat"/>
                <a:sym typeface="Montserrat"/>
              </a:rPr>
              <a:t>Proven UX &amp; Mobile Expertise</a:t>
            </a:r>
            <a:r>
              <a:rPr b="0" i="0" lang="en" sz="1100" u="none" cap="none" strike="noStrike">
                <a:solidFill>
                  <a:schemeClr val="dk1"/>
                </a:solidFill>
                <a:latin typeface="Montserrat"/>
                <a:ea typeface="Montserrat"/>
                <a:cs typeface="Montserrat"/>
                <a:sym typeface="Montserrat"/>
              </a:rPr>
              <a:t> </a:t>
            </a:r>
            <a:endParaRPr b="0" i="0" sz="1100" u="none" cap="none" strike="noStrike">
              <a:solidFill>
                <a:schemeClr val="dk1"/>
              </a:solidFill>
              <a:latin typeface="Montserrat"/>
              <a:ea typeface="Montserrat"/>
              <a:cs typeface="Montserrat"/>
              <a:sym typeface="Montserrat"/>
            </a:endParaRPr>
          </a:p>
          <a:p>
            <a:pPr indent="0" lvl="0" marL="0" marR="0" rtl="0" algn="ctr">
              <a:lnSpc>
                <a:spcPct val="150000"/>
              </a:lnSpc>
              <a:spcBef>
                <a:spcPts val="1000"/>
              </a:spcBef>
              <a:spcAft>
                <a:spcPts val="100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We specialize in building intuitive, high-performance mobile applications with seamless user journeys - critical for customer engagement and retention.</a:t>
            </a:r>
            <a:endParaRPr b="0" i="0" sz="1100" u="none" cap="none" strike="noStrike">
              <a:solidFill>
                <a:schemeClr val="dk1"/>
              </a:solidFill>
              <a:latin typeface="Montserrat"/>
              <a:ea typeface="Montserrat"/>
              <a:cs typeface="Montserrat"/>
              <a:sym typeface="Montserrat"/>
            </a:endParaRPr>
          </a:p>
        </p:txBody>
      </p:sp>
      <p:sp>
        <p:nvSpPr>
          <p:cNvPr id="203" name="Google Shape;203;p4"/>
          <p:cNvSpPr/>
          <p:nvPr/>
        </p:nvSpPr>
        <p:spPr>
          <a:xfrm>
            <a:off x="4755004" y="910600"/>
            <a:ext cx="3914100" cy="1666500"/>
          </a:xfrm>
          <a:prstGeom prst="snip1Rect">
            <a:avLst>
              <a:gd fmla="val 16667" name="adj"/>
            </a:avLst>
          </a:prstGeom>
          <a:noFill/>
          <a:ln cap="flat" cmpd="sng" w="9525">
            <a:solidFill>
              <a:schemeClr val="accent1"/>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50000"/>
              </a:lnSpc>
              <a:spcBef>
                <a:spcPts val="0"/>
              </a:spcBef>
              <a:spcAft>
                <a:spcPts val="0"/>
              </a:spcAft>
              <a:buClr>
                <a:srgbClr val="000000"/>
              </a:buClr>
              <a:buSzPts val="1100"/>
              <a:buFont typeface="Arial"/>
              <a:buNone/>
            </a:pPr>
            <a:r>
              <a:rPr b="1" i="0" lang="en" sz="1100" u="none" cap="none" strike="noStrike">
                <a:solidFill>
                  <a:schemeClr val="dk1"/>
                </a:solidFill>
                <a:latin typeface="Montserrat"/>
                <a:ea typeface="Montserrat"/>
                <a:cs typeface="Montserrat"/>
                <a:sym typeface="Montserrat"/>
              </a:rPr>
              <a:t>Domain-Focused Delivery</a:t>
            </a:r>
            <a:endParaRPr b="1" i="0" sz="1100" u="none" cap="none" strike="noStrike">
              <a:solidFill>
                <a:schemeClr val="dk1"/>
              </a:solidFill>
              <a:latin typeface="Montserrat"/>
              <a:ea typeface="Montserrat"/>
              <a:cs typeface="Montserrat"/>
              <a:sym typeface="Montserrat"/>
            </a:endParaRPr>
          </a:p>
          <a:p>
            <a:pPr indent="0" lvl="0" marL="0" marR="0" rtl="0" algn="ctr">
              <a:lnSpc>
                <a:spcPct val="150000"/>
              </a:lnSpc>
              <a:spcBef>
                <a:spcPts val="1000"/>
              </a:spcBef>
              <a:spcAft>
                <a:spcPts val="100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Our extensive experience in iGaming with real-time data integration, media streaming, and interactive user features aligns perfectly with your racing platform requirements.</a:t>
            </a:r>
            <a:endParaRPr b="0" i="0" sz="1100" u="none" cap="none" strike="noStrike">
              <a:solidFill>
                <a:schemeClr val="dk1"/>
              </a:solidFill>
              <a:latin typeface="Montserrat"/>
              <a:ea typeface="Montserrat"/>
              <a:cs typeface="Montserrat"/>
              <a:sym typeface="Montserrat"/>
            </a:endParaRPr>
          </a:p>
        </p:txBody>
      </p:sp>
      <p:sp>
        <p:nvSpPr>
          <p:cNvPr id="204" name="Google Shape;204;p4"/>
          <p:cNvSpPr/>
          <p:nvPr/>
        </p:nvSpPr>
        <p:spPr>
          <a:xfrm>
            <a:off x="474900" y="2900036"/>
            <a:ext cx="3914100" cy="1666500"/>
          </a:xfrm>
          <a:prstGeom prst="snip1Rect">
            <a:avLst>
              <a:gd fmla="val 16667" name="adj"/>
            </a:avLst>
          </a:prstGeom>
          <a:noFill/>
          <a:ln cap="flat" cmpd="sng" w="9525">
            <a:solidFill>
              <a:schemeClr val="accent1"/>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50000"/>
              </a:lnSpc>
              <a:spcBef>
                <a:spcPts val="0"/>
              </a:spcBef>
              <a:spcAft>
                <a:spcPts val="0"/>
              </a:spcAft>
              <a:buClr>
                <a:srgbClr val="000000"/>
              </a:buClr>
              <a:buSzPts val="1100"/>
              <a:buFont typeface="Arial"/>
              <a:buNone/>
            </a:pPr>
            <a:r>
              <a:rPr b="1" i="0" lang="en" sz="1100" u="none" cap="none" strike="noStrike">
                <a:solidFill>
                  <a:schemeClr val="dk1"/>
                </a:solidFill>
                <a:latin typeface="Montserrat"/>
                <a:ea typeface="Montserrat"/>
                <a:cs typeface="Montserrat"/>
                <a:sym typeface="Montserrat"/>
              </a:rPr>
              <a:t>End-to-End Ownership</a:t>
            </a:r>
            <a:r>
              <a:rPr b="0" i="0" lang="en" sz="1100" u="none" cap="none" strike="noStrike">
                <a:solidFill>
                  <a:schemeClr val="dk1"/>
                </a:solidFill>
                <a:latin typeface="Montserrat"/>
                <a:ea typeface="Montserrat"/>
                <a:cs typeface="Montserrat"/>
                <a:sym typeface="Montserrat"/>
              </a:rPr>
              <a:t> </a:t>
            </a:r>
            <a:endParaRPr b="0" i="0" sz="1100" u="none" cap="none" strike="noStrike">
              <a:solidFill>
                <a:schemeClr val="dk1"/>
              </a:solidFill>
              <a:latin typeface="Montserrat"/>
              <a:ea typeface="Montserrat"/>
              <a:cs typeface="Montserrat"/>
              <a:sym typeface="Montserrat"/>
            </a:endParaRPr>
          </a:p>
          <a:p>
            <a:pPr indent="0" lvl="0" marL="0" marR="0" rtl="0" algn="ctr">
              <a:lnSpc>
                <a:spcPct val="150000"/>
              </a:lnSpc>
              <a:spcBef>
                <a:spcPts val="1000"/>
              </a:spcBef>
              <a:spcAft>
                <a:spcPts val="100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From design and development to deployment and support, we provide full-cycle mobile app services- ensuring speed, quality, and continuity.</a:t>
            </a:r>
            <a:endParaRPr b="0" i="0" sz="1100" u="none" cap="none" strike="noStrike">
              <a:solidFill>
                <a:schemeClr val="dk1"/>
              </a:solidFill>
              <a:latin typeface="Montserrat"/>
              <a:ea typeface="Montserrat"/>
              <a:cs typeface="Montserrat"/>
              <a:sym typeface="Montserrat"/>
            </a:endParaRPr>
          </a:p>
        </p:txBody>
      </p:sp>
      <p:sp>
        <p:nvSpPr>
          <p:cNvPr id="205" name="Google Shape;205;p4"/>
          <p:cNvSpPr/>
          <p:nvPr/>
        </p:nvSpPr>
        <p:spPr>
          <a:xfrm>
            <a:off x="4755004" y="2900036"/>
            <a:ext cx="3914100" cy="1666500"/>
          </a:xfrm>
          <a:prstGeom prst="snip1Rect">
            <a:avLst>
              <a:gd fmla="val 16667" name="adj"/>
            </a:avLst>
          </a:prstGeom>
          <a:noFill/>
          <a:ln cap="flat" cmpd="sng" w="9525">
            <a:solidFill>
              <a:schemeClr val="accent2"/>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50000"/>
              </a:lnSpc>
              <a:spcBef>
                <a:spcPts val="0"/>
              </a:spcBef>
              <a:spcAft>
                <a:spcPts val="0"/>
              </a:spcAft>
              <a:buClr>
                <a:srgbClr val="000000"/>
              </a:buClr>
              <a:buSzPts val="1100"/>
              <a:buFont typeface="Arial"/>
              <a:buNone/>
            </a:pPr>
            <a:r>
              <a:rPr b="1" i="0" lang="en" sz="1100" u="none" cap="none" strike="noStrike">
                <a:solidFill>
                  <a:schemeClr val="dk1"/>
                </a:solidFill>
                <a:latin typeface="Montserrat"/>
                <a:ea typeface="Montserrat"/>
                <a:cs typeface="Montserrat"/>
                <a:sym typeface="Montserrat"/>
              </a:rPr>
              <a:t>Scalable Architecture</a:t>
            </a:r>
            <a:endParaRPr b="1" i="0" sz="1100" u="none" cap="none" strike="noStrike">
              <a:solidFill>
                <a:schemeClr val="dk1"/>
              </a:solidFill>
              <a:latin typeface="Montserrat"/>
              <a:ea typeface="Montserrat"/>
              <a:cs typeface="Montserrat"/>
              <a:sym typeface="Montserrat"/>
            </a:endParaRPr>
          </a:p>
          <a:p>
            <a:pPr indent="0" lvl="0" marL="0" marR="0" rtl="0" algn="ctr">
              <a:lnSpc>
                <a:spcPct val="150000"/>
              </a:lnSpc>
              <a:spcBef>
                <a:spcPts val="1000"/>
              </a:spcBef>
              <a:spcAft>
                <a:spcPts val="100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Our solutions are designed to grow with your user base, ensuring performance and reliability under peak traffic conditions</a:t>
            </a:r>
            <a:endParaRPr b="0" i="0" sz="1100" u="none" cap="none" strike="noStrike">
              <a:solidFill>
                <a:schemeClr val="dk1"/>
              </a:solidFill>
              <a:latin typeface="Montserrat"/>
              <a:ea typeface="Montserrat"/>
              <a:cs typeface="Montserrat"/>
              <a:sym typeface="Montserrat"/>
            </a:endParaRPr>
          </a:p>
        </p:txBody>
      </p:sp>
      <p:sp>
        <p:nvSpPr>
          <p:cNvPr id="206" name="Google Shape;206;p4"/>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5"/>
          <p:cNvSpPr/>
          <p:nvPr/>
        </p:nvSpPr>
        <p:spPr>
          <a:xfrm>
            <a:off x="223850" y="640050"/>
            <a:ext cx="8690100" cy="4095600"/>
          </a:xfrm>
          <a:prstGeom prst="snip1Rect">
            <a:avLst>
              <a:gd fmla="val 1633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0" lIns="121875" spcFirstLastPara="1" rIns="121875" wrap="square" tIns="0">
            <a:noAutofit/>
          </a:bodyPr>
          <a:lstStyle/>
          <a:p>
            <a:pPr indent="0" lvl="0" marL="0" marR="0" rtl="0" algn="just">
              <a:lnSpc>
                <a:spcPct val="115000"/>
              </a:lnSpc>
              <a:spcBef>
                <a:spcPts val="0"/>
              </a:spcBef>
              <a:spcAft>
                <a:spcPts val="0"/>
              </a:spcAft>
              <a:buClr>
                <a:srgbClr val="000000"/>
              </a:buClr>
              <a:buSzPts val="1100"/>
              <a:buFont typeface="Arial"/>
              <a:buNone/>
            </a:pPr>
            <a:r>
              <a:t/>
            </a:r>
            <a:endParaRPr b="1" i="0" sz="1000" u="none" cap="none" strike="noStrike">
              <a:solidFill>
                <a:srgbClr val="D71B7F"/>
              </a:solidFill>
              <a:latin typeface="Montserrat"/>
              <a:ea typeface="Montserrat"/>
              <a:cs typeface="Montserrat"/>
              <a:sym typeface="Montserrat"/>
            </a:endParaRPr>
          </a:p>
        </p:txBody>
      </p:sp>
      <p:cxnSp>
        <p:nvCxnSpPr>
          <p:cNvPr id="212" name="Google Shape;212;p5"/>
          <p:cNvCxnSpPr/>
          <p:nvPr/>
        </p:nvCxnSpPr>
        <p:spPr>
          <a:xfrm>
            <a:off x="246344" y="650407"/>
            <a:ext cx="0" cy="4095600"/>
          </a:xfrm>
          <a:prstGeom prst="straightConnector1">
            <a:avLst/>
          </a:prstGeom>
          <a:noFill/>
          <a:ln cap="flat" cmpd="sng" w="19050">
            <a:solidFill>
              <a:srgbClr val="12519C"/>
            </a:solidFill>
            <a:prstDash val="solid"/>
            <a:round/>
            <a:headEnd len="sm" w="sm" type="none"/>
            <a:tailEnd len="sm" w="sm" type="none"/>
          </a:ln>
        </p:spPr>
      </p:cxnSp>
      <p:sp>
        <p:nvSpPr>
          <p:cNvPr id="213" name="Google Shape;213;p5"/>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Our Understanding of Requirements</a:t>
            </a:r>
            <a:endParaRPr/>
          </a:p>
        </p:txBody>
      </p:sp>
      <p:sp>
        <p:nvSpPr>
          <p:cNvPr id="214" name="Google Shape;214;p5"/>
          <p:cNvSpPr txBox="1"/>
          <p:nvPr/>
        </p:nvSpPr>
        <p:spPr>
          <a:xfrm>
            <a:off x="258325" y="782225"/>
            <a:ext cx="8127900" cy="3924900"/>
          </a:xfrm>
          <a:prstGeom prst="rect">
            <a:avLst/>
          </a:prstGeom>
          <a:noFill/>
          <a:ln>
            <a:noFill/>
          </a:ln>
        </p:spPr>
        <p:txBody>
          <a:bodyPr anchorCtr="0" anchor="t" bIns="91425" lIns="91425" spcFirstLastPara="1" rIns="91425" wrap="square" tIns="91425">
            <a:spAutoFit/>
          </a:bodyPr>
          <a:lstStyle/>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Enable User Access Features such as Registration, Login, and Forgot Password.</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Allow User to Race Calendar to support real-time race schedules and results display</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Provide View Screens for Track, Jockey/Trainer, Runner Profiles.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Allow users to Search, Filter and View Past and Upcoming race details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List Premiership details.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Allow users  to add favorite runners or Jockey/Trainers to their Blackbook</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Provide View Screens to support real-time race results.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Integrate live video streaming of races and TAB race replays functionality.</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Provide push notifications for race alerts and updates.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Offer betting partner redirection with deep linking.</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Admin portal for managing content and updates.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Search and View News Items.</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Provide sections for Steward and Sectional Report Data Export via Mobile App (csv, pdf, print).</a:t>
            </a:r>
            <a:endParaRPr b="0" i="0" sz="900" u="none" cap="none" strike="noStrike">
              <a:solidFill>
                <a:schemeClr val="dk1"/>
              </a:solidFill>
              <a:latin typeface="Montserrat"/>
              <a:ea typeface="Montserrat"/>
              <a:cs typeface="Montserrat"/>
              <a:sym typeface="Montserrat"/>
            </a:endParaRPr>
          </a:p>
          <a:p>
            <a:pPr indent="-285750" lvl="0" marL="457200" marR="0" rtl="0" algn="l">
              <a:lnSpc>
                <a:spcPct val="20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Provide Business Awareness pages such as  Ownership, Career &amp; Training, Infrastructure, Open API details etc.</a:t>
            </a:r>
            <a:endParaRPr b="0" i="0" sz="900" u="none" cap="none" strike="noStrike">
              <a:solidFill>
                <a:srgbClr val="000000"/>
              </a:solidFill>
              <a:latin typeface="Montserrat"/>
              <a:ea typeface="Montserrat"/>
              <a:cs typeface="Montserrat"/>
              <a:sym typeface="Montserrat"/>
            </a:endParaRPr>
          </a:p>
        </p:txBody>
      </p:sp>
      <p:sp>
        <p:nvSpPr>
          <p:cNvPr id="215" name="Google Shape;215;p5"/>
          <p:cNvSpPr txBox="1"/>
          <p:nvPr>
            <p:ph idx="12" type="sldNum"/>
          </p:nvPr>
        </p:nvSpPr>
        <p:spPr>
          <a:xfrm>
            <a:off x="8556784" y="6333134"/>
            <a:ext cx="548700" cy="5250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800"/>
              <a:buNone/>
            </a:pPr>
            <a:fld id="{00000000-1234-1234-1234-123412341234}" type="slidenum">
              <a:rPr lang="en" sz="800"/>
              <a:t>‹#›</a:t>
            </a:fld>
            <a:endParaRPr sz="800"/>
          </a:p>
        </p:txBody>
      </p:sp>
      <p:sp>
        <p:nvSpPr>
          <p:cNvPr id="216" name="Google Shape;216;p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6"/>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Key Application Modules </a:t>
            </a:r>
            <a:endParaRPr>
              <a:solidFill>
                <a:schemeClr val="dk1"/>
              </a:solidFill>
            </a:endParaRPr>
          </a:p>
        </p:txBody>
      </p:sp>
      <p:sp>
        <p:nvSpPr>
          <p:cNvPr id="222" name="Google Shape;222;p6"/>
          <p:cNvSpPr/>
          <p:nvPr/>
        </p:nvSpPr>
        <p:spPr>
          <a:xfrm>
            <a:off x="3204902" y="706239"/>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6F3A93"/>
                </a:solidFill>
                <a:latin typeface="Montserrat SemiBold"/>
                <a:ea typeface="Montserrat SemiBold"/>
                <a:cs typeface="Montserrat SemiBold"/>
                <a:sym typeface="Montserrat SemiBold"/>
              </a:rPr>
              <a:t>Races &amp; Profiles </a:t>
            </a:r>
            <a:endParaRPr b="0" i="0" sz="1100" u="none" cap="none" strike="noStrike">
              <a:solidFill>
                <a:srgbClr val="6F3A9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9277E"/>
              </a:buClr>
              <a:buSzPts val="900"/>
              <a:buFont typeface="Montserrat"/>
              <a:buChar char="●"/>
            </a:pPr>
            <a:r>
              <a:rPr b="0" i="0" lang="en" sz="900" u="none" cap="none" strike="noStrike">
                <a:solidFill>
                  <a:srgbClr val="000000"/>
                </a:solidFill>
                <a:latin typeface="Montserrat"/>
                <a:ea typeface="Montserrat"/>
                <a:cs typeface="Montserrat"/>
                <a:sym typeface="Montserrat"/>
              </a:rPr>
              <a:t>Search and Filter, Past and Upcoming Races</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277E"/>
              </a:buClr>
              <a:buSzPts val="900"/>
              <a:buFont typeface="Montserrat"/>
              <a:buChar char="●"/>
            </a:pPr>
            <a:r>
              <a:rPr b="0" i="0" lang="en" sz="900" u="none" cap="none" strike="noStrike">
                <a:solidFill>
                  <a:srgbClr val="000000"/>
                </a:solidFill>
                <a:latin typeface="Montserrat"/>
                <a:ea typeface="Montserrat"/>
                <a:cs typeface="Montserrat"/>
                <a:sym typeface="Montserrat"/>
              </a:rPr>
              <a:t>Search and View Profile Pages for Tracks, Jockeys, Trainers, and Runners</a:t>
            </a:r>
            <a:endParaRPr b="0" i="0" sz="9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900"/>
              <a:buFont typeface="Arial"/>
              <a:buNone/>
            </a:pPr>
            <a:r>
              <a:t/>
            </a:r>
            <a:endParaRPr b="0" i="0" sz="9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1000"/>
              <a:buFont typeface="Arial"/>
              <a:buNone/>
            </a:pPr>
            <a:r>
              <a:t/>
            </a:r>
            <a:endParaRPr b="0" i="0" sz="10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sp>
        <p:nvSpPr>
          <p:cNvPr id="223" name="Google Shape;223;p6"/>
          <p:cNvSpPr/>
          <p:nvPr/>
        </p:nvSpPr>
        <p:spPr>
          <a:xfrm>
            <a:off x="299125" y="706239"/>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6F3A93"/>
                </a:solidFill>
                <a:latin typeface="Montserrat SemiBold"/>
                <a:ea typeface="Montserrat SemiBold"/>
                <a:cs typeface="Montserrat SemiBold"/>
                <a:sym typeface="Montserrat SemiBold"/>
              </a:rPr>
              <a:t>User Access &amp; Account Management</a:t>
            </a:r>
            <a:r>
              <a:rPr b="0" i="0" lang="en" sz="1100" u="none" cap="none" strike="noStrike">
                <a:solidFill>
                  <a:srgbClr val="6F3A93"/>
                </a:solidFill>
                <a:latin typeface="Montserrat SemiBold"/>
                <a:ea typeface="Montserrat SemiBold"/>
                <a:cs typeface="Montserrat SemiBold"/>
                <a:sym typeface="Montserrat SemiBold"/>
              </a:rPr>
              <a:t> </a:t>
            </a:r>
            <a:endParaRPr b="0" i="0" sz="1400" u="none" cap="none" strike="noStrike">
              <a:solidFill>
                <a:srgbClr val="6F3A9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User Registration</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User Login</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Forgot Password</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Show Account Details </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Add Jockeys and Trainers  to Blackbook</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41883"/>
              </a:buClr>
              <a:buSzPts val="900"/>
              <a:buFont typeface="Montserrat"/>
              <a:buChar char="●"/>
            </a:pPr>
            <a:r>
              <a:rPr b="0" i="0" lang="en" sz="900" u="none" cap="none" strike="noStrike">
                <a:solidFill>
                  <a:srgbClr val="000000"/>
                </a:solidFill>
                <a:latin typeface="Montserrat"/>
                <a:ea typeface="Montserrat"/>
                <a:cs typeface="Montserrat"/>
                <a:sym typeface="Montserrat"/>
              </a:rPr>
              <a:t>Show Blackbook Activities</a:t>
            </a:r>
            <a:endParaRPr b="0" i="0" sz="9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1100"/>
              <a:buFont typeface="Arial"/>
              <a:buNone/>
            </a:pPr>
            <a:r>
              <a:t/>
            </a:r>
            <a:endParaRPr b="0" i="0" sz="900" u="none" cap="none" strike="noStrike">
              <a:solidFill>
                <a:srgbClr val="000000"/>
              </a:solidFill>
              <a:latin typeface="Montserrat"/>
              <a:ea typeface="Montserrat"/>
              <a:cs typeface="Montserrat"/>
              <a:sym typeface="Montserrat"/>
            </a:endParaRPr>
          </a:p>
          <a:p>
            <a:pPr indent="0" lvl="0" marL="34290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cxnSp>
        <p:nvCxnSpPr>
          <p:cNvPr id="224" name="Google Shape;224;p6"/>
          <p:cNvCxnSpPr/>
          <p:nvPr/>
        </p:nvCxnSpPr>
        <p:spPr>
          <a:xfrm>
            <a:off x="299130" y="706238"/>
            <a:ext cx="0" cy="2007300"/>
          </a:xfrm>
          <a:prstGeom prst="straightConnector1">
            <a:avLst/>
          </a:prstGeom>
          <a:noFill/>
          <a:ln cap="flat" cmpd="sng" w="19050">
            <a:solidFill>
              <a:srgbClr val="12519C"/>
            </a:solidFill>
            <a:prstDash val="solid"/>
            <a:round/>
            <a:headEnd len="sm" w="sm" type="none"/>
            <a:tailEnd len="sm" w="sm" type="none"/>
          </a:ln>
        </p:spPr>
      </p:cxnSp>
      <p:cxnSp>
        <p:nvCxnSpPr>
          <p:cNvPr id="225" name="Google Shape;225;p6"/>
          <p:cNvCxnSpPr/>
          <p:nvPr/>
        </p:nvCxnSpPr>
        <p:spPr>
          <a:xfrm>
            <a:off x="3204907" y="706238"/>
            <a:ext cx="0" cy="2007300"/>
          </a:xfrm>
          <a:prstGeom prst="straightConnector1">
            <a:avLst/>
          </a:prstGeom>
          <a:noFill/>
          <a:ln cap="flat" cmpd="sng" w="19050">
            <a:solidFill>
              <a:srgbClr val="12519C"/>
            </a:solidFill>
            <a:prstDash val="solid"/>
            <a:round/>
            <a:headEnd len="sm" w="sm" type="none"/>
            <a:tailEnd len="sm" w="sm" type="none"/>
          </a:ln>
        </p:spPr>
      </p:cxnSp>
      <p:sp>
        <p:nvSpPr>
          <p:cNvPr id="226" name="Google Shape;226;p6"/>
          <p:cNvSpPr/>
          <p:nvPr/>
        </p:nvSpPr>
        <p:spPr>
          <a:xfrm>
            <a:off x="6110675" y="704926"/>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6F3A93"/>
                </a:solidFill>
                <a:latin typeface="Montserrat SemiBold"/>
                <a:ea typeface="Montserrat SemiBold"/>
                <a:cs typeface="Montserrat SemiBold"/>
                <a:sym typeface="Montserrat SemiBold"/>
              </a:rPr>
              <a:t>Race</a:t>
            </a:r>
            <a:r>
              <a:rPr b="0" i="0" lang="en" sz="1000" u="none" cap="none" strike="noStrike">
                <a:solidFill>
                  <a:schemeClr val="accent3"/>
                </a:solidFill>
                <a:latin typeface="Montserrat SemiBold"/>
                <a:ea typeface="Montserrat SemiBold"/>
                <a:cs typeface="Montserrat SemiBold"/>
                <a:sym typeface="Montserrat SemiBold"/>
              </a:rPr>
              <a:t> Calendar &amp; Planner</a:t>
            </a:r>
            <a:endParaRPr b="0" i="0" sz="1000" u="none" cap="none" strike="noStrike">
              <a:solidFill>
                <a:schemeClr val="accent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View Race Details  for Upcoming and Past Races using the Race Calendar </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Search, Filter and Export Race Details using Race Planner</a:t>
            </a:r>
            <a:endParaRPr b="0" i="0" sz="9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cxnSp>
        <p:nvCxnSpPr>
          <p:cNvPr id="227" name="Google Shape;227;p6"/>
          <p:cNvCxnSpPr/>
          <p:nvPr/>
        </p:nvCxnSpPr>
        <p:spPr>
          <a:xfrm>
            <a:off x="6110681" y="704925"/>
            <a:ext cx="0" cy="2007300"/>
          </a:xfrm>
          <a:prstGeom prst="straightConnector1">
            <a:avLst/>
          </a:prstGeom>
          <a:noFill/>
          <a:ln cap="flat" cmpd="sng" w="19050">
            <a:solidFill>
              <a:srgbClr val="12519C"/>
            </a:solidFill>
            <a:prstDash val="solid"/>
            <a:round/>
            <a:headEnd len="sm" w="sm" type="none"/>
            <a:tailEnd len="sm" w="sm" type="none"/>
          </a:ln>
        </p:spPr>
      </p:cxnSp>
      <p:sp>
        <p:nvSpPr>
          <p:cNvPr id="228" name="Google Shape;228;p6"/>
          <p:cNvSpPr/>
          <p:nvPr/>
        </p:nvSpPr>
        <p:spPr>
          <a:xfrm>
            <a:off x="299125" y="2942679"/>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chemeClr val="accent3"/>
                </a:solidFill>
                <a:latin typeface="Montserrat SemiBold"/>
                <a:ea typeface="Montserrat SemiBold"/>
                <a:cs typeface="Montserrat SemiBold"/>
                <a:sym typeface="Montserrat SemiBold"/>
              </a:rPr>
              <a:t>Races, Results &amp; </a:t>
            </a:r>
            <a:r>
              <a:rPr b="0" i="0" lang="en" sz="1000" u="none" cap="none" strike="noStrike">
                <a:solidFill>
                  <a:srgbClr val="6F3A93"/>
                </a:solidFill>
                <a:latin typeface="Montserrat SemiBold"/>
                <a:ea typeface="Montserrat SemiBold"/>
                <a:cs typeface="Montserrat SemiBold"/>
                <a:sym typeface="Montserrat SemiBold"/>
              </a:rPr>
              <a:t>Replays</a:t>
            </a:r>
            <a:r>
              <a:rPr b="0" i="0" lang="en" sz="1000" u="none" cap="none" strike="noStrike">
                <a:solidFill>
                  <a:schemeClr val="accent3"/>
                </a:solidFill>
                <a:latin typeface="Montserrat SemiBold"/>
                <a:ea typeface="Montserrat SemiBold"/>
                <a:cs typeface="Montserrat SemiBold"/>
                <a:sym typeface="Montserrat SemiBold"/>
              </a:rPr>
              <a:t> </a:t>
            </a:r>
            <a:endParaRPr b="0" i="0" sz="1000" u="none" cap="none" strike="noStrike">
              <a:solidFill>
                <a:schemeClr val="accent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Stream Races and Replay Feeds in-app  from Betting Partners.</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Redirect to Queensland Non-TAB Racing  YouTube channel to Stream Replay Feeds from other sources..</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Show Real-Time Race Results.</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View and Download Steward and Sectional Reports.</a:t>
            </a:r>
            <a:endParaRPr b="0" i="0" sz="9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34290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cxnSp>
        <p:nvCxnSpPr>
          <p:cNvPr id="229" name="Google Shape;229;p6"/>
          <p:cNvCxnSpPr/>
          <p:nvPr/>
        </p:nvCxnSpPr>
        <p:spPr>
          <a:xfrm>
            <a:off x="299130" y="2942678"/>
            <a:ext cx="0" cy="2007300"/>
          </a:xfrm>
          <a:prstGeom prst="straightConnector1">
            <a:avLst/>
          </a:prstGeom>
          <a:noFill/>
          <a:ln cap="flat" cmpd="sng" w="19050">
            <a:solidFill>
              <a:srgbClr val="12519C"/>
            </a:solidFill>
            <a:prstDash val="solid"/>
            <a:round/>
            <a:headEnd len="sm" w="sm" type="none"/>
            <a:tailEnd len="sm" w="sm" type="none"/>
          </a:ln>
        </p:spPr>
      </p:cxnSp>
      <p:sp>
        <p:nvSpPr>
          <p:cNvPr id="230" name="Google Shape;230;p6"/>
          <p:cNvSpPr/>
          <p:nvPr/>
        </p:nvSpPr>
        <p:spPr>
          <a:xfrm>
            <a:off x="3204902" y="2942679"/>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rgbClr val="6F3A93"/>
                </a:solidFill>
                <a:latin typeface="Montserrat SemiBold"/>
                <a:ea typeface="Montserrat SemiBold"/>
                <a:cs typeface="Montserrat SemiBold"/>
                <a:sym typeface="Montserrat SemiBold"/>
              </a:rPr>
              <a:t>Premiership Details &amp; Reports</a:t>
            </a:r>
            <a:endParaRPr b="0" i="0" sz="1100" u="none" cap="none" strike="noStrike">
              <a:solidFill>
                <a:schemeClr val="accent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List Premiership Rankings and Statistics such as wins, placings, prize money earned and total starts for each participant.</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Filter Premiership Details based on for different categories, like Metro, Provincial, and Country Premierships for Trainers, Jockeys, and Apprentices</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Search &amp; Download Premiership Reports.</a:t>
            </a:r>
            <a:endParaRPr b="0" i="0" sz="9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cxnSp>
        <p:nvCxnSpPr>
          <p:cNvPr id="231" name="Google Shape;231;p6"/>
          <p:cNvCxnSpPr/>
          <p:nvPr/>
        </p:nvCxnSpPr>
        <p:spPr>
          <a:xfrm>
            <a:off x="3204907" y="2942678"/>
            <a:ext cx="0" cy="2007300"/>
          </a:xfrm>
          <a:prstGeom prst="straightConnector1">
            <a:avLst/>
          </a:prstGeom>
          <a:noFill/>
          <a:ln cap="flat" cmpd="sng" w="19050">
            <a:solidFill>
              <a:srgbClr val="12519C"/>
            </a:solidFill>
            <a:prstDash val="solid"/>
            <a:round/>
            <a:headEnd len="sm" w="sm" type="none"/>
            <a:tailEnd len="sm" w="sm" type="none"/>
          </a:ln>
        </p:spPr>
      </p:cxnSp>
      <p:sp>
        <p:nvSpPr>
          <p:cNvPr id="232" name="Google Shape;232;p6"/>
          <p:cNvSpPr/>
          <p:nvPr/>
        </p:nvSpPr>
        <p:spPr>
          <a:xfrm>
            <a:off x="6110675" y="2941366"/>
            <a:ext cx="2734200" cy="20088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0" i="0" lang="en" sz="1000" u="none" cap="none" strike="noStrike">
                <a:solidFill>
                  <a:schemeClr val="accent3"/>
                </a:solidFill>
                <a:latin typeface="Montserrat SemiBold"/>
                <a:ea typeface="Montserrat SemiBold"/>
                <a:cs typeface="Montserrat SemiBold"/>
                <a:sym typeface="Montserrat SemiBold"/>
              </a:rPr>
              <a:t>News</a:t>
            </a:r>
            <a:r>
              <a:rPr b="0" i="0" lang="en" sz="1000" u="none" cap="none" strike="noStrike">
                <a:solidFill>
                  <a:srgbClr val="6F3A93"/>
                </a:solidFill>
                <a:latin typeface="Montserrat SemiBold"/>
                <a:ea typeface="Montserrat SemiBold"/>
                <a:cs typeface="Montserrat SemiBold"/>
                <a:sym typeface="Montserrat SemiBold"/>
              </a:rPr>
              <a:t> </a:t>
            </a:r>
            <a:r>
              <a:rPr b="0" i="0" lang="en" sz="1000" u="none" cap="none" strike="noStrike">
                <a:solidFill>
                  <a:schemeClr val="accent3"/>
                </a:solidFill>
                <a:latin typeface="Montserrat SemiBold"/>
                <a:ea typeface="Montserrat SemiBold"/>
                <a:cs typeface="Montserrat SemiBold"/>
                <a:sym typeface="Montserrat SemiBold"/>
              </a:rPr>
              <a:t>&amp; Notifications </a:t>
            </a:r>
            <a:endParaRPr b="0" i="0" sz="1000" u="none" cap="none" strike="noStrike">
              <a:solidFill>
                <a:schemeClr val="accent3"/>
              </a:solidFill>
              <a:latin typeface="Montserrat SemiBold"/>
              <a:ea typeface="Montserrat SemiBold"/>
              <a:cs typeface="Montserrat SemiBold"/>
              <a:sym typeface="Montserrat SemiBold"/>
            </a:endParaRPr>
          </a:p>
          <a:p>
            <a:pPr indent="-222250" lvl="0" marL="342900" marR="0" rtl="0" algn="l">
              <a:lnSpc>
                <a:spcPct val="100000"/>
              </a:lnSpc>
              <a:spcBef>
                <a:spcPts val="100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Search and View Racing News Items </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Search and View Business Awareness pages such as Ownership, Career &amp; Training, Infrastructure, Open API details etc.</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00000"/>
              </a:lnSpc>
              <a:spcBef>
                <a:spcPts val="0"/>
              </a:spcBef>
              <a:spcAft>
                <a:spcPts val="0"/>
              </a:spcAft>
              <a:buClr>
                <a:srgbClr val="D9167F"/>
              </a:buClr>
              <a:buSzPts val="900"/>
              <a:buFont typeface="Montserrat"/>
              <a:buChar char="●"/>
            </a:pPr>
            <a:r>
              <a:rPr b="0" i="0" lang="en" sz="900" u="none" cap="none" strike="noStrike">
                <a:solidFill>
                  <a:schemeClr val="dk1"/>
                </a:solidFill>
                <a:latin typeface="Montserrat"/>
                <a:ea typeface="Montserrat"/>
                <a:cs typeface="Montserrat"/>
                <a:sym typeface="Montserrat"/>
              </a:rPr>
              <a:t>Get Push Notifications for Race Alerts &amp; Updates.</a:t>
            </a:r>
            <a:endParaRPr b="0" i="0" sz="9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000" u="none" cap="none" strike="noStrike">
              <a:solidFill>
                <a:schemeClr val="dk1"/>
              </a:solidFill>
              <a:latin typeface="Montserrat"/>
              <a:ea typeface="Montserrat"/>
              <a:cs typeface="Montserrat"/>
              <a:sym typeface="Montserrat"/>
            </a:endParaRPr>
          </a:p>
          <a:p>
            <a:pPr indent="0" lvl="0" marL="34290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0" marR="0" rtl="0" algn="l">
              <a:lnSpc>
                <a:spcPct val="100000"/>
              </a:lnSpc>
              <a:spcBef>
                <a:spcPts val="0"/>
              </a:spcBef>
              <a:spcAft>
                <a:spcPts val="0"/>
              </a:spcAft>
              <a:buClr>
                <a:schemeClr val="dk1"/>
              </a:buClr>
              <a:buSzPts val="1100"/>
              <a:buFont typeface="Arial"/>
              <a:buNone/>
            </a:pPr>
            <a:r>
              <a:t/>
            </a:r>
            <a:endParaRPr b="0" i="0" sz="1100" u="none" cap="none" strike="noStrike">
              <a:solidFill>
                <a:schemeClr val="accent3"/>
              </a:solidFill>
              <a:latin typeface="Montserrat SemiBold"/>
              <a:ea typeface="Montserrat SemiBold"/>
              <a:cs typeface="Montserrat SemiBold"/>
              <a:sym typeface="Montserrat SemiBold"/>
            </a:endParaRPr>
          </a:p>
          <a:p>
            <a:pPr indent="0" lvl="0" marL="34290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6F3A93"/>
              </a:solidFill>
              <a:latin typeface="Montserrat SemiBold"/>
              <a:ea typeface="Montserrat SemiBold"/>
              <a:cs typeface="Montserrat SemiBold"/>
              <a:sym typeface="Montserrat SemiBold"/>
            </a:endParaRPr>
          </a:p>
        </p:txBody>
      </p:sp>
      <p:cxnSp>
        <p:nvCxnSpPr>
          <p:cNvPr id="233" name="Google Shape;233;p6"/>
          <p:cNvCxnSpPr/>
          <p:nvPr/>
        </p:nvCxnSpPr>
        <p:spPr>
          <a:xfrm>
            <a:off x="6110681" y="2941365"/>
            <a:ext cx="0" cy="2007300"/>
          </a:xfrm>
          <a:prstGeom prst="straightConnector1">
            <a:avLst/>
          </a:prstGeom>
          <a:noFill/>
          <a:ln cap="flat" cmpd="sng" w="19050">
            <a:solidFill>
              <a:srgbClr val="12519C"/>
            </a:solidFill>
            <a:prstDash val="solid"/>
            <a:round/>
            <a:headEnd len="sm" w="sm" type="none"/>
            <a:tailEnd len="sm" w="sm" type="none"/>
          </a:ln>
        </p:spPr>
      </p:cxnSp>
      <p:sp>
        <p:nvSpPr>
          <p:cNvPr id="234" name="Google Shape;234;p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7"/>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Non Functional Requirements</a:t>
            </a:r>
            <a:endParaRPr>
              <a:solidFill>
                <a:schemeClr val="dk1"/>
              </a:solidFill>
            </a:endParaRPr>
          </a:p>
        </p:txBody>
      </p:sp>
      <p:sp>
        <p:nvSpPr>
          <p:cNvPr id="240" name="Google Shape;240;p7"/>
          <p:cNvSpPr txBox="1"/>
          <p:nvPr>
            <p:ph idx="12" type="sldNum"/>
          </p:nvPr>
        </p:nvSpPr>
        <p:spPr>
          <a:xfrm>
            <a:off x="8556784" y="6333134"/>
            <a:ext cx="548700" cy="5250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800"/>
              <a:buNone/>
            </a:pPr>
            <a:fld id="{00000000-1234-1234-1234-123412341234}" type="slidenum">
              <a:rPr lang="en" sz="800"/>
              <a:t>‹#›</a:t>
            </a:fld>
            <a:endParaRPr sz="800"/>
          </a:p>
        </p:txBody>
      </p:sp>
      <p:sp>
        <p:nvSpPr>
          <p:cNvPr id="241" name="Google Shape;241;p7"/>
          <p:cNvSpPr/>
          <p:nvPr/>
        </p:nvSpPr>
        <p:spPr>
          <a:xfrm>
            <a:off x="347850" y="904575"/>
            <a:ext cx="8442300" cy="38787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0" lIns="91425" spcFirstLastPara="1" rIns="91425" wrap="square" tIns="0">
            <a:noAutofit/>
          </a:bodyPr>
          <a:lstStyle/>
          <a:p>
            <a:pPr indent="-228600" lvl="0" marL="342900" marR="0" rtl="0" algn="l">
              <a:lnSpc>
                <a:spcPct val="150000"/>
              </a:lnSpc>
              <a:spcBef>
                <a:spcPts val="0"/>
              </a:spcBef>
              <a:spcAft>
                <a:spcPts val="0"/>
              </a:spcAft>
              <a:buClr>
                <a:schemeClr val="accent1"/>
              </a:buClr>
              <a:buSzPts val="1000"/>
              <a:buFont typeface="Montserrat"/>
              <a:buChar char="●"/>
            </a:pPr>
            <a:r>
              <a:rPr b="1" i="0" lang="en" sz="1000" u="none" cap="none" strike="noStrike">
                <a:solidFill>
                  <a:schemeClr val="accent1"/>
                </a:solidFill>
                <a:latin typeface="Montserrat"/>
                <a:ea typeface="Montserrat"/>
                <a:cs typeface="Montserrat"/>
                <a:sym typeface="Montserrat"/>
              </a:rPr>
              <a:t>Architecture &amp; Code Quality</a:t>
            </a:r>
            <a:endParaRPr b="1" i="0" sz="1000" u="none" cap="none" strike="noStrike">
              <a:solidFill>
                <a:schemeClr val="accent1"/>
              </a:solidFill>
              <a:latin typeface="Montserrat"/>
              <a:ea typeface="Montserrat"/>
              <a:cs typeface="Montserrat"/>
              <a:sym typeface="Montserra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A cross-platform mobile application will be developed using a modular architecture approach.</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The codebase will follow modular principles and separation of concerns to support future enhancements and maintain a scalable, loosely coupled architecture.</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Google and Apple recommended architectural guidelines will be followed to ensure the solution is scalable and future-ready.</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The app will be lightweight and built using API-driven development principles to ensure performance and responsiveness.</a:t>
            </a:r>
            <a:br>
              <a:rPr b="0" i="0" lang="en" sz="900" u="none" cap="none" strike="noStrike">
                <a:solidFill>
                  <a:schemeClr val="dk1"/>
                </a:solidFill>
                <a:latin typeface="Montserrat Light"/>
                <a:ea typeface="Montserrat Light"/>
                <a:cs typeface="Montserrat Light"/>
                <a:sym typeface="Montserrat Light"/>
              </a:rPr>
            </a:br>
            <a:endParaRPr b="0" i="0" sz="900" u="none" cap="none" strike="noStrike">
              <a:solidFill>
                <a:schemeClr val="dk1"/>
              </a:solidFill>
              <a:latin typeface="Montserrat Light"/>
              <a:ea typeface="Montserrat Light"/>
              <a:cs typeface="Montserrat Light"/>
              <a:sym typeface="Montserrat Light"/>
            </a:endParaRPr>
          </a:p>
          <a:p>
            <a:pPr indent="-228600" lvl="0" marL="342900" marR="0" rtl="0" algn="l">
              <a:lnSpc>
                <a:spcPct val="150000"/>
              </a:lnSpc>
              <a:spcBef>
                <a:spcPts val="0"/>
              </a:spcBef>
              <a:spcAft>
                <a:spcPts val="0"/>
              </a:spcAft>
              <a:buClr>
                <a:schemeClr val="accent1"/>
              </a:buClr>
              <a:buSzPts val="1000"/>
              <a:buFont typeface="Montserrat Light"/>
              <a:buChar char="●"/>
            </a:pPr>
            <a:r>
              <a:rPr b="1" i="0" lang="en" sz="1000" u="none" cap="none" strike="noStrike">
                <a:solidFill>
                  <a:schemeClr val="accent1"/>
                </a:solidFill>
                <a:latin typeface="Montserrat"/>
                <a:ea typeface="Montserrat"/>
                <a:cs typeface="Montserrat"/>
                <a:sym typeface="Montserrat"/>
              </a:rPr>
              <a:t>User Experience &amp; Design</a:t>
            </a:r>
            <a:endParaRPr b="0" i="0" sz="1000" u="none" cap="none" strike="noStrike">
              <a:solidFill>
                <a:schemeClr val="dk1"/>
              </a:solidFill>
              <a:latin typeface="Montserrat Medium"/>
              <a:ea typeface="Montserrat Medium"/>
              <a:cs typeface="Montserrat Medium"/>
              <a:sym typeface="Montserrat Medium"/>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Development best practices will be implemented to ensure compatibility with screen sizes of 4.5” and above.</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Usability testing will be conducted to ensure a seamless and enriched user experience for any UeX changes.</a:t>
            </a:r>
            <a:br>
              <a:rPr b="0" i="0" lang="en" sz="900" u="none" cap="none" strike="noStrike">
                <a:solidFill>
                  <a:schemeClr val="dk1"/>
                </a:solidFill>
                <a:latin typeface="Montserrat Light"/>
                <a:ea typeface="Montserrat Light"/>
                <a:cs typeface="Montserrat Light"/>
                <a:sym typeface="Montserrat Light"/>
              </a:rPr>
            </a:br>
            <a:endParaRPr b="0" i="0" sz="900" u="none" cap="none" strike="noStrike">
              <a:solidFill>
                <a:schemeClr val="dk1"/>
              </a:solidFill>
              <a:latin typeface="Montserrat Light"/>
              <a:ea typeface="Montserrat Light"/>
              <a:cs typeface="Montserrat Light"/>
              <a:sym typeface="Montserrat Light"/>
            </a:endParaRPr>
          </a:p>
          <a:p>
            <a:pPr indent="-228600" lvl="0" marL="342900" marR="0" rtl="0" algn="l">
              <a:lnSpc>
                <a:spcPct val="150000"/>
              </a:lnSpc>
              <a:spcBef>
                <a:spcPts val="0"/>
              </a:spcBef>
              <a:spcAft>
                <a:spcPts val="0"/>
              </a:spcAft>
              <a:buClr>
                <a:schemeClr val="accent1"/>
              </a:buClr>
              <a:buSzPts val="1000"/>
              <a:buFont typeface="Montserrat Light"/>
              <a:buChar char="●"/>
            </a:pPr>
            <a:r>
              <a:rPr b="1" i="0" lang="en" sz="1000" u="none" cap="none" strike="noStrike">
                <a:solidFill>
                  <a:schemeClr val="accent1"/>
                </a:solidFill>
                <a:latin typeface="Montserrat"/>
                <a:ea typeface="Montserrat"/>
                <a:cs typeface="Montserrat"/>
                <a:sym typeface="Montserrat"/>
              </a:rPr>
              <a:t>Security &amp; Compliance</a:t>
            </a:r>
            <a:endParaRPr b="0" i="0" sz="10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All personal and sensitive data (e.g., donation information) will be securely stored, both at rest and in transit, using industry-standard encryption practices.</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The application will adhere to the latest Google Play and Apple App Store policies to ensure successful deployment and avoid rejection or delisting.</a:t>
            </a:r>
            <a:br>
              <a:rPr b="0" i="0" lang="en" sz="900" u="none" cap="none" strike="noStrike">
                <a:solidFill>
                  <a:schemeClr val="dk1"/>
                </a:solidFill>
                <a:latin typeface="Montserrat Light"/>
                <a:ea typeface="Montserrat Light"/>
                <a:cs typeface="Montserrat Light"/>
                <a:sym typeface="Montserrat Light"/>
              </a:rPr>
            </a:br>
            <a:endParaRPr b="0" i="0" sz="900" u="none" cap="none" strike="noStrike">
              <a:solidFill>
                <a:schemeClr val="dk1"/>
              </a:solidFill>
              <a:latin typeface="Montserrat Light"/>
              <a:ea typeface="Montserrat Light"/>
              <a:cs typeface="Montserrat Light"/>
              <a:sym typeface="Montserrat Light"/>
            </a:endParaRPr>
          </a:p>
        </p:txBody>
      </p:sp>
      <p:cxnSp>
        <p:nvCxnSpPr>
          <p:cNvPr id="242" name="Google Shape;242;p7"/>
          <p:cNvCxnSpPr/>
          <p:nvPr/>
        </p:nvCxnSpPr>
        <p:spPr>
          <a:xfrm>
            <a:off x="353817" y="911950"/>
            <a:ext cx="14400" cy="3842100"/>
          </a:xfrm>
          <a:prstGeom prst="straightConnector1">
            <a:avLst/>
          </a:prstGeom>
          <a:noFill/>
          <a:ln cap="flat" cmpd="sng" w="19050">
            <a:solidFill>
              <a:srgbClr val="12519C"/>
            </a:solidFill>
            <a:prstDash val="solid"/>
            <a:round/>
            <a:headEnd len="sm" w="sm" type="none"/>
            <a:tailEnd len="sm" w="sm" type="none"/>
          </a:ln>
        </p:spPr>
      </p:cxnSp>
      <p:sp>
        <p:nvSpPr>
          <p:cNvPr id="243" name="Google Shape;243;p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228600" lvl="0" marL="342900" marR="0" rtl="0" algn="l">
              <a:lnSpc>
                <a:spcPct val="200000"/>
              </a:lnSpc>
              <a:spcBef>
                <a:spcPts val="0"/>
              </a:spcBef>
              <a:spcAft>
                <a:spcPts val="0"/>
              </a:spcAft>
              <a:buClr>
                <a:srgbClr val="E7E6E6"/>
              </a:buClr>
              <a:buSzPts val="1000"/>
              <a:buFont typeface="Montserrat"/>
              <a:buChar char="●"/>
            </a:pPr>
            <a:fld id="{00000000-1234-1234-1234-123412341234}" type="slidenum">
              <a:rPr lang="en" sz="1000"/>
              <a:t>‹#›</a:t>
            </a:fld>
            <a:endParaRPr sz="10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8"/>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Non Functional Requirements</a:t>
            </a:r>
            <a:endParaRPr>
              <a:solidFill>
                <a:schemeClr val="dk1"/>
              </a:solidFill>
            </a:endParaRPr>
          </a:p>
        </p:txBody>
      </p:sp>
      <p:sp>
        <p:nvSpPr>
          <p:cNvPr id="249" name="Google Shape;249;p8"/>
          <p:cNvSpPr txBox="1"/>
          <p:nvPr>
            <p:ph idx="12" type="sldNum"/>
          </p:nvPr>
        </p:nvSpPr>
        <p:spPr>
          <a:xfrm>
            <a:off x="8556784" y="6333134"/>
            <a:ext cx="548700" cy="5250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800"/>
              <a:buNone/>
            </a:pPr>
            <a:fld id="{00000000-1234-1234-1234-123412341234}" type="slidenum">
              <a:rPr lang="en" sz="800"/>
              <a:t>‹#›</a:t>
            </a:fld>
            <a:endParaRPr sz="800"/>
          </a:p>
        </p:txBody>
      </p:sp>
      <p:sp>
        <p:nvSpPr>
          <p:cNvPr id="250" name="Google Shape;250;p8"/>
          <p:cNvSpPr/>
          <p:nvPr/>
        </p:nvSpPr>
        <p:spPr>
          <a:xfrm>
            <a:off x="347850" y="904575"/>
            <a:ext cx="8442300" cy="3878700"/>
          </a:xfrm>
          <a:prstGeom prst="snip1Rect">
            <a:avLst>
              <a:gd fmla="val 12360"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0" lIns="91425" spcFirstLastPara="1" rIns="91425" wrap="square" tIns="0">
            <a:noAutofit/>
          </a:bodyPr>
          <a:lstStyle/>
          <a:p>
            <a:pPr indent="-228600" lvl="0" marL="342900" marR="0" rtl="0" algn="l">
              <a:lnSpc>
                <a:spcPct val="150000"/>
              </a:lnSpc>
              <a:spcBef>
                <a:spcPts val="0"/>
              </a:spcBef>
              <a:spcAft>
                <a:spcPts val="0"/>
              </a:spcAft>
              <a:buClr>
                <a:schemeClr val="accent1"/>
              </a:buClr>
              <a:buSzPts val="1000"/>
              <a:buFont typeface="Montserrat Light"/>
              <a:buChar char="●"/>
            </a:pPr>
            <a:r>
              <a:rPr b="1" i="0" lang="en" sz="1000" u="none" cap="none" strike="noStrike">
                <a:solidFill>
                  <a:schemeClr val="accent1"/>
                </a:solidFill>
                <a:latin typeface="Montserrat"/>
                <a:ea typeface="Montserrat"/>
                <a:cs typeface="Montserrat"/>
                <a:sym typeface="Montserrat"/>
              </a:rPr>
              <a:t>Reliability &amp; Monitoring</a:t>
            </a:r>
            <a:endParaRPr b="1" i="0" sz="1000" u="none" cap="none" strike="noStrike">
              <a:solidFill>
                <a:schemeClr val="accent1"/>
              </a:solidFill>
              <a:latin typeface="Montserrat"/>
              <a:ea typeface="Montserrat"/>
              <a:cs typeface="Montserrat"/>
              <a:sym typeface="Montserra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The app will be designed to recover gracefully from unexpected errors to maintain a consistent user experience.</a:t>
            </a:r>
            <a:endParaRPr b="0" i="0" sz="900" u="none" cap="none" strike="noStrike">
              <a:solidFill>
                <a:schemeClr val="dk1"/>
              </a:solidFill>
              <a:latin typeface="Montserrat Light"/>
              <a:ea typeface="Montserrat Light"/>
              <a:cs typeface="Montserrat Light"/>
              <a:sym typeface="Montserrat Light"/>
            </a:endParaRPr>
          </a:p>
          <a:p>
            <a:pPr indent="-222250" lvl="1" marL="685800" marR="0" rtl="0" algn="l">
              <a:lnSpc>
                <a:spcPct val="150000"/>
              </a:lnSpc>
              <a:spcBef>
                <a:spcPts val="0"/>
              </a:spcBef>
              <a:spcAft>
                <a:spcPts val="0"/>
              </a:spcAft>
              <a:buClr>
                <a:schemeClr val="dk1"/>
              </a:buClr>
              <a:buSzPts val="900"/>
              <a:buFont typeface="Montserrat Light"/>
              <a:buChar char="○"/>
            </a:pPr>
            <a:r>
              <a:rPr b="0" i="0" lang="en" sz="900" u="none" cap="none" strike="noStrike">
                <a:solidFill>
                  <a:schemeClr val="dk1"/>
                </a:solidFill>
                <a:latin typeface="Montserrat Light"/>
                <a:ea typeface="Montserrat Light"/>
                <a:cs typeface="Montserrat Light"/>
                <a:sym typeface="Montserrat Light"/>
              </a:rPr>
              <a:t>Logging and monitoring tools will be integrated to capture crashes, errors, and app usage analytics for continuous improvement.</a:t>
            </a:r>
            <a:endParaRPr b="0" i="0" sz="900" u="none" cap="none" strike="noStrike">
              <a:solidFill>
                <a:schemeClr val="dk1"/>
              </a:solidFill>
              <a:latin typeface="Montserrat Light"/>
              <a:ea typeface="Montserrat Light"/>
              <a:cs typeface="Montserrat Light"/>
              <a:sym typeface="Montserrat Light"/>
            </a:endParaRPr>
          </a:p>
        </p:txBody>
      </p:sp>
      <p:cxnSp>
        <p:nvCxnSpPr>
          <p:cNvPr id="251" name="Google Shape;251;p8"/>
          <p:cNvCxnSpPr/>
          <p:nvPr/>
        </p:nvCxnSpPr>
        <p:spPr>
          <a:xfrm>
            <a:off x="353817" y="911950"/>
            <a:ext cx="14400" cy="3842100"/>
          </a:xfrm>
          <a:prstGeom prst="straightConnector1">
            <a:avLst/>
          </a:prstGeom>
          <a:noFill/>
          <a:ln cap="flat" cmpd="sng" w="19050">
            <a:solidFill>
              <a:srgbClr val="12519C"/>
            </a:solidFill>
            <a:prstDash val="solid"/>
            <a:round/>
            <a:headEnd len="sm" w="sm" type="none"/>
            <a:tailEnd len="sm" w="sm" type="none"/>
          </a:ln>
        </p:spPr>
      </p:cxnSp>
      <p:sp>
        <p:nvSpPr>
          <p:cNvPr id="252" name="Google Shape;252;p8"/>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228600" lvl="0" marL="342900" marR="0" rtl="0" algn="l">
              <a:lnSpc>
                <a:spcPct val="200000"/>
              </a:lnSpc>
              <a:spcBef>
                <a:spcPts val="0"/>
              </a:spcBef>
              <a:spcAft>
                <a:spcPts val="0"/>
              </a:spcAft>
              <a:buClr>
                <a:srgbClr val="E7E6E6"/>
              </a:buClr>
              <a:buSzPts val="1000"/>
              <a:buFont typeface="Montserrat"/>
              <a:buChar char="●"/>
            </a:pPr>
            <a:fld id="{00000000-1234-1234-1234-123412341234}" type="slidenum">
              <a:rPr lang="en" sz="1000"/>
              <a:t>‹#›</a:t>
            </a:fld>
            <a:endParaRPr sz="1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9"/>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9"/>
          <p:cNvSpPr txBox="1"/>
          <p:nvPr>
            <p:ph type="title"/>
          </p:nvPr>
        </p:nvSpPr>
        <p:spPr>
          <a:xfrm>
            <a:off x="104500" y="141850"/>
            <a:ext cx="7426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Key Assumptions and Dependencies</a:t>
            </a:r>
            <a:endParaRPr/>
          </a:p>
        </p:txBody>
      </p:sp>
      <p:sp>
        <p:nvSpPr>
          <p:cNvPr id="259" name="Google Shape;259;p9"/>
          <p:cNvSpPr/>
          <p:nvPr/>
        </p:nvSpPr>
        <p:spPr>
          <a:xfrm>
            <a:off x="223850" y="746325"/>
            <a:ext cx="8690100" cy="4003500"/>
          </a:xfrm>
          <a:prstGeom prst="snip1Rect">
            <a:avLst>
              <a:gd fmla="val 1633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121875" lIns="121875" spcFirstLastPara="1" rIns="121875" wrap="square" tIns="27425">
            <a:noAutofit/>
          </a:bodyPr>
          <a:lstStyle/>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The app will be built on </a:t>
            </a:r>
            <a:r>
              <a:rPr b="0" i="0" lang="en" sz="900" u="none" cap="none" strike="noStrike">
                <a:solidFill>
                  <a:schemeClr val="dk1"/>
                </a:solidFill>
                <a:latin typeface="Montserrat"/>
                <a:ea typeface="Montserrat"/>
                <a:cs typeface="Montserrat"/>
                <a:sym typeface="Montserrat"/>
              </a:rPr>
              <a:t>Cross-Platform tech stack (</a:t>
            </a:r>
            <a:r>
              <a:rPr b="0" i="0" lang="en" sz="900" u="none" cap="none" strike="noStrike">
                <a:solidFill>
                  <a:srgbClr val="000000"/>
                </a:solidFill>
                <a:latin typeface="Montserrat"/>
                <a:ea typeface="Montserrat"/>
                <a:cs typeface="Montserrat"/>
                <a:sym typeface="Montserrat"/>
              </a:rPr>
              <a:t>Flutter or React Native)</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Tech Stack will be finalised during the initial 2 weeks of discovery with understanding of current Racing Queensland tech ecosystem to ensure the selected solution is scalable, robust, and resilient for future needs.</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All the necessary approvals and access to the critical systems required for this engagement will be provided by the Racing Queensland team.</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Availability of SMEs and key stakeholders during Discovery, Designs sign off, Sprint demos, UAT and Go-live  from Racing Queensland is required.</a:t>
            </a:r>
            <a:endParaRPr b="0" i="0" sz="900" u="none" cap="none" strike="noStrike">
              <a:solidFill>
                <a:schemeClr val="dk1"/>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chemeClr val="dk1"/>
                </a:solidFill>
                <a:latin typeface="Montserrat"/>
                <a:ea typeface="Montserrat"/>
                <a:cs typeface="Montserrat"/>
                <a:sym typeface="Montserrat"/>
              </a:rPr>
              <a:t>Existing backend services from the current web app will be reused, new API development is not considered.</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APIs will provide direct playable video links, if low-latency HLS support is required</a:t>
            </a:r>
            <a:r>
              <a:rPr b="0" i="0" lang="en" sz="900" u="none" cap="none" strike="noStrike">
                <a:solidFill>
                  <a:schemeClr val="dk1"/>
                </a:solidFill>
                <a:latin typeface="Montserrat"/>
                <a:ea typeface="Montserrat"/>
                <a:cs typeface="Montserrat"/>
                <a:sym typeface="Montserrat"/>
              </a:rPr>
              <a:t> additional third-party player/library will be integrated.</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Any necessary </a:t>
            </a:r>
            <a:r>
              <a:rPr b="0" i="0" lang="en" sz="900" u="none" cap="none" strike="noStrike">
                <a:solidFill>
                  <a:schemeClr val="dk1"/>
                </a:solidFill>
                <a:latin typeface="Montserrat"/>
                <a:ea typeface="Montserrat"/>
                <a:cs typeface="Montserrat"/>
                <a:sym typeface="Montserrat"/>
              </a:rPr>
              <a:t>regulatory </a:t>
            </a:r>
            <a:r>
              <a:rPr b="0" i="0" lang="en" sz="900" u="none" cap="none" strike="noStrike">
                <a:solidFill>
                  <a:srgbClr val="000000"/>
                </a:solidFill>
                <a:latin typeface="Montserrat"/>
                <a:ea typeface="Montserrat"/>
                <a:cs typeface="Montserrat"/>
                <a:sym typeface="Montserrat"/>
              </a:rPr>
              <a:t>approvals will be secured within 1–2 weeks.</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Key user interactions (e.g., clicks, page views) will be tracked via analytics. We have considered 25 events in our scope.</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The following sections will load via web views only.(e.g. Animal Welfare, Ownership, Career &amp; Training, Infrastructure, About)</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All third-party license costs are not considered in scope.</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The app will mirror the current web application, functional changes will require separate effort and approval.</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Support for all screen size of 4.5” and above</a:t>
            </a:r>
            <a:endParaRPr b="0" i="0" sz="900" u="none" cap="none" strike="noStrike">
              <a:solidFill>
                <a:srgbClr val="000000"/>
              </a:solidFill>
              <a:latin typeface="Montserrat"/>
              <a:ea typeface="Montserrat"/>
              <a:cs typeface="Montserrat"/>
              <a:sym typeface="Montserrat"/>
            </a:endParaRPr>
          </a:p>
          <a:p>
            <a:pPr indent="-222250" lvl="0" marL="342900" marR="0" rtl="0" algn="l">
              <a:lnSpc>
                <a:spcPct val="150000"/>
              </a:lnSpc>
              <a:spcBef>
                <a:spcPts val="0"/>
              </a:spcBef>
              <a:spcAft>
                <a:spcPts val="0"/>
              </a:spcAft>
              <a:buClr>
                <a:schemeClr val="accent1"/>
              </a:buClr>
              <a:buSzPts val="900"/>
              <a:buFont typeface="Montserrat"/>
              <a:buChar char="●"/>
            </a:pPr>
            <a:r>
              <a:rPr b="0" i="0" lang="en" sz="900" u="none" cap="none" strike="noStrike">
                <a:solidFill>
                  <a:srgbClr val="000000"/>
                </a:solidFill>
                <a:latin typeface="Montserrat"/>
                <a:ea typeface="Montserrat"/>
                <a:cs typeface="Montserrat"/>
                <a:sym typeface="Montserrat"/>
              </a:rPr>
              <a:t>OS support for iOS - 13.0 and above, and Android - 11 and above.</a:t>
            </a:r>
            <a:endParaRPr b="0" i="0" sz="900" u="none" cap="none" strike="noStrike">
              <a:solidFill>
                <a:schemeClr val="dk1"/>
              </a:solidFill>
              <a:latin typeface="Montserrat"/>
              <a:ea typeface="Montserrat"/>
              <a:cs typeface="Montserrat"/>
              <a:sym typeface="Montserrat"/>
            </a:endParaRPr>
          </a:p>
        </p:txBody>
      </p:sp>
      <p:cxnSp>
        <p:nvCxnSpPr>
          <p:cNvPr id="260" name="Google Shape;260;p9"/>
          <p:cNvCxnSpPr/>
          <p:nvPr/>
        </p:nvCxnSpPr>
        <p:spPr>
          <a:xfrm flipH="1">
            <a:off x="243425" y="736325"/>
            <a:ext cx="10200" cy="3997800"/>
          </a:xfrm>
          <a:prstGeom prst="straightConnector1">
            <a:avLst/>
          </a:prstGeom>
          <a:noFill/>
          <a:ln cap="flat" cmpd="sng" w="19050">
            <a:solidFill>
              <a:srgbClr val="12519C"/>
            </a:solidFill>
            <a:prstDash val="solid"/>
            <a:round/>
            <a:headEnd len="sm" w="sm" type="none"/>
            <a:tailEnd len="sm" w="sm" type="none"/>
          </a:ln>
        </p:spPr>
      </p:cxnSp>
      <p:sp>
        <p:nvSpPr>
          <p:cNvPr id="261" name="Google Shape;261;p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10"/>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7" name="Google Shape;267;p10"/>
          <p:cNvSpPr txBox="1"/>
          <p:nvPr>
            <p:ph type="title"/>
          </p:nvPr>
        </p:nvSpPr>
        <p:spPr>
          <a:xfrm>
            <a:off x="104500" y="141850"/>
            <a:ext cx="7426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In Scope and Out of Scope</a:t>
            </a:r>
            <a:endParaRPr/>
          </a:p>
        </p:txBody>
      </p:sp>
      <p:sp>
        <p:nvSpPr>
          <p:cNvPr id="268" name="Google Shape;268;p10"/>
          <p:cNvSpPr/>
          <p:nvPr/>
        </p:nvSpPr>
        <p:spPr>
          <a:xfrm>
            <a:off x="396575" y="1028850"/>
            <a:ext cx="4084800" cy="3675900"/>
          </a:xfrm>
          <a:prstGeom prst="snip1Rect">
            <a:avLst>
              <a:gd fmla="val 7022"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800"/>
              <a:buFont typeface="Arial"/>
              <a:buNone/>
            </a:pPr>
            <a:r>
              <a:t/>
            </a:r>
            <a:endParaRPr b="0" i="0" sz="800" u="none" cap="none" strike="noStrike">
              <a:solidFill>
                <a:srgbClr val="000000"/>
              </a:solidFill>
              <a:latin typeface="Montserrat"/>
              <a:ea typeface="Montserrat"/>
              <a:cs typeface="Montserrat"/>
              <a:sym typeface="Montserrat"/>
            </a:endParaRPr>
          </a:p>
        </p:txBody>
      </p:sp>
      <p:sp>
        <p:nvSpPr>
          <p:cNvPr id="269" name="Google Shape;269;p10"/>
          <p:cNvSpPr/>
          <p:nvPr/>
        </p:nvSpPr>
        <p:spPr>
          <a:xfrm>
            <a:off x="400818" y="898163"/>
            <a:ext cx="4084800" cy="476100"/>
          </a:xfrm>
          <a:prstGeom prst="snip1Rect">
            <a:avLst>
              <a:gd fmla="val 21756" name="adj"/>
            </a:avLst>
          </a:prstGeom>
          <a:solidFill>
            <a:srgbClr val="F0EFFF"/>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 sz="1100" u="none" cap="none" strike="noStrike">
                <a:solidFill>
                  <a:srgbClr val="6F3A93"/>
                </a:solidFill>
                <a:latin typeface="Montserrat"/>
                <a:ea typeface="Montserrat"/>
                <a:cs typeface="Montserrat"/>
                <a:sym typeface="Montserrat"/>
              </a:rPr>
              <a:t>In Scope</a:t>
            </a:r>
            <a:endParaRPr b="1" i="0" sz="1100" u="none" cap="none" strike="noStrike">
              <a:solidFill>
                <a:srgbClr val="6F3A93"/>
              </a:solidFill>
              <a:latin typeface="Montserrat"/>
              <a:ea typeface="Montserrat"/>
              <a:cs typeface="Montserrat"/>
              <a:sym typeface="Montserrat"/>
            </a:endParaRPr>
          </a:p>
        </p:txBody>
      </p:sp>
      <p:sp>
        <p:nvSpPr>
          <p:cNvPr id="270" name="Google Shape;270;p10"/>
          <p:cNvSpPr/>
          <p:nvPr/>
        </p:nvSpPr>
        <p:spPr>
          <a:xfrm>
            <a:off x="4658375" y="900350"/>
            <a:ext cx="4084800" cy="3804300"/>
          </a:xfrm>
          <a:prstGeom prst="snip1Rect">
            <a:avLst>
              <a:gd fmla="val 10616"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91425" wrap="square" tIns="91425">
            <a:noAutofit/>
          </a:bodyPr>
          <a:lstStyle/>
          <a:p>
            <a:pPr indent="0" lvl="0" marL="0" marR="0" rtl="0" algn="ctr">
              <a:lnSpc>
                <a:spcPct val="115000"/>
              </a:lnSpc>
              <a:spcBef>
                <a:spcPts val="0"/>
              </a:spcBef>
              <a:spcAft>
                <a:spcPts val="0"/>
              </a:spcAft>
              <a:buClr>
                <a:srgbClr val="000000"/>
              </a:buClr>
              <a:buSzPts val="800"/>
              <a:buFont typeface="Arial"/>
              <a:buNone/>
            </a:pPr>
            <a:r>
              <a:t/>
            </a:r>
            <a:endParaRPr b="0" i="0" sz="800" u="none" cap="none" strike="noStrike">
              <a:solidFill>
                <a:srgbClr val="000000"/>
              </a:solidFill>
              <a:latin typeface="Montserrat"/>
              <a:ea typeface="Montserrat"/>
              <a:cs typeface="Montserrat"/>
              <a:sym typeface="Montserrat"/>
            </a:endParaRPr>
          </a:p>
        </p:txBody>
      </p:sp>
      <p:sp>
        <p:nvSpPr>
          <p:cNvPr id="271" name="Google Shape;271;p10"/>
          <p:cNvSpPr/>
          <p:nvPr/>
        </p:nvSpPr>
        <p:spPr>
          <a:xfrm>
            <a:off x="4662635" y="898172"/>
            <a:ext cx="4084800" cy="476100"/>
          </a:xfrm>
          <a:prstGeom prst="snip1Rect">
            <a:avLst>
              <a:gd fmla="val 21756" name="adj"/>
            </a:avLst>
          </a:prstGeom>
          <a:solidFill>
            <a:srgbClr val="F0EFFF"/>
          </a:solid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 sz="1100" u="none" cap="none" strike="noStrike">
                <a:solidFill>
                  <a:srgbClr val="6F3A93"/>
                </a:solidFill>
                <a:latin typeface="Montserrat"/>
                <a:ea typeface="Montserrat"/>
                <a:cs typeface="Montserrat"/>
                <a:sym typeface="Montserrat"/>
              </a:rPr>
              <a:t>Not Estimated</a:t>
            </a:r>
            <a:endParaRPr b="1" i="0" sz="1100" u="none" cap="none" strike="noStrike">
              <a:solidFill>
                <a:srgbClr val="6F3A93"/>
              </a:solidFill>
              <a:latin typeface="Montserrat"/>
              <a:ea typeface="Montserrat"/>
              <a:cs typeface="Montserrat"/>
              <a:sym typeface="Montserrat"/>
            </a:endParaRPr>
          </a:p>
        </p:txBody>
      </p:sp>
      <p:sp>
        <p:nvSpPr>
          <p:cNvPr id="272" name="Google Shape;272;p10"/>
          <p:cNvSpPr txBox="1"/>
          <p:nvPr/>
        </p:nvSpPr>
        <p:spPr>
          <a:xfrm>
            <a:off x="4662575" y="1374275"/>
            <a:ext cx="4084800" cy="3274800"/>
          </a:xfrm>
          <a:prstGeom prst="rect">
            <a:avLst/>
          </a:prstGeom>
          <a:noFill/>
          <a:ln>
            <a:noFill/>
          </a:ln>
        </p:spPr>
        <p:txBody>
          <a:bodyPr anchorCtr="0" anchor="t" bIns="91425" lIns="91425" spcFirstLastPara="1" rIns="91425" wrap="square" tIns="91425">
            <a:spAutoFit/>
          </a:bodyPr>
          <a:lstStyle/>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Procurement &amp; Maintenance of Infrastructure/ servers.</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Marketing and Advertising Campaigns.</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Procurement of any 3rd party tools or licenses or services  involved during development (any other tools, Hosting cost).</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Platform Hosting, VAPT &amp; Automation Testing*</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Training sessions will be conducted however preparation of quick start videos are not considered in the scope.*</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App distribution licencing cost - Apple Developer account (AUD 149/year) and a Google Play Console registration (AUD 35 one-time).</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rPr b="0" i="0" lang="en" sz="1100" u="none" cap="none" strike="noStrike">
                <a:solidFill>
                  <a:schemeClr val="dk1"/>
                </a:solidFill>
                <a:latin typeface="Montserrat"/>
                <a:ea typeface="Montserrat"/>
                <a:cs typeface="Montserrat"/>
                <a:sym typeface="Montserrat"/>
              </a:rPr>
              <a:t>*TTN has the capability to provide these services and can be offered to Racing Queensland if needed at additional costs.</a:t>
            </a:r>
            <a:endParaRPr b="0" i="0" sz="1100" u="none" cap="none" strike="noStrike">
              <a:solidFill>
                <a:srgbClr val="000000"/>
              </a:solidFill>
              <a:latin typeface="Montserrat"/>
              <a:ea typeface="Montserrat"/>
              <a:cs typeface="Montserrat"/>
              <a:sym typeface="Montserrat"/>
            </a:endParaRPr>
          </a:p>
        </p:txBody>
      </p:sp>
      <p:sp>
        <p:nvSpPr>
          <p:cNvPr id="273" name="Google Shape;273;p10"/>
          <p:cNvSpPr txBox="1"/>
          <p:nvPr/>
        </p:nvSpPr>
        <p:spPr>
          <a:xfrm>
            <a:off x="400819" y="1406088"/>
            <a:ext cx="4084800" cy="1911600"/>
          </a:xfrm>
          <a:prstGeom prst="rect">
            <a:avLst/>
          </a:prstGeom>
          <a:noFill/>
          <a:ln>
            <a:noFill/>
          </a:ln>
        </p:spPr>
        <p:txBody>
          <a:bodyPr anchorCtr="0" anchor="t" bIns="91425" lIns="91425" spcFirstLastPara="1" rIns="91425" wrap="square" tIns="91425">
            <a:spAutoFit/>
          </a:bodyPr>
          <a:lstStyle/>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Project Discovery, Design, Development and Deployment.</a:t>
            </a:r>
            <a:endParaRPr b="0" i="0" sz="1100" u="none" cap="none" strike="noStrike">
              <a:solidFill>
                <a:srgbClr val="000000"/>
              </a:solidFill>
              <a:latin typeface="Montserrat"/>
              <a:ea typeface="Montserrat"/>
              <a:cs typeface="Montserrat"/>
              <a:sym typeface="Montserrat"/>
            </a:endParaRPr>
          </a:p>
          <a:p>
            <a:pPr indent="-298450" lvl="1" marL="914400" marR="0" rtl="0" algn="l">
              <a:lnSpc>
                <a:spcPct val="115000"/>
              </a:lnSpc>
              <a:spcBef>
                <a:spcPts val="0"/>
              </a:spcBef>
              <a:spcAft>
                <a:spcPts val="0"/>
              </a:spcAft>
              <a:buClr>
                <a:srgbClr val="000000"/>
              </a:buClr>
              <a:buSzPts val="1100"/>
              <a:buFont typeface="Montserrat"/>
              <a:buChar char="○"/>
            </a:pPr>
            <a:r>
              <a:rPr b="0" i="0" lang="en" sz="1100" u="none" cap="none" strike="noStrike">
                <a:solidFill>
                  <a:srgbClr val="000000"/>
                </a:solidFill>
                <a:latin typeface="Montserrat"/>
                <a:ea typeface="Montserrat"/>
                <a:cs typeface="Montserrat"/>
                <a:sym typeface="Montserrat"/>
              </a:rPr>
              <a:t>Mobile Application Development</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UX and Visual Designs of all the screens</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Manual QA Testing for the developed features</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CI/CD Implementation</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UAT support and deployment</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Go-Live Support</a:t>
            </a:r>
            <a:endParaRPr b="0" i="0" sz="1100" u="none" cap="none" strike="noStrike">
              <a:solidFill>
                <a:srgbClr val="000000"/>
              </a:solidFill>
              <a:latin typeface="Montserrat"/>
              <a:ea typeface="Montserrat"/>
              <a:cs typeface="Montserrat"/>
              <a:sym typeface="Montserrat"/>
            </a:endParaRPr>
          </a:p>
          <a:p>
            <a:pPr indent="-298450" lvl="0" marL="457200" marR="0" rtl="0" algn="l">
              <a:lnSpc>
                <a:spcPct val="115000"/>
              </a:lnSpc>
              <a:spcBef>
                <a:spcPts val="0"/>
              </a:spcBef>
              <a:spcAft>
                <a:spcPts val="0"/>
              </a:spcAft>
              <a:buClr>
                <a:schemeClr val="accent1"/>
              </a:buClr>
              <a:buSzPts val="1100"/>
              <a:buFont typeface="Montserrat"/>
              <a:buChar char="●"/>
            </a:pPr>
            <a:r>
              <a:rPr b="0" i="0" lang="en" sz="1100" u="none" cap="none" strike="noStrike">
                <a:solidFill>
                  <a:srgbClr val="000000"/>
                </a:solidFill>
                <a:latin typeface="Montserrat"/>
                <a:ea typeface="Montserrat"/>
                <a:cs typeface="Montserrat"/>
                <a:sym typeface="Montserrat"/>
              </a:rPr>
              <a:t>Hypercare /Warranty Support(2 Weeks)</a:t>
            </a:r>
            <a:endParaRPr b="0" i="0" sz="1100" u="none" cap="none" strike="noStrike">
              <a:solidFill>
                <a:srgbClr val="000000"/>
              </a:solidFill>
              <a:latin typeface="Montserrat"/>
              <a:ea typeface="Montserrat"/>
              <a:cs typeface="Montserrat"/>
              <a:sym typeface="Montserrat"/>
            </a:endParaRPr>
          </a:p>
        </p:txBody>
      </p:sp>
      <p:sp>
        <p:nvSpPr>
          <p:cNvPr id="274" name="Google Shape;274;p10"/>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11"/>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1"/>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t>Agenda</a:t>
            </a:r>
            <a:endParaRPr/>
          </a:p>
        </p:txBody>
      </p:sp>
      <p:sp>
        <p:nvSpPr>
          <p:cNvPr id="281" name="Google Shape;281;p11"/>
          <p:cNvSpPr/>
          <p:nvPr/>
        </p:nvSpPr>
        <p:spPr>
          <a:xfrm>
            <a:off x="1358763" y="111102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Executive Summary and Our Understanding of Project Requirements</a:t>
            </a:r>
            <a:endParaRPr b="0" i="0" sz="1200" u="none" cap="none" strike="noStrike">
              <a:solidFill>
                <a:srgbClr val="000000"/>
              </a:solidFill>
              <a:latin typeface="Montserrat"/>
              <a:ea typeface="Montserrat"/>
              <a:cs typeface="Montserrat"/>
              <a:sym typeface="Montserrat"/>
            </a:endParaRPr>
          </a:p>
        </p:txBody>
      </p:sp>
      <p:sp>
        <p:nvSpPr>
          <p:cNvPr id="282" name="Google Shape;282;p11"/>
          <p:cNvSpPr/>
          <p:nvPr/>
        </p:nvSpPr>
        <p:spPr>
          <a:xfrm>
            <a:off x="1358763" y="1678410"/>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1" i="0" lang="en" sz="1200" u="none" cap="none" strike="noStrike">
                <a:solidFill>
                  <a:srgbClr val="D71B7F"/>
                </a:solidFill>
                <a:latin typeface="Montserrat"/>
                <a:ea typeface="Montserrat"/>
                <a:cs typeface="Montserrat"/>
                <a:sym typeface="Montserrat"/>
              </a:rPr>
              <a:t>Proposed Technical Solution Approach</a:t>
            </a:r>
            <a:endParaRPr b="1" i="0" sz="1200" u="none" cap="none" strike="noStrike">
              <a:solidFill>
                <a:srgbClr val="D71B7F"/>
              </a:solidFill>
              <a:latin typeface="Montserrat"/>
              <a:ea typeface="Montserrat"/>
              <a:cs typeface="Montserrat"/>
              <a:sym typeface="Montserrat"/>
            </a:endParaRPr>
          </a:p>
        </p:txBody>
      </p:sp>
      <p:sp>
        <p:nvSpPr>
          <p:cNvPr id="283" name="Google Shape;283;p11"/>
          <p:cNvSpPr/>
          <p:nvPr/>
        </p:nvSpPr>
        <p:spPr>
          <a:xfrm>
            <a:off x="1358763" y="328987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Success Stories</a:t>
            </a:r>
            <a:endParaRPr b="0" i="0" sz="1200" u="none" cap="none" strike="noStrike">
              <a:solidFill>
                <a:srgbClr val="000000"/>
              </a:solidFill>
              <a:latin typeface="Montserrat"/>
              <a:ea typeface="Montserrat"/>
              <a:cs typeface="Montserrat"/>
              <a:sym typeface="Montserrat"/>
            </a:endParaRPr>
          </a:p>
        </p:txBody>
      </p:sp>
      <p:cxnSp>
        <p:nvCxnSpPr>
          <p:cNvPr id="284" name="Google Shape;284;p11"/>
          <p:cNvCxnSpPr/>
          <p:nvPr/>
        </p:nvCxnSpPr>
        <p:spPr>
          <a:xfrm>
            <a:off x="1367196" y="1108050"/>
            <a:ext cx="0" cy="382200"/>
          </a:xfrm>
          <a:prstGeom prst="straightConnector1">
            <a:avLst/>
          </a:prstGeom>
          <a:noFill/>
          <a:ln cap="flat" cmpd="sng" w="19050">
            <a:solidFill>
              <a:srgbClr val="12519C"/>
            </a:solidFill>
            <a:prstDash val="solid"/>
            <a:round/>
            <a:headEnd len="sm" w="sm" type="none"/>
            <a:tailEnd len="sm" w="sm" type="none"/>
          </a:ln>
        </p:spPr>
      </p:cxnSp>
      <p:cxnSp>
        <p:nvCxnSpPr>
          <p:cNvPr id="285" name="Google Shape;285;p11"/>
          <p:cNvCxnSpPr/>
          <p:nvPr/>
        </p:nvCxnSpPr>
        <p:spPr>
          <a:xfrm>
            <a:off x="1367196" y="1675436"/>
            <a:ext cx="0" cy="382200"/>
          </a:xfrm>
          <a:prstGeom prst="straightConnector1">
            <a:avLst/>
          </a:prstGeom>
          <a:noFill/>
          <a:ln cap="flat" cmpd="sng" w="19050">
            <a:solidFill>
              <a:srgbClr val="12519C"/>
            </a:solidFill>
            <a:prstDash val="solid"/>
            <a:round/>
            <a:headEnd len="sm" w="sm" type="none"/>
            <a:tailEnd len="sm" w="sm" type="none"/>
          </a:ln>
        </p:spPr>
      </p:cxnSp>
      <p:cxnSp>
        <p:nvCxnSpPr>
          <p:cNvPr id="286" name="Google Shape;286;p11"/>
          <p:cNvCxnSpPr/>
          <p:nvPr/>
        </p:nvCxnSpPr>
        <p:spPr>
          <a:xfrm>
            <a:off x="1367196" y="3288390"/>
            <a:ext cx="0" cy="382200"/>
          </a:xfrm>
          <a:prstGeom prst="straightConnector1">
            <a:avLst/>
          </a:prstGeom>
          <a:noFill/>
          <a:ln cap="flat" cmpd="sng" w="19050">
            <a:solidFill>
              <a:srgbClr val="12519C"/>
            </a:solidFill>
            <a:prstDash val="solid"/>
            <a:round/>
            <a:headEnd len="sm" w="sm" type="none"/>
            <a:tailEnd len="sm" w="sm" type="none"/>
          </a:ln>
        </p:spPr>
      </p:cxnSp>
      <p:sp>
        <p:nvSpPr>
          <p:cNvPr id="287" name="Google Shape;287;p11"/>
          <p:cNvSpPr/>
          <p:nvPr/>
        </p:nvSpPr>
        <p:spPr>
          <a:xfrm>
            <a:off x="1048238" y="1260478"/>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1"/>
          <p:cNvSpPr/>
          <p:nvPr/>
        </p:nvSpPr>
        <p:spPr>
          <a:xfrm>
            <a:off x="1048238" y="1827880"/>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11"/>
          <p:cNvSpPr/>
          <p:nvPr/>
        </p:nvSpPr>
        <p:spPr>
          <a:xfrm>
            <a:off x="1048238" y="3439362"/>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11"/>
          <p:cNvSpPr/>
          <p:nvPr/>
        </p:nvSpPr>
        <p:spPr>
          <a:xfrm>
            <a:off x="1358763" y="224580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Project Plan and Key Deliverables</a:t>
            </a:r>
            <a:endParaRPr b="0" i="0" sz="1200" u="none" cap="none" strike="noStrike">
              <a:solidFill>
                <a:srgbClr val="000000"/>
              </a:solidFill>
              <a:latin typeface="Montserrat"/>
              <a:ea typeface="Montserrat"/>
              <a:cs typeface="Montserrat"/>
              <a:sym typeface="Montserrat"/>
            </a:endParaRPr>
          </a:p>
        </p:txBody>
      </p:sp>
      <p:cxnSp>
        <p:nvCxnSpPr>
          <p:cNvPr id="291" name="Google Shape;291;p11"/>
          <p:cNvCxnSpPr/>
          <p:nvPr/>
        </p:nvCxnSpPr>
        <p:spPr>
          <a:xfrm>
            <a:off x="1367196" y="2242832"/>
            <a:ext cx="0" cy="382200"/>
          </a:xfrm>
          <a:prstGeom prst="straightConnector1">
            <a:avLst/>
          </a:prstGeom>
          <a:noFill/>
          <a:ln cap="flat" cmpd="sng" w="19050">
            <a:solidFill>
              <a:srgbClr val="12519C"/>
            </a:solidFill>
            <a:prstDash val="solid"/>
            <a:round/>
            <a:headEnd len="sm" w="sm" type="none"/>
            <a:tailEnd len="sm" w="sm" type="none"/>
          </a:ln>
        </p:spPr>
      </p:cxnSp>
      <p:sp>
        <p:nvSpPr>
          <p:cNvPr id="292" name="Google Shape;292;p11"/>
          <p:cNvSpPr/>
          <p:nvPr/>
        </p:nvSpPr>
        <p:spPr>
          <a:xfrm>
            <a:off x="1048238" y="239527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11"/>
          <p:cNvSpPr/>
          <p:nvPr/>
        </p:nvSpPr>
        <p:spPr>
          <a:xfrm>
            <a:off x="1358763" y="275588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Commercial Summary</a:t>
            </a:r>
            <a:endParaRPr b="0" i="0" sz="1200" u="none" cap="none" strike="noStrike">
              <a:solidFill>
                <a:srgbClr val="000000"/>
              </a:solidFill>
              <a:latin typeface="Montserrat"/>
              <a:ea typeface="Montserrat"/>
              <a:cs typeface="Montserrat"/>
              <a:sym typeface="Montserrat"/>
            </a:endParaRPr>
          </a:p>
        </p:txBody>
      </p:sp>
      <p:cxnSp>
        <p:nvCxnSpPr>
          <p:cNvPr id="294" name="Google Shape;294;p11"/>
          <p:cNvCxnSpPr/>
          <p:nvPr/>
        </p:nvCxnSpPr>
        <p:spPr>
          <a:xfrm>
            <a:off x="1367196" y="2752912"/>
            <a:ext cx="0" cy="382200"/>
          </a:xfrm>
          <a:prstGeom prst="straightConnector1">
            <a:avLst/>
          </a:prstGeom>
          <a:noFill/>
          <a:ln cap="flat" cmpd="sng" w="19050">
            <a:solidFill>
              <a:srgbClr val="12519C"/>
            </a:solidFill>
            <a:prstDash val="solid"/>
            <a:round/>
            <a:headEnd len="sm" w="sm" type="none"/>
            <a:tailEnd len="sm" w="sm" type="none"/>
          </a:ln>
        </p:spPr>
      </p:cxnSp>
      <p:sp>
        <p:nvSpPr>
          <p:cNvPr id="295" name="Google Shape;295;p11"/>
          <p:cNvSpPr/>
          <p:nvPr/>
        </p:nvSpPr>
        <p:spPr>
          <a:xfrm>
            <a:off x="1048238" y="290535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11"/>
          <p:cNvSpPr txBox="1"/>
          <p:nvPr>
            <p:ph idx="4294967295"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12"/>
          <p:cNvSpPr/>
          <p:nvPr/>
        </p:nvSpPr>
        <p:spPr>
          <a:xfrm>
            <a:off x="226950" y="740900"/>
            <a:ext cx="8690100" cy="4113300"/>
          </a:xfrm>
          <a:prstGeom prst="snip1Rect">
            <a:avLst>
              <a:gd fmla="val 1633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0" lIns="121875" spcFirstLastPara="1" rIns="121875" wrap="square" tIns="0">
            <a:noAutofit/>
          </a:bodyPr>
          <a:lstStyle/>
          <a:p>
            <a:pPr indent="0" lvl="0" marL="0" marR="0" rtl="0" algn="just">
              <a:lnSpc>
                <a:spcPct val="115000"/>
              </a:lnSpc>
              <a:spcBef>
                <a:spcPts val="0"/>
              </a:spcBef>
              <a:spcAft>
                <a:spcPts val="0"/>
              </a:spcAft>
              <a:buClr>
                <a:srgbClr val="000000"/>
              </a:buClr>
              <a:buSzPts val="1100"/>
              <a:buFont typeface="Arial"/>
              <a:buNone/>
            </a:pPr>
            <a:r>
              <a:t/>
            </a:r>
            <a:endParaRPr b="1" i="0" sz="1000" u="none" cap="none" strike="noStrike">
              <a:solidFill>
                <a:srgbClr val="D71B7F"/>
              </a:solidFill>
              <a:latin typeface="Montserrat"/>
              <a:ea typeface="Montserrat"/>
              <a:cs typeface="Montserrat"/>
              <a:sym typeface="Montserrat"/>
            </a:endParaRPr>
          </a:p>
        </p:txBody>
      </p:sp>
      <p:cxnSp>
        <p:nvCxnSpPr>
          <p:cNvPr id="302" name="Google Shape;302;p12"/>
          <p:cNvCxnSpPr/>
          <p:nvPr/>
        </p:nvCxnSpPr>
        <p:spPr>
          <a:xfrm>
            <a:off x="249444" y="751302"/>
            <a:ext cx="0" cy="4113300"/>
          </a:xfrm>
          <a:prstGeom prst="straightConnector1">
            <a:avLst/>
          </a:prstGeom>
          <a:noFill/>
          <a:ln cap="flat" cmpd="sng" w="19050">
            <a:solidFill>
              <a:srgbClr val="12519C"/>
            </a:solidFill>
            <a:prstDash val="solid"/>
            <a:round/>
            <a:headEnd len="sm" w="sm" type="none"/>
            <a:tailEnd len="sm" w="sm" type="none"/>
          </a:ln>
        </p:spPr>
      </p:cxnSp>
      <p:sp>
        <p:nvSpPr>
          <p:cNvPr id="303" name="Google Shape;303;p12"/>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Solutioning Highlights</a:t>
            </a:r>
            <a:endParaRPr/>
          </a:p>
        </p:txBody>
      </p:sp>
      <p:sp>
        <p:nvSpPr>
          <p:cNvPr id="304" name="Google Shape;304;p12"/>
          <p:cNvSpPr txBox="1"/>
          <p:nvPr/>
        </p:nvSpPr>
        <p:spPr>
          <a:xfrm>
            <a:off x="340550" y="993438"/>
            <a:ext cx="8196900" cy="40329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chemeClr val="dk1"/>
                </a:solidFill>
                <a:latin typeface="Montserrat"/>
                <a:ea typeface="Montserrat"/>
                <a:cs typeface="Montserrat"/>
                <a:sym typeface="Montserrat"/>
              </a:rPr>
              <a:t>After a detailed discovery of the platform and user needs, we will evaluate the following key aspects to finalise the most suitable mobile app technology:</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50000"/>
              </a:lnSpc>
              <a:spcBef>
                <a:spcPts val="0"/>
              </a:spcBef>
              <a:spcAft>
                <a:spcPts val="0"/>
              </a:spcAft>
              <a:buClr>
                <a:srgbClr val="FF0082"/>
              </a:buClr>
              <a:buSzPts val="1000"/>
              <a:buFont typeface="Arial"/>
              <a:buChar char="●"/>
            </a:pPr>
            <a:r>
              <a:rPr b="1" i="0" lang="en" sz="1000" u="none" cap="none" strike="noStrike">
                <a:solidFill>
                  <a:schemeClr val="dk1"/>
                </a:solidFill>
                <a:latin typeface="Montserrat"/>
                <a:ea typeface="Montserrat"/>
                <a:cs typeface="Montserrat"/>
                <a:sym typeface="Montserrat"/>
              </a:rPr>
              <a:t>Platform: </a:t>
            </a:r>
            <a:r>
              <a:rPr b="0" i="0" lang="en" sz="1000" u="none" cap="none" strike="noStrike">
                <a:solidFill>
                  <a:schemeClr val="dk1"/>
                </a:solidFill>
                <a:latin typeface="Montserrat"/>
                <a:ea typeface="Montserrat"/>
                <a:cs typeface="Montserrat"/>
                <a:sym typeface="Montserrat"/>
              </a:rPr>
              <a:t>Both </a:t>
            </a:r>
            <a:r>
              <a:rPr b="1" i="0" lang="en" sz="1000" u="none" cap="none" strike="noStrike">
                <a:solidFill>
                  <a:schemeClr val="dk1"/>
                </a:solidFill>
                <a:latin typeface="Montserrat"/>
                <a:ea typeface="Montserrat"/>
                <a:cs typeface="Montserrat"/>
                <a:sym typeface="Montserrat"/>
              </a:rPr>
              <a:t>Flutter</a:t>
            </a:r>
            <a:r>
              <a:rPr b="0" i="0" lang="en" sz="1000" u="none" cap="none" strike="noStrike">
                <a:solidFill>
                  <a:schemeClr val="dk1"/>
                </a:solidFill>
                <a:latin typeface="Montserrat"/>
                <a:ea typeface="Montserrat"/>
                <a:cs typeface="Montserrat"/>
                <a:sym typeface="Montserrat"/>
              </a:rPr>
              <a:t> and </a:t>
            </a:r>
            <a:r>
              <a:rPr b="1" i="0" lang="en" sz="1000" u="none" cap="none" strike="noStrike">
                <a:solidFill>
                  <a:schemeClr val="dk1"/>
                </a:solidFill>
                <a:latin typeface="Montserrat"/>
                <a:ea typeface="Montserrat"/>
                <a:cs typeface="Montserrat"/>
                <a:sym typeface="Montserrat"/>
              </a:rPr>
              <a:t>React Native</a:t>
            </a:r>
            <a:r>
              <a:rPr b="0" i="0" lang="en" sz="1000" u="none" cap="none" strike="noStrike">
                <a:solidFill>
                  <a:schemeClr val="dk1"/>
                </a:solidFill>
                <a:latin typeface="Montserrat"/>
                <a:ea typeface="Montserrat"/>
                <a:cs typeface="Montserrat"/>
                <a:sym typeface="Montserrat"/>
              </a:rPr>
              <a:t> allow us to build high-performance mobile applications that support live streaming and run seamlessly on both Android and iOS from a single codebase. It will enable us to release new features, updates and fixes across platforms simultaneously.</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50000"/>
              </a:lnSpc>
              <a:spcBef>
                <a:spcPts val="0"/>
              </a:spcBef>
              <a:spcAft>
                <a:spcPts val="0"/>
              </a:spcAft>
              <a:buClr>
                <a:srgbClr val="FF0082"/>
              </a:buClr>
              <a:buSzPts val="1000"/>
              <a:buFont typeface="Arial"/>
              <a:buChar char="●"/>
            </a:pPr>
            <a:r>
              <a:rPr b="1" i="0" lang="en" sz="1000" u="none" cap="none" strike="noStrike">
                <a:solidFill>
                  <a:schemeClr val="dk1"/>
                </a:solidFill>
                <a:latin typeface="Montserrat"/>
                <a:ea typeface="Montserrat"/>
                <a:cs typeface="Montserrat"/>
                <a:sym typeface="Montserrat"/>
              </a:rPr>
              <a:t>Streaming and Data Consumption:</a:t>
            </a:r>
            <a:r>
              <a:rPr b="0" i="0" lang="en" sz="1000" u="none" cap="none" strike="noStrike">
                <a:solidFill>
                  <a:schemeClr val="dk1"/>
                </a:solidFill>
                <a:latin typeface="Montserrat"/>
                <a:ea typeface="Montserrat"/>
                <a:cs typeface="Montserrat"/>
                <a:sym typeface="Montserrat"/>
              </a:rPr>
              <a:t> Assessing how streaming services (such as live video streaming) are currently integrated or intended to be integrated, and how data is consumed or expected to be managed across both platforms.</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50000"/>
              </a:lnSpc>
              <a:spcBef>
                <a:spcPts val="0"/>
              </a:spcBef>
              <a:spcAft>
                <a:spcPts val="0"/>
              </a:spcAft>
              <a:buClr>
                <a:srgbClr val="FF0082"/>
              </a:buClr>
              <a:buSzPts val="1000"/>
              <a:buFont typeface="Arial"/>
              <a:buChar char="●"/>
            </a:pPr>
            <a:r>
              <a:rPr b="1" i="0" lang="en" sz="1000" u="none" cap="none" strike="noStrike">
                <a:solidFill>
                  <a:schemeClr val="dk1"/>
                </a:solidFill>
                <a:latin typeface="Montserrat"/>
                <a:ea typeface="Montserrat"/>
                <a:cs typeface="Montserrat"/>
                <a:sym typeface="Montserrat"/>
              </a:rPr>
              <a:t>Technical Considerations:</a:t>
            </a:r>
            <a:r>
              <a:rPr b="0" i="0" lang="en" sz="1000" u="none" cap="none" strike="noStrike">
                <a:solidFill>
                  <a:schemeClr val="dk1"/>
                </a:solidFill>
                <a:latin typeface="Montserrat"/>
                <a:ea typeface="Montserrat"/>
                <a:cs typeface="Montserrat"/>
                <a:sym typeface="Montserrat"/>
              </a:rPr>
              <a:t> Understanding the performance needs, scalability, and backend integration for streaming content and handling real-time data and the potential for third party libs integration.</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50000"/>
              </a:lnSpc>
              <a:spcBef>
                <a:spcPts val="0"/>
              </a:spcBef>
              <a:spcAft>
                <a:spcPts val="0"/>
              </a:spcAft>
              <a:buClr>
                <a:srgbClr val="FF0082"/>
              </a:buClr>
              <a:buSzPts val="1000"/>
              <a:buFont typeface="Montserrat"/>
              <a:buChar char="●"/>
            </a:pPr>
            <a:r>
              <a:rPr b="1" i="0" lang="en" sz="1000" u="none" cap="none" strike="noStrike">
                <a:solidFill>
                  <a:schemeClr val="dk1"/>
                </a:solidFill>
                <a:latin typeface="Montserrat"/>
                <a:ea typeface="Montserrat"/>
                <a:cs typeface="Montserrat"/>
                <a:sym typeface="Montserrat"/>
              </a:rPr>
              <a:t>Third party support</a:t>
            </a:r>
            <a:r>
              <a:rPr b="0" i="0" lang="en" sz="1000" u="none" cap="none" strike="noStrike">
                <a:solidFill>
                  <a:schemeClr val="dk1"/>
                </a:solidFill>
                <a:latin typeface="Montserrat"/>
                <a:ea typeface="Montserrat"/>
                <a:cs typeface="Montserrat"/>
                <a:sym typeface="Montserrat"/>
              </a:rPr>
              <a:t>: Since integrations like analytics, ads, and SSO etc are essential. Support and availability for these SDKs will be evaluated to determine the right platform.</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50000"/>
              </a:lnSpc>
              <a:spcBef>
                <a:spcPts val="0"/>
              </a:spcBef>
              <a:spcAft>
                <a:spcPts val="0"/>
              </a:spcAft>
              <a:buClr>
                <a:schemeClr val="dk1"/>
              </a:buClr>
              <a:buSzPts val="1000"/>
              <a:buFont typeface="Montserrat"/>
              <a:buChar char="●"/>
            </a:pPr>
            <a:r>
              <a:rPr b="1" i="0" lang="en" sz="1000" u="none" cap="none" strike="noStrike">
                <a:solidFill>
                  <a:schemeClr val="dk1"/>
                </a:solidFill>
                <a:latin typeface="Montserrat"/>
                <a:ea typeface="Montserrat"/>
                <a:cs typeface="Montserrat"/>
                <a:sym typeface="Montserrat"/>
              </a:rPr>
              <a:t>Accelerated Development with Generative AI</a:t>
            </a:r>
            <a:r>
              <a:rPr b="0" i="0" lang="en" sz="1000" u="none" cap="none" strike="noStrike">
                <a:solidFill>
                  <a:schemeClr val="dk1"/>
                </a:solidFill>
                <a:latin typeface="Montserrat"/>
                <a:ea typeface="Montserrat"/>
                <a:cs typeface="Montserrat"/>
                <a:sym typeface="Montserrat"/>
              </a:rPr>
              <a:t>: We will strategically utilise powerful generative AI tools like Cursor AI and GitHub Copilot, significantly improving our coding speed, enhancing efficiency, and enabling our teams to deliver high quality solutions at a faster pace.</a:t>
            </a:r>
            <a:endParaRPr b="0" i="0" sz="1000" u="none" cap="none" strike="noStrike">
              <a:solidFill>
                <a:schemeClr val="dk1"/>
              </a:solidFill>
              <a:latin typeface="Montserrat"/>
              <a:ea typeface="Montserrat"/>
              <a:cs typeface="Montserrat"/>
              <a:sym typeface="Montserrat"/>
            </a:endParaRPr>
          </a:p>
          <a:p>
            <a:pPr indent="0" lvl="0" marL="0" marR="0" rtl="0" algn="l">
              <a:lnSpc>
                <a:spcPct val="150000"/>
              </a:lnSpc>
              <a:spcBef>
                <a:spcPts val="0"/>
              </a:spcBef>
              <a:spcAft>
                <a:spcPts val="0"/>
              </a:spcAft>
              <a:buClr>
                <a:srgbClr val="000000"/>
              </a:buClr>
              <a:buSzPts val="1000"/>
              <a:buFont typeface="Arial"/>
              <a:buNone/>
            </a:pPr>
            <a:r>
              <a:rPr b="0" i="0" lang="en" sz="1000" u="none" cap="none" strike="noStrike">
                <a:solidFill>
                  <a:schemeClr val="dk1"/>
                </a:solidFill>
                <a:latin typeface="Montserrat"/>
                <a:ea typeface="Montserrat"/>
                <a:cs typeface="Montserrat"/>
                <a:sym typeface="Montserrat"/>
              </a:rPr>
              <a:t>Our team has </a:t>
            </a:r>
            <a:r>
              <a:rPr b="1" i="0" lang="en" sz="1000" u="none" cap="none" strike="noStrike">
                <a:solidFill>
                  <a:schemeClr val="dk1"/>
                </a:solidFill>
                <a:latin typeface="Montserrat"/>
                <a:ea typeface="Montserrat"/>
                <a:cs typeface="Montserrat"/>
                <a:sym typeface="Montserrat"/>
              </a:rPr>
              <a:t>extensive experience and expertise</a:t>
            </a:r>
            <a:r>
              <a:rPr b="0" i="0" lang="en" sz="1000" u="none" cap="none" strike="noStrike">
                <a:solidFill>
                  <a:schemeClr val="dk1"/>
                </a:solidFill>
                <a:latin typeface="Montserrat"/>
                <a:ea typeface="Montserrat"/>
                <a:cs typeface="Montserrat"/>
                <a:sym typeface="Montserrat"/>
              </a:rPr>
              <a:t> in working with both </a:t>
            </a:r>
            <a:r>
              <a:rPr b="1" i="0" lang="en" sz="1000" u="none" cap="none" strike="noStrike">
                <a:solidFill>
                  <a:schemeClr val="dk1"/>
                </a:solidFill>
                <a:latin typeface="Montserrat"/>
                <a:ea typeface="Montserrat"/>
                <a:cs typeface="Montserrat"/>
                <a:sym typeface="Montserrat"/>
              </a:rPr>
              <a:t>Flutter</a:t>
            </a:r>
            <a:r>
              <a:rPr b="0" i="0" lang="en" sz="1000" u="none" cap="none" strike="noStrike">
                <a:solidFill>
                  <a:schemeClr val="dk1"/>
                </a:solidFill>
                <a:latin typeface="Montserrat"/>
                <a:ea typeface="Montserrat"/>
                <a:cs typeface="Montserrat"/>
                <a:sym typeface="Montserrat"/>
              </a:rPr>
              <a:t> and </a:t>
            </a:r>
            <a:r>
              <a:rPr b="1" i="0" lang="en" sz="1000" u="none" cap="none" strike="noStrike">
                <a:solidFill>
                  <a:schemeClr val="dk1"/>
                </a:solidFill>
                <a:latin typeface="Montserrat"/>
                <a:ea typeface="Montserrat"/>
                <a:cs typeface="Montserrat"/>
                <a:sym typeface="Montserrat"/>
              </a:rPr>
              <a:t>React Native</a:t>
            </a:r>
            <a:r>
              <a:rPr b="0" i="0" lang="en" sz="1000" u="none" cap="none" strike="noStrike">
                <a:solidFill>
                  <a:schemeClr val="dk1"/>
                </a:solidFill>
                <a:latin typeface="Montserrat"/>
                <a:ea typeface="Montserrat"/>
                <a:cs typeface="Montserrat"/>
                <a:sym typeface="Montserrat"/>
              </a:rPr>
              <a:t>, allowing us to confidently recommend and implement the most suitable solution for your project.</a:t>
            </a:r>
            <a:endParaRPr b="0" i="0" sz="1000" u="none" cap="none" strike="noStrike">
              <a:solidFill>
                <a:schemeClr val="dk1"/>
              </a:solidFill>
              <a:latin typeface="Montserrat"/>
              <a:ea typeface="Montserrat"/>
              <a:cs typeface="Montserrat"/>
              <a:sym typeface="Montserrat"/>
            </a:endParaRPr>
          </a:p>
          <a:p>
            <a:pPr indent="0" lvl="0" marL="0" marR="0" rtl="0" algn="l">
              <a:lnSpc>
                <a:spcPct val="150000"/>
              </a:lnSpc>
              <a:spcBef>
                <a:spcPts val="0"/>
              </a:spcBef>
              <a:spcAft>
                <a:spcPts val="0"/>
              </a:spcAft>
              <a:buClr>
                <a:srgbClr val="000000"/>
              </a:buClr>
              <a:buSzPts val="1000"/>
              <a:buFont typeface="Arial"/>
              <a:buNone/>
            </a:pPr>
            <a:r>
              <a:t/>
            </a:r>
            <a:endParaRPr b="1" i="0" sz="1000" u="none" cap="none" strike="noStrike">
              <a:solidFill>
                <a:schemeClr val="dk1"/>
              </a:solidFill>
              <a:latin typeface="Montserrat"/>
              <a:ea typeface="Montserrat"/>
              <a:cs typeface="Montserrat"/>
              <a:sym typeface="Montserrat"/>
            </a:endParaRPr>
          </a:p>
        </p:txBody>
      </p:sp>
      <p:sp>
        <p:nvSpPr>
          <p:cNvPr id="305" name="Google Shape;305;p1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13"/>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Proposed High Level Architecture</a:t>
            </a:r>
            <a:endParaRPr/>
          </a:p>
        </p:txBody>
      </p:sp>
      <p:sp>
        <p:nvSpPr>
          <p:cNvPr id="311" name="Google Shape;311;p13"/>
          <p:cNvSpPr/>
          <p:nvPr/>
        </p:nvSpPr>
        <p:spPr>
          <a:xfrm>
            <a:off x="2397150" y="887625"/>
            <a:ext cx="3813600" cy="3699300"/>
          </a:xfrm>
          <a:prstGeom prst="snip1Rect">
            <a:avLst>
              <a:gd fmla="val 8329" name="adj"/>
            </a:avLst>
          </a:prstGeom>
          <a:noFill/>
          <a:ln cap="flat" cmpd="sng" w="9525">
            <a:solidFill>
              <a:srgbClr val="6F3A93"/>
            </a:solidFill>
            <a:prstDash val="solid"/>
            <a:round/>
            <a:headEnd len="sm" w="sm" type="none"/>
            <a:tailEnd len="sm" w="sm" type="none"/>
          </a:ln>
        </p:spPr>
        <p:txBody>
          <a:bodyPr anchorCtr="0" anchor="t" bIns="91425"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F3A93"/>
                </a:solidFill>
                <a:latin typeface="Montserrat"/>
                <a:ea typeface="Montserrat"/>
                <a:cs typeface="Montserrat"/>
                <a:sym typeface="Montserrat"/>
              </a:rPr>
              <a:t>Mobile Application</a:t>
            </a:r>
            <a:endParaRPr b="1" i="0" sz="900" u="none" cap="none" strike="noStrike">
              <a:solidFill>
                <a:srgbClr val="6F3A93"/>
              </a:solidFill>
              <a:latin typeface="Montserrat"/>
              <a:ea typeface="Montserrat"/>
              <a:cs typeface="Montserrat"/>
              <a:sym typeface="Montserrat"/>
            </a:endParaRPr>
          </a:p>
        </p:txBody>
      </p:sp>
      <p:sp>
        <p:nvSpPr>
          <p:cNvPr id="312" name="Google Shape;312;p13"/>
          <p:cNvSpPr/>
          <p:nvPr/>
        </p:nvSpPr>
        <p:spPr>
          <a:xfrm>
            <a:off x="756125" y="2252475"/>
            <a:ext cx="922800" cy="969600"/>
          </a:xfrm>
          <a:prstGeom prst="snip1Rect">
            <a:avLst>
              <a:gd fmla="val 8329" name="adj"/>
            </a:avLst>
          </a:prstGeom>
          <a:noFill/>
          <a:ln cap="flat" cmpd="sng" w="9525">
            <a:solidFill>
              <a:srgbClr val="12519C"/>
            </a:solidFill>
            <a:prstDash val="solid"/>
            <a:round/>
            <a:headEnd len="sm" w="sm" type="none"/>
            <a:tailEnd len="sm" w="sm" type="none"/>
          </a:ln>
        </p:spPr>
        <p:txBody>
          <a:bodyPr anchorCtr="0" anchor="t" bIns="91425" lIns="0" spcFirstLastPara="1" rIns="0" wrap="square" tIns="91425">
            <a:noAutofit/>
          </a:bodyPr>
          <a:lstStyle/>
          <a:p>
            <a:pPr indent="0" lvl="0" marL="0" marR="0" rtl="0" algn="ctr">
              <a:lnSpc>
                <a:spcPct val="100000"/>
              </a:lnSpc>
              <a:spcBef>
                <a:spcPts val="0"/>
              </a:spcBef>
              <a:spcAft>
                <a:spcPts val="0"/>
              </a:spcAft>
              <a:buClr>
                <a:srgbClr val="000000"/>
              </a:buClr>
              <a:buSzPts val="900"/>
              <a:buFont typeface="Arial"/>
              <a:buNone/>
            </a:pPr>
            <a:r>
              <a:t/>
            </a:r>
            <a:endParaRPr b="1" i="0" sz="900" u="none" cap="none" strike="noStrike">
              <a:solidFill>
                <a:srgbClr val="D71B7F"/>
              </a:solidFill>
              <a:latin typeface="Montserrat"/>
              <a:ea typeface="Montserrat"/>
              <a:cs typeface="Montserrat"/>
              <a:sym typeface="Montserrat"/>
            </a:endParaRPr>
          </a:p>
        </p:txBody>
      </p:sp>
      <p:sp>
        <p:nvSpPr>
          <p:cNvPr id="313" name="Google Shape;313;p13"/>
          <p:cNvSpPr/>
          <p:nvPr/>
        </p:nvSpPr>
        <p:spPr>
          <a:xfrm>
            <a:off x="2549550" y="1316100"/>
            <a:ext cx="3508800" cy="305700"/>
          </a:xfrm>
          <a:prstGeom prst="snip1Rect">
            <a:avLst>
              <a:gd fmla="val 8329" name="adj"/>
            </a:avLst>
          </a:prstGeom>
          <a:solidFill>
            <a:srgbClr val="F6F6F6"/>
          </a:solidFill>
          <a:ln cap="flat" cmpd="sng" w="9525">
            <a:solidFill>
              <a:srgbClr val="E7E6E6"/>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12519C"/>
                </a:solidFill>
                <a:latin typeface="Montserrat"/>
                <a:ea typeface="Montserrat"/>
                <a:cs typeface="Montserrat"/>
                <a:sym typeface="Montserrat"/>
              </a:rPr>
              <a:t>UI layer Screens</a:t>
            </a:r>
            <a:endParaRPr b="1" i="0" sz="900" u="none" cap="none" strike="noStrike">
              <a:solidFill>
                <a:srgbClr val="12519C"/>
              </a:solidFill>
              <a:latin typeface="Montserrat"/>
              <a:ea typeface="Montserrat"/>
              <a:cs typeface="Montserrat"/>
              <a:sym typeface="Montserrat"/>
            </a:endParaRPr>
          </a:p>
        </p:txBody>
      </p:sp>
      <p:sp>
        <p:nvSpPr>
          <p:cNvPr id="314" name="Google Shape;314;p13"/>
          <p:cNvSpPr txBox="1"/>
          <p:nvPr/>
        </p:nvSpPr>
        <p:spPr>
          <a:xfrm>
            <a:off x="744425" y="2826663"/>
            <a:ext cx="946200" cy="431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Mobile </a:t>
            </a:r>
            <a:endParaRPr b="1" i="0" sz="800" u="none" cap="none" strike="noStrike">
              <a:solidFill>
                <a:srgbClr val="12519C"/>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User</a:t>
            </a:r>
            <a:endParaRPr b="1" i="0" sz="800" u="none" cap="none" strike="noStrike">
              <a:solidFill>
                <a:srgbClr val="12519C"/>
              </a:solidFill>
              <a:latin typeface="Montserrat"/>
              <a:ea typeface="Montserrat"/>
              <a:cs typeface="Montserrat"/>
              <a:sym typeface="Montserrat"/>
            </a:endParaRPr>
          </a:p>
        </p:txBody>
      </p:sp>
      <p:sp>
        <p:nvSpPr>
          <p:cNvPr id="315" name="Google Shape;315;p13"/>
          <p:cNvSpPr/>
          <p:nvPr/>
        </p:nvSpPr>
        <p:spPr>
          <a:xfrm>
            <a:off x="7069675" y="1671550"/>
            <a:ext cx="1329900" cy="882000"/>
          </a:xfrm>
          <a:prstGeom prst="snip1Rect">
            <a:avLst>
              <a:gd fmla="val 16667" name="adj"/>
            </a:avLst>
          </a:prstGeom>
          <a:solidFill>
            <a:srgbClr val="D9D2E9"/>
          </a:solidFill>
          <a:ln cap="flat" cmpd="sng" w="9525">
            <a:solidFill>
              <a:srgbClr val="D9D9D9"/>
            </a:solidFill>
            <a:prstDash val="solid"/>
            <a:round/>
            <a:headEnd len="sm" w="sm" type="none"/>
            <a:tailEnd len="sm" w="sm" type="none"/>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525252"/>
                </a:solidFill>
                <a:latin typeface="Montserrat"/>
                <a:ea typeface="Montserrat"/>
                <a:cs typeface="Montserrat"/>
                <a:sym typeface="Montserrat"/>
              </a:rPr>
              <a:t>Backend APIs</a:t>
            </a:r>
            <a:endParaRPr b="1" i="0" sz="800" u="none" cap="none" strike="noStrike">
              <a:solidFill>
                <a:srgbClr val="525252"/>
              </a:solidFill>
              <a:latin typeface="Montserrat"/>
              <a:ea typeface="Montserrat"/>
              <a:cs typeface="Montserrat"/>
              <a:sym typeface="Montserrat"/>
            </a:endParaRPr>
          </a:p>
        </p:txBody>
      </p:sp>
      <p:sp>
        <p:nvSpPr>
          <p:cNvPr id="316" name="Google Shape;316;p13"/>
          <p:cNvSpPr/>
          <p:nvPr/>
        </p:nvSpPr>
        <p:spPr>
          <a:xfrm>
            <a:off x="7069675" y="2847049"/>
            <a:ext cx="1329900" cy="882000"/>
          </a:xfrm>
          <a:prstGeom prst="snip1Rect">
            <a:avLst>
              <a:gd fmla="val 16667" name="adj"/>
            </a:avLst>
          </a:prstGeom>
          <a:solidFill>
            <a:srgbClr val="D9D2E9"/>
          </a:solidFill>
          <a:ln cap="flat" cmpd="sng" w="9525">
            <a:solidFill>
              <a:srgbClr val="D9D9D9"/>
            </a:solidFill>
            <a:prstDash val="solid"/>
            <a:round/>
            <a:headEnd len="sm" w="sm" type="none"/>
            <a:tailEnd len="sm" w="sm" type="none"/>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525252"/>
                </a:solidFill>
                <a:latin typeface="Montserrat"/>
                <a:ea typeface="Montserrat"/>
                <a:cs typeface="Montserrat"/>
                <a:sym typeface="Montserrat"/>
              </a:rPr>
              <a:t>Firebase</a:t>
            </a:r>
            <a:endParaRPr b="1" i="0" sz="800" u="none" cap="none" strike="noStrike">
              <a:solidFill>
                <a:srgbClr val="525252"/>
              </a:solidFill>
              <a:latin typeface="Montserrat"/>
              <a:ea typeface="Montserrat"/>
              <a:cs typeface="Montserrat"/>
              <a:sym typeface="Montserrat"/>
            </a:endParaRPr>
          </a:p>
        </p:txBody>
      </p:sp>
      <p:pic>
        <p:nvPicPr>
          <p:cNvPr id="317" name="Google Shape;317;p13"/>
          <p:cNvPicPr preferRelativeResize="0"/>
          <p:nvPr/>
        </p:nvPicPr>
        <p:blipFill rotWithShape="1">
          <a:blip r:embed="rId3">
            <a:alphaModFix/>
          </a:blip>
          <a:srcRect b="0" l="0" r="0" t="0"/>
          <a:stretch/>
        </p:blipFill>
        <p:spPr>
          <a:xfrm>
            <a:off x="1016525" y="2379875"/>
            <a:ext cx="401999" cy="401999"/>
          </a:xfrm>
          <a:prstGeom prst="rect">
            <a:avLst/>
          </a:prstGeom>
          <a:noFill/>
          <a:ln>
            <a:noFill/>
          </a:ln>
        </p:spPr>
      </p:pic>
      <p:sp>
        <p:nvSpPr>
          <p:cNvPr id="318" name="Google Shape;318;p13"/>
          <p:cNvSpPr/>
          <p:nvPr/>
        </p:nvSpPr>
        <p:spPr>
          <a:xfrm>
            <a:off x="2549550" y="1959698"/>
            <a:ext cx="3508800" cy="305700"/>
          </a:xfrm>
          <a:prstGeom prst="snip1Rect">
            <a:avLst>
              <a:gd fmla="val 8329" name="adj"/>
            </a:avLst>
          </a:prstGeom>
          <a:solidFill>
            <a:srgbClr val="F6F6F6"/>
          </a:solidFill>
          <a:ln cap="flat" cmpd="sng" w="9525">
            <a:solidFill>
              <a:srgbClr val="E7E6E6"/>
            </a:solidFill>
            <a:prstDash val="solid"/>
            <a:round/>
            <a:headEnd len="sm" w="sm" type="none"/>
            <a:tailEnd len="sm" w="sm" type="none"/>
          </a:ln>
        </p:spPr>
        <p:txBody>
          <a:bodyPr anchorCtr="0" anchor="ctr" bIns="91425" lIns="0" spcFirstLastPara="1" rIns="0" wrap="square" tIns="9142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12519C"/>
                </a:solidFill>
                <a:latin typeface="Montserrat"/>
                <a:ea typeface="Montserrat"/>
                <a:cs typeface="Montserrat"/>
                <a:sym typeface="Montserrat"/>
              </a:rPr>
              <a:t>Business Logic Layer</a:t>
            </a:r>
            <a:endParaRPr b="1" i="0" sz="900" u="none" cap="none" strike="noStrike">
              <a:solidFill>
                <a:srgbClr val="12519C"/>
              </a:solidFill>
              <a:latin typeface="Montserrat"/>
              <a:ea typeface="Montserrat"/>
              <a:cs typeface="Montserrat"/>
              <a:sym typeface="Montserrat"/>
            </a:endParaRPr>
          </a:p>
        </p:txBody>
      </p:sp>
      <p:sp>
        <p:nvSpPr>
          <p:cNvPr id="319" name="Google Shape;319;p13"/>
          <p:cNvSpPr/>
          <p:nvPr/>
        </p:nvSpPr>
        <p:spPr>
          <a:xfrm>
            <a:off x="2549550" y="2603300"/>
            <a:ext cx="3508800" cy="612000"/>
          </a:xfrm>
          <a:prstGeom prst="snip1Rect">
            <a:avLst>
              <a:gd fmla="val 16667" name="adj"/>
            </a:avLst>
          </a:prstGeom>
          <a:solidFill>
            <a:srgbClr val="E7F2F8"/>
          </a:solidFill>
          <a:ln cap="flat" cmpd="sng" w="9525">
            <a:solidFill>
              <a:srgbClr val="D9D9D9"/>
            </a:solidFill>
            <a:prstDash val="solid"/>
            <a:round/>
            <a:headEnd len="sm" w="sm" type="none"/>
            <a:tailEnd len="sm" w="sm" type="none"/>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rgbClr val="000000"/>
              </a:buClr>
              <a:buSzPts val="700"/>
              <a:buFont typeface="Arial"/>
              <a:buNone/>
            </a:pPr>
            <a:r>
              <a:t/>
            </a:r>
            <a:endParaRPr b="1" i="0" sz="700" u="none" cap="none" strike="noStrike">
              <a:solidFill>
                <a:srgbClr val="12519C"/>
              </a:solidFill>
              <a:latin typeface="Montserrat"/>
              <a:ea typeface="Montserrat"/>
              <a:cs typeface="Montserrat"/>
              <a:sym typeface="Montserrat"/>
            </a:endParaRPr>
          </a:p>
        </p:txBody>
      </p:sp>
      <p:sp>
        <p:nvSpPr>
          <p:cNvPr id="320" name="Google Shape;320;p13"/>
          <p:cNvSpPr/>
          <p:nvPr/>
        </p:nvSpPr>
        <p:spPr>
          <a:xfrm>
            <a:off x="2975075" y="2890671"/>
            <a:ext cx="1231500" cy="253500"/>
          </a:xfrm>
          <a:prstGeom prst="roundRect">
            <a:avLst>
              <a:gd fmla="val 6288" name="adj"/>
            </a:avLst>
          </a:prstGeom>
          <a:solidFill>
            <a:srgbClr val="FFFFFF"/>
          </a:solidFill>
          <a:ln cap="flat" cmpd="sng" w="9525">
            <a:solidFill>
              <a:srgbClr val="D9D9D9"/>
            </a:solidFill>
            <a:prstDash val="dash"/>
            <a:round/>
            <a:headEnd len="sm" w="sm" type="none"/>
            <a:tailEnd len="sm" w="sm" type="none"/>
          </a:ln>
        </p:spPr>
        <p:txBody>
          <a:bodyPr anchorCtr="0" anchor="ctr" bIns="91425" lIns="9125" spcFirstLastPara="1" rIns="91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Network Service</a:t>
            </a:r>
            <a:endParaRPr b="1" i="0" sz="800" u="none" cap="none" strike="noStrike">
              <a:solidFill>
                <a:srgbClr val="525252"/>
              </a:solidFill>
              <a:latin typeface="Montserrat"/>
              <a:ea typeface="Montserrat"/>
              <a:cs typeface="Montserrat"/>
              <a:sym typeface="Montserrat"/>
            </a:endParaRPr>
          </a:p>
        </p:txBody>
      </p:sp>
      <p:sp>
        <p:nvSpPr>
          <p:cNvPr id="321" name="Google Shape;321;p13"/>
          <p:cNvSpPr/>
          <p:nvPr/>
        </p:nvSpPr>
        <p:spPr>
          <a:xfrm>
            <a:off x="4481025" y="2890671"/>
            <a:ext cx="1231500" cy="253500"/>
          </a:xfrm>
          <a:prstGeom prst="roundRect">
            <a:avLst>
              <a:gd fmla="val 6288" name="adj"/>
            </a:avLst>
          </a:prstGeom>
          <a:solidFill>
            <a:srgbClr val="FFFFFF"/>
          </a:solidFill>
          <a:ln cap="flat" cmpd="sng" w="9525">
            <a:solidFill>
              <a:srgbClr val="D9D9D9"/>
            </a:solidFill>
            <a:prstDash val="dash"/>
            <a:round/>
            <a:headEnd len="sm" w="sm" type="none"/>
            <a:tailEnd len="sm" w="sm" type="none"/>
          </a:ln>
        </p:spPr>
        <p:txBody>
          <a:bodyPr anchorCtr="0" anchor="ctr" bIns="91425" lIns="9125" spcFirstLastPara="1" rIns="91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Local Storage</a:t>
            </a:r>
            <a:endParaRPr b="1" i="0" sz="800" u="none" cap="none" strike="noStrike">
              <a:solidFill>
                <a:srgbClr val="525252"/>
              </a:solidFill>
              <a:latin typeface="Montserrat"/>
              <a:ea typeface="Montserrat"/>
              <a:cs typeface="Montserrat"/>
              <a:sym typeface="Montserrat"/>
            </a:endParaRPr>
          </a:p>
        </p:txBody>
      </p:sp>
      <p:sp>
        <p:nvSpPr>
          <p:cNvPr id="322" name="Google Shape;322;p13"/>
          <p:cNvSpPr/>
          <p:nvPr/>
        </p:nvSpPr>
        <p:spPr>
          <a:xfrm>
            <a:off x="2549550" y="3553200"/>
            <a:ext cx="3508800" cy="882000"/>
          </a:xfrm>
          <a:prstGeom prst="snip1Rect">
            <a:avLst>
              <a:gd fmla="val 16667" name="adj"/>
            </a:avLst>
          </a:prstGeom>
          <a:solidFill>
            <a:srgbClr val="E7F2F8"/>
          </a:solidFill>
          <a:ln cap="flat" cmpd="sng" w="9525">
            <a:solidFill>
              <a:srgbClr val="D9D9D9"/>
            </a:solidFill>
            <a:prstDash val="solid"/>
            <a:round/>
            <a:headEnd len="sm" w="sm" type="none"/>
            <a:tailEnd len="sm" w="sm" type="none"/>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rgbClr val="000000"/>
              </a:buClr>
              <a:buSzPts val="700"/>
              <a:buFont typeface="Arial"/>
              <a:buNone/>
            </a:pPr>
            <a:r>
              <a:t/>
            </a:r>
            <a:endParaRPr b="1" i="0" sz="700" u="none" cap="none" strike="noStrike">
              <a:solidFill>
                <a:srgbClr val="12519C"/>
              </a:solidFill>
              <a:latin typeface="Montserrat"/>
              <a:ea typeface="Montserrat"/>
              <a:cs typeface="Montserrat"/>
              <a:sym typeface="Montserrat"/>
            </a:endParaRPr>
          </a:p>
        </p:txBody>
      </p:sp>
      <p:sp>
        <p:nvSpPr>
          <p:cNvPr id="323" name="Google Shape;323;p13"/>
          <p:cNvSpPr/>
          <p:nvPr/>
        </p:nvSpPr>
        <p:spPr>
          <a:xfrm>
            <a:off x="2641000" y="3864854"/>
            <a:ext cx="1038000" cy="365400"/>
          </a:xfrm>
          <a:prstGeom prst="roundRect">
            <a:avLst>
              <a:gd fmla="val 6288" name="adj"/>
            </a:avLst>
          </a:prstGeom>
          <a:solidFill>
            <a:srgbClr val="FFFFFF"/>
          </a:solidFill>
          <a:ln cap="flat" cmpd="sng" w="9525">
            <a:solidFill>
              <a:srgbClr val="D9D9D9"/>
            </a:solidFill>
            <a:prstDash val="dash"/>
            <a:round/>
            <a:headEnd len="sm" w="sm" type="none"/>
            <a:tailEnd len="sm" w="sm" type="none"/>
          </a:ln>
        </p:spPr>
        <p:txBody>
          <a:bodyPr anchorCtr="0" anchor="ctr" bIns="91425" lIns="9125" spcFirstLastPara="1" rIns="91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Analytics</a:t>
            </a:r>
            <a:endParaRPr b="1" i="0" sz="800" u="none" cap="none" strike="noStrike">
              <a:solidFill>
                <a:srgbClr val="525252"/>
              </a:solidFill>
              <a:latin typeface="Montserrat"/>
              <a:ea typeface="Montserrat"/>
              <a:cs typeface="Montserrat"/>
              <a:sym typeface="Montserrat"/>
            </a:endParaRPr>
          </a:p>
        </p:txBody>
      </p:sp>
      <p:sp>
        <p:nvSpPr>
          <p:cNvPr id="324" name="Google Shape;324;p13"/>
          <p:cNvSpPr/>
          <p:nvPr/>
        </p:nvSpPr>
        <p:spPr>
          <a:xfrm>
            <a:off x="3788308" y="3864854"/>
            <a:ext cx="1038000" cy="365400"/>
          </a:xfrm>
          <a:prstGeom prst="roundRect">
            <a:avLst>
              <a:gd fmla="val 6288" name="adj"/>
            </a:avLst>
          </a:prstGeom>
          <a:solidFill>
            <a:srgbClr val="FFFFFF"/>
          </a:solidFill>
          <a:ln cap="flat" cmpd="sng" w="9525">
            <a:solidFill>
              <a:srgbClr val="D9D9D9"/>
            </a:solidFill>
            <a:prstDash val="dash"/>
            <a:round/>
            <a:headEnd len="sm" w="sm" type="none"/>
            <a:tailEnd len="sm" w="sm" type="none"/>
          </a:ln>
        </p:spPr>
        <p:txBody>
          <a:bodyPr anchorCtr="0" anchor="ctr" bIns="91425" lIns="9125" spcFirstLastPara="1" rIns="91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Push </a:t>
            </a:r>
            <a:endParaRPr b="1" i="0" sz="800" u="none" cap="none" strike="noStrike">
              <a:solidFill>
                <a:srgbClr val="12519C"/>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Notifications</a:t>
            </a:r>
            <a:endParaRPr b="1" i="0" sz="800" u="none" cap="none" strike="noStrike">
              <a:solidFill>
                <a:srgbClr val="525252"/>
              </a:solidFill>
              <a:latin typeface="Montserrat"/>
              <a:ea typeface="Montserrat"/>
              <a:cs typeface="Montserrat"/>
              <a:sym typeface="Montserrat"/>
            </a:endParaRPr>
          </a:p>
        </p:txBody>
      </p:sp>
      <p:sp>
        <p:nvSpPr>
          <p:cNvPr id="325" name="Google Shape;325;p13"/>
          <p:cNvSpPr/>
          <p:nvPr/>
        </p:nvSpPr>
        <p:spPr>
          <a:xfrm>
            <a:off x="4935616" y="3864854"/>
            <a:ext cx="1038000" cy="365400"/>
          </a:xfrm>
          <a:prstGeom prst="roundRect">
            <a:avLst>
              <a:gd fmla="val 6288" name="adj"/>
            </a:avLst>
          </a:prstGeom>
          <a:solidFill>
            <a:srgbClr val="FFFFFF"/>
          </a:solidFill>
          <a:ln cap="flat" cmpd="sng" w="9525">
            <a:solidFill>
              <a:srgbClr val="D9D9D9"/>
            </a:solidFill>
            <a:prstDash val="dash"/>
            <a:round/>
            <a:headEnd len="sm" w="sm" type="none"/>
            <a:tailEnd len="sm" w="sm" type="none"/>
          </a:ln>
        </p:spPr>
        <p:txBody>
          <a:bodyPr anchorCtr="0" anchor="ctr" bIns="91425" lIns="9125" spcFirstLastPara="1" rIns="91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Crash </a:t>
            </a:r>
            <a:endParaRPr b="1" i="0" sz="800" u="none" cap="none" strike="noStrike">
              <a:solidFill>
                <a:srgbClr val="12519C"/>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Reporting</a:t>
            </a:r>
            <a:endParaRPr b="1" i="0" sz="800" u="none" cap="none" strike="noStrike">
              <a:solidFill>
                <a:srgbClr val="525252"/>
              </a:solidFill>
              <a:latin typeface="Montserrat"/>
              <a:ea typeface="Montserrat"/>
              <a:cs typeface="Montserrat"/>
              <a:sym typeface="Montserrat"/>
            </a:endParaRPr>
          </a:p>
        </p:txBody>
      </p:sp>
      <p:pic>
        <p:nvPicPr>
          <p:cNvPr id="326" name="Google Shape;326;p13"/>
          <p:cNvPicPr preferRelativeResize="0"/>
          <p:nvPr/>
        </p:nvPicPr>
        <p:blipFill rotWithShape="1">
          <a:blip r:embed="rId4">
            <a:alphaModFix/>
          </a:blip>
          <a:srcRect b="0" l="0" r="0" t="0"/>
          <a:stretch/>
        </p:blipFill>
        <p:spPr>
          <a:xfrm>
            <a:off x="7544462" y="3032873"/>
            <a:ext cx="283233" cy="357299"/>
          </a:xfrm>
          <a:prstGeom prst="rect">
            <a:avLst/>
          </a:prstGeom>
          <a:noFill/>
          <a:ln>
            <a:noFill/>
          </a:ln>
        </p:spPr>
      </p:pic>
      <p:cxnSp>
        <p:nvCxnSpPr>
          <p:cNvPr id="327" name="Google Shape;327;p13"/>
          <p:cNvCxnSpPr>
            <a:stCxn id="312" idx="0"/>
            <a:endCxn id="311" idx="2"/>
          </p:cNvCxnSpPr>
          <p:nvPr/>
        </p:nvCxnSpPr>
        <p:spPr>
          <a:xfrm>
            <a:off x="1678925" y="2737275"/>
            <a:ext cx="718200" cy="0"/>
          </a:xfrm>
          <a:prstGeom prst="straightConnector1">
            <a:avLst/>
          </a:prstGeom>
          <a:noFill/>
          <a:ln cap="flat" cmpd="sng" w="9525">
            <a:solidFill>
              <a:srgbClr val="D9D9D9"/>
            </a:solidFill>
            <a:prstDash val="solid"/>
            <a:round/>
            <a:headEnd len="sm" w="sm" type="none"/>
            <a:tailEnd len="med" w="med" type="triangle"/>
          </a:ln>
        </p:spPr>
      </p:cxnSp>
      <p:cxnSp>
        <p:nvCxnSpPr>
          <p:cNvPr id="328" name="Google Shape;328;p13"/>
          <p:cNvCxnSpPr>
            <a:stCxn id="313" idx="1"/>
            <a:endCxn id="318" idx="3"/>
          </p:cNvCxnSpPr>
          <p:nvPr/>
        </p:nvCxnSpPr>
        <p:spPr>
          <a:xfrm>
            <a:off x="4303950" y="1621800"/>
            <a:ext cx="0" cy="337800"/>
          </a:xfrm>
          <a:prstGeom prst="straightConnector1">
            <a:avLst/>
          </a:prstGeom>
          <a:noFill/>
          <a:ln cap="flat" cmpd="sng" w="9525">
            <a:solidFill>
              <a:srgbClr val="D9D9D9"/>
            </a:solidFill>
            <a:prstDash val="solid"/>
            <a:round/>
            <a:headEnd len="med" w="med" type="triangle"/>
            <a:tailEnd len="med" w="med" type="triangle"/>
          </a:ln>
        </p:spPr>
      </p:cxnSp>
      <p:cxnSp>
        <p:nvCxnSpPr>
          <p:cNvPr id="329" name="Google Shape;329;p13"/>
          <p:cNvCxnSpPr>
            <a:stCxn id="318" idx="1"/>
            <a:endCxn id="319" idx="3"/>
          </p:cNvCxnSpPr>
          <p:nvPr/>
        </p:nvCxnSpPr>
        <p:spPr>
          <a:xfrm>
            <a:off x="4303950" y="2265398"/>
            <a:ext cx="0" cy="337800"/>
          </a:xfrm>
          <a:prstGeom prst="straightConnector1">
            <a:avLst/>
          </a:prstGeom>
          <a:noFill/>
          <a:ln cap="flat" cmpd="sng" w="9525">
            <a:solidFill>
              <a:srgbClr val="D9D9D9"/>
            </a:solidFill>
            <a:prstDash val="solid"/>
            <a:round/>
            <a:headEnd len="med" w="med" type="triangle"/>
            <a:tailEnd len="med" w="med" type="triangle"/>
          </a:ln>
        </p:spPr>
      </p:cxnSp>
      <p:sp>
        <p:nvSpPr>
          <p:cNvPr id="330" name="Google Shape;330;p13"/>
          <p:cNvSpPr txBox="1"/>
          <p:nvPr/>
        </p:nvSpPr>
        <p:spPr>
          <a:xfrm>
            <a:off x="3872500" y="2603296"/>
            <a:ext cx="9462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12519C"/>
                </a:solidFill>
                <a:latin typeface="Montserrat"/>
                <a:ea typeface="Montserrat"/>
                <a:cs typeface="Montserrat"/>
                <a:sym typeface="Montserrat"/>
              </a:rPr>
              <a:t>Data Layer</a:t>
            </a:r>
            <a:endParaRPr b="1" i="0" sz="900" u="none" cap="none" strike="noStrike">
              <a:solidFill>
                <a:srgbClr val="12519C"/>
              </a:solidFill>
              <a:latin typeface="Montserrat"/>
              <a:ea typeface="Montserrat"/>
              <a:cs typeface="Montserrat"/>
              <a:sym typeface="Montserrat"/>
            </a:endParaRPr>
          </a:p>
        </p:txBody>
      </p:sp>
      <p:cxnSp>
        <p:nvCxnSpPr>
          <p:cNvPr id="331" name="Google Shape;331;p13"/>
          <p:cNvCxnSpPr>
            <a:stCxn id="319" idx="1"/>
            <a:endCxn id="322" idx="3"/>
          </p:cNvCxnSpPr>
          <p:nvPr/>
        </p:nvCxnSpPr>
        <p:spPr>
          <a:xfrm>
            <a:off x="4303950" y="3215300"/>
            <a:ext cx="0" cy="337800"/>
          </a:xfrm>
          <a:prstGeom prst="straightConnector1">
            <a:avLst/>
          </a:prstGeom>
          <a:noFill/>
          <a:ln cap="flat" cmpd="sng" w="9525">
            <a:solidFill>
              <a:srgbClr val="D9D9D9"/>
            </a:solidFill>
            <a:prstDash val="solid"/>
            <a:round/>
            <a:headEnd len="med" w="med" type="triangle"/>
            <a:tailEnd len="med" w="med" type="triangle"/>
          </a:ln>
        </p:spPr>
      </p:cxnSp>
      <p:sp>
        <p:nvSpPr>
          <p:cNvPr id="332" name="Google Shape;332;p13"/>
          <p:cNvSpPr txBox="1"/>
          <p:nvPr/>
        </p:nvSpPr>
        <p:spPr>
          <a:xfrm>
            <a:off x="3925088" y="3553196"/>
            <a:ext cx="9462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12519C"/>
                </a:solidFill>
                <a:latin typeface="Montserrat"/>
                <a:ea typeface="Montserrat"/>
                <a:cs typeface="Montserrat"/>
                <a:sym typeface="Montserrat"/>
              </a:rPr>
              <a:t>3rd Party</a:t>
            </a:r>
            <a:endParaRPr b="1" i="0" sz="900" u="none" cap="none" strike="noStrike">
              <a:solidFill>
                <a:srgbClr val="12519C"/>
              </a:solidFill>
              <a:latin typeface="Montserrat"/>
              <a:ea typeface="Montserrat"/>
              <a:cs typeface="Montserrat"/>
              <a:sym typeface="Montserrat"/>
            </a:endParaRPr>
          </a:p>
        </p:txBody>
      </p:sp>
      <p:cxnSp>
        <p:nvCxnSpPr>
          <p:cNvPr id="333" name="Google Shape;333;p13"/>
          <p:cNvCxnSpPr>
            <a:stCxn id="311" idx="0"/>
            <a:endCxn id="315" idx="2"/>
          </p:cNvCxnSpPr>
          <p:nvPr/>
        </p:nvCxnSpPr>
        <p:spPr>
          <a:xfrm flipH="1" rot="10800000">
            <a:off x="6210750" y="2112675"/>
            <a:ext cx="858900" cy="624600"/>
          </a:xfrm>
          <a:prstGeom prst="bentConnector3">
            <a:avLst>
              <a:gd fmla="val 50001" name="adj1"/>
            </a:avLst>
          </a:prstGeom>
          <a:noFill/>
          <a:ln cap="flat" cmpd="sng" w="9525">
            <a:solidFill>
              <a:srgbClr val="D9D9D9"/>
            </a:solidFill>
            <a:prstDash val="solid"/>
            <a:round/>
            <a:headEnd len="sm" w="sm" type="none"/>
            <a:tailEnd len="med" w="med" type="triangle"/>
          </a:ln>
        </p:spPr>
      </p:cxnSp>
      <p:cxnSp>
        <p:nvCxnSpPr>
          <p:cNvPr id="334" name="Google Shape;334;p13"/>
          <p:cNvCxnSpPr>
            <a:stCxn id="311" idx="0"/>
            <a:endCxn id="316" idx="2"/>
          </p:cNvCxnSpPr>
          <p:nvPr/>
        </p:nvCxnSpPr>
        <p:spPr>
          <a:xfrm>
            <a:off x="6210750" y="2737275"/>
            <a:ext cx="858900" cy="550800"/>
          </a:xfrm>
          <a:prstGeom prst="bentConnector3">
            <a:avLst>
              <a:gd fmla="val 50001" name="adj1"/>
            </a:avLst>
          </a:prstGeom>
          <a:noFill/>
          <a:ln cap="flat" cmpd="sng" w="9525">
            <a:solidFill>
              <a:srgbClr val="D9D9D9"/>
            </a:solidFill>
            <a:prstDash val="solid"/>
            <a:round/>
            <a:headEnd len="sm" w="sm" type="none"/>
            <a:tailEnd len="med" w="med" type="triangle"/>
          </a:ln>
        </p:spPr>
      </p:cxnSp>
      <p:sp>
        <p:nvSpPr>
          <p:cNvPr id="335" name="Google Shape;335;p1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14"/>
          <p:cNvSpPr txBox="1"/>
          <p:nvPr>
            <p:ph type="title"/>
          </p:nvPr>
        </p:nvSpPr>
        <p:spPr>
          <a:xfrm>
            <a:off x="104500" y="141850"/>
            <a:ext cx="77232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Architecture Considerations</a:t>
            </a:r>
            <a:endParaRPr/>
          </a:p>
        </p:txBody>
      </p:sp>
      <p:graphicFrame>
        <p:nvGraphicFramePr>
          <p:cNvPr id="341" name="Google Shape;341;p14"/>
          <p:cNvGraphicFramePr/>
          <p:nvPr/>
        </p:nvGraphicFramePr>
        <p:xfrm>
          <a:off x="264425" y="755775"/>
          <a:ext cx="3000000" cy="3000000"/>
        </p:xfrm>
        <a:graphic>
          <a:graphicData uri="http://schemas.openxmlformats.org/drawingml/2006/table">
            <a:tbl>
              <a:tblPr>
                <a:noFill/>
                <a:tableStyleId>{0D1BC328-F04A-43E0-85B5-ED5C37AF30D6}</a:tableStyleId>
              </a:tblPr>
              <a:tblGrid>
                <a:gridCol w="1855975"/>
                <a:gridCol w="6695125"/>
              </a:tblGrid>
              <a:tr h="288100">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solidFill>
                            <a:srgbClr val="FFFFFF"/>
                          </a:solidFill>
                          <a:latin typeface="Montserrat"/>
                          <a:ea typeface="Montserrat"/>
                          <a:cs typeface="Montserrat"/>
                          <a:sym typeface="Montserrat"/>
                        </a:rPr>
                        <a:t>Component</a:t>
                      </a:r>
                      <a:endParaRPr b="1" sz="1000" u="none" cap="none" strike="noStrike">
                        <a:solidFill>
                          <a:srgbClr val="FFFFFF"/>
                        </a:solidFill>
                        <a:latin typeface="Montserrat"/>
                        <a:ea typeface="Montserrat"/>
                        <a:cs typeface="Montserrat"/>
                        <a:sym typeface="Montserrat"/>
                      </a:endParaRPr>
                    </a:p>
                  </a:txBody>
                  <a:tcPr marT="91425" marB="91425" marR="91425" marL="91425" anchor="ctr">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rgbClr val="12519C"/>
                    </a:solidFill>
                  </a:tcPr>
                </a:tc>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solidFill>
                            <a:srgbClr val="FFFFFF"/>
                          </a:solidFill>
                          <a:latin typeface="Montserrat"/>
                          <a:ea typeface="Montserrat"/>
                          <a:cs typeface="Montserrat"/>
                          <a:sym typeface="Montserrat"/>
                        </a:rPr>
                        <a:t>Key Considerations</a:t>
                      </a:r>
                      <a:endParaRPr b="1" sz="1000" u="none" cap="none" strike="noStrike">
                        <a:solidFill>
                          <a:srgbClr val="FFFFFF"/>
                        </a:solidFill>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rgbClr val="12519C"/>
                    </a:solidFill>
                  </a:tcPr>
                </a:tc>
              </a:tr>
              <a:tr h="670500">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latin typeface="Montserrat"/>
                          <a:ea typeface="Montserrat"/>
                          <a:cs typeface="Montserrat"/>
                          <a:sym typeface="Montserrat"/>
                        </a:rPr>
                        <a:t>Mobile Application Development Platform</a:t>
                      </a:r>
                      <a:endParaRPr b="1"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Cross-platform technologies like Flutter or React Native to be considered for mobile application development. They will enable us to use a single codebase for both Android and iOS, reducing development time and costs while increasing code reuse and maintainability.</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602400">
                <a:tc>
                  <a:txBody>
                    <a:bodyPr/>
                    <a:lstStyle/>
                    <a:p>
                      <a:pPr indent="0" lvl="0" marL="0" marR="0" rtl="0" algn="l">
                        <a:lnSpc>
                          <a:spcPct val="115000"/>
                        </a:lnSpc>
                        <a:spcBef>
                          <a:spcPts val="0"/>
                        </a:spcBef>
                        <a:spcAft>
                          <a:spcPts val="0"/>
                        </a:spcAft>
                        <a:buClr>
                          <a:schemeClr val="dk1"/>
                        </a:buClr>
                        <a:buSzPts val="1100"/>
                        <a:buFont typeface="Arial"/>
                        <a:buNone/>
                      </a:pPr>
                      <a:r>
                        <a:rPr b="1" lang="en" sz="1000" u="none" cap="none" strike="noStrike">
                          <a:latin typeface="Montserrat"/>
                          <a:ea typeface="Montserrat"/>
                          <a:cs typeface="Montserrat"/>
                          <a:sym typeface="Montserrat"/>
                        </a:rPr>
                        <a:t>On-the-fly Deployment</a:t>
                      </a:r>
                      <a:r>
                        <a:rPr lang="en" sz="1000" u="none" cap="none" strike="noStrike">
                          <a:solidFill>
                            <a:schemeClr val="dk1"/>
                          </a:solidFill>
                          <a:latin typeface="Montserrat"/>
                          <a:ea typeface="Montserrat"/>
                          <a:cs typeface="Montserrat"/>
                          <a:sym typeface="Montserrat"/>
                        </a:rPr>
                        <a:t> </a:t>
                      </a:r>
                      <a:endParaRPr b="1" sz="1000" u="none" cap="none" strike="noStrike">
                        <a:solidFill>
                          <a:schemeClr val="dk1"/>
                        </a:solidFill>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15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On-the-fly deployment enables pushing app updates without app store resubmission-natively supported in React Native via CodePush and achievable in Flutter using Shorebird. This is particularly useful for hot-fixes and minor changes</a:t>
                      </a:r>
                      <a:r>
                        <a:rPr lang="en" sz="1100" u="none" cap="none" strike="noStrike">
                          <a:solidFill>
                            <a:schemeClr val="dk1"/>
                          </a:solidFill>
                        </a:rPr>
                        <a:t>.</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419075">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solidFill>
                            <a:schemeClr val="dk1"/>
                          </a:solidFill>
                          <a:latin typeface="Montserrat"/>
                          <a:ea typeface="Montserrat"/>
                          <a:cs typeface="Montserrat"/>
                          <a:sym typeface="Montserrat"/>
                        </a:rPr>
                        <a:t>Performance Optimisation</a:t>
                      </a:r>
                      <a:endParaRPr b="1" sz="1000" u="none" cap="none" strike="noStrike">
                        <a:solidFill>
                          <a:schemeClr val="dk1"/>
                        </a:solidFill>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Responsive UI and smooth animations, lazy loading of images, pagination and optimised asset management. </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367200">
                <a:tc>
                  <a:txBody>
                    <a:bodyPr/>
                    <a:lstStyle/>
                    <a:p>
                      <a:pPr indent="0" lvl="0" marL="0" marR="0" rtl="0" algn="l">
                        <a:lnSpc>
                          <a:spcPct val="100000"/>
                        </a:lnSpc>
                        <a:spcBef>
                          <a:spcPts val="0"/>
                        </a:spcBef>
                        <a:spcAft>
                          <a:spcPts val="0"/>
                        </a:spcAft>
                        <a:buClr>
                          <a:schemeClr val="dk1"/>
                        </a:buClr>
                        <a:buSzPts val="1100"/>
                        <a:buFont typeface="Arial"/>
                        <a:buNone/>
                      </a:pPr>
                      <a:r>
                        <a:rPr b="1" lang="en" sz="1000" u="none" cap="none" strike="noStrike">
                          <a:solidFill>
                            <a:schemeClr val="dk1"/>
                          </a:solidFill>
                          <a:latin typeface="Montserrat"/>
                          <a:ea typeface="Montserrat"/>
                          <a:cs typeface="Montserrat"/>
                          <a:sym typeface="Montserrat"/>
                        </a:rPr>
                        <a:t>API Integration</a:t>
                      </a:r>
                      <a:endParaRPr b="1"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RESTful API integration using the existing APIs utilised by the Web platform.</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465250">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latin typeface="Montserrat"/>
                          <a:ea typeface="Montserrat"/>
                          <a:cs typeface="Montserrat"/>
                          <a:sym typeface="Montserrat"/>
                        </a:rPr>
                        <a:t>Security &amp; Data Protection</a:t>
                      </a:r>
                      <a:endParaRPr b="1"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Any user data to be securely stored in keychain and encryption if required. Secure communication using HTTPS. Authentication using existing backend architecture.</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465250">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latin typeface="Montserrat"/>
                          <a:ea typeface="Montserrat"/>
                          <a:cs typeface="Montserrat"/>
                          <a:sym typeface="Montserrat"/>
                        </a:rPr>
                        <a:t>Analytics &amp; Crash Monitoring</a:t>
                      </a:r>
                      <a:endParaRPr b="1"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Firebase Analytics(or any other preferred tool) to be utilised for analysing user behavior, page views and clicks. Crash reporting and error monitoring to be dove via Firebase Crashlytics.</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r h="555075">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latin typeface="Montserrat"/>
                          <a:ea typeface="Montserrat"/>
                          <a:cs typeface="Montserrat"/>
                          <a:sym typeface="Montserrat"/>
                        </a:rPr>
                        <a:t>Deployment Strategy</a:t>
                      </a:r>
                      <a:endParaRPr b="1"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App Store and Play store guidelines compliance.</a:t>
                      </a:r>
                      <a:endParaRPr sz="1000" u="none" cap="none" strike="noStrike">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CI/CD pipeline for automated deployment for different environments.</a:t>
                      </a:r>
                      <a:endParaRPr sz="1000" u="none" cap="none" strike="noStrike">
                        <a:latin typeface="Montserrat"/>
                        <a:ea typeface="Montserrat"/>
                        <a:cs typeface="Montserrat"/>
                        <a:sym typeface="Montserrat"/>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tcPr>
                </a:tc>
              </a:tr>
            </a:tbl>
          </a:graphicData>
        </a:graphic>
      </p:graphicFrame>
      <p:sp>
        <p:nvSpPr>
          <p:cNvPr id="342" name="Google Shape;342;p14"/>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15"/>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15"/>
          <p:cNvSpPr txBox="1"/>
          <p:nvPr>
            <p:ph type="title"/>
          </p:nvPr>
        </p:nvSpPr>
        <p:spPr>
          <a:xfrm>
            <a:off x="104500" y="141850"/>
            <a:ext cx="74679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solidFill>
                  <a:schemeClr val="dk1"/>
                </a:solidFill>
              </a:rPr>
              <a:t>Mobile Development Platform - Comparison</a:t>
            </a:r>
            <a:endParaRPr>
              <a:solidFill>
                <a:schemeClr val="dk1"/>
              </a:solidFill>
            </a:endParaRPr>
          </a:p>
        </p:txBody>
      </p:sp>
      <p:sp>
        <p:nvSpPr>
          <p:cNvPr id="349" name="Google Shape;349;p15"/>
          <p:cNvSpPr txBox="1"/>
          <p:nvPr>
            <p:ph idx="12" type="sldNum"/>
          </p:nvPr>
        </p:nvSpPr>
        <p:spPr>
          <a:xfrm>
            <a:off x="8556784" y="6333134"/>
            <a:ext cx="548700" cy="5250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latin typeface="Montserrat"/>
                <a:ea typeface="Montserrat"/>
                <a:cs typeface="Montserrat"/>
                <a:sym typeface="Montserrat"/>
              </a:rPr>
              <a:t>‹#›</a:t>
            </a:fld>
            <a:endParaRPr sz="1000">
              <a:latin typeface="Montserrat"/>
              <a:ea typeface="Montserrat"/>
              <a:cs typeface="Montserrat"/>
              <a:sym typeface="Montserrat"/>
            </a:endParaRPr>
          </a:p>
        </p:txBody>
      </p:sp>
      <p:sp>
        <p:nvSpPr>
          <p:cNvPr id="350" name="Google Shape;350;p1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graphicFrame>
        <p:nvGraphicFramePr>
          <p:cNvPr id="351" name="Google Shape;351;p15"/>
          <p:cNvGraphicFramePr/>
          <p:nvPr/>
        </p:nvGraphicFramePr>
        <p:xfrm>
          <a:off x="189880" y="722548"/>
          <a:ext cx="3000000" cy="3000000"/>
        </p:xfrm>
        <a:graphic>
          <a:graphicData uri="http://schemas.openxmlformats.org/drawingml/2006/table">
            <a:tbl>
              <a:tblPr bandRow="1" firstRow="1">
                <a:noFill/>
                <a:tableStyleId>{E4DFB4FF-8893-4974-80CE-CFFE3B34FB83}</a:tableStyleId>
              </a:tblPr>
              <a:tblGrid>
                <a:gridCol w="4210000"/>
                <a:gridCol w="2933625"/>
                <a:gridCol w="1567950"/>
              </a:tblGrid>
              <a:tr h="260600">
                <a:tc>
                  <a:txBody>
                    <a:bodyPr/>
                    <a:lstStyle/>
                    <a:p>
                      <a:pPr indent="0" lvl="0" marL="63500" marR="0" rtl="0" algn="l">
                        <a:lnSpc>
                          <a:spcPct val="100000"/>
                        </a:lnSpc>
                        <a:spcBef>
                          <a:spcPts val="0"/>
                        </a:spcBef>
                        <a:spcAft>
                          <a:spcPts val="0"/>
                        </a:spcAft>
                        <a:buClr>
                          <a:srgbClr val="FFFFFF"/>
                        </a:buClr>
                        <a:buSzPts val="900"/>
                        <a:buFont typeface="Arial"/>
                        <a:buNone/>
                      </a:pPr>
                      <a:r>
                        <a:rPr lang="en" sz="1100" u="none" cap="none" strike="noStrike">
                          <a:latin typeface="Montserrat"/>
                          <a:ea typeface="Montserrat"/>
                          <a:cs typeface="Montserrat"/>
                          <a:sym typeface="Montserrat"/>
                        </a:rPr>
                        <a:t>Factors</a:t>
                      </a:r>
                      <a:endParaRPr sz="1100" u="none" cap="none" strike="noStrike">
                        <a:solidFill>
                          <a:srgbClr val="FFFFFF"/>
                        </a:solidFill>
                        <a:latin typeface="Montserrat"/>
                        <a:ea typeface="Montserrat"/>
                        <a:cs typeface="Montserrat"/>
                        <a:sym typeface="Montserrat"/>
                      </a:endParaRPr>
                    </a:p>
                  </a:txBody>
                  <a:tcPr marT="46050" marB="46050" marR="46050" marL="46050" anchor="ctr">
                    <a:lnL cap="flat" cmpd="sng" w="12700">
                      <a:solidFill>
                        <a:schemeClr val="lt2"/>
                      </a:solidFill>
                      <a:prstDash val="solid"/>
                      <a:round/>
                      <a:headEnd len="sm" w="sm" type="none"/>
                      <a:tailEnd len="sm" w="sm" type="none"/>
                    </a:lnL>
                    <a:lnR cap="flat" cmpd="sng" w="12700">
                      <a:solidFill>
                        <a:schemeClr val="lt2"/>
                      </a:solidFill>
                      <a:prstDash val="solid"/>
                      <a:round/>
                      <a:headEnd len="sm" w="sm" type="none"/>
                      <a:tailEnd len="sm" w="sm" type="none"/>
                    </a:lnR>
                    <a:lnT cap="flat" cmpd="sng" w="12700">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2"/>
                    </a:solidFill>
                  </a:tcPr>
                </a:tc>
                <a:tc>
                  <a:txBody>
                    <a:bodyPr/>
                    <a:lstStyle/>
                    <a:p>
                      <a:pPr indent="0" lvl="0" marL="63500" marR="0" rtl="0" algn="ctr">
                        <a:lnSpc>
                          <a:spcPct val="100000"/>
                        </a:lnSpc>
                        <a:spcBef>
                          <a:spcPts val="0"/>
                        </a:spcBef>
                        <a:spcAft>
                          <a:spcPts val="0"/>
                        </a:spcAft>
                        <a:buClr>
                          <a:srgbClr val="FFFFFF"/>
                        </a:buClr>
                        <a:buSzPts val="900"/>
                        <a:buFont typeface="Arial"/>
                        <a:buNone/>
                      </a:pPr>
                      <a:r>
                        <a:rPr lang="en" sz="1100" u="none" cap="none" strike="noStrike">
                          <a:solidFill>
                            <a:srgbClr val="FFFFFF"/>
                          </a:solidFill>
                          <a:latin typeface="Montserrat"/>
                          <a:ea typeface="Montserrat"/>
                          <a:cs typeface="Montserrat"/>
                          <a:sym typeface="Montserrat"/>
                        </a:rPr>
                        <a:t>REACT NATIVE</a:t>
                      </a:r>
                      <a:endParaRPr sz="1100" u="none" cap="none" strike="noStrike">
                        <a:solidFill>
                          <a:srgbClr val="FFFFFF"/>
                        </a:solidFill>
                        <a:latin typeface="Montserrat"/>
                        <a:ea typeface="Montserrat"/>
                        <a:cs typeface="Montserrat"/>
                        <a:sym typeface="Montserrat"/>
                      </a:endParaRPr>
                    </a:p>
                  </a:txBody>
                  <a:tcPr marT="46050" marB="46050" marR="46050" marL="46050" anchor="ctr">
                    <a:lnL cap="flat" cmpd="sng" w="12700">
                      <a:solidFill>
                        <a:schemeClr val="lt2"/>
                      </a:solidFill>
                      <a:prstDash val="solid"/>
                      <a:round/>
                      <a:headEnd len="sm" w="sm" type="none"/>
                      <a:tailEnd len="sm" w="sm" type="none"/>
                    </a:lnL>
                    <a:lnR cap="flat" cmpd="sng" w="12700">
                      <a:solidFill>
                        <a:schemeClr val="lt2"/>
                      </a:solidFill>
                      <a:prstDash val="solid"/>
                      <a:round/>
                      <a:headEnd len="sm" w="sm" type="none"/>
                      <a:tailEnd len="sm" w="sm" type="none"/>
                    </a:lnR>
                    <a:lnT cap="flat" cmpd="sng" w="12700">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2"/>
                    </a:solidFill>
                  </a:tcPr>
                </a:tc>
                <a:tc>
                  <a:txBody>
                    <a:bodyPr/>
                    <a:lstStyle/>
                    <a:p>
                      <a:pPr indent="0" lvl="0" marL="63500" marR="0" rtl="0" algn="ctr">
                        <a:lnSpc>
                          <a:spcPct val="100000"/>
                        </a:lnSpc>
                        <a:spcBef>
                          <a:spcPts val="0"/>
                        </a:spcBef>
                        <a:spcAft>
                          <a:spcPts val="0"/>
                        </a:spcAft>
                        <a:buClr>
                          <a:srgbClr val="FFFFFF"/>
                        </a:buClr>
                        <a:buSzPts val="900"/>
                        <a:buFont typeface="Arial"/>
                        <a:buNone/>
                      </a:pPr>
                      <a:r>
                        <a:rPr lang="en" sz="1100" u="none" cap="none" strike="noStrike">
                          <a:solidFill>
                            <a:srgbClr val="FFFFFF"/>
                          </a:solidFill>
                          <a:latin typeface="Montserrat"/>
                          <a:ea typeface="Montserrat"/>
                          <a:cs typeface="Montserrat"/>
                          <a:sym typeface="Montserrat"/>
                        </a:rPr>
                        <a:t>Flutter</a:t>
                      </a:r>
                      <a:endParaRPr sz="1100" u="none" cap="none" strike="noStrike">
                        <a:solidFill>
                          <a:srgbClr val="FFFFFF"/>
                        </a:solidFill>
                        <a:latin typeface="Montserrat"/>
                        <a:ea typeface="Montserrat"/>
                        <a:cs typeface="Montserrat"/>
                        <a:sym typeface="Montserrat"/>
                      </a:endParaRPr>
                    </a:p>
                  </a:txBody>
                  <a:tcPr marT="46050" marB="46050" marR="46050" marL="46050" anchor="ctr">
                    <a:lnL cap="flat" cmpd="sng" w="12700">
                      <a:solidFill>
                        <a:schemeClr val="lt2"/>
                      </a:solidFill>
                      <a:prstDash val="solid"/>
                      <a:round/>
                      <a:headEnd len="sm" w="sm" type="none"/>
                      <a:tailEnd len="sm" w="sm" type="none"/>
                    </a:lnL>
                    <a:lnR cap="flat" cmpd="sng" w="12700">
                      <a:solidFill>
                        <a:schemeClr val="lt2"/>
                      </a:solidFill>
                      <a:prstDash val="solid"/>
                      <a:round/>
                      <a:headEnd len="sm" w="sm" type="none"/>
                      <a:tailEnd len="sm" w="sm" type="none"/>
                    </a:lnR>
                    <a:lnT cap="flat" cmpd="sng" w="12700">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chemeClr val="accent2"/>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Performance/Speed</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OTA Updates  (Without going through App Store)</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Possible (Using Codepush or Expo)</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Possible</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41775">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Technologies Used</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React/ React-Native/ Native Components</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Dart</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1535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Development Time</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1535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Debugging</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Easy</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Easy</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1535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Community Support</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Backed By</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Facebook/ Open Source</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Google/ Open Source</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chemeClr val="lt2"/>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000000"/>
                        </a:buClr>
                        <a:buSzPts val="1000"/>
                        <a:buFont typeface="Arial"/>
                        <a:buNone/>
                      </a:pPr>
                      <a:r>
                        <a:rPr b="1" lang="en" sz="1000" u="none" cap="none" strike="noStrike">
                          <a:latin typeface="Montserrat"/>
                          <a:ea typeface="Montserrat"/>
                          <a:cs typeface="Montserrat"/>
                          <a:sym typeface="Montserrat"/>
                        </a:rPr>
                        <a:t>Build Size</a:t>
                      </a:r>
                      <a:endParaRPr b="1"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Highest</a:t>
                      </a:r>
                      <a:endParaRPr sz="1000" u="none" cap="none" strike="noStrike">
                        <a:latin typeface="Montserrat"/>
                        <a:ea typeface="Montserrat"/>
                        <a:cs typeface="Montserrat"/>
                        <a:sym typeface="Montserrat"/>
                      </a:endParaRPr>
                    </a:p>
                  </a:txBody>
                  <a:tcPr marT="46050" marB="46050" marR="46050" marL="46050" anchor="ctr">
                    <a:lnL cap="flat" cmpd="sng" w="9525">
                      <a:solidFill>
                        <a:schemeClr val="lt2"/>
                      </a:solidFill>
                      <a:prstDash val="solid"/>
                      <a:round/>
                      <a:headEnd len="sm" w="sm" type="none"/>
                      <a:tailEnd len="sm" w="sm" type="none"/>
                    </a:lnL>
                    <a:lnR cap="flat" cmpd="sng" w="9525">
                      <a:solidFill>
                        <a:schemeClr val="lt2"/>
                      </a:solidFill>
                      <a:prstDash val="solid"/>
                      <a:round/>
                      <a:headEnd len="sm" w="sm" type="none"/>
                      <a:tailEnd len="sm" w="sm" type="none"/>
                    </a:lnR>
                    <a:lnT cap="flat" cmpd="sng" w="9525">
                      <a:solidFill>
                        <a:schemeClr val="lt2"/>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Code Reuse between Platforms</a:t>
                      </a:r>
                      <a:endParaRPr b="1"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70-80%</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70-80%</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Support for OS Upgrades</a:t>
                      </a:r>
                      <a:endParaRPr b="1"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High</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307700">
                <a:tc>
                  <a:txBody>
                    <a:bodyPr/>
                    <a:lstStyle/>
                    <a:p>
                      <a:pPr indent="0" lvl="0" marL="63500" marR="0" rtl="0" algn="l">
                        <a:lnSpc>
                          <a:spcPct val="141666"/>
                        </a:lnSpc>
                        <a:spcBef>
                          <a:spcPts val="0"/>
                        </a:spcBef>
                        <a:spcAft>
                          <a:spcPts val="0"/>
                        </a:spcAft>
                        <a:buClr>
                          <a:srgbClr val="3F3F3F"/>
                        </a:buClr>
                        <a:buSzPts val="900"/>
                        <a:buFont typeface="Arial"/>
                        <a:buNone/>
                      </a:pPr>
                      <a:r>
                        <a:rPr b="1" lang="en" sz="1000" u="none" cap="none" strike="noStrike">
                          <a:latin typeface="Montserrat"/>
                          <a:ea typeface="Montserrat"/>
                          <a:cs typeface="Montserrat"/>
                          <a:sym typeface="Montserrat"/>
                        </a:rPr>
                        <a:t>Ability &amp; Support for 3</a:t>
                      </a:r>
                      <a:r>
                        <a:rPr b="1" baseline="30000" lang="en" sz="1000" u="none" cap="none" strike="noStrike">
                          <a:latin typeface="Montserrat"/>
                          <a:ea typeface="Montserrat"/>
                          <a:cs typeface="Montserrat"/>
                          <a:sym typeface="Montserrat"/>
                        </a:rPr>
                        <a:t>rd</a:t>
                      </a:r>
                      <a:r>
                        <a:rPr b="1" lang="en" sz="1000" u="none" cap="none" strike="noStrike">
                          <a:latin typeface="Montserrat"/>
                          <a:ea typeface="Montserrat"/>
                          <a:cs typeface="Montserrat"/>
                          <a:sym typeface="Montserrat"/>
                        </a:rPr>
                        <a:t> party hardware / SDK</a:t>
                      </a:r>
                      <a:endParaRPr b="1"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ctr">
                        <a:lnSpc>
                          <a:spcPct val="141666"/>
                        </a:lnSpc>
                        <a:spcBef>
                          <a:spcPts val="0"/>
                        </a:spcBef>
                        <a:spcAft>
                          <a:spcPts val="0"/>
                        </a:spcAft>
                        <a:buClr>
                          <a:srgbClr val="000000"/>
                        </a:buClr>
                        <a:buSzPts val="1000"/>
                        <a:buFont typeface="Arial"/>
                        <a:buNone/>
                      </a:pPr>
                      <a:r>
                        <a:rPr lang="en" sz="1000" u="none" cap="none" strike="noStrike">
                          <a:latin typeface="Montserrat"/>
                          <a:ea typeface="Montserrat"/>
                          <a:cs typeface="Montserrat"/>
                          <a:sym typeface="Montserrat"/>
                        </a:rPr>
                        <a:t>Medium</a:t>
                      </a:r>
                      <a:endParaRPr sz="1000" u="none" cap="none" strike="noStrike">
                        <a:latin typeface="Montserrat"/>
                        <a:ea typeface="Montserrat"/>
                        <a:cs typeface="Montserrat"/>
                        <a:sym typeface="Montserrat"/>
                      </a:endParaRPr>
                    </a:p>
                  </a:txBody>
                  <a:tcPr marT="46050" marB="46050" marR="46050" marL="4605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bl>
          </a:graphicData>
        </a:graphic>
      </p:graphicFrame>
      <p:sp>
        <p:nvSpPr>
          <p:cNvPr id="352" name="Google Shape;352;p15"/>
          <p:cNvSpPr txBox="1"/>
          <p:nvPr/>
        </p:nvSpPr>
        <p:spPr>
          <a:xfrm>
            <a:off x="0" y="4485550"/>
            <a:ext cx="9144000" cy="495000"/>
          </a:xfrm>
          <a:prstGeom prst="rect">
            <a:avLst/>
          </a:prstGeom>
          <a:solidFill>
            <a:srgbClr val="FFFFFF"/>
          </a:solid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Clr>
                <a:srgbClr val="000000"/>
              </a:buClr>
              <a:buSzPts val="1100"/>
              <a:buFont typeface="Arial"/>
              <a:buNone/>
            </a:pPr>
            <a:r>
              <a:rPr b="0" i="0" lang="en" sz="1000" u="none" cap="none" strike="noStrike">
                <a:solidFill>
                  <a:srgbClr val="000000"/>
                </a:solidFill>
                <a:latin typeface="Montserrat"/>
                <a:ea typeface="Montserrat"/>
                <a:cs typeface="Montserrat"/>
                <a:sym typeface="Montserrat"/>
              </a:rPr>
              <a:t>* Both Flutter and React Native are well-suited to deliver the required functionality. TTN will recommend the most appropriate technology stack after conducting a thorough discovery of the platform and understanding user needs.</a:t>
            </a:r>
            <a:endParaRPr b="0" i="0" sz="10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6"/>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8" name="Google Shape;358;p16"/>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t>Agenda</a:t>
            </a:r>
            <a:endParaRPr/>
          </a:p>
        </p:txBody>
      </p:sp>
      <p:sp>
        <p:nvSpPr>
          <p:cNvPr id="359" name="Google Shape;359;p16"/>
          <p:cNvSpPr/>
          <p:nvPr/>
        </p:nvSpPr>
        <p:spPr>
          <a:xfrm>
            <a:off x="1358763" y="111102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Executive Summary and Our Understanding of Project Requirements</a:t>
            </a:r>
            <a:endParaRPr b="0" i="0" sz="1200" u="none" cap="none" strike="noStrike">
              <a:solidFill>
                <a:srgbClr val="000000"/>
              </a:solidFill>
              <a:latin typeface="Montserrat"/>
              <a:ea typeface="Montserrat"/>
              <a:cs typeface="Montserrat"/>
              <a:sym typeface="Montserrat"/>
            </a:endParaRPr>
          </a:p>
        </p:txBody>
      </p:sp>
      <p:sp>
        <p:nvSpPr>
          <p:cNvPr id="360" name="Google Shape;360;p16"/>
          <p:cNvSpPr/>
          <p:nvPr/>
        </p:nvSpPr>
        <p:spPr>
          <a:xfrm>
            <a:off x="1358763" y="1678410"/>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Proposed Technical Solution Approach</a:t>
            </a:r>
            <a:endParaRPr b="0" i="0" sz="1200" u="none" cap="none" strike="noStrike">
              <a:solidFill>
                <a:srgbClr val="000000"/>
              </a:solidFill>
              <a:latin typeface="Montserrat"/>
              <a:ea typeface="Montserrat"/>
              <a:cs typeface="Montserrat"/>
              <a:sym typeface="Montserrat"/>
            </a:endParaRPr>
          </a:p>
        </p:txBody>
      </p:sp>
      <p:sp>
        <p:nvSpPr>
          <p:cNvPr id="361" name="Google Shape;361;p16"/>
          <p:cNvSpPr/>
          <p:nvPr/>
        </p:nvSpPr>
        <p:spPr>
          <a:xfrm>
            <a:off x="1358763" y="328987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Success Stories</a:t>
            </a:r>
            <a:endParaRPr b="0" i="0" sz="1200" u="none" cap="none" strike="noStrike">
              <a:solidFill>
                <a:srgbClr val="000000"/>
              </a:solidFill>
              <a:latin typeface="Montserrat"/>
              <a:ea typeface="Montserrat"/>
              <a:cs typeface="Montserrat"/>
              <a:sym typeface="Montserrat"/>
            </a:endParaRPr>
          </a:p>
        </p:txBody>
      </p:sp>
      <p:cxnSp>
        <p:nvCxnSpPr>
          <p:cNvPr id="362" name="Google Shape;362;p16"/>
          <p:cNvCxnSpPr/>
          <p:nvPr/>
        </p:nvCxnSpPr>
        <p:spPr>
          <a:xfrm>
            <a:off x="1367196" y="1108050"/>
            <a:ext cx="0" cy="382200"/>
          </a:xfrm>
          <a:prstGeom prst="straightConnector1">
            <a:avLst/>
          </a:prstGeom>
          <a:noFill/>
          <a:ln cap="flat" cmpd="sng" w="19050">
            <a:solidFill>
              <a:srgbClr val="12519C"/>
            </a:solidFill>
            <a:prstDash val="solid"/>
            <a:round/>
            <a:headEnd len="sm" w="sm" type="none"/>
            <a:tailEnd len="sm" w="sm" type="none"/>
          </a:ln>
        </p:spPr>
      </p:cxnSp>
      <p:cxnSp>
        <p:nvCxnSpPr>
          <p:cNvPr id="363" name="Google Shape;363;p16"/>
          <p:cNvCxnSpPr/>
          <p:nvPr/>
        </p:nvCxnSpPr>
        <p:spPr>
          <a:xfrm>
            <a:off x="1367196" y="1675436"/>
            <a:ext cx="0" cy="382200"/>
          </a:xfrm>
          <a:prstGeom prst="straightConnector1">
            <a:avLst/>
          </a:prstGeom>
          <a:noFill/>
          <a:ln cap="flat" cmpd="sng" w="19050">
            <a:solidFill>
              <a:srgbClr val="12519C"/>
            </a:solidFill>
            <a:prstDash val="solid"/>
            <a:round/>
            <a:headEnd len="sm" w="sm" type="none"/>
            <a:tailEnd len="sm" w="sm" type="none"/>
          </a:ln>
        </p:spPr>
      </p:cxnSp>
      <p:cxnSp>
        <p:nvCxnSpPr>
          <p:cNvPr id="364" name="Google Shape;364;p16"/>
          <p:cNvCxnSpPr/>
          <p:nvPr/>
        </p:nvCxnSpPr>
        <p:spPr>
          <a:xfrm>
            <a:off x="1367196" y="3288390"/>
            <a:ext cx="0" cy="382200"/>
          </a:xfrm>
          <a:prstGeom prst="straightConnector1">
            <a:avLst/>
          </a:prstGeom>
          <a:noFill/>
          <a:ln cap="flat" cmpd="sng" w="19050">
            <a:solidFill>
              <a:srgbClr val="12519C"/>
            </a:solidFill>
            <a:prstDash val="solid"/>
            <a:round/>
            <a:headEnd len="sm" w="sm" type="none"/>
            <a:tailEnd len="sm" w="sm" type="none"/>
          </a:ln>
        </p:spPr>
      </p:cxnSp>
      <p:sp>
        <p:nvSpPr>
          <p:cNvPr id="365" name="Google Shape;365;p16"/>
          <p:cNvSpPr/>
          <p:nvPr/>
        </p:nvSpPr>
        <p:spPr>
          <a:xfrm>
            <a:off x="1048238" y="1260478"/>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16"/>
          <p:cNvSpPr/>
          <p:nvPr/>
        </p:nvSpPr>
        <p:spPr>
          <a:xfrm>
            <a:off x="1048238" y="1827880"/>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16"/>
          <p:cNvSpPr/>
          <p:nvPr/>
        </p:nvSpPr>
        <p:spPr>
          <a:xfrm>
            <a:off x="1048238" y="3439362"/>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16"/>
          <p:cNvSpPr/>
          <p:nvPr/>
        </p:nvSpPr>
        <p:spPr>
          <a:xfrm>
            <a:off x="1358763" y="224580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1" i="0" lang="en" sz="1200" u="none" cap="none" strike="noStrike">
                <a:solidFill>
                  <a:srgbClr val="D71B7F"/>
                </a:solidFill>
                <a:latin typeface="Montserrat"/>
                <a:ea typeface="Montserrat"/>
                <a:cs typeface="Montserrat"/>
                <a:sym typeface="Montserrat"/>
              </a:rPr>
              <a:t>Project Plan and Key Deliverables</a:t>
            </a:r>
            <a:endParaRPr b="1" i="0" sz="1200" u="none" cap="none" strike="noStrike">
              <a:solidFill>
                <a:srgbClr val="D71B7F"/>
              </a:solidFill>
              <a:latin typeface="Montserrat"/>
              <a:ea typeface="Montserrat"/>
              <a:cs typeface="Montserrat"/>
              <a:sym typeface="Montserrat"/>
            </a:endParaRPr>
          </a:p>
        </p:txBody>
      </p:sp>
      <p:cxnSp>
        <p:nvCxnSpPr>
          <p:cNvPr id="369" name="Google Shape;369;p16"/>
          <p:cNvCxnSpPr/>
          <p:nvPr/>
        </p:nvCxnSpPr>
        <p:spPr>
          <a:xfrm>
            <a:off x="1367196" y="2242832"/>
            <a:ext cx="0" cy="382200"/>
          </a:xfrm>
          <a:prstGeom prst="straightConnector1">
            <a:avLst/>
          </a:prstGeom>
          <a:noFill/>
          <a:ln cap="flat" cmpd="sng" w="19050">
            <a:solidFill>
              <a:srgbClr val="12519C"/>
            </a:solidFill>
            <a:prstDash val="solid"/>
            <a:round/>
            <a:headEnd len="sm" w="sm" type="none"/>
            <a:tailEnd len="sm" w="sm" type="none"/>
          </a:ln>
        </p:spPr>
      </p:cxnSp>
      <p:sp>
        <p:nvSpPr>
          <p:cNvPr id="370" name="Google Shape;370;p16"/>
          <p:cNvSpPr/>
          <p:nvPr/>
        </p:nvSpPr>
        <p:spPr>
          <a:xfrm>
            <a:off x="1048238" y="239527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16"/>
          <p:cNvSpPr/>
          <p:nvPr/>
        </p:nvSpPr>
        <p:spPr>
          <a:xfrm>
            <a:off x="1358763" y="275588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Commercial Summary</a:t>
            </a:r>
            <a:endParaRPr b="0" i="0" sz="1200" u="none" cap="none" strike="noStrike">
              <a:solidFill>
                <a:srgbClr val="000000"/>
              </a:solidFill>
              <a:latin typeface="Montserrat"/>
              <a:ea typeface="Montserrat"/>
              <a:cs typeface="Montserrat"/>
              <a:sym typeface="Montserrat"/>
            </a:endParaRPr>
          </a:p>
        </p:txBody>
      </p:sp>
      <p:cxnSp>
        <p:nvCxnSpPr>
          <p:cNvPr id="372" name="Google Shape;372;p16"/>
          <p:cNvCxnSpPr/>
          <p:nvPr/>
        </p:nvCxnSpPr>
        <p:spPr>
          <a:xfrm>
            <a:off x="1367196" y="2752912"/>
            <a:ext cx="0" cy="382200"/>
          </a:xfrm>
          <a:prstGeom prst="straightConnector1">
            <a:avLst/>
          </a:prstGeom>
          <a:noFill/>
          <a:ln cap="flat" cmpd="sng" w="19050">
            <a:solidFill>
              <a:srgbClr val="12519C"/>
            </a:solidFill>
            <a:prstDash val="solid"/>
            <a:round/>
            <a:headEnd len="sm" w="sm" type="none"/>
            <a:tailEnd len="sm" w="sm" type="none"/>
          </a:ln>
        </p:spPr>
      </p:cxnSp>
      <p:sp>
        <p:nvSpPr>
          <p:cNvPr id="373" name="Google Shape;373;p16"/>
          <p:cNvSpPr/>
          <p:nvPr/>
        </p:nvSpPr>
        <p:spPr>
          <a:xfrm>
            <a:off x="1048238" y="290535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4" name="Google Shape;374;p16"/>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 sz="1000" u="none" cap="none" strike="noStrike">
                <a:solidFill>
                  <a:srgbClr val="000000"/>
                </a:solidFill>
                <a:latin typeface="Montserrat"/>
                <a:ea typeface="Montserrat"/>
                <a:cs typeface="Montserrat"/>
                <a:sym typeface="Montserrat"/>
              </a:rPr>
              <a:t>‹#›</a:t>
            </a:fld>
            <a:endParaRPr b="0" i="0" sz="10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17"/>
          <p:cNvSpPr/>
          <p:nvPr/>
        </p:nvSpPr>
        <p:spPr>
          <a:xfrm>
            <a:off x="1623100" y="934600"/>
            <a:ext cx="7355400" cy="3713100"/>
          </a:xfrm>
          <a:prstGeom prst="snip1Rect">
            <a:avLst>
              <a:gd fmla="val 8163" name="adj"/>
            </a:avLst>
          </a:pr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chemeClr val="dk1"/>
              </a:solidFill>
              <a:latin typeface="Montserrat"/>
              <a:ea typeface="Montserrat"/>
              <a:cs typeface="Montserrat"/>
              <a:sym typeface="Montserrat"/>
            </a:endParaRPr>
          </a:p>
        </p:txBody>
      </p:sp>
      <p:sp>
        <p:nvSpPr>
          <p:cNvPr id="380" name="Google Shape;380;p17"/>
          <p:cNvSpPr/>
          <p:nvPr/>
        </p:nvSpPr>
        <p:spPr>
          <a:xfrm>
            <a:off x="236853" y="1505825"/>
            <a:ext cx="1877400" cy="2588100"/>
          </a:xfrm>
          <a:prstGeom prst="snip1Rect">
            <a:avLst>
              <a:gd fmla="val 8163" name="adj"/>
            </a:avLst>
          </a:prstGeom>
          <a:solidFill>
            <a:srgbClr val="FFFFFF"/>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chemeClr val="dk1"/>
              </a:solidFill>
              <a:latin typeface="Montserrat"/>
              <a:ea typeface="Montserrat"/>
              <a:cs typeface="Montserrat"/>
              <a:sym typeface="Montserrat"/>
            </a:endParaRPr>
          </a:p>
        </p:txBody>
      </p:sp>
      <p:sp>
        <p:nvSpPr>
          <p:cNvPr id="381" name="Google Shape;381;p17"/>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Project Management Approach</a:t>
            </a:r>
            <a:endParaRPr b="1" i="0" sz="2000" u="none" cap="none" strike="noStrike">
              <a:solidFill>
                <a:schemeClr val="dk1"/>
              </a:solidFill>
              <a:latin typeface="Montserrat"/>
              <a:ea typeface="Montserrat"/>
              <a:cs typeface="Montserrat"/>
              <a:sym typeface="Montserrat"/>
            </a:endParaRPr>
          </a:p>
        </p:txBody>
      </p:sp>
      <p:sp>
        <p:nvSpPr>
          <p:cNvPr id="382" name="Google Shape;382;p17"/>
          <p:cNvSpPr/>
          <p:nvPr/>
        </p:nvSpPr>
        <p:spPr>
          <a:xfrm>
            <a:off x="2303501" y="2698629"/>
            <a:ext cx="1202100" cy="1327200"/>
          </a:xfrm>
          <a:prstGeom prst="rect">
            <a:avLst/>
          </a:prstGeom>
          <a:noFill/>
          <a:ln cap="flat" cmpd="sng" w="9525">
            <a:solidFill>
              <a:srgbClr val="D8D8D8"/>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383" name="Google Shape;383;p17"/>
          <p:cNvSpPr/>
          <p:nvPr/>
        </p:nvSpPr>
        <p:spPr>
          <a:xfrm>
            <a:off x="3799228" y="2698629"/>
            <a:ext cx="1202100" cy="1366800"/>
          </a:xfrm>
          <a:prstGeom prst="rect">
            <a:avLst/>
          </a:prstGeom>
          <a:noFill/>
          <a:ln cap="flat" cmpd="sng" w="9525">
            <a:solidFill>
              <a:srgbClr val="D8D8D8"/>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384" name="Google Shape;384;p17"/>
          <p:cNvSpPr/>
          <p:nvPr/>
        </p:nvSpPr>
        <p:spPr>
          <a:xfrm>
            <a:off x="2303500" y="1677712"/>
            <a:ext cx="1177200" cy="795000"/>
          </a:xfrm>
          <a:prstGeom prst="rect">
            <a:avLst/>
          </a:prstGeom>
          <a:solidFill>
            <a:srgbClr val="FFFFFF"/>
          </a:solidFill>
          <a:ln>
            <a:noFill/>
          </a:ln>
          <a:effectLst>
            <a:outerShdw blurRad="157163" rotWithShape="0" algn="bl" dir="9060000" dist="9525">
              <a:srgbClr val="000000">
                <a:alpha val="14118"/>
              </a:srgbClr>
            </a:outerShdw>
          </a:effectLst>
        </p:spPr>
        <p:txBody>
          <a:bodyPr anchorCtr="0" anchor="b"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Engagement </a:t>
            </a:r>
            <a:endParaRPr b="1" i="0" sz="900" u="none" cap="none" strike="noStrike">
              <a:solidFill>
                <a:srgbClr val="616161"/>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Kick off &amp; Discovery</a:t>
            </a:r>
            <a:endParaRPr b="1" i="0" sz="900" u="none" cap="none" strike="noStrike">
              <a:solidFill>
                <a:srgbClr val="616161"/>
              </a:solidFill>
              <a:latin typeface="Montserrat"/>
              <a:ea typeface="Montserrat"/>
              <a:cs typeface="Montserrat"/>
              <a:sym typeface="Montserrat"/>
            </a:endParaRPr>
          </a:p>
        </p:txBody>
      </p:sp>
      <p:sp>
        <p:nvSpPr>
          <p:cNvPr id="385" name="Google Shape;385;p17"/>
          <p:cNvSpPr/>
          <p:nvPr/>
        </p:nvSpPr>
        <p:spPr>
          <a:xfrm>
            <a:off x="3814239" y="1677712"/>
            <a:ext cx="1177200" cy="795000"/>
          </a:xfrm>
          <a:prstGeom prst="rect">
            <a:avLst/>
          </a:prstGeom>
          <a:solidFill>
            <a:srgbClr val="FFFFFF"/>
          </a:solidFill>
          <a:ln>
            <a:noFill/>
          </a:ln>
          <a:effectLst>
            <a:outerShdw blurRad="157163" rotWithShape="0" algn="bl" dir="9060000" dist="9525">
              <a:srgbClr val="000000">
                <a:alpha val="14118"/>
              </a:srgbClr>
            </a:outerShdw>
          </a:effectLst>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Iterative</a:t>
            </a:r>
            <a:br>
              <a:rPr b="1" i="0" lang="en" sz="900" u="none" cap="none" strike="noStrike">
                <a:solidFill>
                  <a:srgbClr val="616161"/>
                </a:solidFill>
                <a:latin typeface="Montserrat"/>
                <a:ea typeface="Montserrat"/>
                <a:cs typeface="Montserrat"/>
                <a:sym typeface="Montserrat"/>
              </a:rPr>
            </a:br>
            <a:r>
              <a:rPr b="1" i="0" lang="en" sz="900" u="none" cap="none" strike="noStrike">
                <a:solidFill>
                  <a:srgbClr val="616161"/>
                </a:solidFill>
                <a:latin typeface="Montserrat"/>
                <a:ea typeface="Montserrat"/>
                <a:cs typeface="Montserrat"/>
                <a:sym typeface="Montserrat"/>
              </a:rPr>
              <a:t>Development</a:t>
            </a:r>
            <a:endParaRPr b="1" i="0" sz="900" u="none" cap="none" strike="noStrike">
              <a:solidFill>
                <a:srgbClr val="616161"/>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900"/>
              <a:buFont typeface="Arial"/>
              <a:buNone/>
            </a:pPr>
            <a:br>
              <a:rPr b="1" i="0" lang="en" sz="900" u="none" cap="none" strike="noStrike">
                <a:solidFill>
                  <a:srgbClr val="616161"/>
                </a:solidFill>
                <a:latin typeface="Montserrat"/>
                <a:ea typeface="Montserrat"/>
                <a:cs typeface="Montserrat"/>
                <a:sym typeface="Montserrat"/>
              </a:rPr>
            </a:br>
            <a:r>
              <a:rPr b="1" i="0" lang="en" sz="900" u="none" cap="none" strike="noStrike">
                <a:solidFill>
                  <a:srgbClr val="616161"/>
                </a:solidFill>
                <a:latin typeface="Montserrat"/>
                <a:ea typeface="Montserrat"/>
                <a:cs typeface="Montserrat"/>
                <a:sym typeface="Montserrat"/>
              </a:rPr>
              <a:t>1     2    3    .   .</a:t>
            </a:r>
            <a:endParaRPr b="1" i="0" sz="900" u="none" cap="none" strike="noStrike">
              <a:solidFill>
                <a:srgbClr val="616161"/>
              </a:solidFill>
              <a:latin typeface="Montserrat"/>
              <a:ea typeface="Montserrat"/>
              <a:cs typeface="Montserrat"/>
              <a:sym typeface="Montserrat"/>
            </a:endParaRPr>
          </a:p>
        </p:txBody>
      </p:sp>
      <p:grpSp>
        <p:nvGrpSpPr>
          <p:cNvPr id="386" name="Google Shape;386;p17"/>
          <p:cNvGrpSpPr/>
          <p:nvPr/>
        </p:nvGrpSpPr>
        <p:grpSpPr>
          <a:xfrm>
            <a:off x="3934107" y="2120825"/>
            <a:ext cx="817618" cy="72728"/>
            <a:chOff x="3198956" y="2429934"/>
            <a:chExt cx="1353000" cy="149400"/>
          </a:xfrm>
        </p:grpSpPr>
        <p:sp>
          <p:nvSpPr>
            <p:cNvPr id="387" name="Google Shape;387;p17"/>
            <p:cNvSpPr/>
            <p:nvPr/>
          </p:nvSpPr>
          <p:spPr>
            <a:xfrm flipH="1">
              <a:off x="3198956" y="2429934"/>
              <a:ext cx="133800" cy="149400"/>
            </a:xfrm>
            <a:prstGeom prst="star5">
              <a:avLst>
                <a:gd fmla="val 19098" name="adj"/>
                <a:gd fmla="val 105146" name="hf"/>
                <a:gd fmla="val 110557" name="vf"/>
              </a:avLst>
            </a:prstGeom>
            <a:solidFill>
              <a:srgbClr val="C55A11"/>
            </a:solidFill>
            <a:ln cap="flat" cmpd="sng" w="9525">
              <a:solidFill>
                <a:srgbClr val="C55A11"/>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rgbClr val="FFFFFF"/>
                </a:solidFill>
                <a:latin typeface="Century Gothic"/>
                <a:ea typeface="Century Gothic"/>
                <a:cs typeface="Century Gothic"/>
                <a:sym typeface="Century Gothic"/>
              </a:endParaRPr>
            </a:p>
          </p:txBody>
        </p:sp>
        <p:sp>
          <p:nvSpPr>
            <p:cNvPr id="388" name="Google Shape;388;p17"/>
            <p:cNvSpPr/>
            <p:nvPr/>
          </p:nvSpPr>
          <p:spPr>
            <a:xfrm flipH="1">
              <a:off x="3503756" y="2429934"/>
              <a:ext cx="133800" cy="149400"/>
            </a:xfrm>
            <a:prstGeom prst="star5">
              <a:avLst>
                <a:gd fmla="val 19098" name="adj"/>
                <a:gd fmla="val 105146" name="hf"/>
                <a:gd fmla="val 110557" name="vf"/>
              </a:avLst>
            </a:prstGeom>
            <a:solidFill>
              <a:srgbClr val="C55A11"/>
            </a:solidFill>
            <a:ln cap="flat" cmpd="sng" w="9525">
              <a:solidFill>
                <a:srgbClr val="C55A11"/>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rgbClr val="FFFFFF"/>
                </a:solidFill>
                <a:latin typeface="Century Gothic"/>
                <a:ea typeface="Century Gothic"/>
                <a:cs typeface="Century Gothic"/>
                <a:sym typeface="Century Gothic"/>
              </a:endParaRPr>
            </a:p>
          </p:txBody>
        </p:sp>
        <p:sp>
          <p:nvSpPr>
            <p:cNvPr id="389" name="Google Shape;389;p17"/>
            <p:cNvSpPr/>
            <p:nvPr/>
          </p:nvSpPr>
          <p:spPr>
            <a:xfrm flipH="1">
              <a:off x="3808556" y="2429934"/>
              <a:ext cx="133800" cy="149400"/>
            </a:xfrm>
            <a:prstGeom prst="star5">
              <a:avLst>
                <a:gd fmla="val 19098" name="adj"/>
                <a:gd fmla="val 105146" name="hf"/>
                <a:gd fmla="val 110557" name="vf"/>
              </a:avLst>
            </a:prstGeom>
            <a:solidFill>
              <a:srgbClr val="C55A11"/>
            </a:solidFill>
            <a:ln cap="flat" cmpd="sng" w="9525">
              <a:solidFill>
                <a:srgbClr val="C55A11"/>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rgbClr val="FFFFFF"/>
                </a:solidFill>
                <a:latin typeface="Century Gothic"/>
                <a:ea typeface="Century Gothic"/>
                <a:cs typeface="Century Gothic"/>
                <a:sym typeface="Century Gothic"/>
              </a:endParaRPr>
            </a:p>
          </p:txBody>
        </p:sp>
        <p:sp>
          <p:nvSpPr>
            <p:cNvPr id="390" name="Google Shape;390;p17"/>
            <p:cNvSpPr/>
            <p:nvPr/>
          </p:nvSpPr>
          <p:spPr>
            <a:xfrm flipH="1">
              <a:off x="4113356" y="2429934"/>
              <a:ext cx="133800" cy="149400"/>
            </a:xfrm>
            <a:prstGeom prst="star5">
              <a:avLst>
                <a:gd fmla="val 19098" name="adj"/>
                <a:gd fmla="val 105146" name="hf"/>
                <a:gd fmla="val 110557" name="vf"/>
              </a:avLst>
            </a:prstGeom>
            <a:solidFill>
              <a:srgbClr val="C55A11"/>
            </a:solidFill>
            <a:ln cap="flat" cmpd="sng" w="9525">
              <a:solidFill>
                <a:srgbClr val="C55A11"/>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rgbClr val="FFFFFF"/>
                </a:solidFill>
                <a:latin typeface="Century Gothic"/>
                <a:ea typeface="Century Gothic"/>
                <a:cs typeface="Century Gothic"/>
                <a:sym typeface="Century Gothic"/>
              </a:endParaRPr>
            </a:p>
          </p:txBody>
        </p:sp>
        <p:sp>
          <p:nvSpPr>
            <p:cNvPr id="391" name="Google Shape;391;p17"/>
            <p:cNvSpPr/>
            <p:nvPr/>
          </p:nvSpPr>
          <p:spPr>
            <a:xfrm flipH="1">
              <a:off x="4418156" y="2429934"/>
              <a:ext cx="133800" cy="149400"/>
            </a:xfrm>
            <a:prstGeom prst="star5">
              <a:avLst>
                <a:gd fmla="val 19098" name="adj"/>
                <a:gd fmla="val 105146" name="hf"/>
                <a:gd fmla="val 110557" name="vf"/>
              </a:avLst>
            </a:prstGeom>
            <a:solidFill>
              <a:srgbClr val="C55A11"/>
            </a:solidFill>
            <a:ln cap="flat" cmpd="sng" w="9525">
              <a:solidFill>
                <a:srgbClr val="C55A11"/>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t/>
              </a:r>
              <a:endParaRPr b="0" i="0" sz="1500" u="none" cap="none" strike="noStrike">
                <a:solidFill>
                  <a:srgbClr val="FFFFFF"/>
                </a:solidFill>
                <a:latin typeface="Century Gothic"/>
                <a:ea typeface="Century Gothic"/>
                <a:cs typeface="Century Gothic"/>
                <a:sym typeface="Century Gothic"/>
              </a:endParaRPr>
            </a:p>
          </p:txBody>
        </p:sp>
      </p:grpSp>
      <p:cxnSp>
        <p:nvCxnSpPr>
          <p:cNvPr id="392" name="Google Shape;392;p17"/>
          <p:cNvCxnSpPr>
            <a:stCxn id="384" idx="3"/>
            <a:endCxn id="385" idx="1"/>
          </p:cNvCxnSpPr>
          <p:nvPr/>
        </p:nvCxnSpPr>
        <p:spPr>
          <a:xfrm>
            <a:off x="3480700" y="2075212"/>
            <a:ext cx="333600" cy="0"/>
          </a:xfrm>
          <a:prstGeom prst="straightConnector1">
            <a:avLst/>
          </a:prstGeom>
          <a:noFill/>
          <a:ln cap="flat" cmpd="sng" w="9525">
            <a:solidFill>
              <a:srgbClr val="44546A"/>
            </a:solidFill>
            <a:prstDash val="solid"/>
            <a:round/>
            <a:headEnd len="sm" w="sm" type="none"/>
            <a:tailEnd len="med" w="med" type="triangle"/>
          </a:ln>
        </p:spPr>
      </p:cxnSp>
      <p:sp>
        <p:nvSpPr>
          <p:cNvPr id="393" name="Google Shape;393;p17"/>
          <p:cNvSpPr/>
          <p:nvPr/>
        </p:nvSpPr>
        <p:spPr>
          <a:xfrm>
            <a:off x="3721678" y="1352950"/>
            <a:ext cx="1306500" cy="262800"/>
          </a:xfrm>
          <a:prstGeom prst="rect">
            <a:avLst/>
          </a:prstGeom>
          <a:noFill/>
          <a:ln>
            <a:noFill/>
          </a:ln>
        </p:spPr>
        <p:txBody>
          <a:bodyPr anchorCtr="0" anchor="t" bIns="34275" lIns="68575" spcFirstLastPara="1" rIns="68575" wrap="square" tIns="34275">
            <a:noAutofit/>
          </a:bodyPr>
          <a:lstStyle/>
          <a:p>
            <a:pPr indent="0" lvl="0" marL="0" marR="0" rtl="0" algn="ctr">
              <a:lnSpc>
                <a:spcPct val="115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Continuous Evolution of Working Software</a:t>
            </a:r>
            <a:endParaRPr b="0" i="0" sz="700" u="none" cap="none" strike="noStrike">
              <a:solidFill>
                <a:srgbClr val="000000"/>
              </a:solidFill>
              <a:latin typeface="Montserrat"/>
              <a:ea typeface="Montserrat"/>
              <a:cs typeface="Montserrat"/>
              <a:sym typeface="Montserrat"/>
            </a:endParaRPr>
          </a:p>
        </p:txBody>
      </p:sp>
      <p:sp>
        <p:nvSpPr>
          <p:cNvPr id="394" name="Google Shape;394;p17"/>
          <p:cNvSpPr/>
          <p:nvPr/>
        </p:nvSpPr>
        <p:spPr>
          <a:xfrm>
            <a:off x="5324975" y="1677700"/>
            <a:ext cx="789300" cy="795000"/>
          </a:xfrm>
          <a:prstGeom prst="rect">
            <a:avLst/>
          </a:prstGeom>
          <a:solidFill>
            <a:srgbClr val="FFFFFF"/>
          </a:solidFill>
          <a:ln>
            <a:noFill/>
          </a:ln>
          <a:effectLst>
            <a:outerShdw blurRad="157163" rotWithShape="0" algn="bl" dir="9060000" dist="9525">
              <a:srgbClr val="000000">
                <a:alpha val="14118"/>
              </a:srgbClr>
            </a:outerShdw>
          </a:effectLst>
        </p:spPr>
        <p:txBody>
          <a:bodyPr anchorCtr="0" anchor="b" bIns="68575" lIns="68575" spcFirstLastPara="1" rIns="68575" wrap="square" tIns="68575">
            <a:noAutofit/>
          </a:bodyPr>
          <a:lstStyle/>
          <a:p>
            <a:pPr indent="0" lvl="0" marL="0" marR="0" rtl="0" algn="ctr">
              <a:lnSpc>
                <a:spcPct val="115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UAT</a:t>
            </a:r>
            <a:endParaRPr b="1" i="0" sz="900" u="none" cap="none" strike="noStrike">
              <a:solidFill>
                <a:srgbClr val="616161"/>
              </a:solidFill>
              <a:latin typeface="Montserrat"/>
              <a:ea typeface="Montserrat"/>
              <a:cs typeface="Montserrat"/>
              <a:sym typeface="Montserrat"/>
            </a:endParaRPr>
          </a:p>
        </p:txBody>
      </p:sp>
      <p:cxnSp>
        <p:nvCxnSpPr>
          <p:cNvPr id="395" name="Google Shape;395;p17"/>
          <p:cNvCxnSpPr>
            <a:stCxn id="385" idx="3"/>
            <a:endCxn id="394" idx="1"/>
          </p:cNvCxnSpPr>
          <p:nvPr/>
        </p:nvCxnSpPr>
        <p:spPr>
          <a:xfrm>
            <a:off x="4991439" y="2075212"/>
            <a:ext cx="333600" cy="0"/>
          </a:xfrm>
          <a:prstGeom prst="straightConnector1">
            <a:avLst/>
          </a:prstGeom>
          <a:noFill/>
          <a:ln cap="flat" cmpd="sng" w="9525">
            <a:solidFill>
              <a:srgbClr val="44546A"/>
            </a:solidFill>
            <a:prstDash val="solid"/>
            <a:round/>
            <a:headEnd len="sm" w="sm" type="none"/>
            <a:tailEnd len="med" w="med" type="triangle"/>
          </a:ln>
        </p:spPr>
      </p:cxnSp>
      <p:sp>
        <p:nvSpPr>
          <p:cNvPr id="396" name="Google Shape;396;p17"/>
          <p:cNvSpPr/>
          <p:nvPr/>
        </p:nvSpPr>
        <p:spPr>
          <a:xfrm>
            <a:off x="6447800" y="1694125"/>
            <a:ext cx="789300" cy="756900"/>
          </a:xfrm>
          <a:prstGeom prst="rect">
            <a:avLst/>
          </a:prstGeom>
          <a:solidFill>
            <a:srgbClr val="FFFFFF"/>
          </a:solidFill>
          <a:ln>
            <a:noFill/>
          </a:ln>
          <a:effectLst>
            <a:outerShdw blurRad="157163" rotWithShape="0" algn="bl" dir="9060000" dist="9525">
              <a:srgbClr val="000000">
                <a:alpha val="14118"/>
              </a:srgbClr>
            </a:outerShdw>
          </a:effectLst>
        </p:spPr>
        <p:txBody>
          <a:bodyPr anchorCtr="0" anchor="b" bIns="68575" lIns="68575" spcFirstLastPara="1" rIns="68575" wrap="square" tIns="68575">
            <a:noAutofit/>
          </a:bodyPr>
          <a:lstStyle/>
          <a:p>
            <a:pPr indent="0" lvl="0" marL="0" marR="0" rtl="0" algn="ctr">
              <a:lnSpc>
                <a:spcPct val="115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Go-Live</a:t>
            </a:r>
            <a:endParaRPr b="1" i="0" sz="900" u="none" cap="none" strike="noStrike">
              <a:solidFill>
                <a:srgbClr val="616161"/>
              </a:solidFill>
              <a:latin typeface="Montserrat"/>
              <a:ea typeface="Montserrat"/>
              <a:cs typeface="Montserrat"/>
              <a:sym typeface="Montserrat"/>
            </a:endParaRPr>
          </a:p>
        </p:txBody>
      </p:sp>
      <p:cxnSp>
        <p:nvCxnSpPr>
          <p:cNvPr id="397" name="Google Shape;397;p17"/>
          <p:cNvCxnSpPr>
            <a:stCxn id="394" idx="3"/>
            <a:endCxn id="396" idx="1"/>
          </p:cNvCxnSpPr>
          <p:nvPr/>
        </p:nvCxnSpPr>
        <p:spPr>
          <a:xfrm flipH="1" rot="10800000">
            <a:off x="6114275" y="2072500"/>
            <a:ext cx="333600" cy="2700"/>
          </a:xfrm>
          <a:prstGeom prst="straightConnector1">
            <a:avLst/>
          </a:prstGeom>
          <a:noFill/>
          <a:ln cap="flat" cmpd="sng" w="9525">
            <a:solidFill>
              <a:srgbClr val="44546A"/>
            </a:solidFill>
            <a:prstDash val="solid"/>
            <a:round/>
            <a:headEnd len="sm" w="sm" type="none"/>
            <a:tailEnd len="med" w="med" type="triangle"/>
          </a:ln>
        </p:spPr>
      </p:cxnSp>
      <p:sp>
        <p:nvSpPr>
          <p:cNvPr id="398" name="Google Shape;398;p17"/>
          <p:cNvSpPr/>
          <p:nvPr/>
        </p:nvSpPr>
        <p:spPr>
          <a:xfrm>
            <a:off x="7633975" y="1683488"/>
            <a:ext cx="1197000" cy="795000"/>
          </a:xfrm>
          <a:prstGeom prst="rect">
            <a:avLst/>
          </a:prstGeom>
          <a:solidFill>
            <a:srgbClr val="FFFFFF"/>
          </a:solidFill>
          <a:ln>
            <a:noFill/>
          </a:ln>
          <a:effectLst>
            <a:outerShdw blurRad="157163" rotWithShape="0" algn="bl" dir="9060000" dist="9525">
              <a:srgbClr val="000000">
                <a:alpha val="14118"/>
              </a:srgbClr>
            </a:outerShdw>
          </a:effectLst>
        </p:spPr>
        <p:txBody>
          <a:bodyPr anchorCtr="0" anchor="b"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Hypercare</a:t>
            </a:r>
            <a:endParaRPr b="1" i="0" sz="900" u="none" cap="none" strike="noStrike">
              <a:solidFill>
                <a:srgbClr val="616161"/>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616161"/>
                </a:solidFill>
                <a:latin typeface="Montserrat"/>
                <a:ea typeface="Montserrat"/>
                <a:cs typeface="Montserrat"/>
                <a:sym typeface="Montserrat"/>
              </a:rPr>
              <a:t>Support</a:t>
            </a:r>
            <a:endParaRPr b="1" i="0" sz="900" u="none" cap="none" strike="noStrike">
              <a:solidFill>
                <a:srgbClr val="616161"/>
              </a:solidFill>
              <a:latin typeface="Montserrat"/>
              <a:ea typeface="Montserrat"/>
              <a:cs typeface="Montserrat"/>
              <a:sym typeface="Montserrat"/>
            </a:endParaRPr>
          </a:p>
        </p:txBody>
      </p:sp>
      <p:cxnSp>
        <p:nvCxnSpPr>
          <p:cNvPr id="399" name="Google Shape;399;p17"/>
          <p:cNvCxnSpPr/>
          <p:nvPr/>
        </p:nvCxnSpPr>
        <p:spPr>
          <a:xfrm>
            <a:off x="7237088" y="2071309"/>
            <a:ext cx="365700" cy="7800"/>
          </a:xfrm>
          <a:prstGeom prst="straightConnector1">
            <a:avLst/>
          </a:prstGeom>
          <a:noFill/>
          <a:ln cap="flat" cmpd="sng" w="9525">
            <a:solidFill>
              <a:srgbClr val="44546A"/>
            </a:solidFill>
            <a:prstDash val="solid"/>
            <a:round/>
            <a:headEnd len="sm" w="sm" type="none"/>
            <a:tailEnd len="med" w="med" type="triangle"/>
          </a:ln>
        </p:spPr>
      </p:cxnSp>
      <p:sp>
        <p:nvSpPr>
          <p:cNvPr id="400" name="Google Shape;400;p17"/>
          <p:cNvSpPr/>
          <p:nvPr/>
        </p:nvSpPr>
        <p:spPr>
          <a:xfrm>
            <a:off x="2374525" y="2817019"/>
            <a:ext cx="1054200" cy="320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1" name="Google Shape;401;p17"/>
          <p:cNvSpPr/>
          <p:nvPr/>
        </p:nvSpPr>
        <p:spPr>
          <a:xfrm>
            <a:off x="2374517" y="3276841"/>
            <a:ext cx="1054200" cy="320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2" name="Google Shape;402;p17"/>
          <p:cNvSpPr/>
          <p:nvPr/>
        </p:nvSpPr>
        <p:spPr>
          <a:xfrm>
            <a:off x="2374517" y="3727228"/>
            <a:ext cx="1054200" cy="2040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3" name="Google Shape;403;p17"/>
          <p:cNvSpPr/>
          <p:nvPr/>
        </p:nvSpPr>
        <p:spPr>
          <a:xfrm>
            <a:off x="4131026" y="3035164"/>
            <a:ext cx="620700" cy="161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4" name="Google Shape;404;p17"/>
          <p:cNvSpPr/>
          <p:nvPr/>
        </p:nvSpPr>
        <p:spPr>
          <a:xfrm>
            <a:off x="4131026" y="3299908"/>
            <a:ext cx="620700" cy="161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5" name="Google Shape;405;p17"/>
          <p:cNvSpPr/>
          <p:nvPr/>
        </p:nvSpPr>
        <p:spPr>
          <a:xfrm>
            <a:off x="4131026" y="3560703"/>
            <a:ext cx="620700" cy="161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6" name="Google Shape;406;p17"/>
          <p:cNvSpPr/>
          <p:nvPr/>
        </p:nvSpPr>
        <p:spPr>
          <a:xfrm>
            <a:off x="4131026" y="3813593"/>
            <a:ext cx="620700" cy="161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sp>
        <p:nvSpPr>
          <p:cNvPr id="407" name="Google Shape;407;p17"/>
          <p:cNvSpPr/>
          <p:nvPr/>
        </p:nvSpPr>
        <p:spPr>
          <a:xfrm>
            <a:off x="4131026" y="2766471"/>
            <a:ext cx="620700" cy="161400"/>
          </a:xfrm>
          <a:prstGeom prst="rect">
            <a:avLst/>
          </a:prstGeom>
          <a:solidFill>
            <a:srgbClr val="F2F2F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FFFFFF"/>
              </a:solidFill>
              <a:latin typeface="Calibri"/>
              <a:ea typeface="Calibri"/>
              <a:cs typeface="Calibri"/>
              <a:sym typeface="Calibri"/>
            </a:endParaRPr>
          </a:p>
        </p:txBody>
      </p:sp>
      <p:cxnSp>
        <p:nvCxnSpPr>
          <p:cNvPr id="408" name="Google Shape;408;p17"/>
          <p:cNvCxnSpPr/>
          <p:nvPr/>
        </p:nvCxnSpPr>
        <p:spPr>
          <a:xfrm>
            <a:off x="3992919" y="2867471"/>
            <a:ext cx="0" cy="1011600"/>
          </a:xfrm>
          <a:prstGeom prst="straightConnector1">
            <a:avLst/>
          </a:prstGeom>
          <a:noFill/>
          <a:ln cap="flat" cmpd="sng" w="12700">
            <a:solidFill>
              <a:srgbClr val="7F7F7F"/>
            </a:solidFill>
            <a:prstDash val="solid"/>
            <a:miter lim="8000"/>
            <a:headEnd len="sm" w="sm" type="none"/>
            <a:tailEnd len="sm" w="sm" type="none"/>
          </a:ln>
        </p:spPr>
      </p:cxnSp>
      <p:sp>
        <p:nvSpPr>
          <p:cNvPr id="409" name="Google Shape;409;p17"/>
          <p:cNvSpPr/>
          <p:nvPr/>
        </p:nvSpPr>
        <p:spPr>
          <a:xfrm>
            <a:off x="3804525" y="4077663"/>
            <a:ext cx="1202100" cy="433800"/>
          </a:xfrm>
          <a:prstGeom prst="rect">
            <a:avLst/>
          </a:prstGeom>
          <a:solidFill>
            <a:srgbClr val="F2F2F2"/>
          </a:solidFill>
          <a:ln cap="flat" cmpd="sng" w="9525">
            <a:solidFill>
              <a:srgbClr val="D8D8D8"/>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Iterative &amp; Incremental </a:t>
            </a:r>
            <a:endParaRPr b="0" i="0" sz="700" u="none" cap="none" strike="noStrike">
              <a:solidFill>
                <a:srgbClr val="000000"/>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Collaboration</a:t>
            </a:r>
            <a:endParaRPr b="0" i="0" sz="700" u="none" cap="none" strike="noStrike">
              <a:solidFill>
                <a:srgbClr val="FFFFFF"/>
              </a:solidFill>
              <a:latin typeface="Montserrat"/>
              <a:ea typeface="Montserrat"/>
              <a:cs typeface="Montserrat"/>
              <a:sym typeface="Montserrat"/>
            </a:endParaRPr>
          </a:p>
        </p:txBody>
      </p:sp>
      <p:sp>
        <p:nvSpPr>
          <p:cNvPr id="410" name="Google Shape;410;p17"/>
          <p:cNvSpPr/>
          <p:nvPr/>
        </p:nvSpPr>
        <p:spPr>
          <a:xfrm>
            <a:off x="2304491" y="3293825"/>
            <a:ext cx="1054200" cy="297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Test Framework Setup</a:t>
            </a:r>
            <a:endParaRPr b="0" i="0" sz="700" u="none" cap="none" strike="noStrike">
              <a:solidFill>
                <a:srgbClr val="000000"/>
              </a:solidFill>
              <a:latin typeface="Montserrat"/>
              <a:ea typeface="Montserrat"/>
              <a:cs typeface="Montserrat"/>
              <a:sym typeface="Montserrat"/>
            </a:endParaRPr>
          </a:p>
        </p:txBody>
      </p:sp>
      <p:sp>
        <p:nvSpPr>
          <p:cNvPr id="411" name="Google Shape;411;p17"/>
          <p:cNvSpPr/>
          <p:nvPr/>
        </p:nvSpPr>
        <p:spPr>
          <a:xfrm>
            <a:off x="2463228" y="3738183"/>
            <a:ext cx="8973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Dev &amp; CI Setup</a:t>
            </a:r>
            <a:endParaRPr b="0" i="0" sz="700" u="none" cap="none" strike="noStrike">
              <a:solidFill>
                <a:srgbClr val="000000"/>
              </a:solidFill>
              <a:latin typeface="Montserrat"/>
              <a:ea typeface="Montserrat"/>
              <a:cs typeface="Montserrat"/>
              <a:sym typeface="Montserrat"/>
            </a:endParaRPr>
          </a:p>
        </p:txBody>
      </p:sp>
      <p:sp>
        <p:nvSpPr>
          <p:cNvPr id="412" name="Google Shape;412;p17"/>
          <p:cNvSpPr/>
          <p:nvPr/>
        </p:nvSpPr>
        <p:spPr>
          <a:xfrm>
            <a:off x="2308793" y="4041178"/>
            <a:ext cx="1202100" cy="433800"/>
          </a:xfrm>
          <a:prstGeom prst="rect">
            <a:avLst/>
          </a:prstGeom>
          <a:solidFill>
            <a:srgbClr val="F2F2F2"/>
          </a:solidFill>
          <a:ln cap="flat" cmpd="sng" w="9525">
            <a:solidFill>
              <a:srgbClr val="D8D8D8"/>
            </a:solidFill>
            <a:prstDash val="solid"/>
            <a:miter lim="8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Project Setup &amp; Preparation</a:t>
            </a:r>
            <a:endParaRPr b="0" i="0" sz="700" u="none" cap="none" strike="noStrike">
              <a:solidFill>
                <a:srgbClr val="FFFFFF"/>
              </a:solidFill>
              <a:latin typeface="Montserrat"/>
              <a:ea typeface="Montserrat"/>
              <a:cs typeface="Montserrat"/>
              <a:sym typeface="Montserrat"/>
            </a:endParaRPr>
          </a:p>
        </p:txBody>
      </p:sp>
      <p:sp>
        <p:nvSpPr>
          <p:cNvPr id="413" name="Google Shape;413;p17"/>
          <p:cNvSpPr/>
          <p:nvPr/>
        </p:nvSpPr>
        <p:spPr>
          <a:xfrm>
            <a:off x="4155819" y="2755171"/>
            <a:ext cx="5769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Analyse</a:t>
            </a:r>
            <a:endParaRPr b="0" i="0" sz="700" u="none" cap="none" strike="noStrike">
              <a:solidFill>
                <a:srgbClr val="000000"/>
              </a:solidFill>
              <a:latin typeface="Montserrat"/>
              <a:ea typeface="Montserrat"/>
              <a:cs typeface="Montserrat"/>
              <a:sym typeface="Montserrat"/>
            </a:endParaRPr>
          </a:p>
        </p:txBody>
      </p:sp>
      <p:sp>
        <p:nvSpPr>
          <p:cNvPr id="414" name="Google Shape;414;p17"/>
          <p:cNvSpPr/>
          <p:nvPr/>
        </p:nvSpPr>
        <p:spPr>
          <a:xfrm>
            <a:off x="4190073" y="3018350"/>
            <a:ext cx="5085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Design</a:t>
            </a:r>
            <a:endParaRPr b="0" i="0" sz="700" u="none" cap="none" strike="noStrike">
              <a:solidFill>
                <a:srgbClr val="000000"/>
              </a:solidFill>
              <a:latin typeface="Montserrat"/>
              <a:ea typeface="Montserrat"/>
              <a:cs typeface="Montserrat"/>
              <a:sym typeface="Montserrat"/>
            </a:endParaRPr>
          </a:p>
        </p:txBody>
      </p:sp>
      <p:sp>
        <p:nvSpPr>
          <p:cNvPr id="415" name="Google Shape;415;p17"/>
          <p:cNvSpPr/>
          <p:nvPr/>
        </p:nvSpPr>
        <p:spPr>
          <a:xfrm>
            <a:off x="4125640" y="3285549"/>
            <a:ext cx="6480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Code</a:t>
            </a:r>
            <a:endParaRPr b="0" i="0" sz="700" u="none" cap="none" strike="noStrike">
              <a:solidFill>
                <a:srgbClr val="000000"/>
              </a:solidFill>
              <a:latin typeface="Montserrat"/>
              <a:ea typeface="Montserrat"/>
              <a:cs typeface="Montserrat"/>
              <a:sym typeface="Montserrat"/>
            </a:endParaRPr>
          </a:p>
        </p:txBody>
      </p:sp>
      <p:sp>
        <p:nvSpPr>
          <p:cNvPr id="416" name="Google Shape;416;p17"/>
          <p:cNvSpPr/>
          <p:nvPr/>
        </p:nvSpPr>
        <p:spPr>
          <a:xfrm>
            <a:off x="4279537" y="3537980"/>
            <a:ext cx="3294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Test</a:t>
            </a:r>
            <a:endParaRPr b="0" i="0" sz="700" u="none" cap="none" strike="noStrike">
              <a:solidFill>
                <a:srgbClr val="000000"/>
              </a:solidFill>
              <a:latin typeface="Montserrat"/>
              <a:ea typeface="Montserrat"/>
              <a:cs typeface="Montserrat"/>
              <a:sym typeface="Montserrat"/>
            </a:endParaRPr>
          </a:p>
        </p:txBody>
      </p:sp>
      <p:sp>
        <p:nvSpPr>
          <p:cNvPr id="417" name="Google Shape;417;p17"/>
          <p:cNvSpPr/>
          <p:nvPr/>
        </p:nvSpPr>
        <p:spPr>
          <a:xfrm>
            <a:off x="4156461" y="3790409"/>
            <a:ext cx="536100" cy="1752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Deploy</a:t>
            </a:r>
            <a:endParaRPr b="0" i="0" sz="700" u="none" cap="none" strike="noStrike">
              <a:solidFill>
                <a:srgbClr val="000000"/>
              </a:solidFill>
              <a:latin typeface="Montserrat"/>
              <a:ea typeface="Montserrat"/>
              <a:cs typeface="Montserrat"/>
              <a:sym typeface="Montserrat"/>
            </a:endParaRPr>
          </a:p>
        </p:txBody>
      </p:sp>
      <p:cxnSp>
        <p:nvCxnSpPr>
          <p:cNvPr id="418" name="Google Shape;418;p17"/>
          <p:cNvCxnSpPr/>
          <p:nvPr/>
        </p:nvCxnSpPr>
        <p:spPr>
          <a:xfrm flipH="1">
            <a:off x="4443986" y="2927883"/>
            <a:ext cx="1200" cy="105000"/>
          </a:xfrm>
          <a:prstGeom prst="straightConnector1">
            <a:avLst/>
          </a:prstGeom>
          <a:noFill/>
          <a:ln cap="flat" cmpd="sng" w="9525">
            <a:solidFill>
              <a:srgbClr val="616161"/>
            </a:solidFill>
            <a:prstDash val="solid"/>
            <a:miter lim="8000"/>
            <a:headEnd len="sm" w="sm" type="none"/>
            <a:tailEnd len="med" w="med" type="triangle"/>
          </a:ln>
        </p:spPr>
      </p:cxnSp>
      <p:cxnSp>
        <p:nvCxnSpPr>
          <p:cNvPr id="419" name="Google Shape;419;p17"/>
          <p:cNvCxnSpPr/>
          <p:nvPr/>
        </p:nvCxnSpPr>
        <p:spPr>
          <a:xfrm>
            <a:off x="3995621" y="2867471"/>
            <a:ext cx="147900" cy="0"/>
          </a:xfrm>
          <a:prstGeom prst="straightConnector1">
            <a:avLst/>
          </a:prstGeom>
          <a:noFill/>
          <a:ln cap="flat" cmpd="sng" w="9525">
            <a:solidFill>
              <a:srgbClr val="616161"/>
            </a:solidFill>
            <a:prstDash val="solid"/>
            <a:miter lim="8000"/>
            <a:headEnd len="sm" w="sm" type="none"/>
            <a:tailEnd len="med" w="med" type="triangle"/>
          </a:ln>
        </p:spPr>
      </p:cxnSp>
      <p:cxnSp>
        <p:nvCxnSpPr>
          <p:cNvPr id="420" name="Google Shape;420;p17"/>
          <p:cNvCxnSpPr/>
          <p:nvPr/>
        </p:nvCxnSpPr>
        <p:spPr>
          <a:xfrm>
            <a:off x="3992919" y="3881063"/>
            <a:ext cx="150900" cy="0"/>
          </a:xfrm>
          <a:prstGeom prst="straightConnector1">
            <a:avLst/>
          </a:prstGeom>
          <a:noFill/>
          <a:ln cap="flat" cmpd="sng" w="12700">
            <a:solidFill>
              <a:srgbClr val="7F7F7F"/>
            </a:solidFill>
            <a:prstDash val="solid"/>
            <a:miter lim="8000"/>
            <a:headEnd len="sm" w="sm" type="none"/>
            <a:tailEnd len="sm" w="sm" type="none"/>
          </a:ln>
        </p:spPr>
      </p:cxnSp>
      <p:sp>
        <p:nvSpPr>
          <p:cNvPr id="421" name="Google Shape;421;p17"/>
          <p:cNvSpPr/>
          <p:nvPr/>
        </p:nvSpPr>
        <p:spPr>
          <a:xfrm rot="-5400000">
            <a:off x="3694246" y="3254831"/>
            <a:ext cx="452400" cy="1626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600"/>
              <a:buFont typeface="Arial"/>
              <a:buNone/>
            </a:pPr>
            <a:r>
              <a:rPr b="0" i="0" lang="en" sz="600" u="none" cap="none" strike="noStrike">
                <a:solidFill>
                  <a:srgbClr val="000000"/>
                </a:solidFill>
                <a:latin typeface="Century Gothic"/>
                <a:ea typeface="Century Gothic"/>
                <a:cs typeface="Century Gothic"/>
                <a:sym typeface="Century Gothic"/>
              </a:rPr>
              <a:t>Repeat</a:t>
            </a:r>
            <a:endParaRPr b="0" i="0" sz="600" u="none" cap="none" strike="noStrike">
              <a:solidFill>
                <a:srgbClr val="000000"/>
              </a:solidFill>
              <a:latin typeface="Century Gothic"/>
              <a:ea typeface="Century Gothic"/>
              <a:cs typeface="Century Gothic"/>
              <a:sym typeface="Century Gothic"/>
            </a:endParaRPr>
          </a:p>
        </p:txBody>
      </p:sp>
      <p:cxnSp>
        <p:nvCxnSpPr>
          <p:cNvPr id="422" name="Google Shape;422;p17"/>
          <p:cNvCxnSpPr/>
          <p:nvPr/>
        </p:nvCxnSpPr>
        <p:spPr>
          <a:xfrm flipH="1">
            <a:off x="4443986" y="3192628"/>
            <a:ext cx="1200" cy="105000"/>
          </a:xfrm>
          <a:prstGeom prst="straightConnector1">
            <a:avLst/>
          </a:prstGeom>
          <a:noFill/>
          <a:ln cap="flat" cmpd="sng" w="9525">
            <a:solidFill>
              <a:srgbClr val="616161"/>
            </a:solidFill>
            <a:prstDash val="solid"/>
            <a:miter lim="8000"/>
            <a:headEnd len="sm" w="sm" type="none"/>
            <a:tailEnd len="med" w="med" type="triangle"/>
          </a:ln>
        </p:spPr>
      </p:cxnSp>
      <p:cxnSp>
        <p:nvCxnSpPr>
          <p:cNvPr id="423" name="Google Shape;423;p17"/>
          <p:cNvCxnSpPr/>
          <p:nvPr/>
        </p:nvCxnSpPr>
        <p:spPr>
          <a:xfrm flipH="1">
            <a:off x="4443986" y="3457373"/>
            <a:ext cx="1200" cy="105000"/>
          </a:xfrm>
          <a:prstGeom prst="straightConnector1">
            <a:avLst/>
          </a:prstGeom>
          <a:noFill/>
          <a:ln cap="flat" cmpd="sng" w="9525">
            <a:solidFill>
              <a:srgbClr val="616161"/>
            </a:solidFill>
            <a:prstDash val="solid"/>
            <a:miter lim="8000"/>
            <a:headEnd len="sm" w="sm" type="none"/>
            <a:tailEnd len="med" w="med" type="triangle"/>
          </a:ln>
        </p:spPr>
      </p:cxnSp>
      <p:cxnSp>
        <p:nvCxnSpPr>
          <p:cNvPr id="424" name="Google Shape;424;p17"/>
          <p:cNvCxnSpPr/>
          <p:nvPr/>
        </p:nvCxnSpPr>
        <p:spPr>
          <a:xfrm flipH="1">
            <a:off x="4443986" y="3714215"/>
            <a:ext cx="1200" cy="105000"/>
          </a:xfrm>
          <a:prstGeom prst="straightConnector1">
            <a:avLst/>
          </a:prstGeom>
          <a:noFill/>
          <a:ln cap="flat" cmpd="sng" w="9525">
            <a:solidFill>
              <a:srgbClr val="616161"/>
            </a:solidFill>
            <a:prstDash val="solid"/>
            <a:miter lim="8000"/>
            <a:headEnd len="sm" w="sm" type="none"/>
            <a:tailEnd len="med" w="med" type="triangle"/>
          </a:ln>
        </p:spPr>
      </p:cxnSp>
      <p:pic>
        <p:nvPicPr>
          <p:cNvPr id="425" name="Google Shape;425;p17"/>
          <p:cNvPicPr preferRelativeResize="0"/>
          <p:nvPr/>
        </p:nvPicPr>
        <p:blipFill rotWithShape="1">
          <a:blip r:embed="rId3">
            <a:alphaModFix/>
          </a:blip>
          <a:srcRect b="20805" l="17274" r="12333" t="17276"/>
          <a:stretch/>
        </p:blipFill>
        <p:spPr>
          <a:xfrm>
            <a:off x="2755125" y="1771113"/>
            <a:ext cx="228668" cy="211275"/>
          </a:xfrm>
          <a:prstGeom prst="rect">
            <a:avLst/>
          </a:prstGeom>
          <a:noFill/>
          <a:ln>
            <a:noFill/>
          </a:ln>
        </p:spPr>
      </p:pic>
      <p:pic>
        <p:nvPicPr>
          <p:cNvPr id="426" name="Google Shape;426;p17"/>
          <p:cNvPicPr preferRelativeResize="0"/>
          <p:nvPr/>
        </p:nvPicPr>
        <p:blipFill rotWithShape="1">
          <a:blip r:embed="rId4">
            <a:alphaModFix/>
          </a:blip>
          <a:srcRect b="0" l="0" r="0" t="0"/>
          <a:stretch/>
        </p:blipFill>
        <p:spPr>
          <a:xfrm>
            <a:off x="5605313" y="1880725"/>
            <a:ext cx="228675" cy="228675"/>
          </a:xfrm>
          <a:prstGeom prst="rect">
            <a:avLst/>
          </a:prstGeom>
          <a:noFill/>
          <a:ln>
            <a:noFill/>
          </a:ln>
        </p:spPr>
      </p:pic>
      <p:pic>
        <p:nvPicPr>
          <p:cNvPr id="427" name="Google Shape;427;p17"/>
          <p:cNvPicPr preferRelativeResize="0"/>
          <p:nvPr/>
        </p:nvPicPr>
        <p:blipFill rotWithShape="1">
          <a:blip r:embed="rId5">
            <a:alphaModFix/>
          </a:blip>
          <a:srcRect b="0" l="0" r="0" t="0"/>
          <a:stretch/>
        </p:blipFill>
        <p:spPr>
          <a:xfrm>
            <a:off x="6691264" y="1886352"/>
            <a:ext cx="365700" cy="217409"/>
          </a:xfrm>
          <a:prstGeom prst="rect">
            <a:avLst/>
          </a:prstGeom>
          <a:noFill/>
          <a:ln>
            <a:noFill/>
          </a:ln>
        </p:spPr>
      </p:pic>
      <p:pic>
        <p:nvPicPr>
          <p:cNvPr id="428" name="Google Shape;428;p17"/>
          <p:cNvPicPr preferRelativeResize="0"/>
          <p:nvPr/>
        </p:nvPicPr>
        <p:blipFill rotWithShape="1">
          <a:blip r:embed="rId6">
            <a:alphaModFix/>
          </a:blip>
          <a:srcRect b="0" l="0" r="0" t="0"/>
          <a:stretch/>
        </p:blipFill>
        <p:spPr>
          <a:xfrm>
            <a:off x="8118138" y="1785736"/>
            <a:ext cx="228675" cy="228675"/>
          </a:xfrm>
          <a:prstGeom prst="rect">
            <a:avLst/>
          </a:prstGeom>
          <a:noFill/>
          <a:ln>
            <a:noFill/>
          </a:ln>
        </p:spPr>
      </p:pic>
      <p:grpSp>
        <p:nvGrpSpPr>
          <p:cNvPr id="429" name="Google Shape;429;p17"/>
          <p:cNvGrpSpPr/>
          <p:nvPr/>
        </p:nvGrpSpPr>
        <p:grpSpPr>
          <a:xfrm>
            <a:off x="308754" y="1982358"/>
            <a:ext cx="1734192" cy="256660"/>
            <a:chOff x="530597" y="1659894"/>
            <a:chExt cx="1541778" cy="210931"/>
          </a:xfrm>
        </p:grpSpPr>
        <p:sp>
          <p:nvSpPr>
            <p:cNvPr id="430" name="Google Shape;430;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Project Manager/Business Analyst</a:t>
              </a:r>
              <a:endParaRPr b="0" i="0" sz="800" u="none" cap="none" strike="noStrike">
                <a:solidFill>
                  <a:srgbClr val="000000"/>
                </a:solidFill>
                <a:latin typeface="Montserrat"/>
                <a:ea typeface="Montserrat"/>
                <a:cs typeface="Montserrat"/>
                <a:sym typeface="Montserrat"/>
              </a:endParaRPr>
            </a:p>
          </p:txBody>
        </p:sp>
        <p:pic>
          <p:nvPicPr>
            <p:cNvPr id="431" name="Google Shape;431;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sp>
        <p:nvSpPr>
          <p:cNvPr id="432" name="Google Shape;432;p17"/>
          <p:cNvSpPr txBox="1"/>
          <p:nvPr/>
        </p:nvSpPr>
        <p:spPr>
          <a:xfrm>
            <a:off x="2538875" y="980525"/>
            <a:ext cx="4908300" cy="338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chemeClr val="accent2"/>
                </a:solidFill>
                <a:latin typeface="Montserrat"/>
                <a:ea typeface="Montserrat"/>
                <a:cs typeface="Montserrat"/>
                <a:sym typeface="Montserrat"/>
              </a:rPr>
              <a:t>Agile Based iterative Development Approach</a:t>
            </a:r>
            <a:endParaRPr b="1" i="0" sz="1000" u="none" cap="none" strike="noStrike">
              <a:solidFill>
                <a:schemeClr val="accent2"/>
              </a:solidFill>
              <a:latin typeface="Montserrat"/>
              <a:ea typeface="Montserrat"/>
              <a:cs typeface="Montserrat"/>
              <a:sym typeface="Montserrat"/>
            </a:endParaRPr>
          </a:p>
        </p:txBody>
      </p:sp>
      <p:sp>
        <p:nvSpPr>
          <p:cNvPr id="433" name="Google Shape;433;p17"/>
          <p:cNvSpPr txBox="1"/>
          <p:nvPr/>
        </p:nvSpPr>
        <p:spPr>
          <a:xfrm>
            <a:off x="-241825" y="1505825"/>
            <a:ext cx="3000000" cy="323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chemeClr val="accent2"/>
                </a:solidFill>
                <a:latin typeface="Montserrat"/>
                <a:ea typeface="Montserrat"/>
                <a:cs typeface="Montserrat"/>
                <a:sym typeface="Montserrat"/>
              </a:rPr>
              <a:t>TTN Engineering Team</a:t>
            </a:r>
            <a:endParaRPr b="1" i="0" sz="900" u="none" cap="none" strike="noStrike">
              <a:solidFill>
                <a:schemeClr val="accent2"/>
              </a:solidFill>
              <a:latin typeface="Montserrat"/>
              <a:ea typeface="Montserrat"/>
              <a:cs typeface="Montserrat"/>
              <a:sym typeface="Montserrat"/>
            </a:endParaRPr>
          </a:p>
        </p:txBody>
      </p:sp>
      <p:sp>
        <p:nvSpPr>
          <p:cNvPr id="434" name="Google Shape;434;p17"/>
          <p:cNvSpPr/>
          <p:nvPr/>
        </p:nvSpPr>
        <p:spPr>
          <a:xfrm>
            <a:off x="2344200" y="2880388"/>
            <a:ext cx="1013700" cy="26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Tech &amp; Functional Discovery</a:t>
            </a:r>
            <a:endParaRPr b="0" i="0" sz="700" u="none" cap="none" strike="noStrike">
              <a:solidFill>
                <a:srgbClr val="000000"/>
              </a:solidFill>
              <a:latin typeface="Montserrat"/>
              <a:ea typeface="Montserrat"/>
              <a:cs typeface="Montserrat"/>
              <a:sym typeface="Montserrat"/>
            </a:endParaRPr>
          </a:p>
        </p:txBody>
      </p:sp>
      <p:grpSp>
        <p:nvGrpSpPr>
          <p:cNvPr id="435" name="Google Shape;435;p17"/>
          <p:cNvGrpSpPr/>
          <p:nvPr/>
        </p:nvGrpSpPr>
        <p:grpSpPr>
          <a:xfrm>
            <a:off x="298800" y="2292174"/>
            <a:ext cx="1734192" cy="256660"/>
            <a:chOff x="530597" y="1659894"/>
            <a:chExt cx="1541778" cy="210931"/>
          </a:xfrm>
        </p:grpSpPr>
        <p:sp>
          <p:nvSpPr>
            <p:cNvPr id="436" name="Google Shape;436;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Technical lead</a:t>
              </a:r>
              <a:endParaRPr b="0" i="0" sz="800" u="none" cap="none" strike="noStrike">
                <a:solidFill>
                  <a:srgbClr val="000000"/>
                </a:solidFill>
                <a:latin typeface="Montserrat"/>
                <a:ea typeface="Montserrat"/>
                <a:cs typeface="Montserrat"/>
                <a:sym typeface="Montserrat"/>
              </a:endParaRPr>
            </a:p>
          </p:txBody>
        </p:sp>
        <p:pic>
          <p:nvPicPr>
            <p:cNvPr id="437" name="Google Shape;437;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grpSp>
        <p:nvGrpSpPr>
          <p:cNvPr id="438" name="Google Shape;438;p17"/>
          <p:cNvGrpSpPr/>
          <p:nvPr/>
        </p:nvGrpSpPr>
        <p:grpSpPr>
          <a:xfrm>
            <a:off x="308757" y="2617640"/>
            <a:ext cx="1734192" cy="256660"/>
            <a:chOff x="530597" y="1659894"/>
            <a:chExt cx="1541778" cy="210931"/>
          </a:xfrm>
        </p:grpSpPr>
        <p:sp>
          <p:nvSpPr>
            <p:cNvPr id="439" name="Google Shape;439;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DevOps Experts</a:t>
              </a:r>
              <a:endParaRPr b="0" i="0" sz="800" u="none" cap="none" strike="noStrike">
                <a:solidFill>
                  <a:srgbClr val="000000"/>
                </a:solidFill>
                <a:latin typeface="Montserrat"/>
                <a:ea typeface="Montserrat"/>
                <a:cs typeface="Montserrat"/>
                <a:sym typeface="Montserrat"/>
              </a:endParaRPr>
            </a:p>
          </p:txBody>
        </p:sp>
        <p:pic>
          <p:nvPicPr>
            <p:cNvPr id="440" name="Google Shape;440;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grpSp>
        <p:nvGrpSpPr>
          <p:cNvPr id="441" name="Google Shape;441;p17"/>
          <p:cNvGrpSpPr/>
          <p:nvPr/>
        </p:nvGrpSpPr>
        <p:grpSpPr>
          <a:xfrm>
            <a:off x="298803" y="2943091"/>
            <a:ext cx="1734192" cy="256660"/>
            <a:chOff x="530597" y="1659894"/>
            <a:chExt cx="1541778" cy="210931"/>
          </a:xfrm>
        </p:grpSpPr>
        <p:sp>
          <p:nvSpPr>
            <p:cNvPr id="442" name="Google Shape;442;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Ui/UX Expert</a:t>
              </a:r>
              <a:endParaRPr b="0" i="0" sz="800" u="none" cap="none" strike="noStrike">
                <a:solidFill>
                  <a:srgbClr val="000000"/>
                </a:solidFill>
                <a:latin typeface="Montserrat"/>
                <a:ea typeface="Montserrat"/>
                <a:cs typeface="Montserrat"/>
                <a:sym typeface="Montserrat"/>
              </a:endParaRPr>
            </a:p>
          </p:txBody>
        </p:sp>
        <p:pic>
          <p:nvPicPr>
            <p:cNvPr id="443" name="Google Shape;443;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grpSp>
        <p:nvGrpSpPr>
          <p:cNvPr id="444" name="Google Shape;444;p17"/>
          <p:cNvGrpSpPr/>
          <p:nvPr/>
        </p:nvGrpSpPr>
        <p:grpSpPr>
          <a:xfrm>
            <a:off x="298803" y="3281643"/>
            <a:ext cx="1734192" cy="256660"/>
            <a:chOff x="530597" y="1659894"/>
            <a:chExt cx="1541778" cy="210931"/>
          </a:xfrm>
        </p:grpSpPr>
        <p:sp>
          <p:nvSpPr>
            <p:cNvPr id="445" name="Google Shape;445;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Mobility Developer</a:t>
              </a:r>
              <a:endParaRPr b="0" i="0" sz="800" u="none" cap="none" strike="noStrike">
                <a:solidFill>
                  <a:srgbClr val="000000"/>
                </a:solidFill>
                <a:latin typeface="Montserrat"/>
                <a:ea typeface="Montserrat"/>
                <a:cs typeface="Montserrat"/>
                <a:sym typeface="Montserrat"/>
              </a:endParaRPr>
            </a:p>
          </p:txBody>
        </p:sp>
        <p:pic>
          <p:nvPicPr>
            <p:cNvPr id="446" name="Google Shape;446;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grpSp>
        <p:nvGrpSpPr>
          <p:cNvPr id="447" name="Google Shape;447;p17"/>
          <p:cNvGrpSpPr/>
          <p:nvPr/>
        </p:nvGrpSpPr>
        <p:grpSpPr>
          <a:xfrm>
            <a:off x="298803" y="3624423"/>
            <a:ext cx="1734192" cy="256660"/>
            <a:chOff x="530597" y="1659894"/>
            <a:chExt cx="1541778" cy="210931"/>
          </a:xfrm>
        </p:grpSpPr>
        <p:sp>
          <p:nvSpPr>
            <p:cNvPr id="448" name="Google Shape;448;p17"/>
            <p:cNvSpPr txBox="1"/>
            <p:nvPr/>
          </p:nvSpPr>
          <p:spPr>
            <a:xfrm>
              <a:off x="765875" y="1666825"/>
              <a:ext cx="1306500" cy="204000"/>
            </a:xfrm>
            <a:prstGeom prst="rect">
              <a:avLst/>
            </a:prstGeom>
            <a:solidFill>
              <a:srgbClr val="F3F3F3"/>
            </a:solidFill>
            <a:ln cap="flat" cmpd="sng" w="9525">
              <a:solidFill>
                <a:srgbClr val="EFEFE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000000"/>
                  </a:solidFill>
                  <a:latin typeface="Montserrat"/>
                  <a:ea typeface="Montserrat"/>
                  <a:cs typeface="Montserrat"/>
                  <a:sym typeface="Montserrat"/>
                </a:rPr>
                <a:t>Quality Analyst</a:t>
              </a:r>
              <a:endParaRPr b="0" i="0" sz="800" u="none" cap="none" strike="noStrike">
                <a:solidFill>
                  <a:srgbClr val="000000"/>
                </a:solidFill>
                <a:latin typeface="Montserrat"/>
                <a:ea typeface="Montserrat"/>
                <a:cs typeface="Montserrat"/>
                <a:sym typeface="Montserrat"/>
              </a:endParaRPr>
            </a:p>
          </p:txBody>
        </p:sp>
        <p:pic>
          <p:nvPicPr>
            <p:cNvPr id="449" name="Google Shape;449;p17"/>
            <p:cNvPicPr preferRelativeResize="0"/>
            <p:nvPr/>
          </p:nvPicPr>
          <p:blipFill rotWithShape="1">
            <a:blip r:embed="rId7">
              <a:alphaModFix/>
            </a:blip>
            <a:srcRect b="0" l="0" r="0" t="0"/>
            <a:stretch/>
          </p:blipFill>
          <p:spPr>
            <a:xfrm>
              <a:off x="530597" y="1659894"/>
              <a:ext cx="156625" cy="197711"/>
            </a:xfrm>
            <a:prstGeom prst="rect">
              <a:avLst/>
            </a:prstGeom>
            <a:noFill/>
            <a:ln>
              <a:noFill/>
            </a:ln>
          </p:spPr>
        </p:pic>
      </p:grpSp>
      <p:sp>
        <p:nvSpPr>
          <p:cNvPr id="450" name="Google Shape;450;p17"/>
          <p:cNvSpPr txBox="1"/>
          <p:nvPr/>
        </p:nvSpPr>
        <p:spPr>
          <a:xfrm>
            <a:off x="5325050" y="2625250"/>
            <a:ext cx="3480300" cy="1313700"/>
          </a:xfrm>
          <a:prstGeom prst="rect">
            <a:avLst/>
          </a:prstGeom>
          <a:solidFill>
            <a:srgbClr val="FFFFFF"/>
          </a:solidFill>
          <a:ln cap="flat" cmpd="sng" w="9525">
            <a:solidFill>
              <a:srgbClr val="EFEFEF"/>
            </a:solidFill>
            <a:prstDash val="solid"/>
            <a:round/>
            <a:headEnd len="sm" w="sm" type="none"/>
            <a:tailEnd len="sm" w="sm" type="none"/>
          </a:ln>
          <a:effectLst>
            <a:outerShdw blurRad="157163" rotWithShape="0" algn="bl" dir="9060000" dist="9525">
              <a:srgbClr val="000000">
                <a:alpha val="14118"/>
              </a:srgbClr>
            </a:outerShdw>
          </a:effectLst>
        </p:spPr>
        <p:txBody>
          <a:bodyPr anchorCtr="0" anchor="t" bIns="91425" lIns="91425" spcFirstLastPara="1" rIns="91425" wrap="square" tIns="91425">
            <a:spAutoFit/>
          </a:bodyPr>
          <a:lstStyle/>
          <a:p>
            <a:pPr indent="0" lvl="0" marL="0" marR="0" rtl="0" algn="l">
              <a:lnSpc>
                <a:spcPct val="115000"/>
              </a:lnSpc>
              <a:spcBef>
                <a:spcPts val="0"/>
              </a:spcBef>
              <a:spcAft>
                <a:spcPts val="0"/>
              </a:spcAft>
              <a:buClr>
                <a:srgbClr val="000000"/>
              </a:buClr>
              <a:buSzPts val="900"/>
              <a:buFont typeface="Arial"/>
              <a:buNone/>
            </a:pPr>
            <a:r>
              <a:rPr b="1" i="0" lang="en" sz="900" u="none" cap="none" strike="noStrike">
                <a:solidFill>
                  <a:srgbClr val="CE005C"/>
                </a:solidFill>
                <a:latin typeface="Montserrat"/>
                <a:ea typeface="Montserrat"/>
                <a:cs typeface="Montserrat"/>
                <a:sym typeface="Montserrat"/>
              </a:rPr>
              <a:t>Key Program Deliverables</a:t>
            </a:r>
            <a:endParaRPr b="1" i="0" sz="900" u="none" cap="none" strike="noStrike">
              <a:solidFill>
                <a:srgbClr val="CE005C"/>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Project Charter</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RAID Register</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Sprint Report</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Project Plan</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Arch. &amp; Design Document</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Test Strategy document &amp; Test Cases</a:t>
            </a:r>
            <a:endParaRPr b="0" i="0" sz="900" u="none" cap="none" strike="noStrike">
              <a:solidFill>
                <a:srgbClr val="000000"/>
              </a:solidFill>
              <a:latin typeface="Montserrat"/>
              <a:ea typeface="Montserrat"/>
              <a:cs typeface="Montserrat"/>
              <a:sym typeface="Montserrat"/>
            </a:endParaRPr>
          </a:p>
          <a:p>
            <a:pPr indent="-285750" lvl="0" marL="457200" marR="0" rtl="0" algn="l">
              <a:lnSpc>
                <a:spcPct val="100000"/>
              </a:lnSpc>
              <a:spcBef>
                <a:spcPts val="0"/>
              </a:spcBef>
              <a:spcAft>
                <a:spcPts val="0"/>
              </a:spcAft>
              <a:buClr>
                <a:schemeClr val="lt2"/>
              </a:buClr>
              <a:buSzPts val="900"/>
              <a:buFont typeface="Montserrat"/>
              <a:buChar char="●"/>
            </a:pPr>
            <a:r>
              <a:rPr b="0" i="0" lang="en" sz="900" u="none" cap="none" strike="noStrike">
                <a:solidFill>
                  <a:srgbClr val="000000"/>
                </a:solidFill>
                <a:latin typeface="Montserrat"/>
                <a:ea typeface="Montserrat"/>
                <a:cs typeface="Montserrat"/>
                <a:sym typeface="Montserrat"/>
              </a:rPr>
              <a:t>Focused Trainings (where applicable)</a:t>
            </a:r>
            <a:endParaRPr b="0" i="0" sz="900" u="none" cap="none" strike="noStrike">
              <a:solidFill>
                <a:srgbClr val="000000"/>
              </a:solidFill>
              <a:latin typeface="Montserrat"/>
              <a:ea typeface="Montserrat"/>
              <a:cs typeface="Montserrat"/>
              <a:sym typeface="Montserrat"/>
            </a:endParaRPr>
          </a:p>
        </p:txBody>
      </p:sp>
      <p:sp>
        <p:nvSpPr>
          <p:cNvPr id="451" name="Google Shape;451;p17"/>
          <p:cNvSpPr txBox="1"/>
          <p:nvPr>
            <p:ph idx="12" type="sldNum"/>
          </p:nvPr>
        </p:nvSpPr>
        <p:spPr>
          <a:xfrm>
            <a:off x="8556784" y="6333134"/>
            <a:ext cx="548700" cy="5250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latin typeface="Montserrat"/>
                <a:ea typeface="Montserrat"/>
                <a:cs typeface="Montserrat"/>
                <a:sym typeface="Montserrat"/>
              </a:rPr>
              <a:t>‹#›</a:t>
            </a:fld>
            <a:endParaRPr sz="1000">
              <a:latin typeface="Montserrat"/>
              <a:ea typeface="Montserrat"/>
              <a:cs typeface="Montserrat"/>
              <a:sym typeface="Montserrat"/>
            </a:endParaRPr>
          </a:p>
        </p:txBody>
      </p:sp>
      <p:sp>
        <p:nvSpPr>
          <p:cNvPr id="452" name="Google Shape;452;p1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18"/>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Project Governance Model</a:t>
            </a:r>
            <a:endParaRPr b="1" i="0" sz="2000" u="none" cap="none" strike="noStrike">
              <a:solidFill>
                <a:schemeClr val="dk1"/>
              </a:solidFill>
              <a:latin typeface="Montserrat"/>
              <a:ea typeface="Montserrat"/>
              <a:cs typeface="Montserrat"/>
              <a:sym typeface="Montserrat"/>
            </a:endParaRPr>
          </a:p>
        </p:txBody>
      </p:sp>
      <p:sp>
        <p:nvSpPr>
          <p:cNvPr id="458" name="Google Shape;458;p18"/>
          <p:cNvSpPr/>
          <p:nvPr/>
        </p:nvSpPr>
        <p:spPr>
          <a:xfrm>
            <a:off x="406550" y="2890925"/>
            <a:ext cx="8032800" cy="2023500"/>
          </a:xfrm>
          <a:prstGeom prst="snip1Rect">
            <a:avLst>
              <a:gd fmla="val 8163" name="adj"/>
            </a:avLst>
          </a:prstGeom>
          <a:solidFill>
            <a:srgbClr val="FFFFFF"/>
          </a:solidFill>
          <a:ln cap="flat" cmpd="sng" w="9525">
            <a:solidFill>
              <a:srgbClr val="6F3A93"/>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459" name="Google Shape;459;p18"/>
          <p:cNvSpPr/>
          <p:nvPr/>
        </p:nvSpPr>
        <p:spPr>
          <a:xfrm>
            <a:off x="6340857" y="3106350"/>
            <a:ext cx="1684800" cy="1701600"/>
          </a:xfrm>
          <a:prstGeom prst="snip1Rect">
            <a:avLst>
              <a:gd fmla="val 816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460" name="Google Shape;460;p18"/>
          <p:cNvSpPr/>
          <p:nvPr/>
        </p:nvSpPr>
        <p:spPr>
          <a:xfrm>
            <a:off x="6822582" y="1602888"/>
            <a:ext cx="2121000" cy="801000"/>
          </a:xfrm>
          <a:prstGeom prst="snip1Rect">
            <a:avLst>
              <a:gd fmla="val 816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461" name="Google Shape;461;p18"/>
          <p:cNvSpPr/>
          <p:nvPr/>
        </p:nvSpPr>
        <p:spPr>
          <a:xfrm>
            <a:off x="330332" y="2029610"/>
            <a:ext cx="6291000" cy="497400"/>
          </a:xfrm>
          <a:prstGeom prst="snip1Rect">
            <a:avLst>
              <a:gd fmla="val 816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sp>
        <p:nvSpPr>
          <p:cNvPr id="462" name="Google Shape;462;p18"/>
          <p:cNvSpPr/>
          <p:nvPr/>
        </p:nvSpPr>
        <p:spPr>
          <a:xfrm>
            <a:off x="317407" y="1296319"/>
            <a:ext cx="6291000" cy="444300"/>
          </a:xfrm>
          <a:prstGeom prst="snip1Rect">
            <a:avLst>
              <a:gd fmla="val 816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t/>
            </a:r>
            <a:endParaRPr b="0" i="0" sz="1200" u="none" cap="none" strike="noStrike">
              <a:solidFill>
                <a:srgbClr val="000000"/>
              </a:solidFill>
              <a:latin typeface="Montserrat"/>
              <a:ea typeface="Montserrat"/>
              <a:cs typeface="Montserrat"/>
              <a:sym typeface="Montserrat"/>
            </a:endParaRPr>
          </a:p>
        </p:txBody>
      </p:sp>
      <p:cxnSp>
        <p:nvCxnSpPr>
          <p:cNvPr id="463" name="Google Shape;463;p18"/>
          <p:cNvCxnSpPr/>
          <p:nvPr/>
        </p:nvCxnSpPr>
        <p:spPr>
          <a:xfrm rot="10800000">
            <a:off x="6694101" y="1402153"/>
            <a:ext cx="1177500" cy="211500"/>
          </a:xfrm>
          <a:prstGeom prst="bentConnector3">
            <a:avLst>
              <a:gd fmla="val -748" name="adj1"/>
            </a:avLst>
          </a:prstGeom>
          <a:noFill/>
          <a:ln cap="flat" cmpd="sng" w="9525">
            <a:solidFill>
              <a:srgbClr val="B7B7B7"/>
            </a:solidFill>
            <a:prstDash val="solid"/>
            <a:round/>
            <a:headEnd len="med" w="med" type="oval"/>
            <a:tailEnd len="med" w="med" type="oval"/>
          </a:ln>
        </p:spPr>
      </p:cxnSp>
      <p:sp>
        <p:nvSpPr>
          <p:cNvPr id="464" name="Google Shape;464;p18"/>
          <p:cNvSpPr/>
          <p:nvPr/>
        </p:nvSpPr>
        <p:spPr>
          <a:xfrm>
            <a:off x="1641650" y="3353226"/>
            <a:ext cx="4595100" cy="1180800"/>
          </a:xfrm>
          <a:prstGeom prst="roundRect">
            <a:avLst>
              <a:gd fmla="val 5116" name="adj"/>
            </a:avLst>
          </a:prstGeom>
          <a:solidFill>
            <a:srgbClr val="F3F3F3"/>
          </a:solidFill>
          <a:ln cap="flat" cmpd="sng" w="9525">
            <a:solidFill>
              <a:srgbClr val="F3F3F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18"/>
          <p:cNvSpPr/>
          <p:nvPr/>
        </p:nvSpPr>
        <p:spPr>
          <a:xfrm>
            <a:off x="1988934" y="3446717"/>
            <a:ext cx="1334100" cy="1014300"/>
          </a:xfrm>
          <a:prstGeom prst="roundRect">
            <a:avLst>
              <a:gd fmla="val 5116" name="adj"/>
            </a:avLst>
          </a:prstGeom>
          <a:solidFill>
            <a:srgbClr val="FFFFFF"/>
          </a:solidFill>
          <a:ln cap="flat" cmpd="sng" w="9525">
            <a:solidFill>
              <a:srgbClr val="CC006C"/>
            </a:solidFill>
            <a:prstDash val="dot"/>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8"/>
          <p:cNvSpPr txBox="1"/>
          <p:nvPr/>
        </p:nvSpPr>
        <p:spPr>
          <a:xfrm>
            <a:off x="1988925" y="3507010"/>
            <a:ext cx="1334100" cy="431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000000"/>
                </a:solidFill>
                <a:latin typeface="Montserrat"/>
                <a:ea typeface="Montserrat"/>
                <a:cs typeface="Montserrat"/>
                <a:sym typeface="Montserrat"/>
              </a:rPr>
              <a:t>Racing Queensland Stakeholders</a:t>
            </a:r>
            <a:endParaRPr b="1" i="0" sz="800" u="none" cap="none" strike="noStrike">
              <a:solidFill>
                <a:srgbClr val="000000"/>
              </a:solidFill>
              <a:latin typeface="Montserrat"/>
              <a:ea typeface="Montserrat"/>
              <a:cs typeface="Montserrat"/>
              <a:sym typeface="Montserrat"/>
            </a:endParaRPr>
          </a:p>
        </p:txBody>
      </p:sp>
      <p:pic>
        <p:nvPicPr>
          <p:cNvPr id="467" name="Google Shape;467;p18"/>
          <p:cNvPicPr preferRelativeResize="0"/>
          <p:nvPr/>
        </p:nvPicPr>
        <p:blipFill rotWithShape="1">
          <a:blip r:embed="rId3">
            <a:alphaModFix/>
          </a:blip>
          <a:srcRect b="0" l="0" r="0" t="0"/>
          <a:stretch/>
        </p:blipFill>
        <p:spPr>
          <a:xfrm>
            <a:off x="2396311" y="3951547"/>
            <a:ext cx="519140" cy="306875"/>
          </a:xfrm>
          <a:prstGeom prst="rect">
            <a:avLst/>
          </a:prstGeom>
          <a:noFill/>
          <a:ln>
            <a:noFill/>
          </a:ln>
        </p:spPr>
      </p:pic>
      <p:pic>
        <p:nvPicPr>
          <p:cNvPr id="468" name="Google Shape;468;p18"/>
          <p:cNvPicPr preferRelativeResize="0"/>
          <p:nvPr/>
        </p:nvPicPr>
        <p:blipFill rotWithShape="1">
          <a:blip r:embed="rId4">
            <a:alphaModFix/>
          </a:blip>
          <a:srcRect b="0" l="0" r="0" t="0"/>
          <a:stretch/>
        </p:blipFill>
        <p:spPr>
          <a:xfrm>
            <a:off x="3599434" y="3917769"/>
            <a:ext cx="252974" cy="257791"/>
          </a:xfrm>
          <a:prstGeom prst="rect">
            <a:avLst/>
          </a:prstGeom>
          <a:noFill/>
          <a:ln>
            <a:noFill/>
          </a:ln>
        </p:spPr>
      </p:pic>
      <p:cxnSp>
        <p:nvCxnSpPr>
          <p:cNvPr id="469" name="Google Shape;469;p18"/>
          <p:cNvCxnSpPr/>
          <p:nvPr/>
        </p:nvCxnSpPr>
        <p:spPr>
          <a:xfrm rot="10800000">
            <a:off x="3852626" y="4030223"/>
            <a:ext cx="276600" cy="0"/>
          </a:xfrm>
          <a:prstGeom prst="straightConnector1">
            <a:avLst/>
          </a:prstGeom>
          <a:noFill/>
          <a:ln cap="flat" cmpd="sng" w="9525">
            <a:solidFill>
              <a:srgbClr val="999999"/>
            </a:solidFill>
            <a:prstDash val="solid"/>
            <a:round/>
            <a:headEnd len="sm" w="sm" type="none"/>
            <a:tailEnd len="sm" w="sm" type="none"/>
          </a:ln>
        </p:spPr>
      </p:cxnSp>
      <p:sp>
        <p:nvSpPr>
          <p:cNvPr id="470" name="Google Shape;470;p18"/>
          <p:cNvSpPr/>
          <p:nvPr/>
        </p:nvSpPr>
        <p:spPr>
          <a:xfrm>
            <a:off x="7325193" y="3938946"/>
            <a:ext cx="291000" cy="222900"/>
          </a:xfrm>
          <a:custGeom>
            <a:rect b="b" l="l" r="r" t="t"/>
            <a:pathLst>
              <a:path extrusionOk="0" h="120000" w="120000">
                <a:moveTo>
                  <a:pt x="102419" y="17574"/>
                </a:moveTo>
                <a:cubicBezTo>
                  <a:pt x="125853" y="41002"/>
                  <a:pt x="125853" y="78991"/>
                  <a:pt x="102419" y="102419"/>
                </a:cubicBezTo>
                <a:cubicBezTo>
                  <a:pt x="78991" y="125853"/>
                  <a:pt x="41002" y="125853"/>
                  <a:pt x="17574" y="102419"/>
                </a:cubicBezTo>
                <a:cubicBezTo>
                  <a:pt x="-5860" y="78991"/>
                  <a:pt x="-5860" y="41002"/>
                  <a:pt x="17574" y="17574"/>
                </a:cubicBezTo>
                <a:cubicBezTo>
                  <a:pt x="41002" y="-5860"/>
                  <a:pt x="78991" y="-5860"/>
                  <a:pt x="102419" y="17574"/>
                </a:cubicBezTo>
                <a:close/>
              </a:path>
            </a:pathLst>
          </a:custGeom>
          <a:solidFill>
            <a:srgbClr val="99BDE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Calibri"/>
              <a:ea typeface="Calibri"/>
              <a:cs typeface="Calibri"/>
              <a:sym typeface="Calibri"/>
            </a:endParaRPr>
          </a:p>
        </p:txBody>
      </p:sp>
      <p:sp>
        <p:nvSpPr>
          <p:cNvPr id="471" name="Google Shape;471;p18"/>
          <p:cNvSpPr/>
          <p:nvPr/>
        </p:nvSpPr>
        <p:spPr>
          <a:xfrm>
            <a:off x="7182882" y="4191775"/>
            <a:ext cx="660900" cy="90300"/>
          </a:xfrm>
          <a:prstGeom prst="rect">
            <a:avLst/>
          </a:prstGeom>
          <a:noFill/>
          <a:ln>
            <a:noFill/>
          </a:ln>
        </p:spPr>
        <p:txBody>
          <a:bodyPr anchorCtr="0" anchor="t" bIns="33475" lIns="33475" spcFirstLastPara="1" rIns="33475" wrap="square" tIns="33475">
            <a:noAutofit/>
          </a:bodyPr>
          <a:lstStyle/>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Montserrat"/>
                <a:ea typeface="Montserrat"/>
                <a:cs typeface="Montserrat"/>
                <a:sym typeface="Montserrat"/>
              </a:rPr>
              <a:t>Month Demo</a:t>
            </a:r>
            <a:endParaRPr b="1" i="0" sz="700" u="none" cap="none" strike="noStrike">
              <a:solidFill>
                <a:srgbClr val="000000"/>
              </a:solidFill>
              <a:latin typeface="Montserrat"/>
              <a:ea typeface="Montserrat"/>
              <a:cs typeface="Montserrat"/>
              <a:sym typeface="Montserrat"/>
            </a:endParaRPr>
          </a:p>
        </p:txBody>
      </p:sp>
      <p:sp>
        <p:nvSpPr>
          <p:cNvPr id="472" name="Google Shape;472;p18"/>
          <p:cNvSpPr/>
          <p:nvPr/>
        </p:nvSpPr>
        <p:spPr>
          <a:xfrm>
            <a:off x="7325208" y="3356749"/>
            <a:ext cx="291000" cy="222900"/>
          </a:xfrm>
          <a:custGeom>
            <a:rect b="b" l="l" r="r" t="t"/>
            <a:pathLst>
              <a:path extrusionOk="0" h="120000" w="120000">
                <a:moveTo>
                  <a:pt x="102419" y="17574"/>
                </a:moveTo>
                <a:cubicBezTo>
                  <a:pt x="125853" y="41002"/>
                  <a:pt x="125853" y="78991"/>
                  <a:pt x="102419" y="102419"/>
                </a:cubicBezTo>
                <a:cubicBezTo>
                  <a:pt x="78991" y="125853"/>
                  <a:pt x="41002" y="125853"/>
                  <a:pt x="17574" y="102419"/>
                </a:cubicBezTo>
                <a:cubicBezTo>
                  <a:pt x="-5860" y="78991"/>
                  <a:pt x="-5860" y="41002"/>
                  <a:pt x="17574" y="17574"/>
                </a:cubicBezTo>
                <a:cubicBezTo>
                  <a:pt x="41002" y="-5860"/>
                  <a:pt x="78991" y="-5860"/>
                  <a:pt x="102419" y="17574"/>
                </a:cubicBezTo>
                <a:close/>
              </a:path>
            </a:pathLst>
          </a:custGeom>
          <a:solidFill>
            <a:srgbClr val="99BDE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Calibri"/>
              <a:ea typeface="Calibri"/>
              <a:cs typeface="Calibri"/>
              <a:sym typeface="Calibri"/>
            </a:endParaRPr>
          </a:p>
        </p:txBody>
      </p:sp>
      <p:sp>
        <p:nvSpPr>
          <p:cNvPr id="473" name="Google Shape;473;p18"/>
          <p:cNvSpPr/>
          <p:nvPr/>
        </p:nvSpPr>
        <p:spPr>
          <a:xfrm>
            <a:off x="7182897" y="3586774"/>
            <a:ext cx="575400" cy="147000"/>
          </a:xfrm>
          <a:prstGeom prst="rect">
            <a:avLst/>
          </a:prstGeom>
          <a:noFill/>
          <a:ln>
            <a:noFill/>
          </a:ln>
        </p:spPr>
        <p:txBody>
          <a:bodyPr anchorCtr="0" anchor="t" bIns="33475" lIns="33475" spcFirstLastPara="1" rIns="33475" wrap="square" tIns="33475">
            <a:noAutofit/>
          </a:bodyPr>
          <a:lstStyle/>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Montserrat"/>
                <a:ea typeface="Montserrat"/>
                <a:cs typeface="Montserrat"/>
                <a:sym typeface="Montserrat"/>
              </a:rPr>
              <a:t>Month Planning </a:t>
            </a:r>
            <a:endParaRPr b="0" i="0" sz="700" u="none" cap="none" strike="noStrike">
              <a:solidFill>
                <a:srgbClr val="000000"/>
              </a:solidFill>
              <a:latin typeface="Montserrat"/>
              <a:ea typeface="Montserrat"/>
              <a:cs typeface="Montserrat"/>
              <a:sym typeface="Montserrat"/>
            </a:endParaRPr>
          </a:p>
        </p:txBody>
      </p:sp>
      <p:pic>
        <p:nvPicPr>
          <p:cNvPr id="474" name="Google Shape;474;p18"/>
          <p:cNvPicPr preferRelativeResize="0"/>
          <p:nvPr/>
        </p:nvPicPr>
        <p:blipFill rotWithShape="1">
          <a:blip r:embed="rId5">
            <a:alphaModFix/>
          </a:blip>
          <a:srcRect b="0" l="0" r="0" t="0"/>
          <a:stretch/>
        </p:blipFill>
        <p:spPr>
          <a:xfrm>
            <a:off x="7386594" y="3407623"/>
            <a:ext cx="168328" cy="121270"/>
          </a:xfrm>
          <a:prstGeom prst="rect">
            <a:avLst/>
          </a:prstGeom>
          <a:noFill/>
          <a:ln>
            <a:noFill/>
          </a:ln>
        </p:spPr>
      </p:pic>
      <p:sp>
        <p:nvSpPr>
          <p:cNvPr id="475" name="Google Shape;475;p18"/>
          <p:cNvSpPr/>
          <p:nvPr/>
        </p:nvSpPr>
        <p:spPr>
          <a:xfrm>
            <a:off x="6635482" y="3359668"/>
            <a:ext cx="291000" cy="222900"/>
          </a:xfrm>
          <a:custGeom>
            <a:rect b="b" l="l" r="r" t="t"/>
            <a:pathLst>
              <a:path extrusionOk="0" h="120000" w="120000">
                <a:moveTo>
                  <a:pt x="102419" y="17574"/>
                </a:moveTo>
                <a:cubicBezTo>
                  <a:pt x="125853" y="41002"/>
                  <a:pt x="125853" y="78991"/>
                  <a:pt x="102419" y="102419"/>
                </a:cubicBezTo>
                <a:cubicBezTo>
                  <a:pt x="78991" y="125853"/>
                  <a:pt x="41002" y="125853"/>
                  <a:pt x="17574" y="102419"/>
                </a:cubicBezTo>
                <a:cubicBezTo>
                  <a:pt x="-5860" y="78991"/>
                  <a:pt x="-5860" y="41002"/>
                  <a:pt x="17574" y="17574"/>
                </a:cubicBezTo>
                <a:cubicBezTo>
                  <a:pt x="41002" y="-5860"/>
                  <a:pt x="78991" y="-5860"/>
                  <a:pt x="102419" y="17574"/>
                </a:cubicBezTo>
                <a:close/>
              </a:path>
            </a:pathLst>
          </a:custGeom>
          <a:solidFill>
            <a:srgbClr val="99BDE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Calibri"/>
              <a:ea typeface="Calibri"/>
              <a:cs typeface="Calibri"/>
              <a:sym typeface="Calibri"/>
            </a:endParaRPr>
          </a:p>
        </p:txBody>
      </p:sp>
      <p:sp>
        <p:nvSpPr>
          <p:cNvPr id="476" name="Google Shape;476;p18"/>
          <p:cNvSpPr/>
          <p:nvPr/>
        </p:nvSpPr>
        <p:spPr>
          <a:xfrm>
            <a:off x="6493150" y="3584986"/>
            <a:ext cx="575400" cy="153000"/>
          </a:xfrm>
          <a:prstGeom prst="rect">
            <a:avLst/>
          </a:prstGeom>
          <a:noFill/>
          <a:ln>
            <a:noFill/>
          </a:ln>
        </p:spPr>
        <p:txBody>
          <a:bodyPr anchorCtr="0" anchor="t" bIns="33475" lIns="33475" spcFirstLastPara="1" rIns="33475" wrap="square" tIns="33475">
            <a:noAutofit/>
          </a:bodyPr>
          <a:lstStyle/>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Montserrat"/>
                <a:ea typeface="Montserrat"/>
                <a:cs typeface="Montserrat"/>
                <a:sym typeface="Montserrat"/>
              </a:rPr>
              <a:t>Daily Stand-ups</a:t>
            </a:r>
            <a:endParaRPr b="0" i="0" sz="700" u="none" cap="none" strike="noStrike">
              <a:solidFill>
                <a:srgbClr val="000000"/>
              </a:solidFill>
              <a:latin typeface="Montserrat"/>
              <a:ea typeface="Montserrat"/>
              <a:cs typeface="Montserrat"/>
              <a:sym typeface="Montserrat"/>
            </a:endParaRPr>
          </a:p>
        </p:txBody>
      </p:sp>
      <p:pic>
        <p:nvPicPr>
          <p:cNvPr id="477" name="Google Shape;477;p18"/>
          <p:cNvPicPr preferRelativeResize="0"/>
          <p:nvPr/>
        </p:nvPicPr>
        <p:blipFill rotWithShape="1">
          <a:blip r:embed="rId6">
            <a:alphaModFix/>
          </a:blip>
          <a:srcRect b="0" l="0" r="0" t="0"/>
          <a:stretch/>
        </p:blipFill>
        <p:spPr>
          <a:xfrm>
            <a:off x="6687109" y="3399220"/>
            <a:ext cx="187848" cy="143913"/>
          </a:xfrm>
          <a:prstGeom prst="rect">
            <a:avLst/>
          </a:prstGeom>
          <a:noFill/>
          <a:ln>
            <a:noFill/>
          </a:ln>
        </p:spPr>
      </p:pic>
      <p:pic>
        <p:nvPicPr>
          <p:cNvPr id="478" name="Google Shape;478;p18"/>
          <p:cNvPicPr preferRelativeResize="0"/>
          <p:nvPr/>
        </p:nvPicPr>
        <p:blipFill rotWithShape="1">
          <a:blip r:embed="rId7">
            <a:alphaModFix/>
          </a:blip>
          <a:srcRect b="0" l="0" r="0" t="0"/>
          <a:stretch/>
        </p:blipFill>
        <p:spPr>
          <a:xfrm>
            <a:off x="7378788" y="3981126"/>
            <a:ext cx="183912" cy="138659"/>
          </a:xfrm>
          <a:prstGeom prst="rect">
            <a:avLst/>
          </a:prstGeom>
          <a:noFill/>
          <a:ln>
            <a:noFill/>
          </a:ln>
        </p:spPr>
      </p:pic>
      <p:cxnSp>
        <p:nvCxnSpPr>
          <p:cNvPr id="479" name="Google Shape;479;p18"/>
          <p:cNvCxnSpPr/>
          <p:nvPr/>
        </p:nvCxnSpPr>
        <p:spPr>
          <a:xfrm rot="10800000">
            <a:off x="6608487" y="3903739"/>
            <a:ext cx="1217400" cy="5100"/>
          </a:xfrm>
          <a:prstGeom prst="straightConnector1">
            <a:avLst/>
          </a:prstGeom>
          <a:noFill/>
          <a:ln cap="flat" cmpd="sng" w="19050">
            <a:solidFill>
              <a:srgbClr val="999999"/>
            </a:solidFill>
            <a:prstDash val="dot"/>
            <a:miter lim="80"/>
            <a:headEnd len="sm" w="sm" type="oval"/>
            <a:tailEnd len="sm" w="sm" type="oval"/>
          </a:ln>
        </p:spPr>
      </p:cxnSp>
      <p:cxnSp>
        <p:nvCxnSpPr>
          <p:cNvPr id="480" name="Google Shape;480;p18"/>
          <p:cNvCxnSpPr/>
          <p:nvPr/>
        </p:nvCxnSpPr>
        <p:spPr>
          <a:xfrm>
            <a:off x="7149754" y="3492278"/>
            <a:ext cx="900" cy="902700"/>
          </a:xfrm>
          <a:prstGeom prst="straightConnector1">
            <a:avLst/>
          </a:prstGeom>
          <a:noFill/>
          <a:ln cap="flat" cmpd="sng" w="19050">
            <a:solidFill>
              <a:srgbClr val="999999"/>
            </a:solidFill>
            <a:prstDash val="dot"/>
            <a:miter lim="80"/>
            <a:headEnd len="sm" w="sm" type="oval"/>
            <a:tailEnd len="sm" w="sm" type="oval"/>
          </a:ln>
        </p:spPr>
      </p:cxnSp>
      <p:sp>
        <p:nvSpPr>
          <p:cNvPr id="481" name="Google Shape;481;p18"/>
          <p:cNvSpPr/>
          <p:nvPr/>
        </p:nvSpPr>
        <p:spPr>
          <a:xfrm>
            <a:off x="6635482" y="3941925"/>
            <a:ext cx="291000" cy="222900"/>
          </a:xfrm>
          <a:custGeom>
            <a:rect b="b" l="l" r="r" t="t"/>
            <a:pathLst>
              <a:path extrusionOk="0" h="120000" w="120000">
                <a:moveTo>
                  <a:pt x="102419" y="17574"/>
                </a:moveTo>
                <a:cubicBezTo>
                  <a:pt x="125853" y="41002"/>
                  <a:pt x="125853" y="78991"/>
                  <a:pt x="102419" y="102419"/>
                </a:cubicBezTo>
                <a:cubicBezTo>
                  <a:pt x="78991" y="125853"/>
                  <a:pt x="41002" y="125853"/>
                  <a:pt x="17574" y="102419"/>
                </a:cubicBezTo>
                <a:cubicBezTo>
                  <a:pt x="-5860" y="78991"/>
                  <a:pt x="-5860" y="41002"/>
                  <a:pt x="17574" y="17574"/>
                </a:cubicBezTo>
                <a:cubicBezTo>
                  <a:pt x="41002" y="-5860"/>
                  <a:pt x="78991" y="-5860"/>
                  <a:pt x="102419" y="17574"/>
                </a:cubicBezTo>
                <a:close/>
              </a:path>
            </a:pathLst>
          </a:custGeom>
          <a:solidFill>
            <a:srgbClr val="99BDE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Calibri"/>
              <a:ea typeface="Calibri"/>
              <a:cs typeface="Calibri"/>
              <a:sym typeface="Calibri"/>
            </a:endParaRPr>
          </a:p>
        </p:txBody>
      </p:sp>
      <p:sp>
        <p:nvSpPr>
          <p:cNvPr id="482" name="Google Shape;482;p18"/>
          <p:cNvSpPr/>
          <p:nvPr/>
        </p:nvSpPr>
        <p:spPr>
          <a:xfrm>
            <a:off x="6493929" y="4191765"/>
            <a:ext cx="575400" cy="90300"/>
          </a:xfrm>
          <a:prstGeom prst="rect">
            <a:avLst/>
          </a:prstGeom>
          <a:noFill/>
          <a:ln>
            <a:noFill/>
          </a:ln>
        </p:spPr>
        <p:txBody>
          <a:bodyPr anchorCtr="0" anchor="t" bIns="33475" lIns="33475" spcFirstLastPara="1" rIns="33475" wrap="square" tIns="33475">
            <a:noAutofit/>
          </a:bodyPr>
          <a:lstStyle/>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Montserrat"/>
                <a:ea typeface="Montserrat"/>
                <a:cs typeface="Montserrat"/>
                <a:sym typeface="Montserrat"/>
              </a:rPr>
              <a:t>Joint Retrospective</a:t>
            </a:r>
            <a:endParaRPr b="0" i="0" sz="700" u="none" cap="none" strike="noStrike">
              <a:solidFill>
                <a:srgbClr val="000000"/>
              </a:solidFill>
              <a:latin typeface="Montserrat"/>
              <a:ea typeface="Montserrat"/>
              <a:cs typeface="Montserrat"/>
              <a:sym typeface="Montserrat"/>
            </a:endParaRPr>
          </a:p>
        </p:txBody>
      </p:sp>
      <p:sp>
        <p:nvSpPr>
          <p:cNvPr id="483" name="Google Shape;483;p18"/>
          <p:cNvSpPr txBox="1"/>
          <p:nvPr/>
        </p:nvSpPr>
        <p:spPr>
          <a:xfrm>
            <a:off x="6281307" y="3099123"/>
            <a:ext cx="1684800" cy="307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000000"/>
                </a:solidFill>
                <a:latin typeface="Montserrat"/>
                <a:ea typeface="Montserrat"/>
                <a:cs typeface="Montserrat"/>
                <a:sym typeface="Montserrat"/>
              </a:rPr>
              <a:t>Engagement Highlights </a:t>
            </a:r>
            <a:endParaRPr b="1" i="0" sz="800" u="none" cap="none" strike="noStrike">
              <a:solidFill>
                <a:srgbClr val="000000"/>
              </a:solidFill>
              <a:latin typeface="Montserrat"/>
              <a:ea typeface="Montserrat"/>
              <a:cs typeface="Montserrat"/>
              <a:sym typeface="Montserrat"/>
            </a:endParaRPr>
          </a:p>
        </p:txBody>
      </p:sp>
      <p:sp>
        <p:nvSpPr>
          <p:cNvPr id="484" name="Google Shape;484;p18"/>
          <p:cNvSpPr txBox="1"/>
          <p:nvPr/>
        </p:nvSpPr>
        <p:spPr>
          <a:xfrm>
            <a:off x="4479247" y="1409956"/>
            <a:ext cx="1809900" cy="278100"/>
          </a:xfrm>
          <a:prstGeom prst="rect">
            <a:avLst/>
          </a:prstGeom>
          <a:solidFill>
            <a:srgbClr val="12519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TTN Executive Leadership and Business Unit Head </a:t>
            </a:r>
            <a:endParaRPr b="1" i="0" sz="800" u="none" cap="none" strike="noStrike">
              <a:solidFill>
                <a:srgbClr val="336666"/>
              </a:solidFill>
              <a:latin typeface="Montserrat"/>
              <a:ea typeface="Montserrat"/>
              <a:cs typeface="Montserrat"/>
              <a:sym typeface="Montserrat"/>
            </a:endParaRPr>
          </a:p>
        </p:txBody>
      </p:sp>
      <p:sp>
        <p:nvSpPr>
          <p:cNvPr id="485" name="Google Shape;485;p18"/>
          <p:cNvSpPr txBox="1"/>
          <p:nvPr/>
        </p:nvSpPr>
        <p:spPr>
          <a:xfrm>
            <a:off x="1629325" y="1419354"/>
            <a:ext cx="2121000" cy="259800"/>
          </a:xfrm>
          <a:prstGeom prst="rect">
            <a:avLst/>
          </a:prstGeom>
          <a:solidFill>
            <a:srgbClr val="B7B7B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Racing Queensland  Executive</a:t>
            </a:r>
            <a:endParaRPr b="1" i="0" sz="800" u="none" cap="none" strike="noStrike">
              <a:solidFill>
                <a:srgbClr val="FFFFFF"/>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Leadership</a:t>
            </a:r>
            <a:endParaRPr b="1" i="0" sz="800" u="none" cap="none" strike="noStrike">
              <a:solidFill>
                <a:srgbClr val="FFFFFF"/>
              </a:solidFill>
              <a:latin typeface="Montserrat"/>
              <a:ea typeface="Montserrat"/>
              <a:cs typeface="Montserrat"/>
              <a:sym typeface="Montserrat"/>
            </a:endParaRPr>
          </a:p>
        </p:txBody>
      </p:sp>
      <p:sp>
        <p:nvSpPr>
          <p:cNvPr id="486" name="Google Shape;486;p18"/>
          <p:cNvSpPr txBox="1"/>
          <p:nvPr/>
        </p:nvSpPr>
        <p:spPr>
          <a:xfrm>
            <a:off x="4479247" y="2090204"/>
            <a:ext cx="1809900" cy="278100"/>
          </a:xfrm>
          <a:prstGeom prst="rect">
            <a:avLst/>
          </a:prstGeom>
          <a:solidFill>
            <a:srgbClr val="12519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TTN Delivery Director /</a:t>
            </a:r>
            <a:endParaRPr b="1" i="0" sz="800" u="none" cap="none" strike="noStrike">
              <a:solidFill>
                <a:srgbClr val="FFFFFF"/>
              </a:solidFill>
              <a:latin typeface="Montserrat"/>
              <a:ea typeface="Montserrat"/>
              <a:cs typeface="Montserrat"/>
              <a:sym typeface="Montserrat"/>
            </a:endParaRPr>
          </a:p>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 Project Manager</a:t>
            </a:r>
            <a:endParaRPr b="1" i="0" sz="800" u="none" cap="none" strike="noStrike">
              <a:solidFill>
                <a:srgbClr val="336666"/>
              </a:solidFill>
              <a:latin typeface="Montserrat"/>
              <a:ea typeface="Montserrat"/>
              <a:cs typeface="Montserrat"/>
              <a:sym typeface="Montserrat"/>
            </a:endParaRPr>
          </a:p>
        </p:txBody>
      </p:sp>
      <p:sp>
        <p:nvSpPr>
          <p:cNvPr id="487" name="Google Shape;487;p18"/>
          <p:cNvSpPr/>
          <p:nvPr/>
        </p:nvSpPr>
        <p:spPr>
          <a:xfrm>
            <a:off x="2548207" y="1079370"/>
            <a:ext cx="205500" cy="240900"/>
          </a:xfrm>
          <a:prstGeom prst="downArrow">
            <a:avLst>
              <a:gd fmla="val 50000" name="adj1"/>
              <a:gd fmla="val 50000" name="adj2"/>
            </a:avLst>
          </a:prstGeom>
          <a:solidFill>
            <a:srgbClr val="B7B7B7"/>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Century Gothic"/>
              <a:ea typeface="Century Gothic"/>
              <a:cs typeface="Century Gothic"/>
              <a:sym typeface="Century Gothic"/>
            </a:endParaRPr>
          </a:p>
        </p:txBody>
      </p:sp>
      <p:sp>
        <p:nvSpPr>
          <p:cNvPr id="488" name="Google Shape;488;p18"/>
          <p:cNvSpPr/>
          <p:nvPr/>
        </p:nvSpPr>
        <p:spPr>
          <a:xfrm>
            <a:off x="5320907" y="1073100"/>
            <a:ext cx="205500" cy="240900"/>
          </a:xfrm>
          <a:prstGeom prst="downArrow">
            <a:avLst>
              <a:gd fmla="val 50000" name="adj1"/>
              <a:gd fmla="val 50000" name="adj2"/>
            </a:avLst>
          </a:prstGeom>
          <a:solidFill>
            <a:srgbClr val="12519C"/>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Century Gothic"/>
              <a:ea typeface="Century Gothic"/>
              <a:cs typeface="Century Gothic"/>
              <a:sym typeface="Century Gothic"/>
            </a:endParaRPr>
          </a:p>
        </p:txBody>
      </p:sp>
      <p:cxnSp>
        <p:nvCxnSpPr>
          <p:cNvPr id="489" name="Google Shape;489;p18"/>
          <p:cNvCxnSpPr/>
          <p:nvPr/>
        </p:nvCxnSpPr>
        <p:spPr>
          <a:xfrm rot="10800000">
            <a:off x="2632112" y="1752704"/>
            <a:ext cx="0" cy="231900"/>
          </a:xfrm>
          <a:prstGeom prst="straightConnector1">
            <a:avLst/>
          </a:prstGeom>
          <a:noFill/>
          <a:ln cap="flat" cmpd="sng" w="25400">
            <a:solidFill>
              <a:srgbClr val="B7B7B7"/>
            </a:solidFill>
            <a:prstDash val="solid"/>
            <a:miter lim="8000"/>
            <a:headEnd len="sm" w="sm" type="none"/>
            <a:tailEnd len="med" w="med" type="triangle"/>
          </a:ln>
        </p:spPr>
      </p:cxnSp>
      <p:sp>
        <p:nvSpPr>
          <p:cNvPr id="490" name="Google Shape;490;p18"/>
          <p:cNvSpPr txBox="1"/>
          <p:nvPr/>
        </p:nvSpPr>
        <p:spPr>
          <a:xfrm>
            <a:off x="4374390" y="1777945"/>
            <a:ext cx="955500" cy="188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Direction &amp; Program Updates</a:t>
            </a:r>
            <a:endParaRPr b="0" i="0" sz="700" u="none" cap="none" strike="noStrike">
              <a:solidFill>
                <a:srgbClr val="336666"/>
              </a:solidFill>
              <a:latin typeface="Montserrat"/>
              <a:ea typeface="Montserrat"/>
              <a:cs typeface="Montserrat"/>
              <a:sym typeface="Montserrat"/>
            </a:endParaRPr>
          </a:p>
        </p:txBody>
      </p:sp>
      <p:cxnSp>
        <p:nvCxnSpPr>
          <p:cNvPr id="491" name="Google Shape;491;p18"/>
          <p:cNvCxnSpPr/>
          <p:nvPr/>
        </p:nvCxnSpPr>
        <p:spPr>
          <a:xfrm>
            <a:off x="5423642" y="1772254"/>
            <a:ext cx="0" cy="231900"/>
          </a:xfrm>
          <a:prstGeom prst="straightConnector1">
            <a:avLst/>
          </a:prstGeom>
          <a:noFill/>
          <a:ln cap="flat" cmpd="sng" w="25400">
            <a:solidFill>
              <a:srgbClr val="B7B7B7"/>
            </a:solidFill>
            <a:prstDash val="solid"/>
            <a:miter lim="8000"/>
            <a:headEnd len="sm" w="sm" type="none"/>
            <a:tailEnd len="med" w="med" type="triangle"/>
          </a:ln>
        </p:spPr>
      </p:cxnSp>
      <p:sp>
        <p:nvSpPr>
          <p:cNvPr id="492" name="Google Shape;492;p18"/>
          <p:cNvSpPr txBox="1"/>
          <p:nvPr/>
        </p:nvSpPr>
        <p:spPr>
          <a:xfrm>
            <a:off x="4336415" y="2517264"/>
            <a:ext cx="981600" cy="151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Direction &amp; Program Updates</a:t>
            </a:r>
            <a:endParaRPr b="0" i="0" sz="700" u="none" cap="none" strike="noStrike">
              <a:solidFill>
                <a:srgbClr val="336666"/>
              </a:solidFill>
              <a:latin typeface="Montserrat"/>
              <a:ea typeface="Montserrat"/>
              <a:cs typeface="Montserrat"/>
              <a:sym typeface="Montserrat"/>
            </a:endParaRPr>
          </a:p>
        </p:txBody>
      </p:sp>
      <p:cxnSp>
        <p:nvCxnSpPr>
          <p:cNvPr id="493" name="Google Shape;493;p18"/>
          <p:cNvCxnSpPr/>
          <p:nvPr/>
        </p:nvCxnSpPr>
        <p:spPr>
          <a:xfrm>
            <a:off x="5423650" y="2504893"/>
            <a:ext cx="0" cy="332700"/>
          </a:xfrm>
          <a:prstGeom prst="straightConnector1">
            <a:avLst/>
          </a:prstGeom>
          <a:noFill/>
          <a:ln cap="flat" cmpd="sng" w="25400">
            <a:solidFill>
              <a:srgbClr val="B7B7B7"/>
            </a:solidFill>
            <a:prstDash val="solid"/>
            <a:miter lim="8000"/>
            <a:headEnd len="sm" w="sm" type="none"/>
            <a:tailEnd len="med" w="med" type="triangle"/>
          </a:ln>
        </p:spPr>
      </p:cxnSp>
      <p:cxnSp>
        <p:nvCxnSpPr>
          <p:cNvPr id="494" name="Google Shape;494;p18"/>
          <p:cNvCxnSpPr>
            <a:stCxn id="485" idx="3"/>
            <a:endCxn id="484" idx="1"/>
          </p:cNvCxnSpPr>
          <p:nvPr/>
        </p:nvCxnSpPr>
        <p:spPr>
          <a:xfrm flipH="1" rot="10800000">
            <a:off x="3750325" y="1548954"/>
            <a:ext cx="729000" cy="300"/>
          </a:xfrm>
          <a:prstGeom prst="straightConnector1">
            <a:avLst/>
          </a:prstGeom>
          <a:noFill/>
          <a:ln cap="flat" cmpd="sng" w="9525">
            <a:solidFill>
              <a:srgbClr val="B7B7B7"/>
            </a:solidFill>
            <a:prstDash val="solid"/>
            <a:miter lim="8000"/>
            <a:headEnd len="med" w="med" type="triangle"/>
            <a:tailEnd len="med" w="med" type="triangle"/>
          </a:ln>
        </p:spPr>
      </p:cxnSp>
      <p:cxnSp>
        <p:nvCxnSpPr>
          <p:cNvPr id="495" name="Google Shape;495;p18"/>
          <p:cNvCxnSpPr>
            <a:stCxn id="496" idx="3"/>
            <a:endCxn id="486" idx="1"/>
          </p:cNvCxnSpPr>
          <p:nvPr/>
        </p:nvCxnSpPr>
        <p:spPr>
          <a:xfrm>
            <a:off x="3750325" y="2229258"/>
            <a:ext cx="729000" cy="0"/>
          </a:xfrm>
          <a:prstGeom prst="straightConnector1">
            <a:avLst/>
          </a:prstGeom>
          <a:noFill/>
          <a:ln cap="flat" cmpd="sng" w="9525">
            <a:solidFill>
              <a:srgbClr val="B7B7B7"/>
            </a:solidFill>
            <a:prstDash val="solid"/>
            <a:miter lim="8000"/>
            <a:headEnd len="med" w="med" type="triangle"/>
            <a:tailEnd len="med" w="med" type="triangle"/>
          </a:ln>
        </p:spPr>
      </p:cxnSp>
      <p:sp>
        <p:nvSpPr>
          <p:cNvPr id="496" name="Google Shape;496;p18"/>
          <p:cNvSpPr txBox="1"/>
          <p:nvPr/>
        </p:nvSpPr>
        <p:spPr>
          <a:xfrm>
            <a:off x="1629325" y="2090208"/>
            <a:ext cx="2121000" cy="278100"/>
          </a:xfrm>
          <a:prstGeom prst="rect">
            <a:avLst/>
          </a:prstGeom>
          <a:solidFill>
            <a:srgbClr val="B7B7B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Montserrat"/>
                <a:ea typeface="Montserrat"/>
                <a:cs typeface="Montserrat"/>
                <a:sym typeface="Montserrat"/>
              </a:rPr>
              <a:t>Product Manager, Racing Queensland </a:t>
            </a:r>
            <a:endParaRPr b="1" i="0" sz="800" u="none" cap="none" strike="noStrike">
              <a:solidFill>
                <a:srgbClr val="FFFFFF"/>
              </a:solidFill>
              <a:latin typeface="Montserrat"/>
              <a:ea typeface="Montserrat"/>
              <a:cs typeface="Montserrat"/>
              <a:sym typeface="Montserrat"/>
            </a:endParaRPr>
          </a:p>
        </p:txBody>
      </p:sp>
      <p:sp>
        <p:nvSpPr>
          <p:cNvPr id="497" name="Google Shape;497;p18"/>
          <p:cNvSpPr txBox="1"/>
          <p:nvPr/>
        </p:nvSpPr>
        <p:spPr>
          <a:xfrm>
            <a:off x="2864276" y="2533538"/>
            <a:ext cx="660900" cy="151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0" i="0" lang="en" sz="700" u="none" cap="none" strike="noStrike">
                <a:solidFill>
                  <a:srgbClr val="000000"/>
                </a:solidFill>
                <a:latin typeface="Montserrat"/>
                <a:ea typeface="Montserrat"/>
                <a:cs typeface="Montserrat"/>
                <a:sym typeface="Montserrat"/>
              </a:rPr>
              <a:t>Escalate Risks &amp; Issues</a:t>
            </a:r>
            <a:endParaRPr b="0" i="0" sz="700" u="none" cap="none" strike="noStrike">
              <a:solidFill>
                <a:srgbClr val="336666"/>
              </a:solidFill>
              <a:latin typeface="Montserrat"/>
              <a:ea typeface="Montserrat"/>
              <a:cs typeface="Montserrat"/>
              <a:sym typeface="Montserrat"/>
            </a:endParaRPr>
          </a:p>
        </p:txBody>
      </p:sp>
      <p:cxnSp>
        <p:nvCxnSpPr>
          <p:cNvPr id="498" name="Google Shape;498;p18"/>
          <p:cNvCxnSpPr/>
          <p:nvPr/>
        </p:nvCxnSpPr>
        <p:spPr>
          <a:xfrm rot="10800000">
            <a:off x="2632100" y="2507218"/>
            <a:ext cx="0" cy="365700"/>
          </a:xfrm>
          <a:prstGeom prst="straightConnector1">
            <a:avLst/>
          </a:prstGeom>
          <a:noFill/>
          <a:ln cap="flat" cmpd="sng" w="25400">
            <a:solidFill>
              <a:srgbClr val="B7B7B7"/>
            </a:solidFill>
            <a:prstDash val="solid"/>
            <a:miter lim="8000"/>
            <a:headEnd len="sm" w="sm" type="none"/>
            <a:tailEnd len="med" w="med" type="triangle"/>
          </a:ln>
        </p:spPr>
      </p:cxnSp>
      <p:cxnSp>
        <p:nvCxnSpPr>
          <p:cNvPr id="499" name="Google Shape;499;p18"/>
          <p:cNvCxnSpPr>
            <a:stCxn id="483" idx="0"/>
            <a:endCxn id="464" idx="0"/>
          </p:cNvCxnSpPr>
          <p:nvPr/>
        </p:nvCxnSpPr>
        <p:spPr>
          <a:xfrm rot="5400000">
            <a:off x="5404407" y="1633923"/>
            <a:ext cx="254100" cy="3184500"/>
          </a:xfrm>
          <a:prstGeom prst="bentConnector3">
            <a:avLst>
              <a:gd fmla="val -93713" name="adj1"/>
            </a:avLst>
          </a:prstGeom>
          <a:noFill/>
          <a:ln cap="flat" cmpd="sng" w="9525">
            <a:solidFill>
              <a:srgbClr val="B7B7B7"/>
            </a:solidFill>
            <a:prstDash val="solid"/>
            <a:round/>
            <a:headEnd len="med" w="med" type="oval"/>
            <a:tailEnd len="med" w="med" type="oval"/>
          </a:ln>
        </p:spPr>
      </p:cxnSp>
      <p:sp>
        <p:nvSpPr>
          <p:cNvPr id="500" name="Google Shape;500;p18"/>
          <p:cNvSpPr/>
          <p:nvPr/>
        </p:nvSpPr>
        <p:spPr>
          <a:xfrm>
            <a:off x="7182432" y="1935141"/>
            <a:ext cx="1401300" cy="444300"/>
          </a:xfrm>
          <a:prstGeom prst="rect">
            <a:avLst/>
          </a:prstGeom>
          <a:noFill/>
          <a:ln>
            <a:noFill/>
          </a:ln>
        </p:spPr>
        <p:txBody>
          <a:bodyPr anchorCtr="0" anchor="ctr" bIns="121900" lIns="60925" spcFirstLastPara="1" rIns="60925" wrap="square" tIns="121900">
            <a:noAutofit/>
          </a:bodyPr>
          <a:lstStyle/>
          <a:p>
            <a:pPr indent="0" lvl="0" marL="0" marR="0" rtl="0" algn="ctr">
              <a:lnSpc>
                <a:spcPct val="100000"/>
              </a:lnSpc>
              <a:spcBef>
                <a:spcPts val="0"/>
              </a:spcBef>
              <a:spcAft>
                <a:spcPts val="0"/>
              </a:spcAft>
              <a:buClr>
                <a:srgbClr val="000000"/>
              </a:buClr>
              <a:buSzPts val="1300"/>
              <a:buFont typeface="Arial"/>
              <a:buNone/>
            </a:pPr>
            <a:r>
              <a:rPr b="1" i="0" lang="en" sz="700" u="none" cap="none" strike="noStrike">
                <a:solidFill>
                  <a:srgbClr val="191919"/>
                </a:solidFill>
                <a:latin typeface="Montserrat"/>
                <a:ea typeface="Montserrat"/>
                <a:cs typeface="Montserrat"/>
                <a:sym typeface="Montserrat"/>
              </a:rPr>
              <a:t>Monthly Governance Checkpoints (SteerCo)</a:t>
            </a:r>
            <a:endParaRPr b="1" i="0" sz="700" u="none" cap="none" strike="noStrike">
              <a:solidFill>
                <a:srgbClr val="191919"/>
              </a:solidFill>
              <a:latin typeface="Montserrat"/>
              <a:ea typeface="Montserrat"/>
              <a:cs typeface="Montserrat"/>
              <a:sym typeface="Montserrat"/>
            </a:endParaRPr>
          </a:p>
        </p:txBody>
      </p:sp>
      <p:sp>
        <p:nvSpPr>
          <p:cNvPr id="501" name="Google Shape;501;p18"/>
          <p:cNvSpPr/>
          <p:nvPr/>
        </p:nvSpPr>
        <p:spPr>
          <a:xfrm>
            <a:off x="7712458" y="1639644"/>
            <a:ext cx="318300" cy="311700"/>
          </a:xfrm>
          <a:custGeom>
            <a:rect b="b" l="l" r="r" t="t"/>
            <a:pathLst>
              <a:path extrusionOk="0" h="120000" w="120000">
                <a:moveTo>
                  <a:pt x="102419" y="17574"/>
                </a:moveTo>
                <a:cubicBezTo>
                  <a:pt x="125853" y="41002"/>
                  <a:pt x="125853" y="78991"/>
                  <a:pt x="102419" y="102419"/>
                </a:cubicBezTo>
                <a:cubicBezTo>
                  <a:pt x="78991" y="125853"/>
                  <a:pt x="41002" y="125853"/>
                  <a:pt x="17574" y="102419"/>
                </a:cubicBezTo>
                <a:cubicBezTo>
                  <a:pt x="-5860" y="78991"/>
                  <a:pt x="-5860" y="41002"/>
                  <a:pt x="17574" y="17574"/>
                </a:cubicBezTo>
                <a:cubicBezTo>
                  <a:pt x="41002" y="-5860"/>
                  <a:pt x="78991" y="-5860"/>
                  <a:pt x="102419" y="17574"/>
                </a:cubicBezTo>
                <a:close/>
              </a:path>
            </a:pathLst>
          </a:custGeom>
          <a:solidFill>
            <a:srgbClr val="99BDE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000000"/>
              </a:solidFill>
              <a:latin typeface="Calibri"/>
              <a:ea typeface="Calibri"/>
              <a:cs typeface="Calibri"/>
              <a:sym typeface="Calibri"/>
            </a:endParaRPr>
          </a:p>
        </p:txBody>
      </p:sp>
      <p:sp>
        <p:nvSpPr>
          <p:cNvPr id="502" name="Google Shape;502;p18"/>
          <p:cNvSpPr/>
          <p:nvPr/>
        </p:nvSpPr>
        <p:spPr>
          <a:xfrm>
            <a:off x="4196599" y="3403869"/>
            <a:ext cx="1334100" cy="941700"/>
          </a:xfrm>
          <a:prstGeom prst="roundRect">
            <a:avLst>
              <a:gd fmla="val 5116" name="adj"/>
            </a:avLst>
          </a:prstGeom>
          <a:solidFill>
            <a:srgbClr val="FFFFFF"/>
          </a:solidFill>
          <a:ln cap="flat" cmpd="sng" w="9525">
            <a:solidFill>
              <a:srgbClr val="CC006C"/>
            </a:solidFill>
            <a:prstDash val="dot"/>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03" name="Google Shape;503;p18"/>
          <p:cNvPicPr preferRelativeResize="0"/>
          <p:nvPr/>
        </p:nvPicPr>
        <p:blipFill rotWithShape="1">
          <a:blip r:embed="rId8">
            <a:alphaModFix/>
          </a:blip>
          <a:srcRect b="0" l="0" r="0" t="0"/>
          <a:stretch/>
        </p:blipFill>
        <p:spPr>
          <a:xfrm>
            <a:off x="7756651" y="1712375"/>
            <a:ext cx="229899" cy="166176"/>
          </a:xfrm>
          <a:prstGeom prst="rect">
            <a:avLst/>
          </a:prstGeom>
          <a:noFill/>
          <a:ln>
            <a:noFill/>
          </a:ln>
        </p:spPr>
      </p:pic>
      <p:sp>
        <p:nvSpPr>
          <p:cNvPr id="504" name="Google Shape;504;p18"/>
          <p:cNvSpPr/>
          <p:nvPr/>
        </p:nvSpPr>
        <p:spPr>
          <a:xfrm>
            <a:off x="4128891" y="3446717"/>
            <a:ext cx="1334100" cy="1014300"/>
          </a:xfrm>
          <a:prstGeom prst="roundRect">
            <a:avLst>
              <a:gd fmla="val 5116" name="adj"/>
            </a:avLst>
          </a:prstGeom>
          <a:solidFill>
            <a:srgbClr val="FFFFFF"/>
          </a:solidFill>
          <a:ln cap="flat" cmpd="sng" w="9525">
            <a:solidFill>
              <a:srgbClr val="CC006C"/>
            </a:solidFill>
            <a:prstDash val="dot"/>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05" name="Google Shape;505;p18"/>
          <p:cNvPicPr preferRelativeResize="0"/>
          <p:nvPr/>
        </p:nvPicPr>
        <p:blipFill rotWithShape="1">
          <a:blip r:embed="rId9">
            <a:alphaModFix/>
          </a:blip>
          <a:srcRect b="18198" l="21766" r="23601" t="16993"/>
          <a:stretch/>
        </p:blipFill>
        <p:spPr>
          <a:xfrm>
            <a:off x="4259212" y="4081790"/>
            <a:ext cx="193693" cy="181710"/>
          </a:xfrm>
          <a:prstGeom prst="rect">
            <a:avLst/>
          </a:prstGeom>
          <a:noFill/>
          <a:ln>
            <a:noFill/>
          </a:ln>
        </p:spPr>
      </p:pic>
      <p:sp>
        <p:nvSpPr>
          <p:cNvPr id="506" name="Google Shape;506;p18"/>
          <p:cNvSpPr txBox="1"/>
          <p:nvPr/>
        </p:nvSpPr>
        <p:spPr>
          <a:xfrm>
            <a:off x="4380925" y="3505629"/>
            <a:ext cx="830100" cy="3078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000000"/>
                </a:solidFill>
                <a:latin typeface="Montserrat"/>
                <a:ea typeface="Montserrat"/>
                <a:cs typeface="Montserrat"/>
                <a:sym typeface="Montserrat"/>
              </a:rPr>
              <a:t>TTN Team</a:t>
            </a:r>
            <a:endParaRPr b="1" i="0" sz="800" u="none" cap="none" strike="noStrike">
              <a:solidFill>
                <a:srgbClr val="000000"/>
              </a:solidFill>
              <a:latin typeface="Montserrat"/>
              <a:ea typeface="Montserrat"/>
              <a:cs typeface="Montserrat"/>
              <a:sym typeface="Montserrat"/>
            </a:endParaRPr>
          </a:p>
        </p:txBody>
      </p:sp>
      <p:sp>
        <p:nvSpPr>
          <p:cNvPr id="507" name="Google Shape;507;p18"/>
          <p:cNvSpPr txBox="1"/>
          <p:nvPr/>
        </p:nvSpPr>
        <p:spPr>
          <a:xfrm>
            <a:off x="4232743" y="3979995"/>
            <a:ext cx="1261800" cy="4002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Century Gothic"/>
                <a:ea typeface="Century Gothic"/>
                <a:cs typeface="Century Gothic"/>
                <a:sym typeface="Century Gothic"/>
              </a:rPr>
              <a:t>TTN Engineering </a:t>
            </a:r>
            <a:endParaRPr b="1" i="0" sz="700" u="none" cap="none" strike="noStrike">
              <a:solidFill>
                <a:srgbClr val="000000"/>
              </a:solidFill>
              <a:latin typeface="Century Gothic"/>
              <a:ea typeface="Century Gothic"/>
              <a:cs typeface="Century Gothic"/>
              <a:sym typeface="Century Gothic"/>
            </a:endParaRPr>
          </a:p>
          <a:p>
            <a:pPr indent="0" lvl="0" marL="0" marR="0" rtl="0" algn="ctr">
              <a:lnSpc>
                <a:spcPct val="100000"/>
              </a:lnSpc>
              <a:spcBef>
                <a:spcPts val="0"/>
              </a:spcBef>
              <a:spcAft>
                <a:spcPts val="0"/>
              </a:spcAft>
              <a:buClr>
                <a:srgbClr val="000000"/>
              </a:buClr>
              <a:buSzPts val="700"/>
              <a:buFont typeface="Arial"/>
              <a:buNone/>
            </a:pPr>
            <a:r>
              <a:rPr b="1" i="0" lang="en" sz="700" u="none" cap="none" strike="noStrike">
                <a:solidFill>
                  <a:srgbClr val="000000"/>
                </a:solidFill>
                <a:latin typeface="Century Gothic"/>
                <a:ea typeface="Century Gothic"/>
                <a:cs typeface="Century Gothic"/>
                <a:sym typeface="Century Gothic"/>
              </a:rPr>
              <a:t>Team</a:t>
            </a:r>
            <a:endParaRPr b="1" i="0" sz="700" u="none" cap="none" strike="noStrike">
              <a:solidFill>
                <a:srgbClr val="000000"/>
              </a:solidFill>
              <a:latin typeface="Century Gothic"/>
              <a:ea typeface="Century Gothic"/>
              <a:cs typeface="Century Gothic"/>
              <a:sym typeface="Century Gothic"/>
            </a:endParaRPr>
          </a:p>
        </p:txBody>
      </p:sp>
      <p:pic>
        <p:nvPicPr>
          <p:cNvPr id="508" name="Google Shape;508;p18"/>
          <p:cNvPicPr preferRelativeResize="0"/>
          <p:nvPr/>
        </p:nvPicPr>
        <p:blipFill rotWithShape="1">
          <a:blip r:embed="rId9">
            <a:alphaModFix/>
          </a:blip>
          <a:srcRect b="18198" l="21766" r="23601" t="16993"/>
          <a:stretch/>
        </p:blipFill>
        <p:spPr>
          <a:xfrm>
            <a:off x="4271897" y="3802253"/>
            <a:ext cx="168324" cy="180046"/>
          </a:xfrm>
          <a:prstGeom prst="rect">
            <a:avLst/>
          </a:prstGeom>
          <a:noFill/>
          <a:ln>
            <a:noFill/>
          </a:ln>
        </p:spPr>
      </p:pic>
      <p:sp>
        <p:nvSpPr>
          <p:cNvPr id="509" name="Google Shape;509;p18"/>
          <p:cNvSpPr txBox="1"/>
          <p:nvPr/>
        </p:nvSpPr>
        <p:spPr>
          <a:xfrm>
            <a:off x="4388911" y="3821314"/>
            <a:ext cx="981600" cy="290700"/>
          </a:xfrm>
          <a:prstGeom prst="rect">
            <a:avLst/>
          </a:prstGeom>
          <a:noFill/>
          <a:ln>
            <a:noFill/>
          </a:ln>
        </p:spPr>
        <p:txBody>
          <a:bodyPr anchorCtr="0" anchor="b" bIns="91425" lIns="91425" spcFirstLastPara="1" rIns="91425" wrap="square" tIns="91425">
            <a:noAutofit/>
          </a:bodyPr>
          <a:lstStyle/>
          <a:p>
            <a:pPr indent="0" lvl="0" marL="0" marR="0" rtl="0" algn="ctr">
              <a:lnSpc>
                <a:spcPct val="80000"/>
              </a:lnSpc>
              <a:spcBef>
                <a:spcPts val="0"/>
              </a:spcBef>
              <a:spcAft>
                <a:spcPts val="0"/>
              </a:spcAft>
              <a:buClr>
                <a:srgbClr val="000000"/>
              </a:buClr>
              <a:buSzPts val="700"/>
              <a:buFont typeface="Arial"/>
              <a:buNone/>
            </a:pPr>
            <a:r>
              <a:rPr b="1" i="0" lang="en" sz="700" u="none" cap="none" strike="noStrike">
                <a:solidFill>
                  <a:srgbClr val="000000"/>
                </a:solidFill>
                <a:latin typeface="Century Gothic"/>
                <a:ea typeface="Century Gothic"/>
                <a:cs typeface="Century Gothic"/>
                <a:sym typeface="Century Gothic"/>
              </a:rPr>
              <a:t>Project Manager</a:t>
            </a:r>
            <a:endParaRPr b="1" i="0" sz="700" u="none" cap="none" strike="noStrike">
              <a:solidFill>
                <a:srgbClr val="000000"/>
              </a:solidFill>
              <a:latin typeface="Century Gothic"/>
              <a:ea typeface="Century Gothic"/>
              <a:cs typeface="Century Gothic"/>
              <a:sym typeface="Century Gothic"/>
            </a:endParaRPr>
          </a:p>
        </p:txBody>
      </p:sp>
      <p:cxnSp>
        <p:nvCxnSpPr>
          <p:cNvPr id="510" name="Google Shape;510;p18"/>
          <p:cNvCxnSpPr/>
          <p:nvPr/>
        </p:nvCxnSpPr>
        <p:spPr>
          <a:xfrm rot="10800000">
            <a:off x="3316313" y="4030223"/>
            <a:ext cx="276600" cy="0"/>
          </a:xfrm>
          <a:prstGeom prst="straightConnector1">
            <a:avLst/>
          </a:prstGeom>
          <a:noFill/>
          <a:ln cap="flat" cmpd="sng" w="9525">
            <a:solidFill>
              <a:srgbClr val="999999"/>
            </a:solidFill>
            <a:prstDash val="solid"/>
            <a:round/>
            <a:headEnd len="sm" w="sm" type="none"/>
            <a:tailEnd len="sm" w="sm" type="none"/>
          </a:ln>
        </p:spPr>
      </p:cxnSp>
      <p:pic>
        <p:nvPicPr>
          <p:cNvPr id="511" name="Google Shape;511;p18"/>
          <p:cNvPicPr preferRelativeResize="0"/>
          <p:nvPr/>
        </p:nvPicPr>
        <p:blipFill rotWithShape="1">
          <a:blip r:embed="rId8">
            <a:alphaModFix/>
          </a:blip>
          <a:srcRect b="0" l="0" r="0" t="0"/>
          <a:stretch/>
        </p:blipFill>
        <p:spPr>
          <a:xfrm>
            <a:off x="6699607" y="3982434"/>
            <a:ext cx="183925" cy="135766"/>
          </a:xfrm>
          <a:prstGeom prst="rect">
            <a:avLst/>
          </a:prstGeom>
          <a:noFill/>
          <a:ln>
            <a:noFill/>
          </a:ln>
        </p:spPr>
      </p:pic>
      <p:sp>
        <p:nvSpPr>
          <p:cNvPr id="512" name="Google Shape;512;p18"/>
          <p:cNvSpPr txBox="1"/>
          <p:nvPr/>
        </p:nvSpPr>
        <p:spPr>
          <a:xfrm>
            <a:off x="359857" y="1281370"/>
            <a:ext cx="11757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Steering</a:t>
            </a:r>
            <a:endParaRPr b="0" i="0" sz="800" u="none" cap="none" strike="noStrike">
              <a:solidFill>
                <a:srgbClr val="12519C"/>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Committee</a:t>
            </a:r>
            <a:endParaRPr b="0" i="0" sz="800" u="none" cap="none" strike="noStrike">
              <a:solidFill>
                <a:srgbClr val="12519C"/>
              </a:solidFill>
              <a:latin typeface="Montserrat"/>
              <a:ea typeface="Montserrat"/>
              <a:cs typeface="Montserrat"/>
              <a:sym typeface="Montserrat"/>
            </a:endParaRPr>
          </a:p>
        </p:txBody>
      </p:sp>
      <p:sp>
        <p:nvSpPr>
          <p:cNvPr id="513" name="Google Shape;513;p18"/>
          <p:cNvSpPr txBox="1"/>
          <p:nvPr/>
        </p:nvSpPr>
        <p:spPr>
          <a:xfrm>
            <a:off x="409932" y="2011328"/>
            <a:ext cx="9816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Program</a:t>
            </a:r>
            <a:endParaRPr b="0" i="0" sz="800" u="none" cap="none" strike="noStrike">
              <a:solidFill>
                <a:srgbClr val="12519C"/>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Management</a:t>
            </a:r>
            <a:endParaRPr b="0" i="0" sz="800" u="none" cap="none" strike="noStrike">
              <a:solidFill>
                <a:srgbClr val="12519C"/>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Committee</a:t>
            </a:r>
            <a:endParaRPr b="0" i="0" sz="800" u="none" cap="none" strike="noStrike">
              <a:solidFill>
                <a:srgbClr val="12519C"/>
              </a:solidFill>
              <a:latin typeface="Montserrat"/>
              <a:ea typeface="Montserrat"/>
              <a:cs typeface="Montserrat"/>
              <a:sym typeface="Montserrat"/>
            </a:endParaRPr>
          </a:p>
        </p:txBody>
      </p:sp>
      <p:cxnSp>
        <p:nvCxnSpPr>
          <p:cNvPr id="514" name="Google Shape;514;p18"/>
          <p:cNvCxnSpPr>
            <a:stCxn id="500" idx="2"/>
          </p:cNvCxnSpPr>
          <p:nvPr/>
        </p:nvCxnSpPr>
        <p:spPr>
          <a:xfrm flipH="1" rot="5400000">
            <a:off x="7211532" y="1707891"/>
            <a:ext cx="81300" cy="1261800"/>
          </a:xfrm>
          <a:prstGeom prst="bentConnector4">
            <a:avLst>
              <a:gd fmla="val -292897" name="adj1"/>
              <a:gd fmla="val 77764" name="adj2"/>
            </a:avLst>
          </a:prstGeom>
          <a:noFill/>
          <a:ln cap="flat" cmpd="sng" w="9525">
            <a:solidFill>
              <a:srgbClr val="B7B7B7"/>
            </a:solidFill>
            <a:prstDash val="solid"/>
            <a:round/>
            <a:headEnd len="med" w="med" type="oval"/>
            <a:tailEnd len="med" w="med" type="oval"/>
          </a:ln>
        </p:spPr>
      </p:cxnSp>
      <p:sp>
        <p:nvSpPr>
          <p:cNvPr id="515" name="Google Shape;515;p18"/>
          <p:cNvSpPr txBox="1"/>
          <p:nvPr/>
        </p:nvSpPr>
        <p:spPr>
          <a:xfrm>
            <a:off x="428857" y="3563900"/>
            <a:ext cx="3000000" cy="554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Program </a:t>
            </a:r>
            <a:endParaRPr b="0" i="0" sz="800" u="none" cap="none" strike="noStrike">
              <a:solidFill>
                <a:srgbClr val="12519C"/>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Execution </a:t>
            </a:r>
            <a:endParaRPr b="0" i="0" sz="800" u="none" cap="none" strike="noStrike">
              <a:solidFill>
                <a:srgbClr val="12519C"/>
              </a:solidFill>
              <a:latin typeface="Montserrat"/>
              <a:ea typeface="Montserrat"/>
              <a:cs typeface="Montserrat"/>
              <a:sym typeface="Montserrat"/>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12519C"/>
                </a:solidFill>
                <a:latin typeface="Montserrat"/>
                <a:ea typeface="Montserrat"/>
                <a:cs typeface="Montserrat"/>
                <a:sym typeface="Montserrat"/>
              </a:rPr>
              <a:t>Team</a:t>
            </a:r>
            <a:endParaRPr b="0" i="0" sz="800" u="none" cap="none" strike="noStrike">
              <a:solidFill>
                <a:srgbClr val="12519C"/>
              </a:solidFill>
              <a:latin typeface="Montserrat"/>
              <a:ea typeface="Montserrat"/>
              <a:cs typeface="Montserrat"/>
              <a:sym typeface="Montserrat"/>
            </a:endParaRPr>
          </a:p>
        </p:txBody>
      </p:sp>
      <p:pic>
        <p:nvPicPr>
          <p:cNvPr descr="TTN Logo.png" id="516" name="Google Shape;516;p18"/>
          <p:cNvPicPr preferRelativeResize="0"/>
          <p:nvPr/>
        </p:nvPicPr>
        <p:blipFill rotWithShape="1">
          <a:blip r:embed="rId10">
            <a:alphaModFix/>
          </a:blip>
          <a:srcRect b="0" l="0" r="0" t="0"/>
          <a:stretch/>
        </p:blipFill>
        <p:spPr>
          <a:xfrm>
            <a:off x="5110881" y="612478"/>
            <a:ext cx="625544" cy="349439"/>
          </a:xfrm>
          <a:prstGeom prst="rect">
            <a:avLst/>
          </a:prstGeom>
          <a:noFill/>
          <a:ln>
            <a:noFill/>
          </a:ln>
        </p:spPr>
      </p:pic>
      <p:sp>
        <p:nvSpPr>
          <p:cNvPr id="518" name="Google Shape;518;p18"/>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19"/>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Project Plan</a:t>
            </a:r>
            <a:endParaRPr b="1" i="0" sz="2000" u="none" cap="none" strike="noStrike">
              <a:solidFill>
                <a:schemeClr val="dk1"/>
              </a:solidFill>
              <a:latin typeface="Montserrat"/>
              <a:ea typeface="Montserrat"/>
              <a:cs typeface="Montserrat"/>
              <a:sym typeface="Montserrat"/>
            </a:endParaRPr>
          </a:p>
        </p:txBody>
      </p:sp>
      <p:graphicFrame>
        <p:nvGraphicFramePr>
          <p:cNvPr id="524" name="Google Shape;524;p19"/>
          <p:cNvGraphicFramePr/>
          <p:nvPr/>
        </p:nvGraphicFramePr>
        <p:xfrm>
          <a:off x="232325" y="700950"/>
          <a:ext cx="3000000" cy="3000000"/>
        </p:xfrm>
        <a:graphic>
          <a:graphicData uri="http://schemas.openxmlformats.org/drawingml/2006/table">
            <a:tbl>
              <a:tblPr>
                <a:noFill/>
                <a:tableStyleId>{8E411067-61D8-4564-84A8-C3C864F6D0E8}</a:tableStyleId>
              </a:tblPr>
              <a:tblGrid>
                <a:gridCol w="1256925"/>
                <a:gridCol w="461550"/>
                <a:gridCol w="476475"/>
                <a:gridCol w="453325"/>
                <a:gridCol w="498275"/>
                <a:gridCol w="464450"/>
                <a:gridCol w="457375"/>
                <a:gridCol w="517625"/>
                <a:gridCol w="517625"/>
                <a:gridCol w="517625"/>
                <a:gridCol w="517625"/>
                <a:gridCol w="517625"/>
                <a:gridCol w="517625"/>
                <a:gridCol w="517625"/>
                <a:gridCol w="517625"/>
                <a:gridCol w="517625"/>
              </a:tblGrid>
              <a:tr h="320750">
                <a:tc>
                  <a:txBody>
                    <a:bodyPr/>
                    <a:lstStyle/>
                    <a:p>
                      <a:pPr indent="0" lvl="0" marL="0" marR="0" rtl="0" algn="ctr">
                        <a:lnSpc>
                          <a:spcPct val="100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Activities /Timelines</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1</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2</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3</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4</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5</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6</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7</a:t>
                      </a:r>
                      <a:endParaRPr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8</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9</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900" u="none" cap="none" strike="noStrike">
                          <a:solidFill>
                            <a:srgbClr val="FFFFFF"/>
                          </a:solidFill>
                          <a:latin typeface="Montserrat"/>
                          <a:ea typeface="Montserrat"/>
                          <a:cs typeface="Montserrat"/>
                          <a:sym typeface="Montserrat"/>
                        </a:rPr>
                        <a:t>Week 10</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900" u="none" cap="none" strike="noStrike">
                          <a:solidFill>
                            <a:srgbClr val="FFFFFF"/>
                          </a:solidFill>
                          <a:latin typeface="Montserrat"/>
                          <a:ea typeface="Montserrat"/>
                          <a:cs typeface="Montserrat"/>
                          <a:sym typeface="Montserrat"/>
                        </a:rPr>
                        <a:t>Week 11</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900" u="none" cap="none" strike="noStrike">
                          <a:solidFill>
                            <a:srgbClr val="FFFFFF"/>
                          </a:solidFill>
                          <a:latin typeface="Montserrat"/>
                          <a:ea typeface="Montserrat"/>
                          <a:cs typeface="Montserrat"/>
                          <a:sym typeface="Montserrat"/>
                        </a:rPr>
                        <a:t>Week 12</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900"/>
                        <a:buFont typeface="Arial"/>
                        <a:buNone/>
                      </a:pPr>
                      <a:r>
                        <a:rPr b="1" lang="en" sz="900" u="none" cap="none" strike="noStrike">
                          <a:solidFill>
                            <a:srgbClr val="FFFFFF"/>
                          </a:solidFill>
                          <a:latin typeface="Montserrat"/>
                          <a:ea typeface="Montserrat"/>
                          <a:cs typeface="Montserrat"/>
                          <a:sym typeface="Montserrat"/>
                        </a:rPr>
                        <a:t>Week 13</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900" u="none" cap="none" strike="noStrike">
                          <a:solidFill>
                            <a:srgbClr val="FFFFFF"/>
                          </a:solidFill>
                          <a:latin typeface="Montserrat"/>
                          <a:ea typeface="Montserrat"/>
                          <a:cs typeface="Montserrat"/>
                          <a:sym typeface="Montserrat"/>
                        </a:rPr>
                        <a:t>Week 14</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c>
                  <a:txBody>
                    <a:bodyPr/>
                    <a:lstStyle/>
                    <a:p>
                      <a:pPr indent="0" lvl="0" marL="0" marR="0" rtl="0" algn="ctr">
                        <a:lnSpc>
                          <a:spcPct val="115000"/>
                        </a:lnSpc>
                        <a:spcBef>
                          <a:spcPts val="0"/>
                        </a:spcBef>
                        <a:spcAft>
                          <a:spcPts val="0"/>
                        </a:spcAft>
                        <a:buClr>
                          <a:srgbClr val="000000"/>
                        </a:buClr>
                        <a:buSzPts val="1100"/>
                        <a:buFont typeface="Arial"/>
                        <a:buNone/>
                      </a:pPr>
                      <a:r>
                        <a:rPr b="1" lang="en" sz="900" u="none" cap="none" strike="noStrike">
                          <a:solidFill>
                            <a:srgbClr val="FFFFFF"/>
                          </a:solidFill>
                          <a:latin typeface="Montserrat"/>
                          <a:ea typeface="Montserrat"/>
                          <a:cs typeface="Montserrat"/>
                          <a:sym typeface="Montserrat"/>
                        </a:rPr>
                        <a:t>Week 15</a:t>
                      </a:r>
                      <a:endParaRPr b="1" sz="900" u="none" cap="none" strike="noStrike">
                        <a:solidFill>
                          <a:srgbClr val="FFFFFF"/>
                        </a:solidFill>
                        <a:latin typeface="Montserrat"/>
                        <a:ea typeface="Montserrat"/>
                        <a:cs typeface="Montserrat"/>
                        <a:sym typeface="Montserrat"/>
                      </a:endParaRPr>
                    </a:p>
                  </a:txBody>
                  <a:tcPr marT="0" marB="0" marR="0" marL="0" anchor="ctr">
                    <a:lnL cap="flat" cmpd="sng" w="9525">
                      <a:solidFill>
                        <a:srgbClr val="EFEFEF"/>
                      </a:solidFill>
                      <a:prstDash val="solid"/>
                      <a:round/>
                      <a:headEnd len="sm" w="sm" type="none"/>
                      <a:tailEnd len="sm" w="sm" type="none"/>
                    </a:lnL>
                    <a:lnR cap="flat" cmpd="sng" w="9525">
                      <a:solidFill>
                        <a:srgbClr val="EFEFEF"/>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12519C"/>
                    </a:solidFill>
                  </a:tcPr>
                </a:tc>
              </a:tr>
              <a:tr h="654150">
                <a:tc>
                  <a:txBody>
                    <a:bodyPr/>
                    <a:lstStyle/>
                    <a:p>
                      <a:pPr indent="0" lvl="0" marL="0" marR="0" rtl="0" algn="l">
                        <a:lnSpc>
                          <a:spcPct val="100000"/>
                        </a:lnSpc>
                        <a:spcBef>
                          <a:spcPts val="0"/>
                        </a:spcBef>
                        <a:spcAft>
                          <a:spcPts val="0"/>
                        </a:spcAft>
                        <a:buClr>
                          <a:srgbClr val="000000"/>
                        </a:buClr>
                        <a:buSzPts val="1000"/>
                        <a:buFont typeface="Arial"/>
                        <a:buNone/>
                      </a:pPr>
                      <a:r>
                        <a:rPr b="1" lang="en" sz="1000" u="none" cap="none" strike="noStrike">
                          <a:solidFill>
                            <a:srgbClr val="434343"/>
                          </a:solidFill>
                          <a:latin typeface="Montserrat"/>
                          <a:ea typeface="Montserrat"/>
                          <a:cs typeface="Montserrat"/>
                          <a:sym typeface="Montserrat"/>
                        </a:rPr>
                        <a:t>Design &amp; Discovery Phase</a:t>
                      </a:r>
                      <a:endParaRPr b="1" sz="1000" u="none" cap="none" strike="noStrike">
                        <a:solidFill>
                          <a:srgbClr val="434343"/>
                        </a:solidFill>
                        <a:latin typeface="Montserrat"/>
                        <a:ea typeface="Montserrat"/>
                        <a:cs typeface="Montserrat"/>
                        <a:sym typeface="Montserrat"/>
                      </a:endParaRPr>
                    </a:p>
                  </a:txBody>
                  <a:tcPr marT="19050" marB="19050" marR="0"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740700">
                <a:tc>
                  <a:txBody>
                    <a:bodyPr/>
                    <a:lstStyle/>
                    <a:p>
                      <a:pPr indent="0" lvl="0" marL="0" marR="0" rtl="0" algn="l">
                        <a:lnSpc>
                          <a:spcPct val="115000"/>
                        </a:lnSpc>
                        <a:spcBef>
                          <a:spcPts val="0"/>
                        </a:spcBef>
                        <a:spcAft>
                          <a:spcPts val="0"/>
                        </a:spcAft>
                        <a:buClr>
                          <a:srgbClr val="000000"/>
                        </a:buClr>
                        <a:buSzPts val="1000"/>
                        <a:buFont typeface="Arial"/>
                        <a:buNone/>
                      </a:pPr>
                      <a:r>
                        <a:rPr b="1" lang="en" sz="1000" u="none" cap="none" strike="noStrike">
                          <a:solidFill>
                            <a:srgbClr val="434343"/>
                          </a:solidFill>
                          <a:latin typeface="Montserrat"/>
                          <a:ea typeface="Montserrat"/>
                          <a:cs typeface="Montserrat"/>
                          <a:sym typeface="Montserrat"/>
                        </a:rPr>
                        <a:t>Agile based Iterative Development and Testing ( end to end features)</a:t>
                      </a:r>
                      <a:endParaRPr b="1" sz="1000" u="none" cap="none" strike="noStrike">
                        <a:solidFill>
                          <a:srgbClr val="434343"/>
                        </a:solidFill>
                        <a:latin typeface="Montserrat"/>
                        <a:ea typeface="Montserrat"/>
                        <a:cs typeface="Montserrat"/>
                        <a:sym typeface="Montserrat"/>
                      </a:endParaRPr>
                    </a:p>
                  </a:txBody>
                  <a:tcPr marT="19050" marB="19050" marR="0"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550375">
                <a:tc>
                  <a:txBody>
                    <a:bodyPr/>
                    <a:lstStyle/>
                    <a:p>
                      <a:pPr indent="0" lvl="0" marL="0" marR="0" rtl="0" algn="l">
                        <a:lnSpc>
                          <a:spcPct val="115000"/>
                        </a:lnSpc>
                        <a:spcBef>
                          <a:spcPts val="0"/>
                        </a:spcBef>
                        <a:spcAft>
                          <a:spcPts val="0"/>
                        </a:spcAft>
                        <a:buClr>
                          <a:srgbClr val="000000"/>
                        </a:buClr>
                        <a:buSzPts val="1000"/>
                        <a:buFont typeface="Arial"/>
                        <a:buNone/>
                      </a:pPr>
                      <a:r>
                        <a:rPr b="1" lang="en" sz="1000" u="none" cap="none" strike="noStrike">
                          <a:solidFill>
                            <a:srgbClr val="434343"/>
                          </a:solidFill>
                          <a:latin typeface="Montserrat"/>
                          <a:ea typeface="Montserrat"/>
                          <a:cs typeface="Montserrat"/>
                          <a:sym typeface="Montserrat"/>
                        </a:rPr>
                        <a:t>UAT and Go Live (2 Weeks)</a:t>
                      </a:r>
                      <a:endParaRPr b="1" sz="1000" u="none" cap="none" strike="noStrike">
                        <a:solidFill>
                          <a:srgbClr val="434343"/>
                        </a:solidFill>
                        <a:latin typeface="Montserrat"/>
                        <a:ea typeface="Montserrat"/>
                        <a:cs typeface="Montserrat"/>
                        <a:sym typeface="Montserrat"/>
                      </a:endParaRPr>
                    </a:p>
                  </a:txBody>
                  <a:tcPr marT="19050" marB="19050" marR="0"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r h="598850">
                <a:tc>
                  <a:txBody>
                    <a:bodyPr/>
                    <a:lstStyle/>
                    <a:p>
                      <a:pPr indent="0" lvl="0" marL="0" marR="0" rtl="0" algn="l">
                        <a:lnSpc>
                          <a:spcPct val="115000"/>
                        </a:lnSpc>
                        <a:spcBef>
                          <a:spcPts val="0"/>
                        </a:spcBef>
                        <a:spcAft>
                          <a:spcPts val="0"/>
                        </a:spcAft>
                        <a:buClr>
                          <a:srgbClr val="000000"/>
                        </a:buClr>
                        <a:buSzPts val="1000"/>
                        <a:buFont typeface="Arial"/>
                        <a:buNone/>
                      </a:pPr>
                      <a:r>
                        <a:rPr b="1" lang="en" sz="1000" u="none" cap="none" strike="noStrike">
                          <a:solidFill>
                            <a:srgbClr val="434343"/>
                          </a:solidFill>
                          <a:latin typeface="Montserrat"/>
                          <a:ea typeface="Montserrat"/>
                          <a:cs typeface="Montserrat"/>
                          <a:sym typeface="Montserrat"/>
                        </a:rPr>
                        <a:t>Hypercare Support ( For 2 Weeks Post Go-Live)</a:t>
                      </a:r>
                      <a:endParaRPr b="1" sz="1000" u="none" cap="none" strike="noStrike">
                        <a:solidFill>
                          <a:srgbClr val="434343"/>
                        </a:solidFill>
                        <a:latin typeface="Montserrat"/>
                        <a:ea typeface="Montserrat"/>
                        <a:cs typeface="Montserrat"/>
                        <a:sym typeface="Montserrat"/>
                      </a:endParaRPr>
                    </a:p>
                  </a:txBody>
                  <a:tcPr marT="19050" marB="19050" marR="0"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00000"/>
                        </a:buClr>
                        <a:buSzPts val="800"/>
                        <a:buFont typeface="Arial"/>
                        <a:buNone/>
                      </a:pPr>
                      <a:r>
                        <a:t/>
                      </a:r>
                      <a:endParaRPr sz="800" u="none" cap="none" strike="noStrike">
                        <a:latin typeface="Century Gothic"/>
                        <a:ea typeface="Century Gothic"/>
                        <a:cs typeface="Century Gothic"/>
                        <a:sym typeface="Century Gothic"/>
                      </a:endParaRPr>
                    </a:p>
                  </a:txBody>
                  <a:tcPr marT="0" marB="0" marR="0" marL="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FFFFFF"/>
                    </a:solidFill>
                  </a:tcPr>
                </a:tc>
              </a:tr>
            </a:tbl>
          </a:graphicData>
        </a:graphic>
      </p:graphicFrame>
      <p:sp>
        <p:nvSpPr>
          <p:cNvPr id="525" name="Google Shape;525;p19"/>
          <p:cNvSpPr/>
          <p:nvPr/>
        </p:nvSpPr>
        <p:spPr>
          <a:xfrm>
            <a:off x="1489250" y="1136263"/>
            <a:ext cx="938100" cy="164700"/>
          </a:xfrm>
          <a:prstGeom prst="homePlate">
            <a:avLst>
              <a:gd fmla="val 50000" name="adj"/>
            </a:avLst>
          </a:prstGeom>
          <a:solidFill>
            <a:srgbClr val="F5B6D7"/>
          </a:solidFill>
          <a:ln cap="flat" cmpd="sng" w="9525">
            <a:solidFill>
              <a:srgbClr val="F5B6D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000000"/>
                </a:solidFill>
                <a:latin typeface="Montserrat"/>
                <a:ea typeface="Montserrat"/>
                <a:cs typeface="Montserrat"/>
                <a:sym typeface="Montserrat"/>
              </a:rPr>
              <a:t>Discovery</a:t>
            </a:r>
            <a:endParaRPr b="1" i="0" sz="800" u="none" cap="none" strike="noStrike">
              <a:solidFill>
                <a:srgbClr val="000000"/>
              </a:solidFill>
              <a:latin typeface="Montserrat"/>
              <a:ea typeface="Montserrat"/>
              <a:cs typeface="Montserrat"/>
              <a:sym typeface="Montserrat"/>
            </a:endParaRPr>
          </a:p>
        </p:txBody>
      </p:sp>
      <p:sp>
        <p:nvSpPr>
          <p:cNvPr id="526" name="Google Shape;526;p19"/>
          <p:cNvSpPr/>
          <p:nvPr/>
        </p:nvSpPr>
        <p:spPr>
          <a:xfrm>
            <a:off x="2427275" y="1935925"/>
            <a:ext cx="4443600" cy="307800"/>
          </a:xfrm>
          <a:prstGeom prst="homePlate">
            <a:avLst>
              <a:gd fmla="val 50000" name="adj"/>
            </a:avLst>
          </a:prstGeom>
          <a:solidFill>
            <a:srgbClr val="D71B7F"/>
          </a:solidFill>
          <a:ln cap="flat" cmpd="sng" w="9525">
            <a:solidFill>
              <a:srgbClr val="F5B6D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19"/>
          <p:cNvSpPr/>
          <p:nvPr/>
        </p:nvSpPr>
        <p:spPr>
          <a:xfrm>
            <a:off x="6888825" y="2711775"/>
            <a:ext cx="1035300" cy="307800"/>
          </a:xfrm>
          <a:prstGeom prst="homePlate">
            <a:avLst>
              <a:gd fmla="val 50000" name="adj"/>
            </a:avLst>
          </a:prstGeom>
          <a:solidFill>
            <a:srgbClr val="6AA84F"/>
          </a:solidFill>
          <a:ln cap="flat" cmpd="sng" w="9525">
            <a:solidFill>
              <a:srgbClr val="6AA84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8" name="Google Shape;528;p19"/>
          <p:cNvPicPr preferRelativeResize="0"/>
          <p:nvPr/>
        </p:nvPicPr>
        <p:blipFill rotWithShape="1">
          <a:blip r:embed="rId3">
            <a:alphaModFix/>
          </a:blip>
          <a:srcRect b="0" l="0" r="0" t="0"/>
          <a:stretch/>
        </p:blipFill>
        <p:spPr>
          <a:xfrm>
            <a:off x="6818825" y="2550325"/>
            <a:ext cx="240600" cy="240600"/>
          </a:xfrm>
          <a:prstGeom prst="rect">
            <a:avLst/>
          </a:prstGeom>
          <a:noFill/>
          <a:ln>
            <a:noFill/>
          </a:ln>
        </p:spPr>
      </p:pic>
      <p:sp>
        <p:nvSpPr>
          <p:cNvPr id="529" name="Google Shape;529;p19"/>
          <p:cNvSpPr/>
          <p:nvPr/>
        </p:nvSpPr>
        <p:spPr>
          <a:xfrm>
            <a:off x="7924075" y="3444925"/>
            <a:ext cx="1035300" cy="307800"/>
          </a:xfrm>
          <a:prstGeom prst="homePlate">
            <a:avLst>
              <a:gd fmla="val 50000" name="adj"/>
            </a:avLst>
          </a:prstGeom>
          <a:solidFill>
            <a:srgbClr val="FF9900"/>
          </a:solidFill>
          <a:ln cap="flat" cmpd="sng" w="9525">
            <a:solidFill>
              <a:srgbClr val="F5B6D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30" name="Google Shape;530;p19"/>
          <p:cNvPicPr preferRelativeResize="0"/>
          <p:nvPr/>
        </p:nvPicPr>
        <p:blipFill rotWithShape="1">
          <a:blip r:embed="rId3">
            <a:alphaModFix/>
          </a:blip>
          <a:srcRect b="0" l="0" r="0" t="0"/>
          <a:stretch/>
        </p:blipFill>
        <p:spPr>
          <a:xfrm>
            <a:off x="7877075" y="3184775"/>
            <a:ext cx="240600" cy="240600"/>
          </a:xfrm>
          <a:prstGeom prst="rect">
            <a:avLst/>
          </a:prstGeom>
          <a:noFill/>
          <a:ln>
            <a:noFill/>
          </a:ln>
        </p:spPr>
      </p:pic>
      <p:sp>
        <p:nvSpPr>
          <p:cNvPr id="531" name="Google Shape;531;p19"/>
          <p:cNvSpPr txBox="1"/>
          <p:nvPr/>
        </p:nvSpPr>
        <p:spPr>
          <a:xfrm>
            <a:off x="266700" y="4399275"/>
            <a:ext cx="8596200" cy="6465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dk1"/>
                </a:solidFill>
                <a:latin typeface="Montserrat"/>
                <a:ea typeface="Montserrat"/>
                <a:cs typeface="Montserrat"/>
                <a:sym typeface="Montserrat"/>
              </a:rPr>
              <a:t>*Notes: </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1"/>
              </a:buClr>
              <a:buSzPts val="1000"/>
              <a:buFont typeface="Montserrat"/>
              <a:buChar char="●"/>
            </a:pPr>
            <a:r>
              <a:rPr b="0" i="0" lang="en" sz="1000" u="none" cap="none" strike="noStrike">
                <a:solidFill>
                  <a:schemeClr val="dk1"/>
                </a:solidFill>
                <a:latin typeface="Montserrat"/>
                <a:ea typeface="Montserrat"/>
                <a:cs typeface="Montserrat"/>
                <a:sym typeface="Montserrat"/>
              </a:rPr>
              <a:t>2 Weeks of Hypercare support post go-live will be provided at no additional cost.</a:t>
            </a:r>
            <a:endParaRPr b="0" i="0" sz="1000" u="none" cap="none" strike="noStrike">
              <a:solidFill>
                <a:schemeClr val="dk1"/>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1"/>
              </a:buClr>
              <a:buSzPts val="1000"/>
              <a:buFont typeface="Montserrat"/>
              <a:buChar char="●"/>
            </a:pPr>
            <a:r>
              <a:rPr b="0" i="0" lang="en" sz="1000" u="none" cap="none" strike="noStrike">
                <a:solidFill>
                  <a:schemeClr val="dk1"/>
                </a:solidFill>
                <a:latin typeface="Montserrat"/>
                <a:ea typeface="Montserrat"/>
                <a:cs typeface="Montserrat"/>
                <a:sym typeface="Montserrat"/>
              </a:rPr>
              <a:t>Project  Timelines could be revised after discovery with expected variation upto +/-10%</a:t>
            </a:r>
            <a:endParaRPr b="0" i="0" sz="1000" u="none" cap="none" strike="noStrike">
              <a:solidFill>
                <a:schemeClr val="dk1"/>
              </a:solidFill>
              <a:latin typeface="Montserrat"/>
              <a:ea typeface="Montserrat"/>
              <a:cs typeface="Montserrat"/>
              <a:sym typeface="Montserrat"/>
            </a:endParaRPr>
          </a:p>
        </p:txBody>
      </p:sp>
      <p:sp>
        <p:nvSpPr>
          <p:cNvPr id="532" name="Google Shape;532;p1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pic>
        <p:nvPicPr>
          <p:cNvPr id="533" name="Google Shape;533;p19"/>
          <p:cNvPicPr preferRelativeResize="0"/>
          <p:nvPr/>
        </p:nvPicPr>
        <p:blipFill rotWithShape="1">
          <a:blip r:embed="rId4">
            <a:alphaModFix/>
          </a:blip>
          <a:srcRect b="0" l="0" r="0" t="0"/>
          <a:stretch/>
        </p:blipFill>
        <p:spPr>
          <a:xfrm>
            <a:off x="3326050" y="1736975"/>
            <a:ext cx="240600" cy="240600"/>
          </a:xfrm>
          <a:prstGeom prst="rect">
            <a:avLst/>
          </a:prstGeom>
          <a:noFill/>
          <a:ln>
            <a:noFill/>
          </a:ln>
        </p:spPr>
      </p:pic>
      <p:pic>
        <p:nvPicPr>
          <p:cNvPr id="534" name="Google Shape;534;p19"/>
          <p:cNvPicPr preferRelativeResize="0"/>
          <p:nvPr/>
        </p:nvPicPr>
        <p:blipFill rotWithShape="1">
          <a:blip r:embed="rId4">
            <a:alphaModFix/>
          </a:blip>
          <a:srcRect b="0" l="0" r="0" t="0"/>
          <a:stretch/>
        </p:blipFill>
        <p:spPr>
          <a:xfrm>
            <a:off x="4238225" y="1736975"/>
            <a:ext cx="240600" cy="240600"/>
          </a:xfrm>
          <a:prstGeom prst="rect">
            <a:avLst/>
          </a:prstGeom>
          <a:noFill/>
          <a:ln>
            <a:noFill/>
          </a:ln>
        </p:spPr>
      </p:pic>
      <p:pic>
        <p:nvPicPr>
          <p:cNvPr id="535" name="Google Shape;535;p19"/>
          <p:cNvPicPr preferRelativeResize="0"/>
          <p:nvPr/>
        </p:nvPicPr>
        <p:blipFill rotWithShape="1">
          <a:blip r:embed="rId4">
            <a:alphaModFix/>
          </a:blip>
          <a:srcRect b="0" l="0" r="0" t="0"/>
          <a:stretch/>
        </p:blipFill>
        <p:spPr>
          <a:xfrm>
            <a:off x="5275350" y="1736975"/>
            <a:ext cx="240600" cy="240600"/>
          </a:xfrm>
          <a:prstGeom prst="rect">
            <a:avLst/>
          </a:prstGeom>
          <a:noFill/>
          <a:ln>
            <a:noFill/>
          </a:ln>
        </p:spPr>
      </p:pic>
      <p:pic>
        <p:nvPicPr>
          <p:cNvPr id="536" name="Google Shape;536;p19"/>
          <p:cNvPicPr preferRelativeResize="0"/>
          <p:nvPr/>
        </p:nvPicPr>
        <p:blipFill rotWithShape="1">
          <a:blip r:embed="rId4">
            <a:alphaModFix/>
          </a:blip>
          <a:srcRect b="0" l="0" r="0" t="0"/>
          <a:stretch/>
        </p:blipFill>
        <p:spPr>
          <a:xfrm>
            <a:off x="6312475" y="1736975"/>
            <a:ext cx="240600" cy="240600"/>
          </a:xfrm>
          <a:prstGeom prst="rect">
            <a:avLst/>
          </a:prstGeom>
          <a:noFill/>
          <a:ln>
            <a:noFill/>
          </a:ln>
        </p:spPr>
      </p:pic>
      <p:pic>
        <p:nvPicPr>
          <p:cNvPr id="537" name="Google Shape;537;p19"/>
          <p:cNvPicPr preferRelativeResize="0"/>
          <p:nvPr/>
        </p:nvPicPr>
        <p:blipFill rotWithShape="1">
          <a:blip r:embed="rId4">
            <a:alphaModFix/>
          </a:blip>
          <a:srcRect b="0" l="0" r="0" t="0"/>
          <a:stretch/>
        </p:blipFill>
        <p:spPr>
          <a:xfrm>
            <a:off x="594350" y="3950950"/>
            <a:ext cx="240600" cy="240600"/>
          </a:xfrm>
          <a:prstGeom prst="rect">
            <a:avLst/>
          </a:prstGeom>
          <a:noFill/>
          <a:ln>
            <a:noFill/>
          </a:ln>
        </p:spPr>
      </p:pic>
      <p:sp>
        <p:nvSpPr>
          <p:cNvPr id="538" name="Google Shape;538;p19"/>
          <p:cNvSpPr txBox="1"/>
          <p:nvPr/>
        </p:nvSpPr>
        <p:spPr>
          <a:xfrm>
            <a:off x="758750" y="3909700"/>
            <a:ext cx="20001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000000"/>
                </a:solidFill>
                <a:latin typeface="Montserrat"/>
                <a:ea typeface="Montserrat"/>
                <a:cs typeface="Montserrat"/>
                <a:sym typeface="Montserrat"/>
              </a:rPr>
              <a:t>Product Increment Review</a:t>
            </a:r>
            <a:endParaRPr b="0" i="0" sz="900" u="none" cap="none" strike="noStrike">
              <a:solidFill>
                <a:srgbClr val="000000"/>
              </a:solidFill>
              <a:latin typeface="Montserrat"/>
              <a:ea typeface="Montserrat"/>
              <a:cs typeface="Montserrat"/>
              <a:sym typeface="Montserrat"/>
            </a:endParaRPr>
          </a:p>
        </p:txBody>
      </p:sp>
      <p:pic>
        <p:nvPicPr>
          <p:cNvPr id="539" name="Google Shape;539;p19"/>
          <p:cNvPicPr preferRelativeResize="0"/>
          <p:nvPr/>
        </p:nvPicPr>
        <p:blipFill rotWithShape="1">
          <a:blip r:embed="rId3">
            <a:alphaModFix/>
          </a:blip>
          <a:srcRect b="0" l="0" r="0" t="0"/>
          <a:stretch/>
        </p:blipFill>
        <p:spPr>
          <a:xfrm>
            <a:off x="2973050" y="3950950"/>
            <a:ext cx="240600" cy="240600"/>
          </a:xfrm>
          <a:prstGeom prst="rect">
            <a:avLst/>
          </a:prstGeom>
          <a:noFill/>
          <a:ln>
            <a:noFill/>
          </a:ln>
        </p:spPr>
      </p:pic>
      <p:sp>
        <p:nvSpPr>
          <p:cNvPr id="540" name="Google Shape;540;p19"/>
          <p:cNvSpPr txBox="1"/>
          <p:nvPr/>
        </p:nvSpPr>
        <p:spPr>
          <a:xfrm>
            <a:off x="3120950" y="3909700"/>
            <a:ext cx="2000100" cy="323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900"/>
              <a:buFont typeface="Arial"/>
              <a:buNone/>
            </a:pPr>
            <a:r>
              <a:rPr b="0" i="0" lang="en" sz="900" u="none" cap="none" strike="noStrike">
                <a:solidFill>
                  <a:srgbClr val="000000"/>
                </a:solidFill>
                <a:latin typeface="Montserrat"/>
                <a:ea typeface="Montserrat"/>
                <a:cs typeface="Montserrat"/>
                <a:sym typeface="Montserrat"/>
              </a:rPr>
              <a:t>UAT and Go-Live</a:t>
            </a:r>
            <a:endParaRPr b="0" i="0" sz="900" u="none" cap="none" strike="noStrike">
              <a:solidFill>
                <a:srgbClr val="000000"/>
              </a:solidFill>
              <a:latin typeface="Montserrat"/>
              <a:ea typeface="Montserrat"/>
              <a:cs typeface="Montserrat"/>
              <a:sym typeface="Montserrat"/>
            </a:endParaRPr>
          </a:p>
        </p:txBody>
      </p:sp>
      <p:sp>
        <p:nvSpPr>
          <p:cNvPr id="541" name="Google Shape;541;p19"/>
          <p:cNvSpPr/>
          <p:nvPr/>
        </p:nvSpPr>
        <p:spPr>
          <a:xfrm>
            <a:off x="1489250" y="1392800"/>
            <a:ext cx="2811600" cy="164700"/>
          </a:xfrm>
          <a:prstGeom prst="homePlate">
            <a:avLst>
              <a:gd fmla="val 50000" name="adj"/>
            </a:avLst>
          </a:prstGeom>
          <a:solidFill>
            <a:srgbClr val="F5B6D7"/>
          </a:solidFill>
          <a:ln cap="flat" cmpd="sng" w="9525">
            <a:solidFill>
              <a:srgbClr val="F5B6D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000000"/>
                </a:solidFill>
                <a:latin typeface="Montserrat"/>
                <a:ea typeface="Montserrat"/>
                <a:cs typeface="Montserrat"/>
                <a:sym typeface="Montserrat"/>
              </a:rPr>
              <a:t>Design Phase</a:t>
            </a:r>
            <a:endParaRPr b="1" i="0" sz="8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20"/>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20"/>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t>Agenda</a:t>
            </a:r>
            <a:endParaRPr/>
          </a:p>
        </p:txBody>
      </p:sp>
      <p:sp>
        <p:nvSpPr>
          <p:cNvPr id="548" name="Google Shape;548;p20"/>
          <p:cNvSpPr/>
          <p:nvPr/>
        </p:nvSpPr>
        <p:spPr>
          <a:xfrm>
            <a:off x="1358763" y="111102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Executive Summary and Our Understanding of Project Requirements</a:t>
            </a:r>
            <a:endParaRPr b="0" i="0" sz="1200" u="none" cap="none" strike="noStrike">
              <a:solidFill>
                <a:srgbClr val="000000"/>
              </a:solidFill>
              <a:latin typeface="Montserrat"/>
              <a:ea typeface="Montserrat"/>
              <a:cs typeface="Montserrat"/>
              <a:sym typeface="Montserrat"/>
            </a:endParaRPr>
          </a:p>
        </p:txBody>
      </p:sp>
      <p:sp>
        <p:nvSpPr>
          <p:cNvPr id="549" name="Google Shape;549;p20"/>
          <p:cNvSpPr/>
          <p:nvPr/>
        </p:nvSpPr>
        <p:spPr>
          <a:xfrm>
            <a:off x="1358763" y="1678410"/>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Proposed Technical Solution Approach</a:t>
            </a:r>
            <a:endParaRPr b="0" i="0" sz="1200" u="none" cap="none" strike="noStrike">
              <a:solidFill>
                <a:srgbClr val="000000"/>
              </a:solidFill>
              <a:latin typeface="Montserrat"/>
              <a:ea typeface="Montserrat"/>
              <a:cs typeface="Montserrat"/>
              <a:sym typeface="Montserrat"/>
            </a:endParaRPr>
          </a:p>
        </p:txBody>
      </p:sp>
      <p:sp>
        <p:nvSpPr>
          <p:cNvPr id="550" name="Google Shape;550;p20"/>
          <p:cNvSpPr/>
          <p:nvPr/>
        </p:nvSpPr>
        <p:spPr>
          <a:xfrm>
            <a:off x="1358763" y="328987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100"/>
              <a:buFont typeface="Arial"/>
              <a:buNone/>
            </a:pPr>
            <a:r>
              <a:rPr b="0" i="0" lang="en" sz="1200" u="none" cap="none" strike="noStrike">
                <a:solidFill>
                  <a:srgbClr val="000000"/>
                </a:solidFill>
                <a:latin typeface="Montserrat"/>
                <a:ea typeface="Montserrat"/>
                <a:cs typeface="Montserrat"/>
                <a:sym typeface="Montserrat"/>
              </a:rPr>
              <a:t>Success Stories</a:t>
            </a:r>
            <a:endParaRPr b="0" i="0" sz="1200" u="none" cap="none" strike="noStrike">
              <a:solidFill>
                <a:srgbClr val="000000"/>
              </a:solidFill>
              <a:latin typeface="Montserrat"/>
              <a:ea typeface="Montserrat"/>
              <a:cs typeface="Montserrat"/>
              <a:sym typeface="Montserrat"/>
            </a:endParaRPr>
          </a:p>
        </p:txBody>
      </p:sp>
      <p:cxnSp>
        <p:nvCxnSpPr>
          <p:cNvPr id="551" name="Google Shape;551;p20"/>
          <p:cNvCxnSpPr/>
          <p:nvPr/>
        </p:nvCxnSpPr>
        <p:spPr>
          <a:xfrm>
            <a:off x="1367196" y="1108050"/>
            <a:ext cx="0" cy="382200"/>
          </a:xfrm>
          <a:prstGeom prst="straightConnector1">
            <a:avLst/>
          </a:prstGeom>
          <a:noFill/>
          <a:ln cap="flat" cmpd="sng" w="19050">
            <a:solidFill>
              <a:srgbClr val="12519C"/>
            </a:solidFill>
            <a:prstDash val="solid"/>
            <a:round/>
            <a:headEnd len="sm" w="sm" type="none"/>
            <a:tailEnd len="sm" w="sm" type="none"/>
          </a:ln>
        </p:spPr>
      </p:cxnSp>
      <p:cxnSp>
        <p:nvCxnSpPr>
          <p:cNvPr id="552" name="Google Shape;552;p20"/>
          <p:cNvCxnSpPr/>
          <p:nvPr/>
        </p:nvCxnSpPr>
        <p:spPr>
          <a:xfrm>
            <a:off x="1367196" y="1675436"/>
            <a:ext cx="0" cy="382200"/>
          </a:xfrm>
          <a:prstGeom prst="straightConnector1">
            <a:avLst/>
          </a:prstGeom>
          <a:noFill/>
          <a:ln cap="flat" cmpd="sng" w="19050">
            <a:solidFill>
              <a:srgbClr val="12519C"/>
            </a:solidFill>
            <a:prstDash val="solid"/>
            <a:round/>
            <a:headEnd len="sm" w="sm" type="none"/>
            <a:tailEnd len="sm" w="sm" type="none"/>
          </a:ln>
        </p:spPr>
      </p:cxnSp>
      <p:cxnSp>
        <p:nvCxnSpPr>
          <p:cNvPr id="553" name="Google Shape;553;p20"/>
          <p:cNvCxnSpPr/>
          <p:nvPr/>
        </p:nvCxnSpPr>
        <p:spPr>
          <a:xfrm>
            <a:off x="1367196" y="3288390"/>
            <a:ext cx="0" cy="382200"/>
          </a:xfrm>
          <a:prstGeom prst="straightConnector1">
            <a:avLst/>
          </a:prstGeom>
          <a:noFill/>
          <a:ln cap="flat" cmpd="sng" w="19050">
            <a:solidFill>
              <a:srgbClr val="12519C"/>
            </a:solidFill>
            <a:prstDash val="solid"/>
            <a:round/>
            <a:headEnd len="sm" w="sm" type="none"/>
            <a:tailEnd len="sm" w="sm" type="none"/>
          </a:ln>
        </p:spPr>
      </p:cxnSp>
      <p:sp>
        <p:nvSpPr>
          <p:cNvPr id="554" name="Google Shape;554;p20"/>
          <p:cNvSpPr/>
          <p:nvPr/>
        </p:nvSpPr>
        <p:spPr>
          <a:xfrm>
            <a:off x="1048238" y="1260478"/>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20"/>
          <p:cNvSpPr/>
          <p:nvPr/>
        </p:nvSpPr>
        <p:spPr>
          <a:xfrm>
            <a:off x="1048238" y="1827880"/>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20"/>
          <p:cNvSpPr/>
          <p:nvPr/>
        </p:nvSpPr>
        <p:spPr>
          <a:xfrm>
            <a:off x="1048238" y="3439362"/>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20"/>
          <p:cNvSpPr/>
          <p:nvPr/>
        </p:nvSpPr>
        <p:spPr>
          <a:xfrm>
            <a:off x="1358763" y="224580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Project Plan and Key Deliverables</a:t>
            </a:r>
            <a:endParaRPr b="0" i="0" sz="1200" u="none" cap="none" strike="noStrike">
              <a:solidFill>
                <a:srgbClr val="000000"/>
              </a:solidFill>
              <a:latin typeface="Montserrat"/>
              <a:ea typeface="Montserrat"/>
              <a:cs typeface="Montserrat"/>
              <a:sym typeface="Montserrat"/>
            </a:endParaRPr>
          </a:p>
        </p:txBody>
      </p:sp>
      <p:cxnSp>
        <p:nvCxnSpPr>
          <p:cNvPr id="558" name="Google Shape;558;p20"/>
          <p:cNvCxnSpPr/>
          <p:nvPr/>
        </p:nvCxnSpPr>
        <p:spPr>
          <a:xfrm>
            <a:off x="1367196" y="2242832"/>
            <a:ext cx="0" cy="382200"/>
          </a:xfrm>
          <a:prstGeom prst="straightConnector1">
            <a:avLst/>
          </a:prstGeom>
          <a:noFill/>
          <a:ln cap="flat" cmpd="sng" w="19050">
            <a:solidFill>
              <a:srgbClr val="12519C"/>
            </a:solidFill>
            <a:prstDash val="solid"/>
            <a:round/>
            <a:headEnd len="sm" w="sm" type="none"/>
            <a:tailEnd len="sm" w="sm" type="none"/>
          </a:ln>
        </p:spPr>
      </p:cxnSp>
      <p:sp>
        <p:nvSpPr>
          <p:cNvPr id="559" name="Google Shape;559;p20"/>
          <p:cNvSpPr/>
          <p:nvPr/>
        </p:nvSpPr>
        <p:spPr>
          <a:xfrm>
            <a:off x="1048238" y="239527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20"/>
          <p:cNvSpPr/>
          <p:nvPr/>
        </p:nvSpPr>
        <p:spPr>
          <a:xfrm>
            <a:off x="1358763" y="275588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1" i="0" lang="en" sz="1200" u="none" cap="none" strike="noStrike">
                <a:solidFill>
                  <a:srgbClr val="D71B7F"/>
                </a:solidFill>
                <a:latin typeface="Montserrat"/>
                <a:ea typeface="Montserrat"/>
                <a:cs typeface="Montserrat"/>
                <a:sym typeface="Montserrat"/>
              </a:rPr>
              <a:t>Commercial Summary</a:t>
            </a:r>
            <a:endParaRPr b="1" i="0" sz="1200" u="none" cap="none" strike="noStrike">
              <a:solidFill>
                <a:srgbClr val="D71B7F"/>
              </a:solidFill>
              <a:latin typeface="Montserrat"/>
              <a:ea typeface="Montserrat"/>
              <a:cs typeface="Montserrat"/>
              <a:sym typeface="Montserrat"/>
            </a:endParaRPr>
          </a:p>
        </p:txBody>
      </p:sp>
      <p:cxnSp>
        <p:nvCxnSpPr>
          <p:cNvPr id="561" name="Google Shape;561;p20"/>
          <p:cNvCxnSpPr/>
          <p:nvPr/>
        </p:nvCxnSpPr>
        <p:spPr>
          <a:xfrm>
            <a:off x="1367196" y="2752912"/>
            <a:ext cx="0" cy="382200"/>
          </a:xfrm>
          <a:prstGeom prst="straightConnector1">
            <a:avLst/>
          </a:prstGeom>
          <a:noFill/>
          <a:ln cap="flat" cmpd="sng" w="19050">
            <a:solidFill>
              <a:srgbClr val="12519C"/>
            </a:solidFill>
            <a:prstDash val="solid"/>
            <a:round/>
            <a:headEnd len="sm" w="sm" type="none"/>
            <a:tailEnd len="sm" w="sm" type="none"/>
          </a:ln>
        </p:spPr>
      </p:cxnSp>
      <p:sp>
        <p:nvSpPr>
          <p:cNvPr id="562" name="Google Shape;562;p20"/>
          <p:cNvSpPr/>
          <p:nvPr/>
        </p:nvSpPr>
        <p:spPr>
          <a:xfrm>
            <a:off x="1048238" y="290535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20"/>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 sz="1000" u="none" cap="none" strike="noStrike">
                <a:solidFill>
                  <a:srgbClr val="000000"/>
                </a:solidFill>
                <a:latin typeface="Montserrat"/>
                <a:ea typeface="Montserrat"/>
                <a:cs typeface="Montserrat"/>
                <a:sym typeface="Montserrat"/>
              </a:rPr>
              <a:t>‹#›</a:t>
            </a:fld>
            <a:endParaRPr b="0" i="0" sz="10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21"/>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Proposed Engagement Model</a:t>
            </a:r>
            <a:endParaRPr b="1" i="0" sz="2000" u="none" cap="none" strike="noStrike">
              <a:solidFill>
                <a:schemeClr val="dk1"/>
              </a:solidFill>
              <a:latin typeface="Montserrat"/>
              <a:ea typeface="Montserrat"/>
              <a:cs typeface="Montserrat"/>
              <a:sym typeface="Montserrat"/>
            </a:endParaRPr>
          </a:p>
        </p:txBody>
      </p:sp>
      <p:sp>
        <p:nvSpPr>
          <p:cNvPr id="569" name="Google Shape;569;p21"/>
          <p:cNvSpPr/>
          <p:nvPr/>
        </p:nvSpPr>
        <p:spPr>
          <a:xfrm>
            <a:off x="268738" y="861370"/>
            <a:ext cx="4201500" cy="3718200"/>
          </a:xfrm>
          <a:prstGeom prst="snip1Rect">
            <a:avLst>
              <a:gd fmla="val 14134"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0" wrap="square" tIns="91425">
            <a:noAutofit/>
          </a:bodyPr>
          <a:lstStyle/>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Project will be executed in Iterative Agile manner for each phase  with the following iterations-</a:t>
            </a:r>
            <a:endParaRPr b="0" i="0" sz="1100" u="none" cap="none" strike="noStrike">
              <a:solidFill>
                <a:srgbClr val="000000"/>
              </a:solidFill>
              <a:latin typeface="Montserrat"/>
              <a:ea typeface="Montserrat"/>
              <a:cs typeface="Montserrat"/>
              <a:sym typeface="Montserrat"/>
            </a:endParaRPr>
          </a:p>
          <a:p>
            <a:pPr indent="-292100" lvl="1" marL="914400" marR="0" rtl="0" algn="l">
              <a:lnSpc>
                <a:spcPct val="115000"/>
              </a:lnSpc>
              <a:spcBef>
                <a:spcPts val="0"/>
              </a:spcBef>
              <a:spcAft>
                <a:spcPts val="0"/>
              </a:spcAft>
              <a:buClr>
                <a:srgbClr val="000000"/>
              </a:buClr>
              <a:buSzPts val="1000"/>
              <a:buFont typeface="Montserrat"/>
              <a:buChar char="○"/>
            </a:pPr>
            <a:r>
              <a:rPr b="0" i="0" lang="en" sz="1100" u="none" cap="none" strike="noStrike">
                <a:solidFill>
                  <a:srgbClr val="000000"/>
                </a:solidFill>
                <a:latin typeface="Montserrat"/>
                <a:ea typeface="Montserrat"/>
                <a:cs typeface="Montserrat"/>
                <a:sym typeface="Montserrat"/>
              </a:rPr>
              <a:t>Agile-based Development </a:t>
            </a:r>
            <a:endParaRPr b="0" i="0" sz="1100" u="none" cap="none" strike="noStrike">
              <a:solidFill>
                <a:srgbClr val="000000"/>
              </a:solidFill>
              <a:latin typeface="Montserrat"/>
              <a:ea typeface="Montserrat"/>
              <a:cs typeface="Montserrat"/>
              <a:sym typeface="Montserrat"/>
            </a:endParaRPr>
          </a:p>
          <a:p>
            <a:pPr indent="-292100" lvl="1" marL="914400" marR="0" rtl="0" algn="l">
              <a:lnSpc>
                <a:spcPct val="115000"/>
              </a:lnSpc>
              <a:spcBef>
                <a:spcPts val="0"/>
              </a:spcBef>
              <a:spcAft>
                <a:spcPts val="0"/>
              </a:spcAft>
              <a:buClr>
                <a:srgbClr val="000000"/>
              </a:buClr>
              <a:buSzPts val="1000"/>
              <a:buFont typeface="Montserrat"/>
              <a:buChar char="○"/>
            </a:pPr>
            <a:r>
              <a:rPr b="0" i="0" lang="en" sz="1100" u="none" cap="none" strike="noStrike">
                <a:solidFill>
                  <a:srgbClr val="000000"/>
                </a:solidFill>
                <a:latin typeface="Montserrat"/>
                <a:ea typeface="Montserrat"/>
                <a:cs typeface="Montserrat"/>
                <a:sym typeface="Montserrat"/>
              </a:rPr>
              <a:t>UAT and Go-Live</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Any delay in project due to reasons beyond TTN will warrant a change request against the impacted man days</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If there are any changes to assumptions or delays caused due to dependencies from Racing Queensland, impact on effort, timelines and cost would need to be assessed and will go through change request process.</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4572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4572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4572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p:txBody>
      </p:sp>
      <p:cxnSp>
        <p:nvCxnSpPr>
          <p:cNvPr id="570" name="Google Shape;570;p21"/>
          <p:cNvCxnSpPr/>
          <p:nvPr/>
        </p:nvCxnSpPr>
        <p:spPr>
          <a:xfrm>
            <a:off x="272290" y="855475"/>
            <a:ext cx="0" cy="3710400"/>
          </a:xfrm>
          <a:prstGeom prst="straightConnector1">
            <a:avLst/>
          </a:prstGeom>
          <a:noFill/>
          <a:ln cap="flat" cmpd="sng" w="19050">
            <a:solidFill>
              <a:srgbClr val="12519C"/>
            </a:solidFill>
            <a:prstDash val="solid"/>
            <a:round/>
            <a:headEnd len="sm" w="sm" type="none"/>
            <a:tailEnd len="sm" w="sm" type="none"/>
          </a:ln>
        </p:spPr>
      </p:cxnSp>
      <p:sp>
        <p:nvSpPr>
          <p:cNvPr id="571" name="Google Shape;571;p21"/>
          <p:cNvSpPr/>
          <p:nvPr/>
        </p:nvSpPr>
        <p:spPr>
          <a:xfrm>
            <a:off x="4673772" y="863998"/>
            <a:ext cx="4201500" cy="3704400"/>
          </a:xfrm>
          <a:prstGeom prst="snip1Rect">
            <a:avLst>
              <a:gd fmla="val 14134"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91425" lIns="91425" spcFirstLastPara="1" rIns="0" wrap="square" tIns="91425">
            <a:noAutofit/>
          </a:bodyPr>
          <a:lstStyle/>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Total price for the entire project as per requirements outlined in the proposal would be: </a:t>
            </a:r>
            <a:endParaRPr b="1" i="0" sz="1100" u="none" cap="none" strike="noStrike">
              <a:solidFill>
                <a:srgbClr val="000000"/>
              </a:solidFill>
              <a:latin typeface="Montserrat"/>
              <a:ea typeface="Montserrat"/>
              <a:cs typeface="Montserrat"/>
              <a:sym typeface="Montserrat"/>
            </a:endParaRPr>
          </a:p>
          <a:p>
            <a:pPr indent="-109220" lvl="1" marL="731520" marR="0" rtl="0" algn="l">
              <a:lnSpc>
                <a:spcPct val="115000"/>
              </a:lnSpc>
              <a:spcBef>
                <a:spcPts val="0"/>
              </a:spcBef>
              <a:spcAft>
                <a:spcPts val="0"/>
              </a:spcAft>
              <a:buClr>
                <a:srgbClr val="D71B7F"/>
              </a:buClr>
              <a:buSzPts val="1000"/>
              <a:buFont typeface="Montserrat"/>
              <a:buChar char="○"/>
            </a:pPr>
            <a:r>
              <a:rPr b="1" i="0" lang="en" sz="1100" u="none" cap="none" strike="noStrike">
                <a:solidFill>
                  <a:srgbClr val="000000"/>
                </a:solidFill>
                <a:latin typeface="Montserrat"/>
                <a:ea typeface="Montserrat"/>
                <a:cs typeface="Montserrat"/>
                <a:sym typeface="Montserrat"/>
              </a:rPr>
              <a:t>Price Before dIscount : AUD </a:t>
            </a:r>
            <a:r>
              <a:rPr b="1" lang="en" sz="1100">
                <a:latin typeface="Montserrat"/>
                <a:ea typeface="Montserrat"/>
                <a:cs typeface="Montserrat"/>
                <a:sym typeface="Montserrat"/>
              </a:rPr>
              <a:t>80</a:t>
            </a:r>
            <a:r>
              <a:rPr b="1" i="0" lang="en" sz="1100" u="none" cap="none" strike="noStrike">
                <a:solidFill>
                  <a:srgbClr val="000000"/>
                </a:solidFill>
                <a:latin typeface="Montserrat"/>
                <a:ea typeface="Montserrat"/>
                <a:cs typeface="Montserrat"/>
                <a:sym typeface="Montserrat"/>
              </a:rPr>
              <a:t>,712.63</a:t>
            </a:r>
            <a:endParaRPr b="1" i="0" sz="1100" u="none" cap="none" strike="noStrike">
              <a:solidFill>
                <a:srgbClr val="000000"/>
              </a:solidFill>
              <a:latin typeface="Montserrat"/>
              <a:ea typeface="Montserrat"/>
              <a:cs typeface="Montserrat"/>
              <a:sym typeface="Montserrat"/>
            </a:endParaRPr>
          </a:p>
          <a:p>
            <a:pPr indent="-109220" lvl="1" marL="731520" marR="0" rtl="0" algn="l">
              <a:lnSpc>
                <a:spcPct val="115000"/>
              </a:lnSpc>
              <a:spcBef>
                <a:spcPts val="0"/>
              </a:spcBef>
              <a:spcAft>
                <a:spcPts val="0"/>
              </a:spcAft>
              <a:buClr>
                <a:srgbClr val="D71B7F"/>
              </a:buClr>
              <a:buSzPts val="1000"/>
              <a:buFont typeface="Montserrat"/>
              <a:buChar char="○"/>
            </a:pPr>
            <a:r>
              <a:rPr b="1" i="0" lang="en" sz="1100" u="none" cap="none" strike="noStrike">
                <a:solidFill>
                  <a:srgbClr val="000000"/>
                </a:solidFill>
                <a:latin typeface="Montserrat"/>
                <a:ea typeface="Montserrat"/>
                <a:cs typeface="Montserrat"/>
                <a:sym typeface="Montserrat"/>
              </a:rPr>
              <a:t>Discount : 5%</a:t>
            </a:r>
            <a:endParaRPr b="1" i="0" sz="1100" u="none" cap="none" strike="noStrike">
              <a:solidFill>
                <a:srgbClr val="000000"/>
              </a:solidFill>
              <a:latin typeface="Montserrat"/>
              <a:ea typeface="Montserrat"/>
              <a:cs typeface="Montserrat"/>
              <a:sym typeface="Montserrat"/>
            </a:endParaRPr>
          </a:p>
          <a:p>
            <a:pPr indent="-109220" lvl="1" marL="731520" marR="0" rtl="0" algn="l">
              <a:lnSpc>
                <a:spcPct val="115000"/>
              </a:lnSpc>
              <a:spcBef>
                <a:spcPts val="0"/>
              </a:spcBef>
              <a:spcAft>
                <a:spcPts val="0"/>
              </a:spcAft>
              <a:buClr>
                <a:srgbClr val="D71B7F"/>
              </a:buClr>
              <a:buSzPts val="1000"/>
              <a:buFont typeface="Montserrat"/>
              <a:buChar char="○"/>
            </a:pPr>
            <a:r>
              <a:rPr b="1" i="0" lang="en" sz="1100" u="none" cap="none" strike="noStrike">
                <a:solidFill>
                  <a:srgbClr val="000000"/>
                </a:solidFill>
                <a:latin typeface="Montserrat"/>
                <a:ea typeface="Montserrat"/>
                <a:cs typeface="Montserrat"/>
                <a:sym typeface="Montserrat"/>
              </a:rPr>
              <a:t>Final Price After discount : AUD </a:t>
            </a:r>
            <a:r>
              <a:rPr b="1" lang="en" sz="1100">
                <a:latin typeface="Montserrat"/>
                <a:ea typeface="Montserrat"/>
                <a:cs typeface="Montserrat"/>
                <a:sym typeface="Montserrat"/>
              </a:rPr>
              <a:t>78</a:t>
            </a:r>
            <a:r>
              <a:rPr b="1" i="0" lang="en" sz="1100" u="none" cap="none" strike="noStrike">
                <a:solidFill>
                  <a:srgbClr val="000000"/>
                </a:solidFill>
                <a:latin typeface="Montserrat"/>
                <a:ea typeface="Montserrat"/>
                <a:cs typeface="Montserrat"/>
                <a:sym typeface="Montserrat"/>
              </a:rPr>
              <a:t>,727.00</a:t>
            </a:r>
            <a:endParaRPr b="1"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All mentioned prices are exclusive of applicable taxes.</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Payment Milestones has been added in the following slide.</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All the invoices would be considered accepted by the customer if there is no objection in 5 days.</a:t>
            </a:r>
            <a:endParaRPr b="0" i="0" sz="1100" u="none" cap="none" strike="noStrike">
              <a:solidFill>
                <a:srgbClr val="000000"/>
              </a:solidFill>
              <a:latin typeface="Montserrat"/>
              <a:ea typeface="Montserrat"/>
              <a:cs typeface="Montserrat"/>
              <a:sym typeface="Montserrat"/>
            </a:endParaRPr>
          </a:p>
          <a:p>
            <a:pPr indent="-292100" lvl="0" marL="457200" marR="0" rtl="0" algn="l">
              <a:lnSpc>
                <a:spcPct val="115000"/>
              </a:lnSpc>
              <a:spcBef>
                <a:spcPts val="0"/>
              </a:spcBef>
              <a:spcAft>
                <a:spcPts val="0"/>
              </a:spcAft>
              <a:buClr>
                <a:srgbClr val="E7E6E6"/>
              </a:buClr>
              <a:buSzPts val="1000"/>
              <a:buFont typeface="Montserrat"/>
              <a:buChar char="●"/>
            </a:pPr>
            <a:r>
              <a:rPr b="0" i="0" lang="en" sz="1100" u="none" cap="none" strike="noStrike">
                <a:solidFill>
                  <a:srgbClr val="000000"/>
                </a:solidFill>
                <a:latin typeface="Montserrat"/>
                <a:ea typeface="Montserrat"/>
                <a:cs typeface="Montserrat"/>
                <a:sym typeface="Montserrat"/>
              </a:rPr>
              <a:t>Payment terms are 30 calendar days from the receipt of the invoice.</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45720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000000"/>
              </a:solidFill>
              <a:latin typeface="Montserrat"/>
              <a:ea typeface="Montserrat"/>
              <a:cs typeface="Montserrat"/>
              <a:sym typeface="Montserrat"/>
            </a:endParaRPr>
          </a:p>
        </p:txBody>
      </p:sp>
      <p:cxnSp>
        <p:nvCxnSpPr>
          <p:cNvPr id="572" name="Google Shape;572;p21"/>
          <p:cNvCxnSpPr/>
          <p:nvPr/>
        </p:nvCxnSpPr>
        <p:spPr>
          <a:xfrm>
            <a:off x="4677324" y="858123"/>
            <a:ext cx="0" cy="3697500"/>
          </a:xfrm>
          <a:prstGeom prst="straightConnector1">
            <a:avLst/>
          </a:prstGeom>
          <a:noFill/>
          <a:ln cap="flat" cmpd="sng" w="19050">
            <a:solidFill>
              <a:srgbClr val="D41883"/>
            </a:solidFill>
            <a:prstDash val="solid"/>
            <a:round/>
            <a:headEnd len="sm" w="sm" type="none"/>
            <a:tailEnd len="sm" w="sm" type="none"/>
          </a:ln>
        </p:spPr>
      </p:cxnSp>
      <p:sp>
        <p:nvSpPr>
          <p:cNvPr id="573" name="Google Shape;573;p21"/>
          <p:cNvSpPr txBox="1"/>
          <p:nvPr/>
        </p:nvSpPr>
        <p:spPr>
          <a:xfrm>
            <a:off x="554448" y="989025"/>
            <a:ext cx="3423000" cy="354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12519C"/>
                </a:solidFill>
                <a:latin typeface="Montserrat"/>
                <a:ea typeface="Montserrat"/>
                <a:cs typeface="Montserrat"/>
                <a:sym typeface="Montserrat"/>
              </a:rPr>
              <a:t>Fixed Price Fixed Scope Engagement</a:t>
            </a:r>
            <a:endParaRPr b="0" i="0" sz="1100" u="none" cap="none" strike="noStrike">
              <a:solidFill>
                <a:srgbClr val="12519C"/>
              </a:solidFill>
              <a:latin typeface="Montserrat"/>
              <a:ea typeface="Montserrat"/>
              <a:cs typeface="Montserrat"/>
              <a:sym typeface="Montserrat"/>
            </a:endParaRPr>
          </a:p>
        </p:txBody>
      </p:sp>
      <p:sp>
        <p:nvSpPr>
          <p:cNvPr id="574" name="Google Shape;574;p21"/>
          <p:cNvSpPr txBox="1"/>
          <p:nvPr/>
        </p:nvSpPr>
        <p:spPr>
          <a:xfrm>
            <a:off x="5322463" y="989017"/>
            <a:ext cx="2638200" cy="354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12519C"/>
                </a:solidFill>
                <a:latin typeface="Montserrat"/>
                <a:ea typeface="Montserrat"/>
                <a:cs typeface="Montserrat"/>
                <a:sym typeface="Montserrat"/>
              </a:rPr>
              <a:t>Commercial Summary</a:t>
            </a:r>
            <a:endParaRPr b="0" i="0" sz="1100" u="none" cap="none" strike="noStrike">
              <a:solidFill>
                <a:srgbClr val="12519C"/>
              </a:solidFill>
              <a:latin typeface="Montserrat"/>
              <a:ea typeface="Montserrat"/>
              <a:cs typeface="Montserrat"/>
              <a:sym typeface="Montserrat"/>
            </a:endParaRPr>
          </a:p>
        </p:txBody>
      </p:sp>
      <p:sp>
        <p:nvSpPr>
          <p:cNvPr id="575" name="Google Shape;575;p2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22"/>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Payment Milestones</a:t>
            </a:r>
            <a:endParaRPr b="1" i="0" sz="2000" u="none" cap="none" strike="noStrike">
              <a:solidFill>
                <a:schemeClr val="dk1"/>
              </a:solidFill>
              <a:latin typeface="Montserrat"/>
              <a:ea typeface="Montserrat"/>
              <a:cs typeface="Montserrat"/>
              <a:sym typeface="Montserrat"/>
            </a:endParaRPr>
          </a:p>
        </p:txBody>
      </p:sp>
      <p:graphicFrame>
        <p:nvGraphicFramePr>
          <p:cNvPr id="581" name="Google Shape;581;p22"/>
          <p:cNvGraphicFramePr/>
          <p:nvPr/>
        </p:nvGraphicFramePr>
        <p:xfrm>
          <a:off x="450100" y="877425"/>
          <a:ext cx="3000000" cy="3000000"/>
        </p:xfrm>
        <a:graphic>
          <a:graphicData uri="http://schemas.openxmlformats.org/drawingml/2006/table">
            <a:tbl>
              <a:tblPr>
                <a:noFill/>
                <a:tableStyleId>{D3CB79B0-8641-4349-AAA0-2024F650DA97}</a:tableStyleId>
              </a:tblPr>
              <a:tblGrid>
                <a:gridCol w="3532775"/>
                <a:gridCol w="2286950"/>
                <a:gridCol w="2286950"/>
              </a:tblGrid>
              <a:tr h="330475">
                <a:tc gridSpan="2">
                  <a:txBody>
                    <a:bodyPr/>
                    <a:lstStyle/>
                    <a:p>
                      <a:pPr indent="0" lvl="0" marL="0" marR="0" rtl="0" algn="ctr">
                        <a:lnSpc>
                          <a:spcPct val="100000"/>
                        </a:lnSpc>
                        <a:spcBef>
                          <a:spcPts val="0"/>
                        </a:spcBef>
                        <a:spcAft>
                          <a:spcPts val="0"/>
                        </a:spcAft>
                        <a:buClr>
                          <a:srgbClr val="000000"/>
                        </a:buClr>
                        <a:buSzPts val="1100"/>
                        <a:buFont typeface="Arial"/>
                        <a:buNone/>
                      </a:pPr>
                      <a:r>
                        <a:rPr b="1" lang="en" sz="1100" u="none" cap="none" strike="noStrike">
                          <a:solidFill>
                            <a:schemeClr val="lt1"/>
                          </a:solidFill>
                          <a:latin typeface="Montserrat"/>
                          <a:ea typeface="Montserrat"/>
                          <a:cs typeface="Montserrat"/>
                          <a:sym typeface="Montserrat"/>
                        </a:rPr>
                        <a:t>Payment Milestones</a:t>
                      </a:r>
                      <a:endParaRPr b="1" sz="1100" u="none" cap="none" strike="noStrike">
                        <a:solidFill>
                          <a:schemeClr val="lt1"/>
                        </a:solidFill>
                        <a:latin typeface="Montserrat"/>
                        <a:ea typeface="Montserrat"/>
                        <a:cs typeface="Montserrat"/>
                        <a:sym typeface="Montserrat"/>
                      </a:endParaRPr>
                    </a:p>
                  </a:txBody>
                  <a:tcPr marT="63500" marB="63500" marR="63500" marL="6350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D9D9D9"/>
                      </a:solidFill>
                      <a:prstDash val="solid"/>
                      <a:round/>
                      <a:headEnd len="sm" w="sm" type="none"/>
                      <a:tailEnd len="sm" w="sm" type="none"/>
                    </a:lnB>
                    <a:solidFill>
                      <a:schemeClr val="accent2"/>
                    </a:solidFill>
                  </a:tcPr>
                </a:tc>
                <a:tc hMerge="1"/>
                <a:tc>
                  <a:txBody>
                    <a:bodyPr/>
                    <a:lstStyle/>
                    <a:p>
                      <a:pPr indent="0" lvl="0" marL="0" marR="0" rtl="0" algn="ctr">
                        <a:lnSpc>
                          <a:spcPct val="100000"/>
                        </a:lnSpc>
                        <a:spcBef>
                          <a:spcPts val="0"/>
                        </a:spcBef>
                        <a:spcAft>
                          <a:spcPts val="0"/>
                        </a:spcAft>
                        <a:buClr>
                          <a:srgbClr val="000000"/>
                        </a:buClr>
                        <a:buSzPts val="1100"/>
                        <a:buFont typeface="Arial"/>
                        <a:buNone/>
                      </a:pPr>
                      <a:r>
                        <a:rPr b="1" lang="en" sz="1100" u="none" cap="none" strike="noStrike">
                          <a:solidFill>
                            <a:schemeClr val="lt1"/>
                          </a:solidFill>
                          <a:latin typeface="Montserrat"/>
                          <a:ea typeface="Montserrat"/>
                          <a:cs typeface="Montserrat"/>
                          <a:sym typeface="Montserrat"/>
                        </a:rPr>
                        <a:t>Cost in AUD</a:t>
                      </a:r>
                      <a:endParaRPr b="1" sz="1100" u="none" cap="none" strike="noStrike">
                        <a:solidFill>
                          <a:schemeClr val="lt1"/>
                        </a:solidFill>
                        <a:latin typeface="Montserrat"/>
                        <a:ea typeface="Montserrat"/>
                        <a:cs typeface="Montserrat"/>
                        <a:sym typeface="Montserrat"/>
                      </a:endParaRPr>
                    </a:p>
                  </a:txBody>
                  <a:tcPr marT="63500" marB="63500" marR="63500" marL="63500"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chemeClr val="accent2"/>
                    </a:solidFill>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Kickoff</a:t>
                      </a:r>
                      <a:endParaRPr sz="1100" u="none" cap="none" strike="noStrike">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10% of total cost</a:t>
                      </a:r>
                      <a:endParaRPr sz="1100" u="none" cap="none" strike="noStrike">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 AUD </a:t>
                      </a:r>
                      <a:r>
                        <a:rPr lang="en" sz="1100">
                          <a:latin typeface="Montserrat"/>
                          <a:ea typeface="Montserrat"/>
                          <a:cs typeface="Montserrat"/>
                          <a:sym typeface="Montserrat"/>
                        </a:rPr>
                        <a:t>8</a:t>
                      </a:r>
                      <a:r>
                        <a:rPr lang="en" sz="1100" u="none" cap="none" strike="noStrike">
                          <a:latin typeface="Montserrat"/>
                          <a:ea typeface="Montserrat"/>
                          <a:cs typeface="Montserrat"/>
                          <a:sym typeface="Montserrat"/>
                        </a:rPr>
                        <a:t>,473</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Discovery Phase ( 2 Weeks) Sign off</a:t>
                      </a:r>
                      <a:endParaRPr b="1" sz="1100" u="none" cap="none" strike="noStrike">
                        <a:solidFill>
                          <a:schemeClr val="lt1"/>
                        </a:solidFill>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solidFill>
                            <a:schemeClr val="dk1"/>
                          </a:solidFill>
                          <a:latin typeface="Montserrat"/>
                          <a:ea typeface="Montserrat"/>
                          <a:cs typeface="Montserrat"/>
                          <a:sym typeface="Montserrat"/>
                        </a:rPr>
                        <a:t>10% of total cost</a:t>
                      </a:r>
                      <a:endParaRPr sz="1100" u="none" cap="none" strike="noStrike">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AUD </a:t>
                      </a:r>
                      <a:r>
                        <a:rPr lang="en" sz="1100">
                          <a:latin typeface="Montserrat"/>
                          <a:ea typeface="Montserrat"/>
                          <a:cs typeface="Montserrat"/>
                          <a:sym typeface="Montserrat"/>
                        </a:rPr>
                        <a:t>8</a:t>
                      </a:r>
                      <a:r>
                        <a:rPr lang="en" sz="1100" u="none" cap="none" strike="noStrike">
                          <a:latin typeface="Montserrat"/>
                          <a:ea typeface="Montserrat"/>
                          <a:cs typeface="Montserrat"/>
                          <a:sym typeface="Montserrat"/>
                        </a:rPr>
                        <a:t>,473</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Week 6 Completion</a:t>
                      </a:r>
                      <a:endParaRPr b="1" sz="1100" u="none" cap="none" strike="noStrike">
                        <a:solidFill>
                          <a:schemeClr val="lt1"/>
                        </a:solidFill>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solidFill>
                            <a:schemeClr val="dk1"/>
                          </a:solidFill>
                          <a:latin typeface="Montserrat"/>
                          <a:ea typeface="Montserrat"/>
                          <a:cs typeface="Montserrat"/>
                          <a:sym typeface="Montserrat"/>
                        </a:rPr>
                        <a:t>25% of total cost</a:t>
                      </a:r>
                      <a:endParaRPr sz="1100" u="none" cap="none" strike="noStrike">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AUD 2</a:t>
                      </a:r>
                      <a:r>
                        <a:rPr lang="en" sz="1100">
                          <a:latin typeface="Montserrat"/>
                          <a:ea typeface="Montserrat"/>
                          <a:cs typeface="Montserrat"/>
                          <a:sym typeface="Montserrat"/>
                        </a:rPr>
                        <a:t>1</a:t>
                      </a:r>
                      <a:r>
                        <a:rPr lang="en" sz="1100" u="none" cap="none" strike="noStrike">
                          <a:latin typeface="Montserrat"/>
                          <a:ea typeface="Montserrat"/>
                          <a:cs typeface="Montserrat"/>
                          <a:sym typeface="Montserrat"/>
                        </a:rPr>
                        <a:t>,682</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Week 10 Completion</a:t>
                      </a:r>
                      <a:endParaRPr b="1" sz="1100" u="none" cap="none" strike="noStrike">
                        <a:solidFill>
                          <a:schemeClr val="lt1"/>
                        </a:solidFill>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solidFill>
                            <a:schemeClr val="dk1"/>
                          </a:solidFill>
                          <a:latin typeface="Montserrat"/>
                          <a:ea typeface="Montserrat"/>
                          <a:cs typeface="Montserrat"/>
                          <a:sym typeface="Montserrat"/>
                        </a:rPr>
                        <a:t>30% of total cost</a:t>
                      </a:r>
                      <a:endParaRPr sz="1100" u="none" cap="none" strike="noStrike">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AUD 2</a:t>
                      </a:r>
                      <a:r>
                        <a:rPr lang="en" sz="1100">
                          <a:latin typeface="Montserrat"/>
                          <a:ea typeface="Montserrat"/>
                          <a:cs typeface="Montserrat"/>
                          <a:sym typeface="Montserrat"/>
                        </a:rPr>
                        <a:t>7</a:t>
                      </a:r>
                      <a:r>
                        <a:rPr lang="en" sz="1100" u="none" cap="none" strike="noStrike">
                          <a:latin typeface="Montserrat"/>
                          <a:ea typeface="Montserrat"/>
                          <a:cs typeface="Montserrat"/>
                          <a:sym typeface="Montserrat"/>
                        </a:rPr>
                        <a:t>,418</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UAT Sign off</a:t>
                      </a:r>
                      <a:endParaRPr b="1" sz="1100" u="none" cap="none" strike="noStrike">
                        <a:solidFill>
                          <a:srgbClr val="000000"/>
                        </a:solidFill>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solidFill>
                            <a:schemeClr val="dk1"/>
                          </a:solidFill>
                          <a:latin typeface="Montserrat"/>
                          <a:ea typeface="Montserrat"/>
                          <a:cs typeface="Montserrat"/>
                          <a:sym typeface="Montserrat"/>
                        </a:rPr>
                        <a:t>20% of total cost</a:t>
                      </a:r>
                      <a:endParaRPr sz="1100" u="none" cap="none" strike="noStrike">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AUD 1</a:t>
                      </a:r>
                      <a:r>
                        <a:rPr lang="en" sz="1100">
                          <a:latin typeface="Montserrat"/>
                          <a:ea typeface="Montserrat"/>
                          <a:cs typeface="Montserrat"/>
                          <a:sym typeface="Montserrat"/>
                        </a:rPr>
                        <a:t>7</a:t>
                      </a:r>
                      <a:r>
                        <a:rPr lang="en" sz="1100" u="none" cap="none" strike="noStrike">
                          <a:latin typeface="Montserrat"/>
                          <a:ea typeface="Montserrat"/>
                          <a:cs typeface="Montserrat"/>
                          <a:sym typeface="Montserrat"/>
                        </a:rPr>
                        <a:t>,945</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Project Go-live</a:t>
                      </a:r>
                      <a:endParaRPr sz="1100" u="none" cap="none" strike="noStrike">
                        <a:latin typeface="Montserrat"/>
                        <a:ea typeface="Montserrat"/>
                        <a:cs typeface="Montserrat"/>
                        <a:sym typeface="Montserrat"/>
                      </a:endParaRPr>
                    </a:p>
                  </a:txBody>
                  <a:tcPr marT="19050" marB="19050" marR="28575" marL="91425"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solidFill>
                            <a:schemeClr val="dk1"/>
                          </a:solidFill>
                          <a:latin typeface="Montserrat"/>
                          <a:ea typeface="Montserrat"/>
                          <a:cs typeface="Montserrat"/>
                          <a:sym typeface="Montserrat"/>
                        </a:rPr>
                        <a:t>5% of total cost</a:t>
                      </a:r>
                      <a:endParaRPr sz="1100" u="none" cap="none" strike="noStrike">
                        <a:solidFill>
                          <a:schemeClr val="dk1"/>
                        </a:solidFill>
                        <a:latin typeface="Montserrat"/>
                        <a:ea typeface="Montserrat"/>
                        <a:cs typeface="Montserrat"/>
                        <a:sym typeface="Montserrat"/>
                      </a:endParaRPr>
                    </a:p>
                  </a:txBody>
                  <a:tcPr marT="19050" marB="19050" marR="28575" marL="28575" anchor="ctr">
                    <a:lnL cap="flat" cmpd="sng" w="9525">
                      <a:solidFill>
                        <a:srgbClr val="D9D9D9"/>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AUD </a:t>
                      </a:r>
                      <a:r>
                        <a:rPr lang="en" sz="1100">
                          <a:latin typeface="Montserrat"/>
                          <a:ea typeface="Montserrat"/>
                          <a:cs typeface="Montserrat"/>
                          <a:sym typeface="Montserrat"/>
                        </a:rPr>
                        <a:t>3</a:t>
                      </a:r>
                      <a:r>
                        <a:rPr lang="en" sz="1100" u="none" cap="none" strike="noStrike">
                          <a:latin typeface="Montserrat"/>
                          <a:ea typeface="Montserrat"/>
                          <a:cs typeface="Montserrat"/>
                          <a:sym typeface="Montserrat"/>
                        </a:rPr>
                        <a:t>,736</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a:txBody>
                    <a:bodyPr/>
                    <a:lstStyle/>
                    <a:p>
                      <a:pPr indent="0" lvl="0" marL="0" marR="0" rtl="0" algn="l">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Hypercare </a:t>
                      </a:r>
                      <a:endParaRPr sz="1100" u="none" cap="none" strike="noStrike">
                        <a:solidFill>
                          <a:schemeClr val="lt1"/>
                        </a:solidFill>
                        <a:latin typeface="Montserrat"/>
                        <a:ea typeface="Montserrat"/>
                        <a:cs typeface="Montserrat"/>
                        <a:sym typeface="Montserrat"/>
                      </a:endParaRPr>
                    </a:p>
                  </a:txBody>
                  <a:tcPr marT="19050" marB="19050" marR="28575" marL="9142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TTN Investment</a:t>
                      </a:r>
                      <a:endParaRPr sz="1100" u="none" cap="none" strike="noStrike">
                        <a:solidFill>
                          <a:schemeClr val="lt1"/>
                        </a:solidFill>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ctr">
                        <a:lnSpc>
                          <a:spcPct val="115000"/>
                        </a:lnSpc>
                        <a:spcBef>
                          <a:spcPts val="0"/>
                        </a:spcBef>
                        <a:spcAft>
                          <a:spcPts val="0"/>
                        </a:spcAft>
                        <a:buClr>
                          <a:srgbClr val="000000"/>
                        </a:buClr>
                        <a:buSzPts val="1100"/>
                        <a:buFont typeface="Arial"/>
                        <a:buNone/>
                      </a:pPr>
                      <a:r>
                        <a:rPr lang="en" sz="1100" u="none" cap="none" strike="noStrike">
                          <a:latin typeface="Montserrat"/>
                          <a:ea typeface="Montserrat"/>
                          <a:cs typeface="Montserrat"/>
                          <a:sym typeface="Montserrat"/>
                        </a:rPr>
                        <a:t>0</a:t>
                      </a:r>
                      <a:endParaRPr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417825">
                <a:tc gridSpan="2">
                  <a:txBody>
                    <a:bodyPr/>
                    <a:lstStyle/>
                    <a:p>
                      <a:pPr indent="0" lvl="0" marL="0" marR="0" rtl="0" algn="r">
                        <a:lnSpc>
                          <a:spcPct val="100000"/>
                        </a:lnSpc>
                        <a:spcBef>
                          <a:spcPts val="0"/>
                        </a:spcBef>
                        <a:spcAft>
                          <a:spcPts val="0"/>
                        </a:spcAft>
                        <a:buClr>
                          <a:srgbClr val="000000"/>
                        </a:buClr>
                        <a:buSzPts val="1100"/>
                        <a:buFont typeface="Arial"/>
                        <a:buNone/>
                      </a:pPr>
                      <a:r>
                        <a:rPr b="1" lang="en" sz="1100" u="none" cap="none" strike="noStrike">
                          <a:latin typeface="Montserrat"/>
                          <a:ea typeface="Montserrat"/>
                          <a:cs typeface="Montserrat"/>
                          <a:sym typeface="Montserrat"/>
                        </a:rPr>
                        <a:t>Total Cost</a:t>
                      </a:r>
                      <a:endParaRPr b="1" sz="1100" u="none" cap="none" strike="noStrike">
                        <a:latin typeface="Montserrat"/>
                        <a:ea typeface="Montserrat"/>
                        <a:cs typeface="Montserrat"/>
                        <a:sym typeface="Montserrat"/>
                      </a:endParaRPr>
                    </a:p>
                  </a:txBody>
                  <a:tcPr marT="19050" marB="19050" marR="28575" marL="9142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CCCCCC"/>
                      </a:solidFill>
                      <a:prstDash val="solid"/>
                      <a:round/>
                      <a:headEnd len="sm" w="sm" type="none"/>
                      <a:tailEnd len="sm" w="sm" type="none"/>
                    </a:lnB>
                    <a:solidFill>
                      <a:srgbClr val="E7F2F8"/>
                    </a:solidFill>
                  </a:tcPr>
                </a:tc>
                <a:tc hMerge="1"/>
                <a:tc>
                  <a:txBody>
                    <a:bodyPr/>
                    <a:lstStyle/>
                    <a:p>
                      <a:pPr indent="0" lvl="0" marL="0" marR="0" rtl="0" algn="ctr">
                        <a:lnSpc>
                          <a:spcPct val="100000"/>
                        </a:lnSpc>
                        <a:spcBef>
                          <a:spcPts val="0"/>
                        </a:spcBef>
                        <a:spcAft>
                          <a:spcPts val="0"/>
                        </a:spcAft>
                        <a:buClr>
                          <a:srgbClr val="000000"/>
                        </a:buClr>
                        <a:buSzPts val="1100"/>
                        <a:buFont typeface="Arial"/>
                        <a:buNone/>
                      </a:pPr>
                      <a:r>
                        <a:rPr b="1" lang="en" sz="1100" u="none" cap="none" strike="noStrike">
                          <a:latin typeface="Montserrat"/>
                          <a:ea typeface="Montserrat"/>
                          <a:cs typeface="Montserrat"/>
                          <a:sym typeface="Montserrat"/>
                        </a:rPr>
                        <a:t>AUD </a:t>
                      </a:r>
                      <a:r>
                        <a:rPr b="1" lang="en" sz="1100">
                          <a:latin typeface="Montserrat"/>
                          <a:ea typeface="Montserrat"/>
                          <a:cs typeface="Montserrat"/>
                          <a:sym typeface="Montserrat"/>
                        </a:rPr>
                        <a:t>87</a:t>
                      </a:r>
                      <a:r>
                        <a:rPr b="1" lang="en" sz="1100" u="none" cap="none" strike="noStrike">
                          <a:latin typeface="Montserrat"/>
                          <a:ea typeface="Montserrat"/>
                          <a:cs typeface="Montserrat"/>
                          <a:sym typeface="Montserrat"/>
                        </a:rPr>
                        <a:t>,727</a:t>
                      </a:r>
                      <a:endParaRPr b="1" sz="1100" u="none" cap="none" strike="noStrike">
                        <a:latin typeface="Montserrat"/>
                        <a:ea typeface="Montserrat"/>
                        <a:cs typeface="Montserrat"/>
                        <a:sym typeface="Montserrat"/>
                      </a:endParaRPr>
                    </a:p>
                  </a:txBody>
                  <a:tcPr marT="19050" marB="19050" marR="28575" marL="28575" anchor="ctr">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solidFill>
                      <a:srgbClr val="E7F2F8"/>
                    </a:solidFill>
                  </a:tcPr>
                </a:tc>
              </a:tr>
            </a:tbl>
          </a:graphicData>
        </a:graphic>
      </p:graphicFrame>
      <p:sp>
        <p:nvSpPr>
          <p:cNvPr id="582" name="Google Shape;582;p2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23"/>
          <p:cNvSpPr/>
          <p:nvPr/>
        </p:nvSpPr>
        <p:spPr>
          <a:xfrm>
            <a:off x="0" y="144000"/>
            <a:ext cx="47400" cy="3573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23"/>
          <p:cNvSpPr txBox="1"/>
          <p:nvPr>
            <p:ph type="title"/>
          </p:nvPr>
        </p:nvSpPr>
        <p:spPr>
          <a:xfrm>
            <a:off x="104500" y="141850"/>
            <a:ext cx="6703800" cy="35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2000"/>
              <a:buNone/>
            </a:pPr>
            <a:r>
              <a:rPr lang="en"/>
              <a:t>Agenda</a:t>
            </a:r>
            <a:endParaRPr/>
          </a:p>
        </p:txBody>
      </p:sp>
      <p:sp>
        <p:nvSpPr>
          <p:cNvPr id="589" name="Google Shape;589;p23"/>
          <p:cNvSpPr/>
          <p:nvPr/>
        </p:nvSpPr>
        <p:spPr>
          <a:xfrm>
            <a:off x="1358763" y="111102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Executive Summary and Our Understanding of Project Requirements</a:t>
            </a:r>
            <a:endParaRPr b="0" i="0" sz="1200" u="none" cap="none" strike="noStrike">
              <a:solidFill>
                <a:srgbClr val="000000"/>
              </a:solidFill>
              <a:latin typeface="Montserrat"/>
              <a:ea typeface="Montserrat"/>
              <a:cs typeface="Montserrat"/>
              <a:sym typeface="Montserrat"/>
            </a:endParaRPr>
          </a:p>
        </p:txBody>
      </p:sp>
      <p:sp>
        <p:nvSpPr>
          <p:cNvPr id="590" name="Google Shape;590;p23"/>
          <p:cNvSpPr/>
          <p:nvPr/>
        </p:nvSpPr>
        <p:spPr>
          <a:xfrm>
            <a:off x="1358763" y="1678410"/>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Proposed Technical Solution Approach</a:t>
            </a:r>
            <a:endParaRPr b="0" i="0" sz="1200" u="none" cap="none" strike="noStrike">
              <a:solidFill>
                <a:srgbClr val="000000"/>
              </a:solidFill>
              <a:latin typeface="Montserrat"/>
              <a:ea typeface="Montserrat"/>
              <a:cs typeface="Montserrat"/>
              <a:sym typeface="Montserrat"/>
            </a:endParaRPr>
          </a:p>
        </p:txBody>
      </p:sp>
      <p:sp>
        <p:nvSpPr>
          <p:cNvPr id="591" name="Google Shape;591;p23"/>
          <p:cNvSpPr/>
          <p:nvPr/>
        </p:nvSpPr>
        <p:spPr>
          <a:xfrm>
            <a:off x="1358763" y="328987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1" i="0" lang="en" sz="1200" u="none" cap="none" strike="noStrike">
                <a:solidFill>
                  <a:srgbClr val="D71B7F"/>
                </a:solidFill>
                <a:latin typeface="Montserrat"/>
                <a:ea typeface="Montserrat"/>
                <a:cs typeface="Montserrat"/>
                <a:sym typeface="Montserrat"/>
              </a:rPr>
              <a:t>Success Stories</a:t>
            </a:r>
            <a:endParaRPr b="1" i="0" sz="1200" u="none" cap="none" strike="noStrike">
              <a:solidFill>
                <a:srgbClr val="D71B7F"/>
              </a:solidFill>
              <a:latin typeface="Montserrat"/>
              <a:ea typeface="Montserrat"/>
              <a:cs typeface="Montserrat"/>
              <a:sym typeface="Montserrat"/>
            </a:endParaRPr>
          </a:p>
        </p:txBody>
      </p:sp>
      <p:cxnSp>
        <p:nvCxnSpPr>
          <p:cNvPr id="592" name="Google Shape;592;p23"/>
          <p:cNvCxnSpPr/>
          <p:nvPr/>
        </p:nvCxnSpPr>
        <p:spPr>
          <a:xfrm>
            <a:off x="1367196" y="1108050"/>
            <a:ext cx="0" cy="382200"/>
          </a:xfrm>
          <a:prstGeom prst="straightConnector1">
            <a:avLst/>
          </a:prstGeom>
          <a:noFill/>
          <a:ln cap="flat" cmpd="sng" w="19050">
            <a:solidFill>
              <a:srgbClr val="12519C"/>
            </a:solidFill>
            <a:prstDash val="solid"/>
            <a:round/>
            <a:headEnd len="sm" w="sm" type="none"/>
            <a:tailEnd len="sm" w="sm" type="none"/>
          </a:ln>
        </p:spPr>
      </p:cxnSp>
      <p:cxnSp>
        <p:nvCxnSpPr>
          <p:cNvPr id="593" name="Google Shape;593;p23"/>
          <p:cNvCxnSpPr/>
          <p:nvPr/>
        </p:nvCxnSpPr>
        <p:spPr>
          <a:xfrm>
            <a:off x="1367196" y="1675436"/>
            <a:ext cx="0" cy="382200"/>
          </a:xfrm>
          <a:prstGeom prst="straightConnector1">
            <a:avLst/>
          </a:prstGeom>
          <a:noFill/>
          <a:ln cap="flat" cmpd="sng" w="19050">
            <a:solidFill>
              <a:srgbClr val="12519C"/>
            </a:solidFill>
            <a:prstDash val="solid"/>
            <a:round/>
            <a:headEnd len="sm" w="sm" type="none"/>
            <a:tailEnd len="sm" w="sm" type="none"/>
          </a:ln>
        </p:spPr>
      </p:cxnSp>
      <p:cxnSp>
        <p:nvCxnSpPr>
          <p:cNvPr id="594" name="Google Shape;594;p23"/>
          <p:cNvCxnSpPr/>
          <p:nvPr/>
        </p:nvCxnSpPr>
        <p:spPr>
          <a:xfrm>
            <a:off x="1367196" y="3288390"/>
            <a:ext cx="0" cy="382200"/>
          </a:xfrm>
          <a:prstGeom prst="straightConnector1">
            <a:avLst/>
          </a:prstGeom>
          <a:noFill/>
          <a:ln cap="flat" cmpd="sng" w="19050">
            <a:solidFill>
              <a:srgbClr val="12519C"/>
            </a:solidFill>
            <a:prstDash val="solid"/>
            <a:round/>
            <a:headEnd len="sm" w="sm" type="none"/>
            <a:tailEnd len="sm" w="sm" type="none"/>
          </a:ln>
        </p:spPr>
      </p:cxnSp>
      <p:sp>
        <p:nvSpPr>
          <p:cNvPr id="595" name="Google Shape;595;p23"/>
          <p:cNvSpPr/>
          <p:nvPr/>
        </p:nvSpPr>
        <p:spPr>
          <a:xfrm>
            <a:off x="1048238" y="1260478"/>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p23"/>
          <p:cNvSpPr/>
          <p:nvPr/>
        </p:nvSpPr>
        <p:spPr>
          <a:xfrm>
            <a:off x="1048238" y="1827880"/>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 name="Google Shape;597;p23"/>
          <p:cNvSpPr/>
          <p:nvPr/>
        </p:nvSpPr>
        <p:spPr>
          <a:xfrm>
            <a:off x="1048238" y="3439362"/>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8" name="Google Shape;598;p23"/>
          <p:cNvSpPr/>
          <p:nvPr/>
        </p:nvSpPr>
        <p:spPr>
          <a:xfrm>
            <a:off x="1358763" y="224580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Project Plan and Key Deliverables</a:t>
            </a:r>
            <a:endParaRPr b="0" i="0" sz="1200" u="none" cap="none" strike="noStrike">
              <a:solidFill>
                <a:srgbClr val="000000"/>
              </a:solidFill>
              <a:latin typeface="Montserrat"/>
              <a:ea typeface="Montserrat"/>
              <a:cs typeface="Montserrat"/>
              <a:sym typeface="Montserrat"/>
            </a:endParaRPr>
          </a:p>
        </p:txBody>
      </p:sp>
      <p:cxnSp>
        <p:nvCxnSpPr>
          <p:cNvPr id="599" name="Google Shape;599;p23"/>
          <p:cNvCxnSpPr/>
          <p:nvPr/>
        </p:nvCxnSpPr>
        <p:spPr>
          <a:xfrm>
            <a:off x="1367196" y="2242832"/>
            <a:ext cx="0" cy="382200"/>
          </a:xfrm>
          <a:prstGeom prst="straightConnector1">
            <a:avLst/>
          </a:prstGeom>
          <a:noFill/>
          <a:ln cap="flat" cmpd="sng" w="19050">
            <a:solidFill>
              <a:srgbClr val="12519C"/>
            </a:solidFill>
            <a:prstDash val="solid"/>
            <a:round/>
            <a:headEnd len="sm" w="sm" type="none"/>
            <a:tailEnd len="sm" w="sm" type="none"/>
          </a:ln>
        </p:spPr>
      </p:cxnSp>
      <p:sp>
        <p:nvSpPr>
          <p:cNvPr id="600" name="Google Shape;600;p23"/>
          <p:cNvSpPr/>
          <p:nvPr/>
        </p:nvSpPr>
        <p:spPr>
          <a:xfrm>
            <a:off x="1048238" y="239527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23"/>
          <p:cNvSpPr/>
          <p:nvPr/>
        </p:nvSpPr>
        <p:spPr>
          <a:xfrm>
            <a:off x="1358763" y="2755885"/>
            <a:ext cx="6654600" cy="376800"/>
          </a:xfrm>
          <a:prstGeom prst="snip1Rect">
            <a:avLst>
              <a:gd fmla="val 35537"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ctr" bIns="91425" lIns="91425" spcFirstLastPara="1" rIns="91425" wrap="square" tIns="91425">
            <a:noAutofit/>
          </a:bodyPr>
          <a:lstStyle/>
          <a:p>
            <a:pPr indent="0" lvl="0" marL="457200" marR="0" rtl="0" algn="l">
              <a:lnSpc>
                <a:spcPct val="115000"/>
              </a:lnSpc>
              <a:spcBef>
                <a:spcPts val="0"/>
              </a:spcBef>
              <a:spcAft>
                <a:spcPts val="0"/>
              </a:spcAft>
              <a:buClr>
                <a:srgbClr val="000000"/>
              </a:buClr>
              <a:buSzPts val="1200"/>
              <a:buFont typeface="Arial"/>
              <a:buNone/>
            </a:pPr>
            <a:r>
              <a:rPr b="0" i="0" lang="en" sz="1200" u="none" cap="none" strike="noStrike">
                <a:solidFill>
                  <a:srgbClr val="000000"/>
                </a:solidFill>
                <a:latin typeface="Montserrat"/>
                <a:ea typeface="Montserrat"/>
                <a:cs typeface="Montserrat"/>
                <a:sym typeface="Montserrat"/>
              </a:rPr>
              <a:t>Commercial Summary</a:t>
            </a:r>
            <a:endParaRPr b="0" i="0" sz="1200" u="none" cap="none" strike="noStrike">
              <a:solidFill>
                <a:srgbClr val="000000"/>
              </a:solidFill>
              <a:latin typeface="Montserrat"/>
              <a:ea typeface="Montserrat"/>
              <a:cs typeface="Montserrat"/>
              <a:sym typeface="Montserrat"/>
            </a:endParaRPr>
          </a:p>
        </p:txBody>
      </p:sp>
      <p:cxnSp>
        <p:nvCxnSpPr>
          <p:cNvPr id="602" name="Google Shape;602;p23"/>
          <p:cNvCxnSpPr/>
          <p:nvPr/>
        </p:nvCxnSpPr>
        <p:spPr>
          <a:xfrm>
            <a:off x="1367196" y="2752912"/>
            <a:ext cx="0" cy="382200"/>
          </a:xfrm>
          <a:prstGeom prst="straightConnector1">
            <a:avLst/>
          </a:prstGeom>
          <a:noFill/>
          <a:ln cap="flat" cmpd="sng" w="19050">
            <a:solidFill>
              <a:srgbClr val="12519C"/>
            </a:solidFill>
            <a:prstDash val="solid"/>
            <a:round/>
            <a:headEnd len="sm" w="sm" type="none"/>
            <a:tailEnd len="sm" w="sm" type="none"/>
          </a:ln>
        </p:spPr>
      </p:cxnSp>
      <p:sp>
        <p:nvSpPr>
          <p:cNvPr id="603" name="Google Shape;603;p23"/>
          <p:cNvSpPr/>
          <p:nvPr/>
        </p:nvSpPr>
        <p:spPr>
          <a:xfrm>
            <a:off x="1048238" y="2905355"/>
            <a:ext cx="79200" cy="77400"/>
          </a:xfrm>
          <a:prstGeom prst="ellipse">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23"/>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 sz="1000" u="none" cap="none" strike="noStrike">
                <a:solidFill>
                  <a:srgbClr val="000000"/>
                </a:solidFill>
                <a:latin typeface="Montserrat"/>
                <a:ea typeface="Montserrat"/>
                <a:cs typeface="Montserrat"/>
                <a:sym typeface="Montserrat"/>
              </a:rPr>
              <a:t>‹#›</a:t>
            </a:fld>
            <a:endParaRPr b="0" i="0" sz="10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08" name="Shape 608"/>
        <p:cNvGrpSpPr/>
        <p:nvPr/>
      </p:nvGrpSpPr>
      <p:grpSpPr>
        <a:xfrm>
          <a:off x="0" y="0"/>
          <a:ext cx="0" cy="0"/>
          <a:chOff x="0" y="0"/>
          <a:chExt cx="0" cy="0"/>
        </a:xfrm>
      </p:grpSpPr>
      <p:sp>
        <p:nvSpPr>
          <p:cNvPr id="609" name="Google Shape;609;p24"/>
          <p:cNvSpPr/>
          <p:nvPr/>
        </p:nvSpPr>
        <p:spPr>
          <a:xfrm>
            <a:off x="0" y="144000"/>
            <a:ext cx="47400" cy="357300"/>
          </a:xfrm>
          <a:prstGeom prst="rect">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0" name="Google Shape;610;p24"/>
          <p:cNvSpPr txBox="1"/>
          <p:nvPr/>
        </p:nvSpPr>
        <p:spPr>
          <a:xfrm>
            <a:off x="6222488" y="959944"/>
            <a:ext cx="2693100" cy="2014200"/>
          </a:xfrm>
          <a:prstGeom prst="rect">
            <a:avLst/>
          </a:prstGeom>
          <a:noFill/>
          <a:ln>
            <a:noFill/>
          </a:ln>
          <a:effectLst>
            <a:outerShdw blurRad="228600" rotWithShape="0" algn="bl" dir="5400000" dist="57150">
              <a:srgbClr val="000000">
                <a:alpha val="10980"/>
              </a:srgbClr>
            </a:outerShdw>
          </a:effectLst>
        </p:spPr>
        <p:txBody>
          <a:bodyPr anchorCtr="0" anchor="t" bIns="91425" lIns="91425" spcFirstLastPara="1" rIns="91425" wrap="square" tIns="91425">
            <a:noAutofit/>
          </a:bodyPr>
          <a:lstStyle/>
          <a:p>
            <a:pPr indent="0" lvl="0" marL="0" marR="0" rtl="0" algn="l">
              <a:lnSpc>
                <a:spcPct val="150000"/>
              </a:lnSpc>
              <a:spcBef>
                <a:spcPts val="900"/>
              </a:spcBef>
              <a:spcAft>
                <a:spcPts val="0"/>
              </a:spcAft>
              <a:buClr>
                <a:schemeClr val="dk1"/>
              </a:buClr>
              <a:buSzPts val="800"/>
              <a:buFont typeface="Arial"/>
              <a:buNone/>
            </a:pPr>
            <a:r>
              <a:rPr b="0" i="0" lang="en" sz="700" u="none" cap="none" strike="noStrike">
                <a:solidFill>
                  <a:schemeClr val="dk1"/>
                </a:solidFill>
                <a:latin typeface="Montserrat"/>
                <a:ea typeface="Montserrat"/>
                <a:cs typeface="Montserrat"/>
                <a:sym typeface="Montserrat"/>
              </a:rPr>
              <a:t>Since 2018, TTN has been a strategic partner in Tabcorp’s transformation, evolving from supporting its digital arm to over 150 people enabling </a:t>
            </a:r>
            <a:r>
              <a:rPr b="1" i="0" lang="en" sz="700" u="none" cap="none" strike="noStrike">
                <a:solidFill>
                  <a:schemeClr val="dk1"/>
                </a:solidFill>
                <a:latin typeface="Montserrat"/>
                <a:ea typeface="Montserrat"/>
                <a:cs typeface="Montserrat"/>
                <a:sym typeface="Montserrat"/>
              </a:rPr>
              <a:t>digital, gaming, data, trackside, retail, </a:t>
            </a:r>
            <a:r>
              <a:rPr b="0" i="0" lang="en" sz="700" u="none" cap="none" strike="noStrike">
                <a:solidFill>
                  <a:schemeClr val="dk1"/>
                </a:solidFill>
                <a:latin typeface="Montserrat"/>
                <a:ea typeface="Montserrat"/>
                <a:cs typeface="Montserrat"/>
                <a:sym typeface="Montserrat"/>
              </a:rPr>
              <a:t>and</a:t>
            </a:r>
            <a:r>
              <a:rPr b="1" i="0" lang="en" sz="700" u="none" cap="none" strike="noStrike">
                <a:solidFill>
                  <a:schemeClr val="dk1"/>
                </a:solidFill>
                <a:latin typeface="Montserrat"/>
                <a:ea typeface="Montserrat"/>
                <a:cs typeface="Montserrat"/>
                <a:sym typeface="Montserrat"/>
              </a:rPr>
              <a:t> cybersecurity</a:t>
            </a:r>
            <a:r>
              <a:rPr b="0" i="0" lang="en" sz="700" u="none" cap="none" strike="noStrike">
                <a:solidFill>
                  <a:schemeClr val="dk1"/>
                </a:solidFill>
                <a:latin typeface="Montserrat"/>
                <a:ea typeface="Montserrat"/>
                <a:cs typeface="Montserrat"/>
                <a:sym typeface="Montserrat"/>
              </a:rPr>
              <a:t>. Together, we have delivered groundbreaking solutions at scale.</a:t>
            </a:r>
            <a:endParaRPr b="0" i="0" sz="700" u="none" cap="none" strike="noStrike">
              <a:solidFill>
                <a:schemeClr val="dk1"/>
              </a:solidFill>
              <a:latin typeface="Montserrat"/>
              <a:ea typeface="Montserrat"/>
              <a:cs typeface="Montserrat"/>
              <a:sym typeface="Montserrat"/>
            </a:endParaRPr>
          </a:p>
          <a:p>
            <a:pPr indent="0" lvl="0" marL="0" marR="0" rtl="0" algn="l">
              <a:lnSpc>
                <a:spcPct val="150000"/>
              </a:lnSpc>
              <a:spcBef>
                <a:spcPts val="900"/>
              </a:spcBef>
              <a:spcAft>
                <a:spcPts val="0"/>
              </a:spcAft>
              <a:buClr>
                <a:schemeClr val="dk1"/>
              </a:buClr>
              <a:buSzPts val="800"/>
              <a:buFont typeface="Arial"/>
              <a:buNone/>
            </a:pPr>
            <a:r>
              <a:rPr b="0" i="0" lang="en" sz="700" u="none" cap="none" strike="noStrike">
                <a:solidFill>
                  <a:schemeClr val="dk1"/>
                </a:solidFill>
                <a:latin typeface="Montserrat"/>
                <a:ea typeface="Montserrat"/>
                <a:cs typeface="Montserrat"/>
                <a:sym typeface="Montserrat"/>
              </a:rPr>
              <a:t>From omni-channel innovations like a </a:t>
            </a:r>
            <a:r>
              <a:rPr b="1" i="0" lang="en" sz="700" u="none" cap="none" strike="noStrike">
                <a:solidFill>
                  <a:schemeClr val="dk1"/>
                </a:solidFill>
                <a:latin typeface="Montserrat"/>
                <a:ea typeface="Montserrat"/>
                <a:cs typeface="Montserrat"/>
                <a:sym typeface="Montserrat"/>
              </a:rPr>
              <a:t>cross-platform betting app</a:t>
            </a:r>
            <a:r>
              <a:rPr b="0" i="0" lang="en" sz="700" u="none" cap="none" strike="noStrike">
                <a:solidFill>
                  <a:schemeClr val="dk1"/>
                </a:solidFill>
                <a:latin typeface="Montserrat"/>
                <a:ea typeface="Montserrat"/>
                <a:cs typeface="Montserrat"/>
                <a:sym typeface="Montserrat"/>
              </a:rPr>
              <a:t>, integrating </a:t>
            </a:r>
            <a:r>
              <a:rPr b="1" i="0" lang="en" sz="700" u="none" cap="none" strike="noStrike">
                <a:solidFill>
                  <a:schemeClr val="dk1"/>
                </a:solidFill>
                <a:latin typeface="Montserrat"/>
                <a:ea typeface="Montserrat"/>
                <a:cs typeface="Montserrat"/>
                <a:sym typeface="Montserrat"/>
              </a:rPr>
              <a:t>web</a:t>
            </a:r>
            <a:r>
              <a:rPr b="0" i="0" lang="en" sz="700" u="none" cap="none" strike="noStrike">
                <a:solidFill>
                  <a:schemeClr val="dk1"/>
                </a:solidFill>
                <a:latin typeface="Montserrat"/>
                <a:ea typeface="Montserrat"/>
                <a:cs typeface="Montserrat"/>
                <a:sym typeface="Montserrat"/>
              </a:rPr>
              <a:t> and mobile experiences, customer engagement and </a:t>
            </a:r>
            <a:r>
              <a:rPr b="1" i="0" lang="en" sz="700" u="none" cap="none" strike="noStrike">
                <a:solidFill>
                  <a:schemeClr val="dk1"/>
                </a:solidFill>
                <a:latin typeface="Montserrat"/>
                <a:ea typeface="Montserrat"/>
                <a:cs typeface="Montserrat"/>
                <a:sym typeface="Montserrat"/>
              </a:rPr>
              <a:t>personalisation</a:t>
            </a:r>
            <a:r>
              <a:rPr b="0" i="0" lang="en" sz="700" u="none" cap="none" strike="noStrike">
                <a:solidFill>
                  <a:schemeClr val="dk1"/>
                </a:solidFill>
                <a:latin typeface="Montserrat"/>
                <a:ea typeface="Montserrat"/>
                <a:cs typeface="Montserrat"/>
                <a:sym typeface="Montserrat"/>
              </a:rPr>
              <a:t> through </a:t>
            </a:r>
            <a:r>
              <a:rPr b="1" i="0" lang="en" sz="700" u="none" cap="none" strike="noStrike">
                <a:solidFill>
                  <a:schemeClr val="dk1"/>
                </a:solidFill>
                <a:latin typeface="Montserrat"/>
                <a:ea typeface="Montserrat"/>
                <a:cs typeface="Montserrat"/>
                <a:sym typeface="Montserrat"/>
              </a:rPr>
              <a:t>Adobe Target, Analytics, and AEM</a:t>
            </a:r>
            <a:r>
              <a:rPr b="0" i="0" lang="en" sz="700" u="none" cap="none" strike="noStrike">
                <a:solidFill>
                  <a:schemeClr val="dk1"/>
                </a:solidFill>
                <a:latin typeface="Montserrat"/>
                <a:ea typeface="Montserrat"/>
                <a:cs typeface="Montserrat"/>
                <a:sym typeface="Montserrat"/>
              </a:rPr>
              <a:t>, to infrastructure modernisation with</a:t>
            </a:r>
            <a:r>
              <a:rPr b="1" i="0" lang="en" sz="700" u="none" cap="none" strike="noStrike">
                <a:solidFill>
                  <a:schemeClr val="dk1"/>
                </a:solidFill>
                <a:latin typeface="Montserrat"/>
                <a:ea typeface="Montserrat"/>
                <a:cs typeface="Montserrat"/>
                <a:sym typeface="Montserrat"/>
              </a:rPr>
              <a:t> Infra as Code</a:t>
            </a:r>
            <a:r>
              <a:rPr b="0" i="0" lang="en" sz="700" u="none" cap="none" strike="noStrike">
                <a:solidFill>
                  <a:schemeClr val="dk1"/>
                </a:solidFill>
                <a:latin typeface="Montserrat"/>
                <a:ea typeface="Montserrat"/>
                <a:cs typeface="Montserrat"/>
                <a:sym typeface="Montserrat"/>
              </a:rPr>
              <a:t>, AWS Cloud optimisation, and </a:t>
            </a:r>
            <a:r>
              <a:rPr b="1" i="0" lang="en" sz="700" u="none" cap="none" strike="noStrike">
                <a:solidFill>
                  <a:schemeClr val="dk1"/>
                </a:solidFill>
                <a:latin typeface="Montserrat"/>
                <a:ea typeface="Montserrat"/>
                <a:cs typeface="Montserrat"/>
                <a:sym typeface="Montserrat"/>
              </a:rPr>
              <a:t>Graviton</a:t>
            </a:r>
            <a:r>
              <a:rPr b="0" i="0" lang="en" sz="700" u="none" cap="none" strike="noStrike">
                <a:solidFill>
                  <a:schemeClr val="dk1"/>
                </a:solidFill>
                <a:latin typeface="Montserrat"/>
                <a:ea typeface="Montserrat"/>
                <a:cs typeface="Montserrat"/>
                <a:sym typeface="Montserrat"/>
              </a:rPr>
              <a:t> migration, to reducing manual testing by 45% through </a:t>
            </a:r>
            <a:r>
              <a:rPr b="1" i="0" lang="en" sz="700" u="none" cap="none" strike="noStrike">
                <a:solidFill>
                  <a:schemeClr val="dk1"/>
                </a:solidFill>
                <a:latin typeface="Montserrat"/>
                <a:ea typeface="Montserrat"/>
                <a:cs typeface="Montserrat"/>
                <a:sym typeface="Montserrat"/>
              </a:rPr>
              <a:t>automation</a:t>
            </a:r>
            <a:r>
              <a:rPr b="0" i="0" lang="en" sz="700" u="none" cap="none" strike="noStrike">
                <a:solidFill>
                  <a:schemeClr val="dk1"/>
                </a:solidFill>
                <a:latin typeface="Montserrat"/>
                <a:ea typeface="Montserrat"/>
                <a:cs typeface="Montserrat"/>
                <a:sym typeface="Montserrat"/>
              </a:rPr>
              <a:t>.</a:t>
            </a:r>
            <a:endParaRPr b="0" i="0" sz="700" u="none" cap="none" strike="noStrike">
              <a:solidFill>
                <a:schemeClr val="dk1"/>
              </a:solidFill>
              <a:latin typeface="Montserrat"/>
              <a:ea typeface="Montserrat"/>
              <a:cs typeface="Montserrat"/>
              <a:sym typeface="Montserrat"/>
            </a:endParaRPr>
          </a:p>
          <a:p>
            <a:pPr indent="0" lvl="0" marL="0" marR="0" rtl="0" algn="l">
              <a:lnSpc>
                <a:spcPct val="150000"/>
              </a:lnSpc>
              <a:spcBef>
                <a:spcPts val="900"/>
              </a:spcBef>
              <a:spcAft>
                <a:spcPts val="0"/>
              </a:spcAft>
              <a:buClr>
                <a:schemeClr val="dk1"/>
              </a:buClr>
              <a:buSzPts val="800"/>
              <a:buFont typeface="Arial"/>
              <a:buNone/>
            </a:pPr>
            <a:r>
              <a:rPr b="0" i="0" lang="en" sz="700" u="none" cap="none" strike="noStrike">
                <a:solidFill>
                  <a:schemeClr val="dk1"/>
                </a:solidFill>
                <a:latin typeface="Montserrat"/>
                <a:ea typeface="Montserrat"/>
                <a:cs typeface="Montserrat"/>
                <a:sym typeface="Montserrat"/>
              </a:rPr>
              <a:t>We have enabled compliance adherence through </a:t>
            </a:r>
            <a:r>
              <a:rPr b="1" i="0" lang="en" sz="700" u="none" cap="none" strike="noStrike">
                <a:solidFill>
                  <a:schemeClr val="dk1"/>
                </a:solidFill>
                <a:latin typeface="Montserrat"/>
                <a:ea typeface="Montserrat"/>
                <a:cs typeface="Montserrat"/>
                <a:sym typeface="Montserrat"/>
              </a:rPr>
              <a:t>AML/CTF tools </a:t>
            </a:r>
            <a:r>
              <a:rPr b="0" i="0" lang="en" sz="700" u="none" cap="none" strike="noStrike">
                <a:solidFill>
                  <a:schemeClr val="dk1"/>
                </a:solidFill>
                <a:latin typeface="Montserrat"/>
                <a:ea typeface="Montserrat"/>
                <a:cs typeface="Montserrat"/>
                <a:sym typeface="Montserrat"/>
              </a:rPr>
              <a:t>for</a:t>
            </a:r>
            <a:r>
              <a:rPr b="1" i="0" lang="en" sz="700" u="none" cap="none" strike="noStrike">
                <a:solidFill>
                  <a:schemeClr val="dk1"/>
                </a:solidFill>
                <a:latin typeface="Montserrat"/>
                <a:ea typeface="Montserrat"/>
                <a:cs typeface="Montserrat"/>
                <a:sym typeface="Montserrat"/>
              </a:rPr>
              <a:t> Enhanced Customer Due Diligence</a:t>
            </a:r>
            <a:r>
              <a:rPr b="0" i="0" lang="en" sz="700" u="none" cap="none" strike="noStrike">
                <a:solidFill>
                  <a:schemeClr val="dk1"/>
                </a:solidFill>
                <a:latin typeface="Montserrat"/>
                <a:ea typeface="Montserrat"/>
                <a:cs typeface="Montserrat"/>
                <a:sym typeface="Montserrat"/>
              </a:rPr>
              <a:t> and </a:t>
            </a:r>
            <a:r>
              <a:rPr b="1" i="0" lang="en" sz="700" u="none" cap="none" strike="noStrike">
                <a:solidFill>
                  <a:schemeClr val="dk1"/>
                </a:solidFill>
                <a:latin typeface="Montserrat"/>
                <a:ea typeface="Montserrat"/>
                <a:cs typeface="Montserrat"/>
                <a:sym typeface="Montserrat"/>
              </a:rPr>
              <a:t>suppression</a:t>
            </a:r>
            <a:r>
              <a:rPr b="0" i="0" lang="en" sz="700" u="none" cap="none" strike="noStrike">
                <a:solidFill>
                  <a:schemeClr val="dk1"/>
                </a:solidFill>
                <a:latin typeface="Montserrat"/>
                <a:ea typeface="Montserrat"/>
                <a:cs typeface="Montserrat"/>
                <a:sym typeface="Montserrat"/>
              </a:rPr>
              <a:t> management.</a:t>
            </a:r>
            <a:endParaRPr b="0" i="0" sz="700" u="none" cap="none" strike="noStrike">
              <a:solidFill>
                <a:schemeClr val="dk1"/>
              </a:solidFill>
              <a:latin typeface="Montserrat"/>
              <a:ea typeface="Montserrat"/>
              <a:cs typeface="Montserrat"/>
              <a:sym typeface="Montserrat"/>
            </a:endParaRPr>
          </a:p>
          <a:p>
            <a:pPr indent="0" lvl="0" marL="0" marR="0" rtl="0" algn="l">
              <a:lnSpc>
                <a:spcPct val="150000"/>
              </a:lnSpc>
              <a:spcBef>
                <a:spcPts val="900"/>
              </a:spcBef>
              <a:spcAft>
                <a:spcPts val="0"/>
              </a:spcAft>
              <a:buClr>
                <a:schemeClr val="dk1"/>
              </a:buClr>
              <a:buSzPts val="800"/>
              <a:buFont typeface="Arial"/>
              <a:buNone/>
            </a:pPr>
            <a:r>
              <a:rPr b="0" i="0" lang="en" sz="700" u="none" cap="none" strike="noStrike">
                <a:solidFill>
                  <a:schemeClr val="dk1"/>
                </a:solidFill>
                <a:latin typeface="Montserrat"/>
                <a:ea typeface="Montserrat"/>
                <a:cs typeface="Montserrat"/>
                <a:sym typeface="Montserrat"/>
              </a:rPr>
              <a:t>Our work includes cutting-edge betting features like </a:t>
            </a:r>
            <a:r>
              <a:rPr b="1" i="0" lang="en" sz="700" u="none" cap="none" strike="noStrike">
                <a:solidFill>
                  <a:schemeClr val="dk1"/>
                </a:solidFill>
                <a:latin typeface="Montserrat"/>
                <a:ea typeface="Montserrat"/>
                <a:cs typeface="Montserrat"/>
                <a:sym typeface="Montserrat"/>
              </a:rPr>
              <a:t>Same Game Multi</a:t>
            </a:r>
            <a:r>
              <a:rPr b="0" i="0" lang="en" sz="700" u="none" cap="none" strike="noStrike">
                <a:solidFill>
                  <a:schemeClr val="dk1"/>
                </a:solidFill>
                <a:latin typeface="Montserrat"/>
                <a:ea typeface="Montserrat"/>
                <a:cs typeface="Montserrat"/>
                <a:sym typeface="Montserrat"/>
              </a:rPr>
              <a:t> for sports, </a:t>
            </a:r>
            <a:r>
              <a:rPr b="1" i="0" lang="en" sz="700" u="none" cap="none" strike="noStrike">
                <a:solidFill>
                  <a:schemeClr val="dk1"/>
                </a:solidFill>
                <a:latin typeface="Montserrat"/>
                <a:ea typeface="Montserrat"/>
                <a:cs typeface="Montserrat"/>
                <a:sym typeface="Montserrat"/>
              </a:rPr>
              <a:t>Blackbook</a:t>
            </a:r>
            <a:r>
              <a:rPr b="0" i="0" lang="en" sz="700" u="none" cap="none" strike="noStrike">
                <a:solidFill>
                  <a:schemeClr val="dk1"/>
                </a:solidFill>
                <a:latin typeface="Montserrat"/>
                <a:ea typeface="Montserrat"/>
                <a:cs typeface="Montserrat"/>
                <a:sym typeface="Montserrat"/>
              </a:rPr>
              <a:t> for racing, and </a:t>
            </a:r>
            <a:r>
              <a:rPr b="1" i="0" lang="en" sz="700" u="none" cap="none" strike="noStrike">
                <a:solidFill>
                  <a:schemeClr val="dk1"/>
                </a:solidFill>
                <a:latin typeface="Montserrat"/>
                <a:ea typeface="Montserrat"/>
                <a:cs typeface="Montserrat"/>
                <a:sym typeface="Montserrat"/>
              </a:rPr>
              <a:t>Retail in-play</a:t>
            </a:r>
            <a:r>
              <a:rPr b="0" i="0" lang="en" sz="700" u="none" cap="none" strike="noStrike">
                <a:solidFill>
                  <a:schemeClr val="dk1"/>
                </a:solidFill>
                <a:latin typeface="Montserrat"/>
                <a:ea typeface="Montserrat"/>
                <a:cs typeface="Montserrat"/>
                <a:sym typeface="Montserrat"/>
              </a:rPr>
              <a:t> initiatives to boost engagement and custom experiences.</a:t>
            </a:r>
            <a:endParaRPr b="0" i="0" sz="700" u="none" cap="none" strike="noStrike">
              <a:solidFill>
                <a:schemeClr val="dk1"/>
              </a:solidFill>
              <a:latin typeface="Montserrat"/>
              <a:ea typeface="Montserrat"/>
              <a:cs typeface="Montserrat"/>
              <a:sym typeface="Montserrat"/>
            </a:endParaRPr>
          </a:p>
          <a:p>
            <a:pPr indent="0" lvl="0" marL="0" marR="0" rtl="0" algn="l">
              <a:lnSpc>
                <a:spcPct val="150000"/>
              </a:lnSpc>
              <a:spcBef>
                <a:spcPts val="900"/>
              </a:spcBef>
              <a:spcAft>
                <a:spcPts val="0"/>
              </a:spcAft>
              <a:buClr>
                <a:schemeClr val="dk1"/>
              </a:buClr>
              <a:buSzPts val="800"/>
              <a:buFont typeface="Arial"/>
              <a:buNone/>
            </a:pPr>
            <a:r>
              <a:t/>
            </a:r>
            <a:endParaRPr b="0" i="0" sz="700" u="none" cap="none" strike="noStrike">
              <a:solidFill>
                <a:schemeClr val="dk1"/>
              </a:solidFill>
              <a:latin typeface="Montserrat"/>
              <a:ea typeface="Montserrat"/>
              <a:cs typeface="Montserrat"/>
              <a:sym typeface="Montserrat"/>
            </a:endParaRPr>
          </a:p>
          <a:p>
            <a:pPr indent="0" lvl="0" marL="0" marR="0" rtl="0" algn="l">
              <a:lnSpc>
                <a:spcPct val="150000"/>
              </a:lnSpc>
              <a:spcBef>
                <a:spcPts val="0"/>
              </a:spcBef>
              <a:spcAft>
                <a:spcPts val="0"/>
              </a:spcAft>
              <a:buClr>
                <a:schemeClr val="dk1"/>
              </a:buClr>
              <a:buSzPts val="1100"/>
              <a:buFont typeface="Arial"/>
              <a:buNone/>
            </a:pPr>
            <a:r>
              <a:t/>
            </a:r>
            <a:endParaRPr b="0" i="0" sz="700" u="none" cap="none" strike="noStrike">
              <a:solidFill>
                <a:srgbClr val="434343"/>
              </a:solidFill>
              <a:latin typeface="Montserrat"/>
              <a:ea typeface="Montserrat"/>
              <a:cs typeface="Montserrat"/>
              <a:sym typeface="Montserrat"/>
            </a:endParaRPr>
          </a:p>
        </p:txBody>
      </p:sp>
      <p:sp>
        <p:nvSpPr>
          <p:cNvPr id="611" name="Google Shape;611;p24"/>
          <p:cNvSpPr/>
          <p:nvPr/>
        </p:nvSpPr>
        <p:spPr>
          <a:xfrm>
            <a:off x="6123225" y="763069"/>
            <a:ext cx="2232300" cy="267900"/>
          </a:xfrm>
          <a:prstGeom prst="rect">
            <a:avLst/>
          </a:prstGeom>
          <a:solidFill>
            <a:srgbClr val="5C72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lt1"/>
                </a:solidFill>
                <a:latin typeface="Montserrat"/>
                <a:ea typeface="Montserrat"/>
                <a:cs typeface="Montserrat"/>
                <a:sym typeface="Montserrat"/>
              </a:rPr>
              <a:t>   Australia </a:t>
            </a:r>
            <a:endParaRPr b="0" i="0" sz="1000" u="none" cap="none" strike="noStrike">
              <a:solidFill>
                <a:schemeClr val="lt1"/>
              </a:solidFill>
              <a:latin typeface="Montserrat"/>
              <a:ea typeface="Montserrat"/>
              <a:cs typeface="Montserrat"/>
              <a:sym typeface="Montserrat"/>
            </a:endParaRPr>
          </a:p>
        </p:txBody>
      </p:sp>
      <p:pic>
        <p:nvPicPr>
          <p:cNvPr id="612" name="Google Shape;612;p24"/>
          <p:cNvPicPr preferRelativeResize="0"/>
          <p:nvPr/>
        </p:nvPicPr>
        <p:blipFill rotWithShape="1">
          <a:blip r:embed="rId4">
            <a:alphaModFix/>
          </a:blip>
          <a:srcRect b="0" l="0" r="0" t="0"/>
          <a:stretch/>
        </p:blipFill>
        <p:spPr>
          <a:xfrm>
            <a:off x="309115" y="1314638"/>
            <a:ext cx="4862602" cy="2662069"/>
          </a:xfrm>
          <a:prstGeom prst="rect">
            <a:avLst/>
          </a:prstGeom>
          <a:noFill/>
          <a:ln>
            <a:noFill/>
          </a:ln>
        </p:spPr>
      </p:pic>
      <p:pic>
        <p:nvPicPr>
          <p:cNvPr id="613" name="Google Shape;613;p24"/>
          <p:cNvPicPr preferRelativeResize="0"/>
          <p:nvPr/>
        </p:nvPicPr>
        <p:blipFill rotWithShape="1">
          <a:blip r:embed="rId5">
            <a:alphaModFix/>
          </a:blip>
          <a:srcRect b="10521" l="6650" r="11154" t="4633"/>
          <a:stretch/>
        </p:blipFill>
        <p:spPr>
          <a:xfrm>
            <a:off x="851944" y="1443453"/>
            <a:ext cx="3776945" cy="1955583"/>
          </a:xfrm>
          <a:prstGeom prst="rect">
            <a:avLst/>
          </a:prstGeom>
          <a:noFill/>
          <a:ln>
            <a:noFill/>
          </a:ln>
        </p:spPr>
      </p:pic>
      <p:pic>
        <p:nvPicPr>
          <p:cNvPr id="614" name="Google Shape;614;p24"/>
          <p:cNvPicPr preferRelativeResize="0"/>
          <p:nvPr/>
        </p:nvPicPr>
        <p:blipFill rotWithShape="1">
          <a:blip r:embed="rId6">
            <a:alphaModFix/>
          </a:blip>
          <a:srcRect b="51129" l="0" r="0" t="0"/>
          <a:stretch/>
        </p:blipFill>
        <p:spPr>
          <a:xfrm>
            <a:off x="851951" y="1443450"/>
            <a:ext cx="3776933" cy="2202435"/>
          </a:xfrm>
          <a:prstGeom prst="rect">
            <a:avLst/>
          </a:prstGeom>
          <a:noFill/>
          <a:ln>
            <a:noFill/>
          </a:ln>
        </p:spPr>
      </p:pic>
      <p:pic>
        <p:nvPicPr>
          <p:cNvPr id="615" name="Google Shape;615;p24"/>
          <p:cNvPicPr preferRelativeResize="0"/>
          <p:nvPr/>
        </p:nvPicPr>
        <p:blipFill rotWithShape="1">
          <a:blip r:embed="rId7">
            <a:alphaModFix/>
          </a:blip>
          <a:srcRect b="0" l="0" r="0" t="0"/>
          <a:stretch/>
        </p:blipFill>
        <p:spPr>
          <a:xfrm>
            <a:off x="4213317" y="1131394"/>
            <a:ext cx="1400655" cy="2780532"/>
          </a:xfrm>
          <a:prstGeom prst="rect">
            <a:avLst/>
          </a:prstGeom>
          <a:noFill/>
          <a:ln>
            <a:noFill/>
          </a:ln>
        </p:spPr>
      </p:pic>
      <p:pic>
        <p:nvPicPr>
          <p:cNvPr id="616" name="Google Shape;616;p24"/>
          <p:cNvPicPr preferRelativeResize="0"/>
          <p:nvPr/>
        </p:nvPicPr>
        <p:blipFill rotWithShape="1">
          <a:blip r:embed="rId8">
            <a:alphaModFix/>
          </a:blip>
          <a:srcRect b="0" l="0" r="0" t="0"/>
          <a:stretch/>
        </p:blipFill>
        <p:spPr>
          <a:xfrm>
            <a:off x="4298073" y="1209199"/>
            <a:ext cx="1236900" cy="2565600"/>
          </a:xfrm>
          <a:prstGeom prst="round2SameRect">
            <a:avLst>
              <a:gd fmla="val 10615" name="adj1"/>
              <a:gd fmla="val 0" name="adj2"/>
            </a:avLst>
          </a:prstGeom>
          <a:noFill/>
          <a:ln>
            <a:noFill/>
          </a:ln>
        </p:spPr>
      </p:pic>
      <p:pic>
        <p:nvPicPr>
          <p:cNvPr id="617" name="Google Shape;617;p24"/>
          <p:cNvPicPr preferRelativeResize="0"/>
          <p:nvPr/>
        </p:nvPicPr>
        <p:blipFill rotWithShape="1">
          <a:blip r:embed="rId9">
            <a:alphaModFix/>
          </a:blip>
          <a:srcRect b="0" l="0" r="0" t="0"/>
          <a:stretch/>
        </p:blipFill>
        <p:spPr>
          <a:xfrm>
            <a:off x="207877" y="179550"/>
            <a:ext cx="1531468" cy="286200"/>
          </a:xfrm>
          <a:prstGeom prst="rect">
            <a:avLst/>
          </a:prstGeom>
          <a:noFill/>
          <a:ln>
            <a:noFill/>
          </a:ln>
        </p:spPr>
      </p:pic>
      <p:pic>
        <p:nvPicPr>
          <p:cNvPr descr="TTN Logo.png" id="618" name="Google Shape;618;p24"/>
          <p:cNvPicPr preferRelativeResize="0"/>
          <p:nvPr/>
        </p:nvPicPr>
        <p:blipFill rotWithShape="1">
          <a:blip r:embed="rId10">
            <a:alphaModFix/>
          </a:blip>
          <a:srcRect b="0" l="0" r="0" t="0"/>
          <a:stretch/>
        </p:blipFill>
        <p:spPr>
          <a:xfrm>
            <a:off x="8414781" y="117828"/>
            <a:ext cx="625544" cy="349439"/>
          </a:xfrm>
          <a:prstGeom prst="rect">
            <a:avLst/>
          </a:prstGeom>
          <a:noFill/>
          <a:ln>
            <a:noFill/>
          </a:ln>
        </p:spPr>
      </p:pic>
      <p:sp>
        <p:nvSpPr>
          <p:cNvPr id="619" name="Google Shape;619;p24"/>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 sz="800" u="none" cap="none" strike="noStrike">
                <a:solidFill>
                  <a:srgbClr val="000000"/>
                </a:solidFill>
                <a:latin typeface="Montserrat"/>
                <a:ea typeface="Montserrat"/>
                <a:cs typeface="Montserrat"/>
                <a:sym typeface="Montserrat"/>
              </a:rPr>
              <a:t>‹#›</a:t>
            </a:fld>
            <a:endParaRPr b="0" i="0" sz="8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23" name="Shape 623"/>
        <p:cNvGrpSpPr/>
        <p:nvPr/>
      </p:nvGrpSpPr>
      <p:grpSpPr>
        <a:xfrm>
          <a:off x="0" y="0"/>
          <a:ext cx="0" cy="0"/>
          <a:chOff x="0" y="0"/>
          <a:chExt cx="0" cy="0"/>
        </a:xfrm>
      </p:grpSpPr>
      <p:sp>
        <p:nvSpPr>
          <p:cNvPr id="624" name="Google Shape;624;p25"/>
          <p:cNvSpPr/>
          <p:nvPr/>
        </p:nvSpPr>
        <p:spPr>
          <a:xfrm>
            <a:off x="0" y="144000"/>
            <a:ext cx="47400" cy="357300"/>
          </a:xfrm>
          <a:prstGeom prst="rect">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 name="Google Shape;625;p25"/>
          <p:cNvSpPr txBox="1"/>
          <p:nvPr/>
        </p:nvSpPr>
        <p:spPr>
          <a:xfrm>
            <a:off x="6221063" y="1127906"/>
            <a:ext cx="2846400" cy="2014200"/>
          </a:xfrm>
          <a:prstGeom prst="rect">
            <a:avLst/>
          </a:prstGeom>
          <a:noFill/>
          <a:ln>
            <a:noFill/>
          </a:ln>
          <a:effectLst>
            <a:outerShdw blurRad="228600" rotWithShape="0" algn="bl" dir="5400000" dist="57150">
              <a:srgbClr val="000000">
                <a:alpha val="10980"/>
              </a:srgbClr>
            </a:outerShdw>
          </a:effectLst>
        </p:spPr>
        <p:txBody>
          <a:bodyPr anchorCtr="0" anchor="t" bIns="91425" lIns="91425" spcFirstLastPara="1" rIns="91425" wrap="square" tIns="91425">
            <a:noAutofit/>
          </a:bodyPr>
          <a:lstStyle/>
          <a:p>
            <a:pPr indent="0" lvl="0" marL="0" marR="0" rtl="0" algn="l">
              <a:lnSpc>
                <a:spcPct val="150000"/>
              </a:lnSpc>
              <a:spcBef>
                <a:spcPts val="0"/>
              </a:spcBef>
              <a:spcAft>
                <a:spcPts val="0"/>
              </a:spcAft>
              <a:buClr>
                <a:schemeClr val="dk1"/>
              </a:buClr>
              <a:buSzPts val="1100"/>
              <a:buFont typeface="Arial"/>
              <a:buNone/>
            </a:pPr>
            <a:r>
              <a:rPr b="0" i="0" lang="en" sz="900" u="none" cap="none" strike="noStrike">
                <a:solidFill>
                  <a:schemeClr val="dk1"/>
                </a:solidFill>
                <a:latin typeface="Montserrat"/>
                <a:ea typeface="Montserrat"/>
                <a:cs typeface="Montserrat"/>
                <a:sym typeface="Montserrat"/>
              </a:rPr>
              <a:t>TTN successfully </a:t>
            </a:r>
            <a:r>
              <a:rPr b="1" i="0" lang="en" sz="900" u="none" cap="none" strike="noStrike">
                <a:solidFill>
                  <a:schemeClr val="dk1"/>
                </a:solidFill>
                <a:latin typeface="Montserrat"/>
                <a:ea typeface="Montserrat"/>
                <a:cs typeface="Montserrat"/>
                <a:sym typeface="Montserrat"/>
              </a:rPr>
              <a:t>rebuilt</a:t>
            </a:r>
            <a:r>
              <a:rPr b="0" i="0" lang="en" sz="900" u="none" cap="none" strike="noStrike">
                <a:solidFill>
                  <a:schemeClr val="dk1"/>
                </a:solidFill>
                <a:latin typeface="Montserrat"/>
                <a:ea typeface="Montserrat"/>
                <a:cs typeface="Montserrat"/>
                <a:sym typeface="Montserrat"/>
              </a:rPr>
              <a:t> the entire </a:t>
            </a:r>
            <a:r>
              <a:rPr b="1" i="0" lang="en" sz="900" u="none" cap="none" strike="noStrike">
                <a:solidFill>
                  <a:schemeClr val="dk1"/>
                </a:solidFill>
                <a:latin typeface="Montserrat"/>
                <a:ea typeface="Montserrat"/>
                <a:cs typeface="Montserrat"/>
                <a:sym typeface="Montserrat"/>
              </a:rPr>
              <a:t>Sky</a:t>
            </a:r>
            <a:r>
              <a:rPr b="0" i="0" lang="en" sz="900" u="none" cap="none" strike="noStrike">
                <a:solidFill>
                  <a:schemeClr val="dk1"/>
                </a:solidFill>
                <a:latin typeface="Montserrat"/>
                <a:ea typeface="Montserrat"/>
                <a:cs typeface="Montserrat"/>
                <a:sym typeface="Montserrat"/>
              </a:rPr>
              <a:t> </a:t>
            </a:r>
            <a:r>
              <a:rPr b="1" i="0" lang="en" sz="900" u="none" cap="none" strike="noStrike">
                <a:solidFill>
                  <a:schemeClr val="dk1"/>
                </a:solidFill>
                <a:latin typeface="Montserrat"/>
                <a:ea typeface="Montserrat"/>
                <a:cs typeface="Montserrat"/>
                <a:sym typeface="Montserrat"/>
              </a:rPr>
              <a:t>Racing Website</a:t>
            </a:r>
            <a:r>
              <a:rPr b="0" i="0" lang="en" sz="900" u="none" cap="none" strike="noStrike">
                <a:solidFill>
                  <a:schemeClr val="dk1"/>
                </a:solidFill>
                <a:latin typeface="Montserrat"/>
                <a:ea typeface="Montserrat"/>
                <a:cs typeface="Montserrat"/>
                <a:sym typeface="Montserrat"/>
              </a:rPr>
              <a:t>, optimised for SEO, and implemented a microservices-based architecture that is highly resilient and scalable, hosted on AWS. </a:t>
            </a:r>
            <a:br>
              <a:rPr b="0" i="0" lang="en" sz="900" u="none" cap="none" strike="noStrike">
                <a:solidFill>
                  <a:schemeClr val="dk1"/>
                </a:solidFill>
                <a:latin typeface="Montserrat"/>
                <a:ea typeface="Montserrat"/>
                <a:cs typeface="Montserrat"/>
                <a:sym typeface="Montserrat"/>
              </a:rPr>
            </a:br>
            <a:br>
              <a:rPr b="0" i="0" lang="en" sz="900" u="none" cap="none" strike="noStrike">
                <a:solidFill>
                  <a:schemeClr val="dk1"/>
                </a:solidFill>
                <a:latin typeface="Montserrat"/>
                <a:ea typeface="Montserrat"/>
                <a:cs typeface="Montserrat"/>
                <a:sym typeface="Montserrat"/>
              </a:rPr>
            </a:br>
            <a:r>
              <a:rPr b="0" i="0" lang="en" sz="900" u="none" cap="none" strike="noStrike">
                <a:solidFill>
                  <a:schemeClr val="dk1"/>
                </a:solidFill>
                <a:latin typeface="Montserrat"/>
                <a:ea typeface="Montserrat"/>
                <a:cs typeface="Montserrat"/>
                <a:sym typeface="Montserrat"/>
              </a:rPr>
              <a:t>In addition to enhancing core digital properties, </a:t>
            </a:r>
            <a:r>
              <a:rPr b="1" i="0" lang="en" sz="900" u="none" cap="none" strike="noStrike">
                <a:solidFill>
                  <a:schemeClr val="dk1"/>
                </a:solidFill>
                <a:latin typeface="Montserrat"/>
                <a:ea typeface="Montserrat"/>
                <a:cs typeface="Montserrat"/>
                <a:sym typeface="Montserrat"/>
              </a:rPr>
              <a:t>TTN streamlined content curation</a:t>
            </a:r>
            <a:r>
              <a:rPr b="0" i="0" lang="en" sz="900" u="none" cap="none" strike="noStrike">
                <a:solidFill>
                  <a:schemeClr val="dk1"/>
                </a:solidFill>
                <a:latin typeface="Montserrat"/>
                <a:ea typeface="Montserrat"/>
                <a:cs typeface="Montserrat"/>
                <a:sym typeface="Montserrat"/>
              </a:rPr>
              <a:t> through a</a:t>
            </a:r>
            <a:r>
              <a:rPr b="1" i="0" lang="en" sz="900" u="none" cap="none" strike="noStrike">
                <a:solidFill>
                  <a:schemeClr val="dk1"/>
                </a:solidFill>
                <a:latin typeface="Montserrat"/>
                <a:ea typeface="Montserrat"/>
                <a:cs typeface="Montserrat"/>
                <a:sym typeface="Montserrat"/>
              </a:rPr>
              <a:t> custom-built CMS</a:t>
            </a:r>
            <a:r>
              <a:rPr b="0" i="0" lang="en" sz="900" u="none" cap="none" strike="noStrike">
                <a:solidFill>
                  <a:schemeClr val="dk1"/>
                </a:solidFill>
                <a:latin typeface="Montserrat"/>
                <a:ea typeface="Montserrat"/>
                <a:cs typeface="Montserrat"/>
                <a:sym typeface="Montserrat"/>
              </a:rPr>
              <a:t>, enabling auto and personalised playlists based on</a:t>
            </a:r>
            <a:r>
              <a:rPr b="1" i="0" lang="en" sz="900" u="none" cap="none" strike="noStrike">
                <a:solidFill>
                  <a:schemeClr val="dk1"/>
                </a:solidFill>
                <a:latin typeface="Montserrat"/>
                <a:ea typeface="Montserrat"/>
                <a:cs typeface="Montserrat"/>
                <a:sym typeface="Montserrat"/>
              </a:rPr>
              <a:t> user preferences</a:t>
            </a:r>
            <a:r>
              <a:rPr b="0" i="0" lang="en" sz="900" u="none" cap="none" strike="noStrike">
                <a:solidFill>
                  <a:schemeClr val="dk1"/>
                </a:solidFill>
                <a:latin typeface="Montserrat"/>
                <a:ea typeface="Montserrat"/>
                <a:cs typeface="Montserrat"/>
                <a:sym typeface="Montserrat"/>
              </a:rPr>
              <a:t>, which significantly improved </a:t>
            </a:r>
            <a:r>
              <a:rPr b="1" i="0" lang="en" sz="900" u="none" cap="none" strike="noStrike">
                <a:solidFill>
                  <a:schemeClr val="dk1"/>
                </a:solidFill>
                <a:latin typeface="Montserrat"/>
                <a:ea typeface="Montserrat"/>
                <a:cs typeface="Montserrat"/>
                <a:sym typeface="Montserrat"/>
              </a:rPr>
              <a:t>operational efficiency.</a:t>
            </a:r>
            <a:r>
              <a:rPr b="0" i="0" lang="en" sz="900" u="none" cap="none" strike="noStrike">
                <a:solidFill>
                  <a:schemeClr val="dk1"/>
                </a:solidFill>
                <a:latin typeface="Montserrat"/>
                <a:ea typeface="Montserrat"/>
                <a:cs typeface="Montserrat"/>
                <a:sym typeface="Montserrat"/>
              </a:rPr>
              <a:t> </a:t>
            </a:r>
            <a:br>
              <a:rPr b="0" i="0" lang="en" sz="900" u="none" cap="none" strike="noStrike">
                <a:solidFill>
                  <a:schemeClr val="dk1"/>
                </a:solidFill>
                <a:latin typeface="Montserrat"/>
                <a:ea typeface="Montserrat"/>
                <a:cs typeface="Montserrat"/>
                <a:sym typeface="Montserrat"/>
              </a:rPr>
            </a:br>
            <a:br>
              <a:rPr b="0" i="0" lang="en" sz="900" u="none" cap="none" strike="noStrike">
                <a:solidFill>
                  <a:schemeClr val="dk1"/>
                </a:solidFill>
                <a:latin typeface="Montserrat"/>
                <a:ea typeface="Montserrat"/>
                <a:cs typeface="Montserrat"/>
                <a:sym typeface="Montserrat"/>
              </a:rPr>
            </a:br>
            <a:r>
              <a:rPr b="0" i="0" lang="en" sz="900" u="none" cap="none" strike="noStrike">
                <a:solidFill>
                  <a:schemeClr val="dk1"/>
                </a:solidFill>
                <a:latin typeface="Montserrat"/>
                <a:ea typeface="Montserrat"/>
                <a:cs typeface="Montserrat"/>
                <a:sym typeface="Montserrat"/>
              </a:rPr>
              <a:t>The platform features live </a:t>
            </a:r>
            <a:r>
              <a:rPr b="1" i="0" lang="en" sz="900" u="none" cap="none" strike="noStrike">
                <a:solidFill>
                  <a:schemeClr val="dk1"/>
                </a:solidFill>
                <a:latin typeface="Montserrat"/>
                <a:ea typeface="Montserrat"/>
                <a:cs typeface="Montserrat"/>
                <a:sym typeface="Montserrat"/>
              </a:rPr>
              <a:t>race streaming and VOD content</a:t>
            </a:r>
            <a:r>
              <a:rPr b="0" i="0" lang="en" sz="900" u="none" cap="none" strike="noStrike">
                <a:solidFill>
                  <a:schemeClr val="dk1"/>
                </a:solidFill>
                <a:latin typeface="Montserrat"/>
                <a:ea typeface="Montserrat"/>
                <a:cs typeface="Montserrat"/>
                <a:sym typeface="Montserrat"/>
              </a:rPr>
              <a:t>, leveraging a comprehensive technology stack that includes Kotlin, Swift, Java, MongoDB, Spring Boot, and more.</a:t>
            </a:r>
            <a:endParaRPr b="1" i="0" sz="900" u="none" cap="none" strike="noStrike">
              <a:solidFill>
                <a:srgbClr val="D9187F"/>
              </a:solidFill>
              <a:latin typeface="Montserrat"/>
              <a:ea typeface="Montserrat"/>
              <a:cs typeface="Montserrat"/>
              <a:sym typeface="Montserrat"/>
            </a:endParaRPr>
          </a:p>
        </p:txBody>
      </p:sp>
      <p:pic>
        <p:nvPicPr>
          <p:cNvPr id="626" name="Google Shape;626;p25"/>
          <p:cNvPicPr preferRelativeResize="0"/>
          <p:nvPr/>
        </p:nvPicPr>
        <p:blipFill rotWithShape="1">
          <a:blip r:embed="rId4">
            <a:alphaModFix/>
          </a:blip>
          <a:srcRect b="0" l="0" r="0" t="0"/>
          <a:stretch/>
        </p:blipFill>
        <p:spPr>
          <a:xfrm>
            <a:off x="182896" y="156319"/>
            <a:ext cx="612506" cy="510431"/>
          </a:xfrm>
          <a:prstGeom prst="rect">
            <a:avLst/>
          </a:prstGeom>
          <a:noFill/>
          <a:ln>
            <a:noFill/>
          </a:ln>
        </p:spPr>
      </p:pic>
      <p:sp>
        <p:nvSpPr>
          <p:cNvPr id="627" name="Google Shape;627;p25"/>
          <p:cNvSpPr/>
          <p:nvPr/>
        </p:nvSpPr>
        <p:spPr>
          <a:xfrm>
            <a:off x="6123225" y="763069"/>
            <a:ext cx="2232300" cy="267900"/>
          </a:xfrm>
          <a:prstGeom prst="rect">
            <a:avLst/>
          </a:prstGeom>
          <a:solidFill>
            <a:srgbClr val="5C72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lt1"/>
                </a:solidFill>
                <a:latin typeface="Montserrat"/>
                <a:ea typeface="Montserrat"/>
                <a:cs typeface="Montserrat"/>
                <a:sym typeface="Montserrat"/>
              </a:rPr>
              <a:t>   Australia </a:t>
            </a:r>
            <a:endParaRPr b="0" i="0" sz="1000" u="none" cap="none" strike="noStrike">
              <a:solidFill>
                <a:schemeClr val="lt1"/>
              </a:solidFill>
              <a:latin typeface="Montserrat"/>
              <a:ea typeface="Montserrat"/>
              <a:cs typeface="Montserrat"/>
              <a:sym typeface="Montserrat"/>
            </a:endParaRPr>
          </a:p>
        </p:txBody>
      </p:sp>
      <p:pic>
        <p:nvPicPr>
          <p:cNvPr id="628" name="Google Shape;628;p25"/>
          <p:cNvPicPr preferRelativeResize="0"/>
          <p:nvPr/>
        </p:nvPicPr>
        <p:blipFill rotWithShape="1">
          <a:blip r:embed="rId5">
            <a:alphaModFix/>
          </a:blip>
          <a:srcRect b="0" l="0" r="0" t="0"/>
          <a:stretch/>
        </p:blipFill>
        <p:spPr>
          <a:xfrm>
            <a:off x="309115" y="1314638"/>
            <a:ext cx="4862602" cy="2662069"/>
          </a:xfrm>
          <a:prstGeom prst="rect">
            <a:avLst/>
          </a:prstGeom>
          <a:noFill/>
          <a:ln>
            <a:noFill/>
          </a:ln>
        </p:spPr>
      </p:pic>
      <p:pic>
        <p:nvPicPr>
          <p:cNvPr id="629" name="Google Shape;629;p25"/>
          <p:cNvPicPr preferRelativeResize="0"/>
          <p:nvPr/>
        </p:nvPicPr>
        <p:blipFill rotWithShape="1">
          <a:blip r:embed="rId6">
            <a:alphaModFix/>
          </a:blip>
          <a:srcRect b="10521" l="6650" r="11154" t="4633"/>
          <a:stretch/>
        </p:blipFill>
        <p:spPr>
          <a:xfrm>
            <a:off x="851944" y="1443453"/>
            <a:ext cx="3776945" cy="1955583"/>
          </a:xfrm>
          <a:prstGeom prst="rect">
            <a:avLst/>
          </a:prstGeom>
          <a:noFill/>
          <a:ln>
            <a:noFill/>
          </a:ln>
        </p:spPr>
      </p:pic>
      <p:pic>
        <p:nvPicPr>
          <p:cNvPr id="630" name="Google Shape;630;p25"/>
          <p:cNvPicPr preferRelativeResize="0"/>
          <p:nvPr/>
        </p:nvPicPr>
        <p:blipFill rotWithShape="1">
          <a:blip r:embed="rId7">
            <a:alphaModFix/>
          </a:blip>
          <a:srcRect b="0" l="0" r="0" t="0"/>
          <a:stretch/>
        </p:blipFill>
        <p:spPr>
          <a:xfrm>
            <a:off x="4213317" y="1131394"/>
            <a:ext cx="1400655" cy="2780532"/>
          </a:xfrm>
          <a:prstGeom prst="rect">
            <a:avLst/>
          </a:prstGeom>
          <a:noFill/>
          <a:ln>
            <a:noFill/>
          </a:ln>
        </p:spPr>
      </p:pic>
      <p:pic>
        <p:nvPicPr>
          <p:cNvPr id="631" name="Google Shape;631;p25"/>
          <p:cNvPicPr preferRelativeResize="0"/>
          <p:nvPr/>
        </p:nvPicPr>
        <p:blipFill rotWithShape="1">
          <a:blip r:embed="rId8">
            <a:alphaModFix/>
          </a:blip>
          <a:srcRect b="0" l="0" r="0" t="0"/>
          <a:stretch/>
        </p:blipFill>
        <p:spPr>
          <a:xfrm>
            <a:off x="4298073" y="1209199"/>
            <a:ext cx="1236900" cy="2565600"/>
          </a:xfrm>
          <a:prstGeom prst="round2SameRect">
            <a:avLst>
              <a:gd fmla="val 10615" name="adj1"/>
              <a:gd fmla="val 0" name="adj2"/>
            </a:avLst>
          </a:prstGeom>
          <a:noFill/>
          <a:ln>
            <a:noFill/>
          </a:ln>
        </p:spPr>
      </p:pic>
      <p:pic>
        <p:nvPicPr>
          <p:cNvPr id="632" name="Google Shape;632;p25"/>
          <p:cNvPicPr preferRelativeResize="0"/>
          <p:nvPr/>
        </p:nvPicPr>
        <p:blipFill rotWithShape="1">
          <a:blip r:embed="rId9">
            <a:alphaModFix/>
          </a:blip>
          <a:srcRect b="14288" l="0" r="0" t="0"/>
          <a:stretch/>
        </p:blipFill>
        <p:spPr>
          <a:xfrm>
            <a:off x="851951" y="1443450"/>
            <a:ext cx="3361367" cy="2148149"/>
          </a:xfrm>
          <a:prstGeom prst="rect">
            <a:avLst/>
          </a:prstGeom>
          <a:noFill/>
          <a:ln>
            <a:noFill/>
          </a:ln>
        </p:spPr>
      </p:pic>
      <p:pic>
        <p:nvPicPr>
          <p:cNvPr id="633" name="Google Shape;633;p25"/>
          <p:cNvPicPr preferRelativeResize="0"/>
          <p:nvPr/>
        </p:nvPicPr>
        <p:blipFill rotWithShape="1">
          <a:blip r:embed="rId10">
            <a:alphaModFix/>
          </a:blip>
          <a:srcRect b="0" l="0" r="0" t="0"/>
          <a:stretch/>
        </p:blipFill>
        <p:spPr>
          <a:xfrm>
            <a:off x="4298069" y="1177687"/>
            <a:ext cx="1236900" cy="2597100"/>
          </a:xfrm>
          <a:prstGeom prst="round2SameRect">
            <a:avLst>
              <a:gd fmla="val 13849" name="adj1"/>
              <a:gd fmla="val 0" name="adj2"/>
            </a:avLst>
          </a:prstGeom>
          <a:noFill/>
          <a:ln>
            <a:noFill/>
          </a:ln>
        </p:spPr>
      </p:pic>
      <p:pic>
        <p:nvPicPr>
          <p:cNvPr descr="TTN Logo.png" id="634" name="Google Shape;634;p25"/>
          <p:cNvPicPr preferRelativeResize="0"/>
          <p:nvPr/>
        </p:nvPicPr>
        <p:blipFill rotWithShape="1">
          <a:blip r:embed="rId11">
            <a:alphaModFix/>
          </a:blip>
          <a:srcRect b="0" l="0" r="0" t="0"/>
          <a:stretch/>
        </p:blipFill>
        <p:spPr>
          <a:xfrm>
            <a:off x="8414781" y="117828"/>
            <a:ext cx="625544" cy="349439"/>
          </a:xfrm>
          <a:prstGeom prst="rect">
            <a:avLst/>
          </a:prstGeom>
          <a:noFill/>
          <a:ln>
            <a:noFill/>
          </a:ln>
        </p:spPr>
      </p:pic>
      <p:sp>
        <p:nvSpPr>
          <p:cNvPr id="635" name="Google Shape;635;p25"/>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 sz="800" u="none" cap="none" strike="noStrike">
                <a:solidFill>
                  <a:srgbClr val="000000"/>
                </a:solidFill>
                <a:latin typeface="Montserrat"/>
                <a:ea typeface="Montserrat"/>
                <a:cs typeface="Montserrat"/>
                <a:sym typeface="Montserrat"/>
              </a:rPr>
              <a:t>‹#›</a:t>
            </a:fld>
            <a:endParaRPr b="0" i="0" sz="80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39" name="Shape 639"/>
        <p:cNvGrpSpPr/>
        <p:nvPr/>
      </p:nvGrpSpPr>
      <p:grpSpPr>
        <a:xfrm>
          <a:off x="0" y="0"/>
          <a:ext cx="0" cy="0"/>
          <a:chOff x="0" y="0"/>
          <a:chExt cx="0" cy="0"/>
        </a:xfrm>
      </p:grpSpPr>
      <p:sp>
        <p:nvSpPr>
          <p:cNvPr id="640" name="Google Shape;640;p26"/>
          <p:cNvSpPr/>
          <p:nvPr/>
        </p:nvSpPr>
        <p:spPr>
          <a:xfrm>
            <a:off x="0" y="144000"/>
            <a:ext cx="47400" cy="357300"/>
          </a:xfrm>
          <a:prstGeom prst="rect">
            <a:avLst/>
          </a:prstGeom>
          <a:solidFill>
            <a:srgbClr val="D71B7F"/>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26"/>
          <p:cNvSpPr txBox="1"/>
          <p:nvPr/>
        </p:nvSpPr>
        <p:spPr>
          <a:xfrm>
            <a:off x="6221063" y="1127906"/>
            <a:ext cx="2846400" cy="2014200"/>
          </a:xfrm>
          <a:prstGeom prst="rect">
            <a:avLst/>
          </a:prstGeom>
          <a:noFill/>
          <a:ln>
            <a:noFill/>
          </a:ln>
          <a:effectLst>
            <a:outerShdw blurRad="228600" rotWithShape="0" algn="bl" dir="5400000" dist="57150">
              <a:srgbClr val="000000">
                <a:alpha val="10980"/>
              </a:srgbClr>
            </a:outerShdw>
          </a:effectLst>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0" i="0" lang="en" sz="900" u="none" cap="none" strike="noStrike">
                <a:solidFill>
                  <a:schemeClr val="dk1"/>
                </a:solidFill>
                <a:latin typeface="Montserrat"/>
                <a:ea typeface="Montserrat"/>
                <a:cs typeface="Montserrat"/>
                <a:sym typeface="Montserrat"/>
              </a:rPr>
              <a:t>Tata Play partnered with us to reimagine their digital platforms - bringing innovation to both entertainment and customer self-service.</a:t>
            </a:r>
            <a:endParaRPr b="0" i="0" sz="900" u="none" cap="none" strike="noStrike">
              <a:solidFill>
                <a:schemeClr val="dk1"/>
              </a:solidFill>
              <a:latin typeface="Montserrat"/>
              <a:ea typeface="Montserrat"/>
              <a:cs typeface="Montserrat"/>
              <a:sym typeface="Montserrat"/>
            </a:endParaRPr>
          </a:p>
          <a:p>
            <a:pPr indent="0" lvl="0" marL="0" marR="0" rtl="0" algn="l">
              <a:lnSpc>
                <a:spcPct val="115000"/>
              </a:lnSpc>
              <a:spcBef>
                <a:spcPts val="1200"/>
              </a:spcBef>
              <a:spcAft>
                <a:spcPts val="0"/>
              </a:spcAft>
              <a:buClr>
                <a:schemeClr val="dk1"/>
              </a:buClr>
              <a:buSzPts val="1100"/>
              <a:buFont typeface="Arial"/>
              <a:buNone/>
            </a:pPr>
            <a:r>
              <a:rPr b="0" i="0" lang="en" sz="900" u="none" cap="none" strike="noStrike">
                <a:solidFill>
                  <a:schemeClr val="dk1"/>
                </a:solidFill>
                <a:latin typeface="Montserrat"/>
                <a:ea typeface="Montserrat"/>
                <a:cs typeface="Montserrat"/>
                <a:sym typeface="Montserrat"/>
              </a:rPr>
              <a:t>We engineered a secure OTT solution featuring </a:t>
            </a:r>
            <a:r>
              <a:rPr b="1" i="0" lang="en" sz="900" u="none" cap="none" strike="noStrike">
                <a:solidFill>
                  <a:schemeClr val="dk1"/>
                </a:solidFill>
                <a:latin typeface="Montserrat"/>
                <a:ea typeface="Montserrat"/>
                <a:cs typeface="Montserrat"/>
                <a:sym typeface="Montserrat"/>
              </a:rPr>
              <a:t>Live TV</a:t>
            </a:r>
            <a:r>
              <a:rPr b="0" i="0" lang="en" sz="900" u="none" cap="none" strike="noStrike">
                <a:solidFill>
                  <a:schemeClr val="dk1"/>
                </a:solidFill>
                <a:latin typeface="Montserrat"/>
                <a:ea typeface="Montserrat"/>
                <a:cs typeface="Montserrat"/>
                <a:sym typeface="Montserrat"/>
              </a:rPr>
              <a:t>, </a:t>
            </a:r>
            <a:r>
              <a:rPr b="1" i="0" lang="en" sz="900" u="none" cap="none" strike="noStrike">
                <a:solidFill>
                  <a:schemeClr val="dk1"/>
                </a:solidFill>
                <a:latin typeface="Montserrat"/>
                <a:ea typeface="Montserrat"/>
                <a:cs typeface="Montserrat"/>
                <a:sym typeface="Montserrat"/>
              </a:rPr>
              <a:t>VoD</a:t>
            </a:r>
            <a:r>
              <a:rPr b="0" i="0" lang="en" sz="900" u="none" cap="none" strike="noStrike">
                <a:solidFill>
                  <a:schemeClr val="dk1"/>
                </a:solidFill>
                <a:latin typeface="Montserrat"/>
                <a:ea typeface="Montserrat"/>
                <a:cs typeface="Montserrat"/>
                <a:sym typeface="Montserrat"/>
              </a:rPr>
              <a:t>, </a:t>
            </a:r>
            <a:r>
              <a:rPr b="1" i="0" lang="en" sz="900" u="none" cap="none" strike="noStrike">
                <a:solidFill>
                  <a:schemeClr val="dk1"/>
                </a:solidFill>
                <a:latin typeface="Montserrat"/>
                <a:ea typeface="Montserrat"/>
                <a:cs typeface="Montserrat"/>
                <a:sym typeface="Montserrat"/>
              </a:rPr>
              <a:t>DRM integration</a:t>
            </a:r>
            <a:r>
              <a:rPr b="0" i="0" lang="en" sz="900" u="none" cap="none" strike="noStrike">
                <a:solidFill>
                  <a:schemeClr val="dk1"/>
                </a:solidFill>
                <a:latin typeface="Montserrat"/>
                <a:ea typeface="Montserrat"/>
                <a:cs typeface="Montserrat"/>
                <a:sym typeface="Montserrat"/>
              </a:rPr>
              <a:t>, and user-friendly tools like </a:t>
            </a:r>
            <a:r>
              <a:rPr b="1" i="0" lang="en" sz="900" u="none" cap="none" strike="noStrike">
                <a:solidFill>
                  <a:schemeClr val="dk1"/>
                </a:solidFill>
                <a:latin typeface="Montserrat"/>
                <a:ea typeface="Montserrat"/>
                <a:cs typeface="Montserrat"/>
                <a:sym typeface="Montserrat"/>
              </a:rPr>
              <a:t>remote recording</a:t>
            </a:r>
            <a:r>
              <a:rPr b="0" i="0" lang="en" sz="900" u="none" cap="none" strike="noStrike">
                <a:solidFill>
                  <a:schemeClr val="dk1"/>
                </a:solidFill>
                <a:latin typeface="Montserrat"/>
                <a:ea typeface="Montserrat"/>
                <a:cs typeface="Montserrat"/>
                <a:sym typeface="Montserrat"/>
              </a:rPr>
              <a:t> and </a:t>
            </a:r>
            <a:r>
              <a:rPr b="1" i="0" lang="en" sz="900" u="none" cap="none" strike="noStrike">
                <a:solidFill>
                  <a:schemeClr val="dk1"/>
                </a:solidFill>
                <a:latin typeface="Montserrat"/>
                <a:ea typeface="Montserrat"/>
                <a:cs typeface="Montserrat"/>
                <a:sym typeface="Montserrat"/>
              </a:rPr>
              <a:t>rich analytics</a:t>
            </a:r>
            <a:r>
              <a:rPr b="0" i="0" lang="en" sz="900" u="none" cap="none" strike="noStrike">
                <a:solidFill>
                  <a:schemeClr val="dk1"/>
                </a:solidFill>
                <a:latin typeface="Montserrat"/>
                <a:ea typeface="Montserrat"/>
                <a:cs typeface="Montserrat"/>
                <a:sym typeface="Montserrat"/>
              </a:rPr>
              <a:t>. In parallel, we developed a </a:t>
            </a:r>
            <a:r>
              <a:rPr b="1" i="0" lang="en" sz="900" u="none" cap="none" strike="noStrike">
                <a:solidFill>
                  <a:schemeClr val="dk1"/>
                </a:solidFill>
                <a:latin typeface="Montserrat"/>
                <a:ea typeface="Montserrat"/>
                <a:cs typeface="Montserrat"/>
                <a:sym typeface="Montserrat"/>
              </a:rPr>
              <a:t>React Native-based Self-Care app</a:t>
            </a:r>
            <a:r>
              <a:rPr b="0" i="0" lang="en" sz="900" u="none" cap="none" strike="noStrike">
                <a:solidFill>
                  <a:schemeClr val="dk1"/>
                </a:solidFill>
                <a:latin typeface="Montserrat"/>
                <a:ea typeface="Montserrat"/>
                <a:cs typeface="Montserrat"/>
                <a:sym typeface="Montserrat"/>
              </a:rPr>
              <a:t> with a </a:t>
            </a:r>
            <a:r>
              <a:rPr b="1" i="0" lang="en" sz="900" u="none" cap="none" strike="noStrike">
                <a:solidFill>
                  <a:schemeClr val="dk1"/>
                </a:solidFill>
                <a:latin typeface="Montserrat"/>
                <a:ea typeface="Montserrat"/>
                <a:cs typeface="Montserrat"/>
                <a:sym typeface="Montserrat"/>
              </a:rPr>
              <a:t>unified Android/iOS codebase</a:t>
            </a:r>
            <a:r>
              <a:rPr b="0" i="0" lang="en" sz="900" u="none" cap="none" strike="noStrike">
                <a:solidFill>
                  <a:schemeClr val="dk1"/>
                </a:solidFill>
                <a:latin typeface="Montserrat"/>
                <a:ea typeface="Montserrat"/>
                <a:cs typeface="Montserrat"/>
                <a:sym typeface="Montserrat"/>
              </a:rPr>
              <a:t>, enabling faster releases and seamless </a:t>
            </a:r>
            <a:r>
              <a:rPr b="1" i="0" lang="en" sz="900" u="none" cap="none" strike="noStrike">
                <a:solidFill>
                  <a:schemeClr val="dk1"/>
                </a:solidFill>
                <a:latin typeface="Montserrat"/>
                <a:ea typeface="Montserrat"/>
                <a:cs typeface="Montserrat"/>
                <a:sym typeface="Montserrat"/>
              </a:rPr>
              <a:t>CRM/payment gateway integration</a:t>
            </a:r>
            <a:r>
              <a:rPr b="0" i="0" lang="en" sz="900" u="none" cap="none" strike="noStrike">
                <a:solidFill>
                  <a:schemeClr val="dk1"/>
                </a:solidFill>
                <a:latin typeface="Montserrat"/>
                <a:ea typeface="Montserrat"/>
                <a:cs typeface="Montserrat"/>
                <a:sym typeface="Montserrat"/>
              </a:rPr>
              <a:t>.</a:t>
            </a:r>
            <a:endParaRPr b="0" i="0" sz="900" u="none" cap="none" strike="noStrike">
              <a:solidFill>
                <a:schemeClr val="dk1"/>
              </a:solidFill>
              <a:latin typeface="Montserrat"/>
              <a:ea typeface="Montserrat"/>
              <a:cs typeface="Montserrat"/>
              <a:sym typeface="Montserrat"/>
            </a:endParaRPr>
          </a:p>
          <a:p>
            <a:pPr indent="0" lvl="0" marL="0" marR="0" rtl="0" algn="l">
              <a:lnSpc>
                <a:spcPct val="115000"/>
              </a:lnSpc>
              <a:spcBef>
                <a:spcPts val="1200"/>
              </a:spcBef>
              <a:spcAft>
                <a:spcPts val="0"/>
              </a:spcAft>
              <a:buClr>
                <a:schemeClr val="dk1"/>
              </a:buClr>
              <a:buSzPts val="1100"/>
              <a:buFont typeface="Arial"/>
              <a:buNone/>
            </a:pPr>
            <a:r>
              <a:rPr b="0" i="0" lang="en" sz="900" u="none" cap="none" strike="noStrike">
                <a:solidFill>
                  <a:schemeClr val="dk1"/>
                </a:solidFill>
                <a:latin typeface="Montserrat"/>
                <a:ea typeface="Montserrat"/>
                <a:cs typeface="Montserrat"/>
                <a:sym typeface="Montserrat"/>
              </a:rPr>
              <a:t>Powered by a </a:t>
            </a:r>
            <a:r>
              <a:rPr b="1" i="0" lang="en" sz="900" u="none" cap="none" strike="noStrike">
                <a:solidFill>
                  <a:schemeClr val="dk1"/>
                </a:solidFill>
                <a:latin typeface="Montserrat"/>
                <a:ea typeface="Montserrat"/>
                <a:cs typeface="Montserrat"/>
                <a:sym typeface="Montserrat"/>
              </a:rPr>
              <a:t>microservices architecture</a:t>
            </a:r>
            <a:r>
              <a:rPr b="0" i="0" lang="en" sz="900" u="none" cap="none" strike="noStrike">
                <a:solidFill>
                  <a:schemeClr val="dk1"/>
                </a:solidFill>
                <a:latin typeface="Montserrat"/>
                <a:ea typeface="Montserrat"/>
                <a:cs typeface="Montserrat"/>
                <a:sym typeface="Montserrat"/>
              </a:rPr>
              <a:t>, the platforms are scalable, resilient, and experience-driven.</a:t>
            </a:r>
            <a:endParaRPr b="0" i="0" sz="900" u="none" cap="none" strike="noStrike">
              <a:solidFill>
                <a:schemeClr val="dk1"/>
              </a:solidFill>
              <a:latin typeface="Montserrat"/>
              <a:ea typeface="Montserrat"/>
              <a:cs typeface="Montserrat"/>
              <a:sym typeface="Montserrat"/>
            </a:endParaRPr>
          </a:p>
          <a:p>
            <a:pPr indent="0" lvl="0" marL="0" marR="0" rtl="0" algn="l">
              <a:lnSpc>
                <a:spcPct val="115000"/>
              </a:lnSpc>
              <a:spcBef>
                <a:spcPts val="1200"/>
              </a:spcBef>
              <a:spcAft>
                <a:spcPts val="0"/>
              </a:spcAft>
              <a:buClr>
                <a:schemeClr val="dk1"/>
              </a:buClr>
              <a:buSzPts val="1100"/>
              <a:buFont typeface="Arial"/>
              <a:buNone/>
            </a:pPr>
            <a:r>
              <a:rPr b="0" i="0" lang="en" sz="900" u="none" cap="none" strike="noStrike">
                <a:solidFill>
                  <a:schemeClr val="dk1"/>
                </a:solidFill>
                <a:latin typeface="Montserrat"/>
                <a:ea typeface="Montserrat"/>
                <a:cs typeface="Montserrat"/>
                <a:sym typeface="Montserrat"/>
              </a:rPr>
              <a:t>Achieved </a:t>
            </a:r>
            <a:r>
              <a:rPr b="1" i="0" lang="en" sz="900" u="none" cap="none" strike="noStrike">
                <a:solidFill>
                  <a:schemeClr val="dk1"/>
                </a:solidFill>
                <a:latin typeface="Montserrat"/>
                <a:ea typeface="Montserrat"/>
                <a:cs typeface="Montserrat"/>
                <a:sym typeface="Montserrat"/>
              </a:rPr>
              <a:t>70%+ mobile engagement</a:t>
            </a:r>
            <a:r>
              <a:rPr b="0" i="0" lang="en" sz="900" u="none" cap="none" strike="noStrike">
                <a:solidFill>
                  <a:schemeClr val="dk1"/>
                </a:solidFill>
                <a:latin typeface="Montserrat"/>
                <a:ea typeface="Montserrat"/>
                <a:cs typeface="Montserrat"/>
                <a:sym typeface="Montserrat"/>
              </a:rPr>
              <a:t>, improved </a:t>
            </a:r>
            <a:r>
              <a:rPr b="1" i="0" lang="en" sz="900" u="none" cap="none" strike="noStrike">
                <a:solidFill>
                  <a:schemeClr val="dk1"/>
                </a:solidFill>
                <a:latin typeface="Montserrat"/>
                <a:ea typeface="Montserrat"/>
                <a:cs typeface="Montserrat"/>
                <a:sym typeface="Montserrat"/>
              </a:rPr>
              <a:t>app ratings</a:t>
            </a:r>
            <a:r>
              <a:rPr b="0" i="0" lang="en" sz="900" u="none" cap="none" strike="noStrike">
                <a:solidFill>
                  <a:schemeClr val="dk1"/>
                </a:solidFill>
                <a:latin typeface="Montserrat"/>
                <a:ea typeface="Montserrat"/>
                <a:cs typeface="Montserrat"/>
                <a:sym typeface="Montserrat"/>
              </a:rPr>
              <a:t>, higher </a:t>
            </a:r>
            <a:r>
              <a:rPr b="1" i="0" lang="en" sz="900" u="none" cap="none" strike="noStrike">
                <a:solidFill>
                  <a:schemeClr val="dk1"/>
                </a:solidFill>
                <a:latin typeface="Montserrat"/>
                <a:ea typeface="Montserrat"/>
                <a:cs typeface="Montserrat"/>
                <a:sym typeface="Montserrat"/>
              </a:rPr>
              <a:t>user adoption</a:t>
            </a:r>
            <a:r>
              <a:rPr b="0" i="0" lang="en" sz="900" u="none" cap="none" strike="noStrike">
                <a:solidFill>
                  <a:schemeClr val="dk1"/>
                </a:solidFill>
                <a:latin typeface="Montserrat"/>
                <a:ea typeface="Montserrat"/>
                <a:cs typeface="Montserrat"/>
                <a:sym typeface="Montserrat"/>
              </a:rPr>
              <a:t>, and increased </a:t>
            </a:r>
            <a:r>
              <a:rPr b="1" i="0" lang="en" sz="900" u="none" cap="none" strike="noStrike">
                <a:solidFill>
                  <a:schemeClr val="dk1"/>
                </a:solidFill>
                <a:latin typeface="Montserrat"/>
                <a:ea typeface="Montserrat"/>
                <a:cs typeface="Montserrat"/>
                <a:sym typeface="Montserrat"/>
              </a:rPr>
              <a:t>recharge and upsell conversions</a:t>
            </a:r>
            <a:r>
              <a:rPr b="0" i="0" lang="en" sz="900" u="none" cap="none" strike="noStrike">
                <a:solidFill>
                  <a:schemeClr val="dk1"/>
                </a:solidFill>
                <a:latin typeface="Montserrat"/>
                <a:ea typeface="Montserrat"/>
                <a:cs typeface="Montserrat"/>
                <a:sym typeface="Montserrat"/>
              </a:rPr>
              <a:t> across digital channels.</a:t>
            </a:r>
            <a:endParaRPr b="0" i="0" sz="900" u="none" cap="none" strike="noStrike">
              <a:solidFill>
                <a:schemeClr val="dk1"/>
              </a:solidFill>
              <a:latin typeface="Montserrat"/>
              <a:ea typeface="Montserrat"/>
              <a:cs typeface="Montserrat"/>
              <a:sym typeface="Montserrat"/>
            </a:endParaRPr>
          </a:p>
          <a:p>
            <a:pPr indent="0" lvl="0" marL="0" marR="0" rtl="0" algn="l">
              <a:lnSpc>
                <a:spcPct val="150000"/>
              </a:lnSpc>
              <a:spcBef>
                <a:spcPts val="1200"/>
              </a:spcBef>
              <a:spcAft>
                <a:spcPts val="0"/>
              </a:spcAft>
              <a:buClr>
                <a:schemeClr val="dk1"/>
              </a:buClr>
              <a:buSzPts val="1100"/>
              <a:buFont typeface="Arial"/>
              <a:buNone/>
            </a:pPr>
            <a:r>
              <a:t/>
            </a:r>
            <a:endParaRPr b="1" i="0" sz="900" u="none" cap="none" strike="noStrike">
              <a:solidFill>
                <a:schemeClr val="dk1"/>
              </a:solidFill>
              <a:latin typeface="Montserrat"/>
              <a:ea typeface="Montserrat"/>
              <a:cs typeface="Montserrat"/>
              <a:sym typeface="Montserrat"/>
            </a:endParaRPr>
          </a:p>
        </p:txBody>
      </p:sp>
      <p:sp>
        <p:nvSpPr>
          <p:cNvPr id="642" name="Google Shape;642;p26"/>
          <p:cNvSpPr/>
          <p:nvPr/>
        </p:nvSpPr>
        <p:spPr>
          <a:xfrm>
            <a:off x="6123225" y="763069"/>
            <a:ext cx="2232300" cy="267900"/>
          </a:xfrm>
          <a:prstGeom prst="rect">
            <a:avLst/>
          </a:prstGeom>
          <a:solidFill>
            <a:srgbClr val="5C72B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chemeClr val="lt1"/>
                </a:solidFill>
                <a:latin typeface="Montserrat"/>
                <a:ea typeface="Montserrat"/>
                <a:cs typeface="Montserrat"/>
                <a:sym typeface="Montserrat"/>
              </a:rPr>
              <a:t>   India</a:t>
            </a:r>
            <a:endParaRPr b="0" i="0" sz="1000" u="none" cap="none" strike="noStrike">
              <a:solidFill>
                <a:schemeClr val="lt1"/>
              </a:solidFill>
              <a:latin typeface="Montserrat"/>
              <a:ea typeface="Montserrat"/>
              <a:cs typeface="Montserrat"/>
              <a:sym typeface="Montserrat"/>
            </a:endParaRPr>
          </a:p>
        </p:txBody>
      </p:sp>
      <p:pic>
        <p:nvPicPr>
          <p:cNvPr id="643" name="Google Shape;643;p26"/>
          <p:cNvPicPr preferRelativeResize="0"/>
          <p:nvPr/>
        </p:nvPicPr>
        <p:blipFill rotWithShape="1">
          <a:blip r:embed="rId4">
            <a:alphaModFix/>
          </a:blip>
          <a:srcRect b="0" l="0" r="0" t="0"/>
          <a:stretch/>
        </p:blipFill>
        <p:spPr>
          <a:xfrm>
            <a:off x="309115" y="1314638"/>
            <a:ext cx="4862602" cy="2662069"/>
          </a:xfrm>
          <a:prstGeom prst="rect">
            <a:avLst/>
          </a:prstGeom>
          <a:noFill/>
          <a:ln>
            <a:noFill/>
          </a:ln>
        </p:spPr>
      </p:pic>
      <p:pic>
        <p:nvPicPr>
          <p:cNvPr id="644" name="Google Shape;644;p26"/>
          <p:cNvPicPr preferRelativeResize="0"/>
          <p:nvPr/>
        </p:nvPicPr>
        <p:blipFill rotWithShape="1">
          <a:blip r:embed="rId5">
            <a:alphaModFix/>
          </a:blip>
          <a:srcRect b="10521" l="6650" r="11154" t="4633"/>
          <a:stretch/>
        </p:blipFill>
        <p:spPr>
          <a:xfrm>
            <a:off x="851944" y="1443453"/>
            <a:ext cx="3776945" cy="1955583"/>
          </a:xfrm>
          <a:prstGeom prst="rect">
            <a:avLst/>
          </a:prstGeom>
          <a:noFill/>
          <a:ln>
            <a:noFill/>
          </a:ln>
        </p:spPr>
      </p:pic>
      <p:pic>
        <p:nvPicPr>
          <p:cNvPr id="645" name="Google Shape;645;p26"/>
          <p:cNvPicPr preferRelativeResize="0"/>
          <p:nvPr/>
        </p:nvPicPr>
        <p:blipFill rotWithShape="1">
          <a:blip r:embed="rId6">
            <a:alphaModFix/>
          </a:blip>
          <a:srcRect b="0" l="0" r="0" t="0"/>
          <a:stretch/>
        </p:blipFill>
        <p:spPr>
          <a:xfrm>
            <a:off x="4213317" y="1131394"/>
            <a:ext cx="1400655" cy="2780532"/>
          </a:xfrm>
          <a:prstGeom prst="rect">
            <a:avLst/>
          </a:prstGeom>
          <a:noFill/>
          <a:ln>
            <a:noFill/>
          </a:ln>
        </p:spPr>
      </p:pic>
      <p:pic>
        <p:nvPicPr>
          <p:cNvPr id="646" name="Google Shape;646;p26"/>
          <p:cNvPicPr preferRelativeResize="0"/>
          <p:nvPr/>
        </p:nvPicPr>
        <p:blipFill rotWithShape="1">
          <a:blip r:embed="rId7">
            <a:alphaModFix/>
          </a:blip>
          <a:srcRect b="0" l="0" r="0" t="0"/>
          <a:stretch/>
        </p:blipFill>
        <p:spPr>
          <a:xfrm>
            <a:off x="4298073" y="1209199"/>
            <a:ext cx="1236900" cy="2565600"/>
          </a:xfrm>
          <a:prstGeom prst="round2SameRect">
            <a:avLst>
              <a:gd fmla="val 10615" name="adj1"/>
              <a:gd fmla="val 0" name="adj2"/>
            </a:avLst>
          </a:prstGeom>
          <a:noFill/>
          <a:ln>
            <a:noFill/>
          </a:ln>
        </p:spPr>
      </p:pic>
      <p:pic>
        <p:nvPicPr>
          <p:cNvPr id="647" name="Google Shape;647;p26" title="Screenshot (11).png"/>
          <p:cNvPicPr preferRelativeResize="0"/>
          <p:nvPr/>
        </p:nvPicPr>
        <p:blipFill rotWithShape="1">
          <a:blip r:embed="rId8">
            <a:alphaModFix/>
          </a:blip>
          <a:srcRect b="0" l="8089" r="8089" t="0"/>
          <a:stretch/>
        </p:blipFill>
        <p:spPr>
          <a:xfrm>
            <a:off x="851951" y="1443450"/>
            <a:ext cx="3361368" cy="2148150"/>
          </a:xfrm>
          <a:prstGeom prst="rect">
            <a:avLst/>
          </a:prstGeom>
          <a:noFill/>
          <a:ln>
            <a:noFill/>
          </a:ln>
        </p:spPr>
      </p:pic>
      <p:pic>
        <p:nvPicPr>
          <p:cNvPr id="648" name="Google Shape;648;p26" title="Screenshot (12).png"/>
          <p:cNvPicPr preferRelativeResize="0"/>
          <p:nvPr/>
        </p:nvPicPr>
        <p:blipFill rotWithShape="1">
          <a:blip r:embed="rId9">
            <a:alphaModFix/>
          </a:blip>
          <a:srcRect b="1067" l="0" r="0" t="1057"/>
          <a:stretch/>
        </p:blipFill>
        <p:spPr>
          <a:xfrm>
            <a:off x="4298069" y="1177687"/>
            <a:ext cx="1236900" cy="2597100"/>
          </a:xfrm>
          <a:prstGeom prst="round2SameRect">
            <a:avLst>
              <a:gd fmla="val 13849" name="adj1"/>
              <a:gd fmla="val 0" name="adj2"/>
            </a:avLst>
          </a:prstGeom>
          <a:noFill/>
          <a:ln>
            <a:noFill/>
          </a:ln>
        </p:spPr>
      </p:pic>
      <p:pic>
        <p:nvPicPr>
          <p:cNvPr descr="TTN Logo.png" id="649" name="Google Shape;649;p26"/>
          <p:cNvPicPr preferRelativeResize="0"/>
          <p:nvPr/>
        </p:nvPicPr>
        <p:blipFill rotWithShape="1">
          <a:blip r:embed="rId10">
            <a:alphaModFix/>
          </a:blip>
          <a:srcRect b="0" l="0" r="0" t="0"/>
          <a:stretch/>
        </p:blipFill>
        <p:spPr>
          <a:xfrm>
            <a:off x="8414781" y="117828"/>
            <a:ext cx="625544" cy="349439"/>
          </a:xfrm>
          <a:prstGeom prst="rect">
            <a:avLst/>
          </a:prstGeom>
          <a:noFill/>
          <a:ln>
            <a:noFill/>
          </a:ln>
        </p:spPr>
      </p:pic>
      <p:sp>
        <p:nvSpPr>
          <p:cNvPr id="650" name="Google Shape;650;p26"/>
          <p:cNvSpPr txBox="1"/>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 sz="800" u="none" cap="none" strike="noStrike">
                <a:solidFill>
                  <a:srgbClr val="000000"/>
                </a:solidFill>
                <a:latin typeface="Montserrat"/>
                <a:ea typeface="Montserrat"/>
                <a:cs typeface="Montserrat"/>
                <a:sym typeface="Montserrat"/>
              </a:rPr>
              <a:t>‹#›</a:t>
            </a:fld>
            <a:endParaRPr b="0" i="0" sz="800" u="none" cap="none" strike="noStrike">
              <a:solidFill>
                <a:srgbClr val="000000"/>
              </a:solidFill>
              <a:latin typeface="Montserrat"/>
              <a:ea typeface="Montserrat"/>
              <a:cs typeface="Montserrat"/>
              <a:sym typeface="Montserrat"/>
            </a:endParaRPr>
          </a:p>
        </p:txBody>
      </p:sp>
      <p:pic>
        <p:nvPicPr>
          <p:cNvPr id="651" name="Google Shape;651;p26"/>
          <p:cNvPicPr preferRelativeResize="0"/>
          <p:nvPr/>
        </p:nvPicPr>
        <p:blipFill rotWithShape="1">
          <a:blip r:embed="rId11">
            <a:alphaModFix/>
          </a:blip>
          <a:srcRect b="0" l="0" r="0" t="0"/>
          <a:stretch/>
        </p:blipFill>
        <p:spPr>
          <a:xfrm>
            <a:off x="222400" y="64450"/>
            <a:ext cx="516401" cy="516401"/>
          </a:xfrm>
          <a:prstGeom prst="rect">
            <a:avLst/>
          </a:prstGeom>
          <a:noFill/>
          <a:ln>
            <a:noFill/>
          </a:ln>
        </p:spPr>
      </p:pic>
      <p:pic>
        <p:nvPicPr>
          <p:cNvPr id="652" name="Google Shape;652;p26"/>
          <p:cNvPicPr preferRelativeResize="0"/>
          <p:nvPr/>
        </p:nvPicPr>
        <p:blipFill rotWithShape="1">
          <a:blip r:embed="rId12">
            <a:alphaModFix/>
          </a:blip>
          <a:srcRect b="21694" l="0" r="0" t="17945"/>
          <a:stretch/>
        </p:blipFill>
        <p:spPr>
          <a:xfrm>
            <a:off x="913800" y="64450"/>
            <a:ext cx="994426" cy="516401"/>
          </a:xfrm>
          <a:prstGeom prst="rect">
            <a:avLst/>
          </a:prstGeom>
          <a:noFill/>
          <a:ln>
            <a:noFill/>
          </a:ln>
        </p:spPr>
      </p:pic>
      <p:cxnSp>
        <p:nvCxnSpPr>
          <p:cNvPr id="653" name="Google Shape;653;p26"/>
          <p:cNvCxnSpPr/>
          <p:nvPr/>
        </p:nvCxnSpPr>
        <p:spPr>
          <a:xfrm>
            <a:off x="819193" y="153689"/>
            <a:ext cx="0" cy="324300"/>
          </a:xfrm>
          <a:prstGeom prst="straightConnector1">
            <a:avLst/>
          </a:prstGeom>
          <a:noFill/>
          <a:ln cap="flat" cmpd="sng" w="9525">
            <a:solidFill>
              <a:srgbClr val="595959"/>
            </a:solidFill>
            <a:prstDash val="solid"/>
            <a:round/>
            <a:headEnd len="sm" w="sm" type="none"/>
            <a:tailEnd len="sm" w="sm" type="none"/>
          </a:ln>
        </p:spPr>
      </p:cxnSp>
      <p:pic>
        <p:nvPicPr>
          <p:cNvPr id="654" name="Google Shape;654;p26" title="Screenshot 2025-05-29 at 10.49.36 AM.png"/>
          <p:cNvPicPr preferRelativeResize="0"/>
          <p:nvPr/>
        </p:nvPicPr>
        <p:blipFill rotWithShape="1">
          <a:blip r:embed="rId13">
            <a:alphaModFix/>
          </a:blip>
          <a:srcRect b="0" l="0" r="0" t="0"/>
          <a:stretch/>
        </p:blipFill>
        <p:spPr>
          <a:xfrm>
            <a:off x="4298075" y="1209175"/>
            <a:ext cx="1269475" cy="25656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27"/>
          <p:cNvSpPr txBox="1"/>
          <p:nvPr/>
        </p:nvSpPr>
        <p:spPr>
          <a:xfrm>
            <a:off x="105040" y="143994"/>
            <a:ext cx="6765900" cy="3573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1" i="0" lang="en" sz="2000" u="none" cap="none" strike="noStrike">
                <a:solidFill>
                  <a:schemeClr val="dk1"/>
                </a:solidFill>
                <a:latin typeface="Montserrat"/>
                <a:ea typeface="Montserrat"/>
                <a:cs typeface="Montserrat"/>
                <a:sym typeface="Montserrat"/>
              </a:rPr>
              <a:t>Quick Recap</a:t>
            </a:r>
            <a:endParaRPr b="1" i="0" sz="2000" u="none" cap="none" strike="noStrike">
              <a:solidFill>
                <a:schemeClr val="dk1"/>
              </a:solidFill>
              <a:latin typeface="Montserrat"/>
              <a:ea typeface="Montserrat"/>
              <a:cs typeface="Montserrat"/>
              <a:sym typeface="Montserrat"/>
            </a:endParaRPr>
          </a:p>
        </p:txBody>
      </p:sp>
      <p:sp>
        <p:nvSpPr>
          <p:cNvPr id="660" name="Google Shape;660;p2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 sz="1000"/>
              <a:t>‹#›</a:t>
            </a:fld>
            <a:endParaRPr sz="1000"/>
          </a:p>
        </p:txBody>
      </p:sp>
      <p:sp>
        <p:nvSpPr>
          <p:cNvPr id="661" name="Google Shape;661;p27"/>
          <p:cNvSpPr/>
          <p:nvPr/>
        </p:nvSpPr>
        <p:spPr>
          <a:xfrm>
            <a:off x="226950" y="921038"/>
            <a:ext cx="8690100" cy="3293100"/>
          </a:xfrm>
          <a:prstGeom prst="snip1Rect">
            <a:avLst>
              <a:gd fmla="val 16333" name="adj"/>
            </a:avLst>
          </a:prstGeom>
          <a:solidFill>
            <a:srgbClr val="FFFFFF"/>
          </a:solidFill>
          <a:ln cap="flat" cmpd="sng" w="9525">
            <a:solidFill>
              <a:srgbClr val="E7E6E6"/>
            </a:solidFill>
            <a:prstDash val="solid"/>
            <a:round/>
            <a:headEnd len="sm" w="sm" type="none"/>
            <a:tailEnd len="sm" w="sm" type="none"/>
          </a:ln>
          <a:effectLst>
            <a:outerShdw blurRad="114300" rotWithShape="0" algn="bl" dir="5100000" dist="28575">
              <a:srgbClr val="999999">
                <a:alpha val="20000"/>
              </a:srgbClr>
            </a:outerShdw>
          </a:effectLst>
        </p:spPr>
        <p:txBody>
          <a:bodyPr anchorCtr="0" anchor="t" bIns="0" lIns="121875" spcFirstLastPara="1" rIns="121875" wrap="square" tIns="0">
            <a:noAutofit/>
          </a:bodyPr>
          <a:lstStyle/>
          <a:p>
            <a:pPr indent="0" lvl="0" marL="0" marR="0" rtl="0" algn="just">
              <a:lnSpc>
                <a:spcPct val="115000"/>
              </a:lnSpc>
              <a:spcBef>
                <a:spcPts val="0"/>
              </a:spcBef>
              <a:spcAft>
                <a:spcPts val="0"/>
              </a:spcAft>
              <a:buClr>
                <a:srgbClr val="000000"/>
              </a:buClr>
              <a:buSzPts val="1100"/>
              <a:buFont typeface="Arial"/>
              <a:buNone/>
            </a:pPr>
            <a:r>
              <a:t/>
            </a:r>
            <a:endParaRPr b="1" i="0" sz="1000" u="none" cap="none" strike="noStrike">
              <a:solidFill>
                <a:srgbClr val="D71B7F"/>
              </a:solidFill>
              <a:latin typeface="Montserrat"/>
              <a:ea typeface="Montserrat"/>
              <a:cs typeface="Montserrat"/>
              <a:sym typeface="Montserrat"/>
            </a:endParaRPr>
          </a:p>
        </p:txBody>
      </p:sp>
      <p:cxnSp>
        <p:nvCxnSpPr>
          <p:cNvPr id="662" name="Google Shape;662;p27"/>
          <p:cNvCxnSpPr/>
          <p:nvPr/>
        </p:nvCxnSpPr>
        <p:spPr>
          <a:xfrm>
            <a:off x="249444" y="929365"/>
            <a:ext cx="0" cy="3293100"/>
          </a:xfrm>
          <a:prstGeom prst="straightConnector1">
            <a:avLst/>
          </a:prstGeom>
          <a:noFill/>
          <a:ln cap="flat" cmpd="sng" w="19050">
            <a:solidFill>
              <a:srgbClr val="12519C"/>
            </a:solidFill>
            <a:prstDash val="solid"/>
            <a:round/>
            <a:headEnd len="sm" w="sm" type="none"/>
            <a:tailEnd len="sm" w="sm" type="none"/>
          </a:ln>
        </p:spPr>
      </p:cxnSp>
      <p:sp>
        <p:nvSpPr>
          <p:cNvPr id="663" name="Google Shape;663;p27"/>
          <p:cNvSpPr txBox="1"/>
          <p:nvPr/>
        </p:nvSpPr>
        <p:spPr>
          <a:xfrm>
            <a:off x="261425" y="987013"/>
            <a:ext cx="8127900" cy="3124500"/>
          </a:xfrm>
          <a:prstGeom prst="rect">
            <a:avLst/>
          </a:prstGeom>
          <a:noFill/>
          <a:ln>
            <a:noFill/>
          </a:ln>
        </p:spPr>
        <p:txBody>
          <a:bodyPr anchorCtr="0" anchor="t" bIns="91425" lIns="91425" spcFirstLastPara="1" rIns="91425" wrap="square" tIns="91425">
            <a:spAutoFit/>
          </a:bodyPr>
          <a:lstStyle/>
          <a:p>
            <a:pPr indent="-298450" lvl="0" marL="457200" marR="0" rtl="0" algn="l">
              <a:lnSpc>
                <a:spcPct val="150000"/>
              </a:lnSpc>
              <a:spcBef>
                <a:spcPts val="300"/>
              </a:spcBef>
              <a:spcAft>
                <a:spcPts val="0"/>
              </a:spcAft>
              <a:buClr>
                <a:srgbClr val="D9177F"/>
              </a:buClr>
              <a:buSzPts val="1100"/>
              <a:buFont typeface="Century Gothic"/>
              <a:buChar char="●"/>
            </a:pPr>
            <a:r>
              <a:rPr b="0" i="0" lang="en" sz="1100" u="none" cap="none" strike="noStrike">
                <a:solidFill>
                  <a:schemeClr val="dk1"/>
                </a:solidFill>
                <a:latin typeface="Montserrat"/>
                <a:ea typeface="Montserrat"/>
                <a:cs typeface="Montserrat"/>
                <a:sym typeface="Montserrat"/>
              </a:rPr>
              <a:t>TO THE NEW will bring deep </a:t>
            </a:r>
            <a:r>
              <a:rPr b="1" i="0" lang="en" sz="1100" u="none" cap="none" strike="noStrike">
                <a:solidFill>
                  <a:schemeClr val="dk1"/>
                </a:solidFill>
                <a:latin typeface="Montserrat"/>
                <a:ea typeface="Montserrat"/>
                <a:cs typeface="Montserrat"/>
                <a:sym typeface="Montserrat"/>
              </a:rPr>
              <a:t>domain expertise</a:t>
            </a:r>
            <a:r>
              <a:rPr b="0" i="0" lang="en" sz="1100" u="none" cap="none" strike="noStrike">
                <a:solidFill>
                  <a:schemeClr val="dk1"/>
                </a:solidFill>
                <a:latin typeface="Montserrat"/>
                <a:ea typeface="Montserrat"/>
                <a:cs typeface="Montserrat"/>
                <a:sym typeface="Montserrat"/>
              </a:rPr>
              <a:t> and </a:t>
            </a:r>
            <a:r>
              <a:rPr b="1" i="0" lang="en" sz="1100" u="none" cap="none" strike="noStrike">
                <a:solidFill>
                  <a:schemeClr val="dk1"/>
                </a:solidFill>
                <a:latin typeface="Montserrat"/>
                <a:ea typeface="Montserrat"/>
                <a:cs typeface="Montserrat"/>
                <a:sym typeface="Montserrat"/>
              </a:rPr>
              <a:t>strategic alignment </a:t>
            </a:r>
            <a:r>
              <a:rPr b="0" i="0" lang="en" sz="1100" u="none" cap="none" strike="noStrike">
                <a:solidFill>
                  <a:schemeClr val="dk1"/>
                </a:solidFill>
                <a:latin typeface="Montserrat"/>
                <a:ea typeface="Montserrat"/>
                <a:cs typeface="Montserrat"/>
                <a:sym typeface="Montserrat"/>
              </a:rPr>
              <a:t>across all the chosen focus areas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0"/>
              </a:spcAft>
              <a:buClr>
                <a:srgbClr val="D9177F"/>
              </a:buClr>
              <a:buSzPts val="1100"/>
              <a:buFont typeface="Century Gothic"/>
              <a:buChar char="●"/>
            </a:pPr>
            <a:r>
              <a:rPr b="1" i="0" lang="en" sz="1100" u="none" cap="none" strike="noStrike">
                <a:solidFill>
                  <a:schemeClr val="dk1"/>
                </a:solidFill>
                <a:latin typeface="Montserrat"/>
                <a:ea typeface="Montserrat"/>
                <a:cs typeface="Montserrat"/>
                <a:sym typeface="Montserrat"/>
              </a:rPr>
              <a:t>Continuous investment</a:t>
            </a:r>
            <a:r>
              <a:rPr b="0" i="0" lang="en" sz="1100" u="none" cap="none" strike="noStrike">
                <a:solidFill>
                  <a:schemeClr val="dk1"/>
                </a:solidFill>
                <a:latin typeface="Montserrat"/>
                <a:ea typeface="Montserrat"/>
                <a:cs typeface="Montserrat"/>
                <a:sym typeface="Montserrat"/>
              </a:rPr>
              <a:t> in innovation and capability building for future readiness for Racing Queensland by  leveraging TTN CoE capabilities</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0"/>
              </a:spcAft>
              <a:buClr>
                <a:srgbClr val="D9177F"/>
              </a:buClr>
              <a:buSzPts val="1100"/>
              <a:buFont typeface="Century Gothic"/>
              <a:buChar char="●"/>
            </a:pPr>
            <a:r>
              <a:rPr b="0" i="0" lang="en" sz="1100" u="none" cap="none" strike="noStrike">
                <a:solidFill>
                  <a:schemeClr val="dk1"/>
                </a:solidFill>
                <a:latin typeface="Montserrat"/>
                <a:ea typeface="Montserrat"/>
                <a:cs typeface="Montserrat"/>
                <a:sym typeface="Montserrat"/>
              </a:rPr>
              <a:t>Flexible ways of </a:t>
            </a:r>
            <a:r>
              <a:rPr b="1" i="0" lang="en" sz="1100" u="none" cap="none" strike="noStrike">
                <a:solidFill>
                  <a:schemeClr val="dk1"/>
                </a:solidFill>
                <a:latin typeface="Montserrat"/>
                <a:ea typeface="Montserrat"/>
                <a:cs typeface="Montserrat"/>
                <a:sym typeface="Montserrat"/>
              </a:rPr>
              <a:t>working aligned to Racing Queensland business hours</a:t>
            </a:r>
            <a:r>
              <a:rPr b="0" i="0" lang="en" sz="1100" u="none" cap="none" strike="noStrike">
                <a:solidFill>
                  <a:schemeClr val="dk1"/>
                </a:solidFill>
                <a:latin typeface="Montserrat"/>
                <a:ea typeface="Montserrat"/>
                <a:cs typeface="Montserrat"/>
                <a:sym typeface="Montserrat"/>
              </a:rPr>
              <a:t>, with maximum overlap in time zones globally.</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0"/>
              </a:spcAft>
              <a:buClr>
                <a:srgbClr val="D9177F"/>
              </a:buClr>
              <a:buSzPts val="1100"/>
              <a:buFont typeface="Century Gothic"/>
              <a:buChar char="●"/>
            </a:pPr>
            <a:r>
              <a:rPr b="1" i="0" lang="en" sz="1100" u="none" cap="none" strike="noStrike">
                <a:solidFill>
                  <a:schemeClr val="dk1"/>
                </a:solidFill>
                <a:latin typeface="Montserrat"/>
                <a:ea typeface="Montserrat"/>
                <a:cs typeface="Montserrat"/>
                <a:sym typeface="Montserrat"/>
              </a:rPr>
              <a:t>Proven agility</a:t>
            </a:r>
            <a:r>
              <a:rPr b="0" i="0" lang="en" sz="1100" u="none" cap="none" strike="noStrike">
                <a:solidFill>
                  <a:schemeClr val="dk1"/>
                </a:solidFill>
                <a:latin typeface="Montserrat"/>
                <a:ea typeface="Montserrat"/>
                <a:cs typeface="Montserrat"/>
                <a:sym typeface="Montserrat"/>
              </a:rPr>
              <a:t> to flex up or down to work seamlessly with small, medium and enterprise customers </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0"/>
              </a:spcAft>
              <a:buClr>
                <a:srgbClr val="D9177F"/>
              </a:buClr>
              <a:buSzPts val="1100"/>
              <a:buFont typeface="Century Gothic"/>
              <a:buChar char="●"/>
            </a:pPr>
            <a:r>
              <a:rPr b="0" i="0" lang="en" sz="1100" u="none" cap="none" strike="noStrike">
                <a:solidFill>
                  <a:schemeClr val="dk1"/>
                </a:solidFill>
                <a:latin typeface="Montserrat"/>
                <a:ea typeface="Montserrat"/>
                <a:cs typeface="Montserrat"/>
                <a:sym typeface="Montserrat"/>
              </a:rPr>
              <a:t>One of the</a:t>
            </a:r>
            <a:r>
              <a:rPr b="1" i="0" lang="en" sz="1100" u="none" cap="none" strike="noStrike">
                <a:solidFill>
                  <a:schemeClr val="dk1"/>
                </a:solidFill>
                <a:latin typeface="Montserrat"/>
                <a:ea typeface="Montserrat"/>
                <a:cs typeface="Montserrat"/>
                <a:sym typeface="Montserrat"/>
              </a:rPr>
              <a:t> lowest attrition in the industry. </a:t>
            </a:r>
            <a:r>
              <a:rPr b="0" i="0" lang="en" sz="1100" u="none" cap="none" strike="noStrike">
                <a:solidFill>
                  <a:schemeClr val="dk1"/>
                </a:solidFill>
                <a:latin typeface="Montserrat"/>
                <a:ea typeface="Montserrat"/>
                <a:cs typeface="Montserrat"/>
                <a:sym typeface="Montserrat"/>
              </a:rPr>
              <a:t>We are among Top 50 India’s Best Workplaces in IT-BPM as per the recent survey by </a:t>
            </a:r>
            <a:r>
              <a:rPr b="1" i="0" lang="en" sz="1100" u="none" cap="none" strike="noStrike">
                <a:solidFill>
                  <a:schemeClr val="dk1"/>
                </a:solidFill>
                <a:latin typeface="Montserrat"/>
                <a:ea typeface="Montserrat"/>
                <a:cs typeface="Montserrat"/>
                <a:sym typeface="Montserrat"/>
              </a:rPr>
              <a:t>Great Place to Work® 2024 . </a:t>
            </a:r>
            <a:endParaRPr b="1"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0"/>
              </a:spcAft>
              <a:buClr>
                <a:srgbClr val="D9177F"/>
              </a:buClr>
              <a:buSzPts val="1100"/>
              <a:buFont typeface="Century Gothic"/>
              <a:buChar char="●"/>
            </a:pPr>
            <a:r>
              <a:rPr b="1" i="0" lang="en" sz="1100" u="none" cap="none" strike="noStrike">
                <a:solidFill>
                  <a:schemeClr val="dk1"/>
                </a:solidFill>
                <a:latin typeface="Montserrat"/>
                <a:ea typeface="Montserrat"/>
                <a:cs typeface="Montserrat"/>
                <a:sym typeface="Montserrat"/>
              </a:rPr>
              <a:t>Competitive pricing</a:t>
            </a:r>
            <a:r>
              <a:rPr b="0" i="0" lang="en" sz="1100" u="none" cap="none" strike="noStrike">
                <a:solidFill>
                  <a:schemeClr val="dk1"/>
                </a:solidFill>
                <a:latin typeface="Montserrat"/>
                <a:ea typeface="Montserrat"/>
                <a:cs typeface="Montserrat"/>
                <a:sym typeface="Montserrat"/>
              </a:rPr>
              <a:t> with focus on </a:t>
            </a:r>
            <a:r>
              <a:rPr b="1" i="0" lang="en" sz="1100" u="none" cap="none" strike="noStrike">
                <a:solidFill>
                  <a:schemeClr val="dk1"/>
                </a:solidFill>
                <a:latin typeface="Montserrat"/>
                <a:ea typeface="Montserrat"/>
                <a:cs typeface="Montserrat"/>
                <a:sym typeface="Montserrat"/>
              </a:rPr>
              <a:t>high value delivery</a:t>
            </a:r>
            <a:endParaRPr b="0" i="0" sz="1100" u="none" cap="none" strike="noStrike">
              <a:solidFill>
                <a:schemeClr val="dk1"/>
              </a:solidFill>
              <a:latin typeface="Montserrat"/>
              <a:ea typeface="Montserrat"/>
              <a:cs typeface="Montserrat"/>
              <a:sym typeface="Montserrat"/>
            </a:endParaRPr>
          </a:p>
          <a:p>
            <a:pPr indent="-298450" lvl="0" marL="457200" marR="0" rtl="0" algn="l">
              <a:lnSpc>
                <a:spcPct val="150000"/>
              </a:lnSpc>
              <a:spcBef>
                <a:spcPts val="300"/>
              </a:spcBef>
              <a:spcAft>
                <a:spcPts val="300"/>
              </a:spcAft>
              <a:buClr>
                <a:srgbClr val="D9177F"/>
              </a:buClr>
              <a:buSzPts val="1100"/>
              <a:buFont typeface="Century Gothic"/>
              <a:buChar char="●"/>
            </a:pPr>
            <a:r>
              <a:rPr b="1" i="0" lang="en" sz="1100" u="none" cap="none" strike="noStrike">
                <a:solidFill>
                  <a:schemeClr val="dk1"/>
                </a:solidFill>
                <a:latin typeface="Montserrat"/>
                <a:ea typeface="Montserrat"/>
                <a:cs typeface="Montserrat"/>
                <a:sym typeface="Montserrat"/>
              </a:rPr>
              <a:t>Proven Global &amp; Distributed Delivery partner </a:t>
            </a:r>
            <a:r>
              <a:rPr b="0" i="0" lang="en" sz="1100" u="none" cap="none" strike="noStrike">
                <a:solidFill>
                  <a:schemeClr val="dk1"/>
                </a:solidFill>
                <a:latin typeface="Montserrat"/>
                <a:ea typeface="Montserrat"/>
                <a:cs typeface="Montserrat"/>
                <a:sym typeface="Montserrat"/>
              </a:rPr>
              <a:t>providing right mix of collaboration, cost and scale advantage</a:t>
            </a:r>
            <a:endParaRPr b="0" i="0" sz="1100" u="none" cap="none" strike="noStrike">
              <a:solidFill>
                <a:schemeClr val="dk1"/>
              </a:solidFill>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pic>
        <p:nvPicPr>
          <p:cNvPr id="668" name="Google Shape;668;p28"/>
          <p:cNvPicPr preferRelativeResize="0"/>
          <p:nvPr/>
        </p:nvPicPr>
        <p:blipFill rotWithShape="1">
          <a:blip r:embed="rId3">
            <a:alphaModFix/>
          </a:blip>
          <a:srcRect b="0" l="0" r="0" t="0"/>
          <a:stretch/>
        </p:blipFill>
        <p:spPr>
          <a:xfrm>
            <a:off x="249975" y="246249"/>
            <a:ext cx="1145175" cy="585599"/>
          </a:xfrm>
          <a:prstGeom prst="rect">
            <a:avLst/>
          </a:prstGeom>
          <a:noFill/>
          <a:ln>
            <a:noFill/>
          </a:ln>
        </p:spPr>
      </p:pic>
      <p:cxnSp>
        <p:nvCxnSpPr>
          <p:cNvPr id="670" name="Google Shape;670;p28"/>
          <p:cNvCxnSpPr/>
          <p:nvPr/>
        </p:nvCxnSpPr>
        <p:spPr>
          <a:xfrm>
            <a:off x="7475" y="3099589"/>
            <a:ext cx="3926700" cy="0"/>
          </a:xfrm>
          <a:prstGeom prst="straightConnector1">
            <a:avLst/>
          </a:prstGeom>
          <a:noFill/>
          <a:ln cap="flat" cmpd="sng" w="19050">
            <a:solidFill>
              <a:srgbClr val="D71B7F"/>
            </a:solidFill>
            <a:prstDash val="solid"/>
            <a:round/>
            <a:headEnd len="sm" w="sm" type="none"/>
            <a:tailEnd len="sm" w="sm" type="none"/>
          </a:ln>
        </p:spPr>
      </p:cxnSp>
    </p:spTree>
  </p:cSld>
  <p:clrMapOvr>
    <a:masterClrMapping/>
  </p:clrMapOvr>
</p:sld>
</file>

<file path=ppt/theme/theme1.xml><?xml version="1.0" encoding="utf-8"?>
<a:theme xmlns:a="http://schemas.openxmlformats.org/drawingml/2006/main" xmlns:r="http://schemas.openxmlformats.org/officeDocument/2006/relationships" name="Master">
  <a:themeElements>
    <a:clrScheme name="Custom 9">
      <a:dk1>
        <a:srgbClr val="000000"/>
      </a:dk1>
      <a:lt1>
        <a:srgbClr val="FFFFFF"/>
      </a:lt1>
      <a:dk2>
        <a:srgbClr val="44546A"/>
      </a:dk2>
      <a:lt2>
        <a:srgbClr val="E7E6E6"/>
      </a:lt2>
      <a:accent1>
        <a:srgbClr val="D71B7F"/>
      </a:accent1>
      <a:accent2>
        <a:srgbClr val="12519C"/>
      </a:accent2>
      <a:accent3>
        <a:srgbClr val="6F3A93"/>
      </a:accent3>
      <a:accent4>
        <a:srgbClr val="F5B6D7"/>
      </a:accent4>
      <a:accent5>
        <a:srgbClr val="99BDEA"/>
      </a:accent5>
      <a:accent6>
        <a:srgbClr val="70AD47"/>
      </a:accent6>
      <a:hlink>
        <a:srgbClr val="FFFF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ster">
  <a:themeElements>
    <a:clrScheme name="Custom 9">
      <a:dk1>
        <a:srgbClr val="000000"/>
      </a:dk1>
      <a:lt1>
        <a:srgbClr val="FFFFFF"/>
      </a:lt1>
      <a:dk2>
        <a:srgbClr val="44546A"/>
      </a:dk2>
      <a:lt2>
        <a:srgbClr val="E7E6E6"/>
      </a:lt2>
      <a:accent1>
        <a:srgbClr val="D71B7F"/>
      </a:accent1>
      <a:accent2>
        <a:srgbClr val="12519C"/>
      </a:accent2>
      <a:accent3>
        <a:srgbClr val="6F3A93"/>
      </a:accent3>
      <a:accent4>
        <a:srgbClr val="F5B6D7"/>
      </a:accent4>
      <a:accent5>
        <a:srgbClr val="99BDEA"/>
      </a:accent5>
      <a:accent6>
        <a:srgbClr val="70AD47"/>
      </a:accent6>
      <a:hlink>
        <a:srgbClr val="FFFFFF"/>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