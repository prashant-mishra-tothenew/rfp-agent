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embeddedFontLst>
    <p:embeddedFont>
      <p:font typeface="Montserrat SemiBold"/>
      <p:regular r:id="rId35"/>
      <p:bold r:id="rId36"/>
      <p:italic r:id="rId37"/>
      <p:boldItalic r:id="rId38"/>
    </p:embeddedFont>
    <p:embeddedFont>
      <p:font typeface="Montserrat"/>
      <p:regular r:id="rId39"/>
      <p:bold r:id="rId40"/>
      <p:italic r:id="rId41"/>
      <p:boldItalic r:id="rId42"/>
    </p:embeddedFont>
    <p:embeddedFont>
      <p:font typeface="Montserrat Medium"/>
      <p:regular r:id="rId43"/>
      <p:bold r:id="rId44"/>
      <p:italic r:id="rId45"/>
      <p:boldItalic r:id="rId46"/>
    </p:embeddedFont>
    <p:embeddedFont>
      <p:font typeface="Tahoma"/>
      <p:regular r:id="rId47"/>
      <p:bold r:id="rId48"/>
    </p:embeddedFont>
    <p:embeddedFont>
      <p:font typeface="Montserrat Light"/>
      <p:regular r:id="rId49"/>
      <p:bold r:id="rId50"/>
      <p:italic r:id="rId51"/>
      <p:boldItalic r:id="rId52"/>
    </p:embeddedFont>
    <p:embeddedFont>
      <p:font typeface="Century Gothic"/>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7" roundtripDataSignature="AMtx7mhnr0KCF43rrLErl1F5WiYmuSdp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4F6760-089B-47EB-8253-D5C54B6EC847}">
  <a:tblStyle styleId="{D94F6760-089B-47EB-8253-D5C54B6EC84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05CC296-D303-4CE0-970A-263B8180C0D9}"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rgbClr val="FFFFFF"/>
      </a:tcTxStyle>
      <a:tcStyle>
        <a:fill>
          <a:solidFill>
            <a:srgbClr val="D71B7F"/>
          </a:solidFill>
        </a:fill>
      </a:tcStyle>
    </a:lastCol>
    <a:firstCol>
      <a:tcTxStyle b="on" i="off">
        <a:font>
          <a:latin typeface="Arial"/>
          <a:ea typeface="Arial"/>
          <a:cs typeface="Arial"/>
        </a:font>
        <a:srgbClr val="FFFFFF"/>
      </a:tcTxStyle>
      <a:tcStyle>
        <a:fill>
          <a:solidFill>
            <a:srgbClr val="D71B7F"/>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D71B7F"/>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D71B7F"/>
          </a:solidFill>
        </a:fill>
      </a:tcStyle>
    </a:firstRow>
    <a:neCell>
      <a:tcTxStyle b="off" i="off"/>
    </a:neCell>
    <a:nwCell>
      <a:tcTxStyle b="off" i="off"/>
    </a:nwCell>
  </a:tblStyle>
  <a:tblStyle styleId="{2ED30D0B-F584-43FB-8283-64062CD711C6}"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42" Type="http://schemas.openxmlformats.org/officeDocument/2006/relationships/font" Target="fonts/Montserrat-boldItalic.fntdata"/><Relationship Id="rId41" Type="http://schemas.openxmlformats.org/officeDocument/2006/relationships/font" Target="fonts/Montserrat-italic.fntdata"/><Relationship Id="rId44" Type="http://schemas.openxmlformats.org/officeDocument/2006/relationships/font" Target="fonts/MontserratMedium-bold.fntdata"/><Relationship Id="rId43" Type="http://schemas.openxmlformats.org/officeDocument/2006/relationships/font" Target="fonts/MontserratMedium-regular.fntdata"/><Relationship Id="rId46" Type="http://schemas.openxmlformats.org/officeDocument/2006/relationships/font" Target="fonts/MontserratMedium-boldItalic.fntdata"/><Relationship Id="rId45" Type="http://schemas.openxmlformats.org/officeDocument/2006/relationships/font" Target="fonts/Montserrat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Tahoma-bold.fntdata"/><Relationship Id="rId47" Type="http://schemas.openxmlformats.org/officeDocument/2006/relationships/font" Target="fonts/Tahoma-regular.fntdata"/><Relationship Id="rId49" Type="http://schemas.openxmlformats.org/officeDocument/2006/relationships/font" Target="fonts/MontserratLight-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font" Target="fonts/MontserratSemiBold-regular.fntdata"/><Relationship Id="rId34" Type="http://schemas.openxmlformats.org/officeDocument/2006/relationships/slide" Target="slides/slide27.xml"/><Relationship Id="rId37" Type="http://schemas.openxmlformats.org/officeDocument/2006/relationships/font" Target="fonts/MontserratSemiBold-italic.fntdata"/><Relationship Id="rId36" Type="http://schemas.openxmlformats.org/officeDocument/2006/relationships/font" Target="fonts/MontserratSemiBold-bold.fntdata"/><Relationship Id="rId39" Type="http://schemas.openxmlformats.org/officeDocument/2006/relationships/font" Target="fonts/Montserrat-regular.fntdata"/><Relationship Id="rId38" Type="http://schemas.openxmlformats.org/officeDocument/2006/relationships/font" Target="fonts/MontserratSemiBold-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MontserratLight-italic.fntdata"/><Relationship Id="rId50" Type="http://schemas.openxmlformats.org/officeDocument/2006/relationships/font" Target="fonts/MontserratLight-bold.fntdata"/><Relationship Id="rId53" Type="http://schemas.openxmlformats.org/officeDocument/2006/relationships/font" Target="fonts/CenturyGothic-regular.fntdata"/><Relationship Id="rId52" Type="http://schemas.openxmlformats.org/officeDocument/2006/relationships/font" Target="fonts/MontserratLight-boldItalic.fntdata"/><Relationship Id="rId11" Type="http://schemas.openxmlformats.org/officeDocument/2006/relationships/slide" Target="slides/slide4.xml"/><Relationship Id="rId55" Type="http://schemas.openxmlformats.org/officeDocument/2006/relationships/font" Target="fonts/CenturyGothic-italic.fntdata"/><Relationship Id="rId10" Type="http://schemas.openxmlformats.org/officeDocument/2006/relationships/slide" Target="slides/slide3.xml"/><Relationship Id="rId54" Type="http://schemas.openxmlformats.org/officeDocument/2006/relationships/font" Target="fonts/CenturyGothic-bold.fntdata"/><Relationship Id="rId13" Type="http://schemas.openxmlformats.org/officeDocument/2006/relationships/slide" Target="slides/slide6.xml"/><Relationship Id="rId57" Type="http://customschemas.google.com/relationships/presentationmetadata" Target="metadata"/><Relationship Id="rId12" Type="http://schemas.openxmlformats.org/officeDocument/2006/relationships/slide" Target="slides/slide5.xml"/><Relationship Id="rId56" Type="http://schemas.openxmlformats.org/officeDocument/2006/relationships/font" Target="fonts/CenturyGothic-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666666"/>
                </a:solidFill>
                <a:latin typeface="Montserrat"/>
                <a:ea typeface="Montserrat"/>
                <a:cs typeface="Montserrat"/>
                <a:sym typeface="Montserrat"/>
              </a:rPr>
              <a:t>ChatBot Development - Sales &amp; After Sales ( Text to sequel problem)</a:t>
            </a:r>
            <a:endParaRPr sz="800">
              <a:latin typeface="Montserrat"/>
              <a:ea typeface="Montserrat"/>
              <a:cs typeface="Montserrat"/>
              <a:sym typeface="Montserra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3" name="Google Shape;51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5" name="Google Shape;52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7" name="Google Shape;54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2" name="Google Shape;56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8" name="Google Shape;57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7" name="Google Shape;59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6" name="Google Shape;60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4.png"/><Relationship Id="rId4" Type="http://schemas.openxmlformats.org/officeDocument/2006/relationships/image" Target="../media/image12.png"/><Relationship Id="rId10" Type="http://schemas.openxmlformats.org/officeDocument/2006/relationships/image" Target="../media/image9.png"/><Relationship Id="rId9" Type="http://schemas.openxmlformats.org/officeDocument/2006/relationships/image" Target="../media/image16.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13.png"/><Relationship Id="rId8"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8" name="Shape 8"/>
        <p:cNvGrpSpPr/>
        <p:nvPr/>
      </p:nvGrpSpPr>
      <p:grpSpPr>
        <a:xfrm>
          <a:off x="0" y="0"/>
          <a:ext cx="0" cy="0"/>
          <a:chOff x="0" y="0"/>
          <a:chExt cx="0" cy="0"/>
        </a:xfrm>
      </p:grpSpPr>
      <p:pic>
        <p:nvPicPr>
          <p:cNvPr id="9" name="Google Shape;9;p30"/>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10" name="Google Shape;1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30"/>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12" name="Shape 12"/>
        <p:cNvGrpSpPr/>
        <p:nvPr/>
      </p:nvGrpSpPr>
      <p:grpSpPr>
        <a:xfrm>
          <a:off x="0" y="0"/>
          <a:ext cx="0" cy="0"/>
          <a:chOff x="0" y="0"/>
          <a:chExt cx="0" cy="0"/>
        </a:xfrm>
      </p:grpSpPr>
      <p:sp>
        <p:nvSpPr>
          <p:cNvPr id="13" name="Google Shape;13;p3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15" name="Google Shape;15;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16" name="Google Shape;16;p3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17" name="Google Shape;17;p3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8" name="Shape 18"/>
        <p:cNvGrpSpPr/>
        <p:nvPr/>
      </p:nvGrpSpPr>
      <p:grpSpPr>
        <a:xfrm>
          <a:off x="0" y="0"/>
          <a:ext cx="0" cy="0"/>
          <a:chOff x="0" y="0"/>
          <a:chExt cx="0" cy="0"/>
        </a:xfrm>
      </p:grpSpPr>
      <p:pic>
        <p:nvPicPr>
          <p:cNvPr id="19" name="Google Shape;19;p36"/>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20" name="Google Shape;20;p3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36"/>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22" name="Shape 22"/>
        <p:cNvGrpSpPr/>
        <p:nvPr/>
      </p:nvGrpSpPr>
      <p:grpSpPr>
        <a:xfrm>
          <a:off x="0" y="0"/>
          <a:ext cx="0" cy="0"/>
          <a:chOff x="0" y="0"/>
          <a:chExt cx="0" cy="0"/>
        </a:xfrm>
      </p:grpSpPr>
      <p:pic>
        <p:nvPicPr>
          <p:cNvPr id="23" name="Google Shape;23;p44"/>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24" name="Google Shape;24;p44"/>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25" name="Google Shape;25;p44"/>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p:cSld name="TITLE_AND_TWO_COLUMNS_2">
    <p:spTree>
      <p:nvGrpSpPr>
        <p:cNvPr id="30" name="Shape 30"/>
        <p:cNvGrpSpPr/>
        <p:nvPr/>
      </p:nvGrpSpPr>
      <p:grpSpPr>
        <a:xfrm>
          <a:off x="0" y="0"/>
          <a:ext cx="0" cy="0"/>
          <a:chOff x="0" y="0"/>
          <a:chExt cx="0" cy="0"/>
        </a:xfrm>
      </p:grpSpPr>
      <p:sp>
        <p:nvSpPr>
          <p:cNvPr id="31" name="Google Shape;31;p3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33" name="Google Shape;33;p33"/>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34" name="Google Shape;34;p3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
        <p:nvSpPr>
          <p:cNvPr id="35" name="Google Shape;35;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36" name="Shape 36"/>
        <p:cNvGrpSpPr/>
        <p:nvPr/>
      </p:nvGrpSpPr>
      <p:grpSpPr>
        <a:xfrm>
          <a:off x="0" y="0"/>
          <a:ext cx="0" cy="0"/>
          <a:chOff x="0" y="0"/>
          <a:chExt cx="0" cy="0"/>
        </a:xfrm>
      </p:grpSpPr>
      <p:pic>
        <p:nvPicPr>
          <p:cNvPr id="37" name="Google Shape;37;p34"/>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38" name="Google Shape;38;p3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4"/>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40" name="Google Shape;40;p34"/>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41" name="Google Shape;41;p34"/>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2" name="Shape 42"/>
        <p:cNvGrpSpPr/>
        <p:nvPr/>
      </p:nvGrpSpPr>
      <p:grpSpPr>
        <a:xfrm>
          <a:off x="0" y="0"/>
          <a:ext cx="0" cy="0"/>
          <a:chOff x="0" y="0"/>
          <a:chExt cx="0" cy="0"/>
        </a:xfrm>
      </p:grpSpPr>
      <p:sp>
        <p:nvSpPr>
          <p:cNvPr id="43" name="Google Shape;43;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44" name="Google Shape;44;p3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5" name="Google Shape;45;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6_1_1_1_1_1_1_1_2_1_2_1">
    <p:bg>
      <p:bgPr>
        <a:noFill/>
      </p:bgPr>
    </p:bg>
    <p:spTree>
      <p:nvGrpSpPr>
        <p:cNvPr id="46" name="Shape 46"/>
        <p:cNvGrpSpPr/>
        <p:nvPr/>
      </p:nvGrpSpPr>
      <p:grpSpPr>
        <a:xfrm>
          <a:off x="0" y="0"/>
          <a:ext cx="0" cy="0"/>
          <a:chOff x="0" y="0"/>
          <a:chExt cx="0" cy="0"/>
        </a:xfrm>
      </p:grpSpPr>
      <p:pic>
        <p:nvPicPr>
          <p:cNvPr id="47" name="Google Shape;47;p37"/>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48" name="Google Shape;48;p37"/>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 name="Google Shape;49;p37"/>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50" name="Google Shape;50;p37"/>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pic>
        <p:nvPicPr>
          <p:cNvPr id="51" name="Google Shape;51;p37"/>
          <p:cNvPicPr preferRelativeResize="0"/>
          <p:nvPr/>
        </p:nvPicPr>
        <p:blipFill rotWithShape="1">
          <a:blip r:embed="rId4">
            <a:alphaModFix/>
          </a:blip>
          <a:srcRect b="3747" l="0" r="0" t="3738"/>
          <a:stretch/>
        </p:blipFill>
        <p:spPr>
          <a:xfrm>
            <a:off x="5628871" y="4764214"/>
            <a:ext cx="527963" cy="207109"/>
          </a:xfrm>
          <a:prstGeom prst="rect">
            <a:avLst/>
          </a:prstGeom>
          <a:noFill/>
          <a:ln>
            <a:noFill/>
          </a:ln>
        </p:spPr>
      </p:pic>
      <p:pic>
        <p:nvPicPr>
          <p:cNvPr id="52" name="Google Shape;52;p37"/>
          <p:cNvPicPr preferRelativeResize="0"/>
          <p:nvPr/>
        </p:nvPicPr>
        <p:blipFill rotWithShape="1">
          <a:blip r:embed="rId5">
            <a:alphaModFix/>
          </a:blip>
          <a:srcRect b="0" l="0" r="0" t="0"/>
          <a:stretch/>
        </p:blipFill>
        <p:spPr>
          <a:xfrm>
            <a:off x="4492492" y="4767423"/>
            <a:ext cx="1005406" cy="200690"/>
          </a:xfrm>
          <a:prstGeom prst="rect">
            <a:avLst/>
          </a:prstGeom>
          <a:noFill/>
          <a:ln>
            <a:noFill/>
          </a:ln>
        </p:spPr>
      </p:pic>
      <p:sp>
        <p:nvSpPr>
          <p:cNvPr id="53" name="Google Shape;53;p37"/>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54" name="Google Shape;54;p37"/>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55" name="Google Shape;55;p37"/>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56" name="Google Shape;56;p37"/>
          <p:cNvPicPr preferRelativeResize="0"/>
          <p:nvPr/>
        </p:nvPicPr>
        <p:blipFill rotWithShape="1">
          <a:blip r:embed="rId6">
            <a:alphaModFix/>
          </a:blip>
          <a:srcRect b="0" l="0" r="0" t="0"/>
          <a:stretch/>
        </p:blipFill>
        <p:spPr>
          <a:xfrm>
            <a:off x="3582794" y="4773820"/>
            <a:ext cx="772999" cy="207102"/>
          </a:xfrm>
          <a:prstGeom prst="rect">
            <a:avLst/>
          </a:prstGeom>
          <a:noFill/>
          <a:ln>
            <a:noFill/>
          </a:ln>
        </p:spPr>
      </p:pic>
      <p:cxnSp>
        <p:nvCxnSpPr>
          <p:cNvPr id="57" name="Google Shape;57;p37"/>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58" name="Google Shape;58;p37"/>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59" name="Google Shape;59;p37"/>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60" name="Google Shape;60;p37"/>
          <p:cNvPicPr preferRelativeResize="0"/>
          <p:nvPr/>
        </p:nvPicPr>
        <p:blipFill rotWithShape="1">
          <a:blip r:embed="rId7">
            <a:alphaModFix/>
          </a:blip>
          <a:srcRect b="0" l="0" r="0" t="0"/>
          <a:stretch/>
        </p:blipFill>
        <p:spPr>
          <a:xfrm>
            <a:off x="1835298" y="4767421"/>
            <a:ext cx="711135" cy="200693"/>
          </a:xfrm>
          <a:prstGeom prst="rect">
            <a:avLst/>
          </a:prstGeom>
          <a:noFill/>
          <a:ln>
            <a:noFill/>
          </a:ln>
        </p:spPr>
      </p:pic>
      <p:pic>
        <p:nvPicPr>
          <p:cNvPr id="61" name="Google Shape;61;p37"/>
          <p:cNvPicPr preferRelativeResize="0"/>
          <p:nvPr/>
        </p:nvPicPr>
        <p:blipFill rotWithShape="1">
          <a:blip r:embed="rId8">
            <a:alphaModFix/>
          </a:blip>
          <a:srcRect b="0" l="0" r="0" t="0"/>
          <a:stretch/>
        </p:blipFill>
        <p:spPr>
          <a:xfrm>
            <a:off x="2709573" y="4788445"/>
            <a:ext cx="730426" cy="158646"/>
          </a:xfrm>
          <a:prstGeom prst="rect">
            <a:avLst/>
          </a:prstGeom>
          <a:noFill/>
          <a:ln>
            <a:noFill/>
          </a:ln>
        </p:spPr>
      </p:pic>
      <p:pic>
        <p:nvPicPr>
          <p:cNvPr id="62" name="Google Shape;62;p37"/>
          <p:cNvPicPr preferRelativeResize="0"/>
          <p:nvPr/>
        </p:nvPicPr>
        <p:blipFill rotWithShape="1">
          <a:blip r:embed="rId9">
            <a:alphaModFix/>
          </a:blip>
          <a:srcRect b="0" l="0" r="0" t="0"/>
          <a:stretch/>
        </p:blipFill>
        <p:spPr>
          <a:xfrm>
            <a:off x="1238250" y="271780"/>
            <a:ext cx="1380825" cy="706105"/>
          </a:xfrm>
          <a:prstGeom prst="rect">
            <a:avLst/>
          </a:prstGeom>
          <a:noFill/>
          <a:ln>
            <a:noFill/>
          </a:ln>
        </p:spPr>
      </p:pic>
      <p:pic>
        <p:nvPicPr>
          <p:cNvPr id="63" name="Google Shape;63;p37"/>
          <p:cNvPicPr preferRelativeResize="0"/>
          <p:nvPr/>
        </p:nvPicPr>
        <p:blipFill rotWithShape="1">
          <a:blip r:embed="rId10">
            <a:alphaModFix/>
          </a:blip>
          <a:srcRect b="0" l="0" r="0" t="0"/>
          <a:stretch/>
        </p:blipFill>
        <p:spPr>
          <a:xfrm>
            <a:off x="190536" y="188515"/>
            <a:ext cx="941500" cy="1410499"/>
          </a:xfrm>
          <a:prstGeom prst="rect">
            <a:avLst/>
          </a:prstGeom>
          <a:noFill/>
          <a:ln>
            <a:noFill/>
          </a:ln>
        </p:spPr>
      </p:pic>
      <p:sp>
        <p:nvSpPr>
          <p:cNvPr id="64" name="Google Shape;64;p37"/>
          <p:cNvSpPr txBox="1"/>
          <p:nvPr>
            <p:ph type="title"/>
          </p:nvPr>
        </p:nvSpPr>
        <p:spPr>
          <a:xfrm>
            <a:off x="283675" y="2500825"/>
            <a:ext cx="5466600" cy="1134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2pPr>
            <a:lvl3pPr lvl="2"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3pPr>
            <a:lvl4pPr lvl="3"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4pPr>
            <a:lvl5pPr lvl="4"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5pPr>
            <a:lvl6pPr lvl="5"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6pPr>
            <a:lvl7pPr lvl="6"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7pPr>
            <a:lvl8pPr lvl="7"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8pPr>
            <a:lvl9pPr lvl="8"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65" name="Shape 65"/>
        <p:cNvGrpSpPr/>
        <p:nvPr/>
      </p:nvGrpSpPr>
      <p:grpSpPr>
        <a:xfrm>
          <a:off x="0" y="0"/>
          <a:ext cx="0" cy="0"/>
          <a:chOff x="0" y="0"/>
          <a:chExt cx="0" cy="0"/>
        </a:xfrm>
      </p:grpSpPr>
      <p:pic>
        <p:nvPicPr>
          <p:cNvPr id="66" name="Google Shape;66;p38"/>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67" name="Google Shape;67;p38"/>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68" name="Google Shape;68;p38"/>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p:cSld name="CUSTOM_6_1_1_1_1_1_1_1_2_1_2_1_1">
    <p:bg>
      <p:bgPr>
        <a:noFill/>
      </p:bgPr>
    </p:bg>
    <p:spTree>
      <p:nvGrpSpPr>
        <p:cNvPr id="69" name="Shape 69"/>
        <p:cNvGrpSpPr/>
        <p:nvPr/>
      </p:nvGrpSpPr>
      <p:grpSpPr>
        <a:xfrm>
          <a:off x="0" y="0"/>
          <a:ext cx="0" cy="0"/>
          <a:chOff x="0" y="0"/>
          <a:chExt cx="0" cy="0"/>
        </a:xfrm>
      </p:grpSpPr>
      <p:pic>
        <p:nvPicPr>
          <p:cNvPr id="70" name="Google Shape;70;p39"/>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71" name="Google Shape;71;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39"/>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3" name="Google Shape;73;p39"/>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74" name="Google Shape;74;p39"/>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4">
  <p:cSld name="TITLE_AND_TWO_COLUMNS_1_2_7">
    <p:spTree>
      <p:nvGrpSpPr>
        <p:cNvPr id="75" name="Shape 75"/>
        <p:cNvGrpSpPr/>
        <p:nvPr/>
      </p:nvGrpSpPr>
      <p:grpSpPr>
        <a:xfrm>
          <a:off x="0" y="0"/>
          <a:ext cx="0" cy="0"/>
          <a:chOff x="0" y="0"/>
          <a:chExt cx="0" cy="0"/>
        </a:xfrm>
      </p:grpSpPr>
      <p:sp>
        <p:nvSpPr>
          <p:cNvPr id="76" name="Google Shape;76;p40"/>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77" name="Google Shape;77;p40"/>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78" name="Google Shape;78;p40"/>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2">
  <p:cSld name="TITLE_AND_TWO_COLUMNS_1_2_9">
    <p:spTree>
      <p:nvGrpSpPr>
        <p:cNvPr id="79" name="Shape 79"/>
        <p:cNvGrpSpPr/>
        <p:nvPr/>
      </p:nvGrpSpPr>
      <p:grpSpPr>
        <a:xfrm>
          <a:off x="0" y="0"/>
          <a:ext cx="0" cy="0"/>
          <a:chOff x="0" y="0"/>
          <a:chExt cx="0" cy="0"/>
        </a:xfrm>
      </p:grpSpPr>
      <p:sp>
        <p:nvSpPr>
          <p:cNvPr id="80" name="Google Shape;80;p41"/>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1" name="Google Shape;81;p4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2" name="Google Shape;82;p4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3">
  <p:cSld name="TITLE_AND_TWO_COLUMNS_1_2_10">
    <p:spTree>
      <p:nvGrpSpPr>
        <p:cNvPr id="83" name="Shape 83"/>
        <p:cNvGrpSpPr/>
        <p:nvPr/>
      </p:nvGrpSpPr>
      <p:grpSpPr>
        <a:xfrm>
          <a:off x="0" y="0"/>
          <a:ext cx="0" cy="0"/>
          <a:chOff x="0" y="0"/>
          <a:chExt cx="0" cy="0"/>
        </a:xfrm>
      </p:grpSpPr>
      <p:sp>
        <p:nvSpPr>
          <p:cNvPr id="84" name="Google Shape;84;p42"/>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5" name="Google Shape;85;p42"/>
          <p:cNvPicPr preferRelativeResize="0"/>
          <p:nvPr/>
        </p:nvPicPr>
        <p:blipFill rotWithShape="1">
          <a:blip r:embed="rId2">
            <a:alphaModFix/>
          </a:blip>
          <a:srcRect b="0" l="0" r="0" t="0"/>
          <a:stretch/>
        </p:blipFill>
        <p:spPr>
          <a:xfrm>
            <a:off x="8295649" y="178006"/>
            <a:ext cx="648924" cy="3624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1 1">
  <p:cSld name="TITLE_AND_TWO_COLUMNS_2_1_1_1">
    <p:spTree>
      <p:nvGrpSpPr>
        <p:cNvPr id="86" name="Shape 86"/>
        <p:cNvGrpSpPr/>
        <p:nvPr/>
      </p:nvGrpSpPr>
      <p:grpSpPr>
        <a:xfrm>
          <a:off x="0" y="0"/>
          <a:ext cx="0" cy="0"/>
          <a:chOff x="0" y="0"/>
          <a:chExt cx="0" cy="0"/>
        </a:xfrm>
      </p:grpSpPr>
      <p:pic>
        <p:nvPicPr>
          <p:cNvPr id="87" name="Google Shape;87;p43"/>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88" name="Google Shape;88;p4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4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90" name="Google Shape;90;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91" name="Google Shape;91;p43"/>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92" name="Google Shape;92;p4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3.xml"/><Relationship Id="rId10" Type="http://schemas.openxmlformats.org/officeDocument/2006/relationships/slideLayout" Target="../slideLayouts/slideLayout12.xml"/><Relationship Id="rId13" Type="http://schemas.openxmlformats.org/officeDocument/2006/relationships/theme" Target="../theme/theme3.xml"/><Relationship Id="rId12" Type="http://schemas.openxmlformats.org/officeDocument/2006/relationships/slideLayout" Target="../slideLayouts/slideLayout14.xml"/><Relationship Id="rId1" Type="http://schemas.openxmlformats.org/officeDocument/2006/relationships/image" Target="../media/image14.png"/><Relationship Id="rId2" Type="http://schemas.openxmlformats.org/officeDocument/2006/relationships/image" Target="../media/image11.png"/><Relationship Id="rId3" Type="http://schemas.openxmlformats.org/officeDocument/2006/relationships/slideLayout" Target="../slideLayouts/slideLayout5.xml"/><Relationship Id="rId4" Type="http://schemas.openxmlformats.org/officeDocument/2006/relationships/slideLayout" Target="../slideLayouts/slideLayout6.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1">
            <a:alphaModFix/>
          </a:blip>
          <a:srcRect b="0" l="0" r="0" t="0"/>
          <a:stretch/>
        </p:blipFill>
        <p:spPr>
          <a:xfrm>
            <a:off x="-10" y="5071684"/>
            <a:ext cx="9151473" cy="80441"/>
          </a:xfrm>
          <a:prstGeom prst="rect">
            <a:avLst/>
          </a:prstGeom>
          <a:noFill/>
          <a:ln>
            <a:noFill/>
          </a:ln>
        </p:spPr>
      </p:pic>
      <p:sp>
        <p:nvSpPr>
          <p:cNvPr id="7" name="Google Shape;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 name="Shape 26"/>
        <p:cNvGrpSpPr/>
        <p:nvPr/>
      </p:nvGrpSpPr>
      <p:grpSpPr>
        <a:xfrm>
          <a:off x="0" y="0"/>
          <a:ext cx="0" cy="0"/>
          <a:chOff x="0" y="0"/>
          <a:chExt cx="0" cy="0"/>
        </a:xfrm>
      </p:grpSpPr>
      <p:pic>
        <p:nvPicPr>
          <p:cNvPr id="27" name="Google Shape;27;p32"/>
          <p:cNvPicPr preferRelativeResize="0"/>
          <p:nvPr/>
        </p:nvPicPr>
        <p:blipFill rotWithShape="1">
          <a:blip r:embed="rId1">
            <a:alphaModFix/>
          </a:blip>
          <a:srcRect b="56881" l="299" r="0" t="4"/>
          <a:stretch/>
        </p:blipFill>
        <p:spPr>
          <a:xfrm>
            <a:off x="-7475" y="5125600"/>
            <a:ext cx="9151474" cy="17899"/>
          </a:xfrm>
          <a:prstGeom prst="rect">
            <a:avLst/>
          </a:prstGeom>
          <a:noFill/>
          <a:ln>
            <a:noFill/>
          </a:ln>
        </p:spPr>
      </p:pic>
      <p:pic>
        <p:nvPicPr>
          <p:cNvPr id="28" name="Google Shape;28;p32"/>
          <p:cNvPicPr preferRelativeResize="0"/>
          <p:nvPr/>
        </p:nvPicPr>
        <p:blipFill rotWithShape="1">
          <a:blip r:embed="rId2">
            <a:alphaModFix/>
          </a:blip>
          <a:srcRect b="0" l="0" r="0" t="0"/>
          <a:stretch/>
        </p:blipFill>
        <p:spPr>
          <a:xfrm>
            <a:off x="-10" y="5071684"/>
            <a:ext cx="9151473" cy="80441"/>
          </a:xfrm>
          <a:prstGeom prst="rect">
            <a:avLst/>
          </a:prstGeom>
          <a:noFill/>
          <a:ln>
            <a:noFill/>
          </a:ln>
        </p:spPr>
      </p:pic>
      <p:sp>
        <p:nvSpPr>
          <p:cNvPr id="29" name="Google Shape;29;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png"/><Relationship Id="rId9"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13.png"/><Relationship Id="rId7" Type="http://schemas.openxmlformats.org/officeDocument/2006/relationships/image" Target="../media/image4.png"/><Relationship Id="rId8"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image" Target="../media/image24.png"/></Relationships>
</file>

<file path=ppt/slides/_rels/slide18.xml.rels><?xml version="1.0" encoding="UTF-8" standalone="yes"?><Relationships xmlns="http://schemas.openxmlformats.org/package/2006/relationships"><Relationship Id="rId10" Type="http://schemas.openxmlformats.org/officeDocument/2006/relationships/image" Target="../media/image2.png"/><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29.png"/><Relationship Id="rId9" Type="http://schemas.openxmlformats.org/officeDocument/2006/relationships/image" Target="../media/image31.png"/><Relationship Id="rId5" Type="http://schemas.openxmlformats.org/officeDocument/2006/relationships/image" Target="../media/image17.png"/><Relationship Id="rId6" Type="http://schemas.openxmlformats.org/officeDocument/2006/relationships/image" Target="../media/image23.png"/><Relationship Id="rId7" Type="http://schemas.openxmlformats.org/officeDocument/2006/relationships/image" Target="../media/image21.png"/><Relationship Id="rId8"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0" Type="http://schemas.openxmlformats.org/officeDocument/2006/relationships/image" Target="../media/image2.png"/><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39.png"/><Relationship Id="rId9" Type="http://schemas.openxmlformats.org/officeDocument/2006/relationships/image" Target="../media/image30.png"/><Relationship Id="rId5" Type="http://schemas.openxmlformats.org/officeDocument/2006/relationships/image" Target="../media/image40.png"/><Relationship Id="rId6" Type="http://schemas.openxmlformats.org/officeDocument/2006/relationships/image" Target="../media/image36.png"/><Relationship Id="rId7" Type="http://schemas.openxmlformats.org/officeDocument/2006/relationships/image" Target="../media/image38.png"/><Relationship Id="rId8" Type="http://schemas.openxmlformats.org/officeDocument/2006/relationships/image" Target="../media/image35.png"/></Relationships>
</file>

<file path=ppt/slides/_rels/slide24.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42.png"/><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41.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38.png"/><Relationship Id="rId8" Type="http://schemas.openxmlformats.org/officeDocument/2006/relationships/image" Target="../media/image35.png"/></Relationships>
</file>

<file path=ppt/slides/_rels/slide25.xml.rels><?xml version="1.0" encoding="UTF-8" standalone="yes"?><Relationships xmlns="http://schemas.openxmlformats.org/package/2006/relationships"><Relationship Id="rId11" Type="http://schemas.openxmlformats.org/officeDocument/2006/relationships/image" Target="../media/image43.png"/><Relationship Id="rId10" Type="http://schemas.openxmlformats.org/officeDocument/2006/relationships/image" Target="../media/image2.png"/><Relationship Id="rId13" Type="http://schemas.openxmlformats.org/officeDocument/2006/relationships/image" Target="../media/image46.png"/><Relationship Id="rId12" Type="http://schemas.openxmlformats.org/officeDocument/2006/relationships/image" Target="../media/image45.png"/><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4.png"/><Relationship Id="rId4" Type="http://schemas.openxmlformats.org/officeDocument/2006/relationships/image" Target="../media/image39.png"/><Relationship Id="rId9" Type="http://schemas.openxmlformats.org/officeDocument/2006/relationships/image" Target="../media/image44.png"/><Relationship Id="rId5" Type="http://schemas.openxmlformats.org/officeDocument/2006/relationships/image" Target="../media/image40.png"/><Relationship Id="rId6" Type="http://schemas.openxmlformats.org/officeDocument/2006/relationships/image" Target="../media/image38.png"/><Relationship Id="rId7" Type="http://schemas.openxmlformats.org/officeDocument/2006/relationships/image" Target="../media/image35.png"/><Relationship Id="rId8" Type="http://schemas.openxmlformats.org/officeDocument/2006/relationships/image" Target="../media/image4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
          <p:cNvPicPr preferRelativeResize="0"/>
          <p:nvPr/>
        </p:nvPicPr>
        <p:blipFill rotWithShape="1">
          <a:blip r:embed="rId3">
            <a:alphaModFix/>
          </a:blip>
          <a:srcRect b="3747" l="0" r="0" t="3738"/>
          <a:stretch/>
        </p:blipFill>
        <p:spPr>
          <a:xfrm>
            <a:off x="5628871" y="4764214"/>
            <a:ext cx="527963" cy="207109"/>
          </a:xfrm>
          <a:prstGeom prst="rect">
            <a:avLst/>
          </a:prstGeom>
          <a:noFill/>
          <a:ln>
            <a:noFill/>
          </a:ln>
        </p:spPr>
      </p:pic>
      <p:pic>
        <p:nvPicPr>
          <p:cNvPr id="98" name="Google Shape;98;p1"/>
          <p:cNvPicPr preferRelativeResize="0"/>
          <p:nvPr/>
        </p:nvPicPr>
        <p:blipFill rotWithShape="1">
          <a:blip r:embed="rId4">
            <a:alphaModFix/>
          </a:blip>
          <a:srcRect b="0" l="0" r="0" t="0"/>
          <a:stretch/>
        </p:blipFill>
        <p:spPr>
          <a:xfrm>
            <a:off x="4492492" y="4767423"/>
            <a:ext cx="1005406" cy="200690"/>
          </a:xfrm>
          <a:prstGeom prst="rect">
            <a:avLst/>
          </a:prstGeom>
          <a:noFill/>
          <a:ln>
            <a:noFill/>
          </a:ln>
        </p:spPr>
      </p:pic>
      <p:sp>
        <p:nvSpPr>
          <p:cNvPr id="99" name="Google Shape;99;p1"/>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100" name="Google Shape;100;p1"/>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101" name="Google Shape;101;p1"/>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02" name="Google Shape;102;p1"/>
          <p:cNvPicPr preferRelativeResize="0"/>
          <p:nvPr/>
        </p:nvPicPr>
        <p:blipFill rotWithShape="1">
          <a:blip r:embed="rId5">
            <a:alphaModFix/>
          </a:blip>
          <a:srcRect b="0" l="0" r="0" t="0"/>
          <a:stretch/>
        </p:blipFill>
        <p:spPr>
          <a:xfrm>
            <a:off x="3582794" y="4773820"/>
            <a:ext cx="772999" cy="207102"/>
          </a:xfrm>
          <a:prstGeom prst="rect">
            <a:avLst/>
          </a:prstGeom>
          <a:noFill/>
          <a:ln>
            <a:noFill/>
          </a:ln>
        </p:spPr>
      </p:pic>
      <p:cxnSp>
        <p:nvCxnSpPr>
          <p:cNvPr id="103" name="Google Shape;103;p1"/>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104" name="Google Shape;104;p1"/>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105" name="Google Shape;105;p1"/>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06" name="Google Shape;106;p1"/>
          <p:cNvPicPr preferRelativeResize="0"/>
          <p:nvPr/>
        </p:nvPicPr>
        <p:blipFill rotWithShape="1">
          <a:blip r:embed="rId6">
            <a:alphaModFix/>
          </a:blip>
          <a:srcRect b="0" l="0" r="0" t="0"/>
          <a:stretch/>
        </p:blipFill>
        <p:spPr>
          <a:xfrm>
            <a:off x="1835298" y="4767421"/>
            <a:ext cx="711135" cy="200693"/>
          </a:xfrm>
          <a:prstGeom prst="rect">
            <a:avLst/>
          </a:prstGeom>
          <a:noFill/>
          <a:ln>
            <a:noFill/>
          </a:ln>
        </p:spPr>
      </p:pic>
      <p:pic>
        <p:nvPicPr>
          <p:cNvPr id="107" name="Google Shape;107;p1"/>
          <p:cNvPicPr preferRelativeResize="0"/>
          <p:nvPr/>
        </p:nvPicPr>
        <p:blipFill rotWithShape="1">
          <a:blip r:embed="rId7">
            <a:alphaModFix/>
          </a:blip>
          <a:srcRect b="0" l="0" r="0" t="0"/>
          <a:stretch/>
        </p:blipFill>
        <p:spPr>
          <a:xfrm>
            <a:off x="2709573" y="4788445"/>
            <a:ext cx="730426" cy="158646"/>
          </a:xfrm>
          <a:prstGeom prst="rect">
            <a:avLst/>
          </a:prstGeom>
          <a:noFill/>
          <a:ln>
            <a:noFill/>
          </a:ln>
        </p:spPr>
      </p:pic>
      <p:pic>
        <p:nvPicPr>
          <p:cNvPr id="108" name="Google Shape;108;p1"/>
          <p:cNvPicPr preferRelativeResize="0"/>
          <p:nvPr/>
        </p:nvPicPr>
        <p:blipFill rotWithShape="1">
          <a:blip r:embed="rId8">
            <a:alphaModFix/>
          </a:blip>
          <a:srcRect b="0" l="0" r="0" t="0"/>
          <a:stretch/>
        </p:blipFill>
        <p:spPr>
          <a:xfrm>
            <a:off x="249975" y="246249"/>
            <a:ext cx="1145175" cy="585599"/>
          </a:xfrm>
          <a:prstGeom prst="rect">
            <a:avLst/>
          </a:prstGeom>
          <a:noFill/>
          <a:ln>
            <a:noFill/>
          </a:ln>
        </p:spPr>
      </p:pic>
      <p:sp>
        <p:nvSpPr>
          <p:cNvPr id="109" name="Google Shape;109;p1"/>
          <p:cNvSpPr txBox="1"/>
          <p:nvPr/>
        </p:nvSpPr>
        <p:spPr>
          <a:xfrm>
            <a:off x="452550" y="2096825"/>
            <a:ext cx="6849000" cy="2123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b="1" i="0" lang="en" sz="2300" u="none" cap="none" strike="noStrike">
                <a:solidFill>
                  <a:srgbClr val="FF0082"/>
                </a:solidFill>
                <a:latin typeface="Montserrat"/>
                <a:ea typeface="Montserrat"/>
                <a:cs typeface="Montserrat"/>
                <a:sym typeface="Montserrat"/>
              </a:rPr>
              <a:t>TTN Proposal for Mobile App Development | Racing Queensland v1.0</a:t>
            </a:r>
            <a:endParaRPr b="1" i="0" sz="2300" u="none" cap="none" strike="noStrike">
              <a:solidFill>
                <a:srgbClr val="FF0082"/>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666666"/>
                </a:solidFill>
                <a:latin typeface="Montserrat"/>
                <a:ea typeface="Montserrat"/>
                <a:cs typeface="Montserrat"/>
                <a:sym typeface="Montserrat"/>
              </a:rPr>
              <a:t>Date : 29 May 2025</a:t>
            </a:r>
            <a:endParaRPr b="1" i="0" sz="1300" u="none" cap="none" strike="noStrike">
              <a:solidFill>
                <a:srgbClr val="666666"/>
              </a:solidFill>
              <a:latin typeface="Montserrat"/>
              <a:ea typeface="Montserrat"/>
              <a:cs typeface="Montserrat"/>
              <a:sym typeface="Montserrat"/>
            </a:endParaRPr>
          </a:p>
        </p:txBody>
      </p:sp>
      <p:cxnSp>
        <p:nvCxnSpPr>
          <p:cNvPr id="110" name="Google Shape;110;p1"/>
          <p:cNvCxnSpPr/>
          <p:nvPr/>
        </p:nvCxnSpPr>
        <p:spPr>
          <a:xfrm>
            <a:off x="300149" y="2165563"/>
            <a:ext cx="0" cy="1057800"/>
          </a:xfrm>
          <a:prstGeom prst="straightConnector1">
            <a:avLst/>
          </a:prstGeom>
          <a:noFill/>
          <a:ln cap="flat" cmpd="sng" w="76200">
            <a:solidFill>
              <a:srgbClr val="5424A0"/>
            </a:solidFill>
            <a:prstDash val="solid"/>
            <a:round/>
            <a:headEnd len="sm" w="sm" type="none"/>
            <a:tailEnd len="sm" w="sm" type="none"/>
          </a:ln>
        </p:spPr>
      </p:cxnSp>
      <p:pic>
        <p:nvPicPr>
          <p:cNvPr id="111" name="Google Shape;111;p1"/>
          <p:cNvPicPr preferRelativeResize="0"/>
          <p:nvPr/>
        </p:nvPicPr>
        <p:blipFill rotWithShape="1">
          <a:blip r:embed="rId9">
            <a:alphaModFix/>
          </a:blip>
          <a:srcRect b="-10" l="-6921" r="-6910" t="10"/>
          <a:stretch/>
        </p:blipFill>
        <p:spPr>
          <a:xfrm>
            <a:off x="6287808" y="4668680"/>
            <a:ext cx="265774" cy="398125"/>
          </a:xfrm>
          <a:prstGeom prst="rect">
            <a:avLst/>
          </a:prstGeom>
          <a:noFill/>
          <a:ln>
            <a:noFill/>
          </a:ln>
        </p:spPr>
      </p:pic>
      <p:cxnSp>
        <p:nvCxnSpPr>
          <p:cNvPr id="112" name="Google Shape;112;p1"/>
          <p:cNvCxnSpPr/>
          <p:nvPr/>
        </p:nvCxnSpPr>
        <p:spPr>
          <a:xfrm>
            <a:off x="6204494" y="4811830"/>
            <a:ext cx="0" cy="158700"/>
          </a:xfrm>
          <a:prstGeom prst="straightConnector1">
            <a:avLst/>
          </a:prstGeom>
          <a:noFill/>
          <a:ln cap="flat" cmpd="sng" w="9525">
            <a:solidFill>
              <a:srgbClr val="999999"/>
            </a:solidFill>
            <a:prstDash val="dot"/>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119" name="Google Shape;119;p2"/>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Executive Summary and Our Understanding of Project Requirements</a:t>
            </a:r>
            <a:endParaRPr b="1" i="0" sz="1200" u="none" cap="none" strike="noStrike">
              <a:solidFill>
                <a:srgbClr val="D71B7F"/>
              </a:solidFill>
              <a:latin typeface="Montserrat"/>
              <a:ea typeface="Montserrat"/>
              <a:cs typeface="Montserrat"/>
              <a:sym typeface="Montserrat"/>
            </a:endParaRPr>
          </a:p>
        </p:txBody>
      </p:sp>
      <p:sp>
        <p:nvSpPr>
          <p:cNvPr id="120" name="Google Shape;120;p2"/>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121" name="Google Shape;121;p2"/>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122" name="Google Shape;122;p2"/>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123" name="Google Shape;123;p2"/>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124" name="Google Shape;124;p2"/>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125" name="Google Shape;125;p2"/>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129" name="Google Shape;129;p2"/>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130" name="Google Shape;130;p2"/>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132" name="Google Shape;132;p2"/>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133" name="Google Shape;133;p2"/>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Executive Summary</a:t>
            </a:r>
            <a:endParaRPr/>
          </a:p>
        </p:txBody>
      </p:sp>
      <p:sp>
        <p:nvSpPr>
          <p:cNvPr id="141" name="Google Shape;141;p3"/>
          <p:cNvSpPr/>
          <p:nvPr/>
        </p:nvSpPr>
        <p:spPr>
          <a:xfrm>
            <a:off x="223850" y="746325"/>
            <a:ext cx="8690100" cy="40992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121875" lIns="121875" spcFirstLastPara="1" rIns="0" wrap="square" tIns="27425">
            <a:noAutofit/>
          </a:bodyPr>
          <a:lstStyle/>
          <a:p>
            <a:pPr indent="0" lvl="0" marL="0" marR="0" rtl="0" algn="l">
              <a:lnSpc>
                <a:spcPct val="150000"/>
              </a:lnSpc>
              <a:spcBef>
                <a:spcPts val="0"/>
              </a:spcBef>
              <a:spcAft>
                <a:spcPts val="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Following our recent discussions with </a:t>
            </a:r>
            <a:r>
              <a:rPr b="1" i="0" lang="en" sz="1100" u="none" cap="none" strike="noStrike">
                <a:solidFill>
                  <a:schemeClr val="accent1"/>
                </a:solidFill>
                <a:latin typeface="Montserrat"/>
                <a:ea typeface="Montserrat"/>
                <a:cs typeface="Montserrat"/>
                <a:sym typeface="Montserrat"/>
              </a:rPr>
              <a:t>Racing Queensland Networks (here in after referred to as Racing Queensland) </a:t>
            </a:r>
            <a:r>
              <a:rPr b="0" i="0" lang="en" sz="1100" u="none" cap="none" strike="noStrike">
                <a:solidFill>
                  <a:schemeClr val="dk1"/>
                </a:solidFill>
                <a:latin typeface="Montserrat"/>
                <a:ea typeface="Montserrat"/>
                <a:cs typeface="Montserrat"/>
                <a:sym typeface="Montserrat"/>
              </a:rPr>
              <a:t>, we are pleased to submit this proposal for the design and development of a custom mobile application tailored to Racing Queensland current and future needs. The application is envisioned to be a comprehensive digital platform that enhances user engagement, delivers real-time racing content, and offers a seamless, intuitive experience to racing enthusiasts and stakeholders alike with following objectives: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1000"/>
              </a:spcBef>
              <a:spcAft>
                <a:spcPts val="0"/>
              </a:spcAft>
              <a:buClr>
                <a:schemeClr val="accent1"/>
              </a:buClr>
              <a:buSzPts val="1100"/>
              <a:buFont typeface="Montserrat"/>
              <a:buChar char="●"/>
            </a:pPr>
            <a:r>
              <a:rPr b="0" i="0" lang="en" sz="1100" u="none" cap="none" strike="noStrike">
                <a:solidFill>
                  <a:schemeClr val="dk1"/>
                </a:solidFill>
                <a:latin typeface="Montserrat"/>
                <a:ea typeface="Montserrat"/>
                <a:cs typeface="Montserrat"/>
                <a:sym typeface="Montserrat"/>
              </a:rPr>
              <a:t>Develop a robust admin portal that empowers seamless content management and real-time updates.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chemeClr val="dk1"/>
                </a:solidFill>
                <a:latin typeface="Montserrat"/>
                <a:ea typeface="Montserrat"/>
                <a:cs typeface="Montserrat"/>
                <a:sym typeface="Montserrat"/>
              </a:rPr>
              <a:t>Seamlessly embed live race videos and TAB replays with adaptive streaming for smooth playback on all networks.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chemeClr val="dk1"/>
                </a:solidFill>
                <a:latin typeface="Montserrat"/>
                <a:ea typeface="Montserrat"/>
                <a:cs typeface="Montserrat"/>
                <a:sym typeface="Montserrat"/>
              </a:rPr>
              <a:t>Enable smart filtering, contextual search, and Blackbook tracking with real-time push alerts for favorite runners and jockeys.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chemeClr val="dk1"/>
                </a:solidFill>
                <a:latin typeface="Montserrat"/>
                <a:ea typeface="Montserrat"/>
                <a:cs typeface="Montserrat"/>
                <a:sym typeface="Montserrat"/>
              </a:rPr>
              <a:t>Allow users to access and export steward and sectional data in multiple formats (CSV, PDF, print) directly from the app.</a:t>
            </a:r>
            <a:endParaRPr b="0" i="0" sz="1100" u="none" cap="none" strike="noStrike">
              <a:solidFill>
                <a:schemeClr val="dk1"/>
              </a:solidFill>
              <a:latin typeface="Montserrat"/>
              <a:ea typeface="Montserrat"/>
              <a:cs typeface="Montserrat"/>
              <a:sym typeface="Montserrat"/>
            </a:endParaRPr>
          </a:p>
          <a:p>
            <a:pPr indent="0" lvl="0" marL="0" marR="0" rtl="0" algn="l">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As a strategic technology partner with proven expertise in UX design and end-to-end mobile app development, </a:t>
            </a:r>
            <a:r>
              <a:rPr b="1" i="0" lang="en" sz="1100" u="none" cap="none" strike="noStrike">
                <a:solidFill>
                  <a:schemeClr val="accent1"/>
                </a:solidFill>
                <a:latin typeface="Montserrat"/>
                <a:ea typeface="Montserrat"/>
                <a:cs typeface="Montserrat"/>
                <a:sym typeface="Montserrat"/>
              </a:rPr>
              <a:t>TO THE NEW (TTN)</a:t>
            </a:r>
            <a:r>
              <a:rPr b="0" i="0" lang="en" sz="1100" u="none" cap="none" strike="noStrike">
                <a:solidFill>
                  <a:schemeClr val="dk1"/>
                </a:solidFill>
                <a:latin typeface="Montserrat"/>
                <a:ea typeface="Montserrat"/>
                <a:cs typeface="Montserrat"/>
                <a:sym typeface="Montserrat"/>
              </a:rPr>
              <a:t> are well-positioned to bring this vision to life.  This proposal outlines our understanding of project requirements , a high level view of technical solution and approach followed by the project plan and commercials.</a:t>
            </a:r>
            <a:endParaRPr b="0" i="0" sz="1100" u="none" cap="none" strike="noStrike">
              <a:solidFill>
                <a:schemeClr val="dk1"/>
              </a:solidFill>
              <a:latin typeface="Montserrat"/>
              <a:ea typeface="Montserrat"/>
              <a:cs typeface="Montserrat"/>
              <a:sym typeface="Montserrat"/>
            </a:endParaRPr>
          </a:p>
        </p:txBody>
      </p:sp>
      <p:cxnSp>
        <p:nvCxnSpPr>
          <p:cNvPr id="142" name="Google Shape;142;p3"/>
          <p:cNvCxnSpPr/>
          <p:nvPr/>
        </p:nvCxnSpPr>
        <p:spPr>
          <a:xfrm flipH="1">
            <a:off x="242444" y="754971"/>
            <a:ext cx="3900" cy="4102800"/>
          </a:xfrm>
          <a:prstGeom prst="straightConnector1">
            <a:avLst/>
          </a:prstGeom>
          <a:noFill/>
          <a:ln cap="flat" cmpd="sng" w="19050">
            <a:solidFill>
              <a:srgbClr val="12519C"/>
            </a:solidFill>
            <a:prstDash val="solid"/>
            <a:round/>
            <a:headEnd len="sm" w="sm" type="none"/>
            <a:tailEnd len="sm" w="sm" type="none"/>
          </a:ln>
        </p:spPr>
      </p:cxnSp>
      <p:sp>
        <p:nvSpPr>
          <p:cNvPr id="143" name="Google Shape;143;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Why TTN?</a:t>
            </a:r>
            <a:endParaRPr/>
          </a:p>
        </p:txBody>
      </p:sp>
      <p:sp>
        <p:nvSpPr>
          <p:cNvPr id="150" name="Google Shape;150;p4"/>
          <p:cNvSpPr/>
          <p:nvPr/>
        </p:nvSpPr>
        <p:spPr>
          <a:xfrm>
            <a:off x="474900" y="910600"/>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Proven UX &amp; Mobile Expertise</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We specialize in building intuitive, high-performance mobile applications with seamless user journeys - critical for customer engagement and retention.</a:t>
            </a:r>
            <a:endParaRPr b="0" i="0" sz="1100" u="none" cap="none" strike="noStrike">
              <a:solidFill>
                <a:schemeClr val="dk1"/>
              </a:solidFill>
              <a:latin typeface="Montserrat"/>
              <a:ea typeface="Montserrat"/>
              <a:cs typeface="Montserrat"/>
              <a:sym typeface="Montserrat"/>
            </a:endParaRPr>
          </a:p>
        </p:txBody>
      </p:sp>
      <p:sp>
        <p:nvSpPr>
          <p:cNvPr id="151" name="Google Shape;151;p4"/>
          <p:cNvSpPr/>
          <p:nvPr/>
        </p:nvSpPr>
        <p:spPr>
          <a:xfrm>
            <a:off x="4755004" y="910600"/>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Domain-Focused Delivery</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extensive experience in iGaming with real-time data integration, media streaming, and interactive user features aligns perfectly with your racing platform requirements.</a:t>
            </a:r>
            <a:endParaRPr b="0" i="0" sz="1100" u="none" cap="none" strike="noStrike">
              <a:solidFill>
                <a:schemeClr val="dk1"/>
              </a:solidFill>
              <a:latin typeface="Montserrat"/>
              <a:ea typeface="Montserrat"/>
              <a:cs typeface="Montserrat"/>
              <a:sym typeface="Montserrat"/>
            </a:endParaRPr>
          </a:p>
        </p:txBody>
      </p:sp>
      <p:sp>
        <p:nvSpPr>
          <p:cNvPr id="152" name="Google Shape;152;p4"/>
          <p:cNvSpPr/>
          <p:nvPr/>
        </p:nvSpPr>
        <p:spPr>
          <a:xfrm>
            <a:off x="474900" y="2900036"/>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End-to-End Ownership</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From design and development to deployment and support, we provide full-cycle mobile app services- ensuring speed, quality, and continuity.</a:t>
            </a:r>
            <a:endParaRPr b="0" i="0" sz="1100" u="none" cap="none" strike="noStrike">
              <a:solidFill>
                <a:schemeClr val="dk1"/>
              </a:solidFill>
              <a:latin typeface="Montserrat"/>
              <a:ea typeface="Montserrat"/>
              <a:cs typeface="Montserrat"/>
              <a:sym typeface="Montserrat"/>
            </a:endParaRPr>
          </a:p>
        </p:txBody>
      </p:sp>
      <p:sp>
        <p:nvSpPr>
          <p:cNvPr id="153" name="Google Shape;153;p4"/>
          <p:cNvSpPr/>
          <p:nvPr/>
        </p:nvSpPr>
        <p:spPr>
          <a:xfrm>
            <a:off x="4755004" y="2900036"/>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Scalable Architecture</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solutions are designed to grow with your user base, ensuring performance and reliability under peak traffic conditions</a:t>
            </a:r>
            <a:endParaRPr b="0" i="0" sz="1100" u="none" cap="none" strike="noStrike">
              <a:solidFill>
                <a:schemeClr val="dk1"/>
              </a:solidFill>
              <a:latin typeface="Montserrat"/>
              <a:ea typeface="Montserrat"/>
              <a:cs typeface="Montserrat"/>
              <a:sym typeface="Montserrat"/>
            </a:endParaRPr>
          </a:p>
        </p:txBody>
      </p:sp>
      <p:sp>
        <p:nvSpPr>
          <p:cNvPr id="154" name="Google Shape;154;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5"/>
          <p:cNvSpPr/>
          <p:nvPr/>
        </p:nvSpPr>
        <p:spPr>
          <a:xfrm>
            <a:off x="223850" y="640050"/>
            <a:ext cx="8690100" cy="40956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160" name="Google Shape;160;p5"/>
          <p:cNvCxnSpPr/>
          <p:nvPr/>
        </p:nvCxnSpPr>
        <p:spPr>
          <a:xfrm>
            <a:off x="246344" y="650407"/>
            <a:ext cx="0" cy="4095600"/>
          </a:xfrm>
          <a:prstGeom prst="straightConnector1">
            <a:avLst/>
          </a:prstGeom>
          <a:noFill/>
          <a:ln cap="flat" cmpd="sng" w="19050">
            <a:solidFill>
              <a:srgbClr val="12519C"/>
            </a:solidFill>
            <a:prstDash val="solid"/>
            <a:round/>
            <a:headEnd len="sm" w="sm" type="none"/>
            <a:tailEnd len="sm" w="sm" type="none"/>
          </a:ln>
        </p:spPr>
      </p:cxnSp>
      <p:sp>
        <p:nvSpPr>
          <p:cNvPr id="161" name="Google Shape;161;p5"/>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Our Understanding of Requirements</a:t>
            </a:r>
            <a:endParaRPr/>
          </a:p>
        </p:txBody>
      </p:sp>
      <p:sp>
        <p:nvSpPr>
          <p:cNvPr id="162" name="Google Shape;162;p5"/>
          <p:cNvSpPr txBox="1"/>
          <p:nvPr/>
        </p:nvSpPr>
        <p:spPr>
          <a:xfrm>
            <a:off x="258325" y="782225"/>
            <a:ext cx="8127900" cy="3924900"/>
          </a:xfrm>
          <a:prstGeom prst="rect">
            <a:avLst/>
          </a:prstGeom>
          <a:noFill/>
          <a:ln>
            <a:noFill/>
          </a:ln>
        </p:spPr>
        <p:txBody>
          <a:bodyPr anchorCtr="0" anchor="t" bIns="91425" lIns="91425" spcFirstLastPara="1" rIns="91425" wrap="square" tIns="91425">
            <a:spAutoFit/>
          </a:bodyPr>
          <a:lstStyle/>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Enable User Access Features such as Registration, Login, and Forgot Password.</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Allow User to Race Calendar to support real-time race schedules and results display</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Provide View Screens for Track, Jockey/Trainer, Runner Profiles.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Allow users to Search, Filter and View Past and Upcoming race details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List Premiership details.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Allow users  to add favorite runners or Jockey/Trainers to their Blackbook</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Provide View Screens to support real-time race results.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Integrate live video streaming of races and TAB race replays functionality.</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Provide push notifications for race alerts and updates.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Offer betting partner redirection with deep linking.</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Admin portal for managing content and updates.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News Items.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Provide sections for Steward and Sectional Report Data Export via Mobile App (csv, pdf, print).</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Provide Business Awareness pages such as  Ownership, Career &amp; Training, Infrastructure, Open API details etc.</a:t>
            </a:r>
            <a:endParaRPr b="0" i="0" sz="900" u="none" cap="none" strike="noStrike">
              <a:solidFill>
                <a:srgbClr val="000000"/>
              </a:solidFill>
              <a:latin typeface="Montserrat"/>
              <a:ea typeface="Montserrat"/>
              <a:cs typeface="Montserrat"/>
              <a:sym typeface="Montserrat"/>
            </a:endParaRPr>
          </a:p>
        </p:txBody>
      </p:sp>
      <p:sp>
        <p:nvSpPr>
          <p:cNvPr id="163" name="Google Shape;163;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164" name="Google Shape;164;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Application Modules </a:t>
            </a:r>
            <a:endParaRPr>
              <a:solidFill>
                <a:schemeClr val="dk1"/>
              </a:solidFill>
            </a:endParaRPr>
          </a:p>
        </p:txBody>
      </p:sp>
      <p:sp>
        <p:nvSpPr>
          <p:cNvPr id="170" name="Google Shape;170;p6"/>
          <p:cNvSpPr/>
          <p:nvPr/>
        </p:nvSpPr>
        <p:spPr>
          <a:xfrm>
            <a:off x="3204902"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Races &amp; Profiles </a:t>
            </a:r>
            <a:endParaRPr b="0" i="0" sz="11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Filter, Past and Upcoming Races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View Profile Pages for Tracks, Jockeys, Trainers, and Runners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sp>
        <p:nvSpPr>
          <p:cNvPr id="171" name="Google Shape;171;p6"/>
          <p:cNvSpPr/>
          <p:nvPr/>
        </p:nvSpPr>
        <p:spPr>
          <a:xfrm>
            <a:off x="299125"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User Access &amp; Account Management</a:t>
            </a:r>
            <a:r>
              <a:rPr b="0" i="0" lang="en" sz="1100" u="none" cap="none" strike="noStrike">
                <a:solidFill>
                  <a:srgbClr val="6F3A93"/>
                </a:solidFill>
                <a:latin typeface="Montserrat SemiBold"/>
                <a:ea typeface="Montserrat SemiBold"/>
                <a:cs typeface="Montserrat SemiBold"/>
                <a:sym typeface="Montserrat SemiBold"/>
              </a:rPr>
              <a:t> </a:t>
            </a:r>
            <a:endParaRPr b="0" i="0" sz="14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Registration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Login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Forgot Password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Account Details </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Add Jockeys and Trainers  to Blackbook</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Blackbook Activities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172" name="Google Shape;172;p6"/>
          <p:cNvCxnSpPr/>
          <p:nvPr/>
        </p:nvCxnSpPr>
        <p:spPr>
          <a:xfrm>
            <a:off x="299130" y="706238"/>
            <a:ext cx="0" cy="2007300"/>
          </a:xfrm>
          <a:prstGeom prst="straightConnector1">
            <a:avLst/>
          </a:prstGeom>
          <a:noFill/>
          <a:ln cap="flat" cmpd="sng" w="19050">
            <a:solidFill>
              <a:srgbClr val="12519C"/>
            </a:solidFill>
            <a:prstDash val="solid"/>
            <a:round/>
            <a:headEnd len="sm" w="sm" type="none"/>
            <a:tailEnd len="sm" w="sm" type="none"/>
          </a:ln>
        </p:spPr>
      </p:cxnSp>
      <p:cxnSp>
        <p:nvCxnSpPr>
          <p:cNvPr id="173" name="Google Shape;173;p6"/>
          <p:cNvCxnSpPr/>
          <p:nvPr/>
        </p:nvCxnSpPr>
        <p:spPr>
          <a:xfrm>
            <a:off x="3204907" y="706238"/>
            <a:ext cx="0" cy="2007300"/>
          </a:xfrm>
          <a:prstGeom prst="straightConnector1">
            <a:avLst/>
          </a:prstGeom>
          <a:noFill/>
          <a:ln cap="flat" cmpd="sng" w="19050">
            <a:solidFill>
              <a:srgbClr val="12519C"/>
            </a:solidFill>
            <a:prstDash val="solid"/>
            <a:round/>
            <a:headEnd len="sm" w="sm" type="none"/>
            <a:tailEnd len="sm" w="sm" type="none"/>
          </a:ln>
        </p:spPr>
      </p:cxnSp>
      <p:sp>
        <p:nvSpPr>
          <p:cNvPr id="174" name="Google Shape;174;p6"/>
          <p:cNvSpPr/>
          <p:nvPr/>
        </p:nvSpPr>
        <p:spPr>
          <a:xfrm>
            <a:off x="6110675" y="70492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a:t>
            </a:r>
            <a:r>
              <a:rPr b="0" i="0" lang="en" sz="1000" u="none" cap="none" strike="noStrike">
                <a:solidFill>
                  <a:schemeClr val="accent3"/>
                </a:solidFill>
                <a:latin typeface="Montserrat SemiBold"/>
                <a:ea typeface="Montserrat SemiBold"/>
                <a:cs typeface="Montserrat SemiBold"/>
                <a:sym typeface="Montserrat SemiBold"/>
              </a:rPr>
              <a:t> Calendar &amp; Planner</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Race Details  for Upcoming and Past Races using the Race Calendar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Filter and Export Race Details using Race Planner</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175" name="Google Shape;175;p6"/>
          <p:cNvCxnSpPr/>
          <p:nvPr/>
        </p:nvCxnSpPr>
        <p:spPr>
          <a:xfrm>
            <a:off x="6110681" y="704925"/>
            <a:ext cx="0" cy="2007300"/>
          </a:xfrm>
          <a:prstGeom prst="straightConnector1">
            <a:avLst/>
          </a:prstGeom>
          <a:noFill/>
          <a:ln cap="flat" cmpd="sng" w="19050">
            <a:solidFill>
              <a:srgbClr val="12519C"/>
            </a:solidFill>
            <a:prstDash val="solid"/>
            <a:round/>
            <a:headEnd len="sm" w="sm" type="none"/>
            <a:tailEnd len="sm" w="sm" type="none"/>
          </a:ln>
        </p:spPr>
      </p:cxnSp>
      <p:sp>
        <p:nvSpPr>
          <p:cNvPr id="176" name="Google Shape;176;p6"/>
          <p:cNvSpPr/>
          <p:nvPr/>
        </p:nvSpPr>
        <p:spPr>
          <a:xfrm>
            <a:off x="299125"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Races, Results &amp; </a:t>
            </a:r>
            <a:r>
              <a:rPr b="0" i="0" lang="en" sz="1000" u="none" cap="none" strike="noStrike">
                <a:solidFill>
                  <a:srgbClr val="6F3A93"/>
                </a:solidFill>
                <a:latin typeface="Montserrat SemiBold"/>
                <a:ea typeface="Montserrat SemiBold"/>
                <a:cs typeface="Montserrat SemiBold"/>
                <a:sym typeface="Montserrat SemiBold"/>
              </a:rPr>
              <a:t>Replays</a:t>
            </a:r>
            <a:r>
              <a:rPr b="0" i="0" lang="en" sz="1000" u="none" cap="none" strike="noStrike">
                <a:solidFill>
                  <a:schemeClr val="accent3"/>
                </a:solidFill>
                <a:latin typeface="Montserrat SemiBold"/>
                <a:ea typeface="Montserrat SemiBold"/>
                <a:cs typeface="Montserrat SemiBold"/>
                <a:sym typeface="Montserrat SemiBold"/>
              </a:rPr>
              <a:t>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Stream Races and Replay Feeds in-app  from Betting Partners.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Redirect to Queensland Non-TAB Racing  YouTube channel to Stream Replay Feeds from other sources..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Show Real-Time Race Results.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and Download Steward and Sectional Reports.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177" name="Google Shape;177;p6"/>
          <p:cNvCxnSpPr/>
          <p:nvPr/>
        </p:nvCxnSpPr>
        <p:spPr>
          <a:xfrm>
            <a:off x="299130"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178" name="Google Shape;178;p6"/>
          <p:cNvSpPr/>
          <p:nvPr/>
        </p:nvSpPr>
        <p:spPr>
          <a:xfrm>
            <a:off x="3204902"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Premiership Details &amp; Reports</a:t>
            </a:r>
            <a:endParaRPr b="0" i="0" sz="11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List Premiership Rankings and Statistics such as wins, placings, prize money earned and total starts for each participant.</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Filter Premiership Details based on for different categories, like Metro, Provincial, and Country Premierships for Trainers, Jockeys, and Apprentices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&amp; Download Premiership Reports.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179" name="Google Shape;179;p6"/>
          <p:cNvCxnSpPr/>
          <p:nvPr/>
        </p:nvCxnSpPr>
        <p:spPr>
          <a:xfrm>
            <a:off x="3204907"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180" name="Google Shape;180;p6"/>
          <p:cNvSpPr/>
          <p:nvPr/>
        </p:nvSpPr>
        <p:spPr>
          <a:xfrm>
            <a:off x="6110675" y="294136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News</a:t>
            </a:r>
            <a:r>
              <a:rPr b="0" i="0" lang="en" sz="1000" u="none" cap="none" strike="noStrike">
                <a:solidFill>
                  <a:srgbClr val="6F3A93"/>
                </a:solidFill>
                <a:latin typeface="Montserrat SemiBold"/>
                <a:ea typeface="Montserrat SemiBold"/>
                <a:cs typeface="Montserrat SemiBold"/>
                <a:sym typeface="Montserrat SemiBold"/>
              </a:rPr>
              <a:t> </a:t>
            </a:r>
            <a:r>
              <a:rPr b="0" i="0" lang="en" sz="1000" u="none" cap="none" strike="noStrike">
                <a:solidFill>
                  <a:schemeClr val="accent3"/>
                </a:solidFill>
                <a:latin typeface="Montserrat SemiBold"/>
                <a:ea typeface="Montserrat SemiBold"/>
                <a:cs typeface="Montserrat SemiBold"/>
                <a:sym typeface="Montserrat SemiBold"/>
              </a:rPr>
              <a:t>&amp; Notifications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Racing News Items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Business Awareness pages such as Ownership, Career &amp; Training, Infrastructure, Open API details etc.</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Get Push Notifications for Race Alerts &amp; Updates.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181" name="Google Shape;181;p6"/>
          <p:cNvCxnSpPr/>
          <p:nvPr/>
        </p:nvCxnSpPr>
        <p:spPr>
          <a:xfrm>
            <a:off x="6110681" y="2941365"/>
            <a:ext cx="0" cy="2007300"/>
          </a:xfrm>
          <a:prstGeom prst="straightConnector1">
            <a:avLst/>
          </a:prstGeom>
          <a:noFill/>
          <a:ln cap="flat" cmpd="sng" w="19050">
            <a:solidFill>
              <a:srgbClr val="12519C"/>
            </a:solidFill>
            <a:prstDash val="solid"/>
            <a:round/>
            <a:headEnd len="sm" w="sm" type="none"/>
            <a:tailEnd len="sm" w="sm" type="none"/>
          </a:ln>
        </p:spPr>
      </p:cxnSp>
      <p:sp>
        <p:nvSpPr>
          <p:cNvPr id="182" name="Google Shape;182;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7"/>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188" name="Google Shape;188;p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189" name="Google Shape;189;p7"/>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pPr indent="-228600" lvl="0" marL="342900" marR="0" rtl="0" algn="l">
              <a:lnSpc>
                <a:spcPct val="150000"/>
              </a:lnSpc>
              <a:spcBef>
                <a:spcPts val="0"/>
              </a:spcBef>
              <a:spcAft>
                <a:spcPts val="0"/>
              </a:spcAft>
              <a:buClr>
                <a:schemeClr val="accent1"/>
              </a:buClr>
              <a:buSzPts val="1000"/>
              <a:buFont typeface="Montserrat"/>
              <a:buChar char="●"/>
            </a:pPr>
            <a:r>
              <a:rPr b="1" i="0" lang="en" sz="1000" u="none" cap="none" strike="noStrike">
                <a:solidFill>
                  <a:schemeClr val="accent1"/>
                </a:solidFill>
                <a:latin typeface="Montserrat"/>
                <a:ea typeface="Montserrat"/>
                <a:cs typeface="Montserrat"/>
                <a:sym typeface="Montserrat"/>
              </a:rPr>
              <a:t>Architecture &amp; Code Quality</a:t>
            </a:r>
            <a:endParaRPr b="1" i="0" sz="1000" u="none" cap="none" strike="noStrike">
              <a:solidFill>
                <a:schemeClr val="accent1"/>
              </a:solidFill>
              <a:latin typeface="Montserrat"/>
              <a:ea typeface="Montserrat"/>
              <a:cs typeface="Montserrat"/>
              <a:sym typeface="Montserra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A cross-platform mobile application will be developed using a modular architecture approach.</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The codebase will follow modular principles and separation of concerns to support future enhancements and maintain a scalable, loosely coupled architecture.</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Google and Apple recommended architectural guidelines will be followed to ensure the solution is scalable and future-ready.</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The app will be lightweight and built using API-driven development principles to ensure performance and responsiveness.</a:t>
            </a:r>
            <a:br>
              <a:rPr b="0" i="0" lang="en" sz="900" u="none" cap="none" strike="noStrike">
                <a:solidFill>
                  <a:schemeClr val="dk1"/>
                </a:solidFill>
                <a:latin typeface="Montserrat Light"/>
                <a:ea typeface="Montserrat Light"/>
                <a:cs typeface="Montserrat Light"/>
                <a:sym typeface="Montserrat Light"/>
              </a:rPr>
            </a:br>
            <a:endParaRPr b="0" i="0" sz="900" u="none" cap="none" strike="noStrike">
              <a:solidFill>
                <a:schemeClr val="dk1"/>
              </a:solidFill>
              <a:latin typeface="Montserrat Light"/>
              <a:ea typeface="Montserrat Light"/>
              <a:cs typeface="Montserrat Light"/>
              <a:sym typeface="Montserrat Light"/>
            </a:endParaRPr>
          </a:p>
          <a:p>
            <a:pPr indent="-228600" lvl="0" marL="342900" marR="0" rtl="0" algn="l">
              <a:lnSpc>
                <a:spcPct val="150000"/>
              </a:lnSpc>
              <a:spcBef>
                <a:spcPts val="0"/>
              </a:spcBef>
              <a:spcAft>
                <a:spcPts val="0"/>
              </a:spcAft>
              <a:buClr>
                <a:schemeClr val="accent1"/>
              </a:buClr>
              <a:buSzPts val="1000"/>
              <a:buFont typeface="Montserrat Light"/>
              <a:buChar char="●"/>
            </a:pPr>
            <a:r>
              <a:rPr b="1" i="0" lang="en" sz="1000" u="none" cap="none" strike="noStrike">
                <a:solidFill>
                  <a:schemeClr val="accent1"/>
                </a:solidFill>
                <a:latin typeface="Montserrat"/>
                <a:ea typeface="Montserrat"/>
                <a:cs typeface="Montserrat"/>
                <a:sym typeface="Montserrat"/>
              </a:rPr>
              <a:t>User Experience &amp; Design</a:t>
            </a:r>
            <a:endParaRPr b="0" i="0" sz="1000" u="none" cap="none" strike="noStrike">
              <a:solidFill>
                <a:schemeClr val="dk1"/>
              </a:solidFill>
              <a:latin typeface="Montserrat Medium"/>
              <a:ea typeface="Montserrat Medium"/>
              <a:cs typeface="Montserrat Medium"/>
              <a:sym typeface="Montserrat Medium"/>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Development best practices will be implemented to ensure compatibility with screen sizes of 4.5” and above.</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Usability testing will be conducted to ensure a seamless and enriched user experience for any UeX changes.</a:t>
            </a:r>
            <a:br>
              <a:rPr b="0" i="0" lang="en" sz="900" u="none" cap="none" strike="noStrike">
                <a:solidFill>
                  <a:schemeClr val="dk1"/>
                </a:solidFill>
                <a:latin typeface="Montserrat Light"/>
                <a:ea typeface="Montserrat Light"/>
                <a:cs typeface="Montserrat Light"/>
                <a:sym typeface="Montserrat Light"/>
              </a:rPr>
            </a:br>
            <a:endParaRPr b="0" i="0" sz="900" u="none" cap="none" strike="noStrike">
              <a:solidFill>
                <a:schemeClr val="dk1"/>
              </a:solidFill>
              <a:latin typeface="Montserrat Light"/>
              <a:ea typeface="Montserrat Light"/>
              <a:cs typeface="Montserrat Light"/>
              <a:sym typeface="Montserrat Light"/>
            </a:endParaRPr>
          </a:p>
          <a:p>
            <a:pPr indent="-228600" lvl="0" marL="342900" marR="0" rtl="0" algn="l">
              <a:lnSpc>
                <a:spcPct val="150000"/>
              </a:lnSpc>
              <a:spcBef>
                <a:spcPts val="0"/>
              </a:spcBef>
              <a:spcAft>
                <a:spcPts val="0"/>
              </a:spcAft>
              <a:buClr>
                <a:schemeClr val="accent1"/>
              </a:buClr>
              <a:buSzPts val="1000"/>
              <a:buFont typeface="Montserrat Light"/>
              <a:buChar char="●"/>
            </a:pPr>
            <a:r>
              <a:rPr b="1" i="0" lang="en" sz="1000" u="none" cap="none" strike="noStrike">
                <a:solidFill>
                  <a:schemeClr val="accent1"/>
                </a:solidFill>
                <a:latin typeface="Montserrat"/>
                <a:ea typeface="Montserrat"/>
                <a:cs typeface="Montserrat"/>
                <a:sym typeface="Montserrat"/>
              </a:rPr>
              <a:t>Security &amp; Compliance</a:t>
            </a:r>
            <a:endParaRPr b="0" i="0" sz="10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All personal and sensitive data (e.g., donation information) will be securely stored, both at rest and in transit, using industry-standard encryption practices.</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The application will adhere to the latest Google Play and Apple App Store policies to ensure successful deployment and avoid rejection or delisting.</a:t>
            </a:r>
            <a:br>
              <a:rPr b="0" i="0" lang="en" sz="900" u="none" cap="none" strike="noStrike">
                <a:solidFill>
                  <a:schemeClr val="dk1"/>
                </a:solidFill>
                <a:latin typeface="Montserrat Light"/>
                <a:ea typeface="Montserrat Light"/>
                <a:cs typeface="Montserrat Light"/>
                <a:sym typeface="Montserrat Light"/>
              </a:rPr>
            </a:br>
            <a:endParaRPr b="0" i="0" sz="900" u="none" cap="none" strike="noStrike">
              <a:solidFill>
                <a:schemeClr val="dk1"/>
              </a:solidFill>
              <a:latin typeface="Montserrat Light"/>
              <a:ea typeface="Montserrat Light"/>
              <a:cs typeface="Montserrat Light"/>
              <a:sym typeface="Montserrat Light"/>
            </a:endParaRPr>
          </a:p>
        </p:txBody>
      </p:sp>
      <p:cxnSp>
        <p:nvCxnSpPr>
          <p:cNvPr id="190" name="Google Shape;190;p7"/>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191" name="Google Shape;191;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197" name="Google Shape;197;p8"/>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198" name="Google Shape;198;p8"/>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pPr indent="-228600" lvl="0" marL="342900" marR="0" rtl="0" algn="l">
              <a:lnSpc>
                <a:spcPct val="150000"/>
              </a:lnSpc>
              <a:spcBef>
                <a:spcPts val="0"/>
              </a:spcBef>
              <a:spcAft>
                <a:spcPts val="0"/>
              </a:spcAft>
              <a:buClr>
                <a:schemeClr val="accent1"/>
              </a:buClr>
              <a:buSzPts val="1000"/>
              <a:buFont typeface="Montserrat Light"/>
              <a:buChar char="●"/>
            </a:pPr>
            <a:r>
              <a:rPr b="1" i="0" lang="en" sz="1000" u="none" cap="none" strike="noStrike">
                <a:solidFill>
                  <a:schemeClr val="accent1"/>
                </a:solidFill>
                <a:latin typeface="Montserrat"/>
                <a:ea typeface="Montserrat"/>
                <a:cs typeface="Montserrat"/>
                <a:sym typeface="Montserrat"/>
              </a:rPr>
              <a:t>Reliability &amp; Monitoring</a:t>
            </a:r>
            <a:endParaRPr b="1" i="0" sz="1000" u="none" cap="none" strike="noStrike">
              <a:solidFill>
                <a:schemeClr val="accent1"/>
              </a:solidFill>
              <a:latin typeface="Montserrat"/>
              <a:ea typeface="Montserrat"/>
              <a:cs typeface="Montserrat"/>
              <a:sym typeface="Montserra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The app will be designed to recover gracefully from unexpected errors to maintain a consistent user experience.</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Logging and monitoring tools will be integrated to capture crashes, errors, and app usage analytics for continuous improvement.</a:t>
            </a:r>
            <a:endParaRPr b="0" i="0" sz="900" u="none" cap="none" strike="noStrike">
              <a:solidFill>
                <a:schemeClr val="dk1"/>
              </a:solidFill>
              <a:latin typeface="Montserrat Light"/>
              <a:ea typeface="Montserrat Light"/>
              <a:cs typeface="Montserrat Light"/>
              <a:sym typeface="Montserrat Light"/>
            </a:endParaRPr>
          </a:p>
        </p:txBody>
      </p:sp>
      <p:cxnSp>
        <p:nvCxnSpPr>
          <p:cNvPr id="199" name="Google Shape;199;p8"/>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00" name="Google Shape;200;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9"/>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9"/>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Assumptions and Dependencies</a:t>
            </a:r>
            <a:endParaRPr/>
          </a:p>
        </p:txBody>
      </p:sp>
      <p:sp>
        <p:nvSpPr>
          <p:cNvPr id="207" name="Google Shape;207;p9"/>
          <p:cNvSpPr/>
          <p:nvPr/>
        </p:nvSpPr>
        <p:spPr>
          <a:xfrm>
            <a:off x="223850" y="746325"/>
            <a:ext cx="8690100" cy="40035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121875" lIns="121875" spcFirstLastPara="1" rIns="121875" wrap="square" tIns="27425">
            <a:noAutofit/>
          </a:bodyPr>
          <a:lstStyle/>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The app will be built on </a:t>
            </a:r>
            <a:r>
              <a:rPr b="0" i="0" lang="en" sz="900" u="none" cap="none" strike="noStrike">
                <a:solidFill>
                  <a:schemeClr val="dk1"/>
                </a:solidFill>
                <a:latin typeface="Montserrat"/>
                <a:ea typeface="Montserrat"/>
                <a:cs typeface="Montserrat"/>
                <a:sym typeface="Montserrat"/>
              </a:rPr>
              <a:t>Cross-Platform tech stack (</a:t>
            </a:r>
            <a:r>
              <a:rPr b="0" i="0" lang="en" sz="900" u="none" cap="none" strike="noStrike">
                <a:solidFill>
                  <a:srgbClr val="000000"/>
                </a:solidFill>
                <a:latin typeface="Montserrat"/>
                <a:ea typeface="Montserrat"/>
                <a:cs typeface="Montserrat"/>
                <a:sym typeface="Montserrat"/>
              </a:rPr>
              <a:t>Flutter or React Native)</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Tech Stack will be finalised during the initial 2 weeks of discovery with understanding of current Racing Queensland tech ecosystem to ensure the selected solution is scalable, robust, and resilient for future needs.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All the necessary approvals and access to the critical systems required for this engagement will be provided by the Racing Queensland team.</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Availability of SMEs and key stakeholders during Discovery, Designs sign off, Sprint demos, UAT and Go-live  from Racing Queensland is required.</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Existing backend services from the current web app will be reused, new API development is not considered.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APIs will provide direct playable video links, if low-latency HLS support is required</a:t>
            </a:r>
            <a:r>
              <a:rPr b="0" i="0" lang="en" sz="900" u="none" cap="none" strike="noStrike">
                <a:solidFill>
                  <a:schemeClr val="dk1"/>
                </a:solidFill>
                <a:latin typeface="Montserrat"/>
                <a:ea typeface="Montserrat"/>
                <a:cs typeface="Montserrat"/>
                <a:sym typeface="Montserrat"/>
              </a:rPr>
              <a:t> additional third-party player/library will be integrated.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Any necessary </a:t>
            </a:r>
            <a:r>
              <a:rPr b="0" i="0" lang="en" sz="900" u="none" cap="none" strike="noStrike">
                <a:solidFill>
                  <a:schemeClr val="dk1"/>
                </a:solidFill>
                <a:latin typeface="Montserrat"/>
                <a:ea typeface="Montserrat"/>
                <a:cs typeface="Montserrat"/>
                <a:sym typeface="Montserrat"/>
              </a:rPr>
              <a:t>regulatory </a:t>
            </a:r>
            <a:r>
              <a:rPr b="0" i="0" lang="en" sz="900" u="none" cap="none" strike="noStrike">
                <a:solidFill>
                  <a:srgbClr val="000000"/>
                </a:solidFill>
                <a:latin typeface="Montserrat"/>
                <a:ea typeface="Montserrat"/>
                <a:cs typeface="Montserrat"/>
                <a:sym typeface="Montserrat"/>
              </a:rPr>
              <a:t>approvals will be secured within 1–2 weeks.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Key user interactions (e.g., clicks, page views) will be tracked via analytics. We have considered 25 events in our scope.</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The following sections will load via web views only.(e.g. Animal Welfare, Ownership, Career &amp; Training, Infrastructure, About)</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All third-party license costs are not considered in scope.</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The app will mirror the current web application, functional changes will require separate effort and approval.</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Support for all screen size of 4.5” and above</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OS support for iOS - 13.0 and above, and Android - 11 and above.</a:t>
            </a:r>
            <a:endParaRPr b="0" i="0" sz="900" u="none" cap="none" strike="noStrike">
              <a:solidFill>
                <a:schemeClr val="dk1"/>
              </a:solidFill>
              <a:latin typeface="Montserrat"/>
              <a:ea typeface="Montserrat"/>
              <a:cs typeface="Montserrat"/>
              <a:sym typeface="Montserrat"/>
            </a:endParaRPr>
          </a:p>
        </p:txBody>
      </p:sp>
      <p:cxnSp>
        <p:nvCxnSpPr>
          <p:cNvPr id="208" name="Google Shape;208;p9"/>
          <p:cNvCxnSpPr/>
          <p:nvPr/>
        </p:nvCxnSpPr>
        <p:spPr>
          <a:xfrm flipH="1">
            <a:off x="243425" y="736325"/>
            <a:ext cx="10200" cy="3997800"/>
          </a:xfrm>
          <a:prstGeom prst="straightConnector1">
            <a:avLst/>
          </a:prstGeom>
          <a:noFill/>
          <a:ln cap="flat" cmpd="sng" w="19050">
            <a:solidFill>
              <a:srgbClr val="12519C"/>
            </a:solidFill>
            <a:prstDash val="solid"/>
            <a:round/>
            <a:headEnd len="sm" w="sm" type="none"/>
            <a:tailEnd len="sm" w="sm" type="none"/>
          </a:ln>
        </p:spPr>
      </p:cxnSp>
      <p:sp>
        <p:nvSpPr>
          <p:cNvPr id="209" name="Google Shape;209;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0"/>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In Scope and Out of Scope</a:t>
            </a:r>
            <a:endParaRPr/>
          </a:p>
        </p:txBody>
      </p:sp>
      <p:sp>
        <p:nvSpPr>
          <p:cNvPr id="216" name="Google Shape;216;p10"/>
          <p:cNvSpPr/>
          <p:nvPr/>
        </p:nvSpPr>
        <p:spPr>
          <a:xfrm>
            <a:off x="396575" y="1028850"/>
            <a:ext cx="4084800" cy="3675900"/>
          </a:xfrm>
          <a:prstGeom prst="snip1Rect">
            <a:avLst>
              <a:gd fmla="val 7022"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17" name="Google Shape;217;p10"/>
          <p:cNvSpPr/>
          <p:nvPr/>
        </p:nvSpPr>
        <p:spPr>
          <a:xfrm>
            <a:off x="400818" y="898163"/>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In Scope</a:t>
            </a:r>
            <a:endParaRPr b="1" i="0" sz="1100" u="none" cap="none" strike="noStrike">
              <a:solidFill>
                <a:srgbClr val="6F3A93"/>
              </a:solidFill>
              <a:latin typeface="Montserrat"/>
              <a:ea typeface="Montserrat"/>
              <a:cs typeface="Montserrat"/>
              <a:sym typeface="Montserrat"/>
            </a:endParaRPr>
          </a:p>
        </p:txBody>
      </p:sp>
      <p:sp>
        <p:nvSpPr>
          <p:cNvPr id="218" name="Google Shape;218;p10"/>
          <p:cNvSpPr/>
          <p:nvPr/>
        </p:nvSpPr>
        <p:spPr>
          <a:xfrm>
            <a:off x="4658375" y="900350"/>
            <a:ext cx="4084800" cy="3804300"/>
          </a:xfrm>
          <a:prstGeom prst="snip1Rect">
            <a:avLst>
              <a:gd fmla="val 10616"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19" name="Google Shape;219;p10"/>
          <p:cNvSpPr/>
          <p:nvPr/>
        </p:nvSpPr>
        <p:spPr>
          <a:xfrm>
            <a:off x="4662635" y="898172"/>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Not Estimated</a:t>
            </a:r>
            <a:endParaRPr b="1" i="0" sz="1100" u="none" cap="none" strike="noStrike">
              <a:solidFill>
                <a:srgbClr val="6F3A93"/>
              </a:solidFill>
              <a:latin typeface="Montserrat"/>
              <a:ea typeface="Montserrat"/>
              <a:cs typeface="Montserrat"/>
              <a:sym typeface="Montserrat"/>
            </a:endParaRPr>
          </a:p>
        </p:txBody>
      </p:sp>
      <p:sp>
        <p:nvSpPr>
          <p:cNvPr id="220" name="Google Shape;220;p10"/>
          <p:cNvSpPr txBox="1"/>
          <p:nvPr/>
        </p:nvSpPr>
        <p:spPr>
          <a:xfrm>
            <a:off x="4662575" y="1374275"/>
            <a:ext cx="4084800" cy="32748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Procurement &amp; Maintenance of Infrastructure/ servers.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Marketing and Advertising Campaigns.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Procurement of any 3rd party tools or licenses or services  involved during development (any other tools, Hosting cost).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Platform Hosting, VAPT &amp; Automation Testing*</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Training sessions will be conducted however preparation of quick start videos are not considered in the scope.*</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App distribution licencing cost - Apple Developer account (AUD 149/year) and a Google Play Console registration (AUD 35 one-time).</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*TTN has the capability to provide these services and can be offered to Racing Queensland if needed at additional costs.</a:t>
            </a:r>
            <a:endParaRPr b="0" i="0" sz="1100" u="none" cap="none" strike="noStrike">
              <a:solidFill>
                <a:srgbClr val="000000"/>
              </a:solidFill>
              <a:latin typeface="Montserrat"/>
              <a:ea typeface="Montserrat"/>
              <a:cs typeface="Montserrat"/>
              <a:sym typeface="Montserrat"/>
            </a:endParaRPr>
          </a:p>
        </p:txBody>
      </p:sp>
      <p:sp>
        <p:nvSpPr>
          <p:cNvPr id="221" name="Google Shape;221;p10"/>
          <p:cNvSpPr txBox="1"/>
          <p:nvPr/>
        </p:nvSpPr>
        <p:spPr>
          <a:xfrm>
            <a:off x="400819" y="1406088"/>
            <a:ext cx="4084800" cy="19116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Project Discovery, Design, Development and Deployment.</a:t>
            </a:r>
            <a:endParaRPr b="0" i="0" sz="1100" u="none" cap="none" strike="noStrike">
              <a:solidFill>
                <a:srgbClr val="000000"/>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000000"/>
              </a:buClr>
              <a:buSzPts val="1100"/>
              <a:buFont typeface="Montserrat"/>
              <a:buChar char="○"/>
            </a:pPr>
            <a:r>
              <a:rPr b="0" i="0" lang="en" sz="1100" u="none" cap="none" strike="noStrike">
                <a:solidFill>
                  <a:srgbClr val="000000"/>
                </a:solidFill>
                <a:latin typeface="Montserrat"/>
                <a:ea typeface="Montserrat"/>
                <a:cs typeface="Montserrat"/>
                <a:sym typeface="Montserrat"/>
              </a:rPr>
              <a:t>Mobile Application Development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UX and Visual Designs of all the screens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Manual QA Testing for the developed features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CI/CD Implementation</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UAT support and deployment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Go-Live Support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Hypercare /Warranty Support(2 Weeks)</a:t>
            </a:r>
            <a:endParaRPr b="0" i="0" sz="1100" u="none" cap="none" strike="noStrike">
              <a:solidFill>
                <a:srgbClr val="000000"/>
              </a:solidFill>
              <a:latin typeface="Montserrat"/>
              <a:ea typeface="Montserrat"/>
              <a:cs typeface="Montserrat"/>
              <a:sym typeface="Montserrat"/>
            </a:endParaRPr>
          </a:p>
        </p:txBody>
      </p:sp>
      <p:sp>
        <p:nvSpPr>
          <p:cNvPr id="222" name="Google Shape;222;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229" name="Google Shape;229;p11"/>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230" name="Google Shape;230;p11"/>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Proposed Technical Solution Approach</a:t>
            </a:r>
            <a:endParaRPr b="1" i="0" sz="1200" u="none" cap="none" strike="noStrike">
              <a:solidFill>
                <a:srgbClr val="D71B7F"/>
              </a:solidFill>
              <a:latin typeface="Montserrat"/>
              <a:ea typeface="Montserrat"/>
              <a:cs typeface="Montserrat"/>
              <a:sym typeface="Montserrat"/>
            </a:endParaRPr>
          </a:p>
        </p:txBody>
      </p:sp>
      <p:sp>
        <p:nvSpPr>
          <p:cNvPr id="231" name="Google Shape;231;p11"/>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232" name="Google Shape;232;p11"/>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233" name="Google Shape;233;p11"/>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234" name="Google Shape;234;p11"/>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235" name="Google Shape;235;p11"/>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1"/>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1"/>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1"/>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239" name="Google Shape;239;p11"/>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240" name="Google Shape;240;p11"/>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1"/>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242" name="Google Shape;242;p11"/>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243" name="Google Shape;243;p11"/>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1"/>
          <p:cNvSpPr txBox="1"/>
          <p:nvPr>
            <p:ph idx="4294967295"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2"/>
          <p:cNvSpPr/>
          <p:nvPr/>
        </p:nvSpPr>
        <p:spPr>
          <a:xfrm>
            <a:off x="226950" y="740900"/>
            <a:ext cx="8690100" cy="41133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250" name="Google Shape;250;p12"/>
          <p:cNvCxnSpPr/>
          <p:nvPr/>
        </p:nvCxnSpPr>
        <p:spPr>
          <a:xfrm>
            <a:off x="249444" y="751302"/>
            <a:ext cx="0" cy="4113300"/>
          </a:xfrm>
          <a:prstGeom prst="straightConnector1">
            <a:avLst/>
          </a:prstGeom>
          <a:noFill/>
          <a:ln cap="flat" cmpd="sng" w="19050">
            <a:solidFill>
              <a:srgbClr val="12519C"/>
            </a:solidFill>
            <a:prstDash val="solid"/>
            <a:round/>
            <a:headEnd len="sm" w="sm" type="none"/>
            <a:tailEnd len="sm" w="sm" type="none"/>
          </a:ln>
        </p:spPr>
      </p:cxnSp>
      <p:sp>
        <p:nvSpPr>
          <p:cNvPr id="251" name="Google Shape;251;p12"/>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Solutioning Highlights</a:t>
            </a:r>
            <a:endParaRPr/>
          </a:p>
        </p:txBody>
      </p:sp>
      <p:sp>
        <p:nvSpPr>
          <p:cNvPr id="252" name="Google Shape;252;p12"/>
          <p:cNvSpPr txBox="1"/>
          <p:nvPr/>
        </p:nvSpPr>
        <p:spPr>
          <a:xfrm>
            <a:off x="340550" y="993438"/>
            <a:ext cx="8196900" cy="4032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After a detailed discovery of the platform and user needs, we will evaluate the following key aspects to finalise the most suitable mobile app technology:</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50000"/>
              </a:lnSpc>
              <a:spcBef>
                <a:spcPts val="0"/>
              </a:spcBef>
              <a:spcAft>
                <a:spcPts val="0"/>
              </a:spcAft>
              <a:buClr>
                <a:srgbClr val="FF0082"/>
              </a:buClr>
              <a:buSzPts val="1000"/>
              <a:buFont typeface="Arial"/>
              <a:buChar char="●"/>
            </a:pPr>
            <a:r>
              <a:rPr b="1" i="0" lang="en" sz="1000" u="none" cap="none" strike="noStrike">
                <a:solidFill>
                  <a:schemeClr val="dk1"/>
                </a:solidFill>
                <a:latin typeface="Montserrat"/>
                <a:ea typeface="Montserrat"/>
                <a:cs typeface="Montserrat"/>
                <a:sym typeface="Montserrat"/>
              </a:rPr>
              <a:t>Platform: </a:t>
            </a:r>
            <a:r>
              <a:rPr b="0" i="0" lang="en" sz="1000" u="none" cap="none" strike="noStrike">
                <a:solidFill>
                  <a:schemeClr val="dk1"/>
                </a:solidFill>
                <a:latin typeface="Montserrat"/>
                <a:ea typeface="Montserrat"/>
                <a:cs typeface="Montserrat"/>
                <a:sym typeface="Montserrat"/>
              </a:rPr>
              <a:t>Both </a:t>
            </a:r>
            <a:r>
              <a:rPr b="1" i="0" lang="en" sz="1000" u="none" cap="none" strike="noStrike">
                <a:solidFill>
                  <a:schemeClr val="dk1"/>
                </a:solidFill>
                <a:latin typeface="Montserrat"/>
                <a:ea typeface="Montserrat"/>
                <a:cs typeface="Montserrat"/>
                <a:sym typeface="Montserrat"/>
              </a:rPr>
              <a:t>Flutter</a:t>
            </a:r>
            <a:r>
              <a:rPr b="0" i="0" lang="en" sz="1000" u="none" cap="none" strike="noStrike">
                <a:solidFill>
                  <a:schemeClr val="dk1"/>
                </a:solidFill>
                <a:latin typeface="Montserrat"/>
                <a:ea typeface="Montserrat"/>
                <a:cs typeface="Montserrat"/>
                <a:sym typeface="Montserrat"/>
              </a:rPr>
              <a:t> and </a:t>
            </a:r>
            <a:r>
              <a:rPr b="1" i="0" lang="en" sz="1000" u="none" cap="none" strike="noStrike">
                <a:solidFill>
                  <a:schemeClr val="dk1"/>
                </a:solidFill>
                <a:latin typeface="Montserrat"/>
                <a:ea typeface="Montserrat"/>
                <a:cs typeface="Montserrat"/>
                <a:sym typeface="Montserrat"/>
              </a:rPr>
              <a:t>React Native</a:t>
            </a:r>
            <a:r>
              <a:rPr b="0" i="0" lang="en" sz="1000" u="none" cap="none" strike="noStrike">
                <a:solidFill>
                  <a:schemeClr val="dk1"/>
                </a:solidFill>
                <a:latin typeface="Montserrat"/>
                <a:ea typeface="Montserrat"/>
                <a:cs typeface="Montserrat"/>
                <a:sym typeface="Montserrat"/>
              </a:rPr>
              <a:t> allow us to build high-performance mobile applications that support live streaming and run seamlessly on both Android and iOS from a single codebase. It will enable us to release new features, updates and fixes across platforms simultaneously.</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50000"/>
              </a:lnSpc>
              <a:spcBef>
                <a:spcPts val="0"/>
              </a:spcBef>
              <a:spcAft>
                <a:spcPts val="0"/>
              </a:spcAft>
              <a:buClr>
                <a:srgbClr val="FF0082"/>
              </a:buClr>
              <a:buSzPts val="1000"/>
              <a:buFont typeface="Arial"/>
              <a:buChar char="●"/>
            </a:pPr>
            <a:r>
              <a:rPr b="1" i="0" lang="en" sz="1000" u="none" cap="none" strike="noStrike">
                <a:solidFill>
                  <a:schemeClr val="dk1"/>
                </a:solidFill>
                <a:latin typeface="Montserrat"/>
                <a:ea typeface="Montserrat"/>
                <a:cs typeface="Montserrat"/>
                <a:sym typeface="Montserrat"/>
              </a:rPr>
              <a:t>Streaming and Data Consumption:</a:t>
            </a:r>
            <a:r>
              <a:rPr b="0" i="0" lang="en" sz="1000" u="none" cap="none" strike="noStrike">
                <a:solidFill>
                  <a:schemeClr val="dk1"/>
                </a:solidFill>
                <a:latin typeface="Montserrat"/>
                <a:ea typeface="Montserrat"/>
                <a:cs typeface="Montserrat"/>
                <a:sym typeface="Montserrat"/>
              </a:rPr>
              <a:t> Assessing how streaming services (such as live video streaming) are currently integrated or intended to be integrated, and how data is consumed or expected to be managed across both platforms.</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50000"/>
              </a:lnSpc>
              <a:spcBef>
                <a:spcPts val="0"/>
              </a:spcBef>
              <a:spcAft>
                <a:spcPts val="0"/>
              </a:spcAft>
              <a:buClr>
                <a:srgbClr val="FF0082"/>
              </a:buClr>
              <a:buSzPts val="1000"/>
              <a:buFont typeface="Arial"/>
              <a:buChar char="●"/>
            </a:pPr>
            <a:r>
              <a:rPr b="1" i="0" lang="en" sz="1000" u="none" cap="none" strike="noStrike">
                <a:solidFill>
                  <a:schemeClr val="dk1"/>
                </a:solidFill>
                <a:latin typeface="Montserrat"/>
                <a:ea typeface="Montserrat"/>
                <a:cs typeface="Montserrat"/>
                <a:sym typeface="Montserrat"/>
              </a:rPr>
              <a:t>Technical Considerations:</a:t>
            </a:r>
            <a:r>
              <a:rPr b="0" i="0" lang="en" sz="1000" u="none" cap="none" strike="noStrike">
                <a:solidFill>
                  <a:schemeClr val="dk1"/>
                </a:solidFill>
                <a:latin typeface="Montserrat"/>
                <a:ea typeface="Montserrat"/>
                <a:cs typeface="Montserrat"/>
                <a:sym typeface="Montserrat"/>
              </a:rPr>
              <a:t> Understanding the performance needs, scalability, and backend integration for streaming content and handling real-time data and the potential for third party libs integration.</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50000"/>
              </a:lnSpc>
              <a:spcBef>
                <a:spcPts val="0"/>
              </a:spcBef>
              <a:spcAft>
                <a:spcPts val="0"/>
              </a:spcAft>
              <a:buClr>
                <a:srgbClr val="FF0082"/>
              </a:buClr>
              <a:buSzPts val="1000"/>
              <a:buFont typeface="Montserrat"/>
              <a:buChar char="●"/>
            </a:pPr>
            <a:r>
              <a:rPr b="1" i="0" lang="en" sz="1000" u="none" cap="none" strike="noStrike">
                <a:solidFill>
                  <a:schemeClr val="dk1"/>
                </a:solidFill>
                <a:latin typeface="Montserrat"/>
                <a:ea typeface="Montserrat"/>
                <a:cs typeface="Montserrat"/>
                <a:sym typeface="Montserrat"/>
              </a:rPr>
              <a:t>Third party support</a:t>
            </a:r>
            <a:r>
              <a:rPr b="0" i="0" lang="en" sz="1000" u="none" cap="none" strike="noStrike">
                <a:solidFill>
                  <a:schemeClr val="dk1"/>
                </a:solidFill>
                <a:latin typeface="Montserrat"/>
                <a:ea typeface="Montserrat"/>
                <a:cs typeface="Montserrat"/>
                <a:sym typeface="Montserrat"/>
              </a:rPr>
              <a:t>: Since integrations like analytics, ads, and SSO etc are essential. Support and availability for these SDKs will be evaluated to determine the right platform.</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50000"/>
              </a:lnSpc>
              <a:spcBef>
                <a:spcPts val="0"/>
              </a:spcBef>
              <a:spcAft>
                <a:spcPts val="0"/>
              </a:spcAft>
              <a:buClr>
                <a:schemeClr val="dk1"/>
              </a:buClr>
              <a:buSzPts val="1000"/>
              <a:buFont typeface="Montserrat"/>
              <a:buChar char="●"/>
            </a:pPr>
            <a:r>
              <a:rPr b="1" i="0" lang="en" sz="1000" u="none" cap="none" strike="noStrike">
                <a:solidFill>
                  <a:schemeClr val="dk1"/>
                </a:solidFill>
                <a:latin typeface="Montserrat"/>
                <a:ea typeface="Montserrat"/>
                <a:cs typeface="Montserrat"/>
                <a:sym typeface="Montserrat"/>
              </a:rPr>
              <a:t>Accelerated Development with Generative AI</a:t>
            </a:r>
            <a:r>
              <a:rPr b="0" i="0" lang="en" sz="1000" u="none" cap="none" strike="noStrike">
                <a:solidFill>
                  <a:schemeClr val="dk1"/>
                </a:solidFill>
                <a:latin typeface="Montserrat"/>
                <a:ea typeface="Montserrat"/>
                <a:cs typeface="Montserrat"/>
                <a:sym typeface="Montserrat"/>
              </a:rPr>
              <a:t>: We will strategically utilise powerful generative AI tools like Cursor AI and GitHub Copilot, significantly improving our coding speed, enhancing efficiency, and enabling our teams to deliver high quality solutions at a faster pace.</a:t>
            </a:r>
            <a:endParaRPr b="0" i="0" sz="10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Our team has </a:t>
            </a:r>
            <a:r>
              <a:rPr b="1" i="0" lang="en" sz="1000" u="none" cap="none" strike="noStrike">
                <a:solidFill>
                  <a:schemeClr val="dk1"/>
                </a:solidFill>
                <a:latin typeface="Montserrat"/>
                <a:ea typeface="Montserrat"/>
                <a:cs typeface="Montserrat"/>
                <a:sym typeface="Montserrat"/>
              </a:rPr>
              <a:t>extensive experience and expertise</a:t>
            </a:r>
            <a:r>
              <a:rPr b="0" i="0" lang="en" sz="1000" u="none" cap="none" strike="noStrike">
                <a:solidFill>
                  <a:schemeClr val="dk1"/>
                </a:solidFill>
                <a:latin typeface="Montserrat"/>
                <a:ea typeface="Montserrat"/>
                <a:cs typeface="Montserrat"/>
                <a:sym typeface="Montserrat"/>
              </a:rPr>
              <a:t> in working with both </a:t>
            </a:r>
            <a:r>
              <a:rPr b="1" i="0" lang="en" sz="1000" u="none" cap="none" strike="noStrike">
                <a:solidFill>
                  <a:schemeClr val="dk1"/>
                </a:solidFill>
                <a:latin typeface="Montserrat"/>
                <a:ea typeface="Montserrat"/>
                <a:cs typeface="Montserrat"/>
                <a:sym typeface="Montserrat"/>
              </a:rPr>
              <a:t>Flutter</a:t>
            </a:r>
            <a:r>
              <a:rPr b="0" i="0" lang="en" sz="1000" u="none" cap="none" strike="noStrike">
                <a:solidFill>
                  <a:schemeClr val="dk1"/>
                </a:solidFill>
                <a:latin typeface="Montserrat"/>
                <a:ea typeface="Montserrat"/>
                <a:cs typeface="Montserrat"/>
                <a:sym typeface="Montserrat"/>
              </a:rPr>
              <a:t> and </a:t>
            </a:r>
            <a:r>
              <a:rPr b="1" i="0" lang="en" sz="1000" u="none" cap="none" strike="noStrike">
                <a:solidFill>
                  <a:schemeClr val="dk1"/>
                </a:solidFill>
                <a:latin typeface="Montserrat"/>
                <a:ea typeface="Montserrat"/>
                <a:cs typeface="Montserrat"/>
                <a:sym typeface="Montserrat"/>
              </a:rPr>
              <a:t>React Native</a:t>
            </a:r>
            <a:r>
              <a:rPr b="0" i="0" lang="en" sz="1000" u="none" cap="none" strike="noStrike">
                <a:solidFill>
                  <a:schemeClr val="dk1"/>
                </a:solidFill>
                <a:latin typeface="Montserrat"/>
                <a:ea typeface="Montserrat"/>
                <a:cs typeface="Montserrat"/>
                <a:sym typeface="Montserrat"/>
              </a:rPr>
              <a:t>, allowing us to confidently recommend and implement the most suitable solution for your project.</a:t>
            </a:r>
            <a:endParaRPr b="0" i="0" sz="10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000"/>
              <a:buFont typeface="Arial"/>
              <a:buNone/>
            </a:pPr>
            <a:r>
              <a:t/>
            </a:r>
            <a:endParaRPr b="1" i="0" sz="1000" u="none" cap="none" strike="noStrike">
              <a:solidFill>
                <a:schemeClr val="dk1"/>
              </a:solidFill>
              <a:latin typeface="Montserrat"/>
              <a:ea typeface="Montserrat"/>
              <a:cs typeface="Montserrat"/>
              <a:sym typeface="Montserrat"/>
            </a:endParaRPr>
          </a:p>
        </p:txBody>
      </p:sp>
      <p:sp>
        <p:nvSpPr>
          <p:cNvPr id="253" name="Google Shape;253;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3"/>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Proposed High Level Architecture</a:t>
            </a:r>
            <a:endParaRPr/>
          </a:p>
        </p:txBody>
      </p:sp>
      <p:sp>
        <p:nvSpPr>
          <p:cNvPr id="259" name="Google Shape;259;p13"/>
          <p:cNvSpPr/>
          <p:nvPr/>
        </p:nvSpPr>
        <p:spPr>
          <a:xfrm>
            <a:off x="2397150" y="887625"/>
            <a:ext cx="3813600" cy="3699300"/>
          </a:xfrm>
          <a:prstGeom prst="snip1Rect">
            <a:avLst>
              <a:gd fmla="val 8329" name="adj"/>
            </a:avLst>
          </a:prstGeom>
          <a:noFill/>
          <a:ln cap="flat" cmpd="sng" w="9525">
            <a:solidFill>
              <a:srgbClr val="6F3A93"/>
            </a:solidFill>
            <a:prstDash val="solid"/>
            <a:round/>
            <a:headEnd len="sm" w="sm" type="none"/>
            <a:tailEnd len="sm" w="sm" type="none"/>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F3A93"/>
                </a:solidFill>
                <a:latin typeface="Montserrat"/>
                <a:ea typeface="Montserrat"/>
                <a:cs typeface="Montserrat"/>
                <a:sym typeface="Montserrat"/>
              </a:rPr>
              <a:t>Mobile Application</a:t>
            </a:r>
            <a:endParaRPr b="1" i="0" sz="900" u="none" cap="none" strike="noStrike">
              <a:solidFill>
                <a:srgbClr val="6F3A93"/>
              </a:solidFill>
              <a:latin typeface="Montserrat"/>
              <a:ea typeface="Montserrat"/>
              <a:cs typeface="Montserrat"/>
              <a:sym typeface="Montserrat"/>
            </a:endParaRPr>
          </a:p>
        </p:txBody>
      </p:sp>
      <p:sp>
        <p:nvSpPr>
          <p:cNvPr id="260" name="Google Shape;260;p13"/>
          <p:cNvSpPr/>
          <p:nvPr/>
        </p:nvSpPr>
        <p:spPr>
          <a:xfrm>
            <a:off x="756125" y="2252475"/>
            <a:ext cx="922800" cy="969600"/>
          </a:xfrm>
          <a:prstGeom prst="snip1Rect">
            <a:avLst>
              <a:gd fmla="val 8329" name="adj"/>
            </a:avLst>
          </a:prstGeom>
          <a:noFill/>
          <a:ln cap="flat" cmpd="sng" w="9525">
            <a:solidFill>
              <a:srgbClr val="12519C"/>
            </a:solidFill>
            <a:prstDash val="solid"/>
            <a:round/>
            <a:headEnd len="sm" w="sm" type="none"/>
            <a:tailEnd len="sm" w="sm" type="none"/>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D71B7F"/>
              </a:solidFill>
              <a:latin typeface="Montserrat"/>
              <a:ea typeface="Montserrat"/>
              <a:cs typeface="Montserrat"/>
              <a:sym typeface="Montserrat"/>
            </a:endParaRPr>
          </a:p>
        </p:txBody>
      </p:sp>
      <p:sp>
        <p:nvSpPr>
          <p:cNvPr id="261" name="Google Shape;261;p13"/>
          <p:cNvSpPr/>
          <p:nvPr/>
        </p:nvSpPr>
        <p:spPr>
          <a:xfrm>
            <a:off x="2549550" y="1316100"/>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UI layer Screens</a:t>
            </a:r>
            <a:endParaRPr b="1" i="0" sz="900" u="none" cap="none" strike="noStrike">
              <a:solidFill>
                <a:srgbClr val="12519C"/>
              </a:solidFill>
              <a:latin typeface="Montserrat"/>
              <a:ea typeface="Montserrat"/>
              <a:cs typeface="Montserrat"/>
              <a:sym typeface="Montserrat"/>
            </a:endParaRPr>
          </a:p>
        </p:txBody>
      </p:sp>
      <p:sp>
        <p:nvSpPr>
          <p:cNvPr id="262" name="Google Shape;262;p13"/>
          <p:cNvSpPr txBox="1"/>
          <p:nvPr/>
        </p:nvSpPr>
        <p:spPr>
          <a:xfrm>
            <a:off x="744425" y="2826663"/>
            <a:ext cx="946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Mobile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User</a:t>
            </a:r>
            <a:endParaRPr b="1" i="0" sz="800" u="none" cap="none" strike="noStrike">
              <a:solidFill>
                <a:srgbClr val="12519C"/>
              </a:solidFill>
              <a:latin typeface="Montserrat"/>
              <a:ea typeface="Montserrat"/>
              <a:cs typeface="Montserrat"/>
              <a:sym typeface="Montserrat"/>
            </a:endParaRPr>
          </a:p>
        </p:txBody>
      </p:sp>
      <p:sp>
        <p:nvSpPr>
          <p:cNvPr id="263" name="Google Shape;263;p13"/>
          <p:cNvSpPr/>
          <p:nvPr/>
        </p:nvSpPr>
        <p:spPr>
          <a:xfrm>
            <a:off x="7069675" y="1671550"/>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Backend APIs</a:t>
            </a:r>
            <a:endParaRPr b="1" i="0" sz="800" u="none" cap="none" strike="noStrike">
              <a:solidFill>
                <a:srgbClr val="525252"/>
              </a:solidFill>
              <a:latin typeface="Montserrat"/>
              <a:ea typeface="Montserrat"/>
              <a:cs typeface="Montserrat"/>
              <a:sym typeface="Montserrat"/>
            </a:endParaRPr>
          </a:p>
        </p:txBody>
      </p:sp>
      <p:sp>
        <p:nvSpPr>
          <p:cNvPr id="264" name="Google Shape;264;p13"/>
          <p:cNvSpPr/>
          <p:nvPr/>
        </p:nvSpPr>
        <p:spPr>
          <a:xfrm>
            <a:off x="7069675" y="2847049"/>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Firebase</a:t>
            </a:r>
            <a:endParaRPr b="1" i="0" sz="800" u="none" cap="none" strike="noStrike">
              <a:solidFill>
                <a:srgbClr val="525252"/>
              </a:solidFill>
              <a:latin typeface="Montserrat"/>
              <a:ea typeface="Montserrat"/>
              <a:cs typeface="Montserrat"/>
              <a:sym typeface="Montserrat"/>
            </a:endParaRPr>
          </a:p>
        </p:txBody>
      </p:sp>
      <p:pic>
        <p:nvPicPr>
          <p:cNvPr id="265" name="Google Shape;265;p13"/>
          <p:cNvPicPr preferRelativeResize="0"/>
          <p:nvPr/>
        </p:nvPicPr>
        <p:blipFill rotWithShape="1">
          <a:blip r:embed="rId3">
            <a:alphaModFix/>
          </a:blip>
          <a:srcRect b="0" l="0" r="0" t="0"/>
          <a:stretch/>
        </p:blipFill>
        <p:spPr>
          <a:xfrm>
            <a:off x="1016525" y="2379875"/>
            <a:ext cx="401999" cy="401999"/>
          </a:xfrm>
          <a:prstGeom prst="rect">
            <a:avLst/>
          </a:prstGeom>
          <a:noFill/>
          <a:ln>
            <a:noFill/>
          </a:ln>
        </p:spPr>
      </p:pic>
      <p:sp>
        <p:nvSpPr>
          <p:cNvPr id="266" name="Google Shape;266;p13"/>
          <p:cNvSpPr/>
          <p:nvPr/>
        </p:nvSpPr>
        <p:spPr>
          <a:xfrm>
            <a:off x="2549550" y="1959698"/>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Business Logic Layer</a:t>
            </a:r>
            <a:endParaRPr b="1" i="0" sz="900" u="none" cap="none" strike="noStrike">
              <a:solidFill>
                <a:srgbClr val="12519C"/>
              </a:solidFill>
              <a:latin typeface="Montserrat"/>
              <a:ea typeface="Montserrat"/>
              <a:cs typeface="Montserrat"/>
              <a:sym typeface="Montserrat"/>
            </a:endParaRPr>
          </a:p>
        </p:txBody>
      </p:sp>
      <p:sp>
        <p:nvSpPr>
          <p:cNvPr id="267" name="Google Shape;267;p13"/>
          <p:cNvSpPr/>
          <p:nvPr/>
        </p:nvSpPr>
        <p:spPr>
          <a:xfrm>
            <a:off x="2549550" y="2603300"/>
            <a:ext cx="3508800" cy="61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268" name="Google Shape;268;p13"/>
          <p:cNvSpPr/>
          <p:nvPr/>
        </p:nvSpPr>
        <p:spPr>
          <a:xfrm>
            <a:off x="297507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Network Service</a:t>
            </a:r>
            <a:endParaRPr b="1" i="0" sz="800" u="none" cap="none" strike="noStrike">
              <a:solidFill>
                <a:srgbClr val="525252"/>
              </a:solidFill>
              <a:latin typeface="Montserrat"/>
              <a:ea typeface="Montserrat"/>
              <a:cs typeface="Montserrat"/>
              <a:sym typeface="Montserrat"/>
            </a:endParaRPr>
          </a:p>
        </p:txBody>
      </p:sp>
      <p:sp>
        <p:nvSpPr>
          <p:cNvPr id="269" name="Google Shape;269;p13"/>
          <p:cNvSpPr/>
          <p:nvPr/>
        </p:nvSpPr>
        <p:spPr>
          <a:xfrm>
            <a:off x="448102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Local Storage</a:t>
            </a:r>
            <a:endParaRPr b="1" i="0" sz="800" u="none" cap="none" strike="noStrike">
              <a:solidFill>
                <a:srgbClr val="525252"/>
              </a:solidFill>
              <a:latin typeface="Montserrat"/>
              <a:ea typeface="Montserrat"/>
              <a:cs typeface="Montserrat"/>
              <a:sym typeface="Montserrat"/>
            </a:endParaRPr>
          </a:p>
        </p:txBody>
      </p:sp>
      <p:sp>
        <p:nvSpPr>
          <p:cNvPr id="270" name="Google Shape;270;p13"/>
          <p:cNvSpPr/>
          <p:nvPr/>
        </p:nvSpPr>
        <p:spPr>
          <a:xfrm>
            <a:off x="2549550" y="3553200"/>
            <a:ext cx="3508800" cy="88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271" name="Google Shape;271;p13"/>
          <p:cNvSpPr/>
          <p:nvPr/>
        </p:nvSpPr>
        <p:spPr>
          <a:xfrm>
            <a:off x="2641000"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Analytics</a:t>
            </a:r>
            <a:endParaRPr b="1" i="0" sz="800" u="none" cap="none" strike="noStrike">
              <a:solidFill>
                <a:srgbClr val="525252"/>
              </a:solidFill>
              <a:latin typeface="Montserrat"/>
              <a:ea typeface="Montserrat"/>
              <a:cs typeface="Montserrat"/>
              <a:sym typeface="Montserrat"/>
            </a:endParaRPr>
          </a:p>
        </p:txBody>
      </p:sp>
      <p:sp>
        <p:nvSpPr>
          <p:cNvPr id="272" name="Google Shape;272;p13"/>
          <p:cNvSpPr/>
          <p:nvPr/>
        </p:nvSpPr>
        <p:spPr>
          <a:xfrm>
            <a:off x="3788308"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Push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Notifications</a:t>
            </a:r>
            <a:endParaRPr b="1" i="0" sz="800" u="none" cap="none" strike="noStrike">
              <a:solidFill>
                <a:srgbClr val="525252"/>
              </a:solidFill>
              <a:latin typeface="Montserrat"/>
              <a:ea typeface="Montserrat"/>
              <a:cs typeface="Montserrat"/>
              <a:sym typeface="Montserrat"/>
            </a:endParaRPr>
          </a:p>
        </p:txBody>
      </p:sp>
      <p:sp>
        <p:nvSpPr>
          <p:cNvPr id="273" name="Google Shape;273;p13"/>
          <p:cNvSpPr/>
          <p:nvPr/>
        </p:nvSpPr>
        <p:spPr>
          <a:xfrm>
            <a:off x="4935616"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Crash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Reporting</a:t>
            </a:r>
            <a:endParaRPr b="1" i="0" sz="800" u="none" cap="none" strike="noStrike">
              <a:solidFill>
                <a:srgbClr val="525252"/>
              </a:solidFill>
              <a:latin typeface="Montserrat"/>
              <a:ea typeface="Montserrat"/>
              <a:cs typeface="Montserrat"/>
              <a:sym typeface="Montserrat"/>
            </a:endParaRPr>
          </a:p>
        </p:txBody>
      </p:sp>
      <p:pic>
        <p:nvPicPr>
          <p:cNvPr id="274" name="Google Shape;274;p13"/>
          <p:cNvPicPr preferRelativeResize="0"/>
          <p:nvPr/>
        </p:nvPicPr>
        <p:blipFill rotWithShape="1">
          <a:blip r:embed="rId4">
            <a:alphaModFix/>
          </a:blip>
          <a:srcRect b="0" l="0" r="0" t="0"/>
          <a:stretch/>
        </p:blipFill>
        <p:spPr>
          <a:xfrm>
            <a:off x="7544462" y="3032873"/>
            <a:ext cx="283233" cy="357299"/>
          </a:xfrm>
          <a:prstGeom prst="rect">
            <a:avLst/>
          </a:prstGeom>
          <a:noFill/>
          <a:ln>
            <a:noFill/>
          </a:ln>
        </p:spPr>
      </p:pic>
      <p:cxnSp>
        <p:nvCxnSpPr>
          <p:cNvPr id="275" name="Google Shape;275;p13"/>
          <p:cNvCxnSpPr>
            <a:stCxn id="260" idx="0"/>
            <a:endCxn id="259" idx="2"/>
          </p:cNvCxnSpPr>
          <p:nvPr/>
        </p:nvCxnSpPr>
        <p:spPr>
          <a:xfrm>
            <a:off x="1678925" y="2737275"/>
            <a:ext cx="718200" cy="0"/>
          </a:xfrm>
          <a:prstGeom prst="straightConnector1">
            <a:avLst/>
          </a:prstGeom>
          <a:noFill/>
          <a:ln cap="flat" cmpd="sng" w="9525">
            <a:solidFill>
              <a:srgbClr val="D9D9D9"/>
            </a:solidFill>
            <a:prstDash val="solid"/>
            <a:round/>
            <a:headEnd len="sm" w="sm" type="none"/>
            <a:tailEnd len="med" w="med" type="triangle"/>
          </a:ln>
        </p:spPr>
      </p:cxnSp>
      <p:cxnSp>
        <p:nvCxnSpPr>
          <p:cNvPr id="276" name="Google Shape;276;p13"/>
          <p:cNvCxnSpPr>
            <a:stCxn id="261" idx="1"/>
            <a:endCxn id="266" idx="3"/>
          </p:cNvCxnSpPr>
          <p:nvPr/>
        </p:nvCxnSpPr>
        <p:spPr>
          <a:xfrm>
            <a:off x="4303950" y="1621800"/>
            <a:ext cx="0" cy="337800"/>
          </a:xfrm>
          <a:prstGeom prst="straightConnector1">
            <a:avLst/>
          </a:prstGeom>
          <a:noFill/>
          <a:ln cap="flat" cmpd="sng" w="9525">
            <a:solidFill>
              <a:srgbClr val="D9D9D9"/>
            </a:solidFill>
            <a:prstDash val="solid"/>
            <a:round/>
            <a:headEnd len="med" w="med" type="triangle"/>
            <a:tailEnd len="med" w="med" type="triangle"/>
          </a:ln>
        </p:spPr>
      </p:cxnSp>
      <p:cxnSp>
        <p:nvCxnSpPr>
          <p:cNvPr id="277" name="Google Shape;277;p13"/>
          <p:cNvCxnSpPr>
            <a:stCxn id="266" idx="1"/>
            <a:endCxn id="267" idx="3"/>
          </p:cNvCxnSpPr>
          <p:nvPr/>
        </p:nvCxnSpPr>
        <p:spPr>
          <a:xfrm>
            <a:off x="4303950" y="2265398"/>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278" name="Google Shape;278;p13"/>
          <p:cNvSpPr txBox="1"/>
          <p:nvPr/>
        </p:nvSpPr>
        <p:spPr>
          <a:xfrm>
            <a:off x="3872500" y="26032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Data Layer</a:t>
            </a:r>
            <a:endParaRPr b="1" i="0" sz="900" u="none" cap="none" strike="noStrike">
              <a:solidFill>
                <a:srgbClr val="12519C"/>
              </a:solidFill>
              <a:latin typeface="Montserrat"/>
              <a:ea typeface="Montserrat"/>
              <a:cs typeface="Montserrat"/>
              <a:sym typeface="Montserrat"/>
            </a:endParaRPr>
          </a:p>
        </p:txBody>
      </p:sp>
      <p:cxnSp>
        <p:nvCxnSpPr>
          <p:cNvPr id="279" name="Google Shape;279;p13"/>
          <p:cNvCxnSpPr>
            <a:stCxn id="267" idx="1"/>
            <a:endCxn id="270" idx="3"/>
          </p:cNvCxnSpPr>
          <p:nvPr/>
        </p:nvCxnSpPr>
        <p:spPr>
          <a:xfrm>
            <a:off x="4303950" y="3215300"/>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280" name="Google Shape;280;p13"/>
          <p:cNvSpPr txBox="1"/>
          <p:nvPr/>
        </p:nvSpPr>
        <p:spPr>
          <a:xfrm>
            <a:off x="3925088" y="35531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3rd Party</a:t>
            </a:r>
            <a:endParaRPr b="1" i="0" sz="900" u="none" cap="none" strike="noStrike">
              <a:solidFill>
                <a:srgbClr val="12519C"/>
              </a:solidFill>
              <a:latin typeface="Montserrat"/>
              <a:ea typeface="Montserrat"/>
              <a:cs typeface="Montserrat"/>
              <a:sym typeface="Montserrat"/>
            </a:endParaRPr>
          </a:p>
        </p:txBody>
      </p:sp>
      <p:cxnSp>
        <p:nvCxnSpPr>
          <p:cNvPr id="281" name="Google Shape;281;p13"/>
          <p:cNvCxnSpPr>
            <a:stCxn id="259" idx="0"/>
            <a:endCxn id="263" idx="2"/>
          </p:cNvCxnSpPr>
          <p:nvPr/>
        </p:nvCxnSpPr>
        <p:spPr>
          <a:xfrm flipH="1" rot="10800000">
            <a:off x="6210750" y="2112675"/>
            <a:ext cx="858900" cy="624600"/>
          </a:xfrm>
          <a:prstGeom prst="bentConnector3">
            <a:avLst>
              <a:gd fmla="val 50001" name="adj1"/>
            </a:avLst>
          </a:prstGeom>
          <a:noFill/>
          <a:ln cap="flat" cmpd="sng" w="9525">
            <a:solidFill>
              <a:srgbClr val="D9D9D9"/>
            </a:solidFill>
            <a:prstDash val="solid"/>
            <a:round/>
            <a:headEnd len="sm" w="sm" type="none"/>
            <a:tailEnd len="med" w="med" type="triangle"/>
          </a:ln>
        </p:spPr>
      </p:cxnSp>
      <p:cxnSp>
        <p:nvCxnSpPr>
          <p:cNvPr id="282" name="Google Shape;282;p13"/>
          <p:cNvCxnSpPr>
            <a:stCxn id="259" idx="0"/>
            <a:endCxn id="264" idx="2"/>
          </p:cNvCxnSpPr>
          <p:nvPr/>
        </p:nvCxnSpPr>
        <p:spPr>
          <a:xfrm>
            <a:off x="6210750" y="2737275"/>
            <a:ext cx="858900" cy="550800"/>
          </a:xfrm>
          <a:prstGeom prst="bentConnector3">
            <a:avLst>
              <a:gd fmla="val 50001" name="adj1"/>
            </a:avLst>
          </a:prstGeom>
          <a:noFill/>
          <a:ln cap="flat" cmpd="sng" w="9525">
            <a:solidFill>
              <a:srgbClr val="D9D9D9"/>
            </a:solidFill>
            <a:prstDash val="solid"/>
            <a:round/>
            <a:headEnd len="sm" w="sm" type="none"/>
            <a:tailEnd len="med" w="med" type="triangle"/>
          </a:ln>
        </p:spPr>
      </p:cxnSp>
      <p:sp>
        <p:nvSpPr>
          <p:cNvPr id="283" name="Google Shape;28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4"/>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Architecture Considerations</a:t>
            </a:r>
            <a:endParaRPr/>
          </a:p>
        </p:txBody>
      </p:sp>
      <p:graphicFrame>
        <p:nvGraphicFramePr>
          <p:cNvPr id="289" name="Google Shape;289;p14"/>
          <p:cNvGraphicFramePr/>
          <p:nvPr/>
        </p:nvGraphicFramePr>
        <p:xfrm>
          <a:off x="264425" y="755775"/>
          <a:ext cx="3000000" cy="3000000"/>
        </p:xfrm>
        <a:graphic>
          <a:graphicData uri="http://schemas.openxmlformats.org/drawingml/2006/table">
            <a:tbl>
              <a:tblPr>
                <a:noFill/>
                <a:tableStyleId>{D94F6760-089B-47EB-8253-D5C54B6EC847}</a:tableStyleId>
              </a:tblPr>
              <a:tblGrid>
                <a:gridCol w="1855975"/>
                <a:gridCol w="6695125"/>
              </a:tblGrid>
              <a:tr h="2881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Component</a:t>
                      </a:r>
                      <a:endParaRPr b="1" sz="10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Key Considerations</a:t>
                      </a:r>
                      <a:endParaRPr b="1" sz="1000" u="none" cap="none" strike="noStrike">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r>
              <a:tr h="6705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Mobile Application Development Platform</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Cross-platform technologies like Flutter or React Native to be considered for mobile application development. They will enable us to use a single codebase for both Android and iOS, reducing development time and costs while increasing code reuse and maintainability.</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602400">
                <a:tc>
                  <a:txBody>
                    <a:bodyPr/>
                    <a:lstStyle/>
                    <a:p>
                      <a:pPr indent="0" lvl="0" marL="0" marR="0" rtl="0" algn="l">
                        <a:lnSpc>
                          <a:spcPct val="115000"/>
                        </a:lnSpc>
                        <a:spcBef>
                          <a:spcPts val="0"/>
                        </a:spcBef>
                        <a:spcAft>
                          <a:spcPts val="0"/>
                        </a:spcAft>
                        <a:buClr>
                          <a:schemeClr val="dk1"/>
                        </a:buClr>
                        <a:buSzPts val="1100"/>
                        <a:buFont typeface="Arial"/>
                        <a:buNone/>
                      </a:pPr>
                      <a:r>
                        <a:rPr b="1" lang="en" sz="1000" u="none" cap="none" strike="noStrike">
                          <a:latin typeface="Montserrat"/>
                          <a:ea typeface="Montserrat"/>
                          <a:cs typeface="Montserrat"/>
                          <a:sym typeface="Montserrat"/>
                        </a:rPr>
                        <a:t>On-the-fly Deployment</a:t>
                      </a:r>
                      <a:r>
                        <a:rPr lang="en" sz="1000" u="none" cap="none" strike="noStrike">
                          <a:solidFill>
                            <a:schemeClr val="dk1"/>
                          </a:solidFill>
                          <a:latin typeface="Montserrat"/>
                          <a:ea typeface="Montserrat"/>
                          <a:cs typeface="Montserrat"/>
                          <a:sym typeface="Montserrat"/>
                        </a:rPr>
                        <a:t> </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On-the-fly deployment enables pushing app updates without app store resubmission-natively supported in React Native via CodePush and achievable in Flutter using Shorebird. This is particularly useful for hot-fixes and minor changes</a:t>
                      </a:r>
                      <a:r>
                        <a:rPr lang="en" sz="1100" u="none" cap="none" strike="noStrike">
                          <a:solidFill>
                            <a:schemeClr val="dk1"/>
                          </a:solidFill>
                        </a:rPr>
                        <a:t>.</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19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Montserrat"/>
                          <a:ea typeface="Montserrat"/>
                          <a:cs typeface="Montserrat"/>
                          <a:sym typeface="Montserrat"/>
                        </a:rPr>
                        <a:t>Performance Optimisation</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Responsive UI and smooth animations, lazy loading of images, pagination and optimised asset management. </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67200">
                <a:tc>
                  <a:txBody>
                    <a:bodyPr/>
                    <a:lstStyle/>
                    <a:p>
                      <a:pPr indent="0" lvl="0" marL="0" marR="0" rtl="0" algn="l">
                        <a:lnSpc>
                          <a:spcPct val="100000"/>
                        </a:lnSpc>
                        <a:spcBef>
                          <a:spcPts val="0"/>
                        </a:spcBef>
                        <a:spcAft>
                          <a:spcPts val="0"/>
                        </a:spcAft>
                        <a:buClr>
                          <a:schemeClr val="dk1"/>
                        </a:buClr>
                        <a:buSzPts val="1100"/>
                        <a:buFont typeface="Arial"/>
                        <a:buNone/>
                      </a:pPr>
                      <a:r>
                        <a:rPr b="1" lang="en" sz="1000" u="none" cap="none" strike="noStrike">
                          <a:solidFill>
                            <a:schemeClr val="dk1"/>
                          </a:solidFill>
                          <a:latin typeface="Montserrat"/>
                          <a:ea typeface="Montserrat"/>
                          <a:cs typeface="Montserrat"/>
                          <a:sym typeface="Montserrat"/>
                        </a:rPr>
                        <a:t>API Integration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RESTful API integration using the existing APIs utilised by the Web platform.</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Security &amp; Data Protection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Any user data to be securely stored in keychain and encryption if required. Secure communication using HTTPS. Authentication using existing backend architecture.</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Analytics &amp; Crash Monitoring</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Firebase Analytics(or any other preferred tool) to be utilised for analysing user behavior, page views and clicks. Crash reporting and error monitoring to be dove via Firebase Crashlytics.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555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Deployment Strategy</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App Store and Play store guidelines compliance.</a:t>
                      </a:r>
                      <a:endParaRPr sz="1000" u="none" cap="none" strike="noStrike">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CI/CD pipeline for automated deployment for different environments.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290" name="Google Shape;290;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5"/>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5"/>
          <p:cNvSpPr txBox="1"/>
          <p:nvPr>
            <p:ph type="title"/>
          </p:nvPr>
        </p:nvSpPr>
        <p:spPr>
          <a:xfrm>
            <a:off x="104500" y="141850"/>
            <a:ext cx="7467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Mobile Development Platform - Comparison</a:t>
            </a:r>
            <a:endParaRPr>
              <a:solidFill>
                <a:schemeClr val="dk1"/>
              </a:solidFill>
            </a:endParaRPr>
          </a:p>
        </p:txBody>
      </p:sp>
      <p:sp>
        <p:nvSpPr>
          <p:cNvPr id="297" name="Google Shape;297;p1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298" name="Google Shape;298;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graphicFrame>
        <p:nvGraphicFramePr>
          <p:cNvPr id="299" name="Google Shape;299;p15"/>
          <p:cNvGraphicFramePr/>
          <p:nvPr/>
        </p:nvGraphicFramePr>
        <p:xfrm>
          <a:off x="189880" y="722548"/>
          <a:ext cx="3000000" cy="3000000"/>
        </p:xfrm>
        <a:graphic>
          <a:graphicData uri="http://schemas.openxmlformats.org/drawingml/2006/table">
            <a:tbl>
              <a:tblPr bandRow="1" firstRow="1">
                <a:noFill/>
                <a:tableStyleId>{605CC296-D303-4CE0-970A-263B8180C0D9}</a:tableStyleId>
              </a:tblPr>
              <a:tblGrid>
                <a:gridCol w="4210000"/>
                <a:gridCol w="2933625"/>
                <a:gridCol w="1567950"/>
              </a:tblGrid>
              <a:tr h="260600">
                <a:tc>
                  <a:txBody>
                    <a:bodyPr/>
                    <a:lstStyle/>
                    <a:p>
                      <a:pPr indent="0" lvl="0" marL="63500" marR="0" rtl="0" algn="l">
                        <a:lnSpc>
                          <a:spcPct val="100000"/>
                        </a:lnSpc>
                        <a:spcBef>
                          <a:spcPts val="0"/>
                        </a:spcBef>
                        <a:spcAft>
                          <a:spcPts val="0"/>
                        </a:spcAft>
                        <a:buClr>
                          <a:srgbClr val="FFFFFF"/>
                        </a:buClr>
                        <a:buSzPts val="900"/>
                        <a:buFont typeface="Arial"/>
                        <a:buNone/>
                      </a:pPr>
                      <a:r>
                        <a:rPr lang="en" sz="1100" u="none" cap="none" strike="noStrike">
                          <a:latin typeface="Montserrat"/>
                          <a:ea typeface="Montserrat"/>
                          <a:cs typeface="Montserrat"/>
                          <a:sym typeface="Montserrat"/>
                        </a:rPr>
                        <a:t>Factors</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REACT NATIVE</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Flutter</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Performance/Speed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OTA Updates  (Without going through App Store)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 (Using Codepush or Expo)</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41775">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Technologies Used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React/ React-Native/ Native Components</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Dart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Development Time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Debugging</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Community Support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Backed By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Facebook/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Google/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Build Size</a:t>
                      </a:r>
                      <a:endParaRPr b="1"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Highest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Code Reuse between Platforms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Support for OS Upgrades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Ability &amp; Support for 3</a:t>
                      </a:r>
                      <a:r>
                        <a:rPr b="1" baseline="30000" lang="en" sz="1000" u="none" cap="none" strike="noStrike">
                          <a:latin typeface="Montserrat"/>
                          <a:ea typeface="Montserrat"/>
                          <a:cs typeface="Montserrat"/>
                          <a:sym typeface="Montserrat"/>
                        </a:rPr>
                        <a:t>rd</a:t>
                      </a:r>
                      <a:r>
                        <a:rPr b="1" lang="en" sz="1000" u="none" cap="none" strike="noStrike">
                          <a:latin typeface="Montserrat"/>
                          <a:ea typeface="Montserrat"/>
                          <a:cs typeface="Montserrat"/>
                          <a:sym typeface="Montserrat"/>
                        </a:rPr>
                        <a:t> party hardware / SDK</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300" name="Google Shape;300;p15"/>
          <p:cNvSpPr txBox="1"/>
          <p:nvPr/>
        </p:nvSpPr>
        <p:spPr>
          <a:xfrm>
            <a:off x="0" y="4485550"/>
            <a:ext cx="9144000" cy="4950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100"/>
              <a:buFont typeface="Arial"/>
              <a:buNone/>
            </a:pPr>
            <a:r>
              <a:rPr b="0" i="0" lang="en" sz="1000" u="none" cap="none" strike="noStrike">
                <a:solidFill>
                  <a:srgbClr val="000000"/>
                </a:solidFill>
                <a:latin typeface="Montserrat"/>
                <a:ea typeface="Montserrat"/>
                <a:cs typeface="Montserrat"/>
                <a:sym typeface="Montserrat"/>
              </a:rPr>
              <a:t>* Both Flutter and React Native are well-suited to deliver the required functionality. TTN will recommend the most appropriate technology stack after conducting a thorough discovery of the platform and understanding user needs.</a:t>
            </a:r>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6"/>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6"/>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307" name="Google Shape;307;p16"/>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308" name="Google Shape;308;p16"/>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309" name="Google Shape;309;p16"/>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310" name="Google Shape;310;p16"/>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311" name="Google Shape;311;p16"/>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312" name="Google Shape;312;p16"/>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313" name="Google Shape;313;p16"/>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6"/>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6"/>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6"/>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Project Plan and Key Deliverables</a:t>
            </a:r>
            <a:endParaRPr b="1" i="0" sz="1200" u="none" cap="none" strike="noStrike">
              <a:solidFill>
                <a:srgbClr val="D71B7F"/>
              </a:solidFill>
              <a:latin typeface="Montserrat"/>
              <a:ea typeface="Montserrat"/>
              <a:cs typeface="Montserrat"/>
              <a:sym typeface="Montserrat"/>
            </a:endParaRPr>
          </a:p>
        </p:txBody>
      </p:sp>
      <p:cxnSp>
        <p:nvCxnSpPr>
          <p:cNvPr id="317" name="Google Shape;317;p16"/>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318" name="Google Shape;318;p16"/>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6"/>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320" name="Google Shape;320;p16"/>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321" name="Google Shape;321;p16"/>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7"/>
          <p:cNvSpPr/>
          <p:nvPr/>
        </p:nvSpPr>
        <p:spPr>
          <a:xfrm>
            <a:off x="1623100" y="934600"/>
            <a:ext cx="7355400" cy="3713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28" name="Google Shape;328;p17"/>
          <p:cNvSpPr/>
          <p:nvPr/>
        </p:nvSpPr>
        <p:spPr>
          <a:xfrm>
            <a:off x="236853" y="1505825"/>
            <a:ext cx="1877400" cy="2588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29" name="Google Shape;329;p1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Management Approach</a:t>
            </a:r>
            <a:endParaRPr b="1" i="0" sz="2000" u="none" cap="none" strike="noStrike">
              <a:solidFill>
                <a:schemeClr val="dk1"/>
              </a:solidFill>
              <a:latin typeface="Montserrat"/>
              <a:ea typeface="Montserrat"/>
              <a:cs typeface="Montserrat"/>
              <a:sym typeface="Montserrat"/>
            </a:endParaRPr>
          </a:p>
        </p:txBody>
      </p:sp>
      <p:sp>
        <p:nvSpPr>
          <p:cNvPr id="330" name="Google Shape;330;p17"/>
          <p:cNvSpPr/>
          <p:nvPr/>
        </p:nvSpPr>
        <p:spPr>
          <a:xfrm>
            <a:off x="2303501" y="2698629"/>
            <a:ext cx="1202100" cy="1327200"/>
          </a:xfrm>
          <a:prstGeom prst="rect">
            <a:avLst/>
          </a:prstGeom>
          <a:no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31" name="Google Shape;331;p17"/>
          <p:cNvSpPr/>
          <p:nvPr/>
        </p:nvSpPr>
        <p:spPr>
          <a:xfrm>
            <a:off x="3799228" y="2698629"/>
            <a:ext cx="1202100" cy="1366800"/>
          </a:xfrm>
          <a:prstGeom prst="rect">
            <a:avLst/>
          </a:prstGeom>
          <a:no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32" name="Google Shape;332;p17"/>
          <p:cNvSpPr/>
          <p:nvPr/>
        </p:nvSpPr>
        <p:spPr>
          <a:xfrm>
            <a:off x="2303500"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Engagement </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Kick off &amp; Discovery</a:t>
            </a:r>
            <a:endParaRPr b="1" i="0" sz="900" u="none" cap="none" strike="noStrike">
              <a:solidFill>
                <a:srgbClr val="616161"/>
              </a:solidFill>
              <a:latin typeface="Montserrat"/>
              <a:ea typeface="Montserrat"/>
              <a:cs typeface="Montserrat"/>
              <a:sym typeface="Montserrat"/>
            </a:endParaRPr>
          </a:p>
        </p:txBody>
      </p:sp>
      <p:sp>
        <p:nvSpPr>
          <p:cNvPr id="333" name="Google Shape;333;p17"/>
          <p:cNvSpPr/>
          <p:nvPr/>
        </p:nvSpPr>
        <p:spPr>
          <a:xfrm>
            <a:off x="3814239"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Iterative</a:t>
            </a: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Development</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1     2    3    .   .</a:t>
            </a:r>
            <a:endParaRPr b="1" i="0" sz="900" u="none" cap="none" strike="noStrike">
              <a:solidFill>
                <a:srgbClr val="616161"/>
              </a:solidFill>
              <a:latin typeface="Montserrat"/>
              <a:ea typeface="Montserrat"/>
              <a:cs typeface="Montserrat"/>
              <a:sym typeface="Montserrat"/>
            </a:endParaRPr>
          </a:p>
        </p:txBody>
      </p:sp>
      <p:grpSp>
        <p:nvGrpSpPr>
          <p:cNvPr id="334" name="Google Shape;334;p17"/>
          <p:cNvGrpSpPr/>
          <p:nvPr/>
        </p:nvGrpSpPr>
        <p:grpSpPr>
          <a:xfrm>
            <a:off x="3934107" y="2120825"/>
            <a:ext cx="817618" cy="72728"/>
            <a:chOff x="3198956" y="2429934"/>
            <a:chExt cx="1353000" cy="149400"/>
          </a:xfrm>
        </p:grpSpPr>
        <p:sp>
          <p:nvSpPr>
            <p:cNvPr id="335" name="Google Shape;335;p17"/>
            <p:cNvSpPr/>
            <p:nvPr/>
          </p:nvSpPr>
          <p:spPr>
            <a:xfrm flipH="1">
              <a:off x="31989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6" name="Google Shape;336;p17"/>
            <p:cNvSpPr/>
            <p:nvPr/>
          </p:nvSpPr>
          <p:spPr>
            <a:xfrm flipH="1">
              <a:off x="35037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7" name="Google Shape;337;p17"/>
            <p:cNvSpPr/>
            <p:nvPr/>
          </p:nvSpPr>
          <p:spPr>
            <a:xfrm flipH="1">
              <a:off x="38085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8" name="Google Shape;338;p17"/>
            <p:cNvSpPr/>
            <p:nvPr/>
          </p:nvSpPr>
          <p:spPr>
            <a:xfrm flipH="1">
              <a:off x="41133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9" name="Google Shape;339;p17"/>
            <p:cNvSpPr/>
            <p:nvPr/>
          </p:nvSpPr>
          <p:spPr>
            <a:xfrm flipH="1">
              <a:off x="44181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grpSp>
      <p:cxnSp>
        <p:nvCxnSpPr>
          <p:cNvPr id="340" name="Google Shape;340;p17"/>
          <p:cNvCxnSpPr>
            <a:stCxn id="332" idx="3"/>
            <a:endCxn id="333" idx="1"/>
          </p:cNvCxnSpPr>
          <p:nvPr/>
        </p:nvCxnSpPr>
        <p:spPr>
          <a:xfrm>
            <a:off x="3480700"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41" name="Google Shape;341;p17"/>
          <p:cNvSpPr/>
          <p:nvPr/>
        </p:nvSpPr>
        <p:spPr>
          <a:xfrm>
            <a:off x="3721678" y="1352950"/>
            <a:ext cx="13065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Continuous Evolution of Working Software</a:t>
            </a:r>
            <a:endParaRPr b="0" i="0" sz="700" u="none" cap="none" strike="noStrike">
              <a:solidFill>
                <a:srgbClr val="000000"/>
              </a:solidFill>
              <a:latin typeface="Montserrat"/>
              <a:ea typeface="Montserrat"/>
              <a:cs typeface="Montserrat"/>
              <a:sym typeface="Montserrat"/>
            </a:endParaRPr>
          </a:p>
        </p:txBody>
      </p:sp>
      <p:sp>
        <p:nvSpPr>
          <p:cNvPr id="342" name="Google Shape;342;p17"/>
          <p:cNvSpPr/>
          <p:nvPr/>
        </p:nvSpPr>
        <p:spPr>
          <a:xfrm>
            <a:off x="5324975" y="1677700"/>
            <a:ext cx="7893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UAT</a:t>
            </a:r>
            <a:endParaRPr b="1" i="0" sz="900" u="none" cap="none" strike="noStrike">
              <a:solidFill>
                <a:srgbClr val="616161"/>
              </a:solidFill>
              <a:latin typeface="Montserrat"/>
              <a:ea typeface="Montserrat"/>
              <a:cs typeface="Montserrat"/>
              <a:sym typeface="Montserrat"/>
            </a:endParaRPr>
          </a:p>
        </p:txBody>
      </p:sp>
      <p:cxnSp>
        <p:nvCxnSpPr>
          <p:cNvPr id="343" name="Google Shape;343;p17"/>
          <p:cNvCxnSpPr>
            <a:stCxn id="333" idx="3"/>
            <a:endCxn id="342" idx="1"/>
          </p:cNvCxnSpPr>
          <p:nvPr/>
        </p:nvCxnSpPr>
        <p:spPr>
          <a:xfrm>
            <a:off x="4991439"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44" name="Google Shape;344;p17"/>
          <p:cNvSpPr/>
          <p:nvPr/>
        </p:nvSpPr>
        <p:spPr>
          <a:xfrm>
            <a:off x="6447800" y="1694125"/>
            <a:ext cx="789300" cy="7569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Go-Live</a:t>
            </a:r>
            <a:endParaRPr b="1" i="0" sz="900" u="none" cap="none" strike="noStrike">
              <a:solidFill>
                <a:srgbClr val="616161"/>
              </a:solidFill>
              <a:latin typeface="Montserrat"/>
              <a:ea typeface="Montserrat"/>
              <a:cs typeface="Montserrat"/>
              <a:sym typeface="Montserrat"/>
            </a:endParaRPr>
          </a:p>
        </p:txBody>
      </p:sp>
      <p:cxnSp>
        <p:nvCxnSpPr>
          <p:cNvPr id="345" name="Google Shape;345;p17"/>
          <p:cNvCxnSpPr>
            <a:stCxn id="342" idx="3"/>
            <a:endCxn id="344" idx="1"/>
          </p:cNvCxnSpPr>
          <p:nvPr/>
        </p:nvCxnSpPr>
        <p:spPr>
          <a:xfrm flipH="1" rot="10800000">
            <a:off x="6114275" y="2072500"/>
            <a:ext cx="333600" cy="2700"/>
          </a:xfrm>
          <a:prstGeom prst="straightConnector1">
            <a:avLst/>
          </a:prstGeom>
          <a:noFill/>
          <a:ln cap="flat" cmpd="sng" w="9525">
            <a:solidFill>
              <a:srgbClr val="44546A"/>
            </a:solidFill>
            <a:prstDash val="solid"/>
            <a:round/>
            <a:headEnd len="sm" w="sm" type="none"/>
            <a:tailEnd len="med" w="med" type="triangle"/>
          </a:ln>
        </p:spPr>
      </p:cxnSp>
      <p:sp>
        <p:nvSpPr>
          <p:cNvPr id="346" name="Google Shape;346;p17"/>
          <p:cNvSpPr/>
          <p:nvPr/>
        </p:nvSpPr>
        <p:spPr>
          <a:xfrm>
            <a:off x="7633975" y="1683488"/>
            <a:ext cx="11970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Hypercare</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Support</a:t>
            </a:r>
            <a:endParaRPr b="1" i="0" sz="900" u="none" cap="none" strike="noStrike">
              <a:solidFill>
                <a:srgbClr val="616161"/>
              </a:solidFill>
              <a:latin typeface="Montserrat"/>
              <a:ea typeface="Montserrat"/>
              <a:cs typeface="Montserrat"/>
              <a:sym typeface="Montserrat"/>
            </a:endParaRPr>
          </a:p>
        </p:txBody>
      </p:sp>
      <p:cxnSp>
        <p:nvCxnSpPr>
          <p:cNvPr id="347" name="Google Shape;347;p17"/>
          <p:cNvCxnSpPr/>
          <p:nvPr/>
        </p:nvCxnSpPr>
        <p:spPr>
          <a:xfrm>
            <a:off x="7237088" y="2071309"/>
            <a:ext cx="365700" cy="7800"/>
          </a:xfrm>
          <a:prstGeom prst="straightConnector1">
            <a:avLst/>
          </a:prstGeom>
          <a:noFill/>
          <a:ln cap="flat" cmpd="sng" w="9525">
            <a:solidFill>
              <a:srgbClr val="44546A"/>
            </a:solidFill>
            <a:prstDash val="solid"/>
            <a:round/>
            <a:headEnd len="sm" w="sm" type="none"/>
            <a:tailEnd len="med" w="med" type="triangle"/>
          </a:ln>
        </p:spPr>
      </p:cxnSp>
      <p:sp>
        <p:nvSpPr>
          <p:cNvPr id="348" name="Google Shape;348;p17"/>
          <p:cNvSpPr/>
          <p:nvPr/>
        </p:nvSpPr>
        <p:spPr>
          <a:xfrm>
            <a:off x="2374525" y="2817019"/>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9" name="Google Shape;349;p17"/>
          <p:cNvSpPr/>
          <p:nvPr/>
        </p:nvSpPr>
        <p:spPr>
          <a:xfrm>
            <a:off x="2374517" y="3276841"/>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0" name="Google Shape;350;p17"/>
          <p:cNvSpPr/>
          <p:nvPr/>
        </p:nvSpPr>
        <p:spPr>
          <a:xfrm>
            <a:off x="2374517" y="3727228"/>
            <a:ext cx="1054200" cy="204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1" name="Google Shape;351;p17"/>
          <p:cNvSpPr/>
          <p:nvPr/>
        </p:nvSpPr>
        <p:spPr>
          <a:xfrm>
            <a:off x="4131026" y="3035164"/>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2" name="Google Shape;352;p17"/>
          <p:cNvSpPr/>
          <p:nvPr/>
        </p:nvSpPr>
        <p:spPr>
          <a:xfrm>
            <a:off x="4131026" y="3299908"/>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3" name="Google Shape;353;p17"/>
          <p:cNvSpPr/>
          <p:nvPr/>
        </p:nvSpPr>
        <p:spPr>
          <a:xfrm>
            <a:off x="4131026" y="356070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4" name="Google Shape;354;p17"/>
          <p:cNvSpPr/>
          <p:nvPr/>
        </p:nvSpPr>
        <p:spPr>
          <a:xfrm>
            <a:off x="4131026" y="381359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5" name="Google Shape;355;p17"/>
          <p:cNvSpPr/>
          <p:nvPr/>
        </p:nvSpPr>
        <p:spPr>
          <a:xfrm>
            <a:off x="4131026" y="2766471"/>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356" name="Google Shape;356;p17"/>
          <p:cNvCxnSpPr/>
          <p:nvPr/>
        </p:nvCxnSpPr>
        <p:spPr>
          <a:xfrm>
            <a:off x="3992919" y="2867471"/>
            <a:ext cx="0" cy="1011600"/>
          </a:xfrm>
          <a:prstGeom prst="straightConnector1">
            <a:avLst/>
          </a:prstGeom>
          <a:noFill/>
          <a:ln cap="flat" cmpd="sng" w="12700">
            <a:solidFill>
              <a:srgbClr val="7F7F7F"/>
            </a:solidFill>
            <a:prstDash val="solid"/>
            <a:miter lim="80"/>
            <a:headEnd len="sm" w="sm" type="none"/>
            <a:tailEnd len="sm" w="sm" type="none"/>
          </a:ln>
        </p:spPr>
      </p:cxnSp>
      <p:sp>
        <p:nvSpPr>
          <p:cNvPr id="357" name="Google Shape;357;p17"/>
          <p:cNvSpPr/>
          <p:nvPr/>
        </p:nvSpPr>
        <p:spPr>
          <a:xfrm>
            <a:off x="3804525" y="4077663"/>
            <a:ext cx="1202100" cy="433800"/>
          </a:xfrm>
          <a:prstGeom prst="rect">
            <a:avLst/>
          </a:prstGeom>
          <a:solidFill>
            <a:srgbClr val="F2F2F2"/>
          </a:solid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Iterative &amp; Incremental </a:t>
            </a:r>
            <a:endParaRPr b="0" i="0" sz="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Collaboration</a:t>
            </a:r>
            <a:endParaRPr b="0" i="0" sz="700" u="none" cap="none" strike="noStrike">
              <a:solidFill>
                <a:srgbClr val="FFFFFF"/>
              </a:solidFill>
              <a:latin typeface="Montserrat"/>
              <a:ea typeface="Montserrat"/>
              <a:cs typeface="Montserrat"/>
              <a:sym typeface="Montserrat"/>
            </a:endParaRPr>
          </a:p>
        </p:txBody>
      </p:sp>
      <p:sp>
        <p:nvSpPr>
          <p:cNvPr id="358" name="Google Shape;358;p17"/>
          <p:cNvSpPr/>
          <p:nvPr/>
        </p:nvSpPr>
        <p:spPr>
          <a:xfrm>
            <a:off x="2304491" y="3293825"/>
            <a:ext cx="1054200" cy="297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 Framework Setup</a:t>
            </a:r>
            <a:endParaRPr b="0" i="0" sz="700" u="none" cap="none" strike="noStrike">
              <a:solidFill>
                <a:srgbClr val="000000"/>
              </a:solidFill>
              <a:latin typeface="Montserrat"/>
              <a:ea typeface="Montserrat"/>
              <a:cs typeface="Montserrat"/>
              <a:sym typeface="Montserrat"/>
            </a:endParaRPr>
          </a:p>
        </p:txBody>
      </p:sp>
      <p:sp>
        <p:nvSpPr>
          <p:cNvPr id="359" name="Google Shape;359;p17"/>
          <p:cNvSpPr/>
          <p:nvPr/>
        </p:nvSpPr>
        <p:spPr>
          <a:xfrm>
            <a:off x="2463228" y="3738183"/>
            <a:ext cx="8973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Dev &amp; CI Setup</a:t>
            </a:r>
            <a:endParaRPr b="0" i="0" sz="700" u="none" cap="none" strike="noStrike">
              <a:solidFill>
                <a:srgbClr val="000000"/>
              </a:solidFill>
              <a:latin typeface="Montserrat"/>
              <a:ea typeface="Montserrat"/>
              <a:cs typeface="Montserrat"/>
              <a:sym typeface="Montserrat"/>
            </a:endParaRPr>
          </a:p>
        </p:txBody>
      </p:sp>
      <p:sp>
        <p:nvSpPr>
          <p:cNvPr id="360" name="Google Shape;360;p17"/>
          <p:cNvSpPr/>
          <p:nvPr/>
        </p:nvSpPr>
        <p:spPr>
          <a:xfrm>
            <a:off x="2308793" y="4041178"/>
            <a:ext cx="1202100" cy="433800"/>
          </a:xfrm>
          <a:prstGeom prst="rect">
            <a:avLst/>
          </a:prstGeom>
          <a:solidFill>
            <a:srgbClr val="F2F2F2"/>
          </a:solid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Project Setup &amp; Preparation</a:t>
            </a:r>
            <a:endParaRPr b="0" i="0" sz="700" u="none" cap="none" strike="noStrike">
              <a:solidFill>
                <a:srgbClr val="FFFFFF"/>
              </a:solidFill>
              <a:latin typeface="Montserrat"/>
              <a:ea typeface="Montserrat"/>
              <a:cs typeface="Montserrat"/>
              <a:sym typeface="Montserrat"/>
            </a:endParaRPr>
          </a:p>
        </p:txBody>
      </p:sp>
      <p:sp>
        <p:nvSpPr>
          <p:cNvPr id="361" name="Google Shape;361;p17"/>
          <p:cNvSpPr/>
          <p:nvPr/>
        </p:nvSpPr>
        <p:spPr>
          <a:xfrm>
            <a:off x="4155819" y="2755171"/>
            <a:ext cx="5769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Analyse</a:t>
            </a:r>
            <a:endParaRPr b="0" i="0" sz="700" u="none" cap="none" strike="noStrike">
              <a:solidFill>
                <a:srgbClr val="000000"/>
              </a:solidFill>
              <a:latin typeface="Montserrat"/>
              <a:ea typeface="Montserrat"/>
              <a:cs typeface="Montserrat"/>
              <a:sym typeface="Montserrat"/>
            </a:endParaRPr>
          </a:p>
        </p:txBody>
      </p:sp>
      <p:sp>
        <p:nvSpPr>
          <p:cNvPr id="362" name="Google Shape;362;p17"/>
          <p:cNvSpPr/>
          <p:nvPr/>
        </p:nvSpPr>
        <p:spPr>
          <a:xfrm>
            <a:off x="4190073" y="3018350"/>
            <a:ext cx="5085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Design</a:t>
            </a:r>
            <a:endParaRPr b="0" i="0" sz="700" u="none" cap="none" strike="noStrike">
              <a:solidFill>
                <a:srgbClr val="000000"/>
              </a:solidFill>
              <a:latin typeface="Montserrat"/>
              <a:ea typeface="Montserrat"/>
              <a:cs typeface="Montserrat"/>
              <a:sym typeface="Montserrat"/>
            </a:endParaRPr>
          </a:p>
        </p:txBody>
      </p:sp>
      <p:sp>
        <p:nvSpPr>
          <p:cNvPr id="363" name="Google Shape;363;p17"/>
          <p:cNvSpPr/>
          <p:nvPr/>
        </p:nvSpPr>
        <p:spPr>
          <a:xfrm>
            <a:off x="4125640" y="3285549"/>
            <a:ext cx="6480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Code</a:t>
            </a:r>
            <a:endParaRPr b="0" i="0" sz="700" u="none" cap="none" strike="noStrike">
              <a:solidFill>
                <a:srgbClr val="000000"/>
              </a:solidFill>
              <a:latin typeface="Montserrat"/>
              <a:ea typeface="Montserrat"/>
              <a:cs typeface="Montserrat"/>
              <a:sym typeface="Montserrat"/>
            </a:endParaRPr>
          </a:p>
        </p:txBody>
      </p:sp>
      <p:sp>
        <p:nvSpPr>
          <p:cNvPr id="364" name="Google Shape;364;p17"/>
          <p:cNvSpPr/>
          <p:nvPr/>
        </p:nvSpPr>
        <p:spPr>
          <a:xfrm>
            <a:off x="4279537" y="3537980"/>
            <a:ext cx="3294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a:t>
            </a:r>
            <a:endParaRPr b="0" i="0" sz="700" u="none" cap="none" strike="noStrike">
              <a:solidFill>
                <a:srgbClr val="000000"/>
              </a:solidFill>
              <a:latin typeface="Montserrat"/>
              <a:ea typeface="Montserrat"/>
              <a:cs typeface="Montserrat"/>
              <a:sym typeface="Montserrat"/>
            </a:endParaRPr>
          </a:p>
        </p:txBody>
      </p:sp>
      <p:sp>
        <p:nvSpPr>
          <p:cNvPr id="365" name="Google Shape;365;p17"/>
          <p:cNvSpPr/>
          <p:nvPr/>
        </p:nvSpPr>
        <p:spPr>
          <a:xfrm>
            <a:off x="4156461" y="3790409"/>
            <a:ext cx="5361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Deploy</a:t>
            </a:r>
            <a:endParaRPr b="0" i="0" sz="700" u="none" cap="none" strike="noStrike">
              <a:solidFill>
                <a:srgbClr val="000000"/>
              </a:solidFill>
              <a:latin typeface="Montserrat"/>
              <a:ea typeface="Montserrat"/>
              <a:cs typeface="Montserrat"/>
              <a:sym typeface="Montserrat"/>
            </a:endParaRPr>
          </a:p>
        </p:txBody>
      </p:sp>
      <p:cxnSp>
        <p:nvCxnSpPr>
          <p:cNvPr id="366" name="Google Shape;366;p17"/>
          <p:cNvCxnSpPr/>
          <p:nvPr/>
        </p:nvCxnSpPr>
        <p:spPr>
          <a:xfrm flipH="1">
            <a:off x="4443986" y="2927883"/>
            <a:ext cx="1200" cy="105000"/>
          </a:xfrm>
          <a:prstGeom prst="straightConnector1">
            <a:avLst/>
          </a:prstGeom>
          <a:noFill/>
          <a:ln cap="flat" cmpd="sng" w="9525">
            <a:solidFill>
              <a:srgbClr val="616161"/>
            </a:solidFill>
            <a:prstDash val="solid"/>
            <a:miter lim="80"/>
            <a:headEnd len="sm" w="sm" type="none"/>
            <a:tailEnd len="med" w="med" type="triangle"/>
          </a:ln>
        </p:spPr>
      </p:cxnSp>
      <p:cxnSp>
        <p:nvCxnSpPr>
          <p:cNvPr id="367" name="Google Shape;367;p17"/>
          <p:cNvCxnSpPr/>
          <p:nvPr/>
        </p:nvCxnSpPr>
        <p:spPr>
          <a:xfrm>
            <a:off x="3995621" y="2867471"/>
            <a:ext cx="147900" cy="0"/>
          </a:xfrm>
          <a:prstGeom prst="straightConnector1">
            <a:avLst/>
          </a:prstGeom>
          <a:noFill/>
          <a:ln cap="flat" cmpd="sng" w="9525">
            <a:solidFill>
              <a:srgbClr val="616161"/>
            </a:solidFill>
            <a:prstDash val="solid"/>
            <a:miter lim="80"/>
            <a:headEnd len="sm" w="sm" type="none"/>
            <a:tailEnd len="med" w="med" type="triangle"/>
          </a:ln>
        </p:spPr>
      </p:cxnSp>
      <p:cxnSp>
        <p:nvCxnSpPr>
          <p:cNvPr id="368" name="Google Shape;368;p17"/>
          <p:cNvCxnSpPr/>
          <p:nvPr/>
        </p:nvCxnSpPr>
        <p:spPr>
          <a:xfrm>
            <a:off x="3992919" y="3881063"/>
            <a:ext cx="150900" cy="0"/>
          </a:xfrm>
          <a:prstGeom prst="straightConnector1">
            <a:avLst/>
          </a:prstGeom>
          <a:noFill/>
          <a:ln cap="flat" cmpd="sng" w="12700">
            <a:solidFill>
              <a:srgbClr val="7F7F7F"/>
            </a:solidFill>
            <a:prstDash val="solid"/>
            <a:miter lim="80"/>
            <a:headEnd len="sm" w="sm" type="none"/>
            <a:tailEnd len="sm" w="sm" type="none"/>
          </a:ln>
        </p:spPr>
      </p:cxnSp>
      <p:sp>
        <p:nvSpPr>
          <p:cNvPr id="369" name="Google Shape;369;p17"/>
          <p:cNvSpPr/>
          <p:nvPr/>
        </p:nvSpPr>
        <p:spPr>
          <a:xfrm rot="-5400000">
            <a:off x="3694246" y="3254831"/>
            <a:ext cx="452400" cy="162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Century Gothic"/>
                <a:ea typeface="Century Gothic"/>
                <a:cs typeface="Century Gothic"/>
                <a:sym typeface="Century Gothic"/>
              </a:rPr>
              <a:t>Repeat</a:t>
            </a:r>
            <a:endParaRPr b="0" i="0" sz="600" u="none" cap="none" strike="noStrike">
              <a:solidFill>
                <a:srgbClr val="000000"/>
              </a:solidFill>
              <a:latin typeface="Century Gothic"/>
              <a:ea typeface="Century Gothic"/>
              <a:cs typeface="Century Gothic"/>
              <a:sym typeface="Century Gothic"/>
            </a:endParaRPr>
          </a:p>
        </p:txBody>
      </p:sp>
      <p:cxnSp>
        <p:nvCxnSpPr>
          <p:cNvPr id="370" name="Google Shape;370;p17"/>
          <p:cNvCxnSpPr/>
          <p:nvPr/>
        </p:nvCxnSpPr>
        <p:spPr>
          <a:xfrm flipH="1">
            <a:off x="4443986" y="3192628"/>
            <a:ext cx="1200" cy="105000"/>
          </a:xfrm>
          <a:prstGeom prst="straightConnector1">
            <a:avLst/>
          </a:prstGeom>
          <a:noFill/>
          <a:ln cap="flat" cmpd="sng" w="9525">
            <a:solidFill>
              <a:srgbClr val="616161"/>
            </a:solidFill>
            <a:prstDash val="solid"/>
            <a:miter lim="80"/>
            <a:headEnd len="sm" w="sm" type="none"/>
            <a:tailEnd len="med" w="med" type="triangle"/>
          </a:ln>
        </p:spPr>
      </p:cxnSp>
      <p:cxnSp>
        <p:nvCxnSpPr>
          <p:cNvPr id="371" name="Google Shape;371;p17"/>
          <p:cNvCxnSpPr/>
          <p:nvPr/>
        </p:nvCxnSpPr>
        <p:spPr>
          <a:xfrm flipH="1">
            <a:off x="4443986" y="3457373"/>
            <a:ext cx="1200" cy="105000"/>
          </a:xfrm>
          <a:prstGeom prst="straightConnector1">
            <a:avLst/>
          </a:prstGeom>
          <a:noFill/>
          <a:ln cap="flat" cmpd="sng" w="9525">
            <a:solidFill>
              <a:srgbClr val="616161"/>
            </a:solidFill>
            <a:prstDash val="solid"/>
            <a:miter lim="80"/>
            <a:headEnd len="sm" w="sm" type="none"/>
            <a:tailEnd len="med" w="med" type="triangle"/>
          </a:ln>
        </p:spPr>
      </p:cxnSp>
      <p:cxnSp>
        <p:nvCxnSpPr>
          <p:cNvPr id="372" name="Google Shape;372;p17"/>
          <p:cNvCxnSpPr/>
          <p:nvPr/>
        </p:nvCxnSpPr>
        <p:spPr>
          <a:xfrm flipH="1">
            <a:off x="4443986" y="3714215"/>
            <a:ext cx="1200" cy="105000"/>
          </a:xfrm>
          <a:prstGeom prst="straightConnector1">
            <a:avLst/>
          </a:prstGeom>
          <a:noFill/>
          <a:ln cap="flat" cmpd="sng" w="9525">
            <a:solidFill>
              <a:srgbClr val="616161"/>
            </a:solidFill>
            <a:prstDash val="solid"/>
            <a:miter lim="80"/>
            <a:headEnd len="sm" w="sm" type="none"/>
            <a:tailEnd len="med" w="med" type="triangle"/>
          </a:ln>
        </p:spPr>
      </p:cxnSp>
      <p:pic>
        <p:nvPicPr>
          <p:cNvPr id="373" name="Google Shape;373;p17"/>
          <p:cNvPicPr preferRelativeResize="0"/>
          <p:nvPr/>
        </p:nvPicPr>
        <p:blipFill rotWithShape="1">
          <a:blip r:embed="rId3">
            <a:alphaModFix/>
          </a:blip>
          <a:srcRect b="20805" l="17274" r="12333" t="17276"/>
          <a:stretch/>
        </p:blipFill>
        <p:spPr>
          <a:xfrm>
            <a:off x="2755125" y="1771113"/>
            <a:ext cx="228668" cy="211275"/>
          </a:xfrm>
          <a:prstGeom prst="rect">
            <a:avLst/>
          </a:prstGeom>
          <a:noFill/>
          <a:ln>
            <a:noFill/>
          </a:ln>
        </p:spPr>
      </p:pic>
      <p:pic>
        <p:nvPicPr>
          <p:cNvPr id="374" name="Google Shape;374;p17"/>
          <p:cNvPicPr preferRelativeResize="0"/>
          <p:nvPr/>
        </p:nvPicPr>
        <p:blipFill rotWithShape="1">
          <a:blip r:embed="rId4">
            <a:alphaModFix/>
          </a:blip>
          <a:srcRect b="0" l="0" r="0" t="0"/>
          <a:stretch/>
        </p:blipFill>
        <p:spPr>
          <a:xfrm>
            <a:off x="5605313" y="1880725"/>
            <a:ext cx="228675" cy="228675"/>
          </a:xfrm>
          <a:prstGeom prst="rect">
            <a:avLst/>
          </a:prstGeom>
          <a:noFill/>
          <a:ln>
            <a:noFill/>
          </a:ln>
        </p:spPr>
      </p:pic>
      <p:pic>
        <p:nvPicPr>
          <p:cNvPr id="375" name="Google Shape;375;p17"/>
          <p:cNvPicPr preferRelativeResize="0"/>
          <p:nvPr/>
        </p:nvPicPr>
        <p:blipFill rotWithShape="1">
          <a:blip r:embed="rId5">
            <a:alphaModFix/>
          </a:blip>
          <a:srcRect b="0" l="0" r="0" t="0"/>
          <a:stretch/>
        </p:blipFill>
        <p:spPr>
          <a:xfrm>
            <a:off x="6691264" y="1886352"/>
            <a:ext cx="365700" cy="217409"/>
          </a:xfrm>
          <a:prstGeom prst="rect">
            <a:avLst/>
          </a:prstGeom>
          <a:noFill/>
          <a:ln>
            <a:noFill/>
          </a:ln>
        </p:spPr>
      </p:pic>
      <p:pic>
        <p:nvPicPr>
          <p:cNvPr id="376" name="Google Shape;376;p17"/>
          <p:cNvPicPr preferRelativeResize="0"/>
          <p:nvPr/>
        </p:nvPicPr>
        <p:blipFill rotWithShape="1">
          <a:blip r:embed="rId6">
            <a:alphaModFix/>
          </a:blip>
          <a:srcRect b="0" l="0" r="0" t="0"/>
          <a:stretch/>
        </p:blipFill>
        <p:spPr>
          <a:xfrm>
            <a:off x="8118138" y="1785736"/>
            <a:ext cx="228675" cy="228675"/>
          </a:xfrm>
          <a:prstGeom prst="rect">
            <a:avLst/>
          </a:prstGeom>
          <a:noFill/>
          <a:ln>
            <a:noFill/>
          </a:ln>
        </p:spPr>
      </p:pic>
      <p:grpSp>
        <p:nvGrpSpPr>
          <p:cNvPr id="377" name="Google Shape;377;p17"/>
          <p:cNvGrpSpPr/>
          <p:nvPr/>
        </p:nvGrpSpPr>
        <p:grpSpPr>
          <a:xfrm>
            <a:off x="308754" y="1982358"/>
            <a:ext cx="1734192" cy="256660"/>
            <a:chOff x="530597" y="1659894"/>
            <a:chExt cx="1541778" cy="210931"/>
          </a:xfrm>
        </p:grpSpPr>
        <p:sp>
          <p:nvSpPr>
            <p:cNvPr id="378" name="Google Shape;378;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Project Manager/Business Analyst</a:t>
              </a:r>
              <a:endParaRPr b="0" i="0" sz="800" u="none" cap="none" strike="noStrike">
                <a:solidFill>
                  <a:srgbClr val="000000"/>
                </a:solidFill>
                <a:latin typeface="Montserrat"/>
                <a:ea typeface="Montserrat"/>
                <a:cs typeface="Montserrat"/>
                <a:sym typeface="Montserrat"/>
              </a:endParaRPr>
            </a:p>
          </p:txBody>
        </p:sp>
        <p:pic>
          <p:nvPicPr>
            <p:cNvPr id="379" name="Google Shape;379;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380" name="Google Shape;380;p17"/>
          <p:cNvSpPr txBox="1"/>
          <p:nvPr/>
        </p:nvSpPr>
        <p:spPr>
          <a:xfrm>
            <a:off x="2538875" y="980525"/>
            <a:ext cx="4908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accent2"/>
                </a:solidFill>
                <a:latin typeface="Montserrat"/>
                <a:ea typeface="Montserrat"/>
                <a:cs typeface="Montserrat"/>
                <a:sym typeface="Montserrat"/>
              </a:rPr>
              <a:t>Agile Based iterative Development Approach</a:t>
            </a:r>
            <a:endParaRPr b="1" i="0" sz="1000" u="none" cap="none" strike="noStrike">
              <a:solidFill>
                <a:schemeClr val="accent2"/>
              </a:solidFill>
              <a:latin typeface="Montserrat"/>
              <a:ea typeface="Montserrat"/>
              <a:cs typeface="Montserrat"/>
              <a:sym typeface="Montserrat"/>
            </a:endParaRPr>
          </a:p>
        </p:txBody>
      </p:sp>
      <p:sp>
        <p:nvSpPr>
          <p:cNvPr id="381" name="Google Shape;381;p17"/>
          <p:cNvSpPr txBox="1"/>
          <p:nvPr/>
        </p:nvSpPr>
        <p:spPr>
          <a:xfrm>
            <a:off x="-241825" y="1505825"/>
            <a:ext cx="30000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accent2"/>
                </a:solidFill>
                <a:latin typeface="Montserrat"/>
                <a:ea typeface="Montserrat"/>
                <a:cs typeface="Montserrat"/>
                <a:sym typeface="Montserrat"/>
              </a:rPr>
              <a:t>TTN Engineering Team</a:t>
            </a:r>
            <a:endParaRPr b="1" i="0" sz="900" u="none" cap="none" strike="noStrike">
              <a:solidFill>
                <a:schemeClr val="accent2"/>
              </a:solidFill>
              <a:latin typeface="Montserrat"/>
              <a:ea typeface="Montserrat"/>
              <a:cs typeface="Montserrat"/>
              <a:sym typeface="Montserrat"/>
            </a:endParaRPr>
          </a:p>
        </p:txBody>
      </p:sp>
      <p:sp>
        <p:nvSpPr>
          <p:cNvPr id="382" name="Google Shape;382;p17"/>
          <p:cNvSpPr/>
          <p:nvPr/>
        </p:nvSpPr>
        <p:spPr>
          <a:xfrm>
            <a:off x="2344200" y="2880388"/>
            <a:ext cx="10137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Tech &amp; Functional Discovery</a:t>
            </a:r>
            <a:endParaRPr b="0" i="0" sz="700" u="none" cap="none" strike="noStrike">
              <a:solidFill>
                <a:srgbClr val="000000"/>
              </a:solidFill>
              <a:latin typeface="Montserrat"/>
              <a:ea typeface="Montserrat"/>
              <a:cs typeface="Montserrat"/>
              <a:sym typeface="Montserrat"/>
            </a:endParaRPr>
          </a:p>
        </p:txBody>
      </p:sp>
      <p:grpSp>
        <p:nvGrpSpPr>
          <p:cNvPr id="383" name="Google Shape;383;p17"/>
          <p:cNvGrpSpPr/>
          <p:nvPr/>
        </p:nvGrpSpPr>
        <p:grpSpPr>
          <a:xfrm>
            <a:off x="298800" y="2292174"/>
            <a:ext cx="1734192" cy="256660"/>
            <a:chOff x="530597" y="1659894"/>
            <a:chExt cx="1541778" cy="210931"/>
          </a:xfrm>
        </p:grpSpPr>
        <p:sp>
          <p:nvSpPr>
            <p:cNvPr id="384" name="Google Shape;384;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Technical lead</a:t>
              </a:r>
              <a:endParaRPr b="0" i="0" sz="800" u="none" cap="none" strike="noStrike">
                <a:solidFill>
                  <a:srgbClr val="000000"/>
                </a:solidFill>
                <a:latin typeface="Montserrat"/>
                <a:ea typeface="Montserrat"/>
                <a:cs typeface="Montserrat"/>
                <a:sym typeface="Montserrat"/>
              </a:endParaRPr>
            </a:p>
          </p:txBody>
        </p:sp>
        <p:pic>
          <p:nvPicPr>
            <p:cNvPr id="385" name="Google Shape;385;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86" name="Google Shape;386;p17"/>
          <p:cNvGrpSpPr/>
          <p:nvPr/>
        </p:nvGrpSpPr>
        <p:grpSpPr>
          <a:xfrm>
            <a:off x="308757" y="2617640"/>
            <a:ext cx="1734192" cy="256660"/>
            <a:chOff x="530597" y="1659894"/>
            <a:chExt cx="1541778" cy="210931"/>
          </a:xfrm>
        </p:grpSpPr>
        <p:sp>
          <p:nvSpPr>
            <p:cNvPr id="387" name="Google Shape;387;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DevOps Experts</a:t>
              </a:r>
              <a:endParaRPr b="0" i="0" sz="800" u="none" cap="none" strike="noStrike">
                <a:solidFill>
                  <a:srgbClr val="000000"/>
                </a:solidFill>
                <a:latin typeface="Montserrat"/>
                <a:ea typeface="Montserrat"/>
                <a:cs typeface="Montserrat"/>
                <a:sym typeface="Montserrat"/>
              </a:endParaRPr>
            </a:p>
          </p:txBody>
        </p:sp>
        <p:pic>
          <p:nvPicPr>
            <p:cNvPr id="388" name="Google Shape;388;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89" name="Google Shape;389;p17"/>
          <p:cNvGrpSpPr/>
          <p:nvPr/>
        </p:nvGrpSpPr>
        <p:grpSpPr>
          <a:xfrm>
            <a:off x="298803" y="2943091"/>
            <a:ext cx="1734192" cy="256660"/>
            <a:chOff x="530597" y="1659894"/>
            <a:chExt cx="1541778" cy="210931"/>
          </a:xfrm>
        </p:grpSpPr>
        <p:sp>
          <p:nvSpPr>
            <p:cNvPr id="390" name="Google Shape;390;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Ui/UX Expert</a:t>
              </a:r>
              <a:endParaRPr b="0" i="0" sz="800" u="none" cap="none" strike="noStrike">
                <a:solidFill>
                  <a:srgbClr val="000000"/>
                </a:solidFill>
                <a:latin typeface="Montserrat"/>
                <a:ea typeface="Montserrat"/>
                <a:cs typeface="Montserrat"/>
                <a:sym typeface="Montserrat"/>
              </a:endParaRPr>
            </a:p>
          </p:txBody>
        </p:sp>
        <p:pic>
          <p:nvPicPr>
            <p:cNvPr id="391" name="Google Shape;391;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92" name="Google Shape;392;p17"/>
          <p:cNvGrpSpPr/>
          <p:nvPr/>
        </p:nvGrpSpPr>
        <p:grpSpPr>
          <a:xfrm>
            <a:off x="298803" y="3281643"/>
            <a:ext cx="1734192" cy="256660"/>
            <a:chOff x="530597" y="1659894"/>
            <a:chExt cx="1541778" cy="210931"/>
          </a:xfrm>
        </p:grpSpPr>
        <p:sp>
          <p:nvSpPr>
            <p:cNvPr id="393" name="Google Shape;393;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Mobility Developer</a:t>
              </a:r>
              <a:endParaRPr b="0" i="0" sz="800" u="none" cap="none" strike="noStrike">
                <a:solidFill>
                  <a:srgbClr val="000000"/>
                </a:solidFill>
                <a:latin typeface="Montserrat"/>
                <a:ea typeface="Montserrat"/>
                <a:cs typeface="Montserrat"/>
                <a:sym typeface="Montserrat"/>
              </a:endParaRPr>
            </a:p>
          </p:txBody>
        </p:sp>
        <p:pic>
          <p:nvPicPr>
            <p:cNvPr id="394" name="Google Shape;394;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95" name="Google Shape;395;p17"/>
          <p:cNvGrpSpPr/>
          <p:nvPr/>
        </p:nvGrpSpPr>
        <p:grpSpPr>
          <a:xfrm>
            <a:off x="298803" y="3624423"/>
            <a:ext cx="1734192" cy="256660"/>
            <a:chOff x="530597" y="1659894"/>
            <a:chExt cx="1541778" cy="210931"/>
          </a:xfrm>
        </p:grpSpPr>
        <p:sp>
          <p:nvSpPr>
            <p:cNvPr id="396" name="Google Shape;396;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Quality Analyst</a:t>
              </a:r>
              <a:endParaRPr b="0" i="0" sz="800" u="none" cap="none" strike="noStrike">
                <a:solidFill>
                  <a:srgbClr val="000000"/>
                </a:solidFill>
                <a:latin typeface="Montserrat"/>
                <a:ea typeface="Montserrat"/>
                <a:cs typeface="Montserrat"/>
                <a:sym typeface="Montserrat"/>
              </a:endParaRPr>
            </a:p>
          </p:txBody>
        </p:sp>
        <p:pic>
          <p:nvPicPr>
            <p:cNvPr id="397" name="Google Shape;397;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398" name="Google Shape;398;p17"/>
          <p:cNvSpPr txBox="1"/>
          <p:nvPr/>
        </p:nvSpPr>
        <p:spPr>
          <a:xfrm>
            <a:off x="5325050" y="2625250"/>
            <a:ext cx="3480300" cy="1313700"/>
          </a:xfrm>
          <a:prstGeom prst="rect">
            <a:avLst/>
          </a:prstGeom>
          <a:solidFill>
            <a:srgbClr val="FFFFFF"/>
          </a:solidFill>
          <a:ln cap="flat" cmpd="sng" w="9525">
            <a:solidFill>
              <a:srgbClr val="EFEFEF"/>
            </a:solidFill>
            <a:prstDash val="solid"/>
            <a:round/>
            <a:headEnd len="sm" w="sm" type="none"/>
            <a:tailEnd len="sm" w="sm" type="none"/>
          </a:ln>
          <a:effectLst>
            <a:outerShdw blurRad="157163" rotWithShape="0" algn="bl" dir="9060000" dist="9525">
              <a:srgbClr val="000000">
                <a:alpha val="14118"/>
              </a:srgbClr>
            </a:outerShdw>
          </a:effectLst>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900"/>
              <a:buFont typeface="Arial"/>
              <a:buNone/>
            </a:pPr>
            <a:r>
              <a:rPr b="1" i="0" lang="en" sz="900" u="none" cap="none" strike="noStrike">
                <a:solidFill>
                  <a:srgbClr val="CE005C"/>
                </a:solidFill>
                <a:latin typeface="Montserrat"/>
                <a:ea typeface="Montserrat"/>
                <a:cs typeface="Montserrat"/>
                <a:sym typeface="Montserrat"/>
              </a:rPr>
              <a:t>Key Program Deliverables</a:t>
            </a:r>
            <a:endParaRPr b="1" i="0" sz="900" u="none" cap="none" strike="noStrike">
              <a:solidFill>
                <a:srgbClr val="CE005C"/>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Project Charter</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RAID Register</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Sprint Report</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Project Plan</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Arch. &amp; Design Document</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Test Strategy document &amp; Test Cases</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Focused Trainings (where applicable)</a:t>
            </a:r>
            <a:endParaRPr b="0" i="0" sz="900" u="none" cap="none" strike="noStrike">
              <a:solidFill>
                <a:srgbClr val="000000"/>
              </a:solidFill>
              <a:latin typeface="Montserrat"/>
              <a:ea typeface="Montserrat"/>
              <a:cs typeface="Montserrat"/>
              <a:sym typeface="Montserrat"/>
            </a:endParaRPr>
          </a:p>
        </p:txBody>
      </p:sp>
      <p:sp>
        <p:nvSpPr>
          <p:cNvPr id="399" name="Google Shape;399;p1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400" name="Google Shape;400;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8"/>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Governance Model</a:t>
            </a:r>
            <a:endParaRPr b="1" i="0" sz="2000" u="none" cap="none" strike="noStrike">
              <a:solidFill>
                <a:schemeClr val="dk1"/>
              </a:solidFill>
              <a:latin typeface="Montserrat"/>
              <a:ea typeface="Montserrat"/>
              <a:cs typeface="Montserrat"/>
              <a:sym typeface="Montserrat"/>
            </a:endParaRPr>
          </a:p>
        </p:txBody>
      </p:sp>
      <p:sp>
        <p:nvSpPr>
          <p:cNvPr id="406" name="Google Shape;406;p18"/>
          <p:cNvSpPr/>
          <p:nvPr/>
        </p:nvSpPr>
        <p:spPr>
          <a:xfrm>
            <a:off x="406550" y="2890925"/>
            <a:ext cx="8032800" cy="2023500"/>
          </a:xfrm>
          <a:prstGeom prst="snip1Rect">
            <a:avLst>
              <a:gd fmla="val 8163" name="adj"/>
            </a:avLst>
          </a:prstGeom>
          <a:solidFill>
            <a:srgbClr val="FFFFFF"/>
          </a:solidFill>
          <a:ln cap="flat" cmpd="sng" w="9525">
            <a:solidFill>
              <a:srgbClr val="6F3A93"/>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07" name="Google Shape;407;p18"/>
          <p:cNvSpPr/>
          <p:nvPr/>
        </p:nvSpPr>
        <p:spPr>
          <a:xfrm>
            <a:off x="6340857" y="3106350"/>
            <a:ext cx="1684800" cy="17016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08" name="Google Shape;408;p18"/>
          <p:cNvSpPr/>
          <p:nvPr/>
        </p:nvSpPr>
        <p:spPr>
          <a:xfrm>
            <a:off x="6822582" y="1602888"/>
            <a:ext cx="2121000" cy="8010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09" name="Google Shape;409;p18"/>
          <p:cNvSpPr/>
          <p:nvPr/>
        </p:nvSpPr>
        <p:spPr>
          <a:xfrm>
            <a:off x="330332" y="2029610"/>
            <a:ext cx="6291000" cy="4974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10" name="Google Shape;410;p18"/>
          <p:cNvSpPr/>
          <p:nvPr/>
        </p:nvSpPr>
        <p:spPr>
          <a:xfrm>
            <a:off x="317407" y="1296319"/>
            <a:ext cx="6291000" cy="4443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cxnSp>
        <p:nvCxnSpPr>
          <p:cNvPr id="411" name="Google Shape;411;p18"/>
          <p:cNvCxnSpPr/>
          <p:nvPr/>
        </p:nvCxnSpPr>
        <p:spPr>
          <a:xfrm rot="10800000">
            <a:off x="6694101" y="1402153"/>
            <a:ext cx="1177500" cy="211500"/>
          </a:xfrm>
          <a:prstGeom prst="bentConnector3">
            <a:avLst>
              <a:gd fmla="val -748" name="adj1"/>
            </a:avLst>
          </a:prstGeom>
          <a:noFill/>
          <a:ln cap="flat" cmpd="sng" w="9525">
            <a:solidFill>
              <a:srgbClr val="B7B7B7"/>
            </a:solidFill>
            <a:prstDash val="solid"/>
            <a:round/>
            <a:headEnd len="med" w="med" type="oval"/>
            <a:tailEnd len="med" w="med" type="oval"/>
          </a:ln>
        </p:spPr>
      </p:cxnSp>
      <p:sp>
        <p:nvSpPr>
          <p:cNvPr id="412" name="Google Shape;412;p18"/>
          <p:cNvSpPr/>
          <p:nvPr/>
        </p:nvSpPr>
        <p:spPr>
          <a:xfrm>
            <a:off x="1641650" y="3353226"/>
            <a:ext cx="4595100" cy="1180800"/>
          </a:xfrm>
          <a:prstGeom prst="roundRect">
            <a:avLst>
              <a:gd fmla="val 5116"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8"/>
          <p:cNvSpPr/>
          <p:nvPr/>
        </p:nvSpPr>
        <p:spPr>
          <a:xfrm>
            <a:off x="1988934"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8"/>
          <p:cNvSpPr txBox="1"/>
          <p:nvPr/>
        </p:nvSpPr>
        <p:spPr>
          <a:xfrm>
            <a:off x="1988925" y="3507010"/>
            <a:ext cx="1334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Racing Queensland Stakeholders</a:t>
            </a:r>
            <a:endParaRPr b="1" i="0" sz="800" u="none" cap="none" strike="noStrike">
              <a:solidFill>
                <a:srgbClr val="000000"/>
              </a:solidFill>
              <a:latin typeface="Montserrat"/>
              <a:ea typeface="Montserrat"/>
              <a:cs typeface="Montserrat"/>
              <a:sym typeface="Montserrat"/>
            </a:endParaRPr>
          </a:p>
        </p:txBody>
      </p:sp>
      <p:pic>
        <p:nvPicPr>
          <p:cNvPr id="415" name="Google Shape;415;p18"/>
          <p:cNvPicPr preferRelativeResize="0"/>
          <p:nvPr/>
        </p:nvPicPr>
        <p:blipFill rotWithShape="1">
          <a:blip r:embed="rId3">
            <a:alphaModFix/>
          </a:blip>
          <a:srcRect b="0" l="0" r="0" t="0"/>
          <a:stretch/>
        </p:blipFill>
        <p:spPr>
          <a:xfrm>
            <a:off x="2396311" y="3951547"/>
            <a:ext cx="519140" cy="306875"/>
          </a:xfrm>
          <a:prstGeom prst="rect">
            <a:avLst/>
          </a:prstGeom>
          <a:noFill/>
          <a:ln>
            <a:noFill/>
          </a:ln>
        </p:spPr>
      </p:pic>
      <p:pic>
        <p:nvPicPr>
          <p:cNvPr id="416" name="Google Shape;416;p18"/>
          <p:cNvPicPr preferRelativeResize="0"/>
          <p:nvPr/>
        </p:nvPicPr>
        <p:blipFill rotWithShape="1">
          <a:blip r:embed="rId4">
            <a:alphaModFix/>
          </a:blip>
          <a:srcRect b="0" l="0" r="0" t="0"/>
          <a:stretch/>
        </p:blipFill>
        <p:spPr>
          <a:xfrm>
            <a:off x="3599434" y="3917769"/>
            <a:ext cx="252974" cy="257791"/>
          </a:xfrm>
          <a:prstGeom prst="rect">
            <a:avLst/>
          </a:prstGeom>
          <a:noFill/>
          <a:ln>
            <a:noFill/>
          </a:ln>
        </p:spPr>
      </p:pic>
      <p:cxnSp>
        <p:nvCxnSpPr>
          <p:cNvPr id="417" name="Google Shape;417;p18"/>
          <p:cNvCxnSpPr/>
          <p:nvPr/>
        </p:nvCxnSpPr>
        <p:spPr>
          <a:xfrm rot="10800000">
            <a:off x="3852626" y="4030223"/>
            <a:ext cx="276600" cy="0"/>
          </a:xfrm>
          <a:prstGeom prst="straightConnector1">
            <a:avLst/>
          </a:prstGeom>
          <a:noFill/>
          <a:ln cap="flat" cmpd="sng" w="9525">
            <a:solidFill>
              <a:srgbClr val="999999"/>
            </a:solidFill>
            <a:prstDash val="solid"/>
            <a:round/>
            <a:headEnd len="sm" w="sm" type="none"/>
            <a:tailEnd len="sm" w="sm" type="none"/>
          </a:ln>
        </p:spPr>
      </p:cxnSp>
      <p:sp>
        <p:nvSpPr>
          <p:cNvPr id="418" name="Google Shape;418;p18"/>
          <p:cNvSpPr/>
          <p:nvPr/>
        </p:nvSpPr>
        <p:spPr>
          <a:xfrm>
            <a:off x="7325193" y="3938946"/>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19" name="Google Shape;419;p18"/>
          <p:cNvSpPr/>
          <p:nvPr/>
        </p:nvSpPr>
        <p:spPr>
          <a:xfrm>
            <a:off x="7182882" y="4191775"/>
            <a:ext cx="6609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Demo</a:t>
            </a:r>
            <a:endParaRPr b="1" i="0" sz="700" u="none" cap="none" strike="noStrike">
              <a:solidFill>
                <a:srgbClr val="000000"/>
              </a:solidFill>
              <a:latin typeface="Montserrat"/>
              <a:ea typeface="Montserrat"/>
              <a:cs typeface="Montserrat"/>
              <a:sym typeface="Montserrat"/>
            </a:endParaRPr>
          </a:p>
        </p:txBody>
      </p:sp>
      <p:sp>
        <p:nvSpPr>
          <p:cNvPr id="420" name="Google Shape;420;p18"/>
          <p:cNvSpPr/>
          <p:nvPr/>
        </p:nvSpPr>
        <p:spPr>
          <a:xfrm>
            <a:off x="7325208" y="3356749"/>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21" name="Google Shape;421;p18"/>
          <p:cNvSpPr/>
          <p:nvPr/>
        </p:nvSpPr>
        <p:spPr>
          <a:xfrm>
            <a:off x="7182897" y="3586774"/>
            <a:ext cx="575400" cy="147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Planning </a:t>
            </a:r>
            <a:endParaRPr b="0" i="0" sz="700" u="none" cap="none" strike="noStrike">
              <a:solidFill>
                <a:srgbClr val="000000"/>
              </a:solidFill>
              <a:latin typeface="Montserrat"/>
              <a:ea typeface="Montserrat"/>
              <a:cs typeface="Montserrat"/>
              <a:sym typeface="Montserrat"/>
            </a:endParaRPr>
          </a:p>
        </p:txBody>
      </p:sp>
      <p:pic>
        <p:nvPicPr>
          <p:cNvPr id="422" name="Google Shape;422;p18"/>
          <p:cNvPicPr preferRelativeResize="0"/>
          <p:nvPr/>
        </p:nvPicPr>
        <p:blipFill rotWithShape="1">
          <a:blip r:embed="rId5">
            <a:alphaModFix/>
          </a:blip>
          <a:srcRect b="0" l="0" r="0" t="0"/>
          <a:stretch/>
        </p:blipFill>
        <p:spPr>
          <a:xfrm>
            <a:off x="7386594" y="3407623"/>
            <a:ext cx="168328" cy="121270"/>
          </a:xfrm>
          <a:prstGeom prst="rect">
            <a:avLst/>
          </a:prstGeom>
          <a:noFill/>
          <a:ln>
            <a:noFill/>
          </a:ln>
        </p:spPr>
      </p:pic>
      <p:sp>
        <p:nvSpPr>
          <p:cNvPr id="423" name="Google Shape;423;p18"/>
          <p:cNvSpPr/>
          <p:nvPr/>
        </p:nvSpPr>
        <p:spPr>
          <a:xfrm>
            <a:off x="6635482" y="3359668"/>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24" name="Google Shape;424;p18"/>
          <p:cNvSpPr/>
          <p:nvPr/>
        </p:nvSpPr>
        <p:spPr>
          <a:xfrm>
            <a:off x="6493150" y="3584986"/>
            <a:ext cx="575400" cy="153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Daily Stand-ups</a:t>
            </a:r>
            <a:endParaRPr b="0" i="0" sz="700" u="none" cap="none" strike="noStrike">
              <a:solidFill>
                <a:srgbClr val="000000"/>
              </a:solidFill>
              <a:latin typeface="Montserrat"/>
              <a:ea typeface="Montserrat"/>
              <a:cs typeface="Montserrat"/>
              <a:sym typeface="Montserrat"/>
            </a:endParaRPr>
          </a:p>
        </p:txBody>
      </p:sp>
      <p:pic>
        <p:nvPicPr>
          <p:cNvPr id="425" name="Google Shape;425;p18"/>
          <p:cNvPicPr preferRelativeResize="0"/>
          <p:nvPr/>
        </p:nvPicPr>
        <p:blipFill rotWithShape="1">
          <a:blip r:embed="rId6">
            <a:alphaModFix/>
          </a:blip>
          <a:srcRect b="0" l="0" r="0" t="0"/>
          <a:stretch/>
        </p:blipFill>
        <p:spPr>
          <a:xfrm>
            <a:off x="6687109" y="3399220"/>
            <a:ext cx="187848" cy="143913"/>
          </a:xfrm>
          <a:prstGeom prst="rect">
            <a:avLst/>
          </a:prstGeom>
          <a:noFill/>
          <a:ln>
            <a:noFill/>
          </a:ln>
        </p:spPr>
      </p:pic>
      <p:pic>
        <p:nvPicPr>
          <p:cNvPr id="426" name="Google Shape;426;p18"/>
          <p:cNvPicPr preferRelativeResize="0"/>
          <p:nvPr/>
        </p:nvPicPr>
        <p:blipFill rotWithShape="1">
          <a:blip r:embed="rId7">
            <a:alphaModFix/>
          </a:blip>
          <a:srcRect b="0" l="0" r="0" t="0"/>
          <a:stretch/>
        </p:blipFill>
        <p:spPr>
          <a:xfrm>
            <a:off x="7378788" y="3981126"/>
            <a:ext cx="183912" cy="138659"/>
          </a:xfrm>
          <a:prstGeom prst="rect">
            <a:avLst/>
          </a:prstGeom>
          <a:noFill/>
          <a:ln>
            <a:noFill/>
          </a:ln>
        </p:spPr>
      </p:pic>
      <p:cxnSp>
        <p:nvCxnSpPr>
          <p:cNvPr id="427" name="Google Shape;427;p18"/>
          <p:cNvCxnSpPr/>
          <p:nvPr/>
        </p:nvCxnSpPr>
        <p:spPr>
          <a:xfrm rot="10800000">
            <a:off x="6608487" y="3903739"/>
            <a:ext cx="1217400" cy="5100"/>
          </a:xfrm>
          <a:prstGeom prst="straightConnector1">
            <a:avLst/>
          </a:prstGeom>
          <a:noFill/>
          <a:ln cap="flat" cmpd="sng" w="19050">
            <a:solidFill>
              <a:srgbClr val="999999"/>
            </a:solidFill>
            <a:prstDash val="dot"/>
            <a:miter lim="0"/>
            <a:headEnd len="sm" w="sm" type="oval"/>
            <a:tailEnd len="sm" w="sm" type="oval"/>
          </a:ln>
        </p:spPr>
      </p:cxnSp>
      <p:cxnSp>
        <p:nvCxnSpPr>
          <p:cNvPr id="428" name="Google Shape;428;p18"/>
          <p:cNvCxnSpPr/>
          <p:nvPr/>
        </p:nvCxnSpPr>
        <p:spPr>
          <a:xfrm>
            <a:off x="7149754" y="3492278"/>
            <a:ext cx="900" cy="902700"/>
          </a:xfrm>
          <a:prstGeom prst="straightConnector1">
            <a:avLst/>
          </a:prstGeom>
          <a:noFill/>
          <a:ln cap="flat" cmpd="sng" w="19050">
            <a:solidFill>
              <a:srgbClr val="999999"/>
            </a:solidFill>
            <a:prstDash val="dot"/>
            <a:miter lim="0"/>
            <a:headEnd len="sm" w="sm" type="oval"/>
            <a:tailEnd len="sm" w="sm" type="oval"/>
          </a:ln>
        </p:spPr>
      </p:cxnSp>
      <p:sp>
        <p:nvSpPr>
          <p:cNvPr id="429" name="Google Shape;429;p18"/>
          <p:cNvSpPr/>
          <p:nvPr/>
        </p:nvSpPr>
        <p:spPr>
          <a:xfrm>
            <a:off x="6635482" y="3941925"/>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30" name="Google Shape;430;p18"/>
          <p:cNvSpPr/>
          <p:nvPr/>
        </p:nvSpPr>
        <p:spPr>
          <a:xfrm>
            <a:off x="6493929" y="4191765"/>
            <a:ext cx="5754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Joint Retrospective</a:t>
            </a:r>
            <a:endParaRPr b="0" i="0" sz="700" u="none" cap="none" strike="noStrike">
              <a:solidFill>
                <a:srgbClr val="000000"/>
              </a:solidFill>
              <a:latin typeface="Montserrat"/>
              <a:ea typeface="Montserrat"/>
              <a:cs typeface="Montserrat"/>
              <a:sym typeface="Montserrat"/>
            </a:endParaRPr>
          </a:p>
        </p:txBody>
      </p:sp>
      <p:sp>
        <p:nvSpPr>
          <p:cNvPr id="431" name="Google Shape;431;p18"/>
          <p:cNvSpPr txBox="1"/>
          <p:nvPr/>
        </p:nvSpPr>
        <p:spPr>
          <a:xfrm>
            <a:off x="6281307" y="3099123"/>
            <a:ext cx="1684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Engagement Highlights </a:t>
            </a:r>
            <a:endParaRPr b="1" i="0" sz="800" u="none" cap="none" strike="noStrike">
              <a:solidFill>
                <a:srgbClr val="000000"/>
              </a:solidFill>
              <a:latin typeface="Montserrat"/>
              <a:ea typeface="Montserrat"/>
              <a:cs typeface="Montserrat"/>
              <a:sym typeface="Montserrat"/>
            </a:endParaRPr>
          </a:p>
        </p:txBody>
      </p:sp>
      <p:sp>
        <p:nvSpPr>
          <p:cNvPr id="432" name="Google Shape;432;p18"/>
          <p:cNvSpPr txBox="1"/>
          <p:nvPr/>
        </p:nvSpPr>
        <p:spPr>
          <a:xfrm>
            <a:off x="4479247" y="1409956"/>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Executive Leadership and Business Unit Head </a:t>
            </a:r>
            <a:endParaRPr b="1" i="0" sz="800" u="none" cap="none" strike="noStrike">
              <a:solidFill>
                <a:srgbClr val="336666"/>
              </a:solidFill>
              <a:latin typeface="Montserrat"/>
              <a:ea typeface="Montserrat"/>
              <a:cs typeface="Montserrat"/>
              <a:sym typeface="Montserrat"/>
            </a:endParaRPr>
          </a:p>
        </p:txBody>
      </p:sp>
      <p:sp>
        <p:nvSpPr>
          <p:cNvPr id="433" name="Google Shape;433;p18"/>
          <p:cNvSpPr txBox="1"/>
          <p:nvPr/>
        </p:nvSpPr>
        <p:spPr>
          <a:xfrm>
            <a:off x="1629325" y="1419354"/>
            <a:ext cx="2121000" cy="2598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Racing Queensland  Executive</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Leadership</a:t>
            </a:r>
            <a:endParaRPr b="1" i="0" sz="800" u="none" cap="none" strike="noStrike">
              <a:solidFill>
                <a:srgbClr val="FFFFFF"/>
              </a:solidFill>
              <a:latin typeface="Montserrat"/>
              <a:ea typeface="Montserrat"/>
              <a:cs typeface="Montserrat"/>
              <a:sym typeface="Montserrat"/>
            </a:endParaRPr>
          </a:p>
        </p:txBody>
      </p:sp>
      <p:sp>
        <p:nvSpPr>
          <p:cNvPr id="434" name="Google Shape;434;p18"/>
          <p:cNvSpPr txBox="1"/>
          <p:nvPr/>
        </p:nvSpPr>
        <p:spPr>
          <a:xfrm>
            <a:off x="4479247" y="2090204"/>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Delivery Director /</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 Project Manager</a:t>
            </a:r>
            <a:endParaRPr b="1" i="0" sz="800" u="none" cap="none" strike="noStrike">
              <a:solidFill>
                <a:srgbClr val="336666"/>
              </a:solidFill>
              <a:latin typeface="Montserrat"/>
              <a:ea typeface="Montserrat"/>
              <a:cs typeface="Montserrat"/>
              <a:sym typeface="Montserrat"/>
            </a:endParaRPr>
          </a:p>
        </p:txBody>
      </p:sp>
      <p:sp>
        <p:nvSpPr>
          <p:cNvPr id="435" name="Google Shape;435;p18"/>
          <p:cNvSpPr/>
          <p:nvPr/>
        </p:nvSpPr>
        <p:spPr>
          <a:xfrm>
            <a:off x="2548207" y="1079370"/>
            <a:ext cx="205500" cy="240900"/>
          </a:xfrm>
          <a:prstGeom prst="downArrow">
            <a:avLst>
              <a:gd fmla="val 50000" name="adj1"/>
              <a:gd fmla="val 50000" name="adj2"/>
            </a:avLst>
          </a:prstGeom>
          <a:solidFill>
            <a:srgbClr val="B7B7B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sp>
        <p:nvSpPr>
          <p:cNvPr id="436" name="Google Shape;436;p18"/>
          <p:cNvSpPr/>
          <p:nvPr/>
        </p:nvSpPr>
        <p:spPr>
          <a:xfrm>
            <a:off x="5320907" y="1073100"/>
            <a:ext cx="205500" cy="240900"/>
          </a:xfrm>
          <a:prstGeom prst="downArrow">
            <a:avLst>
              <a:gd fmla="val 50000" name="adj1"/>
              <a:gd fmla="val 50000" name="adj2"/>
            </a:avLst>
          </a:prstGeom>
          <a:solidFill>
            <a:srgbClr val="12519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cxnSp>
        <p:nvCxnSpPr>
          <p:cNvPr id="437" name="Google Shape;437;p18"/>
          <p:cNvCxnSpPr/>
          <p:nvPr/>
        </p:nvCxnSpPr>
        <p:spPr>
          <a:xfrm rot="10800000">
            <a:off x="2632112" y="1752704"/>
            <a:ext cx="0" cy="231900"/>
          </a:xfrm>
          <a:prstGeom prst="straightConnector1">
            <a:avLst/>
          </a:prstGeom>
          <a:noFill/>
          <a:ln cap="flat" cmpd="sng" w="25400">
            <a:solidFill>
              <a:srgbClr val="B7B7B7"/>
            </a:solidFill>
            <a:prstDash val="solid"/>
            <a:miter lim="80"/>
            <a:headEnd len="sm" w="sm" type="none"/>
            <a:tailEnd len="med" w="med" type="triangle"/>
          </a:ln>
        </p:spPr>
      </p:cxnSp>
      <p:sp>
        <p:nvSpPr>
          <p:cNvPr id="438" name="Google Shape;438;p18"/>
          <p:cNvSpPr txBox="1"/>
          <p:nvPr/>
        </p:nvSpPr>
        <p:spPr>
          <a:xfrm>
            <a:off x="4374390" y="1777945"/>
            <a:ext cx="955500" cy="18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39" name="Google Shape;439;p18"/>
          <p:cNvCxnSpPr/>
          <p:nvPr/>
        </p:nvCxnSpPr>
        <p:spPr>
          <a:xfrm>
            <a:off x="5423642" y="1772254"/>
            <a:ext cx="0" cy="231900"/>
          </a:xfrm>
          <a:prstGeom prst="straightConnector1">
            <a:avLst/>
          </a:prstGeom>
          <a:noFill/>
          <a:ln cap="flat" cmpd="sng" w="25400">
            <a:solidFill>
              <a:srgbClr val="B7B7B7"/>
            </a:solidFill>
            <a:prstDash val="solid"/>
            <a:miter lim="80"/>
            <a:headEnd len="sm" w="sm" type="none"/>
            <a:tailEnd len="med" w="med" type="triangle"/>
          </a:ln>
        </p:spPr>
      </p:cxnSp>
      <p:sp>
        <p:nvSpPr>
          <p:cNvPr id="440" name="Google Shape;440;p18"/>
          <p:cNvSpPr txBox="1"/>
          <p:nvPr/>
        </p:nvSpPr>
        <p:spPr>
          <a:xfrm>
            <a:off x="4336415" y="2517264"/>
            <a:ext cx="9816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41" name="Google Shape;441;p18"/>
          <p:cNvCxnSpPr/>
          <p:nvPr/>
        </p:nvCxnSpPr>
        <p:spPr>
          <a:xfrm>
            <a:off x="5423650" y="2504893"/>
            <a:ext cx="0" cy="332700"/>
          </a:xfrm>
          <a:prstGeom prst="straightConnector1">
            <a:avLst/>
          </a:prstGeom>
          <a:noFill/>
          <a:ln cap="flat" cmpd="sng" w="25400">
            <a:solidFill>
              <a:srgbClr val="B7B7B7"/>
            </a:solidFill>
            <a:prstDash val="solid"/>
            <a:miter lim="80"/>
            <a:headEnd len="sm" w="sm" type="none"/>
            <a:tailEnd len="med" w="med" type="triangle"/>
          </a:ln>
        </p:spPr>
      </p:cxnSp>
      <p:cxnSp>
        <p:nvCxnSpPr>
          <p:cNvPr id="442" name="Google Shape;442;p18"/>
          <p:cNvCxnSpPr>
            <a:stCxn id="433" idx="3"/>
            <a:endCxn id="432" idx="1"/>
          </p:cNvCxnSpPr>
          <p:nvPr/>
        </p:nvCxnSpPr>
        <p:spPr>
          <a:xfrm flipH="1" rot="10800000">
            <a:off x="3750325" y="1548954"/>
            <a:ext cx="729000" cy="300"/>
          </a:xfrm>
          <a:prstGeom prst="straightConnector1">
            <a:avLst/>
          </a:prstGeom>
          <a:noFill/>
          <a:ln cap="flat" cmpd="sng" w="9525">
            <a:solidFill>
              <a:srgbClr val="B7B7B7"/>
            </a:solidFill>
            <a:prstDash val="solid"/>
            <a:miter lim="80"/>
            <a:headEnd len="med" w="med" type="triangle"/>
            <a:tailEnd len="med" w="med" type="triangle"/>
          </a:ln>
        </p:spPr>
      </p:cxnSp>
      <p:cxnSp>
        <p:nvCxnSpPr>
          <p:cNvPr id="443" name="Google Shape;443;p18"/>
          <p:cNvCxnSpPr>
            <a:stCxn id="444" idx="3"/>
            <a:endCxn id="434" idx="1"/>
          </p:cNvCxnSpPr>
          <p:nvPr/>
        </p:nvCxnSpPr>
        <p:spPr>
          <a:xfrm>
            <a:off x="3750325" y="2229258"/>
            <a:ext cx="729000" cy="0"/>
          </a:xfrm>
          <a:prstGeom prst="straightConnector1">
            <a:avLst/>
          </a:prstGeom>
          <a:noFill/>
          <a:ln cap="flat" cmpd="sng" w="9525">
            <a:solidFill>
              <a:srgbClr val="B7B7B7"/>
            </a:solidFill>
            <a:prstDash val="solid"/>
            <a:miter lim="80"/>
            <a:headEnd len="med" w="med" type="triangle"/>
            <a:tailEnd len="med" w="med" type="triangle"/>
          </a:ln>
        </p:spPr>
      </p:cxnSp>
      <p:sp>
        <p:nvSpPr>
          <p:cNvPr id="444" name="Google Shape;444;p18"/>
          <p:cNvSpPr txBox="1"/>
          <p:nvPr/>
        </p:nvSpPr>
        <p:spPr>
          <a:xfrm>
            <a:off x="1629325" y="2090208"/>
            <a:ext cx="2121000" cy="2781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Product Manager, Racing Queensland </a:t>
            </a:r>
            <a:endParaRPr b="1" i="0" sz="800" u="none" cap="none" strike="noStrike">
              <a:solidFill>
                <a:srgbClr val="FFFFFF"/>
              </a:solidFill>
              <a:latin typeface="Montserrat"/>
              <a:ea typeface="Montserrat"/>
              <a:cs typeface="Montserrat"/>
              <a:sym typeface="Montserrat"/>
            </a:endParaRPr>
          </a:p>
        </p:txBody>
      </p:sp>
      <p:sp>
        <p:nvSpPr>
          <p:cNvPr id="445" name="Google Shape;445;p18"/>
          <p:cNvSpPr txBox="1"/>
          <p:nvPr/>
        </p:nvSpPr>
        <p:spPr>
          <a:xfrm>
            <a:off x="2864276" y="2533538"/>
            <a:ext cx="6609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Escalate Risks &amp; Issues</a:t>
            </a:r>
            <a:endParaRPr b="0" i="0" sz="700" u="none" cap="none" strike="noStrike">
              <a:solidFill>
                <a:srgbClr val="336666"/>
              </a:solidFill>
              <a:latin typeface="Montserrat"/>
              <a:ea typeface="Montserrat"/>
              <a:cs typeface="Montserrat"/>
              <a:sym typeface="Montserrat"/>
            </a:endParaRPr>
          </a:p>
        </p:txBody>
      </p:sp>
      <p:cxnSp>
        <p:nvCxnSpPr>
          <p:cNvPr id="446" name="Google Shape;446;p18"/>
          <p:cNvCxnSpPr/>
          <p:nvPr/>
        </p:nvCxnSpPr>
        <p:spPr>
          <a:xfrm rot="10800000">
            <a:off x="2632100" y="2507218"/>
            <a:ext cx="0" cy="365700"/>
          </a:xfrm>
          <a:prstGeom prst="straightConnector1">
            <a:avLst/>
          </a:prstGeom>
          <a:noFill/>
          <a:ln cap="flat" cmpd="sng" w="25400">
            <a:solidFill>
              <a:srgbClr val="B7B7B7"/>
            </a:solidFill>
            <a:prstDash val="solid"/>
            <a:miter lim="80"/>
            <a:headEnd len="sm" w="sm" type="none"/>
            <a:tailEnd len="med" w="med" type="triangle"/>
          </a:ln>
        </p:spPr>
      </p:cxnSp>
      <p:cxnSp>
        <p:nvCxnSpPr>
          <p:cNvPr id="447" name="Google Shape;447;p18"/>
          <p:cNvCxnSpPr>
            <a:stCxn id="431" idx="0"/>
            <a:endCxn id="412" idx="0"/>
          </p:cNvCxnSpPr>
          <p:nvPr/>
        </p:nvCxnSpPr>
        <p:spPr>
          <a:xfrm rot="5400000">
            <a:off x="5404407" y="1633923"/>
            <a:ext cx="254100" cy="3184500"/>
          </a:xfrm>
          <a:prstGeom prst="bentConnector3">
            <a:avLst>
              <a:gd fmla="val -93713" name="adj1"/>
            </a:avLst>
          </a:prstGeom>
          <a:noFill/>
          <a:ln cap="flat" cmpd="sng" w="9525">
            <a:solidFill>
              <a:srgbClr val="B7B7B7"/>
            </a:solidFill>
            <a:prstDash val="solid"/>
            <a:round/>
            <a:headEnd len="med" w="med" type="oval"/>
            <a:tailEnd len="med" w="med" type="oval"/>
          </a:ln>
        </p:spPr>
      </p:cxnSp>
      <p:sp>
        <p:nvSpPr>
          <p:cNvPr id="448" name="Google Shape;448;p18"/>
          <p:cNvSpPr/>
          <p:nvPr/>
        </p:nvSpPr>
        <p:spPr>
          <a:xfrm>
            <a:off x="7182432" y="1935141"/>
            <a:ext cx="1401300" cy="444300"/>
          </a:xfrm>
          <a:prstGeom prst="rect">
            <a:avLst/>
          </a:prstGeom>
          <a:noFill/>
          <a:ln>
            <a:noFill/>
          </a:ln>
        </p:spPr>
        <p:txBody>
          <a:bodyPr anchorCtr="0" anchor="ctr" bIns="121900" lIns="60925" spcFirstLastPara="1" rIns="60925"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1" i="0" lang="en" sz="700" u="none" cap="none" strike="noStrike">
                <a:solidFill>
                  <a:srgbClr val="191919"/>
                </a:solidFill>
                <a:latin typeface="Montserrat"/>
                <a:ea typeface="Montserrat"/>
                <a:cs typeface="Montserrat"/>
                <a:sym typeface="Montserrat"/>
              </a:rPr>
              <a:t>Monthly Governance Checkpoints (SteerCo)</a:t>
            </a:r>
            <a:endParaRPr b="1" i="0" sz="700" u="none" cap="none" strike="noStrike">
              <a:solidFill>
                <a:srgbClr val="191919"/>
              </a:solidFill>
              <a:latin typeface="Montserrat"/>
              <a:ea typeface="Montserrat"/>
              <a:cs typeface="Montserrat"/>
              <a:sym typeface="Montserrat"/>
            </a:endParaRPr>
          </a:p>
        </p:txBody>
      </p:sp>
      <p:sp>
        <p:nvSpPr>
          <p:cNvPr id="449" name="Google Shape;449;p18"/>
          <p:cNvSpPr/>
          <p:nvPr/>
        </p:nvSpPr>
        <p:spPr>
          <a:xfrm>
            <a:off x="7712458" y="1639644"/>
            <a:ext cx="318300" cy="3117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50" name="Google Shape;450;p18"/>
          <p:cNvSpPr/>
          <p:nvPr/>
        </p:nvSpPr>
        <p:spPr>
          <a:xfrm>
            <a:off x="4196599" y="3403869"/>
            <a:ext cx="1334100" cy="9417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1" name="Google Shape;451;p18"/>
          <p:cNvPicPr preferRelativeResize="0"/>
          <p:nvPr/>
        </p:nvPicPr>
        <p:blipFill rotWithShape="1">
          <a:blip r:embed="rId8">
            <a:alphaModFix/>
          </a:blip>
          <a:srcRect b="0" l="0" r="0" t="0"/>
          <a:stretch/>
        </p:blipFill>
        <p:spPr>
          <a:xfrm>
            <a:off x="7756651" y="1712375"/>
            <a:ext cx="229899" cy="166176"/>
          </a:xfrm>
          <a:prstGeom prst="rect">
            <a:avLst/>
          </a:prstGeom>
          <a:noFill/>
          <a:ln>
            <a:noFill/>
          </a:ln>
        </p:spPr>
      </p:pic>
      <p:sp>
        <p:nvSpPr>
          <p:cNvPr id="452" name="Google Shape;452;p18"/>
          <p:cNvSpPr/>
          <p:nvPr/>
        </p:nvSpPr>
        <p:spPr>
          <a:xfrm>
            <a:off x="4128891"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3" name="Google Shape;453;p18"/>
          <p:cNvPicPr preferRelativeResize="0"/>
          <p:nvPr/>
        </p:nvPicPr>
        <p:blipFill rotWithShape="1">
          <a:blip r:embed="rId9">
            <a:alphaModFix/>
          </a:blip>
          <a:srcRect b="18198" l="21766" r="23601" t="16993"/>
          <a:stretch/>
        </p:blipFill>
        <p:spPr>
          <a:xfrm>
            <a:off x="4259212" y="4081790"/>
            <a:ext cx="193693" cy="181710"/>
          </a:xfrm>
          <a:prstGeom prst="rect">
            <a:avLst/>
          </a:prstGeom>
          <a:noFill/>
          <a:ln>
            <a:noFill/>
          </a:ln>
        </p:spPr>
      </p:pic>
      <p:sp>
        <p:nvSpPr>
          <p:cNvPr id="454" name="Google Shape;454;p18"/>
          <p:cNvSpPr txBox="1"/>
          <p:nvPr/>
        </p:nvSpPr>
        <p:spPr>
          <a:xfrm>
            <a:off x="4380925" y="3505629"/>
            <a:ext cx="830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TTN Team</a:t>
            </a:r>
            <a:endParaRPr b="1" i="0" sz="800" u="none" cap="none" strike="noStrike">
              <a:solidFill>
                <a:srgbClr val="000000"/>
              </a:solidFill>
              <a:latin typeface="Montserrat"/>
              <a:ea typeface="Montserrat"/>
              <a:cs typeface="Montserrat"/>
              <a:sym typeface="Montserrat"/>
            </a:endParaRPr>
          </a:p>
        </p:txBody>
      </p:sp>
      <p:sp>
        <p:nvSpPr>
          <p:cNvPr id="455" name="Google Shape;455;p18"/>
          <p:cNvSpPr txBox="1"/>
          <p:nvPr/>
        </p:nvSpPr>
        <p:spPr>
          <a:xfrm>
            <a:off x="4232743" y="3979995"/>
            <a:ext cx="1261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TTN Engineering </a:t>
            </a:r>
            <a:endParaRPr b="1" i="0" sz="7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Team</a:t>
            </a:r>
            <a:endParaRPr b="1" i="0" sz="700" u="none" cap="none" strike="noStrike">
              <a:solidFill>
                <a:srgbClr val="000000"/>
              </a:solidFill>
              <a:latin typeface="Century Gothic"/>
              <a:ea typeface="Century Gothic"/>
              <a:cs typeface="Century Gothic"/>
              <a:sym typeface="Century Gothic"/>
            </a:endParaRPr>
          </a:p>
        </p:txBody>
      </p:sp>
      <p:pic>
        <p:nvPicPr>
          <p:cNvPr id="456" name="Google Shape;456;p18"/>
          <p:cNvPicPr preferRelativeResize="0"/>
          <p:nvPr/>
        </p:nvPicPr>
        <p:blipFill rotWithShape="1">
          <a:blip r:embed="rId9">
            <a:alphaModFix/>
          </a:blip>
          <a:srcRect b="18198" l="21766" r="23601" t="16993"/>
          <a:stretch/>
        </p:blipFill>
        <p:spPr>
          <a:xfrm>
            <a:off x="4271897" y="3802253"/>
            <a:ext cx="168324" cy="180046"/>
          </a:xfrm>
          <a:prstGeom prst="rect">
            <a:avLst/>
          </a:prstGeom>
          <a:noFill/>
          <a:ln>
            <a:noFill/>
          </a:ln>
        </p:spPr>
      </p:pic>
      <p:sp>
        <p:nvSpPr>
          <p:cNvPr id="457" name="Google Shape;457;p18"/>
          <p:cNvSpPr txBox="1"/>
          <p:nvPr/>
        </p:nvSpPr>
        <p:spPr>
          <a:xfrm>
            <a:off x="4388911" y="3821314"/>
            <a:ext cx="981600" cy="290700"/>
          </a:xfrm>
          <a:prstGeom prst="rect">
            <a:avLst/>
          </a:prstGeom>
          <a:noFill/>
          <a:ln>
            <a:noFill/>
          </a:ln>
        </p:spPr>
        <p:txBody>
          <a:bodyPr anchorCtr="0" anchor="b" bIns="91425" lIns="91425" spcFirstLastPara="1" rIns="91425" wrap="square" tIns="91425">
            <a:noAutofit/>
          </a:bodyPr>
          <a:lstStyle/>
          <a:p>
            <a:pPr indent="0" lvl="0" marL="0" marR="0" rtl="0" algn="ctr">
              <a:lnSpc>
                <a:spcPct val="8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Project Manager</a:t>
            </a:r>
            <a:endParaRPr b="1" i="0" sz="700" u="none" cap="none" strike="noStrike">
              <a:solidFill>
                <a:srgbClr val="000000"/>
              </a:solidFill>
              <a:latin typeface="Century Gothic"/>
              <a:ea typeface="Century Gothic"/>
              <a:cs typeface="Century Gothic"/>
              <a:sym typeface="Century Gothic"/>
            </a:endParaRPr>
          </a:p>
        </p:txBody>
      </p:sp>
      <p:cxnSp>
        <p:nvCxnSpPr>
          <p:cNvPr id="458" name="Google Shape;458;p18"/>
          <p:cNvCxnSpPr/>
          <p:nvPr/>
        </p:nvCxnSpPr>
        <p:spPr>
          <a:xfrm rot="10800000">
            <a:off x="3316313" y="4030223"/>
            <a:ext cx="276600" cy="0"/>
          </a:xfrm>
          <a:prstGeom prst="straightConnector1">
            <a:avLst/>
          </a:prstGeom>
          <a:noFill/>
          <a:ln cap="flat" cmpd="sng" w="9525">
            <a:solidFill>
              <a:srgbClr val="999999"/>
            </a:solidFill>
            <a:prstDash val="solid"/>
            <a:round/>
            <a:headEnd len="sm" w="sm" type="none"/>
            <a:tailEnd len="sm" w="sm" type="none"/>
          </a:ln>
        </p:spPr>
      </p:cxnSp>
      <p:pic>
        <p:nvPicPr>
          <p:cNvPr id="459" name="Google Shape;459;p18"/>
          <p:cNvPicPr preferRelativeResize="0"/>
          <p:nvPr/>
        </p:nvPicPr>
        <p:blipFill rotWithShape="1">
          <a:blip r:embed="rId8">
            <a:alphaModFix/>
          </a:blip>
          <a:srcRect b="0" l="0" r="0" t="0"/>
          <a:stretch/>
        </p:blipFill>
        <p:spPr>
          <a:xfrm>
            <a:off x="6699607" y="3982434"/>
            <a:ext cx="183925" cy="135766"/>
          </a:xfrm>
          <a:prstGeom prst="rect">
            <a:avLst/>
          </a:prstGeom>
          <a:noFill/>
          <a:ln>
            <a:noFill/>
          </a:ln>
        </p:spPr>
      </p:pic>
      <p:sp>
        <p:nvSpPr>
          <p:cNvPr id="460" name="Google Shape;460;p18"/>
          <p:cNvSpPr txBox="1"/>
          <p:nvPr/>
        </p:nvSpPr>
        <p:spPr>
          <a:xfrm>
            <a:off x="359857" y="1281370"/>
            <a:ext cx="117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Steering</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sp>
        <p:nvSpPr>
          <p:cNvPr id="461" name="Google Shape;461;p18"/>
          <p:cNvSpPr txBox="1"/>
          <p:nvPr/>
        </p:nvSpPr>
        <p:spPr>
          <a:xfrm>
            <a:off x="409932" y="2011328"/>
            <a:ext cx="98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Management</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cxnSp>
        <p:nvCxnSpPr>
          <p:cNvPr id="462" name="Google Shape;462;p18"/>
          <p:cNvCxnSpPr>
            <a:stCxn id="448" idx="2"/>
          </p:cNvCxnSpPr>
          <p:nvPr/>
        </p:nvCxnSpPr>
        <p:spPr>
          <a:xfrm flipH="1" rot="5400000">
            <a:off x="7211532" y="1707891"/>
            <a:ext cx="81300" cy="1261800"/>
          </a:xfrm>
          <a:prstGeom prst="bentConnector4">
            <a:avLst>
              <a:gd fmla="val -292897" name="adj1"/>
              <a:gd fmla="val 77764" name="adj2"/>
            </a:avLst>
          </a:prstGeom>
          <a:noFill/>
          <a:ln cap="flat" cmpd="sng" w="9525">
            <a:solidFill>
              <a:srgbClr val="B7B7B7"/>
            </a:solidFill>
            <a:prstDash val="solid"/>
            <a:round/>
            <a:headEnd len="med" w="med" type="oval"/>
            <a:tailEnd len="med" w="med" type="oval"/>
          </a:ln>
        </p:spPr>
      </p:cxnSp>
      <p:sp>
        <p:nvSpPr>
          <p:cNvPr id="463" name="Google Shape;463;p18"/>
          <p:cNvSpPr txBox="1"/>
          <p:nvPr/>
        </p:nvSpPr>
        <p:spPr>
          <a:xfrm>
            <a:off x="428857" y="35639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Execution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Team</a:t>
            </a:r>
            <a:endParaRPr b="0" i="0" sz="800" u="none" cap="none" strike="noStrike">
              <a:solidFill>
                <a:srgbClr val="12519C"/>
              </a:solidFill>
              <a:latin typeface="Montserrat"/>
              <a:ea typeface="Montserrat"/>
              <a:cs typeface="Montserrat"/>
              <a:sym typeface="Montserrat"/>
            </a:endParaRPr>
          </a:p>
        </p:txBody>
      </p:sp>
      <p:pic>
        <p:nvPicPr>
          <p:cNvPr descr="TTN Logo.png" id="464" name="Google Shape;464;p18"/>
          <p:cNvPicPr preferRelativeResize="0"/>
          <p:nvPr/>
        </p:nvPicPr>
        <p:blipFill rotWithShape="1">
          <a:blip r:embed="rId10">
            <a:alphaModFix/>
          </a:blip>
          <a:srcRect b="0" l="0" r="0" t="0"/>
          <a:stretch/>
        </p:blipFill>
        <p:spPr>
          <a:xfrm>
            <a:off x="5110881" y="612478"/>
            <a:ext cx="625544" cy="349439"/>
          </a:xfrm>
          <a:prstGeom prst="rect">
            <a:avLst/>
          </a:prstGeom>
          <a:noFill/>
          <a:ln>
            <a:noFill/>
          </a:ln>
        </p:spPr>
      </p:pic>
      <p:sp>
        <p:nvSpPr>
          <p:cNvPr id="465" name="Google Shape;465;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9"/>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Plan</a:t>
            </a:r>
            <a:endParaRPr b="1" i="0" sz="2000" u="none" cap="none" strike="noStrike">
              <a:solidFill>
                <a:schemeClr val="dk1"/>
              </a:solidFill>
              <a:latin typeface="Montserrat"/>
              <a:ea typeface="Montserrat"/>
              <a:cs typeface="Montserrat"/>
              <a:sym typeface="Montserrat"/>
            </a:endParaRPr>
          </a:p>
        </p:txBody>
      </p:sp>
      <p:graphicFrame>
        <p:nvGraphicFramePr>
          <p:cNvPr id="471" name="Google Shape;471;p19"/>
          <p:cNvGraphicFramePr/>
          <p:nvPr/>
        </p:nvGraphicFramePr>
        <p:xfrm>
          <a:off x="232325" y="700950"/>
          <a:ext cx="3000000" cy="3000000"/>
        </p:xfrm>
        <a:graphic>
          <a:graphicData uri="http://schemas.openxmlformats.org/drawingml/2006/table">
            <a:tbl>
              <a:tblPr>
                <a:noFill/>
                <a:tableStyleId>{2ED30D0B-F584-43FB-8283-64062CD711C6}</a:tableStyleId>
              </a:tblPr>
              <a:tblGrid>
                <a:gridCol w="1256925"/>
                <a:gridCol w="461550"/>
                <a:gridCol w="476475"/>
                <a:gridCol w="453325"/>
                <a:gridCol w="498275"/>
                <a:gridCol w="464450"/>
                <a:gridCol w="457375"/>
                <a:gridCol w="517625"/>
                <a:gridCol w="517625"/>
                <a:gridCol w="517625"/>
                <a:gridCol w="517625"/>
                <a:gridCol w="517625"/>
                <a:gridCol w="517625"/>
                <a:gridCol w="517625"/>
                <a:gridCol w="517625"/>
                <a:gridCol w="517625"/>
              </a:tblGrid>
              <a:tr h="32075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Activities /Timelines</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2</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3</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4</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5</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6</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7</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8</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9</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10</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12</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13</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14</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15</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r>
              <a:tr h="6541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Design &amp; Discovery Phase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4070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Agile based Iterative Development and Testing ( end to end features)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37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UAT and Go Live (2 Weeks)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988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Hypercare Support ( For 2 Weeks Post Go-Live)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472" name="Google Shape;472;p19"/>
          <p:cNvSpPr/>
          <p:nvPr/>
        </p:nvSpPr>
        <p:spPr>
          <a:xfrm>
            <a:off x="1489250" y="1136263"/>
            <a:ext cx="9381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Discovery</a:t>
            </a:r>
            <a:endParaRPr b="1" i="0" sz="800" u="none" cap="none" strike="noStrike">
              <a:solidFill>
                <a:srgbClr val="000000"/>
              </a:solidFill>
              <a:latin typeface="Montserrat"/>
              <a:ea typeface="Montserrat"/>
              <a:cs typeface="Montserrat"/>
              <a:sym typeface="Montserrat"/>
            </a:endParaRPr>
          </a:p>
        </p:txBody>
      </p:sp>
      <p:sp>
        <p:nvSpPr>
          <p:cNvPr id="473" name="Google Shape;473;p19"/>
          <p:cNvSpPr/>
          <p:nvPr/>
        </p:nvSpPr>
        <p:spPr>
          <a:xfrm>
            <a:off x="2427275" y="1935925"/>
            <a:ext cx="4443600" cy="307800"/>
          </a:xfrm>
          <a:prstGeom prst="homePlate">
            <a:avLst>
              <a:gd fmla="val 50000" name="adj"/>
            </a:avLst>
          </a:prstGeom>
          <a:solidFill>
            <a:srgbClr val="D71B7F"/>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19"/>
          <p:cNvSpPr/>
          <p:nvPr/>
        </p:nvSpPr>
        <p:spPr>
          <a:xfrm>
            <a:off x="6888825" y="2711775"/>
            <a:ext cx="1035300" cy="307800"/>
          </a:xfrm>
          <a:prstGeom prst="homePlate">
            <a:avLst>
              <a:gd fmla="val 50000"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5" name="Google Shape;475;p19"/>
          <p:cNvPicPr preferRelativeResize="0"/>
          <p:nvPr/>
        </p:nvPicPr>
        <p:blipFill rotWithShape="1">
          <a:blip r:embed="rId3">
            <a:alphaModFix/>
          </a:blip>
          <a:srcRect b="0" l="0" r="0" t="0"/>
          <a:stretch/>
        </p:blipFill>
        <p:spPr>
          <a:xfrm>
            <a:off x="6818825" y="2550325"/>
            <a:ext cx="240600" cy="240600"/>
          </a:xfrm>
          <a:prstGeom prst="rect">
            <a:avLst/>
          </a:prstGeom>
          <a:noFill/>
          <a:ln>
            <a:noFill/>
          </a:ln>
        </p:spPr>
      </p:pic>
      <p:sp>
        <p:nvSpPr>
          <p:cNvPr id="476" name="Google Shape;476;p19"/>
          <p:cNvSpPr/>
          <p:nvPr/>
        </p:nvSpPr>
        <p:spPr>
          <a:xfrm>
            <a:off x="7924075" y="3444925"/>
            <a:ext cx="1035300" cy="307800"/>
          </a:xfrm>
          <a:prstGeom prst="homePlate">
            <a:avLst>
              <a:gd fmla="val 50000" name="adj"/>
            </a:avLst>
          </a:prstGeom>
          <a:solidFill>
            <a:srgbClr val="FF9900"/>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7" name="Google Shape;477;p19"/>
          <p:cNvPicPr preferRelativeResize="0"/>
          <p:nvPr/>
        </p:nvPicPr>
        <p:blipFill rotWithShape="1">
          <a:blip r:embed="rId3">
            <a:alphaModFix/>
          </a:blip>
          <a:srcRect b="0" l="0" r="0" t="0"/>
          <a:stretch/>
        </p:blipFill>
        <p:spPr>
          <a:xfrm>
            <a:off x="7877075" y="3184775"/>
            <a:ext cx="240600" cy="240600"/>
          </a:xfrm>
          <a:prstGeom prst="rect">
            <a:avLst/>
          </a:prstGeom>
          <a:noFill/>
          <a:ln>
            <a:noFill/>
          </a:ln>
        </p:spPr>
      </p:pic>
      <p:sp>
        <p:nvSpPr>
          <p:cNvPr id="478" name="Google Shape;478;p19"/>
          <p:cNvSpPr txBox="1"/>
          <p:nvPr/>
        </p:nvSpPr>
        <p:spPr>
          <a:xfrm>
            <a:off x="266700" y="4399275"/>
            <a:ext cx="8596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*Notes: </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00000"/>
              </a:lnSpc>
              <a:spcBef>
                <a:spcPts val="0"/>
              </a:spcBef>
              <a:spcAft>
                <a:spcPts val="0"/>
              </a:spcAft>
              <a:buClr>
                <a:schemeClr val="dk1"/>
              </a:buClr>
              <a:buSzPts val="1000"/>
              <a:buFont typeface="Montserrat"/>
              <a:buChar char="●"/>
            </a:pPr>
            <a:r>
              <a:rPr b="0" i="0" lang="en" sz="1000" u="none" cap="none" strike="noStrike">
                <a:solidFill>
                  <a:schemeClr val="dk1"/>
                </a:solidFill>
                <a:latin typeface="Montserrat"/>
                <a:ea typeface="Montserrat"/>
                <a:cs typeface="Montserrat"/>
                <a:sym typeface="Montserrat"/>
              </a:rPr>
              <a:t>2 Weeks of Hypercare support post go-live will be provided at no additional cost.</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00000"/>
              </a:lnSpc>
              <a:spcBef>
                <a:spcPts val="0"/>
              </a:spcBef>
              <a:spcAft>
                <a:spcPts val="0"/>
              </a:spcAft>
              <a:buClr>
                <a:schemeClr val="dk1"/>
              </a:buClr>
              <a:buSzPts val="1000"/>
              <a:buFont typeface="Montserrat"/>
              <a:buChar char="●"/>
            </a:pPr>
            <a:r>
              <a:rPr b="0" i="0" lang="en" sz="1000" u="none" cap="none" strike="noStrike">
                <a:solidFill>
                  <a:schemeClr val="dk1"/>
                </a:solidFill>
                <a:latin typeface="Montserrat"/>
                <a:ea typeface="Montserrat"/>
                <a:cs typeface="Montserrat"/>
                <a:sym typeface="Montserrat"/>
              </a:rPr>
              <a:t>Project  Timelines could be revised after discovery with expected variation upto +/-10%</a:t>
            </a:r>
            <a:endParaRPr b="0" i="0" sz="1000" u="none" cap="none" strike="noStrike">
              <a:solidFill>
                <a:schemeClr val="dk1"/>
              </a:solidFill>
              <a:latin typeface="Montserrat"/>
              <a:ea typeface="Montserrat"/>
              <a:cs typeface="Montserrat"/>
              <a:sym typeface="Montserrat"/>
            </a:endParaRPr>
          </a:p>
        </p:txBody>
      </p:sp>
      <p:sp>
        <p:nvSpPr>
          <p:cNvPr id="479" name="Google Shape;479;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pic>
        <p:nvPicPr>
          <p:cNvPr id="480" name="Google Shape;480;p19"/>
          <p:cNvPicPr preferRelativeResize="0"/>
          <p:nvPr/>
        </p:nvPicPr>
        <p:blipFill rotWithShape="1">
          <a:blip r:embed="rId4">
            <a:alphaModFix/>
          </a:blip>
          <a:srcRect b="0" l="0" r="0" t="0"/>
          <a:stretch/>
        </p:blipFill>
        <p:spPr>
          <a:xfrm>
            <a:off x="3326050" y="1736975"/>
            <a:ext cx="240600" cy="240600"/>
          </a:xfrm>
          <a:prstGeom prst="rect">
            <a:avLst/>
          </a:prstGeom>
          <a:noFill/>
          <a:ln>
            <a:noFill/>
          </a:ln>
        </p:spPr>
      </p:pic>
      <p:pic>
        <p:nvPicPr>
          <p:cNvPr id="481" name="Google Shape;481;p19"/>
          <p:cNvPicPr preferRelativeResize="0"/>
          <p:nvPr/>
        </p:nvPicPr>
        <p:blipFill rotWithShape="1">
          <a:blip r:embed="rId4">
            <a:alphaModFix/>
          </a:blip>
          <a:srcRect b="0" l="0" r="0" t="0"/>
          <a:stretch/>
        </p:blipFill>
        <p:spPr>
          <a:xfrm>
            <a:off x="4238225" y="1736975"/>
            <a:ext cx="240600" cy="240600"/>
          </a:xfrm>
          <a:prstGeom prst="rect">
            <a:avLst/>
          </a:prstGeom>
          <a:noFill/>
          <a:ln>
            <a:noFill/>
          </a:ln>
        </p:spPr>
      </p:pic>
      <p:pic>
        <p:nvPicPr>
          <p:cNvPr id="482" name="Google Shape;482;p19"/>
          <p:cNvPicPr preferRelativeResize="0"/>
          <p:nvPr/>
        </p:nvPicPr>
        <p:blipFill rotWithShape="1">
          <a:blip r:embed="rId4">
            <a:alphaModFix/>
          </a:blip>
          <a:srcRect b="0" l="0" r="0" t="0"/>
          <a:stretch/>
        </p:blipFill>
        <p:spPr>
          <a:xfrm>
            <a:off x="5275350" y="1736975"/>
            <a:ext cx="240600" cy="240600"/>
          </a:xfrm>
          <a:prstGeom prst="rect">
            <a:avLst/>
          </a:prstGeom>
          <a:noFill/>
          <a:ln>
            <a:noFill/>
          </a:ln>
        </p:spPr>
      </p:pic>
      <p:pic>
        <p:nvPicPr>
          <p:cNvPr id="483" name="Google Shape;483;p19"/>
          <p:cNvPicPr preferRelativeResize="0"/>
          <p:nvPr/>
        </p:nvPicPr>
        <p:blipFill rotWithShape="1">
          <a:blip r:embed="rId4">
            <a:alphaModFix/>
          </a:blip>
          <a:srcRect b="0" l="0" r="0" t="0"/>
          <a:stretch/>
        </p:blipFill>
        <p:spPr>
          <a:xfrm>
            <a:off x="6312475" y="1736975"/>
            <a:ext cx="240600" cy="240600"/>
          </a:xfrm>
          <a:prstGeom prst="rect">
            <a:avLst/>
          </a:prstGeom>
          <a:noFill/>
          <a:ln>
            <a:noFill/>
          </a:ln>
        </p:spPr>
      </p:pic>
      <p:pic>
        <p:nvPicPr>
          <p:cNvPr id="484" name="Google Shape;484;p19"/>
          <p:cNvPicPr preferRelativeResize="0"/>
          <p:nvPr/>
        </p:nvPicPr>
        <p:blipFill rotWithShape="1">
          <a:blip r:embed="rId4">
            <a:alphaModFix/>
          </a:blip>
          <a:srcRect b="0" l="0" r="0" t="0"/>
          <a:stretch/>
        </p:blipFill>
        <p:spPr>
          <a:xfrm>
            <a:off x="594350" y="3950950"/>
            <a:ext cx="240600" cy="240600"/>
          </a:xfrm>
          <a:prstGeom prst="rect">
            <a:avLst/>
          </a:prstGeom>
          <a:noFill/>
          <a:ln>
            <a:noFill/>
          </a:ln>
        </p:spPr>
      </p:pic>
      <p:sp>
        <p:nvSpPr>
          <p:cNvPr id="485" name="Google Shape;485;p19"/>
          <p:cNvSpPr txBox="1"/>
          <p:nvPr/>
        </p:nvSpPr>
        <p:spPr>
          <a:xfrm>
            <a:off x="7587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Product Increment Review</a:t>
            </a:r>
            <a:endParaRPr b="0" i="0" sz="900" u="none" cap="none" strike="noStrike">
              <a:solidFill>
                <a:srgbClr val="000000"/>
              </a:solidFill>
              <a:latin typeface="Montserrat"/>
              <a:ea typeface="Montserrat"/>
              <a:cs typeface="Montserrat"/>
              <a:sym typeface="Montserrat"/>
            </a:endParaRPr>
          </a:p>
        </p:txBody>
      </p:sp>
      <p:pic>
        <p:nvPicPr>
          <p:cNvPr id="486" name="Google Shape;486;p19"/>
          <p:cNvPicPr preferRelativeResize="0"/>
          <p:nvPr/>
        </p:nvPicPr>
        <p:blipFill rotWithShape="1">
          <a:blip r:embed="rId3">
            <a:alphaModFix/>
          </a:blip>
          <a:srcRect b="0" l="0" r="0" t="0"/>
          <a:stretch/>
        </p:blipFill>
        <p:spPr>
          <a:xfrm>
            <a:off x="2973050" y="3950950"/>
            <a:ext cx="240600" cy="240600"/>
          </a:xfrm>
          <a:prstGeom prst="rect">
            <a:avLst/>
          </a:prstGeom>
          <a:noFill/>
          <a:ln>
            <a:noFill/>
          </a:ln>
        </p:spPr>
      </p:pic>
      <p:sp>
        <p:nvSpPr>
          <p:cNvPr id="487" name="Google Shape;487;p19"/>
          <p:cNvSpPr txBox="1"/>
          <p:nvPr/>
        </p:nvSpPr>
        <p:spPr>
          <a:xfrm>
            <a:off x="31209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UAT and Go-Live</a:t>
            </a:r>
            <a:endParaRPr b="0" i="0" sz="900" u="none" cap="none" strike="noStrike">
              <a:solidFill>
                <a:srgbClr val="000000"/>
              </a:solidFill>
              <a:latin typeface="Montserrat"/>
              <a:ea typeface="Montserrat"/>
              <a:cs typeface="Montserrat"/>
              <a:sym typeface="Montserrat"/>
            </a:endParaRPr>
          </a:p>
        </p:txBody>
      </p:sp>
      <p:sp>
        <p:nvSpPr>
          <p:cNvPr id="488" name="Google Shape;488;p19"/>
          <p:cNvSpPr/>
          <p:nvPr/>
        </p:nvSpPr>
        <p:spPr>
          <a:xfrm>
            <a:off x="1489250" y="1392800"/>
            <a:ext cx="28116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 Phase</a:t>
            </a:r>
            <a:endParaRPr b="1"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0"/>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495" name="Google Shape;495;p20"/>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496" name="Google Shape;496;p20"/>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497" name="Google Shape;497;p20"/>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498" name="Google Shape;498;p20"/>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499" name="Google Shape;499;p20"/>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00" name="Google Shape;500;p20"/>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01" name="Google Shape;501;p20"/>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0"/>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20"/>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0"/>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05" name="Google Shape;505;p20"/>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06" name="Google Shape;506;p20"/>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0"/>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Commercial Summary</a:t>
            </a:r>
            <a:endParaRPr b="1" i="0" sz="1200" u="none" cap="none" strike="noStrike">
              <a:solidFill>
                <a:srgbClr val="D71B7F"/>
              </a:solidFill>
              <a:latin typeface="Montserrat"/>
              <a:ea typeface="Montserrat"/>
              <a:cs typeface="Montserrat"/>
              <a:sym typeface="Montserrat"/>
            </a:endParaRPr>
          </a:p>
        </p:txBody>
      </p:sp>
      <p:cxnSp>
        <p:nvCxnSpPr>
          <p:cNvPr id="508" name="Google Shape;508;p20"/>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09" name="Google Shape;509;p20"/>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20"/>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1"/>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Proposed Engagement Model</a:t>
            </a:r>
            <a:endParaRPr b="1" i="0" sz="2000" u="none" cap="none" strike="noStrike">
              <a:solidFill>
                <a:schemeClr val="dk1"/>
              </a:solidFill>
              <a:latin typeface="Montserrat"/>
              <a:ea typeface="Montserrat"/>
              <a:cs typeface="Montserrat"/>
              <a:sym typeface="Montserrat"/>
            </a:endParaRPr>
          </a:p>
        </p:txBody>
      </p:sp>
      <p:sp>
        <p:nvSpPr>
          <p:cNvPr id="516" name="Google Shape;516;p21"/>
          <p:cNvSpPr/>
          <p:nvPr/>
        </p:nvSpPr>
        <p:spPr>
          <a:xfrm>
            <a:off x="268738" y="861370"/>
            <a:ext cx="4201500" cy="37182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Project will be executed in Iterative Agile manner for each phase  with the following iterations-</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Agile-based Development </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UAT and Go-Live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Any delay in project due to reasons beyond TTN will warrant a change request against the impacted man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If there are any changes to assumptions or delays caused due to dependencies from Racing Queensland, impact on effort, timelines and cost would need to be assessed and will go through change request process.</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17" name="Google Shape;517;p21"/>
          <p:cNvCxnSpPr/>
          <p:nvPr/>
        </p:nvCxnSpPr>
        <p:spPr>
          <a:xfrm>
            <a:off x="272290" y="855475"/>
            <a:ext cx="0" cy="3710400"/>
          </a:xfrm>
          <a:prstGeom prst="straightConnector1">
            <a:avLst/>
          </a:prstGeom>
          <a:noFill/>
          <a:ln cap="flat" cmpd="sng" w="19050">
            <a:solidFill>
              <a:srgbClr val="12519C"/>
            </a:solidFill>
            <a:prstDash val="solid"/>
            <a:round/>
            <a:headEnd len="sm" w="sm" type="none"/>
            <a:tailEnd len="sm" w="sm" type="none"/>
          </a:ln>
        </p:spPr>
      </p:cxnSp>
      <p:sp>
        <p:nvSpPr>
          <p:cNvPr id="518" name="Google Shape;518;p21"/>
          <p:cNvSpPr/>
          <p:nvPr/>
        </p:nvSpPr>
        <p:spPr>
          <a:xfrm>
            <a:off x="4673772" y="863998"/>
            <a:ext cx="4201500" cy="37044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Total price for the entire project as per requirements outlined in the proposal would be: </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Price Before dIscount : AUD 80,712.63</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Discount : 5%</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Final Price After discount : AUD 78,727.00</a:t>
            </a:r>
            <a:endParaRPr b="1"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mentioned prices are exclusive of applicable taxes.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Milestones has been added in the following slide.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the invoices would be considered accepted by the customer if there is no objection in 5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terms are 30 calendar days from the receipt of the invoice.</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19" name="Google Shape;519;p21"/>
          <p:cNvCxnSpPr/>
          <p:nvPr/>
        </p:nvCxnSpPr>
        <p:spPr>
          <a:xfrm>
            <a:off x="4677324" y="858123"/>
            <a:ext cx="0" cy="3697500"/>
          </a:xfrm>
          <a:prstGeom prst="straightConnector1">
            <a:avLst/>
          </a:prstGeom>
          <a:noFill/>
          <a:ln cap="flat" cmpd="sng" w="19050">
            <a:solidFill>
              <a:srgbClr val="D41883"/>
            </a:solidFill>
            <a:prstDash val="solid"/>
            <a:round/>
            <a:headEnd len="sm" w="sm" type="none"/>
            <a:tailEnd len="sm" w="sm" type="none"/>
          </a:ln>
        </p:spPr>
      </p:cxnSp>
      <p:sp>
        <p:nvSpPr>
          <p:cNvPr id="520" name="Google Shape;520;p21"/>
          <p:cNvSpPr txBox="1"/>
          <p:nvPr/>
        </p:nvSpPr>
        <p:spPr>
          <a:xfrm>
            <a:off x="554448" y="989025"/>
            <a:ext cx="3423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Fixed Price Fixed Scope Engagement</a:t>
            </a:r>
            <a:endParaRPr b="0" i="0" sz="1100" u="none" cap="none" strike="noStrike">
              <a:solidFill>
                <a:srgbClr val="12519C"/>
              </a:solidFill>
              <a:latin typeface="Montserrat"/>
              <a:ea typeface="Montserrat"/>
              <a:cs typeface="Montserrat"/>
              <a:sym typeface="Montserrat"/>
            </a:endParaRPr>
          </a:p>
        </p:txBody>
      </p:sp>
      <p:sp>
        <p:nvSpPr>
          <p:cNvPr id="521" name="Google Shape;521;p21"/>
          <p:cNvSpPr txBox="1"/>
          <p:nvPr/>
        </p:nvSpPr>
        <p:spPr>
          <a:xfrm>
            <a:off x="5322463" y="989017"/>
            <a:ext cx="2638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Commercial Summary</a:t>
            </a:r>
            <a:endParaRPr b="0" i="0" sz="1100" u="none" cap="none" strike="noStrike">
              <a:solidFill>
                <a:srgbClr val="12519C"/>
              </a:solidFill>
              <a:latin typeface="Montserrat"/>
              <a:ea typeface="Montserrat"/>
              <a:cs typeface="Montserrat"/>
              <a:sym typeface="Montserrat"/>
            </a:endParaRPr>
          </a:p>
        </p:txBody>
      </p:sp>
      <p:sp>
        <p:nvSpPr>
          <p:cNvPr id="522" name="Google Shape;522;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2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29" name="Google Shape;529;p23"/>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30" name="Google Shape;530;p23"/>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31" name="Google Shape;531;p23"/>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Success Stories</a:t>
            </a:r>
            <a:endParaRPr b="1" i="0" sz="1200" u="none" cap="none" strike="noStrike">
              <a:solidFill>
                <a:srgbClr val="D71B7F"/>
              </a:solidFill>
              <a:latin typeface="Montserrat"/>
              <a:ea typeface="Montserrat"/>
              <a:cs typeface="Montserrat"/>
              <a:sym typeface="Montserrat"/>
            </a:endParaRPr>
          </a:p>
        </p:txBody>
      </p:sp>
      <p:cxnSp>
        <p:nvCxnSpPr>
          <p:cNvPr id="532" name="Google Shape;532;p23"/>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33" name="Google Shape;533;p23"/>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34" name="Google Shape;534;p23"/>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35" name="Google Shape;535;p23"/>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23"/>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23"/>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3"/>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39" name="Google Shape;539;p23"/>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40" name="Google Shape;540;p23"/>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23"/>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542" name="Google Shape;542;p23"/>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43" name="Google Shape;543;p23"/>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23"/>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8" name="Shape 548"/>
        <p:cNvGrpSpPr/>
        <p:nvPr/>
      </p:nvGrpSpPr>
      <p:grpSpPr>
        <a:xfrm>
          <a:off x="0" y="0"/>
          <a:ext cx="0" cy="0"/>
          <a:chOff x="0" y="0"/>
          <a:chExt cx="0" cy="0"/>
        </a:xfrm>
      </p:grpSpPr>
      <p:sp>
        <p:nvSpPr>
          <p:cNvPr id="549" name="Google Shape;549;p24"/>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24"/>
          <p:cNvSpPr txBox="1"/>
          <p:nvPr/>
        </p:nvSpPr>
        <p:spPr>
          <a:xfrm>
            <a:off x="6222488" y="959944"/>
            <a:ext cx="26931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Since 2018, TTN has been a strategic partner in Tabcorp’s transformation, evolving from supporting its digital arm to over 150 people enabling </a:t>
            </a:r>
            <a:r>
              <a:rPr b="1" i="0" lang="en" sz="700" u="none" cap="none" strike="noStrike">
                <a:solidFill>
                  <a:schemeClr val="dk1"/>
                </a:solidFill>
                <a:latin typeface="Montserrat"/>
                <a:ea typeface="Montserrat"/>
                <a:cs typeface="Montserrat"/>
                <a:sym typeface="Montserrat"/>
              </a:rPr>
              <a:t>digital, gaming, data, trackside, retail, </a:t>
            </a:r>
            <a:r>
              <a:rPr b="0" i="0" lang="en" sz="700" u="none" cap="none" strike="noStrike">
                <a:solidFill>
                  <a:schemeClr val="dk1"/>
                </a:solidFill>
                <a:latin typeface="Montserrat"/>
                <a:ea typeface="Montserrat"/>
                <a:cs typeface="Montserrat"/>
                <a:sym typeface="Montserrat"/>
              </a:rPr>
              <a:t>and</a:t>
            </a:r>
            <a:r>
              <a:rPr b="1" i="0" lang="en" sz="700" u="none" cap="none" strike="noStrike">
                <a:solidFill>
                  <a:schemeClr val="dk1"/>
                </a:solidFill>
                <a:latin typeface="Montserrat"/>
                <a:ea typeface="Montserrat"/>
                <a:cs typeface="Montserrat"/>
                <a:sym typeface="Montserrat"/>
              </a:rPr>
              <a:t> cybersecurity</a:t>
            </a:r>
            <a:r>
              <a:rPr b="0" i="0" lang="en" sz="700" u="none" cap="none" strike="noStrike">
                <a:solidFill>
                  <a:schemeClr val="dk1"/>
                </a:solidFill>
                <a:latin typeface="Montserrat"/>
                <a:ea typeface="Montserrat"/>
                <a:cs typeface="Montserrat"/>
                <a:sym typeface="Montserrat"/>
              </a:rPr>
              <a:t>. Together, we have delivered groundbreaking solutions at scale.</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From omni-channel innovations like a </a:t>
            </a:r>
            <a:r>
              <a:rPr b="1" i="0" lang="en" sz="700" u="none" cap="none" strike="noStrike">
                <a:solidFill>
                  <a:schemeClr val="dk1"/>
                </a:solidFill>
                <a:latin typeface="Montserrat"/>
                <a:ea typeface="Montserrat"/>
                <a:cs typeface="Montserrat"/>
                <a:sym typeface="Montserrat"/>
              </a:rPr>
              <a:t>cross-platform betting app</a:t>
            </a:r>
            <a:r>
              <a:rPr b="0" i="0" lang="en" sz="700" u="none" cap="none" strike="noStrike">
                <a:solidFill>
                  <a:schemeClr val="dk1"/>
                </a:solidFill>
                <a:latin typeface="Montserrat"/>
                <a:ea typeface="Montserrat"/>
                <a:cs typeface="Montserrat"/>
                <a:sym typeface="Montserrat"/>
              </a:rPr>
              <a:t>, integrating </a:t>
            </a:r>
            <a:r>
              <a:rPr b="1" i="0" lang="en" sz="700" u="none" cap="none" strike="noStrike">
                <a:solidFill>
                  <a:schemeClr val="dk1"/>
                </a:solidFill>
                <a:latin typeface="Montserrat"/>
                <a:ea typeface="Montserrat"/>
                <a:cs typeface="Montserrat"/>
                <a:sym typeface="Montserrat"/>
              </a:rPr>
              <a:t>web</a:t>
            </a:r>
            <a:r>
              <a:rPr b="0" i="0" lang="en" sz="700" u="none" cap="none" strike="noStrike">
                <a:solidFill>
                  <a:schemeClr val="dk1"/>
                </a:solidFill>
                <a:latin typeface="Montserrat"/>
                <a:ea typeface="Montserrat"/>
                <a:cs typeface="Montserrat"/>
                <a:sym typeface="Montserrat"/>
              </a:rPr>
              <a:t> and mobile experiences, customer engagement and </a:t>
            </a:r>
            <a:r>
              <a:rPr b="1" i="0" lang="en" sz="700" u="none" cap="none" strike="noStrike">
                <a:solidFill>
                  <a:schemeClr val="dk1"/>
                </a:solidFill>
                <a:latin typeface="Montserrat"/>
                <a:ea typeface="Montserrat"/>
                <a:cs typeface="Montserrat"/>
                <a:sym typeface="Montserrat"/>
              </a:rPr>
              <a:t>personalisation</a:t>
            </a:r>
            <a:r>
              <a:rPr b="0" i="0" lang="en" sz="700" u="none" cap="none" strike="noStrike">
                <a:solidFill>
                  <a:schemeClr val="dk1"/>
                </a:solidFill>
                <a:latin typeface="Montserrat"/>
                <a:ea typeface="Montserrat"/>
                <a:cs typeface="Montserrat"/>
                <a:sym typeface="Montserrat"/>
              </a:rPr>
              <a:t> through </a:t>
            </a:r>
            <a:r>
              <a:rPr b="1" i="0" lang="en" sz="700" u="none" cap="none" strike="noStrike">
                <a:solidFill>
                  <a:schemeClr val="dk1"/>
                </a:solidFill>
                <a:latin typeface="Montserrat"/>
                <a:ea typeface="Montserrat"/>
                <a:cs typeface="Montserrat"/>
                <a:sym typeface="Montserrat"/>
              </a:rPr>
              <a:t>Adobe Target, Analytics, and AEM</a:t>
            </a:r>
            <a:r>
              <a:rPr b="0" i="0" lang="en" sz="700" u="none" cap="none" strike="noStrike">
                <a:solidFill>
                  <a:schemeClr val="dk1"/>
                </a:solidFill>
                <a:latin typeface="Montserrat"/>
                <a:ea typeface="Montserrat"/>
                <a:cs typeface="Montserrat"/>
                <a:sym typeface="Montserrat"/>
              </a:rPr>
              <a:t>, to infrastructure modernisation with</a:t>
            </a:r>
            <a:r>
              <a:rPr b="1" i="0" lang="en" sz="700" u="none" cap="none" strike="noStrike">
                <a:solidFill>
                  <a:schemeClr val="dk1"/>
                </a:solidFill>
                <a:latin typeface="Montserrat"/>
                <a:ea typeface="Montserrat"/>
                <a:cs typeface="Montserrat"/>
                <a:sym typeface="Montserrat"/>
              </a:rPr>
              <a:t> Infra as Code</a:t>
            </a:r>
            <a:r>
              <a:rPr b="0" i="0" lang="en" sz="700" u="none" cap="none" strike="noStrike">
                <a:solidFill>
                  <a:schemeClr val="dk1"/>
                </a:solidFill>
                <a:latin typeface="Montserrat"/>
                <a:ea typeface="Montserrat"/>
                <a:cs typeface="Montserrat"/>
                <a:sym typeface="Montserrat"/>
              </a:rPr>
              <a:t>, AWS Cloud optimisation, and </a:t>
            </a:r>
            <a:r>
              <a:rPr b="1" i="0" lang="en" sz="700" u="none" cap="none" strike="noStrike">
                <a:solidFill>
                  <a:schemeClr val="dk1"/>
                </a:solidFill>
                <a:latin typeface="Montserrat"/>
                <a:ea typeface="Montserrat"/>
                <a:cs typeface="Montserrat"/>
                <a:sym typeface="Montserrat"/>
              </a:rPr>
              <a:t>Graviton</a:t>
            </a:r>
            <a:r>
              <a:rPr b="0" i="0" lang="en" sz="700" u="none" cap="none" strike="noStrike">
                <a:solidFill>
                  <a:schemeClr val="dk1"/>
                </a:solidFill>
                <a:latin typeface="Montserrat"/>
                <a:ea typeface="Montserrat"/>
                <a:cs typeface="Montserrat"/>
                <a:sym typeface="Montserrat"/>
              </a:rPr>
              <a:t> migration, to reducing manual testing by 45% through </a:t>
            </a:r>
            <a:r>
              <a:rPr b="1" i="0" lang="en" sz="700" u="none" cap="none" strike="noStrike">
                <a:solidFill>
                  <a:schemeClr val="dk1"/>
                </a:solidFill>
                <a:latin typeface="Montserrat"/>
                <a:ea typeface="Montserrat"/>
                <a:cs typeface="Montserrat"/>
                <a:sym typeface="Montserrat"/>
              </a:rPr>
              <a:t>automation</a:t>
            </a:r>
            <a:r>
              <a:rPr b="0" i="0" lang="en" sz="700" u="none" cap="none" strike="noStrike">
                <a:solidFill>
                  <a:schemeClr val="dk1"/>
                </a:solidFill>
                <a:latin typeface="Montserrat"/>
                <a:ea typeface="Montserrat"/>
                <a:cs typeface="Montserrat"/>
                <a:sym typeface="Montserrat"/>
              </a:rPr>
              <a: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We have enabled compliance adherence through </a:t>
            </a:r>
            <a:r>
              <a:rPr b="1" i="0" lang="en" sz="700" u="none" cap="none" strike="noStrike">
                <a:solidFill>
                  <a:schemeClr val="dk1"/>
                </a:solidFill>
                <a:latin typeface="Montserrat"/>
                <a:ea typeface="Montserrat"/>
                <a:cs typeface="Montserrat"/>
                <a:sym typeface="Montserrat"/>
              </a:rPr>
              <a:t>AML/CTF tools </a:t>
            </a:r>
            <a:r>
              <a:rPr b="0" i="0" lang="en" sz="700" u="none" cap="none" strike="noStrike">
                <a:solidFill>
                  <a:schemeClr val="dk1"/>
                </a:solidFill>
                <a:latin typeface="Montserrat"/>
                <a:ea typeface="Montserrat"/>
                <a:cs typeface="Montserrat"/>
                <a:sym typeface="Montserrat"/>
              </a:rPr>
              <a:t>for</a:t>
            </a:r>
            <a:r>
              <a:rPr b="1" i="0" lang="en" sz="700" u="none" cap="none" strike="noStrike">
                <a:solidFill>
                  <a:schemeClr val="dk1"/>
                </a:solidFill>
                <a:latin typeface="Montserrat"/>
                <a:ea typeface="Montserrat"/>
                <a:cs typeface="Montserrat"/>
                <a:sym typeface="Montserrat"/>
              </a:rPr>
              <a:t> Enhanced Customer Due Diligence</a:t>
            </a:r>
            <a:r>
              <a:rPr b="0" i="0" lang="en" sz="700" u="none" cap="none" strike="noStrike">
                <a:solidFill>
                  <a:schemeClr val="dk1"/>
                </a:solidFill>
                <a:latin typeface="Montserrat"/>
                <a:ea typeface="Montserrat"/>
                <a:cs typeface="Montserrat"/>
                <a:sym typeface="Montserrat"/>
              </a:rPr>
              <a:t> and </a:t>
            </a:r>
            <a:r>
              <a:rPr b="1" i="0" lang="en" sz="700" u="none" cap="none" strike="noStrike">
                <a:solidFill>
                  <a:schemeClr val="dk1"/>
                </a:solidFill>
                <a:latin typeface="Montserrat"/>
                <a:ea typeface="Montserrat"/>
                <a:cs typeface="Montserrat"/>
                <a:sym typeface="Montserrat"/>
              </a:rPr>
              <a:t>suppression</a:t>
            </a:r>
            <a:r>
              <a:rPr b="0" i="0" lang="en" sz="700" u="none" cap="none" strike="noStrike">
                <a:solidFill>
                  <a:schemeClr val="dk1"/>
                </a:solidFill>
                <a:latin typeface="Montserrat"/>
                <a:ea typeface="Montserrat"/>
                <a:cs typeface="Montserrat"/>
                <a:sym typeface="Montserrat"/>
              </a:rPr>
              <a:t> management.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Our work includes cutting-edge betting features like </a:t>
            </a:r>
            <a:r>
              <a:rPr b="1" i="0" lang="en" sz="700" u="none" cap="none" strike="noStrike">
                <a:solidFill>
                  <a:schemeClr val="dk1"/>
                </a:solidFill>
                <a:latin typeface="Montserrat"/>
                <a:ea typeface="Montserrat"/>
                <a:cs typeface="Montserrat"/>
                <a:sym typeface="Montserrat"/>
              </a:rPr>
              <a:t>Same Game Multi</a:t>
            </a:r>
            <a:r>
              <a:rPr b="0" i="0" lang="en" sz="700" u="none" cap="none" strike="noStrike">
                <a:solidFill>
                  <a:schemeClr val="dk1"/>
                </a:solidFill>
                <a:latin typeface="Montserrat"/>
                <a:ea typeface="Montserrat"/>
                <a:cs typeface="Montserrat"/>
                <a:sym typeface="Montserrat"/>
              </a:rPr>
              <a:t> for sports, </a:t>
            </a:r>
            <a:r>
              <a:rPr b="1" i="0" lang="en" sz="700" u="none" cap="none" strike="noStrike">
                <a:solidFill>
                  <a:schemeClr val="dk1"/>
                </a:solidFill>
                <a:latin typeface="Montserrat"/>
                <a:ea typeface="Montserrat"/>
                <a:cs typeface="Montserrat"/>
                <a:sym typeface="Montserrat"/>
              </a:rPr>
              <a:t>Blackbook</a:t>
            </a:r>
            <a:r>
              <a:rPr b="0" i="0" lang="en" sz="700" u="none" cap="none" strike="noStrike">
                <a:solidFill>
                  <a:schemeClr val="dk1"/>
                </a:solidFill>
                <a:latin typeface="Montserrat"/>
                <a:ea typeface="Montserrat"/>
                <a:cs typeface="Montserrat"/>
                <a:sym typeface="Montserrat"/>
              </a:rPr>
              <a:t> for racing, and </a:t>
            </a:r>
            <a:r>
              <a:rPr b="1" i="0" lang="en" sz="700" u="none" cap="none" strike="noStrike">
                <a:solidFill>
                  <a:schemeClr val="dk1"/>
                </a:solidFill>
                <a:latin typeface="Montserrat"/>
                <a:ea typeface="Montserrat"/>
                <a:cs typeface="Montserrat"/>
                <a:sym typeface="Montserrat"/>
              </a:rPr>
              <a:t>Retail in-play</a:t>
            </a:r>
            <a:r>
              <a:rPr b="0" i="0" lang="en" sz="700" u="none" cap="none" strike="noStrike">
                <a:solidFill>
                  <a:schemeClr val="dk1"/>
                </a:solidFill>
                <a:latin typeface="Montserrat"/>
                <a:ea typeface="Montserrat"/>
                <a:cs typeface="Montserrat"/>
                <a:sym typeface="Montserrat"/>
              </a:rPr>
              <a:t> initiatives to boost engagement and custom experiences.</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0" i="0" sz="700" u="none" cap="none" strike="noStrike">
              <a:solidFill>
                <a:srgbClr val="434343"/>
              </a:solidFill>
              <a:latin typeface="Montserrat"/>
              <a:ea typeface="Montserrat"/>
              <a:cs typeface="Montserrat"/>
              <a:sym typeface="Montserrat"/>
            </a:endParaRPr>
          </a:p>
        </p:txBody>
      </p:sp>
      <p:sp>
        <p:nvSpPr>
          <p:cNvPr id="551" name="Google Shape;551;p24"/>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552" name="Google Shape;552;p24"/>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553" name="Google Shape;553;p24"/>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554" name="Google Shape;554;p24"/>
          <p:cNvPicPr preferRelativeResize="0"/>
          <p:nvPr/>
        </p:nvPicPr>
        <p:blipFill rotWithShape="1">
          <a:blip r:embed="rId6">
            <a:alphaModFix/>
          </a:blip>
          <a:srcRect b="51129" l="0" r="0" t="0"/>
          <a:stretch/>
        </p:blipFill>
        <p:spPr>
          <a:xfrm>
            <a:off x="851951" y="1443450"/>
            <a:ext cx="3776933" cy="2202435"/>
          </a:xfrm>
          <a:prstGeom prst="rect">
            <a:avLst/>
          </a:prstGeom>
          <a:noFill/>
          <a:ln>
            <a:noFill/>
          </a:ln>
        </p:spPr>
      </p:pic>
      <p:pic>
        <p:nvPicPr>
          <p:cNvPr id="555" name="Google Shape;555;p24"/>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556" name="Google Shape;556;p24"/>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557" name="Google Shape;557;p24"/>
          <p:cNvPicPr preferRelativeResize="0"/>
          <p:nvPr/>
        </p:nvPicPr>
        <p:blipFill rotWithShape="1">
          <a:blip r:embed="rId9">
            <a:alphaModFix/>
          </a:blip>
          <a:srcRect b="0" l="0" r="0" t="0"/>
          <a:stretch/>
        </p:blipFill>
        <p:spPr>
          <a:xfrm>
            <a:off x="207877" y="179550"/>
            <a:ext cx="1531468" cy="286200"/>
          </a:xfrm>
          <a:prstGeom prst="rect">
            <a:avLst/>
          </a:prstGeom>
          <a:noFill/>
          <a:ln>
            <a:noFill/>
          </a:ln>
        </p:spPr>
      </p:pic>
      <p:pic>
        <p:nvPicPr>
          <p:cNvPr descr="TTN Logo.png" id="558" name="Google Shape;558;p24"/>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559" name="Google Shape;559;p2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3" name="Shape 563"/>
        <p:cNvGrpSpPr/>
        <p:nvPr/>
      </p:nvGrpSpPr>
      <p:grpSpPr>
        <a:xfrm>
          <a:off x="0" y="0"/>
          <a:ext cx="0" cy="0"/>
          <a:chOff x="0" y="0"/>
          <a:chExt cx="0" cy="0"/>
        </a:xfrm>
      </p:grpSpPr>
      <p:sp>
        <p:nvSpPr>
          <p:cNvPr id="564" name="Google Shape;564;p25"/>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25"/>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TTN successfully </a:t>
            </a:r>
            <a:r>
              <a:rPr b="1" i="0" lang="en" sz="900" u="none" cap="none" strike="noStrike">
                <a:solidFill>
                  <a:schemeClr val="dk1"/>
                </a:solidFill>
                <a:latin typeface="Montserrat"/>
                <a:ea typeface="Montserrat"/>
                <a:cs typeface="Montserrat"/>
                <a:sym typeface="Montserrat"/>
              </a:rPr>
              <a:t>rebuilt</a:t>
            </a:r>
            <a:r>
              <a:rPr b="0" i="0" lang="en" sz="900" u="none" cap="none" strike="noStrike">
                <a:solidFill>
                  <a:schemeClr val="dk1"/>
                </a:solidFill>
                <a:latin typeface="Montserrat"/>
                <a:ea typeface="Montserrat"/>
                <a:cs typeface="Montserrat"/>
                <a:sym typeface="Montserrat"/>
              </a:rPr>
              <a:t> the entire </a:t>
            </a:r>
            <a:r>
              <a:rPr b="1" i="0" lang="en" sz="900" u="none" cap="none" strike="noStrike">
                <a:solidFill>
                  <a:schemeClr val="dk1"/>
                </a:solidFill>
                <a:latin typeface="Montserrat"/>
                <a:ea typeface="Montserrat"/>
                <a:cs typeface="Montserrat"/>
                <a:sym typeface="Montserrat"/>
              </a:rPr>
              <a:t>Sky</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Racing Website</a:t>
            </a:r>
            <a:r>
              <a:rPr b="0" i="0" lang="en" sz="900" u="none" cap="none" strike="noStrike">
                <a:solidFill>
                  <a:schemeClr val="dk1"/>
                </a:solidFill>
                <a:latin typeface="Montserrat"/>
                <a:ea typeface="Montserrat"/>
                <a:cs typeface="Montserrat"/>
                <a:sym typeface="Montserrat"/>
              </a:rPr>
              <a:t>, optimised for SEO, and implemented a microservices-based architecture that is highly resilient and scalable, hosted on AWS.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In addition to enhancing core digital properties, </a:t>
            </a:r>
            <a:r>
              <a:rPr b="1" i="0" lang="en" sz="900" u="none" cap="none" strike="noStrike">
                <a:solidFill>
                  <a:schemeClr val="dk1"/>
                </a:solidFill>
                <a:latin typeface="Montserrat"/>
                <a:ea typeface="Montserrat"/>
                <a:cs typeface="Montserrat"/>
                <a:sym typeface="Montserrat"/>
              </a:rPr>
              <a:t>TTN streamlined content curation</a:t>
            </a:r>
            <a:r>
              <a:rPr b="0" i="0" lang="en" sz="900" u="none" cap="none" strike="noStrike">
                <a:solidFill>
                  <a:schemeClr val="dk1"/>
                </a:solidFill>
                <a:latin typeface="Montserrat"/>
                <a:ea typeface="Montserrat"/>
                <a:cs typeface="Montserrat"/>
                <a:sym typeface="Montserrat"/>
              </a:rPr>
              <a:t> through a</a:t>
            </a:r>
            <a:r>
              <a:rPr b="1" i="0" lang="en" sz="900" u="none" cap="none" strike="noStrike">
                <a:solidFill>
                  <a:schemeClr val="dk1"/>
                </a:solidFill>
                <a:latin typeface="Montserrat"/>
                <a:ea typeface="Montserrat"/>
                <a:cs typeface="Montserrat"/>
                <a:sym typeface="Montserrat"/>
              </a:rPr>
              <a:t> custom-built CMS</a:t>
            </a:r>
            <a:r>
              <a:rPr b="0" i="0" lang="en" sz="900" u="none" cap="none" strike="noStrike">
                <a:solidFill>
                  <a:schemeClr val="dk1"/>
                </a:solidFill>
                <a:latin typeface="Montserrat"/>
                <a:ea typeface="Montserrat"/>
                <a:cs typeface="Montserrat"/>
                <a:sym typeface="Montserrat"/>
              </a:rPr>
              <a:t>, enabling auto and personalised playlists based on</a:t>
            </a:r>
            <a:r>
              <a:rPr b="1" i="0" lang="en" sz="900" u="none" cap="none" strike="noStrike">
                <a:solidFill>
                  <a:schemeClr val="dk1"/>
                </a:solidFill>
                <a:latin typeface="Montserrat"/>
                <a:ea typeface="Montserrat"/>
                <a:cs typeface="Montserrat"/>
                <a:sym typeface="Montserrat"/>
              </a:rPr>
              <a:t> user preferences</a:t>
            </a:r>
            <a:r>
              <a:rPr b="0" i="0" lang="en" sz="900" u="none" cap="none" strike="noStrike">
                <a:solidFill>
                  <a:schemeClr val="dk1"/>
                </a:solidFill>
                <a:latin typeface="Montserrat"/>
                <a:ea typeface="Montserrat"/>
                <a:cs typeface="Montserrat"/>
                <a:sym typeface="Montserrat"/>
              </a:rPr>
              <a:t>, which significantly improved </a:t>
            </a:r>
            <a:r>
              <a:rPr b="1" i="0" lang="en" sz="900" u="none" cap="none" strike="noStrike">
                <a:solidFill>
                  <a:schemeClr val="dk1"/>
                </a:solidFill>
                <a:latin typeface="Montserrat"/>
                <a:ea typeface="Montserrat"/>
                <a:cs typeface="Montserrat"/>
                <a:sym typeface="Montserrat"/>
              </a:rPr>
              <a:t>operational efficiency.</a:t>
            </a:r>
            <a:r>
              <a:rPr b="0" i="0" lang="en" sz="900" u="none" cap="none" strike="noStrike">
                <a:solidFill>
                  <a:schemeClr val="dk1"/>
                </a:solidFill>
                <a:latin typeface="Montserrat"/>
                <a:ea typeface="Montserrat"/>
                <a:cs typeface="Montserrat"/>
                <a:sym typeface="Montserrat"/>
              </a:rPr>
              <a:t>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The platform features live </a:t>
            </a:r>
            <a:r>
              <a:rPr b="1" i="0" lang="en" sz="900" u="none" cap="none" strike="noStrike">
                <a:solidFill>
                  <a:schemeClr val="dk1"/>
                </a:solidFill>
                <a:latin typeface="Montserrat"/>
                <a:ea typeface="Montserrat"/>
                <a:cs typeface="Montserrat"/>
                <a:sym typeface="Montserrat"/>
              </a:rPr>
              <a:t>race streaming and VOD content</a:t>
            </a:r>
            <a:r>
              <a:rPr b="0" i="0" lang="en" sz="900" u="none" cap="none" strike="noStrike">
                <a:solidFill>
                  <a:schemeClr val="dk1"/>
                </a:solidFill>
                <a:latin typeface="Montserrat"/>
                <a:ea typeface="Montserrat"/>
                <a:cs typeface="Montserrat"/>
                <a:sym typeface="Montserrat"/>
              </a:rPr>
              <a:t>, leveraging a comprehensive technology stack that includes Kotlin, Swift, Java, MongoDB, Spring Boot, and more.</a:t>
            </a:r>
            <a:endParaRPr b="1" i="0" sz="900" u="none" cap="none" strike="noStrike">
              <a:solidFill>
                <a:srgbClr val="D9187F"/>
              </a:solidFill>
              <a:latin typeface="Montserrat"/>
              <a:ea typeface="Montserrat"/>
              <a:cs typeface="Montserrat"/>
              <a:sym typeface="Montserrat"/>
            </a:endParaRPr>
          </a:p>
        </p:txBody>
      </p:sp>
      <p:pic>
        <p:nvPicPr>
          <p:cNvPr id="566" name="Google Shape;566;p25"/>
          <p:cNvPicPr preferRelativeResize="0"/>
          <p:nvPr/>
        </p:nvPicPr>
        <p:blipFill rotWithShape="1">
          <a:blip r:embed="rId4">
            <a:alphaModFix/>
          </a:blip>
          <a:srcRect b="0" l="0" r="0" t="0"/>
          <a:stretch/>
        </p:blipFill>
        <p:spPr>
          <a:xfrm>
            <a:off x="182896" y="156319"/>
            <a:ext cx="612506" cy="510431"/>
          </a:xfrm>
          <a:prstGeom prst="rect">
            <a:avLst/>
          </a:prstGeom>
          <a:noFill/>
          <a:ln>
            <a:noFill/>
          </a:ln>
        </p:spPr>
      </p:pic>
      <p:sp>
        <p:nvSpPr>
          <p:cNvPr id="567" name="Google Shape;567;p25"/>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568" name="Google Shape;568;p25"/>
          <p:cNvPicPr preferRelativeResize="0"/>
          <p:nvPr/>
        </p:nvPicPr>
        <p:blipFill rotWithShape="1">
          <a:blip r:embed="rId5">
            <a:alphaModFix/>
          </a:blip>
          <a:srcRect b="0" l="0" r="0" t="0"/>
          <a:stretch/>
        </p:blipFill>
        <p:spPr>
          <a:xfrm>
            <a:off x="309115" y="1314638"/>
            <a:ext cx="4862602" cy="2662069"/>
          </a:xfrm>
          <a:prstGeom prst="rect">
            <a:avLst/>
          </a:prstGeom>
          <a:noFill/>
          <a:ln>
            <a:noFill/>
          </a:ln>
        </p:spPr>
      </p:pic>
      <p:pic>
        <p:nvPicPr>
          <p:cNvPr id="569" name="Google Shape;569;p25"/>
          <p:cNvPicPr preferRelativeResize="0"/>
          <p:nvPr/>
        </p:nvPicPr>
        <p:blipFill rotWithShape="1">
          <a:blip r:embed="rId6">
            <a:alphaModFix/>
          </a:blip>
          <a:srcRect b="10521" l="6650" r="11154" t="4633"/>
          <a:stretch/>
        </p:blipFill>
        <p:spPr>
          <a:xfrm>
            <a:off x="851944" y="1443453"/>
            <a:ext cx="3776945" cy="1955583"/>
          </a:xfrm>
          <a:prstGeom prst="rect">
            <a:avLst/>
          </a:prstGeom>
          <a:noFill/>
          <a:ln>
            <a:noFill/>
          </a:ln>
        </p:spPr>
      </p:pic>
      <p:pic>
        <p:nvPicPr>
          <p:cNvPr id="570" name="Google Shape;570;p25"/>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571" name="Google Shape;571;p25"/>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572" name="Google Shape;572;p25"/>
          <p:cNvPicPr preferRelativeResize="0"/>
          <p:nvPr/>
        </p:nvPicPr>
        <p:blipFill rotWithShape="1">
          <a:blip r:embed="rId9">
            <a:alphaModFix/>
          </a:blip>
          <a:srcRect b="14288" l="0" r="0" t="0"/>
          <a:stretch/>
        </p:blipFill>
        <p:spPr>
          <a:xfrm>
            <a:off x="851951" y="1443450"/>
            <a:ext cx="3361367" cy="2148149"/>
          </a:xfrm>
          <a:prstGeom prst="rect">
            <a:avLst/>
          </a:prstGeom>
          <a:noFill/>
          <a:ln>
            <a:noFill/>
          </a:ln>
        </p:spPr>
      </p:pic>
      <p:pic>
        <p:nvPicPr>
          <p:cNvPr id="573" name="Google Shape;573;p25"/>
          <p:cNvPicPr preferRelativeResize="0"/>
          <p:nvPr/>
        </p:nvPicPr>
        <p:blipFill rotWithShape="1">
          <a:blip r:embed="rId10">
            <a:alphaModFix/>
          </a:blip>
          <a:srcRect b="0" l="0" r="0" t="0"/>
          <a:stretch/>
        </p:blipFill>
        <p:spPr>
          <a:xfrm>
            <a:off x="4298069" y="1177687"/>
            <a:ext cx="1236900" cy="2597100"/>
          </a:xfrm>
          <a:prstGeom prst="round2SameRect">
            <a:avLst>
              <a:gd fmla="val 13849" name="adj1"/>
              <a:gd fmla="val 0" name="adj2"/>
            </a:avLst>
          </a:prstGeom>
          <a:noFill/>
          <a:ln>
            <a:noFill/>
          </a:ln>
        </p:spPr>
      </p:pic>
      <p:pic>
        <p:nvPicPr>
          <p:cNvPr descr="TTN Logo.png" id="574" name="Google Shape;574;p25"/>
          <p:cNvPicPr preferRelativeResize="0"/>
          <p:nvPr/>
        </p:nvPicPr>
        <p:blipFill rotWithShape="1">
          <a:blip r:embed="rId11">
            <a:alphaModFix/>
          </a:blip>
          <a:srcRect b="0" l="0" r="0" t="0"/>
          <a:stretch/>
        </p:blipFill>
        <p:spPr>
          <a:xfrm>
            <a:off x="8414781" y="117828"/>
            <a:ext cx="625544" cy="349439"/>
          </a:xfrm>
          <a:prstGeom prst="rect">
            <a:avLst/>
          </a:prstGeom>
          <a:noFill/>
          <a:ln>
            <a:noFill/>
          </a:ln>
        </p:spPr>
      </p:pic>
      <p:sp>
        <p:nvSpPr>
          <p:cNvPr id="575" name="Google Shape;575;p25"/>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9" name="Shape 579"/>
        <p:cNvGrpSpPr/>
        <p:nvPr/>
      </p:nvGrpSpPr>
      <p:grpSpPr>
        <a:xfrm>
          <a:off x="0" y="0"/>
          <a:ext cx="0" cy="0"/>
          <a:chOff x="0" y="0"/>
          <a:chExt cx="0" cy="0"/>
        </a:xfrm>
      </p:grpSpPr>
      <p:sp>
        <p:nvSpPr>
          <p:cNvPr id="580" name="Google Shape;580;p26"/>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26"/>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Tata Play partnered with us to reimagine their digital platforms - bringing innovation to both entertainment and customer self-service.</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We engineered a secure OTT solution featuring </a:t>
            </a:r>
            <a:r>
              <a:rPr b="1" i="0" lang="en" sz="900" u="none" cap="none" strike="noStrike">
                <a:solidFill>
                  <a:schemeClr val="dk1"/>
                </a:solidFill>
                <a:latin typeface="Montserrat"/>
                <a:ea typeface="Montserrat"/>
                <a:cs typeface="Montserrat"/>
                <a:sym typeface="Montserrat"/>
              </a:rPr>
              <a:t>Live TV</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VoD</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DRM integration</a:t>
            </a:r>
            <a:r>
              <a:rPr b="0" i="0" lang="en" sz="900" u="none" cap="none" strike="noStrike">
                <a:solidFill>
                  <a:schemeClr val="dk1"/>
                </a:solidFill>
                <a:latin typeface="Montserrat"/>
                <a:ea typeface="Montserrat"/>
                <a:cs typeface="Montserrat"/>
                <a:sym typeface="Montserrat"/>
              </a:rPr>
              <a:t>, and user-friendly tools like </a:t>
            </a:r>
            <a:r>
              <a:rPr b="1" i="0" lang="en" sz="900" u="none" cap="none" strike="noStrike">
                <a:solidFill>
                  <a:schemeClr val="dk1"/>
                </a:solidFill>
                <a:latin typeface="Montserrat"/>
                <a:ea typeface="Montserrat"/>
                <a:cs typeface="Montserrat"/>
                <a:sym typeface="Montserrat"/>
              </a:rPr>
              <a:t>remote recording</a:t>
            </a:r>
            <a:r>
              <a:rPr b="0" i="0" lang="en" sz="900" u="none" cap="none" strike="noStrike">
                <a:solidFill>
                  <a:schemeClr val="dk1"/>
                </a:solidFill>
                <a:latin typeface="Montserrat"/>
                <a:ea typeface="Montserrat"/>
                <a:cs typeface="Montserrat"/>
                <a:sym typeface="Montserrat"/>
              </a:rPr>
              <a:t> and </a:t>
            </a:r>
            <a:r>
              <a:rPr b="1" i="0" lang="en" sz="900" u="none" cap="none" strike="noStrike">
                <a:solidFill>
                  <a:schemeClr val="dk1"/>
                </a:solidFill>
                <a:latin typeface="Montserrat"/>
                <a:ea typeface="Montserrat"/>
                <a:cs typeface="Montserrat"/>
                <a:sym typeface="Montserrat"/>
              </a:rPr>
              <a:t>rich analytics</a:t>
            </a:r>
            <a:r>
              <a:rPr b="0" i="0" lang="en" sz="900" u="none" cap="none" strike="noStrike">
                <a:solidFill>
                  <a:schemeClr val="dk1"/>
                </a:solidFill>
                <a:latin typeface="Montserrat"/>
                <a:ea typeface="Montserrat"/>
                <a:cs typeface="Montserrat"/>
                <a:sym typeface="Montserrat"/>
              </a:rPr>
              <a:t>. In parallel, we developed a </a:t>
            </a:r>
            <a:r>
              <a:rPr b="1" i="0" lang="en" sz="900" u="none" cap="none" strike="noStrike">
                <a:solidFill>
                  <a:schemeClr val="dk1"/>
                </a:solidFill>
                <a:latin typeface="Montserrat"/>
                <a:ea typeface="Montserrat"/>
                <a:cs typeface="Montserrat"/>
                <a:sym typeface="Montserrat"/>
              </a:rPr>
              <a:t>React Native-based Self-Care app</a:t>
            </a:r>
            <a:r>
              <a:rPr b="0" i="0" lang="en" sz="900" u="none" cap="none" strike="noStrike">
                <a:solidFill>
                  <a:schemeClr val="dk1"/>
                </a:solidFill>
                <a:latin typeface="Montserrat"/>
                <a:ea typeface="Montserrat"/>
                <a:cs typeface="Montserrat"/>
                <a:sym typeface="Montserrat"/>
              </a:rPr>
              <a:t> with a </a:t>
            </a:r>
            <a:r>
              <a:rPr b="1" i="0" lang="en" sz="900" u="none" cap="none" strike="noStrike">
                <a:solidFill>
                  <a:schemeClr val="dk1"/>
                </a:solidFill>
                <a:latin typeface="Montserrat"/>
                <a:ea typeface="Montserrat"/>
                <a:cs typeface="Montserrat"/>
                <a:sym typeface="Montserrat"/>
              </a:rPr>
              <a:t>unified Android/iOS codebase</a:t>
            </a:r>
            <a:r>
              <a:rPr b="0" i="0" lang="en" sz="900" u="none" cap="none" strike="noStrike">
                <a:solidFill>
                  <a:schemeClr val="dk1"/>
                </a:solidFill>
                <a:latin typeface="Montserrat"/>
                <a:ea typeface="Montserrat"/>
                <a:cs typeface="Montserrat"/>
                <a:sym typeface="Montserrat"/>
              </a:rPr>
              <a:t>, enabling faster releases and seamless </a:t>
            </a:r>
            <a:r>
              <a:rPr b="1" i="0" lang="en" sz="900" u="none" cap="none" strike="noStrike">
                <a:solidFill>
                  <a:schemeClr val="dk1"/>
                </a:solidFill>
                <a:latin typeface="Montserrat"/>
                <a:ea typeface="Montserrat"/>
                <a:cs typeface="Montserrat"/>
                <a:sym typeface="Montserrat"/>
              </a:rPr>
              <a:t>CRM/payment gateway integration</a:t>
            </a:r>
            <a:r>
              <a:rPr b="0" i="0" lang="en" sz="900" u="none" cap="none" strike="noStrike">
                <a:solidFill>
                  <a:schemeClr val="dk1"/>
                </a:solidFill>
                <a:latin typeface="Montserrat"/>
                <a:ea typeface="Montserrat"/>
                <a:cs typeface="Montserrat"/>
                <a:sym typeface="Montserrat"/>
              </a:rPr>
              <a:t>.</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Powered by a </a:t>
            </a:r>
            <a:r>
              <a:rPr b="1" i="0" lang="en" sz="900" u="none" cap="none" strike="noStrike">
                <a:solidFill>
                  <a:schemeClr val="dk1"/>
                </a:solidFill>
                <a:latin typeface="Montserrat"/>
                <a:ea typeface="Montserrat"/>
                <a:cs typeface="Montserrat"/>
                <a:sym typeface="Montserrat"/>
              </a:rPr>
              <a:t>microservices architecture</a:t>
            </a:r>
            <a:r>
              <a:rPr b="0" i="0" lang="en" sz="900" u="none" cap="none" strike="noStrike">
                <a:solidFill>
                  <a:schemeClr val="dk1"/>
                </a:solidFill>
                <a:latin typeface="Montserrat"/>
                <a:ea typeface="Montserrat"/>
                <a:cs typeface="Montserrat"/>
                <a:sym typeface="Montserrat"/>
              </a:rPr>
              <a:t>, the platforms are scalable, resilient, and experience-driven.</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Achieved </a:t>
            </a:r>
            <a:r>
              <a:rPr b="1" i="0" lang="en" sz="900" u="none" cap="none" strike="noStrike">
                <a:solidFill>
                  <a:schemeClr val="dk1"/>
                </a:solidFill>
                <a:latin typeface="Montserrat"/>
                <a:ea typeface="Montserrat"/>
                <a:cs typeface="Montserrat"/>
                <a:sym typeface="Montserrat"/>
              </a:rPr>
              <a:t>70%+ mobile engagement</a:t>
            </a:r>
            <a:r>
              <a:rPr b="0" i="0" lang="en" sz="900" u="none" cap="none" strike="noStrike">
                <a:solidFill>
                  <a:schemeClr val="dk1"/>
                </a:solidFill>
                <a:latin typeface="Montserrat"/>
                <a:ea typeface="Montserrat"/>
                <a:cs typeface="Montserrat"/>
                <a:sym typeface="Montserrat"/>
              </a:rPr>
              <a:t>, improved </a:t>
            </a:r>
            <a:r>
              <a:rPr b="1" i="0" lang="en" sz="900" u="none" cap="none" strike="noStrike">
                <a:solidFill>
                  <a:schemeClr val="dk1"/>
                </a:solidFill>
                <a:latin typeface="Montserrat"/>
                <a:ea typeface="Montserrat"/>
                <a:cs typeface="Montserrat"/>
                <a:sym typeface="Montserrat"/>
              </a:rPr>
              <a:t>app ratings</a:t>
            </a:r>
            <a:r>
              <a:rPr b="0" i="0" lang="en" sz="900" u="none" cap="none" strike="noStrike">
                <a:solidFill>
                  <a:schemeClr val="dk1"/>
                </a:solidFill>
                <a:latin typeface="Montserrat"/>
                <a:ea typeface="Montserrat"/>
                <a:cs typeface="Montserrat"/>
                <a:sym typeface="Montserrat"/>
              </a:rPr>
              <a:t>, higher </a:t>
            </a:r>
            <a:r>
              <a:rPr b="1" i="0" lang="en" sz="900" u="none" cap="none" strike="noStrike">
                <a:solidFill>
                  <a:schemeClr val="dk1"/>
                </a:solidFill>
                <a:latin typeface="Montserrat"/>
                <a:ea typeface="Montserrat"/>
                <a:cs typeface="Montserrat"/>
                <a:sym typeface="Montserrat"/>
              </a:rPr>
              <a:t>user adoption</a:t>
            </a:r>
            <a:r>
              <a:rPr b="0" i="0" lang="en" sz="900" u="none" cap="none" strike="noStrike">
                <a:solidFill>
                  <a:schemeClr val="dk1"/>
                </a:solidFill>
                <a:latin typeface="Montserrat"/>
                <a:ea typeface="Montserrat"/>
                <a:cs typeface="Montserrat"/>
                <a:sym typeface="Montserrat"/>
              </a:rPr>
              <a:t>, and increased </a:t>
            </a:r>
            <a:r>
              <a:rPr b="1" i="0" lang="en" sz="900" u="none" cap="none" strike="noStrike">
                <a:solidFill>
                  <a:schemeClr val="dk1"/>
                </a:solidFill>
                <a:latin typeface="Montserrat"/>
                <a:ea typeface="Montserrat"/>
                <a:cs typeface="Montserrat"/>
                <a:sym typeface="Montserrat"/>
              </a:rPr>
              <a:t>recharge and upsell conversions</a:t>
            </a:r>
            <a:r>
              <a:rPr b="0" i="0" lang="en" sz="900" u="none" cap="none" strike="noStrike">
                <a:solidFill>
                  <a:schemeClr val="dk1"/>
                </a:solidFill>
                <a:latin typeface="Montserrat"/>
                <a:ea typeface="Montserrat"/>
                <a:cs typeface="Montserrat"/>
                <a:sym typeface="Montserrat"/>
              </a:rPr>
              <a:t> across digital channels.</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1200"/>
              </a:spcBef>
              <a:spcAft>
                <a:spcPts val="0"/>
              </a:spcAft>
              <a:buClr>
                <a:schemeClr val="dk1"/>
              </a:buClr>
              <a:buSzPts val="1100"/>
              <a:buFont typeface="Arial"/>
              <a:buNone/>
            </a:pPr>
            <a:r>
              <a:t/>
            </a:r>
            <a:endParaRPr b="1" i="0" sz="900" u="none" cap="none" strike="noStrike">
              <a:solidFill>
                <a:schemeClr val="dk1"/>
              </a:solidFill>
              <a:latin typeface="Montserrat"/>
              <a:ea typeface="Montserrat"/>
              <a:cs typeface="Montserrat"/>
              <a:sym typeface="Montserrat"/>
            </a:endParaRPr>
          </a:p>
        </p:txBody>
      </p:sp>
      <p:sp>
        <p:nvSpPr>
          <p:cNvPr id="582" name="Google Shape;582;p26"/>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India</a:t>
            </a:r>
            <a:endParaRPr b="0" i="0" sz="1000" u="none" cap="none" strike="noStrike">
              <a:solidFill>
                <a:schemeClr val="lt1"/>
              </a:solidFill>
              <a:latin typeface="Montserrat"/>
              <a:ea typeface="Montserrat"/>
              <a:cs typeface="Montserrat"/>
              <a:sym typeface="Montserrat"/>
            </a:endParaRPr>
          </a:p>
        </p:txBody>
      </p:sp>
      <p:pic>
        <p:nvPicPr>
          <p:cNvPr id="583" name="Google Shape;583;p26"/>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584" name="Google Shape;584;p26"/>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585" name="Google Shape;585;p26"/>
          <p:cNvPicPr preferRelativeResize="0"/>
          <p:nvPr/>
        </p:nvPicPr>
        <p:blipFill rotWithShape="1">
          <a:blip r:embed="rId6">
            <a:alphaModFix/>
          </a:blip>
          <a:srcRect b="0" l="0" r="0" t="0"/>
          <a:stretch/>
        </p:blipFill>
        <p:spPr>
          <a:xfrm>
            <a:off x="4213317" y="1131394"/>
            <a:ext cx="1400655" cy="2780532"/>
          </a:xfrm>
          <a:prstGeom prst="rect">
            <a:avLst/>
          </a:prstGeom>
          <a:noFill/>
          <a:ln>
            <a:noFill/>
          </a:ln>
        </p:spPr>
      </p:pic>
      <p:pic>
        <p:nvPicPr>
          <p:cNvPr id="586" name="Google Shape;586;p26"/>
          <p:cNvPicPr preferRelativeResize="0"/>
          <p:nvPr/>
        </p:nvPicPr>
        <p:blipFill rotWithShape="1">
          <a:blip r:embed="rId7">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587" name="Google Shape;587;p26" title="Screenshot (11).png"/>
          <p:cNvPicPr preferRelativeResize="0"/>
          <p:nvPr/>
        </p:nvPicPr>
        <p:blipFill rotWithShape="1">
          <a:blip r:embed="rId8">
            <a:alphaModFix/>
          </a:blip>
          <a:srcRect b="0" l="8089" r="8089" t="0"/>
          <a:stretch/>
        </p:blipFill>
        <p:spPr>
          <a:xfrm>
            <a:off x="851951" y="1443450"/>
            <a:ext cx="3361368" cy="2148150"/>
          </a:xfrm>
          <a:prstGeom prst="rect">
            <a:avLst/>
          </a:prstGeom>
          <a:noFill/>
          <a:ln>
            <a:noFill/>
          </a:ln>
        </p:spPr>
      </p:pic>
      <p:pic>
        <p:nvPicPr>
          <p:cNvPr id="588" name="Google Shape;588;p26" title="Screenshot (12).png"/>
          <p:cNvPicPr preferRelativeResize="0"/>
          <p:nvPr/>
        </p:nvPicPr>
        <p:blipFill rotWithShape="1">
          <a:blip r:embed="rId9">
            <a:alphaModFix/>
          </a:blip>
          <a:srcRect b="1067" l="0" r="0" t="1057"/>
          <a:stretch/>
        </p:blipFill>
        <p:spPr>
          <a:xfrm>
            <a:off x="4298069" y="1177687"/>
            <a:ext cx="1236900" cy="2597100"/>
          </a:xfrm>
          <a:prstGeom prst="round2SameRect">
            <a:avLst>
              <a:gd fmla="val 13849" name="adj1"/>
              <a:gd fmla="val 0" name="adj2"/>
            </a:avLst>
          </a:prstGeom>
          <a:noFill/>
          <a:ln>
            <a:noFill/>
          </a:ln>
        </p:spPr>
      </p:pic>
      <p:pic>
        <p:nvPicPr>
          <p:cNvPr descr="TTN Logo.png" id="589" name="Google Shape;589;p26"/>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590" name="Google Shape;590;p2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pic>
        <p:nvPicPr>
          <p:cNvPr id="591" name="Google Shape;591;p26"/>
          <p:cNvPicPr preferRelativeResize="0"/>
          <p:nvPr/>
        </p:nvPicPr>
        <p:blipFill rotWithShape="1">
          <a:blip r:embed="rId11">
            <a:alphaModFix/>
          </a:blip>
          <a:srcRect b="0" l="0" r="0" t="0"/>
          <a:stretch/>
        </p:blipFill>
        <p:spPr>
          <a:xfrm>
            <a:off x="222400" y="64450"/>
            <a:ext cx="516401" cy="516401"/>
          </a:xfrm>
          <a:prstGeom prst="rect">
            <a:avLst/>
          </a:prstGeom>
          <a:noFill/>
          <a:ln>
            <a:noFill/>
          </a:ln>
        </p:spPr>
      </p:pic>
      <p:pic>
        <p:nvPicPr>
          <p:cNvPr id="592" name="Google Shape;592;p26"/>
          <p:cNvPicPr preferRelativeResize="0"/>
          <p:nvPr/>
        </p:nvPicPr>
        <p:blipFill rotWithShape="1">
          <a:blip r:embed="rId12">
            <a:alphaModFix/>
          </a:blip>
          <a:srcRect b="21694" l="0" r="0" t="17945"/>
          <a:stretch/>
        </p:blipFill>
        <p:spPr>
          <a:xfrm>
            <a:off x="913800" y="64450"/>
            <a:ext cx="994426" cy="516401"/>
          </a:xfrm>
          <a:prstGeom prst="rect">
            <a:avLst/>
          </a:prstGeom>
          <a:noFill/>
          <a:ln>
            <a:noFill/>
          </a:ln>
        </p:spPr>
      </p:pic>
      <p:cxnSp>
        <p:nvCxnSpPr>
          <p:cNvPr id="593" name="Google Shape;593;p26"/>
          <p:cNvCxnSpPr/>
          <p:nvPr/>
        </p:nvCxnSpPr>
        <p:spPr>
          <a:xfrm>
            <a:off x="8191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594" name="Google Shape;594;p26" title="Screenshot 2025-05-29 at 10.49.36 AM.png"/>
          <p:cNvPicPr preferRelativeResize="0"/>
          <p:nvPr/>
        </p:nvPicPr>
        <p:blipFill rotWithShape="1">
          <a:blip r:embed="rId13">
            <a:alphaModFix/>
          </a:blip>
          <a:srcRect b="0" l="0" r="0" t="0"/>
          <a:stretch/>
        </p:blipFill>
        <p:spPr>
          <a:xfrm>
            <a:off x="4298075" y="1209175"/>
            <a:ext cx="1269475" cy="25656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2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Quick Recap</a:t>
            </a:r>
            <a:endParaRPr b="1" i="0" sz="2000" u="none" cap="none" strike="noStrike">
              <a:solidFill>
                <a:schemeClr val="dk1"/>
              </a:solidFill>
              <a:latin typeface="Montserrat"/>
              <a:ea typeface="Montserrat"/>
              <a:cs typeface="Montserrat"/>
              <a:sym typeface="Montserrat"/>
            </a:endParaRPr>
          </a:p>
        </p:txBody>
      </p:sp>
      <p:sp>
        <p:nvSpPr>
          <p:cNvPr id="600" name="Google Shape;600;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
        <p:nvSpPr>
          <p:cNvPr id="601" name="Google Shape;601;p27"/>
          <p:cNvSpPr/>
          <p:nvPr/>
        </p:nvSpPr>
        <p:spPr>
          <a:xfrm>
            <a:off x="226950" y="921038"/>
            <a:ext cx="8690100" cy="32931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602" name="Google Shape;602;p27"/>
          <p:cNvCxnSpPr/>
          <p:nvPr/>
        </p:nvCxnSpPr>
        <p:spPr>
          <a:xfrm>
            <a:off x="249444" y="929365"/>
            <a:ext cx="0" cy="3293100"/>
          </a:xfrm>
          <a:prstGeom prst="straightConnector1">
            <a:avLst/>
          </a:prstGeom>
          <a:noFill/>
          <a:ln cap="flat" cmpd="sng" w="19050">
            <a:solidFill>
              <a:srgbClr val="12519C"/>
            </a:solidFill>
            <a:prstDash val="solid"/>
            <a:round/>
            <a:headEnd len="sm" w="sm" type="none"/>
            <a:tailEnd len="sm" w="sm" type="none"/>
          </a:ln>
        </p:spPr>
      </p:cxnSp>
      <p:sp>
        <p:nvSpPr>
          <p:cNvPr id="603" name="Google Shape;603;p27"/>
          <p:cNvSpPr txBox="1"/>
          <p:nvPr/>
        </p:nvSpPr>
        <p:spPr>
          <a:xfrm>
            <a:off x="261425" y="987013"/>
            <a:ext cx="8127900" cy="31245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50000"/>
              </a:lnSpc>
              <a:spcBef>
                <a:spcPts val="300"/>
              </a:spcBef>
              <a:spcAft>
                <a:spcPts val="0"/>
              </a:spcAft>
              <a:buClr>
                <a:srgbClr val="D9177F"/>
              </a:buClr>
              <a:buSzPts val="1100"/>
              <a:buFont typeface="Century Gothic"/>
              <a:buChar char="●"/>
            </a:pPr>
            <a:r>
              <a:rPr b="0" i="0" lang="en" sz="1100" u="none" cap="none" strike="noStrike">
                <a:solidFill>
                  <a:schemeClr val="dk1"/>
                </a:solidFill>
                <a:latin typeface="Montserrat"/>
                <a:ea typeface="Montserrat"/>
                <a:cs typeface="Montserrat"/>
                <a:sym typeface="Montserrat"/>
              </a:rPr>
              <a:t>TO THE NEW will bring deep </a:t>
            </a:r>
            <a:r>
              <a:rPr b="1" i="0" lang="en" sz="1100" u="none" cap="none" strike="noStrike">
                <a:solidFill>
                  <a:schemeClr val="dk1"/>
                </a:solidFill>
                <a:latin typeface="Montserrat"/>
                <a:ea typeface="Montserrat"/>
                <a:cs typeface="Montserrat"/>
                <a:sym typeface="Montserrat"/>
              </a:rPr>
              <a:t>domain expertise</a:t>
            </a:r>
            <a:r>
              <a:rPr b="0" i="0" lang="en" sz="1100" u="none" cap="none" strike="noStrike">
                <a:solidFill>
                  <a:schemeClr val="dk1"/>
                </a:solidFill>
                <a:latin typeface="Montserrat"/>
                <a:ea typeface="Montserrat"/>
                <a:cs typeface="Montserrat"/>
                <a:sym typeface="Montserrat"/>
              </a:rPr>
              <a:t> and </a:t>
            </a:r>
            <a:r>
              <a:rPr b="1" i="0" lang="en" sz="1100" u="none" cap="none" strike="noStrike">
                <a:solidFill>
                  <a:schemeClr val="dk1"/>
                </a:solidFill>
                <a:latin typeface="Montserrat"/>
                <a:ea typeface="Montserrat"/>
                <a:cs typeface="Montserrat"/>
                <a:sym typeface="Montserrat"/>
              </a:rPr>
              <a:t>strategic alignment </a:t>
            </a:r>
            <a:r>
              <a:rPr b="0" i="0" lang="en" sz="1100" u="none" cap="none" strike="noStrike">
                <a:solidFill>
                  <a:schemeClr val="dk1"/>
                </a:solidFill>
                <a:latin typeface="Montserrat"/>
                <a:ea typeface="Montserrat"/>
                <a:cs typeface="Montserrat"/>
                <a:sym typeface="Montserrat"/>
              </a:rPr>
              <a:t>across all the chosen focus areas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0"/>
              </a:spcAft>
              <a:buClr>
                <a:srgbClr val="D9177F"/>
              </a:buClr>
              <a:buSzPts val="1100"/>
              <a:buFont typeface="Century Gothic"/>
              <a:buChar char="●"/>
            </a:pPr>
            <a:r>
              <a:rPr b="1" i="0" lang="en" sz="1100" u="none" cap="none" strike="noStrike">
                <a:solidFill>
                  <a:schemeClr val="dk1"/>
                </a:solidFill>
                <a:latin typeface="Montserrat"/>
                <a:ea typeface="Montserrat"/>
                <a:cs typeface="Montserrat"/>
                <a:sym typeface="Montserrat"/>
              </a:rPr>
              <a:t>Continuous investment</a:t>
            </a:r>
            <a:r>
              <a:rPr b="0" i="0" lang="en" sz="1100" u="none" cap="none" strike="noStrike">
                <a:solidFill>
                  <a:schemeClr val="dk1"/>
                </a:solidFill>
                <a:latin typeface="Montserrat"/>
                <a:ea typeface="Montserrat"/>
                <a:cs typeface="Montserrat"/>
                <a:sym typeface="Montserrat"/>
              </a:rPr>
              <a:t> in innovation and capability building for future readiness for Racing Queensland by  leveraging TTN CoE capabilities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0"/>
              </a:spcAft>
              <a:buClr>
                <a:srgbClr val="D9177F"/>
              </a:buClr>
              <a:buSzPts val="1100"/>
              <a:buFont typeface="Century Gothic"/>
              <a:buChar char="●"/>
            </a:pPr>
            <a:r>
              <a:rPr b="0" i="0" lang="en" sz="1100" u="none" cap="none" strike="noStrike">
                <a:solidFill>
                  <a:schemeClr val="dk1"/>
                </a:solidFill>
                <a:latin typeface="Montserrat"/>
                <a:ea typeface="Montserrat"/>
                <a:cs typeface="Montserrat"/>
                <a:sym typeface="Montserrat"/>
              </a:rPr>
              <a:t>Flexible ways of </a:t>
            </a:r>
            <a:r>
              <a:rPr b="1" i="0" lang="en" sz="1100" u="none" cap="none" strike="noStrike">
                <a:solidFill>
                  <a:schemeClr val="dk1"/>
                </a:solidFill>
                <a:latin typeface="Montserrat"/>
                <a:ea typeface="Montserrat"/>
                <a:cs typeface="Montserrat"/>
                <a:sym typeface="Montserrat"/>
              </a:rPr>
              <a:t>working aligned to Racing Queensland business hours</a:t>
            </a:r>
            <a:r>
              <a:rPr b="0" i="0" lang="en" sz="1100" u="none" cap="none" strike="noStrike">
                <a:solidFill>
                  <a:schemeClr val="dk1"/>
                </a:solidFill>
                <a:latin typeface="Montserrat"/>
                <a:ea typeface="Montserrat"/>
                <a:cs typeface="Montserrat"/>
                <a:sym typeface="Montserrat"/>
              </a:rPr>
              <a:t>, with maximum overlap in time zones globally.</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0"/>
              </a:spcAft>
              <a:buClr>
                <a:srgbClr val="D9177F"/>
              </a:buClr>
              <a:buSzPts val="1100"/>
              <a:buFont typeface="Century Gothic"/>
              <a:buChar char="●"/>
            </a:pPr>
            <a:r>
              <a:rPr b="1" i="0" lang="en" sz="1100" u="none" cap="none" strike="noStrike">
                <a:solidFill>
                  <a:schemeClr val="dk1"/>
                </a:solidFill>
                <a:latin typeface="Montserrat"/>
                <a:ea typeface="Montserrat"/>
                <a:cs typeface="Montserrat"/>
                <a:sym typeface="Montserrat"/>
              </a:rPr>
              <a:t>Proven agility</a:t>
            </a:r>
            <a:r>
              <a:rPr b="0" i="0" lang="en" sz="1100" u="none" cap="none" strike="noStrike">
                <a:solidFill>
                  <a:schemeClr val="dk1"/>
                </a:solidFill>
                <a:latin typeface="Montserrat"/>
                <a:ea typeface="Montserrat"/>
                <a:cs typeface="Montserrat"/>
                <a:sym typeface="Montserrat"/>
              </a:rPr>
              <a:t> to flex up or down to work seamlessly with small, medium and enterprise customers </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0"/>
              </a:spcAft>
              <a:buClr>
                <a:srgbClr val="D9177F"/>
              </a:buClr>
              <a:buSzPts val="1100"/>
              <a:buFont typeface="Century Gothic"/>
              <a:buChar char="●"/>
            </a:pPr>
            <a:r>
              <a:rPr b="0" i="0" lang="en" sz="1100" u="none" cap="none" strike="noStrike">
                <a:solidFill>
                  <a:schemeClr val="dk1"/>
                </a:solidFill>
                <a:latin typeface="Montserrat"/>
                <a:ea typeface="Montserrat"/>
                <a:cs typeface="Montserrat"/>
                <a:sym typeface="Montserrat"/>
              </a:rPr>
              <a:t>One of the</a:t>
            </a:r>
            <a:r>
              <a:rPr b="1" i="0" lang="en" sz="1100" u="none" cap="none" strike="noStrike">
                <a:solidFill>
                  <a:schemeClr val="dk1"/>
                </a:solidFill>
                <a:latin typeface="Montserrat"/>
                <a:ea typeface="Montserrat"/>
                <a:cs typeface="Montserrat"/>
                <a:sym typeface="Montserrat"/>
              </a:rPr>
              <a:t> lowest attrition in the industry. </a:t>
            </a:r>
            <a:r>
              <a:rPr b="0" i="0" lang="en" sz="1100" u="none" cap="none" strike="noStrike">
                <a:solidFill>
                  <a:schemeClr val="dk1"/>
                </a:solidFill>
                <a:latin typeface="Montserrat"/>
                <a:ea typeface="Montserrat"/>
                <a:cs typeface="Montserrat"/>
                <a:sym typeface="Montserrat"/>
              </a:rPr>
              <a:t>We are among Top 50 India’s Best Workplaces in IT-BPM as per the recent survey by </a:t>
            </a:r>
            <a:r>
              <a:rPr b="1" i="0" lang="en" sz="1100" u="none" cap="none" strike="noStrike">
                <a:solidFill>
                  <a:schemeClr val="dk1"/>
                </a:solidFill>
                <a:latin typeface="Montserrat"/>
                <a:ea typeface="Montserrat"/>
                <a:cs typeface="Montserrat"/>
                <a:sym typeface="Montserrat"/>
              </a:rPr>
              <a:t>Great Place to Work® 2024 . </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0"/>
              </a:spcAft>
              <a:buClr>
                <a:srgbClr val="D9177F"/>
              </a:buClr>
              <a:buSzPts val="1100"/>
              <a:buFont typeface="Century Gothic"/>
              <a:buChar char="●"/>
            </a:pPr>
            <a:r>
              <a:rPr b="1" i="0" lang="en" sz="1100" u="none" cap="none" strike="noStrike">
                <a:solidFill>
                  <a:schemeClr val="dk1"/>
                </a:solidFill>
                <a:latin typeface="Montserrat"/>
                <a:ea typeface="Montserrat"/>
                <a:cs typeface="Montserrat"/>
                <a:sym typeface="Montserrat"/>
              </a:rPr>
              <a:t>Competitive pricing</a:t>
            </a:r>
            <a:r>
              <a:rPr b="0" i="0" lang="en" sz="1100" u="none" cap="none" strike="noStrike">
                <a:solidFill>
                  <a:schemeClr val="dk1"/>
                </a:solidFill>
                <a:latin typeface="Montserrat"/>
                <a:ea typeface="Montserrat"/>
                <a:cs typeface="Montserrat"/>
                <a:sym typeface="Montserrat"/>
              </a:rPr>
              <a:t> with focus on </a:t>
            </a:r>
            <a:r>
              <a:rPr b="1" i="0" lang="en" sz="1100" u="none" cap="none" strike="noStrike">
                <a:solidFill>
                  <a:schemeClr val="dk1"/>
                </a:solidFill>
                <a:latin typeface="Montserrat"/>
                <a:ea typeface="Montserrat"/>
                <a:cs typeface="Montserrat"/>
                <a:sym typeface="Montserrat"/>
              </a:rPr>
              <a:t>high value delivery</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300"/>
              </a:spcAft>
              <a:buClr>
                <a:srgbClr val="D9177F"/>
              </a:buClr>
              <a:buSzPts val="1100"/>
              <a:buFont typeface="Century Gothic"/>
              <a:buChar char="●"/>
            </a:pPr>
            <a:r>
              <a:rPr b="1" i="0" lang="en" sz="1100" u="none" cap="none" strike="noStrike">
                <a:solidFill>
                  <a:schemeClr val="dk1"/>
                </a:solidFill>
                <a:latin typeface="Montserrat"/>
                <a:ea typeface="Montserrat"/>
                <a:cs typeface="Montserrat"/>
                <a:sym typeface="Montserrat"/>
              </a:rPr>
              <a:t>Proven Global &amp; Distributed Delivery partner </a:t>
            </a:r>
            <a:r>
              <a:rPr b="0" i="0" lang="en" sz="1100" u="none" cap="none" strike="noStrike">
                <a:solidFill>
                  <a:schemeClr val="dk1"/>
                </a:solidFill>
                <a:latin typeface="Montserrat"/>
                <a:ea typeface="Montserrat"/>
                <a:cs typeface="Montserrat"/>
                <a:sym typeface="Montserrat"/>
              </a:rPr>
              <a:t>providing right mix of collaboration, cost and scale advantage</a:t>
            </a:r>
            <a:endParaRPr b="0" i="0" sz="11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pic>
        <p:nvPicPr>
          <p:cNvPr id="608" name="Google Shape;608;p28"/>
          <p:cNvPicPr preferRelativeResize="0"/>
          <p:nvPr/>
        </p:nvPicPr>
        <p:blipFill rotWithShape="1">
          <a:blip r:embed="rId3">
            <a:alphaModFix/>
          </a:blip>
          <a:srcRect b="0" l="0" r="0" t="0"/>
          <a:stretch/>
        </p:blipFill>
        <p:spPr>
          <a:xfrm>
            <a:off x="249975" y="246249"/>
            <a:ext cx="1145175" cy="585599"/>
          </a:xfrm>
          <a:prstGeom prst="rect">
            <a:avLst/>
          </a:prstGeom>
          <a:noFill/>
          <a:ln>
            <a:noFill/>
          </a:ln>
        </p:spPr>
      </p:pic>
      <p:cxnSp>
        <p:nvCxnSpPr>
          <p:cNvPr id="609" name="Google Shape;609;p28"/>
          <p:cNvCxnSpPr/>
          <p:nvPr/>
        </p:nvCxnSpPr>
        <p:spPr>
          <a:xfrm>
            <a:off x="7475" y="3099589"/>
            <a:ext cx="3926700" cy="0"/>
          </a:xfrm>
          <a:prstGeom prst="straightConnector1">
            <a:avLst/>
          </a:prstGeom>
          <a:noFill/>
          <a:ln cap="flat" cmpd="sng" w="19050">
            <a:solidFill>
              <a:srgbClr val="D71B7F"/>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