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g+XVHHZtUgQyD+yhX5zsEimkFh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1BC328-F04A-43E0-85B5-ED5C37AF30D6}">
  <a:tblStyle styleId="{0D1BC328-F04A-43E0-85B5-ED5C37AF30D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4DFB4FF-8893-4974-80CE-CFFE3B34FB83}"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8E411067-61D8-4564-84A8-C3C864F6D0E8}"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3CB79B0-8641-4349-AAA0-2024F650DA97}"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MontserratMedium-bold.fntdata"/><Relationship Id="rId45" Type="http://schemas.openxmlformats.org/officeDocument/2006/relationships/font" Target="fonts/Montserrat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MontserratMedium-boldItalic.fntdata"/><Relationship Id="rId47" Type="http://schemas.openxmlformats.org/officeDocument/2006/relationships/font" Target="fonts/MontserratMedium-italic.fntdata"/><Relationship Id="rId49"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font" Target="fonts/MontserratSemiBold-regular.fntdata"/><Relationship Id="rId36" Type="http://schemas.openxmlformats.org/officeDocument/2006/relationships/slide" Target="slides/slide28.xml"/><Relationship Id="rId39" Type="http://schemas.openxmlformats.org/officeDocument/2006/relationships/font" Target="fonts/MontserratSemiBold-italic.fntdata"/><Relationship Id="rId38" Type="http://schemas.openxmlformats.org/officeDocument/2006/relationships/font" Target="fonts/MontserratSemiBold-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MontserratLight-regular.fntdata"/><Relationship Id="rId50" Type="http://schemas.openxmlformats.org/officeDocument/2006/relationships/font" Target="fonts/Tahoma-bold.fntdata"/><Relationship Id="rId53" Type="http://schemas.openxmlformats.org/officeDocument/2006/relationships/font" Target="fonts/MontserratLight-italic.fntdata"/><Relationship Id="rId52" Type="http://schemas.openxmlformats.org/officeDocument/2006/relationships/font" Target="fonts/MontserratLight-bold.fntdata"/><Relationship Id="rId11" Type="http://schemas.openxmlformats.org/officeDocument/2006/relationships/slide" Target="slides/slide3.xml"/><Relationship Id="rId55" Type="http://schemas.openxmlformats.org/officeDocument/2006/relationships/font" Target="fonts/CenturyGothic-regular.fntdata"/><Relationship Id="rId10" Type="http://schemas.openxmlformats.org/officeDocument/2006/relationships/slide" Target="slides/slide2.xml"/><Relationship Id="rId54" Type="http://schemas.openxmlformats.org/officeDocument/2006/relationships/font" Target="fonts/MontserratLight-boldItalic.fntdata"/><Relationship Id="rId13" Type="http://schemas.openxmlformats.org/officeDocument/2006/relationships/slide" Target="slides/slide5.xml"/><Relationship Id="rId57" Type="http://schemas.openxmlformats.org/officeDocument/2006/relationships/font" Target="fonts/CenturyGothic-italic.fntdata"/><Relationship Id="rId12" Type="http://schemas.openxmlformats.org/officeDocument/2006/relationships/slide" Target="slides/slide4.xml"/><Relationship Id="rId56" Type="http://schemas.openxmlformats.org/officeDocument/2006/relationships/font" Target="fonts/CenturyGothic-bold.fntdata"/><Relationship Id="rId15" Type="http://schemas.openxmlformats.org/officeDocument/2006/relationships/slide" Target="slides/slide7.xml"/><Relationship Id="rId59" Type="http://customschemas.google.com/relationships/presentationmetadata" Target="metadata"/><Relationship Id="rId14" Type="http://schemas.openxmlformats.org/officeDocument/2006/relationships/slide" Target="slides/slide6.xml"/><Relationship Id="rId58" Type="http://schemas.openxmlformats.org/officeDocument/2006/relationships/font" Target="fonts/CenturyGothic-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4.png"/><Relationship Id="rId10" Type="http://schemas.openxmlformats.org/officeDocument/2006/relationships/image" Target="../media/image12.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theme" Target="../theme/theme2.xml"/><Relationship Id="rId12" Type="http://schemas.openxmlformats.org/officeDocument/2006/relationships/slideLayout" Target="../slideLayouts/slideLayout14.xml"/><Relationship Id="rId1" Type="http://schemas.openxmlformats.org/officeDocument/2006/relationships/image" Target="../media/image10.png"/><Relationship Id="rId2" Type="http://schemas.openxmlformats.org/officeDocument/2006/relationships/image" Target="../media/image1.png"/><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3.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29.png"/></Relationships>
</file>

<file path=ppt/slides/_rels/slide18.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3.png"/><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1.png"/><Relationship Id="rId9"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23.png"/><Relationship Id="rId8"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42.png"/><Relationship Id="rId9" Type="http://schemas.openxmlformats.org/officeDocument/2006/relationships/image" Target="../media/image40.png"/><Relationship Id="rId5" Type="http://schemas.openxmlformats.org/officeDocument/2006/relationships/image" Target="../media/image34.png"/><Relationship Id="rId6" Type="http://schemas.openxmlformats.org/officeDocument/2006/relationships/image" Target="../media/image44.png"/><Relationship Id="rId7" Type="http://schemas.openxmlformats.org/officeDocument/2006/relationships/image" Target="../media/image33.png"/><Relationship Id="rId8" Type="http://schemas.openxmlformats.org/officeDocument/2006/relationships/image" Target="../media/image41.png"/></Relationships>
</file>

<file path=ppt/slides/_rels/slide25.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39.png"/><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41.png"/></Relationships>
</file>

<file path=ppt/slides/_rels/slide26.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13.png"/><Relationship Id="rId13" Type="http://schemas.openxmlformats.org/officeDocument/2006/relationships/image" Target="../media/image49.png"/><Relationship Id="rId12" Type="http://schemas.openxmlformats.org/officeDocument/2006/relationships/image" Target="../media/image46.png"/><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42.png"/><Relationship Id="rId9" Type="http://schemas.openxmlformats.org/officeDocument/2006/relationships/image" Target="../media/image45.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41.png"/><Relationship Id="rId8"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1" i="0" lang="en" sz="2300" u="none" cap="none" strike="noStrike">
                <a:solidFill>
                  <a:srgbClr val="FF0082"/>
                </a:solidFill>
                <a:latin typeface="Montserrat"/>
                <a:ea typeface="Montserrat"/>
                <a:cs typeface="Montserrat"/>
                <a:sym typeface="Montserrat"/>
              </a:rPr>
              <a:t>TTN Proposal for Mobile App Development | Racing Queensland v1.0</a:t>
            </a:r>
            <a:endParaRPr b="1" i="0" sz="2300" u="none" cap="none" strike="noStrike">
              <a:solidFill>
                <a:srgbClr val="FF0082"/>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666666"/>
                </a:solidFill>
                <a:latin typeface="Montserrat"/>
                <a:ea typeface="Montserrat"/>
                <a:cs typeface="Montserrat"/>
                <a:sym typeface="Montserrat"/>
              </a:rPr>
              <a:t>Date : 29 May 2025</a:t>
            </a:r>
            <a:endParaRPr b="1" i="0" sz="1300" u="none" cap="none" strike="noStrike">
              <a:solidFill>
                <a:srgbClr val="666666"/>
              </a:solidFill>
              <a:latin typeface="Montserrat"/>
              <a:ea typeface="Montserrat"/>
              <a:cs typeface="Montserrat"/>
              <a:sym typeface="Montserrat"/>
            </a:endParaRP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1" name="Google Shape;171;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2" name="Google Shape;172;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3" name="Google Shape;173;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4" name="Google Shape;174;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5" name="Google Shape;175;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7" name="Google Shape;177;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1" name="Google Shape;181;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2" name="Google Shape;182;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4" name="Google Shape;184;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5" name="Google Shape;185;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3" name="Google Shape;193;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pPr indent="0" lvl="0" marL="0" marR="0" rtl="0" algn="l">
              <a:lnSpc>
                <a:spcPct val="150000"/>
              </a:lnSpc>
              <a:spcBef>
                <a:spcPts val="0"/>
              </a:spcBef>
              <a:spcAft>
                <a:spcPts val="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Following our recent discussions with </a:t>
            </a:r>
            <a:r>
              <a:rPr b="1" i="0" lang="en" sz="1100" u="none" cap="none" strike="noStrike">
                <a:solidFill>
                  <a:schemeClr val="accent1"/>
                </a:solidFill>
                <a:latin typeface="Montserrat"/>
                <a:ea typeface="Montserrat"/>
                <a:cs typeface="Montserrat"/>
                <a:sym typeface="Montserrat"/>
              </a:rPr>
              <a:t>Racing Queensland Networks (here in after referred to as Racing Queensland) </a:t>
            </a:r>
            <a:r>
              <a:rPr b="0" i="0" lang="en" sz="1100" u="none" cap="none" strike="noStrike">
                <a:solidFill>
                  <a:schemeClr val="dk1"/>
                </a:solidFill>
                <a:latin typeface="Montserrat"/>
                <a:ea typeface="Montserrat"/>
                <a:cs typeface="Montserrat"/>
                <a:sym typeface="Montserrat"/>
              </a:rPr>
              <a:t>, we are pleased to submit this proposal for the design and development of a custom mobile application tailored to Racing Queensland current and future needs. The application is envisioned to be a comprehensive digital platform that enhances user engagement, delivers real-time racing content, and offers a seamless, intuitive experience to racing enthusiasts and stakeholders alike with following objectives: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100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Develop a robust admin portal that empowers seamless content management and real-time updates.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Seamlessly embed live race videos and TAB replays with adaptive streaming for smooth playback on all networks.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Enable smart filtering, contextual search, and Blackbook tracking with real-time push alerts for favorite runners and jockeys.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chemeClr val="dk1"/>
                </a:solidFill>
                <a:latin typeface="Montserrat"/>
                <a:ea typeface="Montserrat"/>
                <a:cs typeface="Montserrat"/>
                <a:sym typeface="Montserrat"/>
              </a:rPr>
              <a:t>Allow users to access and export steward and sectional data in multiple formats (CSV, PDF, print) directly from the app.</a:t>
            </a:r>
            <a:endParaRPr b="0" i="0" sz="1100" u="none" cap="none" strike="noStrike">
              <a:solidFill>
                <a:schemeClr val="dk1"/>
              </a:solidFill>
              <a:latin typeface="Montserrat"/>
              <a:ea typeface="Montserrat"/>
              <a:cs typeface="Montserrat"/>
              <a:sym typeface="Montserrat"/>
            </a:endParaRPr>
          </a:p>
          <a:p>
            <a:pPr indent="0" lvl="0" marL="0" marR="0" rtl="0" algn="l">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As a strategic technology partner with proven expertise in UX design and end-to-end mobile app development, </a:t>
            </a:r>
            <a:r>
              <a:rPr b="1" i="0" lang="en" sz="1100" u="none" cap="none" strike="noStrike">
                <a:solidFill>
                  <a:schemeClr val="accent1"/>
                </a:solidFill>
                <a:latin typeface="Montserrat"/>
                <a:ea typeface="Montserrat"/>
                <a:cs typeface="Montserrat"/>
                <a:sym typeface="Montserrat"/>
              </a:rPr>
              <a:t>TO THE NEW (TTN)</a:t>
            </a:r>
            <a:r>
              <a:rPr b="0" i="0" lang="en" sz="1100" u="none" cap="none" strike="noStrike">
                <a:solidFill>
                  <a:schemeClr val="dk1"/>
                </a:solidFill>
                <a:latin typeface="Montserrat"/>
                <a:ea typeface="Montserrat"/>
                <a:cs typeface="Montserrat"/>
                <a:sym typeface="Montserrat"/>
              </a:rPr>
              <a:t> are well-positioned to bring this vision to life.  This proposal outlines our understanding of project requirements , a high level view of technical solution and approach followed by the project plan and commercials.</a:t>
            </a:r>
            <a:endParaRPr b="0" i="0" sz="1100" u="none" cap="none" strike="noStrike">
              <a:solidFill>
                <a:schemeClr val="dk1"/>
              </a:solidFill>
              <a:latin typeface="Montserrat"/>
              <a:ea typeface="Montserrat"/>
              <a:cs typeface="Montserrat"/>
              <a:sym typeface="Montserrat"/>
            </a:endParaRPr>
          </a:p>
        </p:txBody>
      </p:sp>
      <p:cxnSp>
        <p:nvCxnSpPr>
          <p:cNvPr id="194" name="Google Shape;194;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5" name="Google Shape;195;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2" name="Google Shape;202;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3" name="Google Shape;203;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4" name="Google Shape;204;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2" name="Google Shape;212;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3" name="Google Shape;213;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4" name="Google Shape;214;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Enable User Access Features such as Registration, Login, and Forgot Password.</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 to Race Calendar to support real-time race schedules and results display</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View Screens for Track, Jockey/Trainer, Runner Profiles.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users to Search, Filter and View Past and Upcoming race details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List Premiership details.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Allow users  to add favorite runners or Jockey/Trainers to their Blackbook</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View Screens to support real-time race results.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Integrate live video streaming of races and TAB race replays functionality.</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push notifications for race alerts and updates.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Offer betting partner redirection with deep linking.</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Admin portal for managing content and updates.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News Items.</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sections for Steward and Sectional Report Data Export via Mobile App (csv, pdf, print).</a:t>
            </a:r>
            <a:endParaRPr b="0" i="0" sz="900" u="none" cap="none" strike="noStrike">
              <a:solidFill>
                <a:schemeClr val="dk1"/>
              </a:solidFill>
              <a:latin typeface="Montserrat"/>
              <a:ea typeface="Montserrat"/>
              <a:cs typeface="Montserrat"/>
              <a:sym typeface="Montserrat"/>
            </a:endParaRPr>
          </a:p>
          <a:p>
            <a:pPr indent="-285750" lvl="0" marL="457200" marR="0" rtl="0" algn="l">
              <a:lnSpc>
                <a:spcPct val="20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Provide Business Awareness pages such as  Ownership, Career &amp; Training, Infrastructure, Open API details etc.</a:t>
            </a:r>
            <a:endParaRPr b="0" i="0" sz="900" u="none" cap="none" strike="noStrike">
              <a:solidFill>
                <a:srgbClr val="000000"/>
              </a:solidFill>
              <a:latin typeface="Montserrat"/>
              <a:ea typeface="Montserrat"/>
              <a:cs typeface="Montserrat"/>
              <a:sym typeface="Montserrat"/>
            </a:endParaRPr>
          </a:p>
        </p:txBody>
      </p:sp>
      <p:sp>
        <p:nvSpPr>
          <p:cNvPr id="215" name="Google Shape;215;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6" name="Google Shape;216;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2" name="Google Shape;222;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3" name="Google Shape;223;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4" name="Google Shape;224;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5" name="Google Shape;225;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6" name="Google Shape;226;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7" name="Google Shape;227;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Premiership Details &amp; Reports</a:t>
            </a:r>
            <a:endParaRPr b="0" i="0" sz="11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List Premiership Rankings and Statistics such as wins, placings, prize money earned and total starts for each participant.</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Filter Premiership Details based on for different categories, like Metro, Provincial, and Country Premierships for Trainers, Jockeys, and Apprentices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&amp; Download Premiership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3" name="Google Shape;233;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0" name="Google Shape;240;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1" name="Google Shape;241;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indent="-228600" lvl="0" marL="342900" marR="0" rtl="0" algn="l">
              <a:lnSpc>
                <a:spcPct val="150000"/>
              </a:lnSpc>
              <a:spcBef>
                <a:spcPts val="0"/>
              </a:spcBef>
              <a:spcAft>
                <a:spcPts val="0"/>
              </a:spcAft>
              <a:buClr>
                <a:schemeClr val="accent1"/>
              </a:buClr>
              <a:buSzPts val="1000"/>
              <a:buFont typeface="Montserrat"/>
              <a:buChar char="●"/>
            </a:pPr>
            <a:r>
              <a:rPr b="1" i="0" lang="en" sz="1000" u="none" cap="none" strike="noStrike">
                <a:solidFill>
                  <a:schemeClr val="accent1"/>
                </a:solidFill>
                <a:latin typeface="Montserrat"/>
                <a:ea typeface="Montserrat"/>
                <a:cs typeface="Montserrat"/>
                <a:sym typeface="Montserrat"/>
              </a:rPr>
              <a:t>Architecture &amp; Code Quality</a:t>
            </a:r>
            <a:endParaRPr b="1" i="0" sz="1000" u="none" cap="none" strike="noStrike">
              <a:solidFill>
                <a:schemeClr val="accent1"/>
              </a:solidFill>
              <a:latin typeface="Montserrat"/>
              <a:ea typeface="Montserrat"/>
              <a:cs typeface="Montserrat"/>
              <a:sym typeface="Montserra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A cross-platform mobile application will be developed using a modular architecture approach.</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codebase will follow modular principles and separation of concerns to support future enhancements and maintain a scalable, loosely coupled architecture.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Google and Apple recommended architectural guidelines will be followed to ensure the solution is scalable and future-ready.</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 will be lightweight and built using API-driven development principles to ensure performance and responsiveness.</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User Experience &amp; Design</a:t>
            </a:r>
            <a:endParaRPr b="0" i="0" sz="1000" u="none" cap="none" strike="noStrike">
              <a:solidFill>
                <a:schemeClr val="dk1"/>
              </a:solidFill>
              <a:latin typeface="Montserrat Medium"/>
              <a:ea typeface="Montserrat Medium"/>
              <a:cs typeface="Montserrat Medium"/>
              <a:sym typeface="Montserrat Medium"/>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Development best practices will be implemented to ensure compatibility with screen sizes of 4.5” and above.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Usability testing will be conducted to ensure a seamless and enriched user experience for any UeX changes.</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Security &amp; Compliance</a:t>
            </a:r>
            <a:endParaRPr b="0" i="0" sz="10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All personal and sensitive data (e.g., donation information) will be securely stored, both at rest and in transit, using industry-standard encryption practices.</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application will adhere to the latest Google Play and Apple App Store policies to ensure successful deployment and avoid rejection or delisting.</a:t>
            </a:r>
            <a:br>
              <a:rPr b="0" i="0" lang="en" sz="900" u="none" cap="none" strike="noStrike">
                <a:solidFill>
                  <a:schemeClr val="dk1"/>
                </a:solidFill>
                <a:latin typeface="Montserrat Light"/>
                <a:ea typeface="Montserrat Light"/>
                <a:cs typeface="Montserrat Light"/>
                <a:sym typeface="Montserrat Light"/>
              </a:rPr>
            </a:br>
            <a:endParaRPr b="0" i="0" sz="900" u="none" cap="none" strike="noStrike">
              <a:solidFill>
                <a:schemeClr val="dk1"/>
              </a:solidFill>
              <a:latin typeface="Montserrat Light"/>
              <a:ea typeface="Montserrat Light"/>
              <a:cs typeface="Montserrat Light"/>
              <a:sym typeface="Montserrat Light"/>
            </a:endParaRPr>
          </a:p>
        </p:txBody>
      </p:sp>
      <p:cxnSp>
        <p:nvCxnSpPr>
          <p:cNvPr id="242" name="Google Shape;242;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3" name="Google Shape;243;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9" name="Google Shape;249;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0" name="Google Shape;250;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indent="-228600" lvl="0" marL="342900" marR="0" rtl="0" algn="l">
              <a:lnSpc>
                <a:spcPct val="150000"/>
              </a:lnSpc>
              <a:spcBef>
                <a:spcPts val="0"/>
              </a:spcBef>
              <a:spcAft>
                <a:spcPts val="0"/>
              </a:spcAft>
              <a:buClr>
                <a:schemeClr val="accent1"/>
              </a:buClr>
              <a:buSzPts val="1000"/>
              <a:buFont typeface="Montserrat Light"/>
              <a:buChar char="●"/>
            </a:pPr>
            <a:r>
              <a:rPr b="1" i="0" lang="en" sz="1000" u="none" cap="none" strike="noStrike">
                <a:solidFill>
                  <a:schemeClr val="accent1"/>
                </a:solidFill>
                <a:latin typeface="Montserrat"/>
                <a:ea typeface="Montserrat"/>
                <a:cs typeface="Montserrat"/>
                <a:sym typeface="Montserrat"/>
              </a:rPr>
              <a:t>Reliability &amp; Monitoring</a:t>
            </a:r>
            <a:endParaRPr b="1" i="0" sz="1000" u="none" cap="none" strike="noStrike">
              <a:solidFill>
                <a:schemeClr val="accent1"/>
              </a:solidFill>
              <a:latin typeface="Montserrat"/>
              <a:ea typeface="Montserrat"/>
              <a:cs typeface="Montserrat"/>
              <a:sym typeface="Montserra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The app will be designed to recover gracefully from unexpected errors to maintain a consistent user experience.</a:t>
            </a:r>
            <a:endParaRPr b="0" i="0" sz="900" u="none" cap="none" strike="noStrike">
              <a:solidFill>
                <a:schemeClr val="dk1"/>
              </a:solidFill>
              <a:latin typeface="Montserrat Light"/>
              <a:ea typeface="Montserrat Light"/>
              <a:cs typeface="Montserrat Light"/>
              <a:sym typeface="Montserrat Light"/>
            </a:endParaRPr>
          </a:p>
          <a:p>
            <a:pPr indent="-222250" lvl="1" marL="685800" marR="0" rtl="0" algn="l">
              <a:lnSpc>
                <a:spcPct val="150000"/>
              </a:lnSpc>
              <a:spcBef>
                <a:spcPts val="0"/>
              </a:spcBef>
              <a:spcAft>
                <a:spcPts val="0"/>
              </a:spcAft>
              <a:buClr>
                <a:schemeClr val="dk1"/>
              </a:buClr>
              <a:buSzPts val="900"/>
              <a:buFont typeface="Montserrat Light"/>
              <a:buChar char="○"/>
            </a:pPr>
            <a:r>
              <a:rPr b="0" i="0" lang="en" sz="900" u="none" cap="none" strike="noStrike">
                <a:solidFill>
                  <a:schemeClr val="dk1"/>
                </a:solidFill>
                <a:latin typeface="Montserrat Light"/>
                <a:ea typeface="Montserrat Light"/>
                <a:cs typeface="Montserrat Light"/>
                <a:sym typeface="Montserrat Light"/>
              </a:rPr>
              <a:t>Logging and monitoring tools will be integrated to capture crashes, errors, and app usage analytics for continuous improvement.</a:t>
            </a:r>
            <a:endParaRPr b="0" i="0" sz="900" u="none" cap="none" strike="noStrike">
              <a:solidFill>
                <a:schemeClr val="dk1"/>
              </a:solidFill>
              <a:latin typeface="Montserrat Light"/>
              <a:ea typeface="Montserrat Light"/>
              <a:cs typeface="Montserrat Light"/>
              <a:sym typeface="Montserrat Light"/>
            </a:endParaRPr>
          </a:p>
        </p:txBody>
      </p:sp>
      <p:cxnSp>
        <p:nvCxnSpPr>
          <p:cNvPr id="251" name="Google Shape;251;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2" name="Google Shape;252;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59" name="Google Shape;259;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app will be built on </a:t>
            </a:r>
            <a:r>
              <a:rPr b="0" i="0" lang="en" sz="900" u="none" cap="none" strike="noStrike">
                <a:solidFill>
                  <a:schemeClr val="dk1"/>
                </a:solidFill>
                <a:latin typeface="Montserrat"/>
                <a:ea typeface="Montserrat"/>
                <a:cs typeface="Montserrat"/>
                <a:sym typeface="Montserrat"/>
              </a:rPr>
              <a:t>Cross-Platform tech stack (</a:t>
            </a:r>
            <a:r>
              <a:rPr b="0" i="0" lang="en" sz="900" u="none" cap="none" strike="noStrike">
                <a:solidFill>
                  <a:srgbClr val="000000"/>
                </a:solidFill>
                <a:latin typeface="Montserrat"/>
                <a:ea typeface="Montserrat"/>
                <a:cs typeface="Montserrat"/>
                <a:sym typeface="Montserrat"/>
              </a:rPr>
              <a:t>Flutter or React Native)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Tech Stack will be finalised during the initial 2 weeks of discovery with understanding of current Racing Queensland tech ecosystem to ensure the selected solution is scalable, robust, and resilient for future needs.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All the necessary approvals and access to the critical systems required for this engagement will be provided by the Racing Queensland team.</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Availability of SMEs and key stakeholders during Discovery, Designs sign off, Sprint demos, UAT and Go-live  from Racing Queensland is required.</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chemeClr val="dk1"/>
                </a:solidFill>
                <a:latin typeface="Montserrat"/>
                <a:ea typeface="Montserrat"/>
                <a:cs typeface="Montserrat"/>
                <a:sym typeface="Montserrat"/>
              </a:rPr>
              <a:t>Existing backend services from the current web app will be reused, new API development is not considered.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APIs will provide direct playable video links, if low-latency HLS support is required</a:t>
            </a:r>
            <a:r>
              <a:rPr b="0" i="0" lang="en" sz="900" u="none" cap="none" strike="noStrike">
                <a:solidFill>
                  <a:schemeClr val="dk1"/>
                </a:solidFill>
                <a:latin typeface="Montserrat"/>
                <a:ea typeface="Montserrat"/>
                <a:cs typeface="Montserrat"/>
                <a:sym typeface="Montserrat"/>
              </a:rPr>
              <a:t> additional third-party player/library will be integrated.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Any necessary </a:t>
            </a:r>
            <a:r>
              <a:rPr b="0" i="0" lang="en" sz="900" u="none" cap="none" strike="noStrike">
                <a:solidFill>
                  <a:schemeClr val="dk1"/>
                </a:solidFill>
                <a:latin typeface="Montserrat"/>
                <a:ea typeface="Montserrat"/>
                <a:cs typeface="Montserrat"/>
                <a:sym typeface="Montserrat"/>
              </a:rPr>
              <a:t>regulatory </a:t>
            </a:r>
            <a:r>
              <a:rPr b="0" i="0" lang="en" sz="900" u="none" cap="none" strike="noStrike">
                <a:solidFill>
                  <a:srgbClr val="000000"/>
                </a:solidFill>
                <a:latin typeface="Montserrat"/>
                <a:ea typeface="Montserrat"/>
                <a:cs typeface="Montserrat"/>
                <a:sym typeface="Montserrat"/>
              </a:rPr>
              <a:t>approvals will be secured within 1–2 weeks.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Key user interactions (e.g., clicks, page views) will be tracked via analytics. We have considered 25 events in our scope.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following sections will load via web views only.(e.g. Animal Welfare, Ownership, Career &amp; Training, Infrastructure, About)</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All third-party license costs are not considered in scope.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The app will mirror the current web application, functional changes will require separate effort and approval.</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Support for all screen size of 4.5” and above</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50000"/>
              </a:lnSpc>
              <a:spcBef>
                <a:spcPts val="0"/>
              </a:spcBef>
              <a:spcAft>
                <a:spcPts val="0"/>
              </a:spcAft>
              <a:buClr>
                <a:schemeClr val="accent1"/>
              </a:buClr>
              <a:buSzPts val="900"/>
              <a:buFont typeface="Montserrat"/>
              <a:buChar char="●"/>
            </a:pPr>
            <a:r>
              <a:rPr b="0" i="0" lang="en" sz="900" u="none" cap="none" strike="noStrike">
                <a:solidFill>
                  <a:srgbClr val="000000"/>
                </a:solidFill>
                <a:latin typeface="Montserrat"/>
                <a:ea typeface="Montserrat"/>
                <a:cs typeface="Montserrat"/>
                <a:sym typeface="Montserrat"/>
              </a:rPr>
              <a:t>OS support for iOS - 13.0 and above, and Android - 11 and above.</a:t>
            </a:r>
            <a:endParaRPr b="0" i="0" sz="900" u="none" cap="none" strike="noStrike">
              <a:solidFill>
                <a:schemeClr val="dk1"/>
              </a:solidFill>
              <a:latin typeface="Montserrat"/>
              <a:ea typeface="Montserrat"/>
              <a:cs typeface="Montserrat"/>
              <a:sym typeface="Montserrat"/>
            </a:endParaRPr>
          </a:p>
        </p:txBody>
      </p:sp>
      <p:cxnSp>
        <p:nvCxnSpPr>
          <p:cNvPr id="260" name="Google Shape;260;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1" name="Google Shape;261;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68" name="Google Shape;268;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69" name="Google Shape;269;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0" name="Google Shape;270;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Procurement &amp; Maintenance of Infrastructure/ servers.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Marketing and Advertising Campaigns.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Procurement of any 3rd party tools or licenses or services  involved during development (any other tools, Hosting cost).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Platform Hosting, VAPT &amp; Automation Testing*</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Training sessions will be conducted however preparation of quick start videos are not considered in the scope.*</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App distribution licencing cost - Apple Developer account (AUD 149/year) and a Google Play Console registration (AUD 35 one-time).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*TTN has the capability to provide these services and can be offered to Racing Queensland if needed at additional costs.</a:t>
            </a:r>
            <a:endParaRPr b="0" i="0" sz="1100" u="none" cap="none" strike="noStrike">
              <a:solidFill>
                <a:srgbClr val="000000"/>
              </a:solidFill>
              <a:latin typeface="Montserrat"/>
              <a:ea typeface="Montserrat"/>
              <a:cs typeface="Montserrat"/>
              <a:sym typeface="Montserrat"/>
            </a:endParaRPr>
          </a:p>
        </p:txBody>
      </p:sp>
      <p:sp>
        <p:nvSpPr>
          <p:cNvPr id="273" name="Google Shape;273;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4" name="Google Shape;274;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1" name="Google Shape;281;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2" name="Google Shape;282;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3" name="Google Shape;283;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4" name="Google Shape;284;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5" name="Google Shape;285;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6" name="Google Shape;286;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7" name="Google Shape;287;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1" name="Google Shape;291;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2" name="Google Shape;292;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2" name="Google Shape;302;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3" name="Google Shape;303;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4" name="Google Shape;304;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After a detailed discovery of the platform and user needs, we will evaluate the following key aspects to finalise the most suitable mobile app technology:</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Platform: </a:t>
            </a:r>
            <a:r>
              <a:rPr b="0" i="0" lang="en" sz="1000" u="none" cap="none" strike="noStrike">
                <a:solidFill>
                  <a:schemeClr val="dk1"/>
                </a:solidFill>
                <a:latin typeface="Montserrat"/>
                <a:ea typeface="Montserrat"/>
                <a:cs typeface="Montserrat"/>
                <a:sym typeface="Montserrat"/>
              </a:rPr>
              <a:t>Both </a:t>
            </a:r>
            <a:r>
              <a:rPr b="1" i="0" lang="en" sz="1000" u="none" cap="none" strike="noStrike">
                <a:solidFill>
                  <a:schemeClr val="dk1"/>
                </a:solidFill>
                <a:latin typeface="Montserrat"/>
                <a:ea typeface="Montserrat"/>
                <a:cs typeface="Montserrat"/>
                <a:sym typeface="Montserrat"/>
              </a:rPr>
              <a:t>Flutter</a:t>
            </a:r>
            <a:r>
              <a:rPr b="0" i="0" lang="en" sz="1000" u="none" cap="none" strike="noStrike">
                <a:solidFill>
                  <a:schemeClr val="dk1"/>
                </a:solidFill>
                <a:latin typeface="Montserrat"/>
                <a:ea typeface="Montserrat"/>
                <a:cs typeface="Montserrat"/>
                <a:sym typeface="Montserrat"/>
              </a:rPr>
              <a:t> and </a:t>
            </a:r>
            <a:r>
              <a:rPr b="1" i="0" lang="en" sz="1000" u="none" cap="none" strike="noStrike">
                <a:solidFill>
                  <a:schemeClr val="dk1"/>
                </a:solidFill>
                <a:latin typeface="Montserrat"/>
                <a:ea typeface="Montserrat"/>
                <a:cs typeface="Montserrat"/>
                <a:sym typeface="Montserrat"/>
              </a:rPr>
              <a:t>React Native</a:t>
            </a:r>
            <a:r>
              <a:rPr b="0" i="0" lang="en" sz="1000" u="none" cap="none" strike="noStrike">
                <a:solidFill>
                  <a:schemeClr val="dk1"/>
                </a:solidFill>
                <a:latin typeface="Montserrat"/>
                <a:ea typeface="Montserrat"/>
                <a:cs typeface="Montserrat"/>
                <a:sym typeface="Montserrat"/>
              </a:rPr>
              <a:t> allow us to build high-performance mobile applications that support live streaming and run seamlessly on both Android and iOS from a single codebase. It will enable us to release new features, updates and fixes across platforms simultaneously.</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Streaming and Data Consumption:</a:t>
            </a:r>
            <a:r>
              <a:rPr b="0" i="0" lang="en" sz="1000" u="none" cap="none" strike="noStrike">
                <a:solidFill>
                  <a:schemeClr val="dk1"/>
                </a:solidFill>
                <a:latin typeface="Montserrat"/>
                <a:ea typeface="Montserrat"/>
                <a:cs typeface="Montserrat"/>
                <a:sym typeface="Montserrat"/>
              </a:rPr>
              <a:t> Assessing how streaming services (such as live video streaming) are currently integrated or intended to be integrated, and how data is consumed or expected to be managed across both platforms.</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Arial"/>
              <a:buChar char="●"/>
            </a:pPr>
            <a:r>
              <a:rPr b="1" i="0" lang="en" sz="1000" u="none" cap="none" strike="noStrike">
                <a:solidFill>
                  <a:schemeClr val="dk1"/>
                </a:solidFill>
                <a:latin typeface="Montserrat"/>
                <a:ea typeface="Montserrat"/>
                <a:cs typeface="Montserrat"/>
                <a:sym typeface="Montserrat"/>
              </a:rPr>
              <a:t>Technical Considerations:</a:t>
            </a:r>
            <a:r>
              <a:rPr b="0" i="0" lang="en" sz="1000" u="none" cap="none" strike="noStrike">
                <a:solidFill>
                  <a:schemeClr val="dk1"/>
                </a:solidFill>
                <a:latin typeface="Montserrat"/>
                <a:ea typeface="Montserrat"/>
                <a:cs typeface="Montserrat"/>
                <a:sym typeface="Montserrat"/>
              </a:rPr>
              <a:t> Understanding the performance needs, scalability, and backend integration for streaming content and handling real-time data and the potential for third party libs integration.</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rgbClr val="FF0082"/>
              </a:buClr>
              <a:buSzPts val="1000"/>
              <a:buFont typeface="Montserrat"/>
              <a:buChar char="●"/>
            </a:pPr>
            <a:r>
              <a:rPr b="1" i="0" lang="en" sz="1000" u="none" cap="none" strike="noStrike">
                <a:solidFill>
                  <a:schemeClr val="dk1"/>
                </a:solidFill>
                <a:latin typeface="Montserrat"/>
                <a:ea typeface="Montserrat"/>
                <a:cs typeface="Montserrat"/>
                <a:sym typeface="Montserrat"/>
              </a:rPr>
              <a:t>Third party support</a:t>
            </a:r>
            <a:r>
              <a:rPr b="0" i="0" lang="en" sz="1000" u="none" cap="none" strike="noStrike">
                <a:solidFill>
                  <a:schemeClr val="dk1"/>
                </a:solidFill>
                <a:latin typeface="Montserrat"/>
                <a:ea typeface="Montserrat"/>
                <a:cs typeface="Montserrat"/>
                <a:sym typeface="Montserrat"/>
              </a:rPr>
              <a:t>: Since integrations like analytics, ads, and SSO etc are essential. Support and availability for these SDKs will be evaluated to determine the right platform.</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50000"/>
              </a:lnSpc>
              <a:spcBef>
                <a:spcPts val="0"/>
              </a:spcBef>
              <a:spcAft>
                <a:spcPts val="0"/>
              </a:spcAft>
              <a:buClr>
                <a:schemeClr val="dk1"/>
              </a:buClr>
              <a:buSzPts val="1000"/>
              <a:buFont typeface="Montserrat"/>
              <a:buChar char="●"/>
            </a:pPr>
            <a:r>
              <a:rPr b="1" i="0" lang="en" sz="1000" u="none" cap="none" strike="noStrike">
                <a:solidFill>
                  <a:schemeClr val="dk1"/>
                </a:solidFill>
                <a:latin typeface="Montserrat"/>
                <a:ea typeface="Montserrat"/>
                <a:cs typeface="Montserrat"/>
                <a:sym typeface="Montserrat"/>
              </a:rPr>
              <a:t>Accelerated Development with Generative AI</a:t>
            </a:r>
            <a:r>
              <a:rPr b="0" i="0" lang="en" sz="1000" u="none" cap="none" strike="noStrike">
                <a:solidFill>
                  <a:schemeClr val="dk1"/>
                </a:solidFill>
                <a:latin typeface="Montserrat"/>
                <a:ea typeface="Montserrat"/>
                <a:cs typeface="Montserrat"/>
                <a:sym typeface="Montserrat"/>
              </a:rPr>
              <a:t>: We will strategically utilise powerful generative AI tools like Cursor AI and GitHub Copilot, significantly improving our coding speed, enhancing efficiency, and enabling our teams to deliver high quality solutions at a faster pace.</a:t>
            </a:r>
            <a:endParaRPr b="0" i="0" sz="10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Our team has </a:t>
            </a:r>
            <a:r>
              <a:rPr b="1" i="0" lang="en" sz="1000" u="none" cap="none" strike="noStrike">
                <a:solidFill>
                  <a:schemeClr val="dk1"/>
                </a:solidFill>
                <a:latin typeface="Montserrat"/>
                <a:ea typeface="Montserrat"/>
                <a:cs typeface="Montserrat"/>
                <a:sym typeface="Montserrat"/>
              </a:rPr>
              <a:t>extensive experience and expertise</a:t>
            </a:r>
            <a:r>
              <a:rPr b="0" i="0" lang="en" sz="1000" u="none" cap="none" strike="noStrike">
                <a:solidFill>
                  <a:schemeClr val="dk1"/>
                </a:solidFill>
                <a:latin typeface="Montserrat"/>
                <a:ea typeface="Montserrat"/>
                <a:cs typeface="Montserrat"/>
                <a:sym typeface="Montserrat"/>
              </a:rPr>
              <a:t> in working with both </a:t>
            </a:r>
            <a:r>
              <a:rPr b="1" i="0" lang="en" sz="1000" u="none" cap="none" strike="noStrike">
                <a:solidFill>
                  <a:schemeClr val="dk1"/>
                </a:solidFill>
                <a:latin typeface="Montserrat"/>
                <a:ea typeface="Montserrat"/>
                <a:cs typeface="Montserrat"/>
                <a:sym typeface="Montserrat"/>
              </a:rPr>
              <a:t>Flutter</a:t>
            </a:r>
            <a:r>
              <a:rPr b="0" i="0" lang="en" sz="1000" u="none" cap="none" strike="noStrike">
                <a:solidFill>
                  <a:schemeClr val="dk1"/>
                </a:solidFill>
                <a:latin typeface="Montserrat"/>
                <a:ea typeface="Montserrat"/>
                <a:cs typeface="Montserrat"/>
                <a:sym typeface="Montserrat"/>
              </a:rPr>
              <a:t> and </a:t>
            </a:r>
            <a:r>
              <a:rPr b="1" i="0" lang="en" sz="1000" u="none" cap="none" strike="noStrike">
                <a:solidFill>
                  <a:schemeClr val="dk1"/>
                </a:solidFill>
                <a:latin typeface="Montserrat"/>
                <a:ea typeface="Montserrat"/>
                <a:cs typeface="Montserrat"/>
                <a:sym typeface="Montserrat"/>
              </a:rPr>
              <a:t>React Native</a:t>
            </a:r>
            <a:r>
              <a:rPr b="0" i="0" lang="en" sz="1000" u="none" cap="none" strike="noStrike">
                <a:solidFill>
                  <a:schemeClr val="dk1"/>
                </a:solidFill>
                <a:latin typeface="Montserrat"/>
                <a:ea typeface="Montserrat"/>
                <a:cs typeface="Montserrat"/>
                <a:sym typeface="Montserrat"/>
              </a:rPr>
              <a:t>, allowing us to confidently recommend and implement the most suitable solution for your project.</a:t>
            </a:r>
            <a:endParaRPr b="0" i="0" sz="10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p:txBody>
      </p:sp>
      <p:sp>
        <p:nvSpPr>
          <p:cNvPr id="305" name="Google Shape;305;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1" name="Google Shape;311;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2" name="Google Shape;312;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3" name="Google Shape;313;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4" name="Google Shape;314;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5" name="Google Shape;315;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Backend APIs</a:t>
            </a:r>
            <a:endParaRPr b="1" i="0" sz="800" u="none" cap="none" strike="noStrike">
              <a:solidFill>
                <a:srgbClr val="525252"/>
              </a:solidFill>
              <a:latin typeface="Montserrat"/>
              <a:ea typeface="Montserrat"/>
              <a:cs typeface="Montserrat"/>
              <a:sym typeface="Montserrat"/>
            </a:endParaRPr>
          </a:p>
        </p:txBody>
      </p:sp>
      <p:sp>
        <p:nvSpPr>
          <p:cNvPr id="316" name="Google Shape;316;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17" name="Google Shape;317;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18" name="Google Shape;318;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19" name="Google Shape;319;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0" name="Google Shape;320;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1" name="Google Shape;321;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2" name="Google Shape;322;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6" name="Google Shape;326;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327" name="Google Shape;327;p13"/>
          <p:cNvCxnSpPr>
            <a:stCxn id="312" idx="0"/>
            <a:endCxn id="311"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28" name="Google Shape;328;p13"/>
          <p:cNvCxnSpPr>
            <a:stCxn id="313" idx="1"/>
            <a:endCxn id="318"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29" name="Google Shape;329;p13"/>
          <p:cNvCxnSpPr>
            <a:stCxn id="318" idx="1"/>
            <a:endCxn id="319"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0" name="Google Shape;330;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1" name="Google Shape;331;p13"/>
          <p:cNvCxnSpPr>
            <a:stCxn id="319" idx="1"/>
            <a:endCxn id="322"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2" name="Google Shape;332;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3" name="Google Shape;333;p13"/>
          <p:cNvCxnSpPr>
            <a:stCxn id="311" idx="0"/>
            <a:endCxn id="315"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4" name="Google Shape;334;p13"/>
          <p:cNvCxnSpPr>
            <a:stCxn id="311" idx="0"/>
            <a:endCxn id="316"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5" name="Google Shape;335;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1" name="Google Shape;341;p14"/>
          <p:cNvGraphicFramePr/>
          <p:nvPr/>
        </p:nvGraphicFramePr>
        <p:xfrm>
          <a:off x="264425" y="755775"/>
          <a:ext cx="3000000" cy="3000000"/>
        </p:xfrm>
        <a:graphic>
          <a:graphicData uri="http://schemas.openxmlformats.org/drawingml/2006/table">
            <a:tbl>
              <a:tblPr>
                <a:noFill/>
                <a:tableStyleId>{0D1BC328-F04A-43E0-85B5-ED5C37AF30D6}</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2" name="Google Shape;342;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49" name="Google Shape;349;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0" name="Google Shape;350;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1" name="Google Shape;351;p15"/>
          <p:cNvGraphicFramePr/>
          <p:nvPr/>
        </p:nvGraphicFramePr>
        <p:xfrm>
          <a:off x="189880" y="722548"/>
          <a:ext cx="3000000" cy="3000000"/>
        </p:xfrm>
        <a:graphic>
          <a:graphicData uri="http://schemas.openxmlformats.org/drawingml/2006/table">
            <a:tbl>
              <a:tblPr bandRow="1" firstRow="1">
                <a:noFill/>
                <a:tableStyleId>{E4DFB4FF-8893-4974-80CE-CFFE3B34FB83}</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2" name="Google Shape;352;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0" i="0" lang="en" sz="1000" u="none" cap="none" strike="noStrike">
                <a:solidFill>
                  <a:srgbClr val="000000"/>
                </a:solidFill>
                <a:latin typeface="Montserrat"/>
                <a:ea typeface="Montserrat"/>
                <a:cs typeface="Montserrat"/>
                <a:sym typeface="Montserrat"/>
              </a:rPr>
              <a:t>* Both Flutter and React Native are well-suited to deliver the required functionality. TTN will recommend the most appropriate technology stack after conducting a thorough discovery of the platform and understanding user needs.</a:t>
            </a:r>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59" name="Google Shape;359;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0" name="Google Shape;360;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1" name="Google Shape;361;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2" name="Google Shape;362;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3" name="Google Shape;363;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4" name="Google Shape;364;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5" name="Google Shape;365;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69" name="Google Shape;369;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0" name="Google Shape;370;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2" name="Google Shape;372;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3" name="Google Shape;373;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0" name="Google Shape;380;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1" name="Google Shape;381;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2" name="Google Shape;382;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3" name="Google Shape;383;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4" name="Google Shape;384;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85" name="Google Shape;385;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86" name="Google Shape;386;p17"/>
          <p:cNvGrpSpPr/>
          <p:nvPr/>
        </p:nvGrpSpPr>
        <p:grpSpPr>
          <a:xfrm>
            <a:off x="3934107" y="2120825"/>
            <a:ext cx="817618" cy="72728"/>
            <a:chOff x="3198956" y="2429934"/>
            <a:chExt cx="1353000" cy="149400"/>
          </a:xfrm>
        </p:grpSpPr>
        <p:sp>
          <p:nvSpPr>
            <p:cNvPr id="387" name="Google Shape;387;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8" name="Google Shape;388;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9" name="Google Shape;389;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0" name="Google Shape;390;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1" name="Google Shape;391;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2" name="Google Shape;392;p17"/>
          <p:cNvCxnSpPr>
            <a:stCxn id="384" idx="3"/>
            <a:endCxn id="385"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3" name="Google Shape;393;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4" name="Google Shape;394;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95" name="Google Shape;395;p17"/>
          <p:cNvCxnSpPr>
            <a:stCxn id="385" idx="3"/>
            <a:endCxn id="394"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6" name="Google Shape;396;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97" name="Google Shape;397;p17"/>
          <p:cNvCxnSpPr>
            <a:stCxn id="394" idx="3"/>
            <a:endCxn id="396"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99" name="Google Shape;399;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0" name="Google Shape;400;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2" name="Google Shape;402;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 name="Google Shape;403;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4" name="Google Shape;404;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5" name="Google Shape;405;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08" name="Google Shape;408;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09" name="Google Shape;409;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0" name="Google Shape;410;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1" name="Google Shape;411;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2" name="Google Shape;412;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3" name="Google Shape;413;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4" name="Google Shape;414;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15" name="Google Shape;415;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18" name="Google Shape;418;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19" name="Google Shape;419;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0" name="Google Shape;420;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1" name="Google Shape;421;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2" name="Google Shape;422;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3" name="Google Shape;423;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25" name="Google Shape;425;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26" name="Google Shape;426;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27" name="Google Shape;427;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28" name="Google Shape;428;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29" name="Google Shape;429;p17"/>
          <p:cNvGrpSpPr/>
          <p:nvPr/>
        </p:nvGrpSpPr>
        <p:grpSpPr>
          <a:xfrm>
            <a:off x="308754" y="1982358"/>
            <a:ext cx="1734192" cy="256660"/>
            <a:chOff x="530597" y="1659894"/>
            <a:chExt cx="1541778" cy="210931"/>
          </a:xfrm>
        </p:grpSpPr>
        <p:sp>
          <p:nvSpPr>
            <p:cNvPr id="430" name="Google Shape;43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1" name="Google Shape;43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2" name="Google Shape;432;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3" name="Google Shape;433;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4" name="Google Shape;434;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35" name="Google Shape;435;p17"/>
          <p:cNvGrpSpPr/>
          <p:nvPr/>
        </p:nvGrpSpPr>
        <p:grpSpPr>
          <a:xfrm>
            <a:off x="298800" y="2292174"/>
            <a:ext cx="1734192" cy="256660"/>
            <a:chOff x="530597" y="1659894"/>
            <a:chExt cx="1541778" cy="210931"/>
          </a:xfrm>
        </p:grpSpPr>
        <p:sp>
          <p:nvSpPr>
            <p:cNvPr id="436" name="Google Shape;43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37" name="Google Shape;43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38" name="Google Shape;438;p17"/>
          <p:cNvGrpSpPr/>
          <p:nvPr/>
        </p:nvGrpSpPr>
        <p:grpSpPr>
          <a:xfrm>
            <a:off x="308757" y="2617640"/>
            <a:ext cx="1734192" cy="256660"/>
            <a:chOff x="530597" y="1659894"/>
            <a:chExt cx="1541778" cy="210931"/>
          </a:xfrm>
        </p:grpSpPr>
        <p:sp>
          <p:nvSpPr>
            <p:cNvPr id="439" name="Google Shape;439;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0" name="Google Shape;440;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1" name="Google Shape;441;p17"/>
          <p:cNvGrpSpPr/>
          <p:nvPr/>
        </p:nvGrpSpPr>
        <p:grpSpPr>
          <a:xfrm>
            <a:off x="298803" y="2943091"/>
            <a:ext cx="1734192" cy="256660"/>
            <a:chOff x="530597" y="1659894"/>
            <a:chExt cx="1541778" cy="210931"/>
          </a:xfrm>
        </p:grpSpPr>
        <p:sp>
          <p:nvSpPr>
            <p:cNvPr id="442" name="Google Shape;442;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3" name="Google Shape;443;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4" name="Google Shape;444;p17"/>
          <p:cNvGrpSpPr/>
          <p:nvPr/>
        </p:nvGrpSpPr>
        <p:grpSpPr>
          <a:xfrm>
            <a:off x="298803" y="3281643"/>
            <a:ext cx="1734192" cy="256660"/>
            <a:chOff x="530597" y="1659894"/>
            <a:chExt cx="1541778" cy="210931"/>
          </a:xfrm>
        </p:grpSpPr>
        <p:sp>
          <p:nvSpPr>
            <p:cNvPr id="445" name="Google Shape;44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46" name="Google Shape;44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7" name="Google Shape;447;p17"/>
          <p:cNvGrpSpPr/>
          <p:nvPr/>
        </p:nvGrpSpPr>
        <p:grpSpPr>
          <a:xfrm>
            <a:off x="298803" y="3624423"/>
            <a:ext cx="1734192" cy="256660"/>
            <a:chOff x="530597" y="1659894"/>
            <a:chExt cx="1541778" cy="210931"/>
          </a:xfrm>
        </p:grpSpPr>
        <p:sp>
          <p:nvSpPr>
            <p:cNvPr id="448" name="Google Shape;44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49" name="Google Shape;44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0" name="Google Shape;450;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1" i="0" lang="en" sz="900" u="none" cap="none" strike="noStrike">
                <a:solidFill>
                  <a:srgbClr val="CE005C"/>
                </a:solidFill>
                <a:latin typeface="Montserrat"/>
                <a:ea typeface="Montserrat"/>
                <a:cs typeface="Montserrat"/>
                <a:sym typeface="Montserrat"/>
              </a:rPr>
              <a:t>Key Program Deliverables</a:t>
            </a:r>
            <a:endParaRPr b="1" i="0" sz="900" u="none" cap="none" strike="noStrike">
              <a:solidFill>
                <a:srgbClr val="CE005C"/>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Project Charter</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RAID Register</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Sprint Report</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Project Plan</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Arch. &amp; Design Document</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Test Strategy document &amp; Test Cases</a:t>
            </a:r>
            <a:endParaRPr b="0" i="0" sz="900" u="none" cap="none" strike="noStrike">
              <a:solidFill>
                <a:srgbClr val="000000"/>
              </a:solidFill>
              <a:latin typeface="Montserrat"/>
              <a:ea typeface="Montserrat"/>
              <a:cs typeface="Montserrat"/>
              <a:sym typeface="Montserrat"/>
            </a:endParaRPr>
          </a:p>
          <a:p>
            <a:pPr indent="-285750" lvl="0" marL="457200" marR="0" rtl="0" algn="l">
              <a:lnSpc>
                <a:spcPct val="100000"/>
              </a:lnSpc>
              <a:spcBef>
                <a:spcPts val="0"/>
              </a:spcBef>
              <a:spcAft>
                <a:spcPts val="0"/>
              </a:spcAft>
              <a:buClr>
                <a:schemeClr val="lt2"/>
              </a:buClr>
              <a:buSzPts val="900"/>
              <a:buFont typeface="Montserrat"/>
              <a:buChar char="●"/>
            </a:pPr>
            <a:r>
              <a:rPr b="0" i="0" lang="en" sz="900" u="none" cap="none" strike="noStrike">
                <a:solidFill>
                  <a:srgbClr val="000000"/>
                </a:solidFill>
                <a:latin typeface="Montserrat"/>
                <a:ea typeface="Montserrat"/>
                <a:cs typeface="Montserrat"/>
                <a:sym typeface="Montserrat"/>
              </a:rPr>
              <a:t>Focused Trainings (where applicable)</a:t>
            </a:r>
            <a:endParaRPr b="0" i="0" sz="900" u="none" cap="none" strike="noStrike">
              <a:solidFill>
                <a:srgbClr val="000000"/>
              </a:solidFill>
              <a:latin typeface="Montserrat"/>
              <a:ea typeface="Montserrat"/>
              <a:cs typeface="Montserrat"/>
              <a:sym typeface="Montserrat"/>
            </a:endParaRPr>
          </a:p>
        </p:txBody>
      </p:sp>
      <p:sp>
        <p:nvSpPr>
          <p:cNvPr id="451" name="Google Shape;451;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2" name="Google Shape;452;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58" name="Google Shape;458;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59" name="Google Shape;459;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0" name="Google Shape;460;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1" name="Google Shape;461;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2" name="Google Shape;462;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3" name="Google Shape;463;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4" name="Google Shape;464;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67" name="Google Shape;467;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68" name="Google Shape;468;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69" name="Google Shape;469;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0" name="Google Shape;470;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1" name="Google Shape;471;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2" name="Google Shape;472;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3" name="Google Shape;473;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4" name="Google Shape;474;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75" name="Google Shape;475;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77" name="Google Shape;477;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78" name="Google Shape;478;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79" name="Google Shape;479;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0" name="Google Shape;480;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1" name="Google Shape;481;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2" name="Google Shape;482;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3" name="Google Shape;483;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4" name="Google Shape;484;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85" name="Google Shape;485;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86" name="Google Shape;486;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87" name="Google Shape;487;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88" name="Google Shape;488;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89" name="Google Shape;489;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0" name="Google Shape;490;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1" name="Google Shape;491;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2" name="Google Shape;492;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3" name="Google Shape;493;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4" name="Google Shape;494;p18"/>
          <p:cNvCxnSpPr>
            <a:stCxn id="485" idx="3"/>
            <a:endCxn id="484"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495" name="Google Shape;495;p18"/>
          <p:cNvCxnSpPr>
            <a:stCxn id="496" idx="3"/>
            <a:endCxn id="486"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496" name="Google Shape;496;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497" name="Google Shape;497;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83" idx="0"/>
            <a:endCxn id="464"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0" name="Google Shape;500;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1" name="Google Shape;501;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2" name="Google Shape;502;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3" name="Google Shape;503;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4" name="Google Shape;504;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5" name="Google Shape;505;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06" name="Google Shape;506;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07" name="Google Shape;507;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08" name="Google Shape;508;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09" name="Google Shape;509;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0" name="Google Shape;510;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1" name="Google Shape;511;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2" name="Google Shape;512;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3" name="Google Shape;513;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4" name="Google Shape;514;p18"/>
          <p:cNvCxnSpPr>
            <a:stCxn id="500"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15" name="Google Shape;515;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16" name="Google Shape;516;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17" name="Google Shape;517;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18" name="Google Shape;518;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4" name="Google Shape;524;p19"/>
          <p:cNvGraphicFramePr/>
          <p:nvPr/>
        </p:nvGraphicFramePr>
        <p:xfrm>
          <a:off x="232325" y="700950"/>
          <a:ext cx="3000000" cy="3000000"/>
        </p:xfrm>
        <a:graphic>
          <a:graphicData uri="http://schemas.openxmlformats.org/drawingml/2006/table">
            <a:tbl>
              <a:tblPr>
                <a:noFill/>
                <a:tableStyleId>{8E411067-61D8-4564-84A8-C3C864F6D0E8}</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25" name="Google Shape;525;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26" name="Google Shape;526;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8" name="Google Shape;528;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29" name="Google Shape;529;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0" name="Google Shape;530;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1" name="Google Shape;531;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*Notes: </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2 Weeks of Hypercare support post go-live will be provided at no additional cost.</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Project  Timelines could be revised after discovery with expected variation upto +/-10%</a:t>
            </a:r>
            <a:endParaRPr b="0" i="0" sz="1000" u="none" cap="none" strike="noStrike">
              <a:solidFill>
                <a:schemeClr val="dk1"/>
              </a:solidFill>
              <a:latin typeface="Montserrat"/>
              <a:ea typeface="Montserrat"/>
              <a:cs typeface="Montserrat"/>
              <a:sym typeface="Montserrat"/>
            </a:endParaRPr>
          </a:p>
        </p:txBody>
      </p:sp>
      <p:sp>
        <p:nvSpPr>
          <p:cNvPr id="532" name="Google Shape;532;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3" name="Google Shape;533;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4" name="Google Shape;534;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35" name="Google Shape;535;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36" name="Google Shape;536;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37" name="Google Shape;537;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38" name="Google Shape;538;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39" name="Google Shape;539;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0" name="Google Shape;540;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1" name="Google Shape;541;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48" name="Google Shape;548;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49" name="Google Shape;549;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0" name="Google Shape;550;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1" name="Google Shape;551;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2" name="Google Shape;552;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3" name="Google Shape;553;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4" name="Google Shape;554;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58" name="Google Shape;558;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1" name="Google Shape;561;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2" name="Google Shape;562;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69" name="Google Shape;569;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0" name="Google Shape;570;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1" name="Google Shape;571;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2" name="Google Shape;572;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3" name="Google Shape;573;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74" name="Google Shape;574;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75" name="Google Shape;575;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1" name="Google Shape;581;p22"/>
          <p:cNvGraphicFramePr/>
          <p:nvPr/>
        </p:nvGraphicFramePr>
        <p:xfrm>
          <a:off x="450100" y="877425"/>
          <a:ext cx="3000000" cy="3000000"/>
        </p:xfrm>
        <a:graphic>
          <a:graphicData uri="http://schemas.openxmlformats.org/drawingml/2006/table">
            <a:tbl>
              <a:tblPr>
                <a:noFill/>
                <a:tableStyleId>{D3CB79B0-8641-4349-AAA0-2024F650DA97}</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2" name="Google Shape;582;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89" name="Google Shape;58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0" name="Google Shape;59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1" name="Google Shape;59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2" name="Google Shape;59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3" name="Google Shape;59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94" name="Google Shape;59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95" name="Google Shape;59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99" name="Google Shape;59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0" name="Google Shape;60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2" name="Google Shape;60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8" name="Shape 608"/>
        <p:cNvGrpSpPr/>
        <p:nvPr/>
      </p:nvGrpSpPr>
      <p:grpSpPr>
        <a:xfrm>
          <a:off x="0" y="0"/>
          <a:ext cx="0" cy="0"/>
          <a:chOff x="0" y="0"/>
          <a:chExt cx="0" cy="0"/>
        </a:xfrm>
      </p:grpSpPr>
      <p:sp>
        <p:nvSpPr>
          <p:cNvPr id="609" name="Google Shape;60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1" name="Google Shape;61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2" name="Google Shape;61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13" name="Google Shape;61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14" name="Google Shape;61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15" name="Google Shape;61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16" name="Google Shape;61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17" name="Google Shape;61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18" name="Google Shape;61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19" name="Google Shape;61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3" name="Shape 623"/>
        <p:cNvGrpSpPr/>
        <p:nvPr/>
      </p:nvGrpSpPr>
      <p:grpSpPr>
        <a:xfrm>
          <a:off x="0" y="0"/>
          <a:ext cx="0" cy="0"/>
          <a:chOff x="0" y="0"/>
          <a:chExt cx="0" cy="0"/>
        </a:xfrm>
      </p:grpSpPr>
      <p:sp>
        <p:nvSpPr>
          <p:cNvPr id="624" name="Google Shape;62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26" name="Google Shape;62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27" name="Google Shape;62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28" name="Google Shape;62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29" name="Google Shape;62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0" name="Google Shape;63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1" name="Google Shape;63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2" name="Google Shape;63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33" name="Google Shape;63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34" name="Google Shape;63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35" name="Google Shape;63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9" name="Shape 639"/>
        <p:cNvGrpSpPr/>
        <p:nvPr/>
      </p:nvGrpSpPr>
      <p:grpSpPr>
        <a:xfrm>
          <a:off x="0" y="0"/>
          <a:ext cx="0" cy="0"/>
          <a:chOff x="0" y="0"/>
          <a:chExt cx="0" cy="0"/>
        </a:xfrm>
      </p:grpSpPr>
      <p:sp>
        <p:nvSpPr>
          <p:cNvPr id="640" name="Google Shape;64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2" name="Google Shape;64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43" name="Google Shape;64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44" name="Google Shape;64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45" name="Google Shape;64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46" name="Google Shape;64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47" name="Google Shape;64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48" name="Google Shape;64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49" name="Google Shape;64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0" name="Google Shape;65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1" name="Google Shape;65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2" name="Google Shape;65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53" name="Google Shape;65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54" name="Google Shape;65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0" name="Google Shape;66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1" name="Google Shape;66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2" name="Google Shape;66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63" name="Google Shape;66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TO THE NEW will bring deep </a:t>
            </a:r>
            <a:r>
              <a:rPr b="1" i="0" lang="en" sz="1100" u="none" cap="none" strike="noStrike">
                <a:solidFill>
                  <a:schemeClr val="dk1"/>
                </a:solidFill>
                <a:latin typeface="Montserrat"/>
                <a:ea typeface="Montserrat"/>
                <a:cs typeface="Montserrat"/>
                <a:sym typeface="Montserrat"/>
              </a:rPr>
              <a:t>domain expertise</a:t>
            </a:r>
            <a:r>
              <a:rPr b="0" i="0" lang="en" sz="1100" u="none" cap="none" strike="noStrike">
                <a:solidFill>
                  <a:schemeClr val="dk1"/>
                </a:solidFill>
                <a:latin typeface="Montserrat"/>
                <a:ea typeface="Montserrat"/>
                <a:cs typeface="Montserrat"/>
                <a:sym typeface="Montserrat"/>
              </a:rPr>
              <a:t> and </a:t>
            </a:r>
            <a:r>
              <a:rPr b="1" i="0" lang="en" sz="1100" u="none" cap="none" strike="noStrike">
                <a:solidFill>
                  <a:schemeClr val="dk1"/>
                </a:solidFill>
                <a:latin typeface="Montserrat"/>
                <a:ea typeface="Montserrat"/>
                <a:cs typeface="Montserrat"/>
                <a:sym typeface="Montserrat"/>
              </a:rPr>
              <a:t>strategic alignment </a:t>
            </a:r>
            <a:r>
              <a:rPr b="0" i="0" lang="en" sz="1100" u="none" cap="none" strike="noStrike">
                <a:solidFill>
                  <a:schemeClr val="dk1"/>
                </a:solidFill>
                <a:latin typeface="Montserrat"/>
                <a:ea typeface="Montserrat"/>
                <a:cs typeface="Montserrat"/>
                <a:sym typeface="Montserrat"/>
              </a:rPr>
              <a:t>across all the chosen focus areas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Continuous investment</a:t>
            </a:r>
            <a:r>
              <a:rPr b="0" i="0" lang="en" sz="1100" u="none" cap="none" strike="noStrike">
                <a:solidFill>
                  <a:schemeClr val="dk1"/>
                </a:solidFill>
                <a:latin typeface="Montserrat"/>
                <a:ea typeface="Montserrat"/>
                <a:cs typeface="Montserrat"/>
                <a:sym typeface="Montserrat"/>
              </a:rPr>
              <a:t> in innovation and capability building for future readiness for Racing Queensland by  leveraging TTN CoE capabilities</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Flexible ways of </a:t>
            </a:r>
            <a:r>
              <a:rPr b="1" i="0" lang="en" sz="1100" u="none" cap="none" strike="noStrike">
                <a:solidFill>
                  <a:schemeClr val="dk1"/>
                </a:solidFill>
                <a:latin typeface="Montserrat"/>
                <a:ea typeface="Montserrat"/>
                <a:cs typeface="Montserrat"/>
                <a:sym typeface="Montserrat"/>
              </a:rPr>
              <a:t>working aligned to Racing Queensland business hours</a:t>
            </a:r>
            <a:r>
              <a:rPr b="0" i="0" lang="en" sz="1100" u="none" cap="none" strike="noStrike">
                <a:solidFill>
                  <a:schemeClr val="dk1"/>
                </a:solidFill>
                <a:latin typeface="Montserrat"/>
                <a:ea typeface="Montserrat"/>
                <a:cs typeface="Montserrat"/>
                <a:sym typeface="Montserrat"/>
              </a:rPr>
              <a:t>, with maximum overlap in time zones globally.</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Proven agility</a:t>
            </a:r>
            <a:r>
              <a:rPr b="0" i="0" lang="en" sz="1100" u="none" cap="none" strike="noStrike">
                <a:solidFill>
                  <a:schemeClr val="dk1"/>
                </a:solidFill>
                <a:latin typeface="Montserrat"/>
                <a:ea typeface="Montserrat"/>
                <a:cs typeface="Montserrat"/>
                <a:sym typeface="Montserrat"/>
              </a:rPr>
              <a:t> to flex up or down to work seamlessly with small, medium and enterprise customers </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0" i="0" lang="en" sz="1100" u="none" cap="none" strike="noStrike">
                <a:solidFill>
                  <a:schemeClr val="dk1"/>
                </a:solidFill>
                <a:latin typeface="Montserrat"/>
                <a:ea typeface="Montserrat"/>
                <a:cs typeface="Montserrat"/>
                <a:sym typeface="Montserrat"/>
              </a:rPr>
              <a:t>One of the</a:t>
            </a:r>
            <a:r>
              <a:rPr b="1" i="0" lang="en" sz="1100" u="none" cap="none" strike="noStrike">
                <a:solidFill>
                  <a:schemeClr val="dk1"/>
                </a:solidFill>
                <a:latin typeface="Montserrat"/>
                <a:ea typeface="Montserrat"/>
                <a:cs typeface="Montserrat"/>
                <a:sym typeface="Montserrat"/>
              </a:rPr>
              <a:t> lowest attrition in the industry. </a:t>
            </a:r>
            <a:r>
              <a:rPr b="0" i="0" lang="en" sz="1100" u="none" cap="none" strike="noStrike">
                <a:solidFill>
                  <a:schemeClr val="dk1"/>
                </a:solidFill>
                <a:latin typeface="Montserrat"/>
                <a:ea typeface="Montserrat"/>
                <a:cs typeface="Montserrat"/>
                <a:sym typeface="Montserrat"/>
              </a:rPr>
              <a:t>We are among Top 50 India’s Best Workplaces in IT-BPM as per the recent survey by </a:t>
            </a:r>
            <a:r>
              <a:rPr b="1" i="0" lang="en" sz="1100" u="none" cap="none" strike="noStrike">
                <a:solidFill>
                  <a:schemeClr val="dk1"/>
                </a:solidFill>
                <a:latin typeface="Montserrat"/>
                <a:ea typeface="Montserrat"/>
                <a:cs typeface="Montserrat"/>
                <a:sym typeface="Montserrat"/>
              </a:rPr>
              <a:t>Great Place to Work® 2024 . </a:t>
            </a:r>
            <a:endParaRPr b="1"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Competitive pricing</a:t>
            </a:r>
            <a:r>
              <a:rPr b="0" i="0" lang="en" sz="1100" u="none" cap="none" strike="noStrike">
                <a:solidFill>
                  <a:schemeClr val="dk1"/>
                </a:solidFill>
                <a:latin typeface="Montserrat"/>
                <a:ea typeface="Montserrat"/>
                <a:cs typeface="Montserrat"/>
                <a:sym typeface="Montserrat"/>
              </a:rPr>
              <a:t> with focus on </a:t>
            </a:r>
            <a:r>
              <a:rPr b="1" i="0" lang="en" sz="1100" u="none" cap="none" strike="noStrike">
                <a:solidFill>
                  <a:schemeClr val="dk1"/>
                </a:solidFill>
                <a:latin typeface="Montserrat"/>
                <a:ea typeface="Montserrat"/>
                <a:cs typeface="Montserrat"/>
                <a:sym typeface="Montserrat"/>
              </a:rPr>
              <a:t>high value delivery</a:t>
            </a:r>
            <a:endParaRPr b="0" i="0" sz="1100" u="none" cap="none" strike="noStrike">
              <a:solidFill>
                <a:schemeClr val="dk1"/>
              </a:solidFill>
              <a:latin typeface="Montserrat"/>
              <a:ea typeface="Montserrat"/>
              <a:cs typeface="Montserrat"/>
              <a:sym typeface="Montserrat"/>
            </a:endParaRPr>
          </a:p>
          <a:p>
            <a:pPr indent="-298450" lvl="0" marL="457200" marR="0" rtl="0" algn="l">
              <a:lnSpc>
                <a:spcPct val="150000"/>
              </a:lnSpc>
              <a:spcBef>
                <a:spcPts val="300"/>
              </a:spcBef>
              <a:spcAft>
                <a:spcPts val="300"/>
              </a:spcAft>
              <a:buClr>
                <a:srgbClr val="D9177F"/>
              </a:buClr>
              <a:buSzPts val="1100"/>
              <a:buFont typeface="Century Gothic"/>
              <a:buChar char="●"/>
            </a:pPr>
            <a:r>
              <a:rPr b="1" i="0" lang="en" sz="1100" u="none" cap="none" strike="noStrike">
                <a:solidFill>
                  <a:schemeClr val="dk1"/>
                </a:solidFill>
                <a:latin typeface="Montserrat"/>
                <a:ea typeface="Montserrat"/>
                <a:cs typeface="Montserrat"/>
                <a:sym typeface="Montserrat"/>
              </a:rPr>
              <a:t>Proven Global &amp; Distributed Delivery partner </a:t>
            </a:r>
            <a:r>
              <a:rPr b="0" i="0" lang="en" sz="1100" u="none" cap="none" strike="noStrike">
                <a:solidFill>
                  <a:schemeClr val="dk1"/>
                </a:solidFill>
                <a:latin typeface="Montserrat"/>
                <a:ea typeface="Montserrat"/>
                <a:cs typeface="Montserrat"/>
                <a:sym typeface="Montserrat"/>
              </a:rPr>
              <a:t>providing right mix of collaboration, cost and scale advantage</a:t>
            </a:r>
            <a:endParaRPr b="0" i="0" sz="11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69" name="Google Shape;669;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0" name="Google Shape;670;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