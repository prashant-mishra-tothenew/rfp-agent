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3" r:id="rId6"/>
    <p:sldMasterId id="2147483664"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Lst>
  <p:sldSz cy="5143500" cx="9144000"/>
  <p:notesSz cx="6858000" cy="9144000"/>
  <p:embeddedFontLst>
    <p:embeddedFont>
      <p:font typeface="Montserrat SemiBold"/>
      <p:regular r:id="rId37"/>
      <p:bold r:id="rId38"/>
      <p:italic r:id="rId39"/>
      <p:boldItalic r:id="rId40"/>
    </p:embeddedFont>
    <p:embeddedFont>
      <p:font typeface="Montserrat"/>
      <p:regular r:id="rId41"/>
      <p:bold r:id="rId42"/>
      <p:italic r:id="rId43"/>
      <p:boldItalic r:id="rId44"/>
    </p:embeddedFont>
    <p:embeddedFont>
      <p:font typeface="Montserrat Medium"/>
      <p:regular r:id="rId45"/>
      <p:bold r:id="rId46"/>
      <p:italic r:id="rId47"/>
      <p:boldItalic r:id="rId48"/>
    </p:embeddedFont>
    <p:embeddedFont>
      <p:font typeface="Tahoma"/>
      <p:regular r:id="rId49"/>
      <p:bold r:id="rId50"/>
    </p:embeddedFont>
    <p:embeddedFont>
      <p:font typeface="Montserrat Light"/>
      <p:regular r:id="rId51"/>
      <p:bold r:id="rId52"/>
      <p:italic r:id="rId53"/>
      <p:boldItalic r:id="rId54"/>
    </p:embeddedFont>
    <p:embeddedFont>
      <p:font typeface="Century Gothic"/>
      <p:regular r:id="rId55"/>
      <p:bold r:id="rId56"/>
      <p:italic r:id="rId57"/>
      <p:boldItalic r:id="rId5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59" roundtripDataSignature="AMtx7mjrcQjjxTMEva7885HIDdwaADPV3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776C36E-D2AD-4AE9-B92F-3330EE880BF7}">
  <a:tblStyle styleId="{4776C36E-D2AD-4AE9-B92F-3330EE880BF7}"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59350B3-BBFF-4BFA-8656-60803C743C3A}" styleName="Table_1">
    <a:wholeTbl>
      <a:tcTxStyle b="off" i="off">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9EFF7"/>
          </a:solidFill>
        </a:fill>
      </a:tcStyle>
    </a:wholeTbl>
    <a:band1H>
      <a:tcTxStyle b="off" i="off"/>
      <a:tcStyle>
        <a:fill>
          <a:solidFill>
            <a:srgbClr val="D0DEEF"/>
          </a:solidFill>
        </a:fill>
      </a:tcStyle>
    </a:band1H>
    <a:band2H>
      <a:tcTxStyle b="off" i="off"/>
    </a:band2H>
    <a:band1V>
      <a:tcTxStyle b="off" i="off"/>
      <a:tcStyle>
        <a:fill>
          <a:solidFill>
            <a:srgbClr val="D0DEEF"/>
          </a:solidFill>
        </a:fill>
      </a:tcStyle>
    </a:band1V>
    <a:band2V>
      <a:tcTxStyle b="off" i="off"/>
    </a:band2V>
    <a:lastCol>
      <a:tcTxStyle b="on" i="off">
        <a:font>
          <a:latin typeface="Arial"/>
          <a:ea typeface="Arial"/>
          <a:cs typeface="Arial"/>
        </a:font>
        <a:srgbClr val="FFFFFF"/>
      </a:tcTxStyle>
      <a:tcStyle>
        <a:fill>
          <a:solidFill>
            <a:srgbClr val="D71B7F"/>
          </a:solidFill>
        </a:fill>
      </a:tcStyle>
    </a:lastCol>
    <a:firstCol>
      <a:tcTxStyle b="on" i="off">
        <a:font>
          <a:latin typeface="Arial"/>
          <a:ea typeface="Arial"/>
          <a:cs typeface="Arial"/>
        </a:font>
        <a:srgbClr val="FFFFFF"/>
      </a:tcTxStyle>
      <a:tcStyle>
        <a:fill>
          <a:solidFill>
            <a:srgbClr val="D71B7F"/>
          </a:solidFill>
        </a:fill>
      </a:tcStyle>
    </a:firstCol>
    <a:lastRow>
      <a:tcTxStyle b="on" i="off">
        <a:font>
          <a:latin typeface="Arial"/>
          <a:ea typeface="Arial"/>
          <a:cs typeface="Arial"/>
        </a:font>
        <a:srgbClr val="FFFFFF"/>
      </a:tcTxStyle>
      <a:tcStyle>
        <a:tcBdr>
          <a:top>
            <a:ln cap="flat" cmpd="sng" w="38100">
              <a:solidFill>
                <a:srgbClr val="FFFFFF"/>
              </a:solidFill>
              <a:prstDash val="solid"/>
              <a:round/>
              <a:headEnd len="sm" w="sm" type="none"/>
              <a:tailEnd len="sm" w="sm" type="none"/>
            </a:ln>
          </a:top>
        </a:tcBdr>
        <a:fill>
          <a:solidFill>
            <a:srgbClr val="D71B7F"/>
          </a:solidFill>
        </a:fill>
      </a:tcStyle>
    </a:lastRow>
    <a:seCell>
      <a:tcTxStyle b="off" i="off"/>
    </a:seCell>
    <a:swCell>
      <a:tcTxStyle b="off" i="off"/>
    </a:swCell>
    <a:firstRow>
      <a:tcTxStyle b="on" i="off">
        <a:font>
          <a:latin typeface="Arial"/>
          <a:ea typeface="Arial"/>
          <a:cs typeface="Arial"/>
        </a:font>
        <a:srgbClr val="FFFFFF"/>
      </a:tcTxStyle>
      <a:tcStyle>
        <a:tcBdr>
          <a:bottom>
            <a:ln cap="flat" cmpd="sng" w="38100">
              <a:solidFill>
                <a:srgbClr val="FFFFFF"/>
              </a:solidFill>
              <a:prstDash val="solid"/>
              <a:round/>
              <a:headEnd len="sm" w="sm" type="none"/>
              <a:tailEnd len="sm" w="sm" type="none"/>
            </a:ln>
          </a:bottom>
        </a:tcBdr>
        <a:fill>
          <a:solidFill>
            <a:srgbClr val="D71B7F"/>
          </a:solidFill>
        </a:fill>
      </a:tcStyle>
    </a:firstRow>
    <a:neCell>
      <a:tcTxStyle b="off" i="off"/>
    </a:neCell>
    <a:nwCell>
      <a:tcTxStyle b="off" i="off"/>
    </a:nwCell>
  </a:tblStyle>
  <a:tblStyle styleId="{486883CD-E40B-490B-9AF7-50432A68762B}" styleName="Table_2">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A0409FBF-130E-4C89-B222-25A7FCDD58EE}" styleName="Table_3">
    <a:wholeTbl>
      <a:tcTxStyle b="off" i="off">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font" Target="fonts/MontserratSemiBold-regular.fntdata"/><Relationship Id="rId38" Type="http://schemas.openxmlformats.org/officeDocument/2006/relationships/font" Target="fonts/MontserratSemiBold-bold.fntdata"/><Relationship Id="rId39" Type="http://schemas.openxmlformats.org/officeDocument/2006/relationships/font" Target="fonts/MontserratSemiBold-italic.fntdata"/><Relationship Id="rId40" Type="http://schemas.openxmlformats.org/officeDocument/2006/relationships/font" Target="fonts/MontserratSemiBold-boldItalic.fntdata"/><Relationship Id="rId41" Type="http://schemas.openxmlformats.org/officeDocument/2006/relationships/font" Target="fonts/Montserrat-regular.fntdata"/><Relationship Id="rId42" Type="http://schemas.openxmlformats.org/officeDocument/2006/relationships/font" Target="fonts/Montserrat-bold.fntdata"/><Relationship Id="rId43" Type="http://schemas.openxmlformats.org/officeDocument/2006/relationships/font" Target="fonts/Montserrat-italic.fntdata"/><Relationship Id="rId44" Type="http://schemas.openxmlformats.org/officeDocument/2006/relationships/font" Target="fonts/Montserrat-boldItalic.fntdata"/><Relationship Id="rId45" Type="http://schemas.openxmlformats.org/officeDocument/2006/relationships/font" Target="fonts/MontserratMedium-regular.fntdata"/><Relationship Id="rId46" Type="http://schemas.openxmlformats.org/officeDocument/2006/relationships/font" Target="fonts/MontserratMedium-bold.fntdata"/><Relationship Id="rId47" Type="http://schemas.openxmlformats.org/officeDocument/2006/relationships/font" Target="fonts/MontserratMedium-italic.fntdata"/><Relationship Id="rId48" Type="http://schemas.openxmlformats.org/officeDocument/2006/relationships/font" Target="fonts/MontserratMedium-boldItalic.fntdata"/><Relationship Id="rId49" Type="http://schemas.openxmlformats.org/officeDocument/2006/relationships/font" Target="fonts/Tahoma-regular.fntdata"/><Relationship Id="rId50" Type="http://schemas.openxmlformats.org/officeDocument/2006/relationships/font" Target="fonts/Tahoma-bold.fntdata"/><Relationship Id="rId51" Type="http://schemas.openxmlformats.org/officeDocument/2006/relationships/font" Target="fonts/MontserratLight-regular.fntdata"/><Relationship Id="rId52" Type="http://schemas.openxmlformats.org/officeDocument/2006/relationships/font" Target="fonts/MontserratLight-bold.fntdata"/><Relationship Id="rId53" Type="http://schemas.openxmlformats.org/officeDocument/2006/relationships/font" Target="fonts/MontserratLight-italic.fntdata"/><Relationship Id="rId54" Type="http://schemas.openxmlformats.org/officeDocument/2006/relationships/font" Target="fonts/MontserratLight-boldItalic.fntdata"/><Relationship Id="rId55" Type="http://schemas.openxmlformats.org/officeDocument/2006/relationships/font" Target="fonts/CenturyGothic-regular.fntdata"/><Relationship Id="rId56" Type="http://schemas.openxmlformats.org/officeDocument/2006/relationships/font" Target="fonts/CenturyGothic-bold.fntdata"/><Relationship Id="rId57" Type="http://schemas.openxmlformats.org/officeDocument/2006/relationships/font" Target="fonts/CenturyGothic-italic.fntdata"/><Relationship Id="rId58" Type="http://schemas.openxmlformats.org/officeDocument/2006/relationships/font" Target="fonts/CenturyGothic-boldItalic.fntdata"/><Relationship Id="rId59"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800">
                <a:solidFill>
                  <a:srgbClr val="666666"/>
                </a:solidFill>
                <a:latin typeface="Montserrat"/>
                <a:ea typeface="Montserrat"/>
                <a:cs typeface="Montserrat"/>
                <a:sym typeface="Montserrat"/>
              </a:rPr>
              <a:t>ChatBot Development - Sales &amp; After Sales ( Text to sequel problem)</a:t>
            </a:r>
            <a:endParaRPr sz="800">
              <a:latin typeface="Montserrat"/>
              <a:ea typeface="Montserrat"/>
              <a:cs typeface="Montserrat"/>
              <a:sym typeface="Montserra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1" name="Google Shape;2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1" name="Google Shape;22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9" name="Google Shape;349;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2" name="Google Shape;38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0" name="Google Shape;46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2" name="Google Shape;572;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9" name="Shape 589"/>
        <p:cNvGrpSpPr/>
        <p:nvPr/>
      </p:nvGrpSpPr>
      <p:grpSpPr>
        <a:xfrm>
          <a:off x="0" y="0"/>
          <a:ext cx="0" cy="0"/>
          <a:chOff x="0" y="0"/>
          <a:chExt cx="0" cy="0"/>
        </a:xfrm>
      </p:grpSpPr>
      <p:sp>
        <p:nvSpPr>
          <p:cNvPr id="590" name="Google Shape;59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1" name="Google Shape;59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4" name="Google Shape;61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9" name="Google Shape;62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5" name="Google Shape;64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4" name="Google Shape;664;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3" name="Google Shape;673;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1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3.png"/><Relationship Id="rId8" Type="http://schemas.openxmlformats.org/officeDocument/2006/relationships/image" Target="../media/image14.png"/><Relationship Id="rId9" Type="http://schemas.openxmlformats.org/officeDocument/2006/relationships/image" Target="../media/image12.png"/><Relationship Id="rId10"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1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0.png"/><Relationship Id="rId3"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15.pn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2">
  <p:cSld name="TITLE_2">
    <p:spTree>
      <p:nvGrpSpPr>
        <p:cNvPr id="8" name="Shape 8"/>
        <p:cNvGrpSpPr/>
        <p:nvPr/>
      </p:nvGrpSpPr>
      <p:grpSpPr>
        <a:xfrm>
          <a:off x="0" y="0"/>
          <a:ext cx="0" cy="0"/>
          <a:chOff x="0" y="0"/>
          <a:chExt cx="0" cy="0"/>
        </a:xfrm>
      </p:grpSpPr>
      <p:pic>
        <p:nvPicPr>
          <p:cNvPr id="9" name="Google Shape;9;p30"/>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10" name="Google Shape;10;p30"/>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1" name="Google Shape;11;p30"/>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12" name="Shape 12"/>
        <p:cNvGrpSpPr/>
        <p:nvPr/>
      </p:nvGrpSpPr>
      <p:grpSpPr>
        <a:xfrm>
          <a:off x="0" y="0"/>
          <a:ext cx="0" cy="0"/>
          <a:chOff x="0" y="0"/>
          <a:chExt cx="0" cy="0"/>
        </a:xfrm>
      </p:grpSpPr>
      <p:sp>
        <p:nvSpPr>
          <p:cNvPr id="13" name="Google Shape;13;p3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3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15" name="Google Shape;15;p3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16" name="Google Shape;16;p3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17" name="Google Shape;17;p3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18" name="Google Shape;18;p31"/>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19" name="Shape 19"/>
        <p:cNvGrpSpPr/>
        <p:nvPr/>
      </p:nvGrpSpPr>
      <p:grpSpPr>
        <a:xfrm>
          <a:off x="0" y="0"/>
          <a:ext cx="0" cy="0"/>
          <a:chOff x="0" y="0"/>
          <a:chExt cx="0" cy="0"/>
        </a:xfrm>
      </p:grpSpPr>
      <p:pic>
        <p:nvPicPr>
          <p:cNvPr id="20" name="Google Shape;20;p36"/>
          <p:cNvPicPr preferRelativeResize="0"/>
          <p:nvPr/>
        </p:nvPicPr>
        <p:blipFill rotWithShape="1">
          <a:blip r:embed="rId2">
            <a:alphaModFix/>
          </a:blip>
          <a:srcRect b="0" l="0" r="0" t="0"/>
          <a:stretch/>
        </p:blipFill>
        <p:spPr>
          <a:xfrm>
            <a:off x="7465" y="0"/>
            <a:ext cx="9144008" cy="5143501"/>
          </a:xfrm>
          <a:prstGeom prst="rect">
            <a:avLst/>
          </a:prstGeom>
          <a:noFill/>
          <a:ln>
            <a:noFill/>
          </a:ln>
        </p:spPr>
      </p:pic>
      <p:sp>
        <p:nvSpPr>
          <p:cNvPr id="21" name="Google Shape;21;p36"/>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2" name="Google Shape;22;p36"/>
          <p:cNvPicPr preferRelativeResize="0"/>
          <p:nvPr/>
        </p:nvPicPr>
        <p:blipFill rotWithShape="1">
          <a:blip r:embed="rId3">
            <a:alphaModFix/>
          </a:blip>
          <a:srcRect b="0" l="0" r="0" t="0"/>
          <a:stretch/>
        </p:blipFill>
        <p:spPr>
          <a:xfrm>
            <a:off x="-10" y="5071684"/>
            <a:ext cx="9151473" cy="80441"/>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23" name="Shape 23"/>
        <p:cNvGrpSpPr/>
        <p:nvPr/>
      </p:nvGrpSpPr>
      <p:grpSpPr>
        <a:xfrm>
          <a:off x="0" y="0"/>
          <a:ext cx="0" cy="0"/>
          <a:chOff x="0" y="0"/>
          <a:chExt cx="0" cy="0"/>
        </a:xfrm>
      </p:grpSpPr>
      <p:pic>
        <p:nvPicPr>
          <p:cNvPr id="24" name="Google Shape;24;p44"/>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25" name="Google Shape;25;p44"/>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26" name="Google Shape;26;p44"/>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p:cSld name="TITLE_AND_TWO_COLUMNS_2">
    <p:spTree>
      <p:nvGrpSpPr>
        <p:cNvPr id="31" name="Shape 31"/>
        <p:cNvGrpSpPr/>
        <p:nvPr/>
      </p:nvGrpSpPr>
      <p:grpSpPr>
        <a:xfrm>
          <a:off x="0" y="0"/>
          <a:ext cx="0" cy="0"/>
          <a:chOff x="0" y="0"/>
          <a:chExt cx="0" cy="0"/>
        </a:xfrm>
      </p:grpSpPr>
      <p:sp>
        <p:nvSpPr>
          <p:cNvPr id="32" name="Google Shape;32;p3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3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34" name="Google Shape;34;p33"/>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35" name="Google Shape;35;p3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36" name="Google Shape;36;p33"/>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
        <p:nvSpPr>
          <p:cNvPr id="37" name="Google Shape;37;p3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p:cSld name="TITLE_AND_TWO_COLUMNS_2_1">
    <p:spTree>
      <p:nvGrpSpPr>
        <p:cNvPr id="38" name="Shape 38"/>
        <p:cNvGrpSpPr/>
        <p:nvPr/>
      </p:nvGrpSpPr>
      <p:grpSpPr>
        <a:xfrm>
          <a:off x="0" y="0"/>
          <a:ext cx="0" cy="0"/>
          <a:chOff x="0" y="0"/>
          <a:chExt cx="0" cy="0"/>
        </a:xfrm>
      </p:grpSpPr>
      <p:pic>
        <p:nvPicPr>
          <p:cNvPr id="39" name="Google Shape;39;p34"/>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40" name="Google Shape;40;p3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34"/>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pic>
        <p:nvPicPr>
          <p:cNvPr descr="TTN Logo.png" id="42" name="Google Shape;42;p34"/>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43" name="Google Shape;43;p34"/>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44" name="Google Shape;44;p34"/>
          <p:cNvPicPr preferRelativeResize="0"/>
          <p:nvPr/>
        </p:nvPicPr>
        <p:blipFill rotWithShape="1">
          <a:blip r:embed="rId4">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45" name="Shape 45"/>
        <p:cNvGrpSpPr/>
        <p:nvPr/>
      </p:nvGrpSpPr>
      <p:grpSpPr>
        <a:xfrm>
          <a:off x="0" y="0"/>
          <a:ext cx="0" cy="0"/>
          <a:chOff x="0" y="0"/>
          <a:chExt cx="0" cy="0"/>
        </a:xfrm>
      </p:grpSpPr>
      <p:sp>
        <p:nvSpPr>
          <p:cNvPr id="46" name="Google Shape;46;p3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5200"/>
              <a:buFont typeface="Arial"/>
              <a:buChar char="■"/>
              <a:defRPr b="0" i="0" sz="5200" u="none" cap="none" strike="noStrike">
                <a:solidFill>
                  <a:srgbClr val="000000"/>
                </a:solidFill>
                <a:latin typeface="Arial"/>
                <a:ea typeface="Arial"/>
                <a:cs typeface="Arial"/>
                <a:sym typeface="Arial"/>
              </a:defRPr>
            </a:lvl9pPr>
          </a:lstStyle>
          <a:p/>
        </p:txBody>
      </p:sp>
      <p:sp>
        <p:nvSpPr>
          <p:cNvPr id="47" name="Google Shape;47;p35"/>
          <p:cNvSpPr txBox="1"/>
          <p:nvPr>
            <p:ph idx="1" type="subTitle"/>
          </p:nvPr>
        </p:nvSpPr>
        <p:spPr>
          <a:xfrm>
            <a:off x="311700" y="2834125"/>
            <a:ext cx="8520600" cy="792600"/>
          </a:xfrm>
          <a:prstGeom prst="rect">
            <a:avLst/>
          </a:prstGeom>
          <a:noFill/>
          <a:ln>
            <a:noFill/>
          </a:ln>
        </p:spPr>
        <p:txBody>
          <a:bodyPr anchorCtr="0" anchor="ctr" bIns="91425" lIns="91425" spcFirstLastPara="1" rIns="91425" wrap="square" tIns="91425">
            <a:noAutofit/>
          </a:bodyPr>
          <a:lstStyle>
            <a:lvl1pPr lvl="0"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1pPr>
            <a:lvl2pPr lvl="1"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2pPr>
            <a:lvl3pPr lvl="2"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3pPr>
            <a:lvl4pPr lvl="3"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4pPr>
            <a:lvl5pPr lvl="4"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5pPr>
            <a:lvl6pPr lvl="5"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6pPr>
            <a:lvl7pPr lvl="6"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7pPr>
            <a:lvl8pPr lvl="7"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8pPr>
            <a:lvl9pPr lvl="8" marR="0" rtl="0" algn="ctr">
              <a:lnSpc>
                <a:spcPct val="100000"/>
              </a:lnSpc>
              <a:spcBef>
                <a:spcPts val="0"/>
              </a:spcBef>
              <a:spcAft>
                <a:spcPts val="0"/>
              </a:spcAft>
              <a:buClr>
                <a:srgbClr val="000000"/>
              </a:buClr>
              <a:buSzPts val="2800"/>
              <a:buFont typeface="Arial"/>
              <a:buNone/>
              <a:defRPr b="0" i="0" sz="2800" u="none" cap="none" strike="noStrike">
                <a:solidFill>
                  <a:srgbClr val="000000"/>
                </a:solidFill>
                <a:latin typeface="Arial"/>
                <a:ea typeface="Arial"/>
                <a:cs typeface="Arial"/>
                <a:sym typeface="Arial"/>
              </a:defRPr>
            </a:lvl9pPr>
          </a:lstStyle>
          <a:p/>
        </p:txBody>
      </p:sp>
      <p:sp>
        <p:nvSpPr>
          <p:cNvPr id="48" name="Google Shape;48;p35"/>
          <p:cNvSpPr txBox="1"/>
          <p:nvPr>
            <p:ph idx="12" type="sldNum"/>
          </p:nvPr>
        </p:nvSpPr>
        <p:spPr>
          <a:xfrm>
            <a:off x="8472458" y="4663217"/>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400"/>
              <a:buFont typeface="Arial"/>
              <a:buNone/>
              <a:defRPr b="0" i="0" sz="14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p:cSld name="CUSTOM_6_1_1_1_1_1_1_1_2_1_2_1">
    <p:bg>
      <p:bgPr>
        <a:noFill/>
      </p:bgPr>
    </p:bg>
    <p:spTree>
      <p:nvGrpSpPr>
        <p:cNvPr id="49" name="Shape 49"/>
        <p:cNvGrpSpPr/>
        <p:nvPr/>
      </p:nvGrpSpPr>
      <p:grpSpPr>
        <a:xfrm>
          <a:off x="0" y="0"/>
          <a:ext cx="0" cy="0"/>
          <a:chOff x="0" y="0"/>
          <a:chExt cx="0" cy="0"/>
        </a:xfrm>
      </p:grpSpPr>
      <p:pic>
        <p:nvPicPr>
          <p:cNvPr id="50" name="Google Shape;50;p37"/>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51" name="Google Shape;51;p37"/>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2" name="Google Shape;52;p37"/>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53" name="Google Shape;53;p37"/>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pic>
        <p:nvPicPr>
          <p:cNvPr id="54" name="Google Shape;54;p37"/>
          <p:cNvPicPr preferRelativeResize="0"/>
          <p:nvPr/>
        </p:nvPicPr>
        <p:blipFill rotWithShape="1">
          <a:blip r:embed="rId4">
            <a:alphaModFix/>
          </a:blip>
          <a:srcRect b="3747" l="0" r="0" t="3738"/>
          <a:stretch/>
        </p:blipFill>
        <p:spPr>
          <a:xfrm>
            <a:off x="5628871" y="4764214"/>
            <a:ext cx="527963" cy="207109"/>
          </a:xfrm>
          <a:prstGeom prst="rect">
            <a:avLst/>
          </a:prstGeom>
          <a:noFill/>
          <a:ln>
            <a:noFill/>
          </a:ln>
        </p:spPr>
      </p:pic>
      <p:pic>
        <p:nvPicPr>
          <p:cNvPr id="55" name="Google Shape;55;p37"/>
          <p:cNvPicPr preferRelativeResize="0"/>
          <p:nvPr/>
        </p:nvPicPr>
        <p:blipFill rotWithShape="1">
          <a:blip r:embed="rId5">
            <a:alphaModFix/>
          </a:blip>
          <a:srcRect b="0" l="0" r="0" t="0"/>
          <a:stretch/>
        </p:blipFill>
        <p:spPr>
          <a:xfrm>
            <a:off x="4492492" y="4767423"/>
            <a:ext cx="1005406" cy="200690"/>
          </a:xfrm>
          <a:prstGeom prst="rect">
            <a:avLst/>
          </a:prstGeom>
          <a:noFill/>
          <a:ln>
            <a:noFill/>
          </a:ln>
        </p:spPr>
      </p:pic>
      <p:sp>
        <p:nvSpPr>
          <p:cNvPr id="56" name="Google Shape;56;p37"/>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57" name="Google Shape;57;p37"/>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58" name="Google Shape;58;p37"/>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59" name="Google Shape;59;p37"/>
          <p:cNvPicPr preferRelativeResize="0"/>
          <p:nvPr/>
        </p:nvPicPr>
        <p:blipFill rotWithShape="1">
          <a:blip r:embed="rId6">
            <a:alphaModFix/>
          </a:blip>
          <a:srcRect b="0" l="0" r="0" t="0"/>
          <a:stretch/>
        </p:blipFill>
        <p:spPr>
          <a:xfrm>
            <a:off x="3582794" y="4773820"/>
            <a:ext cx="772999" cy="207102"/>
          </a:xfrm>
          <a:prstGeom prst="rect">
            <a:avLst/>
          </a:prstGeom>
          <a:noFill/>
          <a:ln>
            <a:noFill/>
          </a:ln>
        </p:spPr>
      </p:pic>
      <p:cxnSp>
        <p:nvCxnSpPr>
          <p:cNvPr id="60" name="Google Shape;60;p37"/>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61" name="Google Shape;61;p37"/>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62" name="Google Shape;62;p37"/>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63" name="Google Shape;63;p37"/>
          <p:cNvPicPr preferRelativeResize="0"/>
          <p:nvPr/>
        </p:nvPicPr>
        <p:blipFill rotWithShape="1">
          <a:blip r:embed="rId7">
            <a:alphaModFix/>
          </a:blip>
          <a:srcRect b="0" l="0" r="0" t="0"/>
          <a:stretch/>
        </p:blipFill>
        <p:spPr>
          <a:xfrm>
            <a:off x="1835298" y="4767421"/>
            <a:ext cx="711135" cy="200693"/>
          </a:xfrm>
          <a:prstGeom prst="rect">
            <a:avLst/>
          </a:prstGeom>
          <a:noFill/>
          <a:ln>
            <a:noFill/>
          </a:ln>
        </p:spPr>
      </p:pic>
      <p:pic>
        <p:nvPicPr>
          <p:cNvPr id="64" name="Google Shape;64;p37"/>
          <p:cNvPicPr preferRelativeResize="0"/>
          <p:nvPr/>
        </p:nvPicPr>
        <p:blipFill rotWithShape="1">
          <a:blip r:embed="rId8">
            <a:alphaModFix/>
          </a:blip>
          <a:srcRect b="0" l="0" r="0" t="0"/>
          <a:stretch/>
        </p:blipFill>
        <p:spPr>
          <a:xfrm>
            <a:off x="2709573" y="4788445"/>
            <a:ext cx="730426" cy="158646"/>
          </a:xfrm>
          <a:prstGeom prst="rect">
            <a:avLst/>
          </a:prstGeom>
          <a:noFill/>
          <a:ln>
            <a:noFill/>
          </a:ln>
        </p:spPr>
      </p:pic>
      <p:pic>
        <p:nvPicPr>
          <p:cNvPr id="65" name="Google Shape;65;p37"/>
          <p:cNvPicPr preferRelativeResize="0"/>
          <p:nvPr/>
        </p:nvPicPr>
        <p:blipFill rotWithShape="1">
          <a:blip r:embed="rId9">
            <a:alphaModFix/>
          </a:blip>
          <a:srcRect b="0" l="0" r="0" t="0"/>
          <a:stretch/>
        </p:blipFill>
        <p:spPr>
          <a:xfrm>
            <a:off x="1238250" y="271780"/>
            <a:ext cx="1380825" cy="706105"/>
          </a:xfrm>
          <a:prstGeom prst="rect">
            <a:avLst/>
          </a:prstGeom>
          <a:noFill/>
          <a:ln>
            <a:noFill/>
          </a:ln>
        </p:spPr>
      </p:pic>
      <p:pic>
        <p:nvPicPr>
          <p:cNvPr id="66" name="Google Shape;66;p37"/>
          <p:cNvPicPr preferRelativeResize="0"/>
          <p:nvPr/>
        </p:nvPicPr>
        <p:blipFill rotWithShape="1">
          <a:blip r:embed="rId10">
            <a:alphaModFix/>
          </a:blip>
          <a:srcRect b="0" l="0" r="0" t="0"/>
          <a:stretch/>
        </p:blipFill>
        <p:spPr>
          <a:xfrm>
            <a:off x="190536" y="188515"/>
            <a:ext cx="941500" cy="1410499"/>
          </a:xfrm>
          <a:prstGeom prst="rect">
            <a:avLst/>
          </a:prstGeom>
          <a:noFill/>
          <a:ln>
            <a:noFill/>
          </a:ln>
        </p:spPr>
      </p:pic>
      <p:sp>
        <p:nvSpPr>
          <p:cNvPr id="67" name="Google Shape;67;p37"/>
          <p:cNvSpPr txBox="1"/>
          <p:nvPr>
            <p:ph type="title"/>
          </p:nvPr>
        </p:nvSpPr>
        <p:spPr>
          <a:xfrm>
            <a:off x="283675" y="2500825"/>
            <a:ext cx="5466600" cy="11346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1pPr>
            <a:lvl2pPr lvl="1"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2pPr>
            <a:lvl3pPr lvl="2"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3pPr>
            <a:lvl4pPr lvl="3"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4pPr>
            <a:lvl5pPr lvl="4"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5pPr>
            <a:lvl6pPr lvl="5"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6pPr>
            <a:lvl7pPr lvl="6"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7pPr>
            <a:lvl8pPr lvl="7"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8pPr>
            <a:lvl9pPr lvl="8" marR="0" rtl="0" algn="l">
              <a:lnSpc>
                <a:spcPct val="100000"/>
              </a:lnSpc>
              <a:spcBef>
                <a:spcPts val="0"/>
              </a:spcBef>
              <a:spcAft>
                <a:spcPts val="0"/>
              </a:spcAft>
              <a:buClr>
                <a:schemeClr val="accent1"/>
              </a:buClr>
              <a:buSzPts val="3700"/>
              <a:buFont typeface="Montserrat"/>
              <a:buNone/>
              <a:defRPr b="1" i="0" sz="3700" u="none" cap="none" strike="noStrike">
                <a:solidFill>
                  <a:schemeClr val="accent1"/>
                </a:solidFill>
                <a:latin typeface="Montserrat"/>
                <a:ea typeface="Montserrat"/>
                <a:cs typeface="Montserrat"/>
                <a:sym typeface="Montserrat"/>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parator Slide">
  <p:cSld name="CUSTOM_6_1_1_1_1_1_1_1_2_1_2_1_1_1">
    <p:bg>
      <p:bgPr>
        <a:noFill/>
      </p:bgPr>
    </p:bg>
    <p:spTree>
      <p:nvGrpSpPr>
        <p:cNvPr id="68" name="Shape 68"/>
        <p:cNvGrpSpPr/>
        <p:nvPr/>
      </p:nvGrpSpPr>
      <p:grpSpPr>
        <a:xfrm>
          <a:off x="0" y="0"/>
          <a:ext cx="0" cy="0"/>
          <a:chOff x="0" y="0"/>
          <a:chExt cx="0" cy="0"/>
        </a:xfrm>
      </p:grpSpPr>
      <p:pic>
        <p:nvPicPr>
          <p:cNvPr id="69" name="Google Shape;69;p38"/>
          <p:cNvPicPr preferRelativeResize="0"/>
          <p:nvPr/>
        </p:nvPicPr>
        <p:blipFill rotWithShape="1">
          <a:blip r:embed="rId2">
            <a:alphaModFix/>
          </a:blip>
          <a:srcRect b="0" l="-10120" r="10120" t="0"/>
          <a:stretch/>
        </p:blipFill>
        <p:spPr>
          <a:xfrm>
            <a:off x="0" y="-7476"/>
            <a:ext cx="9143956" cy="5143501"/>
          </a:xfrm>
          <a:prstGeom prst="rect">
            <a:avLst/>
          </a:prstGeom>
          <a:noFill/>
          <a:ln>
            <a:noFill/>
          </a:ln>
        </p:spPr>
      </p:pic>
      <p:pic>
        <p:nvPicPr>
          <p:cNvPr descr="TTN Logo.png" id="70" name="Google Shape;70;p38"/>
          <p:cNvPicPr preferRelativeResize="0"/>
          <p:nvPr/>
        </p:nvPicPr>
        <p:blipFill rotWithShape="1">
          <a:blip r:embed="rId3">
            <a:alphaModFix/>
          </a:blip>
          <a:srcRect b="0" l="0" r="0" t="0"/>
          <a:stretch/>
        </p:blipFill>
        <p:spPr>
          <a:xfrm>
            <a:off x="8295649" y="178006"/>
            <a:ext cx="648924" cy="362494"/>
          </a:xfrm>
          <a:prstGeom prst="rect">
            <a:avLst/>
          </a:prstGeom>
          <a:noFill/>
          <a:ln>
            <a:noFill/>
          </a:ln>
        </p:spPr>
      </p:pic>
      <p:sp>
        <p:nvSpPr>
          <p:cNvPr id="71" name="Google Shape;71;p38"/>
          <p:cNvSpPr/>
          <p:nvPr/>
        </p:nvSpPr>
        <p:spPr>
          <a:xfrm>
            <a:off x="3929500" y="2179825"/>
            <a:ext cx="559800" cy="559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with Black logo 1 1 1 1 1 1 1 2 1 2 1">
  <p:cSld name="CUSTOM_6_1_1_1_1_1_1_1_2_1_2_1_1">
    <p:bg>
      <p:bgPr>
        <a:noFill/>
      </p:bgPr>
    </p:bg>
    <p:spTree>
      <p:nvGrpSpPr>
        <p:cNvPr id="72" name="Shape 72"/>
        <p:cNvGrpSpPr/>
        <p:nvPr/>
      </p:nvGrpSpPr>
      <p:grpSpPr>
        <a:xfrm>
          <a:off x="0" y="0"/>
          <a:ext cx="0" cy="0"/>
          <a:chOff x="0" y="0"/>
          <a:chExt cx="0" cy="0"/>
        </a:xfrm>
      </p:grpSpPr>
      <p:pic>
        <p:nvPicPr>
          <p:cNvPr id="73" name="Google Shape;73;p39"/>
          <p:cNvPicPr preferRelativeResize="0"/>
          <p:nvPr/>
        </p:nvPicPr>
        <p:blipFill rotWithShape="1">
          <a:blip r:embed="rId2">
            <a:alphaModFix/>
          </a:blip>
          <a:srcRect b="2519" l="41915" r="12791" t="6877"/>
          <a:stretch/>
        </p:blipFill>
        <p:spPr>
          <a:xfrm>
            <a:off x="5286150" y="0"/>
            <a:ext cx="3857848" cy="5143501"/>
          </a:xfrm>
          <a:prstGeom prst="rect">
            <a:avLst/>
          </a:prstGeom>
          <a:noFill/>
          <a:ln>
            <a:noFill/>
          </a:ln>
        </p:spPr>
      </p:pic>
      <p:sp>
        <p:nvSpPr>
          <p:cNvPr id="74" name="Google Shape;74;p3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5" name="Google Shape;75;p39"/>
          <p:cNvSpPr/>
          <p:nvPr/>
        </p:nvSpPr>
        <p:spPr>
          <a:xfrm>
            <a:off x="0" y="-25"/>
            <a:ext cx="6464700" cy="5143500"/>
          </a:xfrm>
          <a:prstGeom prst="snip1Rect">
            <a:avLst>
              <a:gd fmla="val 18290" name="adj"/>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6" name="Google Shape;76;p39"/>
          <p:cNvCxnSpPr/>
          <p:nvPr/>
        </p:nvCxnSpPr>
        <p:spPr>
          <a:xfrm>
            <a:off x="6406775" y="3956400"/>
            <a:ext cx="0" cy="1187100"/>
          </a:xfrm>
          <a:prstGeom prst="straightConnector1">
            <a:avLst/>
          </a:prstGeom>
          <a:noFill/>
          <a:ln cap="flat" cmpd="sng" w="114300">
            <a:solidFill>
              <a:schemeClr val="accent3"/>
            </a:solidFill>
            <a:prstDash val="solid"/>
            <a:round/>
            <a:headEnd len="sm" w="sm" type="none"/>
            <a:tailEnd len="sm" w="sm" type="none"/>
          </a:ln>
        </p:spPr>
      </p:cxnSp>
      <p:pic>
        <p:nvPicPr>
          <p:cNvPr id="77" name="Google Shape;77;p39"/>
          <p:cNvPicPr preferRelativeResize="0"/>
          <p:nvPr/>
        </p:nvPicPr>
        <p:blipFill rotWithShape="1">
          <a:blip r:embed="rId3">
            <a:alphaModFix/>
          </a:blip>
          <a:srcRect b="56881" l="299" r="0" t="4"/>
          <a:stretch/>
        </p:blipFill>
        <p:spPr>
          <a:xfrm>
            <a:off x="-7475" y="5125600"/>
            <a:ext cx="9151474" cy="17899"/>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4">
  <p:cSld name="TITLE_AND_TWO_COLUMNS_1_2_7">
    <p:spTree>
      <p:nvGrpSpPr>
        <p:cNvPr id="78" name="Shape 78"/>
        <p:cNvGrpSpPr/>
        <p:nvPr/>
      </p:nvGrpSpPr>
      <p:grpSpPr>
        <a:xfrm>
          <a:off x="0" y="0"/>
          <a:ext cx="0" cy="0"/>
          <a:chOff x="0" y="0"/>
          <a:chExt cx="0" cy="0"/>
        </a:xfrm>
      </p:grpSpPr>
      <p:sp>
        <p:nvSpPr>
          <p:cNvPr id="79" name="Google Shape;79;p40"/>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0" name="Google Shape;80;p40"/>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1" name="Google Shape;81;p40"/>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82" name="Google Shape;82;p40"/>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2">
  <p:cSld name="TITLE_AND_TWO_COLUMNS_1_2_9">
    <p:spTree>
      <p:nvGrpSpPr>
        <p:cNvPr id="83" name="Shape 83"/>
        <p:cNvGrpSpPr/>
        <p:nvPr/>
      </p:nvGrpSpPr>
      <p:grpSpPr>
        <a:xfrm>
          <a:off x="0" y="0"/>
          <a:ext cx="0" cy="0"/>
          <a:chOff x="0" y="0"/>
          <a:chExt cx="0" cy="0"/>
        </a:xfrm>
      </p:grpSpPr>
      <p:sp>
        <p:nvSpPr>
          <p:cNvPr id="84" name="Google Shape;84;p41"/>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85" name="Google Shape;85;p41"/>
          <p:cNvPicPr preferRelativeResize="0"/>
          <p:nvPr/>
        </p:nvPicPr>
        <p:blipFill rotWithShape="1">
          <a:blip r:embed="rId2">
            <a:alphaModFix/>
          </a:blip>
          <a:srcRect b="0" l="0" r="0" t="0"/>
          <a:stretch/>
        </p:blipFill>
        <p:spPr>
          <a:xfrm>
            <a:off x="8414781" y="117828"/>
            <a:ext cx="625544" cy="349439"/>
          </a:xfrm>
          <a:prstGeom prst="rect">
            <a:avLst/>
          </a:prstGeom>
          <a:noFill/>
          <a:ln>
            <a:noFill/>
          </a:ln>
        </p:spPr>
      </p:pic>
      <p:cxnSp>
        <p:nvCxnSpPr>
          <p:cNvPr id="86" name="Google Shape;86;p41"/>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87" name="Google Shape;87;p41"/>
          <p:cNvPicPr preferRelativeResize="0"/>
          <p:nvPr/>
        </p:nvPicPr>
        <p:blipFill rotWithShape="1">
          <a:blip r:embed="rId3">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Slide - with Title &amp; Logo  3">
  <p:cSld name="TITLE_AND_TWO_COLUMNS_1_2_10">
    <p:spTree>
      <p:nvGrpSpPr>
        <p:cNvPr id="88" name="Shape 88"/>
        <p:cNvGrpSpPr/>
        <p:nvPr/>
      </p:nvGrpSpPr>
      <p:grpSpPr>
        <a:xfrm>
          <a:off x="0" y="0"/>
          <a:ext cx="0" cy="0"/>
          <a:chOff x="0" y="0"/>
          <a:chExt cx="0" cy="0"/>
        </a:xfrm>
      </p:grpSpPr>
      <p:sp>
        <p:nvSpPr>
          <p:cNvPr id="89" name="Google Shape;89;p42"/>
          <p:cNvSpPr txBox="1"/>
          <p:nvPr>
            <p:ph type="ctrTitle"/>
          </p:nvPr>
        </p:nvSpPr>
        <p:spPr>
          <a:xfrm>
            <a:off x="264425" y="171950"/>
            <a:ext cx="6858000" cy="290100"/>
          </a:xfrm>
          <a:prstGeom prst="rect">
            <a:avLst/>
          </a:prstGeom>
          <a:noFill/>
          <a:ln>
            <a:noFill/>
          </a:ln>
        </p:spPr>
        <p:txBody>
          <a:bodyPr anchorCtr="0" anchor="t" bIns="91425" lIns="0" spcFirstLastPara="1" rIns="91425" wrap="square" tIns="0">
            <a:noAutofit/>
          </a:bodyPr>
          <a:lstStyle>
            <a:lvl1pPr lvl="0" marR="0" rtl="0" algn="l">
              <a:lnSpc>
                <a:spcPct val="90000"/>
              </a:lnSpc>
              <a:spcBef>
                <a:spcPts val="0"/>
              </a:spcBef>
              <a:spcAft>
                <a:spcPts val="0"/>
              </a:spcAft>
              <a:buClr>
                <a:schemeClr val="dk1"/>
              </a:buClr>
              <a:buSzPts val="2100"/>
              <a:buFont typeface="Tahoma"/>
              <a:buNone/>
              <a:defRPr b="1" i="0" sz="2100" u="none" cap="none" strike="noStrike">
                <a:solidFill>
                  <a:schemeClr val="dk1"/>
                </a:solidFill>
                <a:latin typeface="Tahoma"/>
                <a:ea typeface="Tahoma"/>
                <a:cs typeface="Tahoma"/>
                <a:sym typeface="Tahoma"/>
              </a:defRPr>
            </a:lvl1pPr>
            <a:lvl2pPr lvl="1"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Clr>
                <a:srgbClr val="000000"/>
              </a:buClr>
              <a:buSzPts val="2100"/>
              <a:buFont typeface="Tahoma"/>
              <a:buNone/>
              <a:defRPr b="0" i="0" sz="2100" u="none" cap="none" strike="noStrike">
                <a:solidFill>
                  <a:srgbClr val="000000"/>
                </a:solidFill>
                <a:latin typeface="Tahoma"/>
                <a:ea typeface="Tahoma"/>
                <a:cs typeface="Tahoma"/>
                <a:sym typeface="Tahoma"/>
              </a:defRPr>
            </a:lvl9pPr>
          </a:lstStyle>
          <a:p/>
        </p:txBody>
      </p:sp>
      <p:pic>
        <p:nvPicPr>
          <p:cNvPr descr="TTN Logo.png" id="90" name="Google Shape;90;p42"/>
          <p:cNvPicPr preferRelativeResize="0"/>
          <p:nvPr/>
        </p:nvPicPr>
        <p:blipFill rotWithShape="1">
          <a:blip r:embed="rId2">
            <a:alphaModFix/>
          </a:blip>
          <a:srcRect b="0" l="0" r="0" t="0"/>
          <a:stretch/>
        </p:blipFill>
        <p:spPr>
          <a:xfrm>
            <a:off x="8295649" y="178006"/>
            <a:ext cx="648924" cy="362494"/>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Just Logo without Title 1 1 1">
  <p:cSld name="TITLE_AND_TWO_COLUMNS_2_1_1_1">
    <p:spTree>
      <p:nvGrpSpPr>
        <p:cNvPr id="91" name="Shape 91"/>
        <p:cNvGrpSpPr/>
        <p:nvPr/>
      </p:nvGrpSpPr>
      <p:grpSpPr>
        <a:xfrm>
          <a:off x="0" y="0"/>
          <a:ext cx="0" cy="0"/>
          <a:chOff x="0" y="0"/>
          <a:chExt cx="0" cy="0"/>
        </a:xfrm>
      </p:grpSpPr>
      <p:pic>
        <p:nvPicPr>
          <p:cNvPr id="92" name="Google Shape;92;p43"/>
          <p:cNvPicPr preferRelativeResize="0"/>
          <p:nvPr/>
        </p:nvPicPr>
        <p:blipFill rotWithShape="1">
          <a:blip r:embed="rId2">
            <a:alphaModFix/>
          </a:blip>
          <a:srcRect b="0" l="0" r="0" t="0"/>
          <a:stretch/>
        </p:blipFill>
        <p:spPr>
          <a:xfrm rot="10800000">
            <a:off x="-12" y="0"/>
            <a:ext cx="3890275" cy="5143501"/>
          </a:xfrm>
          <a:prstGeom prst="rect">
            <a:avLst/>
          </a:prstGeom>
          <a:noFill/>
          <a:ln>
            <a:noFill/>
          </a:ln>
        </p:spPr>
      </p:pic>
      <p:sp>
        <p:nvSpPr>
          <p:cNvPr id="93" name="Google Shape;93;p4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4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lvl1pPr lvl="0" marR="0" rtl="0" algn="l">
              <a:lnSpc>
                <a:spcPct val="100000"/>
              </a:lnSpc>
              <a:spcBef>
                <a:spcPts val="0"/>
              </a:spcBef>
              <a:spcAft>
                <a:spcPts val="0"/>
              </a:spcAft>
              <a:buClr>
                <a:srgbClr val="000000"/>
              </a:buClr>
              <a:buSzPts val="2000"/>
              <a:buFont typeface="Montserrat"/>
              <a:buNone/>
              <a:defRPr b="1" i="0" sz="2000" u="none" cap="none" strike="noStrike">
                <a:solidFill>
                  <a:srgbClr val="000000"/>
                </a:solidFill>
                <a:latin typeface="Montserrat"/>
                <a:ea typeface="Montserrat"/>
                <a:cs typeface="Montserrat"/>
                <a:sym typeface="Montserrat"/>
              </a:defRPr>
            </a:lvl1pPr>
            <a:lvl2pPr lvl="1"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2pPr>
            <a:lvl3pPr lvl="2"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3pPr>
            <a:lvl4pPr lvl="3"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4pPr>
            <a:lvl5pPr lvl="4"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5pPr>
            <a:lvl6pPr lvl="5"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6pPr>
            <a:lvl7pPr lvl="6"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7pPr>
            <a:lvl8pPr lvl="7"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8pPr>
            <a:lvl9pPr lvl="8" marR="0" rtl="0" algn="l">
              <a:lnSpc>
                <a:spcPct val="100000"/>
              </a:lnSpc>
              <a:spcBef>
                <a:spcPts val="0"/>
              </a:spcBef>
              <a:spcAft>
                <a:spcPts val="0"/>
              </a:spcAft>
              <a:buClr>
                <a:srgbClr val="000000"/>
              </a:buClr>
              <a:buSzPts val="1400"/>
              <a:buFont typeface="Montserrat"/>
              <a:buNone/>
              <a:defRPr b="1" i="0" sz="1400" u="none" cap="none" strike="noStrike">
                <a:solidFill>
                  <a:srgbClr val="000000"/>
                </a:solidFill>
                <a:latin typeface="Montserrat"/>
                <a:ea typeface="Montserrat"/>
                <a:cs typeface="Montserrat"/>
                <a:sym typeface="Montserrat"/>
              </a:defRPr>
            </a:lvl9pPr>
          </a:lstStyle>
          <a:p/>
        </p:txBody>
      </p:sp>
      <p:sp>
        <p:nvSpPr>
          <p:cNvPr id="95" name="Google Shape;95;p4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rgbClr val="000000"/>
                </a:solidFill>
                <a:latin typeface="Montserrat"/>
                <a:ea typeface="Montserrat"/>
                <a:cs typeface="Montserrat"/>
                <a:sym typeface="Montserrat"/>
              </a:defRPr>
            </a:lvl9pPr>
          </a:lstStyle>
          <a:p>
            <a:pPr indent="0" lvl="0" marL="0" rtl="0" algn="r">
              <a:spcBef>
                <a:spcPts val="0"/>
              </a:spcBef>
              <a:spcAft>
                <a:spcPts val="0"/>
              </a:spcAft>
              <a:buNone/>
            </a:pPr>
            <a:fld id="{00000000-1234-1234-1234-123412341234}" type="slidenum">
              <a:rPr lang="en"/>
              <a:t>‹#›</a:t>
            </a:fld>
            <a:endParaRPr/>
          </a:p>
        </p:txBody>
      </p:sp>
      <p:pic>
        <p:nvPicPr>
          <p:cNvPr descr="TTN Logo.png" id="96" name="Google Shape;96;p43"/>
          <p:cNvPicPr preferRelativeResize="0"/>
          <p:nvPr/>
        </p:nvPicPr>
        <p:blipFill rotWithShape="1">
          <a:blip r:embed="rId3">
            <a:alphaModFix/>
          </a:blip>
          <a:srcRect b="0" l="0" r="0" t="0"/>
          <a:stretch/>
        </p:blipFill>
        <p:spPr>
          <a:xfrm>
            <a:off x="8414781" y="117828"/>
            <a:ext cx="625544" cy="349439"/>
          </a:xfrm>
          <a:prstGeom prst="rect">
            <a:avLst/>
          </a:prstGeom>
          <a:noFill/>
          <a:ln>
            <a:noFill/>
          </a:ln>
        </p:spPr>
      </p:pic>
      <p:cxnSp>
        <p:nvCxnSpPr>
          <p:cNvPr id="97" name="Google Shape;97;p43"/>
          <p:cNvCxnSpPr/>
          <p:nvPr/>
        </p:nvCxnSpPr>
        <p:spPr>
          <a:xfrm>
            <a:off x="82867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98" name="Google Shape;98;p43"/>
          <p:cNvPicPr preferRelativeResize="0"/>
          <p:nvPr/>
        </p:nvPicPr>
        <p:blipFill rotWithShape="1">
          <a:blip r:embed="rId4">
            <a:alphaModFix/>
          </a:blip>
          <a:srcRect b="0" l="0" r="0" t="0"/>
          <a:stretch/>
        </p:blipFill>
        <p:spPr>
          <a:xfrm>
            <a:off x="7665385" y="210432"/>
            <a:ext cx="542839" cy="22445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3" name="Shape 103"/>
        <p:cNvGrpSpPr/>
        <p:nvPr/>
      </p:nvGrpSpPr>
      <p:grpSpPr>
        <a:xfrm>
          <a:off x="0" y="0"/>
          <a:ext cx="0" cy="0"/>
          <a:chOff x="0" y="0"/>
          <a:chExt cx="0" cy="0"/>
        </a:xfrm>
      </p:grpSpPr>
      <p:sp>
        <p:nvSpPr>
          <p:cNvPr id="104" name="Google Shape;104;p4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05" name="Google Shape;105;p4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6" name="Google Shape;106;p4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4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09" name="Google Shape;109;p4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0" name="Shape 110"/>
        <p:cNvGrpSpPr/>
        <p:nvPr/>
      </p:nvGrpSpPr>
      <p:grpSpPr>
        <a:xfrm>
          <a:off x="0" y="0"/>
          <a:ext cx="0" cy="0"/>
          <a:chOff x="0" y="0"/>
          <a:chExt cx="0" cy="0"/>
        </a:xfrm>
      </p:grpSpPr>
      <p:sp>
        <p:nvSpPr>
          <p:cNvPr id="111" name="Google Shape;111;p4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2" name="Google Shape;112;p4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13" name="Google Shape;113;p4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4" name="Shape 114"/>
        <p:cNvGrpSpPr/>
        <p:nvPr/>
      </p:nvGrpSpPr>
      <p:grpSpPr>
        <a:xfrm>
          <a:off x="0" y="0"/>
          <a:ext cx="0" cy="0"/>
          <a:chOff x="0" y="0"/>
          <a:chExt cx="0" cy="0"/>
        </a:xfrm>
      </p:grpSpPr>
      <p:sp>
        <p:nvSpPr>
          <p:cNvPr id="115" name="Google Shape;115;p4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p4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7" name="Google Shape;117;p4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18" name="Google Shape;118;p4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9" name="Shape 119"/>
        <p:cNvGrpSpPr/>
        <p:nvPr/>
      </p:nvGrpSpPr>
      <p:grpSpPr>
        <a:xfrm>
          <a:off x="0" y="0"/>
          <a:ext cx="0" cy="0"/>
          <a:chOff x="0" y="0"/>
          <a:chExt cx="0" cy="0"/>
        </a:xfrm>
      </p:grpSpPr>
      <p:sp>
        <p:nvSpPr>
          <p:cNvPr id="120" name="Google Shape;120;p5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1" name="Google Shape;121;p5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2" name="Shape 122"/>
        <p:cNvGrpSpPr/>
        <p:nvPr/>
      </p:nvGrpSpPr>
      <p:grpSpPr>
        <a:xfrm>
          <a:off x="0" y="0"/>
          <a:ext cx="0" cy="0"/>
          <a:chOff x="0" y="0"/>
          <a:chExt cx="0" cy="0"/>
        </a:xfrm>
      </p:grpSpPr>
      <p:sp>
        <p:nvSpPr>
          <p:cNvPr id="123" name="Google Shape;123;p5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124" name="Google Shape;124;p5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125" name="Google Shape;125;p5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6" name="Shape 126"/>
        <p:cNvGrpSpPr/>
        <p:nvPr/>
      </p:nvGrpSpPr>
      <p:grpSpPr>
        <a:xfrm>
          <a:off x="0" y="0"/>
          <a:ext cx="0" cy="0"/>
          <a:chOff x="0" y="0"/>
          <a:chExt cx="0" cy="0"/>
        </a:xfrm>
      </p:grpSpPr>
      <p:sp>
        <p:nvSpPr>
          <p:cNvPr id="127" name="Google Shape;127;p5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128" name="Google Shape;128;p5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9" name="Shape 129"/>
        <p:cNvGrpSpPr/>
        <p:nvPr/>
      </p:nvGrpSpPr>
      <p:grpSpPr>
        <a:xfrm>
          <a:off x="0" y="0"/>
          <a:ext cx="0" cy="0"/>
          <a:chOff x="0" y="0"/>
          <a:chExt cx="0" cy="0"/>
        </a:xfrm>
      </p:grpSpPr>
      <p:sp>
        <p:nvSpPr>
          <p:cNvPr id="130" name="Google Shape;130;p5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5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132" name="Google Shape;132;p5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33" name="Google Shape;133;p5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34" name="Google Shape;134;p5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sp>
        <p:nvSpPr>
          <p:cNvPr id="136" name="Google Shape;136;p5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37" name="Google Shape;137;p5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8" name="Shape 138"/>
        <p:cNvGrpSpPr/>
        <p:nvPr/>
      </p:nvGrpSpPr>
      <p:grpSpPr>
        <a:xfrm>
          <a:off x="0" y="0"/>
          <a:ext cx="0" cy="0"/>
          <a:chOff x="0" y="0"/>
          <a:chExt cx="0" cy="0"/>
        </a:xfrm>
      </p:grpSpPr>
      <p:sp>
        <p:nvSpPr>
          <p:cNvPr id="139" name="Google Shape;139;p5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140" name="Google Shape;140;p5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141" name="Google Shape;141;p5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2" name="Shape 142"/>
        <p:cNvGrpSpPr/>
        <p:nvPr/>
      </p:nvGrpSpPr>
      <p:grpSpPr>
        <a:xfrm>
          <a:off x="0" y="0"/>
          <a:ext cx="0" cy="0"/>
          <a:chOff x="0" y="0"/>
          <a:chExt cx="0" cy="0"/>
        </a:xfrm>
      </p:grpSpPr>
      <p:sp>
        <p:nvSpPr>
          <p:cNvPr id="143" name="Google Shape;143;p5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2.png"/><Relationship Id="rId3" Type="http://schemas.openxmlformats.org/officeDocument/2006/relationships/slideLayout" Target="../slideLayouts/slideLayout5.xml"/><Relationship Id="rId4" Type="http://schemas.openxmlformats.org/officeDocument/2006/relationships/slideLayout" Target="../slideLayouts/slideLayout6.xml"/><Relationship Id="rId5" Type="http://schemas.openxmlformats.org/officeDocument/2006/relationships/slideLayout" Target="../slideLayouts/slideLayout7.xml"/><Relationship Id="rId6" Type="http://schemas.openxmlformats.org/officeDocument/2006/relationships/slideLayout" Target="../slideLayouts/slideLayout8.xml"/><Relationship Id="rId7" Type="http://schemas.openxmlformats.org/officeDocument/2006/relationships/slideLayout" Target="../slideLayouts/slideLayout9.xml"/><Relationship Id="rId8" Type="http://schemas.openxmlformats.org/officeDocument/2006/relationships/slideLayout" Target="../slideLayouts/slideLayout10.xml"/><Relationship Id="rId9" Type="http://schemas.openxmlformats.org/officeDocument/2006/relationships/slideLayout" Target="../slideLayouts/slideLayout11.xml"/><Relationship Id="rId10" Type="http://schemas.openxmlformats.org/officeDocument/2006/relationships/slideLayout" Target="../slideLayouts/slideLayout12.xml"/><Relationship Id="rId11" Type="http://schemas.openxmlformats.org/officeDocument/2006/relationships/slideLayout" Target="../slideLayouts/slideLayout13.xml"/><Relationship Id="rId12" Type="http://schemas.openxmlformats.org/officeDocument/2006/relationships/slideLayout" Target="../slideLayouts/slideLayout14.xml"/><Relationship Id="rId13"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9"/>
          <p:cNvPicPr preferRelativeResize="0"/>
          <p:nvPr/>
        </p:nvPicPr>
        <p:blipFill rotWithShape="1">
          <a:blip r:embed="rId1">
            <a:alphaModFix/>
          </a:blip>
          <a:srcRect b="0" l="0" r="0" t="0"/>
          <a:stretch/>
        </p:blipFill>
        <p:spPr>
          <a:xfrm>
            <a:off x="-10" y="5071684"/>
            <a:ext cx="9151473" cy="80441"/>
          </a:xfrm>
          <a:prstGeom prst="rect">
            <a:avLst/>
          </a:prstGeom>
          <a:noFill/>
          <a:ln>
            <a:noFill/>
          </a:ln>
        </p:spPr>
      </p:pic>
      <p:sp>
        <p:nvSpPr>
          <p:cNvPr id="7" name="Google Shape;7;p2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7" name="Shape 27"/>
        <p:cNvGrpSpPr/>
        <p:nvPr/>
      </p:nvGrpSpPr>
      <p:grpSpPr>
        <a:xfrm>
          <a:off x="0" y="0"/>
          <a:ext cx="0" cy="0"/>
          <a:chOff x="0" y="0"/>
          <a:chExt cx="0" cy="0"/>
        </a:xfrm>
      </p:grpSpPr>
      <p:pic>
        <p:nvPicPr>
          <p:cNvPr id="28" name="Google Shape;28;p32"/>
          <p:cNvPicPr preferRelativeResize="0"/>
          <p:nvPr/>
        </p:nvPicPr>
        <p:blipFill rotWithShape="1">
          <a:blip r:embed="rId1">
            <a:alphaModFix/>
          </a:blip>
          <a:srcRect b="56881" l="299" r="0" t="4"/>
          <a:stretch/>
        </p:blipFill>
        <p:spPr>
          <a:xfrm>
            <a:off x="-7475" y="5125600"/>
            <a:ext cx="9151474" cy="17899"/>
          </a:xfrm>
          <a:prstGeom prst="rect">
            <a:avLst/>
          </a:prstGeom>
          <a:noFill/>
          <a:ln>
            <a:noFill/>
          </a:ln>
        </p:spPr>
      </p:pic>
      <p:pic>
        <p:nvPicPr>
          <p:cNvPr id="29" name="Google Shape;29;p32"/>
          <p:cNvPicPr preferRelativeResize="0"/>
          <p:nvPr/>
        </p:nvPicPr>
        <p:blipFill rotWithShape="1">
          <a:blip r:embed="rId2">
            <a:alphaModFix/>
          </a:blip>
          <a:srcRect b="0" l="0" r="0" t="0"/>
          <a:stretch/>
        </p:blipFill>
        <p:spPr>
          <a:xfrm>
            <a:off x="-10" y="5071684"/>
            <a:ext cx="9151473" cy="80441"/>
          </a:xfrm>
          <a:prstGeom prst="rect">
            <a:avLst/>
          </a:prstGeom>
          <a:noFill/>
          <a:ln>
            <a:noFill/>
          </a:ln>
        </p:spPr>
      </p:pic>
      <p:sp>
        <p:nvSpPr>
          <p:cNvPr id="30" name="Google Shape;30;p3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9" name="Shape 99"/>
        <p:cNvGrpSpPr/>
        <p:nvPr/>
      </p:nvGrpSpPr>
      <p:grpSpPr>
        <a:xfrm>
          <a:off x="0" y="0"/>
          <a:ext cx="0" cy="0"/>
          <a:chOff x="0" y="0"/>
          <a:chExt cx="0" cy="0"/>
        </a:xfrm>
      </p:grpSpPr>
      <p:sp>
        <p:nvSpPr>
          <p:cNvPr id="100" name="Google Shape;100;p4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01" name="Google Shape;101;p4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02" name="Google Shape;102;p4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2.png"/><Relationship Id="rId9" Type="http://schemas.openxmlformats.org/officeDocument/2006/relationships/image" Target="../media/image16.png"/><Relationship Id="rId10" Type="http://schemas.openxmlformats.org/officeDocument/2006/relationships/image" Target="../media/image20.png"/><Relationship Id="rId11"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19.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18.png"/><Relationship Id="rId4" Type="http://schemas.openxmlformats.org/officeDocument/2006/relationships/image" Target="../media/image26.png"/><Relationship Id="rId5"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19.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32.png"/><Relationship Id="rId4" Type="http://schemas.openxmlformats.org/officeDocument/2006/relationships/image" Target="../media/image28.png"/><Relationship Id="rId5" Type="http://schemas.openxmlformats.org/officeDocument/2006/relationships/image" Target="../media/image45.png"/><Relationship Id="rId6" Type="http://schemas.openxmlformats.org/officeDocument/2006/relationships/image" Target="../media/image33.png"/><Relationship Id="rId7" Type="http://schemas.openxmlformats.org/officeDocument/2006/relationships/image" Target="../media/image29.png"/><Relationship Id="rId8" Type="http://schemas.openxmlformats.org/officeDocument/2006/relationships/image" Target="../media/image27.png"/><Relationship Id="rId9" Type="http://schemas.openxmlformats.org/officeDocument/2006/relationships/image" Target="../media/image35.png"/><Relationship Id="rId10" Type="http://schemas.openxmlformats.org/officeDocument/2006/relationships/image" Target="../media/image15.png"/><Relationship Id="rId11"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31.png"/><Relationship Id="rId4" Type="http://schemas.openxmlformats.org/officeDocument/2006/relationships/image" Target="../media/image3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image" Target="../media/image1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1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38.png"/><Relationship Id="rId7" Type="http://schemas.openxmlformats.org/officeDocument/2006/relationships/image" Target="../media/image42.png"/><Relationship Id="rId8" Type="http://schemas.openxmlformats.org/officeDocument/2006/relationships/image" Target="../media/image41.png"/><Relationship Id="rId9" Type="http://schemas.openxmlformats.org/officeDocument/2006/relationships/image" Target="../media/image37.png"/><Relationship Id="rId10"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36.png"/><Relationship Id="rId4" Type="http://schemas.openxmlformats.org/officeDocument/2006/relationships/image" Target="../media/image40.png"/><Relationship Id="rId5" Type="http://schemas.openxmlformats.org/officeDocument/2006/relationships/image" Target="../media/image39.png"/><Relationship Id="rId6" Type="http://schemas.openxmlformats.org/officeDocument/2006/relationships/image" Target="../media/image44.png"/><Relationship Id="rId7" Type="http://schemas.openxmlformats.org/officeDocument/2006/relationships/image" Target="../media/image42.png"/><Relationship Id="rId8" Type="http://schemas.openxmlformats.org/officeDocument/2006/relationships/image" Target="../media/image41.png"/><Relationship Id="rId9" Type="http://schemas.openxmlformats.org/officeDocument/2006/relationships/image" Target="../media/image43.png"/><Relationship Id="rId10" Type="http://schemas.openxmlformats.org/officeDocument/2006/relationships/image" Target="../media/image46.png"/><Relationship Id="rId11"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36.png"/><Relationship Id="rId4"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42.png"/><Relationship Id="rId7" Type="http://schemas.openxmlformats.org/officeDocument/2006/relationships/image" Target="../media/image41.png"/><Relationship Id="rId8" Type="http://schemas.openxmlformats.org/officeDocument/2006/relationships/image" Target="../media/image51.png"/><Relationship Id="rId9" Type="http://schemas.openxmlformats.org/officeDocument/2006/relationships/image" Target="../media/image49.png"/><Relationship Id="rId10" Type="http://schemas.openxmlformats.org/officeDocument/2006/relationships/image" Target="../media/image15.png"/><Relationship Id="rId11" Type="http://schemas.openxmlformats.org/officeDocument/2006/relationships/image" Target="../media/image47.png"/><Relationship Id="rId12" Type="http://schemas.openxmlformats.org/officeDocument/2006/relationships/image" Target="../media/image48.png"/><Relationship Id="rId13" Type="http://schemas.openxmlformats.org/officeDocument/2006/relationships/image" Target="../media/image5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2.png"/><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pic>
        <p:nvPicPr>
          <p:cNvPr id="148" name="Google Shape;148;p1"/>
          <p:cNvPicPr preferRelativeResize="0"/>
          <p:nvPr/>
        </p:nvPicPr>
        <p:blipFill rotWithShape="1">
          <a:blip r:embed="rId3">
            <a:alphaModFix/>
          </a:blip>
          <a:srcRect b="3747" l="0" r="0" t="3738"/>
          <a:stretch/>
        </p:blipFill>
        <p:spPr>
          <a:xfrm>
            <a:off x="5628871" y="4764214"/>
            <a:ext cx="527963" cy="207109"/>
          </a:xfrm>
          <a:prstGeom prst="rect">
            <a:avLst/>
          </a:prstGeom>
          <a:noFill/>
          <a:ln>
            <a:noFill/>
          </a:ln>
        </p:spPr>
      </p:pic>
      <p:pic>
        <p:nvPicPr>
          <p:cNvPr id="149" name="Google Shape;149;p1"/>
          <p:cNvPicPr preferRelativeResize="0"/>
          <p:nvPr/>
        </p:nvPicPr>
        <p:blipFill rotWithShape="1">
          <a:blip r:embed="rId4">
            <a:alphaModFix/>
          </a:blip>
          <a:srcRect b="0" l="0" r="0" t="0"/>
          <a:stretch/>
        </p:blipFill>
        <p:spPr>
          <a:xfrm>
            <a:off x="4492492" y="4767423"/>
            <a:ext cx="1005406" cy="200690"/>
          </a:xfrm>
          <a:prstGeom prst="rect">
            <a:avLst/>
          </a:prstGeom>
          <a:noFill/>
          <a:ln>
            <a:noFill/>
          </a:ln>
        </p:spPr>
      </p:pic>
      <p:sp>
        <p:nvSpPr>
          <p:cNvPr id="150" name="Google Shape;150;p1"/>
          <p:cNvSpPr txBox="1"/>
          <p:nvPr/>
        </p:nvSpPr>
        <p:spPr>
          <a:xfrm>
            <a:off x="160663" y="4752390"/>
            <a:ext cx="1432800" cy="2307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Proudly recognised by</a:t>
            </a:r>
            <a:endParaRPr b="0" i="0" sz="800" u="none" cap="none" strike="noStrike">
              <a:solidFill>
                <a:srgbClr val="000000"/>
              </a:solidFill>
              <a:latin typeface="Montserrat"/>
              <a:ea typeface="Montserrat"/>
              <a:cs typeface="Montserrat"/>
              <a:sym typeface="Montserrat"/>
            </a:endParaRPr>
          </a:p>
        </p:txBody>
      </p:sp>
      <p:cxnSp>
        <p:nvCxnSpPr>
          <p:cNvPr id="151" name="Google Shape;151;p1"/>
          <p:cNvCxnSpPr/>
          <p:nvPr/>
        </p:nvCxnSpPr>
        <p:spPr>
          <a:xfrm>
            <a:off x="1434913" y="4877373"/>
            <a:ext cx="329100" cy="0"/>
          </a:xfrm>
          <a:prstGeom prst="straightConnector1">
            <a:avLst/>
          </a:prstGeom>
          <a:noFill/>
          <a:ln cap="flat" cmpd="sng" w="9525">
            <a:solidFill>
              <a:srgbClr val="D41883"/>
            </a:solidFill>
            <a:prstDash val="solid"/>
            <a:round/>
            <a:headEnd len="sm" w="sm" type="none"/>
            <a:tailEnd len="med" w="med" type="oval"/>
          </a:ln>
        </p:spPr>
      </p:cxnSp>
      <p:cxnSp>
        <p:nvCxnSpPr>
          <p:cNvPr id="152" name="Google Shape;152;p1"/>
          <p:cNvCxnSpPr/>
          <p:nvPr/>
        </p:nvCxnSpPr>
        <p:spPr>
          <a:xfrm>
            <a:off x="2619072"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3" name="Google Shape;153;p1"/>
          <p:cNvPicPr preferRelativeResize="0"/>
          <p:nvPr/>
        </p:nvPicPr>
        <p:blipFill rotWithShape="1">
          <a:blip r:embed="rId5">
            <a:alphaModFix/>
          </a:blip>
          <a:srcRect b="0" l="0" r="0" t="0"/>
          <a:stretch/>
        </p:blipFill>
        <p:spPr>
          <a:xfrm>
            <a:off x="3582794" y="4773820"/>
            <a:ext cx="772999" cy="207102"/>
          </a:xfrm>
          <a:prstGeom prst="rect">
            <a:avLst/>
          </a:prstGeom>
          <a:noFill/>
          <a:ln>
            <a:noFill/>
          </a:ln>
        </p:spPr>
      </p:pic>
      <p:cxnSp>
        <p:nvCxnSpPr>
          <p:cNvPr id="154" name="Google Shape;154;p1"/>
          <p:cNvCxnSpPr/>
          <p:nvPr/>
        </p:nvCxnSpPr>
        <p:spPr>
          <a:xfrm>
            <a:off x="3524628" y="4805984"/>
            <a:ext cx="0" cy="158700"/>
          </a:xfrm>
          <a:prstGeom prst="straightConnector1">
            <a:avLst/>
          </a:prstGeom>
          <a:noFill/>
          <a:ln cap="flat" cmpd="sng" w="9525">
            <a:solidFill>
              <a:srgbClr val="999999"/>
            </a:solidFill>
            <a:prstDash val="dot"/>
            <a:round/>
            <a:headEnd len="sm" w="sm" type="none"/>
            <a:tailEnd len="sm" w="sm" type="none"/>
          </a:ln>
        </p:spPr>
      </p:cxnSp>
      <p:cxnSp>
        <p:nvCxnSpPr>
          <p:cNvPr id="155" name="Google Shape;155;p1"/>
          <p:cNvCxnSpPr/>
          <p:nvPr/>
        </p:nvCxnSpPr>
        <p:spPr>
          <a:xfrm>
            <a:off x="4413966" y="4811830"/>
            <a:ext cx="0" cy="158700"/>
          </a:xfrm>
          <a:prstGeom prst="straightConnector1">
            <a:avLst/>
          </a:prstGeom>
          <a:noFill/>
          <a:ln cap="flat" cmpd="sng" w="9525">
            <a:solidFill>
              <a:srgbClr val="999999"/>
            </a:solidFill>
            <a:prstDash val="dot"/>
            <a:round/>
            <a:headEnd len="sm" w="sm" type="none"/>
            <a:tailEnd len="sm" w="sm" type="none"/>
          </a:ln>
        </p:spPr>
      </p:cxnSp>
      <p:cxnSp>
        <p:nvCxnSpPr>
          <p:cNvPr id="156" name="Google Shape;156;p1"/>
          <p:cNvCxnSpPr/>
          <p:nvPr/>
        </p:nvCxnSpPr>
        <p:spPr>
          <a:xfrm>
            <a:off x="5542956"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57" name="Google Shape;157;p1"/>
          <p:cNvPicPr preferRelativeResize="0"/>
          <p:nvPr/>
        </p:nvPicPr>
        <p:blipFill rotWithShape="1">
          <a:blip r:embed="rId6">
            <a:alphaModFix/>
          </a:blip>
          <a:srcRect b="0" l="0" r="0" t="0"/>
          <a:stretch/>
        </p:blipFill>
        <p:spPr>
          <a:xfrm>
            <a:off x="1835298" y="4767421"/>
            <a:ext cx="711135" cy="200693"/>
          </a:xfrm>
          <a:prstGeom prst="rect">
            <a:avLst/>
          </a:prstGeom>
          <a:noFill/>
          <a:ln>
            <a:noFill/>
          </a:ln>
        </p:spPr>
      </p:pic>
      <p:pic>
        <p:nvPicPr>
          <p:cNvPr id="158" name="Google Shape;158;p1"/>
          <p:cNvPicPr preferRelativeResize="0"/>
          <p:nvPr/>
        </p:nvPicPr>
        <p:blipFill rotWithShape="1">
          <a:blip r:embed="rId7">
            <a:alphaModFix/>
          </a:blip>
          <a:srcRect b="0" l="0" r="0" t="0"/>
          <a:stretch/>
        </p:blipFill>
        <p:spPr>
          <a:xfrm>
            <a:off x="2709573" y="4788445"/>
            <a:ext cx="730426" cy="158646"/>
          </a:xfrm>
          <a:prstGeom prst="rect">
            <a:avLst/>
          </a:prstGeom>
          <a:noFill/>
          <a:ln>
            <a:noFill/>
          </a:ln>
        </p:spPr>
      </p:pic>
      <p:pic>
        <p:nvPicPr>
          <p:cNvPr id="159" name="Google Shape;159;p1"/>
          <p:cNvPicPr preferRelativeResize="0"/>
          <p:nvPr/>
        </p:nvPicPr>
        <p:blipFill rotWithShape="1">
          <a:blip r:embed="rId8">
            <a:alphaModFix/>
          </a:blip>
          <a:srcRect b="0" l="0" r="0" t="0"/>
          <a:stretch/>
        </p:blipFill>
        <p:spPr>
          <a:xfrm>
            <a:off x="249975" y="246249"/>
            <a:ext cx="1145175" cy="585599"/>
          </a:xfrm>
          <a:prstGeom prst="rect">
            <a:avLst/>
          </a:prstGeom>
          <a:noFill/>
          <a:ln>
            <a:noFill/>
          </a:ln>
        </p:spPr>
      </p:pic>
      <p:sp>
        <p:nvSpPr>
          <p:cNvPr id="160" name="Google Shape;160;p1"/>
          <p:cNvSpPr txBox="1"/>
          <p:nvPr/>
        </p:nvSpPr>
        <p:spPr>
          <a:xfrm>
            <a:off x="452550" y="2096825"/>
            <a:ext cx="6849000" cy="2123700"/>
          </a:xfrm>
          <a:prstGeom prst="rect">
            <a:avLst/>
          </a:prstGeom>
          <a:noFill/>
          <a:ln>
            <a:noFill/>
          </a:ln>
        </p:spPr>
        <p:txBody>
          <a:bodyPr anchorCtr="0" anchor="t" bIns="91425" lIns="91425" spcFirstLastPara="1" rIns="91425" wrap="square" tIns="91425">
            <a:noAutofit/>
          </a:bodyPr>
          <a:lstStyle/>
          <a:p>
            <a:r>
              <a:t>TTN Proposal | MediCare Health Network</a:t>
            </a:r>
          </a:p>
          <a:p>
            <a:r>
              <a:t>Date : 11 Sep 2026</a:t>
            </a:r>
          </a:p>
          <a:p>
            <a:r>
              <a:t>Ref : TRAIN-RFP-002</a:t>
            </a:r>
          </a:p>
        </p:txBody>
      </p:sp>
      <p:cxnSp>
        <p:nvCxnSpPr>
          <p:cNvPr id="161" name="Google Shape;161;p1"/>
          <p:cNvCxnSpPr/>
          <p:nvPr/>
        </p:nvCxnSpPr>
        <p:spPr>
          <a:xfrm>
            <a:off x="300149" y="2165563"/>
            <a:ext cx="0" cy="1057800"/>
          </a:xfrm>
          <a:prstGeom prst="straightConnector1">
            <a:avLst/>
          </a:prstGeom>
          <a:noFill/>
          <a:ln cap="flat" cmpd="sng" w="76200">
            <a:solidFill>
              <a:srgbClr val="5424A0"/>
            </a:solidFill>
            <a:prstDash val="solid"/>
            <a:round/>
            <a:headEnd len="sm" w="sm" type="none"/>
            <a:tailEnd len="sm" w="sm" type="none"/>
          </a:ln>
        </p:spPr>
      </p:cxnSp>
      <p:pic>
        <p:nvPicPr>
          <p:cNvPr id="162" name="Google Shape;162;p1"/>
          <p:cNvPicPr preferRelativeResize="0"/>
          <p:nvPr/>
        </p:nvPicPr>
        <p:blipFill rotWithShape="1">
          <a:blip r:embed="rId9">
            <a:alphaModFix/>
          </a:blip>
          <a:srcRect b="3131" l="0" r="0" t="3122"/>
          <a:stretch/>
        </p:blipFill>
        <p:spPr>
          <a:xfrm>
            <a:off x="5213775" y="246250"/>
            <a:ext cx="3634284" cy="585600"/>
          </a:xfrm>
          <a:prstGeom prst="rect">
            <a:avLst/>
          </a:prstGeom>
          <a:noFill/>
          <a:ln>
            <a:noFill/>
          </a:ln>
        </p:spPr>
      </p:pic>
      <p:pic>
        <p:nvPicPr>
          <p:cNvPr id="163" name="Google Shape;163;p1"/>
          <p:cNvPicPr preferRelativeResize="0"/>
          <p:nvPr/>
        </p:nvPicPr>
        <p:blipFill rotWithShape="1">
          <a:blip r:embed="rId10">
            <a:alphaModFix/>
          </a:blip>
          <a:srcRect b="-10" l="-6921" r="-6910" t="10"/>
          <a:stretch/>
        </p:blipFill>
        <p:spPr>
          <a:xfrm>
            <a:off x="6287808" y="4668680"/>
            <a:ext cx="265774" cy="398125"/>
          </a:xfrm>
          <a:prstGeom prst="rect">
            <a:avLst/>
          </a:prstGeom>
          <a:noFill/>
          <a:ln>
            <a:noFill/>
          </a:ln>
        </p:spPr>
      </p:pic>
      <p:cxnSp>
        <p:nvCxnSpPr>
          <p:cNvPr id="164" name="Google Shape;164;p1"/>
          <p:cNvCxnSpPr/>
          <p:nvPr/>
        </p:nvCxnSpPr>
        <p:spPr>
          <a:xfrm>
            <a:off x="6204494" y="4811830"/>
            <a:ext cx="0" cy="158700"/>
          </a:xfrm>
          <a:prstGeom prst="straightConnector1">
            <a:avLst/>
          </a:prstGeom>
          <a:noFill/>
          <a:ln cap="flat" cmpd="sng" w="9525">
            <a:solidFill>
              <a:srgbClr val="999999"/>
            </a:solidFill>
            <a:prstDash val="dot"/>
            <a:round/>
            <a:headEnd len="sm" w="sm" type="none"/>
            <a:tailEnd len="sm" w="sm" type="none"/>
          </a:ln>
        </p:spPr>
      </p:cxnSp>
      <p:pic>
        <p:nvPicPr>
          <p:cNvPr id="165" name="Google Shape;165;p1"/>
          <p:cNvPicPr preferRelativeResize="0"/>
          <p:nvPr/>
        </p:nvPicPr>
        <p:blipFill rotWithShape="1">
          <a:blip r:embed="rId11">
            <a:alphaModFix/>
          </a:blip>
          <a:srcRect b="0" l="0" r="0" t="0"/>
          <a:stretch/>
        </p:blipFill>
        <p:spPr>
          <a:xfrm>
            <a:off x="1593475" y="242835"/>
            <a:ext cx="1432800" cy="59242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172" name="Google Shape;172;p2"/>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Executive Summary and Our Understanding of Project Requirements</a:t>
            </a:r>
            <a:endParaRPr b="1" i="0" sz="1200" u="none" cap="none" strike="noStrike">
              <a:solidFill>
                <a:srgbClr val="D71B7F"/>
              </a:solidFill>
              <a:latin typeface="Montserrat"/>
              <a:ea typeface="Montserrat"/>
              <a:cs typeface="Montserrat"/>
              <a:sym typeface="Montserrat"/>
            </a:endParaRPr>
          </a:p>
        </p:txBody>
      </p:sp>
      <p:sp>
        <p:nvSpPr>
          <p:cNvPr id="173" name="Google Shape;173;p2"/>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174" name="Google Shape;174;p2"/>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175" name="Google Shape;175;p2"/>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176" name="Google Shape;176;p2"/>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177" name="Google Shape;177;p2"/>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178" name="Google Shape;178;p2"/>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9" name="Google Shape;179;p2"/>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0" name="Google Shape;180;p2"/>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81" name="Google Shape;181;p2"/>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182" name="Google Shape;182;p2"/>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183" name="Google Shape;183;p2"/>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184" name="Google Shape;184;p2"/>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5" name="Google Shape;185;p2"/>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186" name="Google Shape;186;p2"/>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187" name="Google Shape;187;p2"/>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3"/>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Executive Summary</a:t>
            </a:r>
            <a:endParaRPr/>
          </a:p>
        </p:txBody>
      </p:sp>
      <p:sp>
        <p:nvSpPr>
          <p:cNvPr id="195" name="Google Shape;195;p3"/>
          <p:cNvSpPr/>
          <p:nvPr/>
        </p:nvSpPr>
        <p:spPr>
          <a:xfrm>
            <a:off x="223850" y="746325"/>
            <a:ext cx="8690100" cy="40992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121875" lIns="121875" spcFirstLastPara="1" rIns="0" wrap="square" tIns="27425">
            <a:noAutofit/>
          </a:bodyPr>
          <a:lstStyle/>
          <a:p>
            <a:r>
              <a:t>TTN proposes a secure, patient-centric digital health portal for MediCare Health Network. The solution enables appointment booking, telehealth, medical records access, and prescription management while meeting Australian healthcare privacy and My Health Record integration requirements.</a:t>
            </a:r>
          </a:p>
        </p:txBody>
      </p:sp>
      <p:cxnSp>
        <p:nvCxnSpPr>
          <p:cNvPr id="196" name="Google Shape;196;p3"/>
          <p:cNvCxnSpPr/>
          <p:nvPr/>
        </p:nvCxnSpPr>
        <p:spPr>
          <a:xfrm flipH="1">
            <a:off x="242444" y="754971"/>
            <a:ext cx="3900" cy="4102800"/>
          </a:xfrm>
          <a:prstGeom prst="straightConnector1">
            <a:avLst/>
          </a:prstGeom>
          <a:noFill/>
          <a:ln cap="flat" cmpd="sng" w="19050">
            <a:solidFill>
              <a:srgbClr val="12519C"/>
            </a:solidFill>
            <a:prstDash val="solid"/>
            <a:round/>
            <a:headEnd len="sm" w="sm" type="none"/>
            <a:tailEnd len="sm" w="sm" type="none"/>
          </a:ln>
        </p:spPr>
      </p:cxnSp>
      <p:sp>
        <p:nvSpPr>
          <p:cNvPr id="197" name="Google Shape;197;p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4"/>
          <p:cNvSpPr txBox="1"/>
          <p:nvPr>
            <p:ph type="title"/>
          </p:nvPr>
        </p:nvSpPr>
        <p:spPr>
          <a:xfrm>
            <a:off x="104500" y="141850"/>
            <a:ext cx="5994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Why TTN?</a:t>
            </a:r>
            <a:endParaRPr/>
          </a:p>
        </p:txBody>
      </p:sp>
      <p:sp>
        <p:nvSpPr>
          <p:cNvPr id="204" name="Google Shape;204;p4"/>
          <p:cNvSpPr/>
          <p:nvPr/>
        </p:nvSpPr>
        <p:spPr>
          <a:xfrm>
            <a:off x="474900" y="910600"/>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Proven UX &amp; Mobile Expertise</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We specialize in building intuitive, high-performance mobile applications with seamless user journeys - critical for customer engagement and retention.</a:t>
            </a:r>
            <a:endParaRPr b="0" i="0" sz="1100" u="none" cap="none" strike="noStrike">
              <a:solidFill>
                <a:schemeClr val="dk1"/>
              </a:solidFill>
              <a:latin typeface="Montserrat"/>
              <a:ea typeface="Montserrat"/>
              <a:cs typeface="Montserrat"/>
              <a:sym typeface="Montserrat"/>
            </a:endParaRPr>
          </a:p>
        </p:txBody>
      </p:sp>
      <p:sp>
        <p:nvSpPr>
          <p:cNvPr id="205" name="Google Shape;205;p4"/>
          <p:cNvSpPr/>
          <p:nvPr/>
        </p:nvSpPr>
        <p:spPr>
          <a:xfrm>
            <a:off x="4755004" y="910600"/>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Domain-Focused Delivery</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extensive experience in iGaming with real-time data integration, media streaming, and interactive user features aligns perfectly with your racing platform requirements.</a:t>
            </a:r>
            <a:endParaRPr b="0" i="0" sz="1100" u="none" cap="none" strike="noStrike">
              <a:solidFill>
                <a:schemeClr val="dk1"/>
              </a:solidFill>
              <a:latin typeface="Montserrat"/>
              <a:ea typeface="Montserrat"/>
              <a:cs typeface="Montserrat"/>
              <a:sym typeface="Montserrat"/>
            </a:endParaRPr>
          </a:p>
        </p:txBody>
      </p:sp>
      <p:sp>
        <p:nvSpPr>
          <p:cNvPr id="206" name="Google Shape;206;p4"/>
          <p:cNvSpPr/>
          <p:nvPr/>
        </p:nvSpPr>
        <p:spPr>
          <a:xfrm>
            <a:off x="474900" y="2900036"/>
            <a:ext cx="3914100" cy="1666500"/>
          </a:xfrm>
          <a:prstGeom prst="snip1Rect">
            <a:avLst>
              <a:gd fmla="val 16667" name="adj"/>
            </a:avLst>
          </a:prstGeom>
          <a:noFill/>
          <a:ln cap="flat" cmpd="sng" w="9525">
            <a:solidFill>
              <a:schemeClr val="accen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End-to-End Ownership</a:t>
            </a:r>
            <a:r>
              <a:rPr b="0" i="0" lang="en" sz="1100" u="none" cap="none" strike="noStrike">
                <a:solidFill>
                  <a:schemeClr val="dk1"/>
                </a:solidFill>
                <a:latin typeface="Montserrat"/>
                <a:ea typeface="Montserrat"/>
                <a:cs typeface="Montserrat"/>
                <a:sym typeface="Montserrat"/>
              </a:rPr>
              <a:t> </a:t>
            </a:r>
            <a:endParaRPr b="0"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From design and development to deployment and support, we provide full-cycle mobile app services- ensuring speed, quality, and continuity.</a:t>
            </a:r>
            <a:endParaRPr b="0" i="0" sz="1100" u="none" cap="none" strike="noStrike">
              <a:solidFill>
                <a:schemeClr val="dk1"/>
              </a:solidFill>
              <a:latin typeface="Montserrat"/>
              <a:ea typeface="Montserrat"/>
              <a:cs typeface="Montserrat"/>
              <a:sym typeface="Montserrat"/>
            </a:endParaRPr>
          </a:p>
        </p:txBody>
      </p:sp>
      <p:sp>
        <p:nvSpPr>
          <p:cNvPr id="207" name="Google Shape;207;p4"/>
          <p:cNvSpPr/>
          <p:nvPr/>
        </p:nvSpPr>
        <p:spPr>
          <a:xfrm>
            <a:off x="4755004" y="2900036"/>
            <a:ext cx="3914100" cy="1666500"/>
          </a:xfrm>
          <a:prstGeom prst="snip1Rect">
            <a:avLst>
              <a:gd fmla="val 16667" name="adj"/>
            </a:avLst>
          </a:prstGeom>
          <a:noFill/>
          <a:ln cap="flat" cmpd="sng" w="9525">
            <a:solidFill>
              <a:schemeClr val="accent2"/>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100"/>
              <a:buFont typeface="Arial"/>
              <a:buNone/>
            </a:pPr>
            <a:r>
              <a:rPr b="1" i="0" lang="en" sz="1100" u="none" cap="none" strike="noStrike">
                <a:solidFill>
                  <a:schemeClr val="dk1"/>
                </a:solidFill>
                <a:latin typeface="Montserrat"/>
                <a:ea typeface="Montserrat"/>
                <a:cs typeface="Montserrat"/>
                <a:sym typeface="Montserrat"/>
              </a:rPr>
              <a:t>Scalable Architecture</a:t>
            </a:r>
            <a:endParaRPr b="1" i="0" sz="1100" u="none" cap="none" strike="noStrike">
              <a:solidFill>
                <a:schemeClr val="dk1"/>
              </a:solidFill>
              <a:latin typeface="Montserrat"/>
              <a:ea typeface="Montserrat"/>
              <a:cs typeface="Montserrat"/>
              <a:sym typeface="Montserrat"/>
            </a:endParaRPr>
          </a:p>
          <a:p>
            <a:pPr indent="0" lvl="0" marL="0" marR="0" rtl="0" algn="ctr">
              <a:lnSpc>
                <a:spcPct val="150000"/>
              </a:lnSpc>
              <a:spcBef>
                <a:spcPts val="1000"/>
              </a:spcBef>
              <a:spcAft>
                <a:spcPts val="1000"/>
              </a:spcAft>
              <a:buClr>
                <a:srgbClr val="000000"/>
              </a:buClr>
              <a:buSzPts val="1100"/>
              <a:buFont typeface="Arial"/>
              <a:buNone/>
            </a:pPr>
            <a:r>
              <a:rPr b="0" i="0" lang="en" sz="1100" u="none" cap="none" strike="noStrike">
                <a:solidFill>
                  <a:schemeClr val="dk1"/>
                </a:solidFill>
                <a:latin typeface="Montserrat"/>
                <a:ea typeface="Montserrat"/>
                <a:cs typeface="Montserrat"/>
                <a:sym typeface="Montserrat"/>
              </a:rPr>
              <a:t>Our solutions are designed to grow with your user base, ensuring performance and reliability under peak traffic conditions</a:t>
            </a:r>
            <a:endParaRPr b="0" i="0" sz="1100" u="none" cap="none" strike="noStrike">
              <a:solidFill>
                <a:schemeClr val="dk1"/>
              </a:solidFill>
              <a:latin typeface="Montserrat"/>
              <a:ea typeface="Montserrat"/>
              <a:cs typeface="Montserrat"/>
              <a:sym typeface="Montserrat"/>
            </a:endParaRPr>
          </a:p>
        </p:txBody>
      </p:sp>
      <p:sp>
        <p:nvSpPr>
          <p:cNvPr id="208" name="Google Shape;208;p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5"/>
          <p:cNvSpPr/>
          <p:nvPr/>
        </p:nvSpPr>
        <p:spPr>
          <a:xfrm>
            <a:off x="223850" y="640050"/>
            <a:ext cx="8690100" cy="40956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214" name="Google Shape;214;p5"/>
          <p:cNvCxnSpPr/>
          <p:nvPr/>
        </p:nvCxnSpPr>
        <p:spPr>
          <a:xfrm>
            <a:off x="246344" y="650407"/>
            <a:ext cx="0" cy="4095600"/>
          </a:xfrm>
          <a:prstGeom prst="straightConnector1">
            <a:avLst/>
          </a:prstGeom>
          <a:noFill/>
          <a:ln cap="flat" cmpd="sng" w="19050">
            <a:solidFill>
              <a:srgbClr val="12519C"/>
            </a:solidFill>
            <a:prstDash val="solid"/>
            <a:round/>
            <a:headEnd len="sm" w="sm" type="none"/>
            <a:tailEnd len="sm" w="sm" type="none"/>
          </a:ln>
        </p:spPr>
      </p:cxnSp>
      <p:sp>
        <p:nvSpPr>
          <p:cNvPr id="215" name="Google Shape;215;p5"/>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Our Understanding of Requirements</a:t>
            </a:r>
            <a:endParaRPr/>
          </a:p>
        </p:txBody>
      </p:sp>
      <p:sp>
        <p:nvSpPr>
          <p:cNvPr id="216" name="Google Shape;216;p5"/>
          <p:cNvSpPr txBox="1"/>
          <p:nvPr/>
        </p:nvSpPr>
        <p:spPr>
          <a:xfrm>
            <a:off x="258325" y="782225"/>
            <a:ext cx="8127900" cy="3924900"/>
          </a:xfrm>
          <a:prstGeom prst="rect">
            <a:avLst/>
          </a:prstGeom>
          <a:noFill/>
          <a:ln>
            <a:noFill/>
          </a:ln>
        </p:spPr>
        <p:txBody>
          <a:bodyPr anchorCtr="0" anchor="t" bIns="91425" lIns="91425" spcFirstLastPara="1" rIns="91425" wrap="square" tIns="91425">
            <a:spAutoFit/>
          </a:bodyPr>
          <a:lstStyle/>
          <a:p>
            <a:r>
              <a:t>Patient registration with identity verification and MFA login.</a:t>
            </a:r>
          </a:p>
          <a:p>
            <a:pPr/>
            <a:r>
              <a:t>Online appointment scheduling across 45 clinic locations.</a:t>
            </a:r>
          </a:p>
          <a:p>
            <a:pPr/>
            <a:r>
              <a:t>Secure messaging between patients and care teams.</a:t>
            </a:r>
          </a:p>
          <a:p>
            <a:pPr/>
            <a:r>
              <a:t>View lab results, discharge summaries, and immunisation history.</a:t>
            </a:r>
          </a:p>
          <a:p>
            <a:pPr/>
            <a:r>
              <a:t>Telehealth video consultations with calendar integration.</a:t>
            </a:r>
          </a:p>
          <a:p>
            <a:pPr/>
            <a:r>
              <a:t>My Health Record (MHR) consent-based document upload and retrieval.</a:t>
            </a:r>
          </a:p>
        </p:txBody>
      </p:sp>
      <p:sp>
        <p:nvSpPr>
          <p:cNvPr id="217" name="Google Shape;217;p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18" name="Google Shape;218;p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6"/>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Application Modules </a:t>
            </a:r>
            <a:endParaRPr>
              <a:solidFill>
                <a:schemeClr val="dk1"/>
              </a:solidFill>
            </a:endParaRPr>
          </a:p>
        </p:txBody>
      </p:sp>
      <p:sp>
        <p:nvSpPr>
          <p:cNvPr id="224" name="Google Shape;224;p6"/>
          <p:cNvSpPr/>
          <p:nvPr/>
        </p:nvSpPr>
        <p:spPr>
          <a:xfrm>
            <a:off x="3204902"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Races &amp; Profiles </a:t>
            </a:r>
            <a:endParaRPr b="0" i="0" sz="11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Filter, Past and Upcoming Races</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277E"/>
              </a:buClr>
              <a:buSzPts val="900"/>
              <a:buFont typeface="Montserrat"/>
              <a:buChar char="●"/>
            </a:pPr>
            <a:r>
              <a:rPr b="0" i="0" lang="en" sz="900" u="none" cap="none" strike="noStrike">
                <a:solidFill>
                  <a:srgbClr val="000000"/>
                </a:solidFill>
                <a:latin typeface="Montserrat"/>
                <a:ea typeface="Montserrat"/>
                <a:cs typeface="Montserrat"/>
                <a:sym typeface="Montserrat"/>
              </a:rPr>
              <a:t>Search and View Profile Pages for Tracks, Jockeys, Trainers, and Runners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9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sp>
        <p:nvSpPr>
          <p:cNvPr id="225" name="Google Shape;225;p6"/>
          <p:cNvSpPr/>
          <p:nvPr/>
        </p:nvSpPr>
        <p:spPr>
          <a:xfrm>
            <a:off x="299125" y="70623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User Access &amp; Account Management</a:t>
            </a:r>
            <a:r>
              <a:rPr b="0" i="0" lang="en" sz="1100" u="none" cap="none" strike="noStrike">
                <a:solidFill>
                  <a:srgbClr val="6F3A93"/>
                </a:solidFill>
                <a:latin typeface="Montserrat SemiBold"/>
                <a:ea typeface="Montserrat SemiBold"/>
                <a:cs typeface="Montserrat SemiBold"/>
                <a:sym typeface="Montserrat SemiBold"/>
              </a:rPr>
              <a:t> </a:t>
            </a:r>
            <a:endParaRPr b="0" i="0" sz="1400" u="none" cap="none" strike="noStrike">
              <a:solidFill>
                <a:srgbClr val="6F3A9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Registration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User Login</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Forgot Password</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Account Details </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Add Jockeys and Trainers  to Blackbook</a:t>
            </a:r>
            <a:endParaRPr b="0" i="0" sz="900" u="none" cap="none" strike="noStrike">
              <a:solidFill>
                <a:srgbClr val="000000"/>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41883"/>
              </a:buClr>
              <a:buSzPts val="900"/>
              <a:buFont typeface="Montserrat"/>
              <a:buChar char="●"/>
            </a:pPr>
            <a:r>
              <a:rPr b="0" i="0" lang="en" sz="900" u="none" cap="none" strike="noStrike">
                <a:solidFill>
                  <a:srgbClr val="000000"/>
                </a:solidFill>
                <a:latin typeface="Montserrat"/>
                <a:ea typeface="Montserrat"/>
                <a:cs typeface="Montserrat"/>
                <a:sym typeface="Montserrat"/>
              </a:rPr>
              <a:t>Show Blackbook Activities</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900" u="none" cap="none" strike="noStrike">
              <a:solidFill>
                <a:srgbClr val="000000"/>
              </a:solidFill>
              <a:latin typeface="Montserrat"/>
              <a:ea typeface="Montserrat"/>
              <a:cs typeface="Montserrat"/>
              <a:sym typeface="Montserrat"/>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6" name="Google Shape;226;p6"/>
          <p:cNvCxnSpPr/>
          <p:nvPr/>
        </p:nvCxnSpPr>
        <p:spPr>
          <a:xfrm>
            <a:off x="299130" y="706238"/>
            <a:ext cx="0" cy="2007300"/>
          </a:xfrm>
          <a:prstGeom prst="straightConnector1">
            <a:avLst/>
          </a:prstGeom>
          <a:noFill/>
          <a:ln cap="flat" cmpd="sng" w="19050">
            <a:solidFill>
              <a:srgbClr val="12519C"/>
            </a:solidFill>
            <a:prstDash val="solid"/>
            <a:round/>
            <a:headEnd len="sm" w="sm" type="none"/>
            <a:tailEnd len="sm" w="sm" type="none"/>
          </a:ln>
        </p:spPr>
      </p:cxnSp>
      <p:cxnSp>
        <p:nvCxnSpPr>
          <p:cNvPr id="227" name="Google Shape;227;p6"/>
          <p:cNvCxnSpPr/>
          <p:nvPr/>
        </p:nvCxnSpPr>
        <p:spPr>
          <a:xfrm>
            <a:off x="3204907" y="706238"/>
            <a:ext cx="0" cy="2007300"/>
          </a:xfrm>
          <a:prstGeom prst="straightConnector1">
            <a:avLst/>
          </a:prstGeom>
          <a:noFill/>
          <a:ln cap="flat" cmpd="sng" w="19050">
            <a:solidFill>
              <a:srgbClr val="12519C"/>
            </a:solidFill>
            <a:prstDash val="solid"/>
            <a:round/>
            <a:headEnd len="sm" w="sm" type="none"/>
            <a:tailEnd len="sm" w="sm" type="none"/>
          </a:ln>
        </p:spPr>
      </p:cxnSp>
      <p:sp>
        <p:nvSpPr>
          <p:cNvPr id="228" name="Google Shape;228;p6"/>
          <p:cNvSpPr/>
          <p:nvPr/>
        </p:nvSpPr>
        <p:spPr>
          <a:xfrm>
            <a:off x="6110675" y="70492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rgbClr val="6F3A93"/>
                </a:solidFill>
                <a:latin typeface="Montserrat SemiBold"/>
                <a:ea typeface="Montserrat SemiBold"/>
                <a:cs typeface="Montserrat SemiBold"/>
                <a:sym typeface="Montserrat SemiBold"/>
              </a:rPr>
              <a:t>Race</a:t>
            </a:r>
            <a:r>
              <a:rPr b="0" i="0" lang="en" sz="1000" u="none" cap="none" strike="noStrike">
                <a:solidFill>
                  <a:schemeClr val="accent3"/>
                </a:solidFill>
                <a:latin typeface="Montserrat SemiBold"/>
                <a:ea typeface="Montserrat SemiBold"/>
                <a:cs typeface="Montserrat SemiBold"/>
                <a:sym typeface="Montserrat SemiBold"/>
              </a:rPr>
              <a:t> Calendar &amp; Planner</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Race Details  for Upcoming and Past Races using the Race Calendar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Filter and Export Race Details using Race Planner</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29" name="Google Shape;229;p6"/>
          <p:cNvCxnSpPr/>
          <p:nvPr/>
        </p:nvCxnSpPr>
        <p:spPr>
          <a:xfrm>
            <a:off x="6110681" y="704925"/>
            <a:ext cx="0" cy="2007300"/>
          </a:xfrm>
          <a:prstGeom prst="straightConnector1">
            <a:avLst/>
          </a:prstGeom>
          <a:noFill/>
          <a:ln cap="flat" cmpd="sng" w="19050">
            <a:solidFill>
              <a:srgbClr val="12519C"/>
            </a:solidFill>
            <a:prstDash val="solid"/>
            <a:round/>
            <a:headEnd len="sm" w="sm" type="none"/>
            <a:tailEnd len="sm" w="sm" type="none"/>
          </a:ln>
        </p:spPr>
      </p:cxnSp>
      <p:sp>
        <p:nvSpPr>
          <p:cNvPr id="230" name="Google Shape;230;p6"/>
          <p:cNvSpPr/>
          <p:nvPr/>
        </p:nvSpPr>
        <p:spPr>
          <a:xfrm>
            <a:off x="299125"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Races, Results &amp; </a:t>
            </a:r>
            <a:r>
              <a:rPr b="0" i="0" lang="en" sz="1000" u="none" cap="none" strike="noStrike">
                <a:solidFill>
                  <a:srgbClr val="6F3A93"/>
                </a:solidFill>
                <a:latin typeface="Montserrat SemiBold"/>
                <a:ea typeface="Montserrat SemiBold"/>
                <a:cs typeface="Montserrat SemiBold"/>
                <a:sym typeface="Montserrat SemiBold"/>
              </a:rPr>
              <a:t>Replays</a:t>
            </a:r>
            <a:r>
              <a:rPr b="0" i="0" lang="en" sz="1000" u="none" cap="none" strike="noStrike">
                <a:solidFill>
                  <a:schemeClr val="accent3"/>
                </a:solidFill>
                <a:latin typeface="Montserrat SemiBold"/>
                <a:ea typeface="Montserrat SemiBold"/>
                <a:cs typeface="Montserrat SemiBold"/>
                <a:sym typeface="Montserrat SemiBold"/>
              </a:rPr>
              <a:t>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Stream Races and Replay Feeds in-app  from Betting Partners.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Redirect to Queensland Non-TAB Racing  YouTube channel to Stream Replay Feeds from other sources..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Show Real-Time Race Results.</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View and Download Steward and Sectional Reports.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1" name="Google Shape;231;p6"/>
          <p:cNvCxnSpPr/>
          <p:nvPr/>
        </p:nvCxnSpPr>
        <p:spPr>
          <a:xfrm>
            <a:off x="299130"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2" name="Google Shape;232;p6"/>
          <p:cNvSpPr/>
          <p:nvPr/>
        </p:nvSpPr>
        <p:spPr>
          <a:xfrm>
            <a:off x="3204902" y="2942679"/>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r>
              <a:t>React Native mobile app and responsive web portal on Azure.</a:t>
            </a:r>
          </a:p>
          <a:p>
            <a:pPr/>
            <a:r>
              <a:t>FHIR R4 APIs for clinical data exchange with existing EMR (Cerner).</a:t>
            </a:r>
          </a:p>
          <a:p>
            <a:pPr/>
            <a:r>
              <a:t>Azure AD B2C for patient identity with passwordless OTP option.</a:t>
            </a:r>
          </a:p>
          <a:p>
            <a:pPr/>
            <a:r>
              <a:t>Twilio Video for HIPAA-compliant telehealth sessions.</a:t>
            </a:r>
          </a:p>
          <a:p>
            <a:pPr/>
            <a:r>
              <a:t>Notification service for SMS/email reminders via MessageMedia.</a:t>
            </a:r>
          </a:p>
        </p:txBody>
      </p:sp>
      <p:cxnSp>
        <p:nvCxnSpPr>
          <p:cNvPr id="233" name="Google Shape;233;p6"/>
          <p:cNvCxnSpPr/>
          <p:nvPr/>
        </p:nvCxnSpPr>
        <p:spPr>
          <a:xfrm>
            <a:off x="3204907" y="2942678"/>
            <a:ext cx="0" cy="2007300"/>
          </a:xfrm>
          <a:prstGeom prst="straightConnector1">
            <a:avLst/>
          </a:prstGeom>
          <a:noFill/>
          <a:ln cap="flat" cmpd="sng" w="19050">
            <a:solidFill>
              <a:srgbClr val="12519C"/>
            </a:solidFill>
            <a:prstDash val="solid"/>
            <a:round/>
            <a:headEnd len="sm" w="sm" type="none"/>
            <a:tailEnd len="sm" w="sm" type="none"/>
          </a:ln>
        </p:spPr>
      </p:cxnSp>
      <p:sp>
        <p:nvSpPr>
          <p:cNvPr id="234" name="Google Shape;234;p6"/>
          <p:cNvSpPr/>
          <p:nvPr/>
        </p:nvSpPr>
        <p:spPr>
          <a:xfrm>
            <a:off x="6110675" y="2941366"/>
            <a:ext cx="2734200" cy="20088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 sz="1000" u="none" cap="none" strike="noStrike">
                <a:solidFill>
                  <a:schemeClr val="accent3"/>
                </a:solidFill>
                <a:latin typeface="Montserrat SemiBold"/>
                <a:ea typeface="Montserrat SemiBold"/>
                <a:cs typeface="Montserrat SemiBold"/>
                <a:sym typeface="Montserrat SemiBold"/>
              </a:rPr>
              <a:t>News</a:t>
            </a:r>
            <a:r>
              <a:rPr b="0" i="0" lang="en" sz="1000" u="none" cap="none" strike="noStrike">
                <a:solidFill>
                  <a:srgbClr val="6F3A93"/>
                </a:solidFill>
                <a:latin typeface="Montserrat SemiBold"/>
                <a:ea typeface="Montserrat SemiBold"/>
                <a:cs typeface="Montserrat SemiBold"/>
                <a:sym typeface="Montserrat SemiBold"/>
              </a:rPr>
              <a:t> </a:t>
            </a:r>
            <a:r>
              <a:rPr b="0" i="0" lang="en" sz="1000" u="none" cap="none" strike="noStrike">
                <a:solidFill>
                  <a:schemeClr val="accent3"/>
                </a:solidFill>
                <a:latin typeface="Montserrat SemiBold"/>
                <a:ea typeface="Montserrat SemiBold"/>
                <a:cs typeface="Montserrat SemiBold"/>
                <a:sym typeface="Montserrat SemiBold"/>
              </a:rPr>
              <a:t>&amp; Notifications </a:t>
            </a:r>
            <a:endParaRPr b="0" i="0" sz="1000" u="none" cap="none" strike="noStrike">
              <a:solidFill>
                <a:schemeClr val="accent3"/>
              </a:solidFill>
              <a:latin typeface="Montserrat SemiBold"/>
              <a:ea typeface="Montserrat SemiBold"/>
              <a:cs typeface="Montserrat SemiBold"/>
              <a:sym typeface="Montserrat SemiBold"/>
            </a:endParaRPr>
          </a:p>
          <a:p>
            <a:pPr indent="-222250" lvl="0" marL="342900" marR="0" rtl="0" algn="l">
              <a:lnSpc>
                <a:spcPct val="100000"/>
              </a:lnSpc>
              <a:spcBef>
                <a:spcPts val="100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Racing News Items </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Search and View Business Awareness pages such as Ownership, Career &amp; Training, Infrastructure, Open API details etc.</a:t>
            </a:r>
            <a:endParaRPr b="0" i="0" sz="900" u="none" cap="none" strike="noStrike">
              <a:solidFill>
                <a:schemeClr val="dk1"/>
              </a:solidFill>
              <a:latin typeface="Montserrat"/>
              <a:ea typeface="Montserrat"/>
              <a:cs typeface="Montserrat"/>
              <a:sym typeface="Montserrat"/>
            </a:endParaRPr>
          </a:p>
          <a:p>
            <a:pPr indent="-222250" lvl="0" marL="342900" marR="0" rtl="0" algn="l">
              <a:lnSpc>
                <a:spcPct val="100000"/>
              </a:lnSpc>
              <a:spcBef>
                <a:spcPts val="0"/>
              </a:spcBef>
              <a:spcAft>
                <a:spcPts val="0"/>
              </a:spcAft>
              <a:buClr>
                <a:srgbClr val="D9167F"/>
              </a:buClr>
              <a:buSzPts val="900"/>
              <a:buFont typeface="Montserrat"/>
              <a:buChar char="●"/>
            </a:pPr>
            <a:r>
              <a:rPr b="0" i="0" lang="en" sz="900" u="none" cap="none" strike="noStrike">
                <a:solidFill>
                  <a:schemeClr val="dk1"/>
                </a:solidFill>
                <a:latin typeface="Montserrat"/>
                <a:ea typeface="Montserrat"/>
                <a:cs typeface="Montserrat"/>
                <a:sym typeface="Montserrat"/>
              </a:rPr>
              <a:t>Get Push Notifications for Race Alerts &amp; Updates.</a:t>
            </a:r>
            <a:endParaRPr b="0" i="0" sz="9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000" u="none" cap="none" strike="noStrike">
              <a:solidFill>
                <a:schemeClr val="dk1"/>
              </a:solidFill>
              <a:latin typeface="Montserrat"/>
              <a:ea typeface="Montserrat"/>
              <a:cs typeface="Montserrat"/>
              <a:sym typeface="Montserrat"/>
            </a:endParaRPr>
          </a:p>
          <a:p>
            <a:pPr indent="0" lvl="0" marL="34290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0" marR="0" rtl="0" algn="l">
              <a:lnSpc>
                <a:spcPct val="100000"/>
              </a:lnSpc>
              <a:spcBef>
                <a:spcPts val="0"/>
              </a:spcBef>
              <a:spcAft>
                <a:spcPts val="0"/>
              </a:spcAft>
              <a:buClr>
                <a:schemeClr val="dk1"/>
              </a:buClr>
              <a:buSzPts val="1100"/>
              <a:buFont typeface="Arial"/>
              <a:buNone/>
            </a:pPr>
            <a:r>
              <a:t/>
            </a:r>
            <a:endParaRPr b="0" i="0" sz="1100" u="none" cap="none" strike="noStrike">
              <a:solidFill>
                <a:schemeClr val="accent3"/>
              </a:solidFill>
              <a:latin typeface="Montserrat SemiBold"/>
              <a:ea typeface="Montserrat SemiBold"/>
              <a:cs typeface="Montserrat SemiBold"/>
              <a:sym typeface="Montserrat SemiBold"/>
            </a:endParaRPr>
          </a:p>
          <a:p>
            <a:pPr indent="0" lvl="0" marL="34290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6F3A93"/>
              </a:solidFill>
              <a:latin typeface="Montserrat SemiBold"/>
              <a:ea typeface="Montserrat SemiBold"/>
              <a:cs typeface="Montserrat SemiBold"/>
              <a:sym typeface="Montserrat SemiBold"/>
            </a:endParaRPr>
          </a:p>
        </p:txBody>
      </p:sp>
      <p:cxnSp>
        <p:nvCxnSpPr>
          <p:cNvPr id="235" name="Google Shape;235;p6"/>
          <p:cNvCxnSpPr/>
          <p:nvPr/>
        </p:nvCxnSpPr>
        <p:spPr>
          <a:xfrm>
            <a:off x="6110681" y="2941365"/>
            <a:ext cx="0" cy="2007300"/>
          </a:xfrm>
          <a:prstGeom prst="straightConnector1">
            <a:avLst/>
          </a:prstGeom>
          <a:noFill/>
          <a:ln cap="flat" cmpd="sng" w="19050">
            <a:solidFill>
              <a:srgbClr val="12519C"/>
            </a:solidFill>
            <a:prstDash val="solid"/>
            <a:round/>
            <a:headEnd len="sm" w="sm" type="none"/>
            <a:tailEnd len="sm" w="sm" type="none"/>
          </a:ln>
        </p:spPr>
      </p:cxnSp>
      <p:sp>
        <p:nvSpPr>
          <p:cNvPr id="236" name="Google Shape;236;p6"/>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7"/>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42" name="Google Shape;242;p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43" name="Google Shape;243;p7"/>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Zero-trust network architecture with private endpoints for all PaaS services.</a:t>
            </a:r>
          </a:p>
          <a:p>
            <a:pPr/>
            <a:r>
              <a:t>FHIR server (HAPI) as integration hub between portal and Cerner EMR.</a:t>
            </a:r>
          </a:p>
          <a:p>
            <a:pPr/>
            <a:r>
              <a:t>Immutable audit logs stored in Azure Log Analytics for 7 years.</a:t>
            </a:r>
          </a:p>
          <a:p>
            <a:pPr/>
            <a:r>
              <a:t>Automated CI/CD with SAST/DAST gates in Azure DevOps pipelines.</a:t>
            </a:r>
          </a:p>
          <a:p>
            <a:pPr/>
            <a:r>
              <a:t>Disaster recovery with geo-redundant storage and 4-hour RTO target.</a:t>
            </a:r>
          </a:p>
        </p:txBody>
      </p:sp>
      <p:cxnSp>
        <p:nvCxnSpPr>
          <p:cNvPr id="244" name="Google Shape;244;p7"/>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45" name="Google Shape;245;p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8"/>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Non Functional Requirements</a:t>
            </a:r>
            <a:endParaRPr>
              <a:solidFill>
                <a:schemeClr val="dk1"/>
              </a:solidFill>
            </a:endParaRPr>
          </a:p>
        </p:txBody>
      </p:sp>
      <p:sp>
        <p:nvSpPr>
          <p:cNvPr id="251" name="Google Shape;251;p8"/>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800"/>
              <a:buNone/>
            </a:pPr>
            <a:fld id="{00000000-1234-1234-1234-123412341234}" type="slidenum">
              <a:rPr lang="en" sz="800"/>
              <a:t>‹#›</a:t>
            </a:fld>
            <a:endParaRPr sz="800"/>
          </a:p>
        </p:txBody>
      </p:sp>
      <p:sp>
        <p:nvSpPr>
          <p:cNvPr id="252" name="Google Shape;252;p8"/>
          <p:cNvSpPr/>
          <p:nvPr/>
        </p:nvSpPr>
        <p:spPr>
          <a:xfrm>
            <a:off x="347850" y="904575"/>
            <a:ext cx="8442300" cy="3878700"/>
          </a:xfrm>
          <a:prstGeom prst="snip1Rect">
            <a:avLst>
              <a:gd fmla="val 12360"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91425" spcFirstLastPara="1" rIns="91425" wrap="square" tIns="0">
            <a:noAutofit/>
          </a:bodyPr>
          <a:lstStyle/>
          <a:p>
            <a:r>
              <a:t>Compliance with Australian Privacy Principles (APPs) and ISM Essential Eight.</a:t>
            </a:r>
          </a:p>
          <a:p>
            <a:pPr/>
            <a:r>
              <a:t>All PHI encrypted at rest (AES-256) and in transit (TLS 1.3).</a:t>
            </a:r>
          </a:p>
          <a:p>
            <a:pPr/>
            <a:r>
              <a:t>Role-based access control with break-glass procedures for emergencies.</a:t>
            </a:r>
          </a:p>
          <a:p>
            <a:pPr/>
            <a:r>
              <a:t>Annual IRAP assessment pathway aligned with MediCare security policy.</a:t>
            </a:r>
          </a:p>
          <a:p>
            <a:pPr/>
            <a:r>
              <a:t>Patient consent management for data sharing and MHR integration.</a:t>
            </a:r>
          </a:p>
        </p:txBody>
      </p:sp>
      <p:cxnSp>
        <p:nvCxnSpPr>
          <p:cNvPr id="253" name="Google Shape;253;p8"/>
          <p:cNvCxnSpPr/>
          <p:nvPr/>
        </p:nvCxnSpPr>
        <p:spPr>
          <a:xfrm>
            <a:off x="353817" y="911950"/>
            <a:ext cx="14400" cy="3842100"/>
          </a:xfrm>
          <a:prstGeom prst="straightConnector1">
            <a:avLst/>
          </a:prstGeom>
          <a:noFill/>
          <a:ln cap="flat" cmpd="sng" w="19050">
            <a:solidFill>
              <a:srgbClr val="12519C"/>
            </a:solidFill>
            <a:prstDash val="solid"/>
            <a:round/>
            <a:headEnd len="sm" w="sm" type="none"/>
            <a:tailEnd len="sm" w="sm" type="none"/>
          </a:ln>
        </p:spPr>
      </p:cxnSp>
      <p:sp>
        <p:nvSpPr>
          <p:cNvPr id="254" name="Google Shape;254;p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228600" lvl="0" marL="342900" marR="0" rtl="0" algn="l">
              <a:lnSpc>
                <a:spcPct val="200000"/>
              </a:lnSpc>
              <a:spcBef>
                <a:spcPts val="0"/>
              </a:spcBef>
              <a:spcAft>
                <a:spcPts val="0"/>
              </a:spcAft>
              <a:buClr>
                <a:srgbClr val="E7E6E6"/>
              </a:buClr>
              <a:buSzPts val="1000"/>
              <a:buFont typeface="Montserrat"/>
              <a:buChar char="●"/>
            </a:pPr>
            <a:fld id="{00000000-1234-1234-1234-123412341234}" type="slidenum">
              <a:rPr lang="en" sz="1000"/>
              <a:t>‹#›</a:t>
            </a:fld>
            <a:endParaRPr sz="1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9"/>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0" name="Google Shape;260;p9"/>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Key Assumptions and Dependencies</a:t>
            </a:r>
            <a:endParaRPr/>
          </a:p>
        </p:txBody>
      </p:sp>
      <p:sp>
        <p:nvSpPr>
          <p:cNvPr id="261" name="Google Shape;261;p9"/>
          <p:cNvSpPr/>
          <p:nvPr/>
        </p:nvSpPr>
        <p:spPr>
          <a:xfrm>
            <a:off x="223850" y="746325"/>
            <a:ext cx="8690100" cy="40035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121875" lIns="121875" spcFirstLastPara="1" rIns="121875" wrap="square" tIns="27425">
            <a:noAutofit/>
          </a:bodyPr>
          <a:lstStyle/>
          <a:p>
            <a:r>
              <a:t>Cerner FHIR API sandbox available within 3 weeks of project start.</a:t>
            </a:r>
          </a:p>
          <a:p>
            <a:pPr/>
            <a:r>
              <a:t>MediCare provides clinical workflow SMEs for fortnightly workshops.</a:t>
            </a:r>
          </a:p>
          <a:p>
            <a:pPr/>
            <a:r>
              <a:t>MHR integration subject to ADHA conformance testing timelines.</a:t>
            </a:r>
          </a:p>
          <a:p>
            <a:pPr/>
            <a:r>
              <a:t>Content localisation limited to English for initial release.</a:t>
            </a:r>
          </a:p>
          <a:p>
            <a:pPr/>
            <a:r>
              <a:t>Training for 200 clinic staff included in scope.</a:t>
            </a:r>
          </a:p>
        </p:txBody>
      </p:sp>
      <p:cxnSp>
        <p:nvCxnSpPr>
          <p:cNvPr id="262" name="Google Shape;262;p9"/>
          <p:cNvCxnSpPr/>
          <p:nvPr/>
        </p:nvCxnSpPr>
        <p:spPr>
          <a:xfrm flipH="1">
            <a:off x="243425" y="736325"/>
            <a:ext cx="10200" cy="3997800"/>
          </a:xfrm>
          <a:prstGeom prst="straightConnector1">
            <a:avLst/>
          </a:prstGeom>
          <a:noFill/>
          <a:ln cap="flat" cmpd="sng" w="19050">
            <a:solidFill>
              <a:srgbClr val="12519C"/>
            </a:solidFill>
            <a:prstDash val="solid"/>
            <a:round/>
            <a:headEnd len="sm" w="sm" type="none"/>
            <a:tailEnd len="sm" w="sm" type="none"/>
          </a:ln>
        </p:spPr>
      </p:cxnSp>
      <p:sp>
        <p:nvSpPr>
          <p:cNvPr id="263" name="Google Shape;263;p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10"/>
          <p:cNvSpPr txBox="1"/>
          <p:nvPr>
            <p:ph type="title"/>
          </p:nvPr>
        </p:nvSpPr>
        <p:spPr>
          <a:xfrm>
            <a:off x="104500" y="141850"/>
            <a:ext cx="7426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In Scope and Out of Scope</a:t>
            </a:r>
            <a:endParaRPr/>
          </a:p>
        </p:txBody>
      </p:sp>
      <p:sp>
        <p:nvSpPr>
          <p:cNvPr id="270" name="Google Shape;270;p10"/>
          <p:cNvSpPr/>
          <p:nvPr/>
        </p:nvSpPr>
        <p:spPr>
          <a:xfrm>
            <a:off x="396575" y="1028850"/>
            <a:ext cx="4084800" cy="3675900"/>
          </a:xfrm>
          <a:prstGeom prst="snip1Rect">
            <a:avLst>
              <a:gd fmla="val 7022"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1" name="Google Shape;271;p10"/>
          <p:cNvSpPr/>
          <p:nvPr/>
        </p:nvSpPr>
        <p:spPr>
          <a:xfrm>
            <a:off x="400818" y="898163"/>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In Scope</a:t>
            </a:r>
            <a:endParaRPr b="1" i="0" sz="1100" u="none" cap="none" strike="noStrike">
              <a:solidFill>
                <a:srgbClr val="6F3A93"/>
              </a:solidFill>
              <a:latin typeface="Montserrat"/>
              <a:ea typeface="Montserrat"/>
              <a:cs typeface="Montserrat"/>
              <a:sym typeface="Montserrat"/>
            </a:endParaRPr>
          </a:p>
        </p:txBody>
      </p:sp>
      <p:sp>
        <p:nvSpPr>
          <p:cNvPr id="272" name="Google Shape;272;p10"/>
          <p:cNvSpPr/>
          <p:nvPr/>
        </p:nvSpPr>
        <p:spPr>
          <a:xfrm>
            <a:off x="4658375" y="900350"/>
            <a:ext cx="4084800" cy="3804300"/>
          </a:xfrm>
          <a:prstGeom prst="snip1Rect">
            <a:avLst>
              <a:gd fmla="val 10616"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800"/>
              <a:buFont typeface="Arial"/>
              <a:buNone/>
            </a:pPr>
            <a:r>
              <a:t/>
            </a:r>
            <a:endParaRPr b="0" i="0" sz="800" u="none" cap="none" strike="noStrike">
              <a:solidFill>
                <a:srgbClr val="000000"/>
              </a:solidFill>
              <a:latin typeface="Montserrat"/>
              <a:ea typeface="Montserrat"/>
              <a:cs typeface="Montserrat"/>
              <a:sym typeface="Montserrat"/>
            </a:endParaRPr>
          </a:p>
        </p:txBody>
      </p:sp>
      <p:sp>
        <p:nvSpPr>
          <p:cNvPr id="273" name="Google Shape;273;p10"/>
          <p:cNvSpPr/>
          <p:nvPr/>
        </p:nvSpPr>
        <p:spPr>
          <a:xfrm>
            <a:off x="4662635" y="898172"/>
            <a:ext cx="4084800" cy="476100"/>
          </a:xfrm>
          <a:prstGeom prst="snip1Rect">
            <a:avLst>
              <a:gd fmla="val 21756" name="adj"/>
            </a:avLst>
          </a:prstGeom>
          <a:solidFill>
            <a:srgbClr val="F0EFFF"/>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100" u="none" cap="none" strike="noStrike">
                <a:solidFill>
                  <a:srgbClr val="6F3A93"/>
                </a:solidFill>
                <a:latin typeface="Montserrat"/>
                <a:ea typeface="Montserrat"/>
                <a:cs typeface="Montserrat"/>
                <a:sym typeface="Montserrat"/>
              </a:rPr>
              <a:t>Not Estimated</a:t>
            </a:r>
            <a:endParaRPr b="1" i="0" sz="1100" u="none" cap="none" strike="noStrike">
              <a:solidFill>
                <a:srgbClr val="6F3A93"/>
              </a:solidFill>
              <a:latin typeface="Montserrat"/>
              <a:ea typeface="Montserrat"/>
              <a:cs typeface="Montserrat"/>
              <a:sym typeface="Montserrat"/>
            </a:endParaRPr>
          </a:p>
        </p:txBody>
      </p:sp>
      <p:sp>
        <p:nvSpPr>
          <p:cNvPr id="274" name="Google Shape;274;p10"/>
          <p:cNvSpPr txBox="1"/>
          <p:nvPr/>
        </p:nvSpPr>
        <p:spPr>
          <a:xfrm>
            <a:off x="4662575" y="1374275"/>
            <a:ext cx="4084800" cy="3274800"/>
          </a:xfrm>
          <a:prstGeom prst="rect">
            <a:avLst/>
          </a:prstGeom>
          <a:noFill/>
          <a:ln>
            <a:noFill/>
          </a:ln>
        </p:spPr>
        <p:txBody>
          <a:bodyPr anchorCtr="0" anchor="t" bIns="91425" lIns="91425" spcFirstLastPara="1" rIns="91425" wrap="square" tIns="91425">
            <a:spAutoFit/>
          </a:bodyPr>
          <a:lstStyle/>
          <a:p>
            <a:r>
              <a:t>Cerner FHIR API sandbox available within 3 weeks of project start.</a:t>
            </a:r>
          </a:p>
          <a:p>
            <a:pPr/>
            <a:r>
              <a:t>MediCare provides clinical workflow SMEs for fortnightly workshops.</a:t>
            </a:r>
          </a:p>
          <a:p>
            <a:pPr/>
            <a:r>
              <a:t>MHR integration subject to ADHA conformance testing timelines.</a:t>
            </a:r>
          </a:p>
          <a:p>
            <a:pPr/>
            <a:r>
              <a:t>Content localisation limited to English for initial release.</a:t>
            </a:r>
          </a:p>
          <a:p>
            <a:pPr/>
            <a:r>
              <a:t>Training for 200 clinic staff included in scope.</a:t>
            </a:r>
          </a:p>
        </p:txBody>
      </p:sp>
      <p:sp>
        <p:nvSpPr>
          <p:cNvPr id="275" name="Google Shape;275;p10"/>
          <p:cNvSpPr txBox="1"/>
          <p:nvPr/>
        </p:nvSpPr>
        <p:spPr>
          <a:xfrm>
            <a:off x="400819" y="1406088"/>
            <a:ext cx="4084800" cy="1911600"/>
          </a:xfrm>
          <a:prstGeom prst="rect">
            <a:avLst/>
          </a:prstGeom>
          <a:noFill/>
          <a:ln>
            <a:noFill/>
          </a:ln>
        </p:spPr>
        <p:txBody>
          <a:bodyPr anchorCtr="0" anchor="t" bIns="91425" lIns="91425" spcFirstLastPara="1" rIns="91425" wrap="square" tIns="91425">
            <a:spAutoFit/>
          </a:bodyPr>
          <a:lstStyle/>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Project Discovery, Design, Development and Deployment.</a:t>
            </a:r>
            <a:endParaRPr b="0" i="0" sz="1100" u="none" cap="none" strike="noStrike">
              <a:solidFill>
                <a:srgbClr val="000000"/>
              </a:solidFill>
              <a:latin typeface="Montserrat"/>
              <a:ea typeface="Montserrat"/>
              <a:cs typeface="Montserrat"/>
              <a:sym typeface="Montserrat"/>
            </a:endParaRPr>
          </a:p>
          <a:p>
            <a:pPr indent="-298450" lvl="1" marL="914400" marR="0" rtl="0" algn="l">
              <a:lnSpc>
                <a:spcPct val="115000"/>
              </a:lnSpc>
              <a:spcBef>
                <a:spcPts val="0"/>
              </a:spcBef>
              <a:spcAft>
                <a:spcPts val="0"/>
              </a:spcAft>
              <a:buClr>
                <a:srgbClr val="000000"/>
              </a:buClr>
              <a:buSzPts val="1100"/>
              <a:buFont typeface="Montserrat"/>
              <a:buChar char="○"/>
            </a:pPr>
            <a:r>
              <a:rPr b="0" i="0" lang="en" sz="1100" u="none" cap="none" strike="noStrike">
                <a:solidFill>
                  <a:srgbClr val="000000"/>
                </a:solidFill>
                <a:latin typeface="Montserrat"/>
                <a:ea typeface="Montserrat"/>
                <a:cs typeface="Montserrat"/>
                <a:sym typeface="Montserrat"/>
              </a:rPr>
              <a:t>Mobile Application Development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UX and Visual Designs of all the screens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Manual QA Testing for the developed features</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CI/CD Implementation</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UAT support and deployment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Go-Live Support</a:t>
            </a:r>
            <a:endParaRPr b="0" i="0" sz="1100" u="none" cap="none" strike="noStrike">
              <a:solidFill>
                <a:srgbClr val="000000"/>
              </a:solidFill>
              <a:latin typeface="Montserrat"/>
              <a:ea typeface="Montserrat"/>
              <a:cs typeface="Montserrat"/>
              <a:sym typeface="Montserrat"/>
            </a:endParaRPr>
          </a:p>
          <a:p>
            <a:pPr indent="-298450" lvl="0" marL="457200" marR="0" rtl="0" algn="l">
              <a:lnSpc>
                <a:spcPct val="115000"/>
              </a:lnSpc>
              <a:spcBef>
                <a:spcPts val="0"/>
              </a:spcBef>
              <a:spcAft>
                <a:spcPts val="0"/>
              </a:spcAft>
              <a:buClr>
                <a:schemeClr val="accent1"/>
              </a:buClr>
              <a:buSzPts val="1100"/>
              <a:buFont typeface="Montserrat"/>
              <a:buChar char="●"/>
            </a:pPr>
            <a:r>
              <a:rPr b="0" i="0" lang="en" sz="1100" u="none" cap="none" strike="noStrike">
                <a:solidFill>
                  <a:srgbClr val="000000"/>
                </a:solidFill>
                <a:latin typeface="Montserrat"/>
                <a:ea typeface="Montserrat"/>
                <a:cs typeface="Montserrat"/>
                <a:sym typeface="Montserrat"/>
              </a:rPr>
              <a:t>Hypercare /Warranty Support(2 Weeks)</a:t>
            </a:r>
            <a:endParaRPr b="0" i="0" sz="1100" u="none" cap="none" strike="noStrike">
              <a:solidFill>
                <a:srgbClr val="000000"/>
              </a:solidFill>
              <a:latin typeface="Montserrat"/>
              <a:ea typeface="Montserrat"/>
              <a:cs typeface="Montserrat"/>
              <a:sym typeface="Montserrat"/>
            </a:endParaRPr>
          </a:p>
        </p:txBody>
      </p:sp>
      <p:sp>
        <p:nvSpPr>
          <p:cNvPr id="276" name="Google Shape;276;p10"/>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1"/>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2" name="Google Shape;282;p11"/>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283" name="Google Shape;283;p11"/>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284" name="Google Shape;284;p11"/>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Proposed Technical Solution Approach</a:t>
            </a:r>
            <a:endParaRPr b="1" i="0" sz="1200" u="none" cap="none" strike="noStrike">
              <a:solidFill>
                <a:srgbClr val="D71B7F"/>
              </a:solidFill>
              <a:latin typeface="Montserrat"/>
              <a:ea typeface="Montserrat"/>
              <a:cs typeface="Montserrat"/>
              <a:sym typeface="Montserrat"/>
            </a:endParaRPr>
          </a:p>
        </p:txBody>
      </p:sp>
      <p:sp>
        <p:nvSpPr>
          <p:cNvPr id="285" name="Google Shape;285;p11"/>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286" name="Google Shape;286;p11"/>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287" name="Google Shape;287;p11"/>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288" name="Google Shape;288;p11"/>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289" name="Google Shape;289;p11"/>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0" name="Google Shape;290;p11"/>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1" name="Google Shape;291;p11"/>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92" name="Google Shape;292;p11"/>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293" name="Google Shape;293;p11"/>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294" name="Google Shape;294;p11"/>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295" name="Google Shape;295;p11"/>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p11"/>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297" name="Google Shape;297;p11"/>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298" name="Google Shape;298;p11"/>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p11"/>
          <p:cNvSpPr txBox="1"/>
          <p:nvPr>
            <p:ph idx="4294967295"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12"/>
          <p:cNvSpPr/>
          <p:nvPr/>
        </p:nvSpPr>
        <p:spPr>
          <a:xfrm>
            <a:off x="226950" y="740900"/>
            <a:ext cx="8690100" cy="41133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305" name="Google Shape;305;p12"/>
          <p:cNvCxnSpPr/>
          <p:nvPr/>
        </p:nvCxnSpPr>
        <p:spPr>
          <a:xfrm>
            <a:off x="249444" y="751302"/>
            <a:ext cx="0" cy="4113300"/>
          </a:xfrm>
          <a:prstGeom prst="straightConnector1">
            <a:avLst/>
          </a:prstGeom>
          <a:noFill/>
          <a:ln cap="flat" cmpd="sng" w="19050">
            <a:solidFill>
              <a:srgbClr val="12519C"/>
            </a:solidFill>
            <a:prstDash val="solid"/>
            <a:round/>
            <a:headEnd len="sm" w="sm" type="none"/>
            <a:tailEnd len="sm" w="sm" type="none"/>
          </a:ln>
        </p:spPr>
      </p:cxnSp>
      <p:sp>
        <p:nvSpPr>
          <p:cNvPr id="306" name="Google Shape;306;p12"/>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Solutioning Highlights</a:t>
            </a:r>
            <a:endParaRPr/>
          </a:p>
        </p:txBody>
      </p:sp>
      <p:sp>
        <p:nvSpPr>
          <p:cNvPr id="307" name="Google Shape;307;p12"/>
          <p:cNvSpPr txBox="1"/>
          <p:nvPr/>
        </p:nvSpPr>
        <p:spPr>
          <a:xfrm>
            <a:off x="340550" y="993438"/>
            <a:ext cx="8196900" cy="4032900"/>
          </a:xfrm>
          <a:prstGeom prst="rect">
            <a:avLst/>
          </a:prstGeom>
          <a:noFill/>
          <a:ln>
            <a:noFill/>
          </a:ln>
        </p:spPr>
        <p:txBody>
          <a:bodyPr anchorCtr="0" anchor="t" bIns="91425" lIns="91425" spcFirstLastPara="1" rIns="91425" wrap="square" tIns="91425">
            <a:spAutoFit/>
          </a:bodyPr>
          <a:lstStyle/>
          <a:p>
            <a:r>
              <a:t>React Native mobile app and responsive web portal on Azure.</a:t>
            </a:r>
          </a:p>
          <a:p>
            <a:pPr/>
            <a:r>
              <a:t>FHIR R4 APIs for clinical data exchange with existing EMR (Cerner).</a:t>
            </a:r>
          </a:p>
          <a:p>
            <a:pPr/>
            <a:r>
              <a:t>Azure AD B2C for patient identity with passwordless OTP option.</a:t>
            </a:r>
          </a:p>
          <a:p>
            <a:pPr/>
            <a:r>
              <a:t>Twilio Video for HIPAA-compliant telehealth sessions.</a:t>
            </a:r>
          </a:p>
          <a:p>
            <a:pPr/>
            <a:r>
              <a:t>Notification service for SMS/email reminders via MessageMedia.</a:t>
            </a:r>
          </a:p>
        </p:txBody>
      </p:sp>
      <p:sp>
        <p:nvSpPr>
          <p:cNvPr id="308" name="Google Shape;308;p1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3"/>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Proposed High Level Architecture</a:t>
            </a:r>
            <a:endParaRPr/>
          </a:p>
        </p:txBody>
      </p:sp>
      <p:sp>
        <p:nvSpPr>
          <p:cNvPr id="314" name="Google Shape;314;p13"/>
          <p:cNvSpPr/>
          <p:nvPr/>
        </p:nvSpPr>
        <p:spPr>
          <a:xfrm>
            <a:off x="2397150" y="887625"/>
            <a:ext cx="3813600" cy="3699300"/>
          </a:xfrm>
          <a:prstGeom prst="snip1Rect">
            <a:avLst>
              <a:gd fmla="val 8329" name="adj"/>
            </a:avLst>
          </a:prstGeom>
          <a:noFill/>
          <a:ln cap="flat" cmpd="sng" w="9525">
            <a:solidFill>
              <a:srgbClr val="6F3A93"/>
            </a:solidFill>
            <a:prstDash val="solid"/>
            <a:round/>
            <a:headEnd len="sm" w="sm" type="none"/>
            <a:tailEnd len="sm" w="sm" type="none"/>
          </a:ln>
        </p:spPr>
        <p:txBody>
          <a:bodyPr anchorCtr="0" anchor="t" bIns="91425"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F3A93"/>
                </a:solidFill>
                <a:latin typeface="Montserrat"/>
                <a:ea typeface="Montserrat"/>
                <a:cs typeface="Montserrat"/>
                <a:sym typeface="Montserrat"/>
              </a:rPr>
              <a:t>Mobile Application</a:t>
            </a:r>
            <a:endParaRPr b="1" i="0" sz="900" u="none" cap="none" strike="noStrike">
              <a:solidFill>
                <a:srgbClr val="6F3A93"/>
              </a:solidFill>
              <a:latin typeface="Montserrat"/>
              <a:ea typeface="Montserrat"/>
              <a:cs typeface="Montserrat"/>
              <a:sym typeface="Montserrat"/>
            </a:endParaRPr>
          </a:p>
        </p:txBody>
      </p:sp>
      <p:sp>
        <p:nvSpPr>
          <p:cNvPr id="315" name="Google Shape;315;p13"/>
          <p:cNvSpPr/>
          <p:nvPr/>
        </p:nvSpPr>
        <p:spPr>
          <a:xfrm>
            <a:off x="756125" y="2252475"/>
            <a:ext cx="922800" cy="969600"/>
          </a:xfrm>
          <a:prstGeom prst="snip1Rect">
            <a:avLst>
              <a:gd fmla="val 8329" name="adj"/>
            </a:avLst>
          </a:prstGeom>
          <a:noFill/>
          <a:ln cap="flat" cmpd="sng" w="9525">
            <a:solidFill>
              <a:srgbClr val="12519C"/>
            </a:solidFill>
            <a:prstDash val="solid"/>
            <a:round/>
            <a:headEnd len="sm" w="sm" type="none"/>
            <a:tailEnd len="sm" w="sm" type="none"/>
          </a:ln>
        </p:spPr>
        <p:txBody>
          <a:bodyPr anchorCtr="0" anchor="t"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t/>
            </a:r>
            <a:endParaRPr b="1" i="0" sz="900" u="none" cap="none" strike="noStrike">
              <a:solidFill>
                <a:srgbClr val="D71B7F"/>
              </a:solidFill>
              <a:latin typeface="Montserrat"/>
              <a:ea typeface="Montserrat"/>
              <a:cs typeface="Montserrat"/>
              <a:sym typeface="Montserrat"/>
            </a:endParaRPr>
          </a:p>
        </p:txBody>
      </p:sp>
      <p:sp>
        <p:nvSpPr>
          <p:cNvPr id="316" name="Google Shape;316;p13"/>
          <p:cNvSpPr/>
          <p:nvPr/>
        </p:nvSpPr>
        <p:spPr>
          <a:xfrm>
            <a:off x="2549550" y="1316100"/>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UI layer Screens</a:t>
            </a:r>
            <a:endParaRPr b="1" i="0" sz="900" u="none" cap="none" strike="noStrike">
              <a:solidFill>
                <a:srgbClr val="12519C"/>
              </a:solidFill>
              <a:latin typeface="Montserrat"/>
              <a:ea typeface="Montserrat"/>
              <a:cs typeface="Montserrat"/>
              <a:sym typeface="Montserrat"/>
            </a:endParaRPr>
          </a:p>
        </p:txBody>
      </p:sp>
      <p:sp>
        <p:nvSpPr>
          <p:cNvPr id="317" name="Google Shape;317;p13"/>
          <p:cNvSpPr txBox="1"/>
          <p:nvPr/>
        </p:nvSpPr>
        <p:spPr>
          <a:xfrm>
            <a:off x="744425" y="2826663"/>
            <a:ext cx="9462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Mobile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User</a:t>
            </a:r>
            <a:endParaRPr b="1" i="0" sz="800" u="none" cap="none" strike="noStrike">
              <a:solidFill>
                <a:srgbClr val="12519C"/>
              </a:solidFill>
              <a:latin typeface="Montserrat"/>
              <a:ea typeface="Montserrat"/>
              <a:cs typeface="Montserrat"/>
              <a:sym typeface="Montserrat"/>
            </a:endParaRPr>
          </a:p>
        </p:txBody>
      </p:sp>
      <p:sp>
        <p:nvSpPr>
          <p:cNvPr id="318" name="Google Shape;318;p13"/>
          <p:cNvSpPr/>
          <p:nvPr/>
        </p:nvSpPr>
        <p:spPr>
          <a:xfrm>
            <a:off x="7069675" y="1671550"/>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Racing Queensland Backend APIs</a:t>
            </a:r>
            <a:endParaRPr b="1" i="0" sz="800" u="none" cap="none" strike="noStrike">
              <a:solidFill>
                <a:srgbClr val="525252"/>
              </a:solidFill>
              <a:latin typeface="Montserrat"/>
              <a:ea typeface="Montserrat"/>
              <a:cs typeface="Montserrat"/>
              <a:sym typeface="Montserrat"/>
            </a:endParaRPr>
          </a:p>
        </p:txBody>
      </p:sp>
      <p:sp>
        <p:nvSpPr>
          <p:cNvPr id="319" name="Google Shape;319;p13"/>
          <p:cNvSpPr/>
          <p:nvPr/>
        </p:nvSpPr>
        <p:spPr>
          <a:xfrm>
            <a:off x="7069675" y="2847049"/>
            <a:ext cx="1329900" cy="882000"/>
          </a:xfrm>
          <a:prstGeom prst="snip1Rect">
            <a:avLst>
              <a:gd fmla="val 16667" name="adj"/>
            </a:avLst>
          </a:prstGeom>
          <a:solidFill>
            <a:srgbClr val="D9D2E9"/>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525252"/>
                </a:solidFill>
                <a:latin typeface="Montserrat"/>
                <a:ea typeface="Montserrat"/>
                <a:cs typeface="Montserrat"/>
                <a:sym typeface="Montserrat"/>
              </a:rPr>
              <a:t>Firebase</a:t>
            </a:r>
            <a:endParaRPr b="1" i="0" sz="800" u="none" cap="none" strike="noStrike">
              <a:solidFill>
                <a:srgbClr val="525252"/>
              </a:solidFill>
              <a:latin typeface="Montserrat"/>
              <a:ea typeface="Montserrat"/>
              <a:cs typeface="Montserrat"/>
              <a:sym typeface="Montserrat"/>
            </a:endParaRPr>
          </a:p>
        </p:txBody>
      </p:sp>
      <p:pic>
        <p:nvPicPr>
          <p:cNvPr id="320" name="Google Shape;320;p13"/>
          <p:cNvPicPr preferRelativeResize="0"/>
          <p:nvPr/>
        </p:nvPicPr>
        <p:blipFill rotWithShape="1">
          <a:blip r:embed="rId3">
            <a:alphaModFix/>
          </a:blip>
          <a:srcRect b="0" l="0" r="0" t="0"/>
          <a:stretch/>
        </p:blipFill>
        <p:spPr>
          <a:xfrm>
            <a:off x="1016525" y="2379875"/>
            <a:ext cx="401999" cy="401999"/>
          </a:xfrm>
          <a:prstGeom prst="rect">
            <a:avLst/>
          </a:prstGeom>
          <a:noFill/>
          <a:ln>
            <a:noFill/>
          </a:ln>
        </p:spPr>
      </p:pic>
      <p:sp>
        <p:nvSpPr>
          <p:cNvPr id="321" name="Google Shape;321;p13"/>
          <p:cNvSpPr/>
          <p:nvPr/>
        </p:nvSpPr>
        <p:spPr>
          <a:xfrm>
            <a:off x="2549550" y="1959698"/>
            <a:ext cx="3508800" cy="305700"/>
          </a:xfrm>
          <a:prstGeom prst="snip1Rect">
            <a:avLst>
              <a:gd fmla="val 8329" name="adj"/>
            </a:avLst>
          </a:prstGeom>
          <a:solidFill>
            <a:srgbClr val="F6F6F6"/>
          </a:solidFill>
          <a:ln cap="flat" cmpd="sng" w="9525">
            <a:solidFill>
              <a:srgbClr val="E7E6E6"/>
            </a:solidFill>
            <a:prstDash val="solid"/>
            <a:round/>
            <a:headEnd len="sm" w="sm" type="none"/>
            <a:tailEnd len="sm" w="sm" type="none"/>
          </a:ln>
        </p:spPr>
        <p:txBody>
          <a:bodyPr anchorCtr="0" anchor="ctr" bIns="91425" lIns="0" spcFirstLastPara="1" rIns="0"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Business Logic Layer</a:t>
            </a:r>
            <a:endParaRPr b="1" i="0" sz="900" u="none" cap="none" strike="noStrike">
              <a:solidFill>
                <a:srgbClr val="12519C"/>
              </a:solidFill>
              <a:latin typeface="Montserrat"/>
              <a:ea typeface="Montserrat"/>
              <a:cs typeface="Montserrat"/>
              <a:sym typeface="Montserrat"/>
            </a:endParaRPr>
          </a:p>
        </p:txBody>
      </p:sp>
      <p:sp>
        <p:nvSpPr>
          <p:cNvPr id="322" name="Google Shape;322;p13"/>
          <p:cNvSpPr/>
          <p:nvPr/>
        </p:nvSpPr>
        <p:spPr>
          <a:xfrm>
            <a:off x="2549550" y="2603300"/>
            <a:ext cx="3508800" cy="61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3" name="Google Shape;323;p13"/>
          <p:cNvSpPr/>
          <p:nvPr/>
        </p:nvSpPr>
        <p:spPr>
          <a:xfrm>
            <a:off x="297507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Network Service</a:t>
            </a:r>
            <a:endParaRPr b="1" i="0" sz="800" u="none" cap="none" strike="noStrike">
              <a:solidFill>
                <a:srgbClr val="525252"/>
              </a:solidFill>
              <a:latin typeface="Montserrat"/>
              <a:ea typeface="Montserrat"/>
              <a:cs typeface="Montserrat"/>
              <a:sym typeface="Montserrat"/>
            </a:endParaRPr>
          </a:p>
        </p:txBody>
      </p:sp>
      <p:sp>
        <p:nvSpPr>
          <p:cNvPr id="324" name="Google Shape;324;p13"/>
          <p:cNvSpPr/>
          <p:nvPr/>
        </p:nvSpPr>
        <p:spPr>
          <a:xfrm>
            <a:off x="4481025" y="2890671"/>
            <a:ext cx="1231500" cy="2535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Local Storage</a:t>
            </a:r>
            <a:endParaRPr b="1" i="0" sz="800" u="none" cap="none" strike="noStrike">
              <a:solidFill>
                <a:srgbClr val="525252"/>
              </a:solidFill>
              <a:latin typeface="Montserrat"/>
              <a:ea typeface="Montserrat"/>
              <a:cs typeface="Montserrat"/>
              <a:sym typeface="Montserrat"/>
            </a:endParaRPr>
          </a:p>
        </p:txBody>
      </p:sp>
      <p:sp>
        <p:nvSpPr>
          <p:cNvPr id="325" name="Google Shape;325;p13"/>
          <p:cNvSpPr/>
          <p:nvPr/>
        </p:nvSpPr>
        <p:spPr>
          <a:xfrm>
            <a:off x="2549550" y="3553200"/>
            <a:ext cx="3508800" cy="882000"/>
          </a:xfrm>
          <a:prstGeom prst="snip1Rect">
            <a:avLst>
              <a:gd fmla="val 16667" name="adj"/>
            </a:avLst>
          </a:prstGeom>
          <a:solidFill>
            <a:srgbClr val="E7F2F8"/>
          </a:solidFill>
          <a:ln cap="flat" cmpd="sng" w="9525">
            <a:solidFill>
              <a:srgbClr val="D9D9D9"/>
            </a:solidFill>
            <a:prstDash val="solid"/>
            <a:round/>
            <a:headEnd len="sm" w="sm" type="none"/>
            <a:tailEnd len="sm" w="sm" type="none"/>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t/>
            </a:r>
            <a:endParaRPr b="1" i="0" sz="700" u="none" cap="none" strike="noStrike">
              <a:solidFill>
                <a:srgbClr val="12519C"/>
              </a:solidFill>
              <a:latin typeface="Montserrat"/>
              <a:ea typeface="Montserrat"/>
              <a:cs typeface="Montserrat"/>
              <a:sym typeface="Montserrat"/>
            </a:endParaRPr>
          </a:p>
        </p:txBody>
      </p:sp>
      <p:sp>
        <p:nvSpPr>
          <p:cNvPr id="326" name="Google Shape;326;p13"/>
          <p:cNvSpPr/>
          <p:nvPr/>
        </p:nvSpPr>
        <p:spPr>
          <a:xfrm>
            <a:off x="2641000"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Analytics</a:t>
            </a:r>
            <a:endParaRPr b="1" i="0" sz="800" u="none" cap="none" strike="noStrike">
              <a:solidFill>
                <a:srgbClr val="525252"/>
              </a:solidFill>
              <a:latin typeface="Montserrat"/>
              <a:ea typeface="Montserrat"/>
              <a:cs typeface="Montserrat"/>
              <a:sym typeface="Montserrat"/>
            </a:endParaRPr>
          </a:p>
        </p:txBody>
      </p:sp>
      <p:sp>
        <p:nvSpPr>
          <p:cNvPr id="327" name="Google Shape;327;p13"/>
          <p:cNvSpPr/>
          <p:nvPr/>
        </p:nvSpPr>
        <p:spPr>
          <a:xfrm>
            <a:off x="3788308"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Push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Notifications</a:t>
            </a:r>
            <a:endParaRPr b="1" i="0" sz="800" u="none" cap="none" strike="noStrike">
              <a:solidFill>
                <a:srgbClr val="525252"/>
              </a:solidFill>
              <a:latin typeface="Montserrat"/>
              <a:ea typeface="Montserrat"/>
              <a:cs typeface="Montserrat"/>
              <a:sym typeface="Montserrat"/>
            </a:endParaRPr>
          </a:p>
        </p:txBody>
      </p:sp>
      <p:sp>
        <p:nvSpPr>
          <p:cNvPr id="328" name="Google Shape;328;p13"/>
          <p:cNvSpPr/>
          <p:nvPr/>
        </p:nvSpPr>
        <p:spPr>
          <a:xfrm>
            <a:off x="4935616" y="3864854"/>
            <a:ext cx="1038000" cy="365400"/>
          </a:xfrm>
          <a:prstGeom prst="roundRect">
            <a:avLst>
              <a:gd fmla="val 6288" name="adj"/>
            </a:avLst>
          </a:prstGeom>
          <a:solidFill>
            <a:srgbClr val="FFFFFF"/>
          </a:solidFill>
          <a:ln cap="flat" cmpd="sng" w="9525">
            <a:solidFill>
              <a:srgbClr val="D9D9D9"/>
            </a:solidFill>
            <a:prstDash val="dash"/>
            <a:round/>
            <a:headEnd len="sm" w="sm" type="none"/>
            <a:tailEnd len="sm" w="sm" type="none"/>
          </a:ln>
        </p:spPr>
        <p:txBody>
          <a:bodyPr anchorCtr="0" anchor="ctr" bIns="91425" lIns="9125" spcFirstLastPara="1" rIns="91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Crash </a:t>
            </a:r>
            <a:endParaRPr b="1" i="0" sz="800" u="none" cap="none" strike="noStrike">
              <a:solidFill>
                <a:srgbClr val="12519C"/>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Reporting</a:t>
            </a:r>
            <a:endParaRPr b="1" i="0" sz="800" u="none" cap="none" strike="noStrike">
              <a:solidFill>
                <a:srgbClr val="525252"/>
              </a:solidFill>
              <a:latin typeface="Montserrat"/>
              <a:ea typeface="Montserrat"/>
              <a:cs typeface="Montserrat"/>
              <a:sym typeface="Montserrat"/>
            </a:endParaRPr>
          </a:p>
        </p:txBody>
      </p:sp>
      <p:pic>
        <p:nvPicPr>
          <p:cNvPr id="329" name="Google Shape;329;p13"/>
          <p:cNvPicPr preferRelativeResize="0"/>
          <p:nvPr/>
        </p:nvPicPr>
        <p:blipFill rotWithShape="1">
          <a:blip r:embed="rId4">
            <a:alphaModFix/>
          </a:blip>
          <a:srcRect b="0" l="0" r="0" t="0"/>
          <a:stretch/>
        </p:blipFill>
        <p:spPr>
          <a:xfrm>
            <a:off x="7544462" y="3032873"/>
            <a:ext cx="283233" cy="357299"/>
          </a:xfrm>
          <a:prstGeom prst="rect">
            <a:avLst/>
          </a:prstGeom>
          <a:noFill/>
          <a:ln>
            <a:noFill/>
          </a:ln>
        </p:spPr>
      </p:pic>
      <p:pic>
        <p:nvPicPr>
          <p:cNvPr id="330" name="Google Shape;330;p13"/>
          <p:cNvPicPr preferRelativeResize="0"/>
          <p:nvPr/>
        </p:nvPicPr>
        <p:blipFill rotWithShape="1">
          <a:blip r:embed="rId5">
            <a:alphaModFix/>
          </a:blip>
          <a:srcRect b="0" l="0" r="0" t="0"/>
          <a:stretch/>
        </p:blipFill>
        <p:spPr>
          <a:xfrm>
            <a:off x="7572597" y="1767500"/>
            <a:ext cx="324045" cy="357300"/>
          </a:xfrm>
          <a:prstGeom prst="rect">
            <a:avLst/>
          </a:prstGeom>
          <a:noFill/>
          <a:ln>
            <a:noFill/>
          </a:ln>
        </p:spPr>
      </p:pic>
      <p:cxnSp>
        <p:nvCxnSpPr>
          <p:cNvPr id="331" name="Google Shape;331;p13"/>
          <p:cNvCxnSpPr>
            <a:stCxn id="315" idx="0"/>
            <a:endCxn id="314" idx="2"/>
          </p:cNvCxnSpPr>
          <p:nvPr/>
        </p:nvCxnSpPr>
        <p:spPr>
          <a:xfrm>
            <a:off x="1678925" y="2737275"/>
            <a:ext cx="718200" cy="0"/>
          </a:xfrm>
          <a:prstGeom prst="straightConnector1">
            <a:avLst/>
          </a:prstGeom>
          <a:noFill/>
          <a:ln cap="flat" cmpd="sng" w="9525">
            <a:solidFill>
              <a:srgbClr val="D9D9D9"/>
            </a:solidFill>
            <a:prstDash val="solid"/>
            <a:round/>
            <a:headEnd len="sm" w="sm" type="none"/>
            <a:tailEnd len="med" w="med" type="triangle"/>
          </a:ln>
        </p:spPr>
      </p:cxnSp>
      <p:cxnSp>
        <p:nvCxnSpPr>
          <p:cNvPr id="332" name="Google Shape;332;p13"/>
          <p:cNvCxnSpPr>
            <a:stCxn id="316" idx="1"/>
            <a:endCxn id="321" idx="3"/>
          </p:cNvCxnSpPr>
          <p:nvPr/>
        </p:nvCxnSpPr>
        <p:spPr>
          <a:xfrm>
            <a:off x="4303950" y="1621800"/>
            <a:ext cx="0" cy="337800"/>
          </a:xfrm>
          <a:prstGeom prst="straightConnector1">
            <a:avLst/>
          </a:prstGeom>
          <a:noFill/>
          <a:ln cap="flat" cmpd="sng" w="9525">
            <a:solidFill>
              <a:srgbClr val="D9D9D9"/>
            </a:solidFill>
            <a:prstDash val="solid"/>
            <a:round/>
            <a:headEnd len="med" w="med" type="triangle"/>
            <a:tailEnd len="med" w="med" type="triangle"/>
          </a:ln>
        </p:spPr>
      </p:cxnSp>
      <p:cxnSp>
        <p:nvCxnSpPr>
          <p:cNvPr id="333" name="Google Shape;333;p13"/>
          <p:cNvCxnSpPr>
            <a:stCxn id="321" idx="1"/>
            <a:endCxn id="322" idx="3"/>
          </p:cNvCxnSpPr>
          <p:nvPr/>
        </p:nvCxnSpPr>
        <p:spPr>
          <a:xfrm>
            <a:off x="4303950" y="2265398"/>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4" name="Google Shape;334;p13"/>
          <p:cNvSpPr txBox="1"/>
          <p:nvPr/>
        </p:nvSpPr>
        <p:spPr>
          <a:xfrm>
            <a:off x="3872500" y="26032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Data Layer</a:t>
            </a:r>
            <a:endParaRPr b="1" i="0" sz="900" u="none" cap="none" strike="noStrike">
              <a:solidFill>
                <a:srgbClr val="12519C"/>
              </a:solidFill>
              <a:latin typeface="Montserrat"/>
              <a:ea typeface="Montserrat"/>
              <a:cs typeface="Montserrat"/>
              <a:sym typeface="Montserrat"/>
            </a:endParaRPr>
          </a:p>
        </p:txBody>
      </p:sp>
      <p:cxnSp>
        <p:nvCxnSpPr>
          <p:cNvPr id="335" name="Google Shape;335;p13"/>
          <p:cNvCxnSpPr>
            <a:stCxn id="322" idx="1"/>
            <a:endCxn id="325" idx="3"/>
          </p:cNvCxnSpPr>
          <p:nvPr/>
        </p:nvCxnSpPr>
        <p:spPr>
          <a:xfrm>
            <a:off x="4303950" y="3215300"/>
            <a:ext cx="0" cy="337800"/>
          </a:xfrm>
          <a:prstGeom prst="straightConnector1">
            <a:avLst/>
          </a:prstGeom>
          <a:noFill/>
          <a:ln cap="flat" cmpd="sng" w="9525">
            <a:solidFill>
              <a:srgbClr val="D9D9D9"/>
            </a:solidFill>
            <a:prstDash val="solid"/>
            <a:round/>
            <a:headEnd len="med" w="med" type="triangle"/>
            <a:tailEnd len="med" w="med" type="triangle"/>
          </a:ln>
        </p:spPr>
      </p:cxnSp>
      <p:sp>
        <p:nvSpPr>
          <p:cNvPr id="336" name="Google Shape;336;p13"/>
          <p:cNvSpPr txBox="1"/>
          <p:nvPr/>
        </p:nvSpPr>
        <p:spPr>
          <a:xfrm>
            <a:off x="3925088" y="3553196"/>
            <a:ext cx="9462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2519C"/>
                </a:solidFill>
                <a:latin typeface="Montserrat"/>
                <a:ea typeface="Montserrat"/>
                <a:cs typeface="Montserrat"/>
                <a:sym typeface="Montserrat"/>
              </a:rPr>
              <a:t>3rd Party</a:t>
            </a:r>
            <a:endParaRPr b="1" i="0" sz="900" u="none" cap="none" strike="noStrike">
              <a:solidFill>
                <a:srgbClr val="12519C"/>
              </a:solidFill>
              <a:latin typeface="Montserrat"/>
              <a:ea typeface="Montserrat"/>
              <a:cs typeface="Montserrat"/>
              <a:sym typeface="Montserrat"/>
            </a:endParaRPr>
          </a:p>
        </p:txBody>
      </p:sp>
      <p:cxnSp>
        <p:nvCxnSpPr>
          <p:cNvPr id="337" name="Google Shape;337;p13"/>
          <p:cNvCxnSpPr>
            <a:stCxn id="314" idx="0"/>
            <a:endCxn id="318" idx="2"/>
          </p:cNvCxnSpPr>
          <p:nvPr/>
        </p:nvCxnSpPr>
        <p:spPr>
          <a:xfrm flipH="1" rot="10800000">
            <a:off x="6210750" y="2112675"/>
            <a:ext cx="858900" cy="624600"/>
          </a:xfrm>
          <a:prstGeom prst="bentConnector3">
            <a:avLst>
              <a:gd fmla="val 50001" name="adj1"/>
            </a:avLst>
          </a:prstGeom>
          <a:noFill/>
          <a:ln cap="flat" cmpd="sng" w="9525">
            <a:solidFill>
              <a:srgbClr val="D9D9D9"/>
            </a:solidFill>
            <a:prstDash val="solid"/>
            <a:round/>
            <a:headEnd len="sm" w="sm" type="none"/>
            <a:tailEnd len="med" w="med" type="triangle"/>
          </a:ln>
        </p:spPr>
      </p:cxnSp>
      <p:cxnSp>
        <p:nvCxnSpPr>
          <p:cNvPr id="338" name="Google Shape;338;p13"/>
          <p:cNvCxnSpPr>
            <a:stCxn id="314" idx="0"/>
            <a:endCxn id="319" idx="2"/>
          </p:cNvCxnSpPr>
          <p:nvPr/>
        </p:nvCxnSpPr>
        <p:spPr>
          <a:xfrm>
            <a:off x="6210750" y="2737275"/>
            <a:ext cx="858900" cy="550800"/>
          </a:xfrm>
          <a:prstGeom prst="bentConnector3">
            <a:avLst>
              <a:gd fmla="val 50001" name="adj1"/>
            </a:avLst>
          </a:prstGeom>
          <a:noFill/>
          <a:ln cap="flat" cmpd="sng" w="9525">
            <a:solidFill>
              <a:srgbClr val="D9D9D9"/>
            </a:solidFill>
            <a:prstDash val="solid"/>
            <a:round/>
            <a:headEnd len="sm" w="sm" type="none"/>
            <a:tailEnd len="med" w="med" type="triangle"/>
          </a:ln>
        </p:spPr>
      </p:cxnSp>
      <p:sp>
        <p:nvSpPr>
          <p:cNvPr id="339" name="Google Shape;339;p13"/>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14"/>
          <p:cNvSpPr txBox="1"/>
          <p:nvPr>
            <p:ph type="title"/>
          </p:nvPr>
        </p:nvSpPr>
        <p:spPr>
          <a:xfrm>
            <a:off x="104500" y="141850"/>
            <a:ext cx="77232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Architecture Considerations</a:t>
            </a:r>
            <a:endParaRPr/>
          </a:p>
        </p:txBody>
      </p:sp>
      <p:graphicFrame>
        <p:nvGraphicFramePr>
          <p:cNvPr id="345" name="Google Shape;345;p14"/>
          <p:cNvGraphicFramePr/>
          <p:nvPr/>
        </p:nvGraphicFramePr>
        <p:xfrm>
          <a:off x="264425" y="755775"/>
          <a:ext cx="3000000" cy="3000000"/>
        </p:xfrm>
        <a:graphic>
          <a:graphicData uri="http://schemas.openxmlformats.org/drawingml/2006/table">
            <a:tbl>
              <a:tblPr>
                <a:noFill/>
                <a:tableStyleId>{4776C36E-D2AD-4AE9-B92F-3330EE880BF7}</a:tableStyleId>
              </a:tblPr>
              <a:tblGrid>
                <a:gridCol w="1855975"/>
                <a:gridCol w="6695125"/>
              </a:tblGrid>
              <a:tr h="2881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Component</a:t>
                      </a:r>
                      <a:endParaRPr b="1" sz="1000" u="none" cap="none" strike="noStrike">
                        <a:solidFill>
                          <a:srgbClr val="FFFFFF"/>
                        </a:solidFill>
                        <a:latin typeface="Montserrat"/>
                        <a:ea typeface="Montserrat"/>
                        <a:cs typeface="Montserrat"/>
                        <a:sym typeface="Montserrat"/>
                      </a:endParaRPr>
                    </a:p>
                  </a:txBody>
                  <a:tcPr marT="91425" marB="91425" marR="91425" marL="91425" anchor="ctr">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latin typeface="Montserrat"/>
                          <a:ea typeface="Montserrat"/>
                          <a:cs typeface="Montserrat"/>
                          <a:sym typeface="Montserrat"/>
                        </a:rPr>
                        <a:t>Key Considerations</a:t>
                      </a:r>
                      <a:endParaRPr b="1" sz="1000" u="none" cap="none" strike="noStrike">
                        <a:solidFill>
                          <a:srgbClr val="FFFFFF"/>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rgbClr val="12519C"/>
                    </a:solidFill>
                  </a:tcPr>
                </a:tc>
              </a:tr>
              <a:tr h="67050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Mobile Application Development Platform</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Cross-platform technologies like Flutter or React Native to be considered for mobile application development. They will enable us to use a single codebase for both Android and iOS, reducing development time and costs while increasing code reuse and maintainability.</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602400">
                <a:tc>
                  <a:txBody>
                    <a:bodyPr/>
                    <a:lstStyle/>
                    <a:p>
                      <a:pPr indent="0" lvl="0" marL="0" marR="0" rtl="0" algn="l">
                        <a:lnSpc>
                          <a:spcPct val="115000"/>
                        </a:lnSpc>
                        <a:spcBef>
                          <a:spcPts val="0"/>
                        </a:spcBef>
                        <a:spcAft>
                          <a:spcPts val="0"/>
                        </a:spcAft>
                        <a:buClr>
                          <a:schemeClr val="dk1"/>
                        </a:buClr>
                        <a:buSzPts val="1100"/>
                        <a:buFont typeface="Arial"/>
                        <a:buNone/>
                      </a:pPr>
                      <a:r>
                        <a:rPr b="1" lang="en" sz="1000" u="none" cap="none" strike="noStrike">
                          <a:latin typeface="Montserrat"/>
                          <a:ea typeface="Montserrat"/>
                          <a:cs typeface="Montserrat"/>
                          <a:sym typeface="Montserrat"/>
                        </a:rPr>
                        <a:t>On-the-fly Deployment</a:t>
                      </a:r>
                      <a:r>
                        <a:rPr lang="en" sz="1000" u="none" cap="none" strike="noStrike">
                          <a:solidFill>
                            <a:schemeClr val="dk1"/>
                          </a:solidFill>
                          <a:latin typeface="Montserrat"/>
                          <a:ea typeface="Montserrat"/>
                          <a:cs typeface="Montserrat"/>
                          <a:sym typeface="Montserrat"/>
                        </a:rPr>
                        <a:t> </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On-the-fly deployment enables pushing app updates without app store resubmission-natively supported in React Native via CodePush and achievable in Flutter using Shorebird. This is particularly useful for hot-fixes and minor changes</a:t>
                      </a:r>
                      <a:r>
                        <a:rPr lang="en" sz="1100" u="none" cap="none" strike="noStrike">
                          <a:solidFill>
                            <a:schemeClr val="dk1"/>
                          </a:solidFill>
                        </a:rPr>
                        <a:t>.</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19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chemeClr val="dk1"/>
                          </a:solidFill>
                          <a:latin typeface="Montserrat"/>
                          <a:ea typeface="Montserrat"/>
                          <a:cs typeface="Montserrat"/>
                          <a:sym typeface="Montserrat"/>
                        </a:rPr>
                        <a:t>Performance Optimisation</a:t>
                      </a:r>
                      <a:endParaRPr b="1" sz="1000" u="none" cap="none" strike="noStrike">
                        <a:solidFill>
                          <a:schemeClr val="dk1"/>
                        </a:solidFill>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Responsive UI and smooth animations, lazy loading of images, pagination and optimised asset management. </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367200">
                <a:tc>
                  <a:txBody>
                    <a:bodyPr/>
                    <a:lstStyle/>
                    <a:p>
                      <a:pPr indent="0" lvl="0" marL="0" marR="0" rtl="0" algn="l">
                        <a:lnSpc>
                          <a:spcPct val="100000"/>
                        </a:lnSpc>
                        <a:spcBef>
                          <a:spcPts val="0"/>
                        </a:spcBef>
                        <a:spcAft>
                          <a:spcPts val="0"/>
                        </a:spcAft>
                        <a:buClr>
                          <a:schemeClr val="dk1"/>
                        </a:buClr>
                        <a:buSzPts val="1100"/>
                        <a:buFont typeface="Arial"/>
                        <a:buNone/>
                      </a:pPr>
                      <a:r>
                        <a:rPr b="1" lang="en" sz="1000" u="none" cap="none" strike="noStrike">
                          <a:solidFill>
                            <a:schemeClr val="dk1"/>
                          </a:solidFill>
                          <a:latin typeface="Montserrat"/>
                          <a:ea typeface="Montserrat"/>
                          <a:cs typeface="Montserrat"/>
                          <a:sym typeface="Montserrat"/>
                        </a:rPr>
                        <a:t>API Integration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RESTful API integration using the existing APIs utilised by the Web platform.</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Security &amp; Data Protection</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Any user data to be securely stored in keychain and encryption if required. Secure communication using HTTPS. Authentication using existing backend architecture.</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4652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Analytics &amp; Crash Monitoring</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Firebase Analytics(or any other preferred tool) to be utilised for analysing user behavior, page views and clicks. Crash reporting and error monitoring to be dove via Firebase Crashlytics.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r h="5550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Deployment Strategy</a:t>
                      </a:r>
                      <a:endParaRPr b="1"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App Store and Play store guidelines compliance.</a:t>
                      </a:r>
                      <a:endParaRPr sz="1000" u="none" cap="none" strike="noStrike">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CI/CD pipeline for automated deployment for different environments.</a:t>
                      </a:r>
                      <a:endParaRPr sz="1000" u="none" cap="none" strike="noStrike">
                        <a:latin typeface="Montserrat"/>
                        <a:ea typeface="Montserrat"/>
                        <a:cs typeface="Montserrat"/>
                        <a:sym typeface="Montserrat"/>
                      </a:endParaRPr>
                    </a:p>
                  </a:txBody>
                  <a:tcPr marT="91425" marB="91425" marR="91425" marL="91425">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tcPr>
                </a:tc>
              </a:tr>
            </a:tbl>
          </a:graphicData>
        </a:graphic>
      </p:graphicFrame>
      <p:sp>
        <p:nvSpPr>
          <p:cNvPr id="346" name="Google Shape;346;p14"/>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15"/>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2" name="Google Shape;352;p15"/>
          <p:cNvSpPr txBox="1"/>
          <p:nvPr>
            <p:ph type="title"/>
          </p:nvPr>
        </p:nvSpPr>
        <p:spPr>
          <a:xfrm>
            <a:off x="104500" y="141850"/>
            <a:ext cx="74679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solidFill>
                  <a:schemeClr val="dk1"/>
                </a:solidFill>
              </a:rPr>
              <a:t>Mobile Development Platform - Comparison</a:t>
            </a:r>
            <a:endParaRPr>
              <a:solidFill>
                <a:schemeClr val="dk1"/>
              </a:solidFill>
            </a:endParaRPr>
          </a:p>
        </p:txBody>
      </p:sp>
      <p:sp>
        <p:nvSpPr>
          <p:cNvPr id="353" name="Google Shape;353;p15"/>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354" name="Google Shape;354;p15"/>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graphicFrame>
        <p:nvGraphicFramePr>
          <p:cNvPr id="355" name="Google Shape;355;p15"/>
          <p:cNvGraphicFramePr/>
          <p:nvPr/>
        </p:nvGraphicFramePr>
        <p:xfrm>
          <a:off x="189880" y="722548"/>
          <a:ext cx="3000000" cy="3000000"/>
        </p:xfrm>
        <a:graphic>
          <a:graphicData uri="http://schemas.openxmlformats.org/drawingml/2006/table">
            <a:tbl>
              <a:tblPr bandRow="1" firstRow="1">
                <a:noFill/>
                <a:tableStyleId>{759350B3-BBFF-4BFA-8656-60803C743C3A}</a:tableStyleId>
              </a:tblPr>
              <a:tblGrid>
                <a:gridCol w="4210000"/>
                <a:gridCol w="2933625"/>
                <a:gridCol w="1567950"/>
              </a:tblGrid>
              <a:tr h="260600">
                <a:tc>
                  <a:txBody>
                    <a:bodyPr/>
                    <a:lstStyle/>
                    <a:p>
                      <a:pPr indent="0" lvl="0" marL="63500" marR="0" rtl="0" algn="l">
                        <a:lnSpc>
                          <a:spcPct val="100000"/>
                        </a:lnSpc>
                        <a:spcBef>
                          <a:spcPts val="0"/>
                        </a:spcBef>
                        <a:spcAft>
                          <a:spcPts val="0"/>
                        </a:spcAft>
                        <a:buClr>
                          <a:srgbClr val="FFFFFF"/>
                        </a:buClr>
                        <a:buSzPts val="900"/>
                        <a:buFont typeface="Arial"/>
                        <a:buNone/>
                      </a:pPr>
                      <a:r>
                        <a:rPr lang="en" sz="1100" u="none" cap="none" strike="noStrike">
                          <a:latin typeface="Montserrat"/>
                          <a:ea typeface="Montserrat"/>
                          <a:cs typeface="Montserrat"/>
                          <a:sym typeface="Montserrat"/>
                        </a:rPr>
                        <a:t>Factors</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REACT NATIVE</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c>
                  <a:txBody>
                    <a:bodyPr/>
                    <a:lstStyle/>
                    <a:p>
                      <a:pPr indent="0" lvl="0" marL="63500" marR="0" rtl="0" algn="ctr">
                        <a:lnSpc>
                          <a:spcPct val="100000"/>
                        </a:lnSpc>
                        <a:spcBef>
                          <a:spcPts val="0"/>
                        </a:spcBef>
                        <a:spcAft>
                          <a:spcPts val="0"/>
                        </a:spcAft>
                        <a:buClr>
                          <a:srgbClr val="FFFFFF"/>
                        </a:buClr>
                        <a:buSzPts val="900"/>
                        <a:buFont typeface="Arial"/>
                        <a:buNone/>
                      </a:pPr>
                      <a:r>
                        <a:rPr lang="en" sz="1100" u="none" cap="none" strike="noStrike">
                          <a:solidFill>
                            <a:srgbClr val="FFFFFF"/>
                          </a:solidFill>
                          <a:latin typeface="Montserrat"/>
                          <a:ea typeface="Montserrat"/>
                          <a:cs typeface="Montserrat"/>
                          <a:sym typeface="Montserrat"/>
                        </a:rPr>
                        <a:t>Flutter</a:t>
                      </a:r>
                      <a:endParaRPr sz="1100" u="none" cap="none" strike="noStrike">
                        <a:solidFill>
                          <a:srgbClr val="FFFFFF"/>
                        </a:solidFill>
                        <a:latin typeface="Montserrat"/>
                        <a:ea typeface="Montserrat"/>
                        <a:cs typeface="Montserrat"/>
                        <a:sym typeface="Montserrat"/>
                      </a:endParaRPr>
                    </a:p>
                  </a:txBody>
                  <a:tcPr marT="46050" marB="46050" marR="46050" marL="46050" anchor="ctr">
                    <a:lnL cap="flat" cmpd="sng" w="12700">
                      <a:solidFill>
                        <a:schemeClr val="lt2"/>
                      </a:solidFill>
                      <a:prstDash val="solid"/>
                      <a:round/>
                      <a:headEnd len="sm" w="sm" type="none"/>
                      <a:tailEnd len="sm" w="sm" type="none"/>
                    </a:lnL>
                    <a:lnR cap="flat" cmpd="sng" w="12700">
                      <a:solidFill>
                        <a:schemeClr val="lt2"/>
                      </a:solidFill>
                      <a:prstDash val="solid"/>
                      <a:round/>
                      <a:headEnd len="sm" w="sm" type="none"/>
                      <a:tailEnd len="sm" w="sm" type="none"/>
                    </a:lnR>
                    <a:lnT cap="flat" cmpd="sng" w="12700">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chemeClr val="accent2"/>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Performance/Speed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OTA Updates  (Without going through App Store)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 (Using Codepush or Expo)</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Possible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41775">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Technologies Used</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React/ React-Native/ Native Components</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Dart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Development Time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Debugging</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Easy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1535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Community Support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Backed By</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Facebook/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Google/ Open Source</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chemeClr val="lt2"/>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000000"/>
                        </a:buClr>
                        <a:buSzPts val="1000"/>
                        <a:buFont typeface="Arial"/>
                        <a:buNone/>
                      </a:pPr>
                      <a:r>
                        <a:rPr b="1" lang="en" sz="1000" u="none" cap="none" strike="noStrike">
                          <a:latin typeface="Montserrat"/>
                          <a:ea typeface="Montserrat"/>
                          <a:cs typeface="Montserrat"/>
                          <a:sym typeface="Montserrat"/>
                        </a:rPr>
                        <a:t>Build Size</a:t>
                      </a:r>
                      <a:endParaRPr b="1"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Highest</a:t>
                      </a:r>
                      <a:endParaRPr sz="1000" u="none" cap="none" strike="noStrike">
                        <a:latin typeface="Montserrat"/>
                        <a:ea typeface="Montserrat"/>
                        <a:cs typeface="Montserrat"/>
                        <a:sym typeface="Montserrat"/>
                      </a:endParaRPr>
                    </a:p>
                  </a:txBody>
                  <a:tcPr marT="46050" marB="46050" marR="46050" marL="46050" anchor="ctr">
                    <a:lnL cap="flat" cmpd="sng" w="9525">
                      <a:solidFill>
                        <a:schemeClr val="lt2"/>
                      </a:solidFill>
                      <a:prstDash val="solid"/>
                      <a:round/>
                      <a:headEnd len="sm" w="sm" type="none"/>
                      <a:tailEnd len="sm" w="sm" type="none"/>
                    </a:lnL>
                    <a:lnR cap="flat" cmpd="sng" w="9525">
                      <a:solidFill>
                        <a:schemeClr val="lt2"/>
                      </a:solidFill>
                      <a:prstDash val="solid"/>
                      <a:round/>
                      <a:headEnd len="sm" w="sm" type="none"/>
                      <a:tailEnd len="sm" w="sm" type="none"/>
                    </a:lnR>
                    <a:lnT cap="flat" cmpd="sng" w="9525">
                      <a:solidFill>
                        <a:schemeClr val="lt2"/>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Code Reuse between Platforms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70-80%</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Support for OS Upgrades</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High</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307700">
                <a:tc>
                  <a:txBody>
                    <a:bodyPr/>
                    <a:lstStyle/>
                    <a:p>
                      <a:pPr indent="0" lvl="0" marL="63500" marR="0" rtl="0" algn="l">
                        <a:lnSpc>
                          <a:spcPct val="141666"/>
                        </a:lnSpc>
                        <a:spcBef>
                          <a:spcPts val="0"/>
                        </a:spcBef>
                        <a:spcAft>
                          <a:spcPts val="0"/>
                        </a:spcAft>
                        <a:buClr>
                          <a:srgbClr val="3F3F3F"/>
                        </a:buClr>
                        <a:buSzPts val="900"/>
                        <a:buFont typeface="Arial"/>
                        <a:buNone/>
                      </a:pPr>
                      <a:r>
                        <a:rPr b="1" lang="en" sz="1000" u="none" cap="none" strike="noStrike">
                          <a:latin typeface="Montserrat"/>
                          <a:ea typeface="Montserrat"/>
                          <a:cs typeface="Montserrat"/>
                          <a:sym typeface="Montserrat"/>
                        </a:rPr>
                        <a:t>Ability &amp; Support for 3</a:t>
                      </a:r>
                      <a:r>
                        <a:rPr b="1" baseline="30000" lang="en" sz="1000" u="none" cap="none" strike="noStrike">
                          <a:latin typeface="Montserrat"/>
                          <a:ea typeface="Montserrat"/>
                          <a:cs typeface="Montserrat"/>
                          <a:sym typeface="Montserrat"/>
                        </a:rPr>
                        <a:t>rd</a:t>
                      </a:r>
                      <a:r>
                        <a:rPr b="1" lang="en" sz="1000" u="none" cap="none" strike="noStrike">
                          <a:latin typeface="Montserrat"/>
                          <a:ea typeface="Montserrat"/>
                          <a:cs typeface="Montserrat"/>
                          <a:sym typeface="Montserrat"/>
                        </a:rPr>
                        <a:t> party hardware / SDK</a:t>
                      </a:r>
                      <a:endParaRPr b="1"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ctr">
                        <a:lnSpc>
                          <a:spcPct val="141666"/>
                        </a:lnSpc>
                        <a:spcBef>
                          <a:spcPts val="0"/>
                        </a:spcBef>
                        <a:spcAft>
                          <a:spcPts val="0"/>
                        </a:spcAft>
                        <a:buClr>
                          <a:srgbClr val="000000"/>
                        </a:buClr>
                        <a:buSzPts val="1000"/>
                        <a:buFont typeface="Arial"/>
                        <a:buNone/>
                      </a:pPr>
                      <a:r>
                        <a:rPr lang="en" sz="1000" u="none" cap="none" strike="noStrike">
                          <a:latin typeface="Montserrat"/>
                          <a:ea typeface="Montserrat"/>
                          <a:cs typeface="Montserrat"/>
                          <a:sym typeface="Montserrat"/>
                        </a:rPr>
                        <a:t>Medium</a:t>
                      </a:r>
                      <a:endParaRPr sz="1000" u="none" cap="none" strike="noStrike">
                        <a:latin typeface="Montserrat"/>
                        <a:ea typeface="Montserrat"/>
                        <a:cs typeface="Montserrat"/>
                        <a:sym typeface="Montserrat"/>
                      </a:endParaRPr>
                    </a:p>
                  </a:txBody>
                  <a:tcPr marT="46050" marB="46050" marR="46050" marL="4605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356" name="Google Shape;356;p15"/>
          <p:cNvSpPr txBox="1"/>
          <p:nvPr/>
        </p:nvSpPr>
        <p:spPr>
          <a:xfrm>
            <a:off x="0" y="4485550"/>
            <a:ext cx="9144000" cy="495000"/>
          </a:xfrm>
          <a:prstGeom prst="rect">
            <a:avLst/>
          </a:prstGeom>
          <a:solidFill>
            <a:srgbClr val="FFFFFF"/>
          </a:solidFill>
          <a:ln>
            <a:noFill/>
          </a:ln>
        </p:spPr>
        <p:txBody>
          <a:bodyPr anchorCtr="0" anchor="t" bIns="91425" lIns="91425" spcFirstLastPara="1" rIns="91425" wrap="square" tIns="91425">
            <a:noAutofit/>
          </a:bodyPr>
          <a:lstStyle/>
          <a:p>
            <a:r>
              <a:t>Zero-trust network architecture with private endpoints for all PaaS services.</a:t>
            </a:r>
          </a:p>
          <a:p>
            <a:pPr/>
            <a:r>
              <a:t>FHIR server (HAPI) as integration hub between portal and Cerner EMR.</a:t>
            </a:r>
          </a:p>
          <a:p>
            <a:pPr/>
            <a:r>
              <a:t>Immutable audit logs stored in Azure Log Analytics for 7 years.</a:t>
            </a:r>
          </a:p>
          <a:p>
            <a:pPr/>
            <a:r>
              <a:t>Automated CI/CD with SAST/DAST gates in Azure DevOps pipelines.</a:t>
            </a:r>
          </a:p>
          <a:p>
            <a:pPr/>
            <a:r>
              <a:t>Disaster recovery with geo-redundant storage and 4-hour RTO target.</a:t>
            </a: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16"/>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p16"/>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363" name="Google Shape;363;p16"/>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364" name="Google Shape;364;p16"/>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365" name="Google Shape;365;p16"/>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366" name="Google Shape;366;p16"/>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367" name="Google Shape;367;p16"/>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368" name="Google Shape;368;p16"/>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369" name="Google Shape;369;p16"/>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p16"/>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1" name="Google Shape;371;p16"/>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2" name="Google Shape;372;p16"/>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373" name="Google Shape;373;p16"/>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Project Plan and Key Deliverables</a:t>
            </a:r>
            <a:endParaRPr b="1" i="0" sz="1200" u="none" cap="none" strike="noStrike">
              <a:solidFill>
                <a:srgbClr val="D71B7F"/>
              </a:solidFill>
              <a:latin typeface="Montserrat"/>
              <a:ea typeface="Montserrat"/>
              <a:cs typeface="Montserrat"/>
              <a:sym typeface="Montserrat"/>
            </a:endParaRPr>
          </a:p>
        </p:txBody>
      </p:sp>
      <p:cxnSp>
        <p:nvCxnSpPr>
          <p:cNvPr id="374" name="Google Shape;374;p16"/>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375" name="Google Shape;375;p16"/>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6" name="Google Shape;376;p16"/>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377" name="Google Shape;377;p16"/>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378" name="Google Shape;378;p16"/>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9" name="Google Shape;379;p1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17"/>
          <p:cNvSpPr/>
          <p:nvPr/>
        </p:nvSpPr>
        <p:spPr>
          <a:xfrm>
            <a:off x="1623100" y="934600"/>
            <a:ext cx="7355400" cy="3713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5" name="Google Shape;385;p17"/>
          <p:cNvSpPr/>
          <p:nvPr/>
        </p:nvSpPr>
        <p:spPr>
          <a:xfrm>
            <a:off x="236853" y="1505825"/>
            <a:ext cx="1877400" cy="2588100"/>
          </a:xfrm>
          <a:prstGeom prst="snip1Rect">
            <a:avLst>
              <a:gd fmla="val 8163" name="adj"/>
            </a:avLst>
          </a:prstGeom>
          <a:solidFill>
            <a:srgbClr val="FFFFFF"/>
          </a:solidFill>
          <a:ln cap="flat" cmpd="sng" w="9525">
            <a:solidFill>
              <a:schemeClr val="lt2"/>
            </a:solidFill>
            <a:prstDash val="solid"/>
            <a:round/>
            <a:headEnd len="sm" w="sm" type="none"/>
            <a:tailEnd len="sm" w="sm" type="none"/>
          </a:ln>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chemeClr val="dk1"/>
              </a:solidFill>
              <a:latin typeface="Montserrat"/>
              <a:ea typeface="Montserrat"/>
              <a:cs typeface="Montserrat"/>
              <a:sym typeface="Montserrat"/>
            </a:endParaRPr>
          </a:p>
        </p:txBody>
      </p:sp>
      <p:sp>
        <p:nvSpPr>
          <p:cNvPr id="386" name="Google Shape;386;p1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Management Approach</a:t>
            </a:r>
            <a:endParaRPr b="1" i="0" sz="2000" u="none" cap="none" strike="noStrike">
              <a:solidFill>
                <a:schemeClr val="dk1"/>
              </a:solidFill>
              <a:latin typeface="Montserrat"/>
              <a:ea typeface="Montserrat"/>
              <a:cs typeface="Montserrat"/>
              <a:sym typeface="Montserrat"/>
            </a:endParaRPr>
          </a:p>
        </p:txBody>
      </p:sp>
      <p:sp>
        <p:nvSpPr>
          <p:cNvPr id="387" name="Google Shape;387;p17"/>
          <p:cNvSpPr/>
          <p:nvPr/>
        </p:nvSpPr>
        <p:spPr>
          <a:xfrm>
            <a:off x="2303501" y="2698629"/>
            <a:ext cx="1202100" cy="13272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8" name="Google Shape;388;p17"/>
          <p:cNvSpPr/>
          <p:nvPr/>
        </p:nvSpPr>
        <p:spPr>
          <a:xfrm>
            <a:off x="3799228" y="2698629"/>
            <a:ext cx="1202100" cy="1366800"/>
          </a:xfrm>
          <a:prstGeom prst="rect">
            <a:avLst/>
          </a:prstGeom>
          <a:no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389" name="Google Shape;389;p17"/>
          <p:cNvSpPr/>
          <p:nvPr/>
        </p:nvSpPr>
        <p:spPr>
          <a:xfrm>
            <a:off x="2303500"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Engagement </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Kick off &amp; Discovery</a:t>
            </a:r>
            <a:endParaRPr b="1" i="0" sz="900" u="none" cap="none" strike="noStrike">
              <a:solidFill>
                <a:srgbClr val="616161"/>
              </a:solidFill>
              <a:latin typeface="Montserrat"/>
              <a:ea typeface="Montserrat"/>
              <a:cs typeface="Montserrat"/>
              <a:sym typeface="Montserrat"/>
            </a:endParaRPr>
          </a:p>
        </p:txBody>
      </p:sp>
      <p:sp>
        <p:nvSpPr>
          <p:cNvPr id="390" name="Google Shape;390;p17"/>
          <p:cNvSpPr/>
          <p:nvPr/>
        </p:nvSpPr>
        <p:spPr>
          <a:xfrm>
            <a:off x="3814239" y="1677712"/>
            <a:ext cx="11772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ctr"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Iterative</a:t>
            </a: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Development</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br>
              <a:rPr b="1" i="0" lang="en" sz="900" u="none" cap="none" strike="noStrike">
                <a:solidFill>
                  <a:srgbClr val="616161"/>
                </a:solidFill>
                <a:latin typeface="Montserrat"/>
                <a:ea typeface="Montserrat"/>
                <a:cs typeface="Montserrat"/>
                <a:sym typeface="Montserrat"/>
              </a:rPr>
            </a:br>
            <a:r>
              <a:rPr b="1" i="0" lang="en" sz="900" u="none" cap="none" strike="noStrike">
                <a:solidFill>
                  <a:srgbClr val="616161"/>
                </a:solidFill>
                <a:latin typeface="Montserrat"/>
                <a:ea typeface="Montserrat"/>
                <a:cs typeface="Montserrat"/>
                <a:sym typeface="Montserrat"/>
              </a:rPr>
              <a:t>1     2    3    .   .</a:t>
            </a:r>
            <a:endParaRPr b="1" i="0" sz="900" u="none" cap="none" strike="noStrike">
              <a:solidFill>
                <a:srgbClr val="616161"/>
              </a:solidFill>
              <a:latin typeface="Montserrat"/>
              <a:ea typeface="Montserrat"/>
              <a:cs typeface="Montserrat"/>
              <a:sym typeface="Montserrat"/>
            </a:endParaRPr>
          </a:p>
        </p:txBody>
      </p:sp>
      <p:grpSp>
        <p:nvGrpSpPr>
          <p:cNvPr id="391" name="Google Shape;391;p17"/>
          <p:cNvGrpSpPr/>
          <p:nvPr/>
        </p:nvGrpSpPr>
        <p:grpSpPr>
          <a:xfrm>
            <a:off x="3934107" y="2120825"/>
            <a:ext cx="817618" cy="72728"/>
            <a:chOff x="3198956" y="2429934"/>
            <a:chExt cx="1353000" cy="149400"/>
          </a:xfrm>
        </p:grpSpPr>
        <p:sp>
          <p:nvSpPr>
            <p:cNvPr id="392" name="Google Shape;392;p17"/>
            <p:cNvSpPr/>
            <p:nvPr/>
          </p:nvSpPr>
          <p:spPr>
            <a:xfrm flipH="1">
              <a:off x="31989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3" name="Google Shape;393;p17"/>
            <p:cNvSpPr/>
            <p:nvPr/>
          </p:nvSpPr>
          <p:spPr>
            <a:xfrm flipH="1">
              <a:off x="35037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4" name="Google Shape;394;p17"/>
            <p:cNvSpPr/>
            <p:nvPr/>
          </p:nvSpPr>
          <p:spPr>
            <a:xfrm flipH="1">
              <a:off x="38085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5" name="Google Shape;395;p17"/>
            <p:cNvSpPr/>
            <p:nvPr/>
          </p:nvSpPr>
          <p:spPr>
            <a:xfrm flipH="1">
              <a:off x="41133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sp>
          <p:nvSpPr>
            <p:cNvPr id="396" name="Google Shape;396;p17"/>
            <p:cNvSpPr/>
            <p:nvPr/>
          </p:nvSpPr>
          <p:spPr>
            <a:xfrm flipH="1">
              <a:off x="4418156" y="2429934"/>
              <a:ext cx="133800" cy="149400"/>
            </a:xfrm>
            <a:prstGeom prst="star5">
              <a:avLst>
                <a:gd fmla="val 19098" name="adj"/>
                <a:gd fmla="val 105146" name="hf"/>
                <a:gd fmla="val 110557" name="vf"/>
              </a:avLst>
            </a:prstGeom>
            <a:solidFill>
              <a:srgbClr val="C55A11"/>
            </a:solidFill>
            <a:ln cap="flat" cmpd="sng" w="9525">
              <a:solidFill>
                <a:srgbClr val="C55A11"/>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FFFFFF"/>
                </a:solidFill>
                <a:latin typeface="Century Gothic"/>
                <a:ea typeface="Century Gothic"/>
                <a:cs typeface="Century Gothic"/>
                <a:sym typeface="Century Gothic"/>
              </a:endParaRPr>
            </a:p>
          </p:txBody>
        </p:sp>
      </p:grpSp>
      <p:cxnSp>
        <p:nvCxnSpPr>
          <p:cNvPr id="397" name="Google Shape;397;p17"/>
          <p:cNvCxnSpPr>
            <a:stCxn id="389" idx="3"/>
            <a:endCxn id="390" idx="1"/>
          </p:cNvCxnSpPr>
          <p:nvPr/>
        </p:nvCxnSpPr>
        <p:spPr>
          <a:xfrm>
            <a:off x="3480700"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398" name="Google Shape;398;p17"/>
          <p:cNvSpPr/>
          <p:nvPr/>
        </p:nvSpPr>
        <p:spPr>
          <a:xfrm>
            <a:off x="3721678" y="1352950"/>
            <a:ext cx="13065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15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Continuous Evolution of Working Software</a:t>
            </a:r>
            <a:endParaRPr b="0" i="0" sz="700" u="none" cap="none" strike="noStrike">
              <a:solidFill>
                <a:srgbClr val="000000"/>
              </a:solidFill>
              <a:latin typeface="Montserrat"/>
              <a:ea typeface="Montserrat"/>
              <a:cs typeface="Montserrat"/>
              <a:sym typeface="Montserrat"/>
            </a:endParaRPr>
          </a:p>
        </p:txBody>
      </p:sp>
      <p:sp>
        <p:nvSpPr>
          <p:cNvPr id="399" name="Google Shape;399;p17"/>
          <p:cNvSpPr/>
          <p:nvPr/>
        </p:nvSpPr>
        <p:spPr>
          <a:xfrm>
            <a:off x="5324975" y="1677700"/>
            <a:ext cx="7893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UAT</a:t>
            </a:r>
            <a:endParaRPr b="1" i="0" sz="900" u="none" cap="none" strike="noStrike">
              <a:solidFill>
                <a:srgbClr val="616161"/>
              </a:solidFill>
              <a:latin typeface="Montserrat"/>
              <a:ea typeface="Montserrat"/>
              <a:cs typeface="Montserrat"/>
              <a:sym typeface="Montserrat"/>
            </a:endParaRPr>
          </a:p>
        </p:txBody>
      </p:sp>
      <p:cxnSp>
        <p:nvCxnSpPr>
          <p:cNvPr id="400" name="Google Shape;400;p17"/>
          <p:cNvCxnSpPr>
            <a:stCxn id="390" idx="3"/>
            <a:endCxn id="399" idx="1"/>
          </p:cNvCxnSpPr>
          <p:nvPr/>
        </p:nvCxnSpPr>
        <p:spPr>
          <a:xfrm>
            <a:off x="4991439" y="2075212"/>
            <a:ext cx="333600" cy="0"/>
          </a:xfrm>
          <a:prstGeom prst="straightConnector1">
            <a:avLst/>
          </a:prstGeom>
          <a:noFill/>
          <a:ln cap="flat" cmpd="sng" w="9525">
            <a:solidFill>
              <a:srgbClr val="44546A"/>
            </a:solidFill>
            <a:prstDash val="solid"/>
            <a:round/>
            <a:headEnd len="sm" w="sm" type="none"/>
            <a:tailEnd len="med" w="med" type="triangle"/>
          </a:ln>
        </p:spPr>
      </p:cxnSp>
      <p:sp>
        <p:nvSpPr>
          <p:cNvPr id="401" name="Google Shape;401;p17"/>
          <p:cNvSpPr/>
          <p:nvPr/>
        </p:nvSpPr>
        <p:spPr>
          <a:xfrm>
            <a:off x="6447800" y="1694125"/>
            <a:ext cx="789300" cy="7569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15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Go-Live</a:t>
            </a:r>
            <a:endParaRPr b="1" i="0" sz="900" u="none" cap="none" strike="noStrike">
              <a:solidFill>
                <a:srgbClr val="616161"/>
              </a:solidFill>
              <a:latin typeface="Montserrat"/>
              <a:ea typeface="Montserrat"/>
              <a:cs typeface="Montserrat"/>
              <a:sym typeface="Montserrat"/>
            </a:endParaRPr>
          </a:p>
        </p:txBody>
      </p:sp>
      <p:cxnSp>
        <p:nvCxnSpPr>
          <p:cNvPr id="402" name="Google Shape;402;p17"/>
          <p:cNvCxnSpPr>
            <a:stCxn id="399" idx="3"/>
            <a:endCxn id="401" idx="1"/>
          </p:cNvCxnSpPr>
          <p:nvPr/>
        </p:nvCxnSpPr>
        <p:spPr>
          <a:xfrm flipH="1" rot="10800000">
            <a:off x="6114275" y="2072500"/>
            <a:ext cx="333600" cy="2700"/>
          </a:xfrm>
          <a:prstGeom prst="straightConnector1">
            <a:avLst/>
          </a:prstGeom>
          <a:noFill/>
          <a:ln cap="flat" cmpd="sng" w="9525">
            <a:solidFill>
              <a:srgbClr val="44546A"/>
            </a:solidFill>
            <a:prstDash val="solid"/>
            <a:round/>
            <a:headEnd len="sm" w="sm" type="none"/>
            <a:tailEnd len="med" w="med" type="triangle"/>
          </a:ln>
        </p:spPr>
      </p:cxnSp>
      <p:sp>
        <p:nvSpPr>
          <p:cNvPr id="403" name="Google Shape;403;p17"/>
          <p:cNvSpPr/>
          <p:nvPr/>
        </p:nvSpPr>
        <p:spPr>
          <a:xfrm>
            <a:off x="7633975" y="1683488"/>
            <a:ext cx="1197000" cy="795000"/>
          </a:xfrm>
          <a:prstGeom prst="rect">
            <a:avLst/>
          </a:prstGeom>
          <a:solidFill>
            <a:srgbClr val="FFFFFF"/>
          </a:solidFill>
          <a:ln>
            <a:noFill/>
          </a:ln>
          <a:effectLst>
            <a:outerShdw blurRad="157163" rotWithShape="0" algn="bl" dir="9060000" dist="9525">
              <a:srgbClr val="000000">
                <a:alpha val="14118"/>
              </a:srgbClr>
            </a:outerShdw>
          </a:effectLst>
        </p:spPr>
        <p:txBody>
          <a:bodyPr anchorCtr="0" anchor="b" bIns="68575" lIns="68575" spcFirstLastPara="1" rIns="68575" wrap="square" tIns="6857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Hypercare</a:t>
            </a:r>
            <a:endParaRPr b="1" i="0" sz="900" u="none" cap="none" strike="noStrike">
              <a:solidFill>
                <a:srgbClr val="61616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616161"/>
                </a:solidFill>
                <a:latin typeface="Montserrat"/>
                <a:ea typeface="Montserrat"/>
                <a:cs typeface="Montserrat"/>
                <a:sym typeface="Montserrat"/>
              </a:rPr>
              <a:t>Support</a:t>
            </a:r>
            <a:endParaRPr b="1" i="0" sz="900" u="none" cap="none" strike="noStrike">
              <a:solidFill>
                <a:srgbClr val="616161"/>
              </a:solidFill>
              <a:latin typeface="Montserrat"/>
              <a:ea typeface="Montserrat"/>
              <a:cs typeface="Montserrat"/>
              <a:sym typeface="Montserrat"/>
            </a:endParaRPr>
          </a:p>
        </p:txBody>
      </p:sp>
      <p:cxnSp>
        <p:nvCxnSpPr>
          <p:cNvPr id="404" name="Google Shape;404;p17"/>
          <p:cNvCxnSpPr/>
          <p:nvPr/>
        </p:nvCxnSpPr>
        <p:spPr>
          <a:xfrm>
            <a:off x="7237088" y="2071309"/>
            <a:ext cx="365700" cy="7800"/>
          </a:xfrm>
          <a:prstGeom prst="straightConnector1">
            <a:avLst/>
          </a:prstGeom>
          <a:noFill/>
          <a:ln cap="flat" cmpd="sng" w="9525">
            <a:solidFill>
              <a:srgbClr val="44546A"/>
            </a:solidFill>
            <a:prstDash val="solid"/>
            <a:round/>
            <a:headEnd len="sm" w="sm" type="none"/>
            <a:tailEnd len="med" w="med" type="triangle"/>
          </a:ln>
        </p:spPr>
      </p:cxnSp>
      <p:sp>
        <p:nvSpPr>
          <p:cNvPr id="405" name="Google Shape;405;p17"/>
          <p:cNvSpPr/>
          <p:nvPr/>
        </p:nvSpPr>
        <p:spPr>
          <a:xfrm>
            <a:off x="2374525" y="2817019"/>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6" name="Google Shape;406;p17"/>
          <p:cNvSpPr/>
          <p:nvPr/>
        </p:nvSpPr>
        <p:spPr>
          <a:xfrm>
            <a:off x="2374517" y="3276841"/>
            <a:ext cx="1054200" cy="320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7" name="Google Shape;407;p17"/>
          <p:cNvSpPr/>
          <p:nvPr/>
        </p:nvSpPr>
        <p:spPr>
          <a:xfrm>
            <a:off x="2374517" y="3727228"/>
            <a:ext cx="1054200" cy="2040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8" name="Google Shape;408;p17"/>
          <p:cNvSpPr/>
          <p:nvPr/>
        </p:nvSpPr>
        <p:spPr>
          <a:xfrm>
            <a:off x="4131026" y="3035164"/>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09" name="Google Shape;409;p17"/>
          <p:cNvSpPr/>
          <p:nvPr/>
        </p:nvSpPr>
        <p:spPr>
          <a:xfrm>
            <a:off x="4131026" y="3299908"/>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0" name="Google Shape;410;p17"/>
          <p:cNvSpPr/>
          <p:nvPr/>
        </p:nvSpPr>
        <p:spPr>
          <a:xfrm>
            <a:off x="4131026" y="356070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1" name="Google Shape;411;p17"/>
          <p:cNvSpPr/>
          <p:nvPr/>
        </p:nvSpPr>
        <p:spPr>
          <a:xfrm>
            <a:off x="4131026" y="3813593"/>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sp>
        <p:nvSpPr>
          <p:cNvPr id="412" name="Google Shape;412;p17"/>
          <p:cNvSpPr/>
          <p:nvPr/>
        </p:nvSpPr>
        <p:spPr>
          <a:xfrm>
            <a:off x="4131026" y="2766471"/>
            <a:ext cx="620700" cy="161400"/>
          </a:xfrm>
          <a:prstGeom prst="rect">
            <a:avLst/>
          </a:prstGeom>
          <a:solidFill>
            <a:srgbClr val="F2F2F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rgbClr val="FFFFFF"/>
              </a:solidFill>
              <a:latin typeface="Calibri"/>
              <a:ea typeface="Calibri"/>
              <a:cs typeface="Calibri"/>
              <a:sym typeface="Calibri"/>
            </a:endParaRPr>
          </a:p>
        </p:txBody>
      </p:sp>
      <p:cxnSp>
        <p:nvCxnSpPr>
          <p:cNvPr id="413" name="Google Shape;413;p17"/>
          <p:cNvCxnSpPr/>
          <p:nvPr/>
        </p:nvCxnSpPr>
        <p:spPr>
          <a:xfrm>
            <a:off x="3992919" y="2867471"/>
            <a:ext cx="0" cy="1011600"/>
          </a:xfrm>
          <a:prstGeom prst="straightConnector1">
            <a:avLst/>
          </a:prstGeom>
          <a:noFill/>
          <a:ln cap="flat" cmpd="sng" w="12700">
            <a:solidFill>
              <a:srgbClr val="7F7F7F"/>
            </a:solidFill>
            <a:prstDash val="solid"/>
            <a:miter lim="8000"/>
            <a:headEnd len="sm" w="sm" type="none"/>
            <a:tailEnd len="sm" w="sm" type="none"/>
          </a:ln>
        </p:spPr>
      </p:cxnSp>
      <p:sp>
        <p:nvSpPr>
          <p:cNvPr id="414" name="Google Shape;414;p17"/>
          <p:cNvSpPr/>
          <p:nvPr/>
        </p:nvSpPr>
        <p:spPr>
          <a:xfrm>
            <a:off x="3804525" y="4077663"/>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Iterative &amp; Incremental </a:t>
            </a:r>
            <a:endParaRPr b="0" i="0" sz="700" u="none" cap="none" strike="noStrike">
              <a:solidFill>
                <a:srgbClr val="000000"/>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Collaboration</a:t>
            </a:r>
            <a:endParaRPr b="0" i="0" sz="700" u="none" cap="none" strike="noStrike">
              <a:solidFill>
                <a:srgbClr val="FFFFFF"/>
              </a:solidFill>
              <a:latin typeface="Montserrat"/>
              <a:ea typeface="Montserrat"/>
              <a:cs typeface="Montserrat"/>
              <a:sym typeface="Montserrat"/>
            </a:endParaRPr>
          </a:p>
        </p:txBody>
      </p:sp>
      <p:sp>
        <p:nvSpPr>
          <p:cNvPr id="415" name="Google Shape;415;p17"/>
          <p:cNvSpPr/>
          <p:nvPr/>
        </p:nvSpPr>
        <p:spPr>
          <a:xfrm>
            <a:off x="2304491" y="3293825"/>
            <a:ext cx="1054200" cy="2979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 Framework Setup</a:t>
            </a:r>
            <a:endParaRPr b="0" i="0" sz="700" u="none" cap="none" strike="noStrike">
              <a:solidFill>
                <a:srgbClr val="000000"/>
              </a:solidFill>
              <a:latin typeface="Montserrat"/>
              <a:ea typeface="Montserrat"/>
              <a:cs typeface="Montserrat"/>
              <a:sym typeface="Montserrat"/>
            </a:endParaRPr>
          </a:p>
        </p:txBody>
      </p:sp>
      <p:sp>
        <p:nvSpPr>
          <p:cNvPr id="416" name="Google Shape;416;p17"/>
          <p:cNvSpPr/>
          <p:nvPr/>
        </p:nvSpPr>
        <p:spPr>
          <a:xfrm>
            <a:off x="2463228" y="3738183"/>
            <a:ext cx="8973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Dev &amp; CI Setup</a:t>
            </a:r>
            <a:endParaRPr b="0" i="0" sz="700" u="none" cap="none" strike="noStrike">
              <a:solidFill>
                <a:srgbClr val="000000"/>
              </a:solidFill>
              <a:latin typeface="Montserrat"/>
              <a:ea typeface="Montserrat"/>
              <a:cs typeface="Montserrat"/>
              <a:sym typeface="Montserrat"/>
            </a:endParaRPr>
          </a:p>
        </p:txBody>
      </p:sp>
      <p:sp>
        <p:nvSpPr>
          <p:cNvPr id="417" name="Google Shape;417;p17"/>
          <p:cNvSpPr/>
          <p:nvPr/>
        </p:nvSpPr>
        <p:spPr>
          <a:xfrm>
            <a:off x="2308793" y="4041178"/>
            <a:ext cx="1202100" cy="433800"/>
          </a:xfrm>
          <a:prstGeom prst="rect">
            <a:avLst/>
          </a:prstGeom>
          <a:solidFill>
            <a:srgbClr val="F2F2F2"/>
          </a:solidFill>
          <a:ln cap="flat" cmpd="sng" w="9525">
            <a:solidFill>
              <a:srgbClr val="D8D8D8"/>
            </a:solidFill>
            <a:prstDash val="solid"/>
            <a:miter lim="8000"/>
            <a:headEnd len="sm" w="sm" type="none"/>
            <a:tailEnd len="sm" w="sm" type="none"/>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Project Setup &amp; Preparation</a:t>
            </a:r>
            <a:endParaRPr b="0" i="0" sz="700" u="none" cap="none" strike="noStrike">
              <a:solidFill>
                <a:srgbClr val="FFFFFF"/>
              </a:solidFill>
              <a:latin typeface="Montserrat"/>
              <a:ea typeface="Montserrat"/>
              <a:cs typeface="Montserrat"/>
              <a:sym typeface="Montserrat"/>
            </a:endParaRPr>
          </a:p>
        </p:txBody>
      </p:sp>
      <p:sp>
        <p:nvSpPr>
          <p:cNvPr id="418" name="Google Shape;418;p17"/>
          <p:cNvSpPr/>
          <p:nvPr/>
        </p:nvSpPr>
        <p:spPr>
          <a:xfrm>
            <a:off x="4155819" y="2755171"/>
            <a:ext cx="5769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Analyse</a:t>
            </a:r>
            <a:endParaRPr b="0" i="0" sz="700" u="none" cap="none" strike="noStrike">
              <a:solidFill>
                <a:srgbClr val="000000"/>
              </a:solidFill>
              <a:latin typeface="Montserrat"/>
              <a:ea typeface="Montserrat"/>
              <a:cs typeface="Montserrat"/>
              <a:sym typeface="Montserrat"/>
            </a:endParaRPr>
          </a:p>
        </p:txBody>
      </p:sp>
      <p:sp>
        <p:nvSpPr>
          <p:cNvPr id="419" name="Google Shape;419;p17"/>
          <p:cNvSpPr/>
          <p:nvPr/>
        </p:nvSpPr>
        <p:spPr>
          <a:xfrm>
            <a:off x="4190073" y="3018350"/>
            <a:ext cx="5085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Design</a:t>
            </a:r>
            <a:endParaRPr b="0" i="0" sz="700" u="none" cap="none" strike="noStrike">
              <a:solidFill>
                <a:srgbClr val="000000"/>
              </a:solidFill>
              <a:latin typeface="Montserrat"/>
              <a:ea typeface="Montserrat"/>
              <a:cs typeface="Montserrat"/>
              <a:sym typeface="Montserrat"/>
            </a:endParaRPr>
          </a:p>
        </p:txBody>
      </p:sp>
      <p:sp>
        <p:nvSpPr>
          <p:cNvPr id="420" name="Google Shape;420;p17"/>
          <p:cNvSpPr/>
          <p:nvPr/>
        </p:nvSpPr>
        <p:spPr>
          <a:xfrm>
            <a:off x="4125640" y="3285549"/>
            <a:ext cx="6480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Code</a:t>
            </a:r>
            <a:endParaRPr b="0" i="0" sz="700" u="none" cap="none" strike="noStrike">
              <a:solidFill>
                <a:srgbClr val="000000"/>
              </a:solidFill>
              <a:latin typeface="Montserrat"/>
              <a:ea typeface="Montserrat"/>
              <a:cs typeface="Montserrat"/>
              <a:sym typeface="Montserrat"/>
            </a:endParaRPr>
          </a:p>
        </p:txBody>
      </p:sp>
      <p:sp>
        <p:nvSpPr>
          <p:cNvPr id="421" name="Google Shape;421;p17"/>
          <p:cNvSpPr/>
          <p:nvPr/>
        </p:nvSpPr>
        <p:spPr>
          <a:xfrm>
            <a:off x="4279537" y="3537980"/>
            <a:ext cx="3294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Test</a:t>
            </a:r>
            <a:endParaRPr b="0" i="0" sz="700" u="none" cap="none" strike="noStrike">
              <a:solidFill>
                <a:srgbClr val="000000"/>
              </a:solidFill>
              <a:latin typeface="Montserrat"/>
              <a:ea typeface="Montserrat"/>
              <a:cs typeface="Montserrat"/>
              <a:sym typeface="Montserrat"/>
            </a:endParaRPr>
          </a:p>
        </p:txBody>
      </p:sp>
      <p:sp>
        <p:nvSpPr>
          <p:cNvPr id="422" name="Google Shape;422;p17"/>
          <p:cNvSpPr/>
          <p:nvPr/>
        </p:nvSpPr>
        <p:spPr>
          <a:xfrm>
            <a:off x="4156461" y="3790409"/>
            <a:ext cx="536100" cy="1752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Deploy</a:t>
            </a:r>
            <a:endParaRPr b="0" i="0" sz="700" u="none" cap="none" strike="noStrike">
              <a:solidFill>
                <a:srgbClr val="000000"/>
              </a:solidFill>
              <a:latin typeface="Montserrat"/>
              <a:ea typeface="Montserrat"/>
              <a:cs typeface="Montserrat"/>
              <a:sym typeface="Montserrat"/>
            </a:endParaRPr>
          </a:p>
        </p:txBody>
      </p:sp>
      <p:cxnSp>
        <p:nvCxnSpPr>
          <p:cNvPr id="423" name="Google Shape;423;p17"/>
          <p:cNvCxnSpPr/>
          <p:nvPr/>
        </p:nvCxnSpPr>
        <p:spPr>
          <a:xfrm flipH="1">
            <a:off x="4443986" y="292788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4" name="Google Shape;424;p17"/>
          <p:cNvCxnSpPr/>
          <p:nvPr/>
        </p:nvCxnSpPr>
        <p:spPr>
          <a:xfrm>
            <a:off x="3995621" y="2867471"/>
            <a:ext cx="147900" cy="0"/>
          </a:xfrm>
          <a:prstGeom prst="straightConnector1">
            <a:avLst/>
          </a:prstGeom>
          <a:noFill/>
          <a:ln cap="flat" cmpd="sng" w="9525">
            <a:solidFill>
              <a:srgbClr val="616161"/>
            </a:solidFill>
            <a:prstDash val="solid"/>
            <a:miter lim="8000"/>
            <a:headEnd len="sm" w="sm" type="none"/>
            <a:tailEnd len="med" w="med" type="triangle"/>
          </a:ln>
        </p:spPr>
      </p:cxnSp>
      <p:cxnSp>
        <p:nvCxnSpPr>
          <p:cNvPr id="425" name="Google Shape;425;p17"/>
          <p:cNvCxnSpPr/>
          <p:nvPr/>
        </p:nvCxnSpPr>
        <p:spPr>
          <a:xfrm>
            <a:off x="3992919" y="3881063"/>
            <a:ext cx="150900" cy="0"/>
          </a:xfrm>
          <a:prstGeom prst="straightConnector1">
            <a:avLst/>
          </a:prstGeom>
          <a:noFill/>
          <a:ln cap="flat" cmpd="sng" w="12700">
            <a:solidFill>
              <a:srgbClr val="7F7F7F"/>
            </a:solidFill>
            <a:prstDash val="solid"/>
            <a:miter lim="8000"/>
            <a:headEnd len="sm" w="sm" type="none"/>
            <a:tailEnd len="sm" w="sm" type="none"/>
          </a:ln>
        </p:spPr>
      </p:cxnSp>
      <p:sp>
        <p:nvSpPr>
          <p:cNvPr id="426" name="Google Shape;426;p17"/>
          <p:cNvSpPr/>
          <p:nvPr/>
        </p:nvSpPr>
        <p:spPr>
          <a:xfrm rot="-5400000">
            <a:off x="3694246" y="3254831"/>
            <a:ext cx="452400" cy="1626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Century Gothic"/>
                <a:ea typeface="Century Gothic"/>
                <a:cs typeface="Century Gothic"/>
                <a:sym typeface="Century Gothic"/>
              </a:rPr>
              <a:t>Repeat</a:t>
            </a:r>
            <a:endParaRPr b="0" i="0" sz="600" u="none" cap="none" strike="noStrike">
              <a:solidFill>
                <a:srgbClr val="000000"/>
              </a:solidFill>
              <a:latin typeface="Century Gothic"/>
              <a:ea typeface="Century Gothic"/>
              <a:cs typeface="Century Gothic"/>
              <a:sym typeface="Century Gothic"/>
            </a:endParaRPr>
          </a:p>
        </p:txBody>
      </p:sp>
      <p:cxnSp>
        <p:nvCxnSpPr>
          <p:cNvPr id="427" name="Google Shape;427;p17"/>
          <p:cNvCxnSpPr/>
          <p:nvPr/>
        </p:nvCxnSpPr>
        <p:spPr>
          <a:xfrm flipH="1">
            <a:off x="4443986" y="3192628"/>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8" name="Google Shape;428;p17"/>
          <p:cNvCxnSpPr/>
          <p:nvPr/>
        </p:nvCxnSpPr>
        <p:spPr>
          <a:xfrm flipH="1">
            <a:off x="4443986" y="3457373"/>
            <a:ext cx="1200" cy="105000"/>
          </a:xfrm>
          <a:prstGeom prst="straightConnector1">
            <a:avLst/>
          </a:prstGeom>
          <a:noFill/>
          <a:ln cap="flat" cmpd="sng" w="9525">
            <a:solidFill>
              <a:srgbClr val="616161"/>
            </a:solidFill>
            <a:prstDash val="solid"/>
            <a:miter lim="8000"/>
            <a:headEnd len="sm" w="sm" type="none"/>
            <a:tailEnd len="med" w="med" type="triangle"/>
          </a:ln>
        </p:spPr>
      </p:cxnSp>
      <p:cxnSp>
        <p:nvCxnSpPr>
          <p:cNvPr id="429" name="Google Shape;429;p17"/>
          <p:cNvCxnSpPr/>
          <p:nvPr/>
        </p:nvCxnSpPr>
        <p:spPr>
          <a:xfrm flipH="1">
            <a:off x="4443986" y="3714215"/>
            <a:ext cx="1200" cy="105000"/>
          </a:xfrm>
          <a:prstGeom prst="straightConnector1">
            <a:avLst/>
          </a:prstGeom>
          <a:noFill/>
          <a:ln cap="flat" cmpd="sng" w="9525">
            <a:solidFill>
              <a:srgbClr val="616161"/>
            </a:solidFill>
            <a:prstDash val="solid"/>
            <a:miter lim="8000"/>
            <a:headEnd len="sm" w="sm" type="none"/>
            <a:tailEnd len="med" w="med" type="triangle"/>
          </a:ln>
        </p:spPr>
      </p:cxnSp>
      <p:pic>
        <p:nvPicPr>
          <p:cNvPr id="430" name="Google Shape;430;p17"/>
          <p:cNvPicPr preferRelativeResize="0"/>
          <p:nvPr/>
        </p:nvPicPr>
        <p:blipFill rotWithShape="1">
          <a:blip r:embed="rId3">
            <a:alphaModFix/>
          </a:blip>
          <a:srcRect b="20805" l="17274" r="12333" t="17276"/>
          <a:stretch/>
        </p:blipFill>
        <p:spPr>
          <a:xfrm>
            <a:off x="2755125" y="1771113"/>
            <a:ext cx="228668" cy="211275"/>
          </a:xfrm>
          <a:prstGeom prst="rect">
            <a:avLst/>
          </a:prstGeom>
          <a:noFill/>
          <a:ln>
            <a:noFill/>
          </a:ln>
        </p:spPr>
      </p:pic>
      <p:pic>
        <p:nvPicPr>
          <p:cNvPr id="431" name="Google Shape;431;p17"/>
          <p:cNvPicPr preferRelativeResize="0"/>
          <p:nvPr/>
        </p:nvPicPr>
        <p:blipFill rotWithShape="1">
          <a:blip r:embed="rId4">
            <a:alphaModFix/>
          </a:blip>
          <a:srcRect b="0" l="0" r="0" t="0"/>
          <a:stretch/>
        </p:blipFill>
        <p:spPr>
          <a:xfrm>
            <a:off x="5605313" y="1880725"/>
            <a:ext cx="228675" cy="228675"/>
          </a:xfrm>
          <a:prstGeom prst="rect">
            <a:avLst/>
          </a:prstGeom>
          <a:noFill/>
          <a:ln>
            <a:noFill/>
          </a:ln>
        </p:spPr>
      </p:pic>
      <p:pic>
        <p:nvPicPr>
          <p:cNvPr id="432" name="Google Shape;432;p17"/>
          <p:cNvPicPr preferRelativeResize="0"/>
          <p:nvPr/>
        </p:nvPicPr>
        <p:blipFill rotWithShape="1">
          <a:blip r:embed="rId5">
            <a:alphaModFix/>
          </a:blip>
          <a:srcRect b="0" l="0" r="0" t="0"/>
          <a:stretch/>
        </p:blipFill>
        <p:spPr>
          <a:xfrm>
            <a:off x="6691264" y="1886352"/>
            <a:ext cx="365700" cy="217409"/>
          </a:xfrm>
          <a:prstGeom prst="rect">
            <a:avLst/>
          </a:prstGeom>
          <a:noFill/>
          <a:ln>
            <a:noFill/>
          </a:ln>
        </p:spPr>
      </p:pic>
      <p:pic>
        <p:nvPicPr>
          <p:cNvPr id="433" name="Google Shape;433;p17"/>
          <p:cNvPicPr preferRelativeResize="0"/>
          <p:nvPr/>
        </p:nvPicPr>
        <p:blipFill rotWithShape="1">
          <a:blip r:embed="rId6">
            <a:alphaModFix/>
          </a:blip>
          <a:srcRect b="0" l="0" r="0" t="0"/>
          <a:stretch/>
        </p:blipFill>
        <p:spPr>
          <a:xfrm>
            <a:off x="8118138" y="1785736"/>
            <a:ext cx="228675" cy="228675"/>
          </a:xfrm>
          <a:prstGeom prst="rect">
            <a:avLst/>
          </a:prstGeom>
          <a:noFill/>
          <a:ln>
            <a:noFill/>
          </a:ln>
        </p:spPr>
      </p:pic>
      <p:grpSp>
        <p:nvGrpSpPr>
          <p:cNvPr id="434" name="Google Shape;434;p17"/>
          <p:cNvGrpSpPr/>
          <p:nvPr/>
        </p:nvGrpSpPr>
        <p:grpSpPr>
          <a:xfrm>
            <a:off x="308754" y="1982358"/>
            <a:ext cx="1734192" cy="256660"/>
            <a:chOff x="530597" y="1659894"/>
            <a:chExt cx="1541778" cy="210931"/>
          </a:xfrm>
        </p:grpSpPr>
        <p:sp>
          <p:nvSpPr>
            <p:cNvPr id="435" name="Google Shape;435;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Project Manager/Business Analyst</a:t>
              </a:r>
              <a:endParaRPr b="0" i="0" sz="800" u="none" cap="none" strike="noStrike">
                <a:solidFill>
                  <a:srgbClr val="000000"/>
                </a:solidFill>
                <a:latin typeface="Montserrat"/>
                <a:ea typeface="Montserrat"/>
                <a:cs typeface="Montserrat"/>
                <a:sym typeface="Montserrat"/>
              </a:endParaRPr>
            </a:p>
          </p:txBody>
        </p:sp>
        <p:pic>
          <p:nvPicPr>
            <p:cNvPr id="436" name="Google Shape;436;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37" name="Google Shape;437;p17"/>
          <p:cNvSpPr txBox="1"/>
          <p:nvPr/>
        </p:nvSpPr>
        <p:spPr>
          <a:xfrm>
            <a:off x="2538875" y="980525"/>
            <a:ext cx="4908300" cy="3387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chemeClr val="accent2"/>
                </a:solidFill>
                <a:latin typeface="Montserrat"/>
                <a:ea typeface="Montserrat"/>
                <a:cs typeface="Montserrat"/>
                <a:sym typeface="Montserrat"/>
              </a:rPr>
              <a:t>Agile Based iterative Development Approach</a:t>
            </a:r>
            <a:endParaRPr b="1" i="0" sz="1000" u="none" cap="none" strike="noStrike">
              <a:solidFill>
                <a:schemeClr val="accent2"/>
              </a:solidFill>
              <a:latin typeface="Montserrat"/>
              <a:ea typeface="Montserrat"/>
              <a:cs typeface="Montserrat"/>
              <a:sym typeface="Montserrat"/>
            </a:endParaRPr>
          </a:p>
        </p:txBody>
      </p:sp>
      <p:sp>
        <p:nvSpPr>
          <p:cNvPr id="438" name="Google Shape;438;p17"/>
          <p:cNvSpPr txBox="1"/>
          <p:nvPr/>
        </p:nvSpPr>
        <p:spPr>
          <a:xfrm>
            <a:off x="-241825" y="1505825"/>
            <a:ext cx="3000000" cy="323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accent2"/>
                </a:solidFill>
                <a:latin typeface="Montserrat"/>
                <a:ea typeface="Montserrat"/>
                <a:cs typeface="Montserrat"/>
                <a:sym typeface="Montserrat"/>
              </a:rPr>
              <a:t>TTN Engineering Team</a:t>
            </a:r>
            <a:endParaRPr b="1" i="0" sz="900" u="none" cap="none" strike="noStrike">
              <a:solidFill>
                <a:schemeClr val="accent2"/>
              </a:solidFill>
              <a:latin typeface="Montserrat"/>
              <a:ea typeface="Montserrat"/>
              <a:cs typeface="Montserrat"/>
              <a:sym typeface="Montserrat"/>
            </a:endParaRPr>
          </a:p>
        </p:txBody>
      </p:sp>
      <p:sp>
        <p:nvSpPr>
          <p:cNvPr id="439" name="Google Shape;439;p17"/>
          <p:cNvSpPr/>
          <p:nvPr/>
        </p:nvSpPr>
        <p:spPr>
          <a:xfrm>
            <a:off x="2344200" y="2880388"/>
            <a:ext cx="1013700" cy="262800"/>
          </a:xfrm>
          <a:prstGeom prst="rect">
            <a:avLst/>
          </a:prstGeom>
          <a:noFill/>
          <a:ln>
            <a:noFill/>
          </a:ln>
        </p:spPr>
        <p:txBody>
          <a:bodyPr anchorCtr="0" anchor="t"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Tech &amp; Functional Discovery</a:t>
            </a:r>
            <a:endParaRPr b="0" i="0" sz="700" u="none" cap="none" strike="noStrike">
              <a:solidFill>
                <a:srgbClr val="000000"/>
              </a:solidFill>
              <a:latin typeface="Montserrat"/>
              <a:ea typeface="Montserrat"/>
              <a:cs typeface="Montserrat"/>
              <a:sym typeface="Montserrat"/>
            </a:endParaRPr>
          </a:p>
        </p:txBody>
      </p:sp>
      <p:grpSp>
        <p:nvGrpSpPr>
          <p:cNvPr id="440" name="Google Shape;440;p17"/>
          <p:cNvGrpSpPr/>
          <p:nvPr/>
        </p:nvGrpSpPr>
        <p:grpSpPr>
          <a:xfrm>
            <a:off x="298800" y="2292174"/>
            <a:ext cx="1734192" cy="256660"/>
            <a:chOff x="530597" y="1659894"/>
            <a:chExt cx="1541778" cy="210931"/>
          </a:xfrm>
        </p:grpSpPr>
        <p:sp>
          <p:nvSpPr>
            <p:cNvPr id="441" name="Google Shape;441;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Technical lead</a:t>
              </a:r>
              <a:endParaRPr b="0" i="0" sz="800" u="none" cap="none" strike="noStrike">
                <a:solidFill>
                  <a:srgbClr val="000000"/>
                </a:solidFill>
                <a:latin typeface="Montserrat"/>
                <a:ea typeface="Montserrat"/>
                <a:cs typeface="Montserrat"/>
                <a:sym typeface="Montserrat"/>
              </a:endParaRPr>
            </a:p>
          </p:txBody>
        </p:sp>
        <p:pic>
          <p:nvPicPr>
            <p:cNvPr id="442" name="Google Shape;442;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3" name="Google Shape;443;p17"/>
          <p:cNvGrpSpPr/>
          <p:nvPr/>
        </p:nvGrpSpPr>
        <p:grpSpPr>
          <a:xfrm>
            <a:off x="308757" y="2617640"/>
            <a:ext cx="1734192" cy="256660"/>
            <a:chOff x="530597" y="1659894"/>
            <a:chExt cx="1541778" cy="210931"/>
          </a:xfrm>
        </p:grpSpPr>
        <p:sp>
          <p:nvSpPr>
            <p:cNvPr id="444" name="Google Shape;444;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DevOps Experts</a:t>
              </a:r>
              <a:endParaRPr b="0" i="0" sz="800" u="none" cap="none" strike="noStrike">
                <a:solidFill>
                  <a:srgbClr val="000000"/>
                </a:solidFill>
                <a:latin typeface="Montserrat"/>
                <a:ea typeface="Montserrat"/>
                <a:cs typeface="Montserrat"/>
                <a:sym typeface="Montserrat"/>
              </a:endParaRPr>
            </a:p>
          </p:txBody>
        </p:sp>
        <p:pic>
          <p:nvPicPr>
            <p:cNvPr id="445" name="Google Shape;445;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6" name="Google Shape;446;p17"/>
          <p:cNvGrpSpPr/>
          <p:nvPr/>
        </p:nvGrpSpPr>
        <p:grpSpPr>
          <a:xfrm>
            <a:off x="298803" y="2943091"/>
            <a:ext cx="1734192" cy="256660"/>
            <a:chOff x="530597" y="1659894"/>
            <a:chExt cx="1541778" cy="210931"/>
          </a:xfrm>
        </p:grpSpPr>
        <p:sp>
          <p:nvSpPr>
            <p:cNvPr id="447" name="Google Shape;447;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Ui/UX Expert</a:t>
              </a:r>
              <a:endParaRPr b="0" i="0" sz="800" u="none" cap="none" strike="noStrike">
                <a:solidFill>
                  <a:srgbClr val="000000"/>
                </a:solidFill>
                <a:latin typeface="Montserrat"/>
                <a:ea typeface="Montserrat"/>
                <a:cs typeface="Montserrat"/>
                <a:sym typeface="Montserrat"/>
              </a:endParaRPr>
            </a:p>
          </p:txBody>
        </p:sp>
        <p:pic>
          <p:nvPicPr>
            <p:cNvPr id="448" name="Google Shape;448;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49" name="Google Shape;449;p17"/>
          <p:cNvGrpSpPr/>
          <p:nvPr/>
        </p:nvGrpSpPr>
        <p:grpSpPr>
          <a:xfrm>
            <a:off x="298803" y="3281643"/>
            <a:ext cx="1734192" cy="256660"/>
            <a:chOff x="530597" y="1659894"/>
            <a:chExt cx="1541778" cy="210931"/>
          </a:xfrm>
        </p:grpSpPr>
        <p:sp>
          <p:nvSpPr>
            <p:cNvPr id="450" name="Google Shape;450;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Mobility Developer</a:t>
              </a:r>
              <a:endParaRPr b="0" i="0" sz="800" u="none" cap="none" strike="noStrike">
                <a:solidFill>
                  <a:srgbClr val="000000"/>
                </a:solidFill>
                <a:latin typeface="Montserrat"/>
                <a:ea typeface="Montserrat"/>
                <a:cs typeface="Montserrat"/>
                <a:sym typeface="Montserrat"/>
              </a:endParaRPr>
            </a:p>
          </p:txBody>
        </p:sp>
        <p:pic>
          <p:nvPicPr>
            <p:cNvPr id="451" name="Google Shape;451;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grpSp>
        <p:nvGrpSpPr>
          <p:cNvPr id="452" name="Google Shape;452;p17"/>
          <p:cNvGrpSpPr/>
          <p:nvPr/>
        </p:nvGrpSpPr>
        <p:grpSpPr>
          <a:xfrm>
            <a:off x="298803" y="3624423"/>
            <a:ext cx="1734192" cy="256660"/>
            <a:chOff x="530597" y="1659894"/>
            <a:chExt cx="1541778" cy="210931"/>
          </a:xfrm>
        </p:grpSpPr>
        <p:sp>
          <p:nvSpPr>
            <p:cNvPr id="453" name="Google Shape;453;p17"/>
            <p:cNvSpPr txBox="1"/>
            <p:nvPr/>
          </p:nvSpPr>
          <p:spPr>
            <a:xfrm>
              <a:off x="765875" y="1666825"/>
              <a:ext cx="1306500" cy="204000"/>
            </a:xfrm>
            <a:prstGeom prst="rect">
              <a:avLst/>
            </a:prstGeom>
            <a:solidFill>
              <a:srgbClr val="F3F3F3"/>
            </a:solidFill>
            <a:ln cap="flat" cmpd="sng" w="9525">
              <a:solidFill>
                <a:srgbClr val="EFEFE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000000"/>
                  </a:solidFill>
                  <a:latin typeface="Montserrat"/>
                  <a:ea typeface="Montserrat"/>
                  <a:cs typeface="Montserrat"/>
                  <a:sym typeface="Montserrat"/>
                </a:rPr>
                <a:t>Quality Analyst</a:t>
              </a:r>
              <a:endParaRPr b="0" i="0" sz="800" u="none" cap="none" strike="noStrike">
                <a:solidFill>
                  <a:srgbClr val="000000"/>
                </a:solidFill>
                <a:latin typeface="Montserrat"/>
                <a:ea typeface="Montserrat"/>
                <a:cs typeface="Montserrat"/>
                <a:sym typeface="Montserrat"/>
              </a:endParaRPr>
            </a:p>
          </p:txBody>
        </p:sp>
        <p:pic>
          <p:nvPicPr>
            <p:cNvPr id="454" name="Google Shape;454;p17"/>
            <p:cNvPicPr preferRelativeResize="0"/>
            <p:nvPr/>
          </p:nvPicPr>
          <p:blipFill rotWithShape="1">
            <a:blip r:embed="rId7">
              <a:alphaModFix/>
            </a:blip>
            <a:srcRect b="0" l="0" r="0" t="0"/>
            <a:stretch/>
          </p:blipFill>
          <p:spPr>
            <a:xfrm>
              <a:off x="530597" y="1659894"/>
              <a:ext cx="156625" cy="197711"/>
            </a:xfrm>
            <a:prstGeom prst="rect">
              <a:avLst/>
            </a:prstGeom>
            <a:noFill/>
            <a:ln>
              <a:noFill/>
            </a:ln>
          </p:spPr>
        </p:pic>
      </p:grpSp>
      <p:sp>
        <p:nvSpPr>
          <p:cNvPr id="455" name="Google Shape;455;p17"/>
          <p:cNvSpPr txBox="1"/>
          <p:nvPr/>
        </p:nvSpPr>
        <p:spPr>
          <a:xfrm>
            <a:off x="5325050" y="2625250"/>
            <a:ext cx="3480300" cy="1313700"/>
          </a:xfrm>
          <a:prstGeom prst="rect">
            <a:avLst/>
          </a:prstGeom>
          <a:solidFill>
            <a:srgbClr val="FFFFFF"/>
          </a:solidFill>
          <a:ln cap="flat" cmpd="sng" w="9525">
            <a:solidFill>
              <a:srgbClr val="EFEFEF"/>
            </a:solidFill>
            <a:prstDash val="solid"/>
            <a:round/>
            <a:headEnd len="sm" w="sm" type="none"/>
            <a:tailEnd len="sm" w="sm" type="none"/>
          </a:ln>
          <a:effectLst>
            <a:outerShdw blurRad="157163" rotWithShape="0" algn="bl" dir="9060000" dist="9525">
              <a:srgbClr val="000000">
                <a:alpha val="14118"/>
              </a:srgbClr>
            </a:outerShdw>
          </a:effectLst>
        </p:spPr>
        <p:txBody>
          <a:bodyPr anchorCtr="0" anchor="t" bIns="91425" lIns="91425" spcFirstLastPara="1" rIns="91425" wrap="square" tIns="91425">
            <a:spAutoFit/>
          </a:bodyPr>
          <a:lstStyle/>
          <a:p>
            <a:r>
              <a:t>Discovery (3 weeks): clinical workflows, integration mapping, security design.</a:t>
            </a:r>
          </a:p>
          <a:p>
            <a:pPr/>
            <a:r>
              <a:t>MVP Build (12 weeks): registration, appointments, messaging, records view.</a:t>
            </a:r>
          </a:p>
          <a:p>
            <a:pPr/>
            <a:r>
              <a:t>Integration Sprint (6 weeks): Cerner FHIR, MHR, telehealth, notifications.</a:t>
            </a:r>
          </a:p>
          <a:p>
            <a:pPr/>
            <a:r>
              <a:t>Pilot &amp; Rollout (5 weeks): 5-clinic pilot, feedback, phased national rollout.</a:t>
            </a:r>
          </a:p>
          <a:p>
            <a:pPr/>
            <a:r>
              <a:t>Change management and staff training embedded in each phase.</a:t>
            </a:r>
          </a:p>
        </p:txBody>
      </p:sp>
      <p:sp>
        <p:nvSpPr>
          <p:cNvPr id="456" name="Google Shape;456;p17"/>
          <p:cNvSpPr txBox="1"/>
          <p:nvPr>
            <p:ph idx="12" type="sldNum"/>
          </p:nvPr>
        </p:nvSpPr>
        <p:spPr>
          <a:xfrm>
            <a:off x="8556784" y="6333134"/>
            <a:ext cx="548700" cy="525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latin typeface="Montserrat"/>
                <a:ea typeface="Montserrat"/>
                <a:cs typeface="Montserrat"/>
                <a:sym typeface="Montserrat"/>
              </a:rPr>
              <a:t>‹#›</a:t>
            </a:fld>
            <a:endParaRPr sz="1000">
              <a:latin typeface="Montserrat"/>
              <a:ea typeface="Montserrat"/>
              <a:cs typeface="Montserrat"/>
              <a:sym typeface="Montserrat"/>
            </a:endParaRPr>
          </a:p>
        </p:txBody>
      </p:sp>
      <p:sp>
        <p:nvSpPr>
          <p:cNvPr id="457" name="Google Shape;457;p1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18"/>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Governance Model</a:t>
            </a:r>
            <a:endParaRPr b="1" i="0" sz="2000" u="none" cap="none" strike="noStrike">
              <a:solidFill>
                <a:schemeClr val="dk1"/>
              </a:solidFill>
              <a:latin typeface="Montserrat"/>
              <a:ea typeface="Montserrat"/>
              <a:cs typeface="Montserrat"/>
              <a:sym typeface="Montserrat"/>
            </a:endParaRPr>
          </a:p>
        </p:txBody>
      </p:sp>
      <p:sp>
        <p:nvSpPr>
          <p:cNvPr id="463" name="Google Shape;463;p18"/>
          <p:cNvSpPr/>
          <p:nvPr/>
        </p:nvSpPr>
        <p:spPr>
          <a:xfrm>
            <a:off x="406550" y="2890925"/>
            <a:ext cx="8032800" cy="2023500"/>
          </a:xfrm>
          <a:prstGeom prst="snip1Rect">
            <a:avLst>
              <a:gd fmla="val 8163" name="adj"/>
            </a:avLst>
          </a:prstGeom>
          <a:solidFill>
            <a:srgbClr val="FFFFFF"/>
          </a:solidFill>
          <a:ln cap="flat" cmpd="sng" w="9525">
            <a:solidFill>
              <a:srgbClr val="6F3A93"/>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4" name="Google Shape;464;p18"/>
          <p:cNvSpPr/>
          <p:nvPr/>
        </p:nvSpPr>
        <p:spPr>
          <a:xfrm>
            <a:off x="6340857" y="3106350"/>
            <a:ext cx="1684800" cy="17016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5" name="Google Shape;465;p18"/>
          <p:cNvSpPr/>
          <p:nvPr/>
        </p:nvSpPr>
        <p:spPr>
          <a:xfrm>
            <a:off x="6822582" y="1602888"/>
            <a:ext cx="2121000" cy="8010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6" name="Google Shape;466;p18"/>
          <p:cNvSpPr/>
          <p:nvPr/>
        </p:nvSpPr>
        <p:spPr>
          <a:xfrm>
            <a:off x="330332" y="2029610"/>
            <a:ext cx="6291000" cy="4974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sp>
        <p:nvSpPr>
          <p:cNvPr id="467" name="Google Shape;467;p18"/>
          <p:cNvSpPr/>
          <p:nvPr/>
        </p:nvSpPr>
        <p:spPr>
          <a:xfrm>
            <a:off x="317407" y="1296319"/>
            <a:ext cx="6291000" cy="444300"/>
          </a:xfrm>
          <a:prstGeom prst="snip1Rect">
            <a:avLst>
              <a:gd fmla="val 816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t/>
            </a:r>
            <a:endParaRPr b="0" i="0" sz="1200" u="none" cap="none" strike="noStrike">
              <a:solidFill>
                <a:srgbClr val="000000"/>
              </a:solidFill>
              <a:latin typeface="Montserrat"/>
              <a:ea typeface="Montserrat"/>
              <a:cs typeface="Montserrat"/>
              <a:sym typeface="Montserrat"/>
            </a:endParaRPr>
          </a:p>
        </p:txBody>
      </p:sp>
      <p:cxnSp>
        <p:nvCxnSpPr>
          <p:cNvPr id="468" name="Google Shape;468;p18"/>
          <p:cNvCxnSpPr/>
          <p:nvPr/>
        </p:nvCxnSpPr>
        <p:spPr>
          <a:xfrm rot="10800000">
            <a:off x="6694101" y="1402153"/>
            <a:ext cx="1177500" cy="211500"/>
          </a:xfrm>
          <a:prstGeom prst="bentConnector3">
            <a:avLst>
              <a:gd fmla="val -748" name="adj1"/>
            </a:avLst>
          </a:prstGeom>
          <a:noFill/>
          <a:ln cap="flat" cmpd="sng" w="9525">
            <a:solidFill>
              <a:srgbClr val="B7B7B7"/>
            </a:solidFill>
            <a:prstDash val="solid"/>
            <a:round/>
            <a:headEnd len="med" w="med" type="oval"/>
            <a:tailEnd len="med" w="med" type="oval"/>
          </a:ln>
        </p:spPr>
      </p:cxnSp>
      <p:sp>
        <p:nvSpPr>
          <p:cNvPr id="469" name="Google Shape;469;p18"/>
          <p:cNvSpPr/>
          <p:nvPr/>
        </p:nvSpPr>
        <p:spPr>
          <a:xfrm>
            <a:off x="1641650" y="3353226"/>
            <a:ext cx="4595100" cy="1180800"/>
          </a:xfrm>
          <a:prstGeom prst="roundRect">
            <a:avLst>
              <a:gd fmla="val 5116" name="adj"/>
            </a:avLst>
          </a:prstGeom>
          <a:solidFill>
            <a:srgbClr val="F3F3F3"/>
          </a:solidFill>
          <a:ln cap="flat" cmpd="sng" w="9525">
            <a:solidFill>
              <a:srgbClr val="F3F3F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18"/>
          <p:cNvSpPr/>
          <p:nvPr/>
        </p:nvSpPr>
        <p:spPr>
          <a:xfrm>
            <a:off x="1988934"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18"/>
          <p:cNvSpPr txBox="1"/>
          <p:nvPr/>
        </p:nvSpPr>
        <p:spPr>
          <a:xfrm>
            <a:off x="1988925" y="3507010"/>
            <a:ext cx="1334100" cy="431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Racing Queensland Stakeholders</a:t>
            </a:r>
            <a:endParaRPr b="1" i="0" sz="800" u="none" cap="none" strike="noStrike">
              <a:solidFill>
                <a:srgbClr val="000000"/>
              </a:solidFill>
              <a:latin typeface="Montserrat"/>
              <a:ea typeface="Montserrat"/>
              <a:cs typeface="Montserrat"/>
              <a:sym typeface="Montserrat"/>
            </a:endParaRPr>
          </a:p>
        </p:txBody>
      </p:sp>
      <p:pic>
        <p:nvPicPr>
          <p:cNvPr id="472" name="Google Shape;472;p18"/>
          <p:cNvPicPr preferRelativeResize="0"/>
          <p:nvPr/>
        </p:nvPicPr>
        <p:blipFill rotWithShape="1">
          <a:blip r:embed="rId3">
            <a:alphaModFix/>
          </a:blip>
          <a:srcRect b="0" l="0" r="0" t="0"/>
          <a:stretch/>
        </p:blipFill>
        <p:spPr>
          <a:xfrm>
            <a:off x="2396311" y="3951547"/>
            <a:ext cx="519140" cy="306875"/>
          </a:xfrm>
          <a:prstGeom prst="rect">
            <a:avLst/>
          </a:prstGeom>
          <a:noFill/>
          <a:ln>
            <a:noFill/>
          </a:ln>
        </p:spPr>
      </p:pic>
      <p:pic>
        <p:nvPicPr>
          <p:cNvPr id="473" name="Google Shape;473;p18"/>
          <p:cNvPicPr preferRelativeResize="0"/>
          <p:nvPr/>
        </p:nvPicPr>
        <p:blipFill rotWithShape="1">
          <a:blip r:embed="rId4">
            <a:alphaModFix/>
          </a:blip>
          <a:srcRect b="0" l="0" r="0" t="0"/>
          <a:stretch/>
        </p:blipFill>
        <p:spPr>
          <a:xfrm>
            <a:off x="3599434" y="3917769"/>
            <a:ext cx="252974" cy="257791"/>
          </a:xfrm>
          <a:prstGeom prst="rect">
            <a:avLst/>
          </a:prstGeom>
          <a:noFill/>
          <a:ln>
            <a:noFill/>
          </a:ln>
        </p:spPr>
      </p:pic>
      <p:cxnSp>
        <p:nvCxnSpPr>
          <p:cNvPr id="474" name="Google Shape;474;p18"/>
          <p:cNvCxnSpPr/>
          <p:nvPr/>
        </p:nvCxnSpPr>
        <p:spPr>
          <a:xfrm rot="10800000">
            <a:off x="3852626" y="4030223"/>
            <a:ext cx="276600" cy="0"/>
          </a:xfrm>
          <a:prstGeom prst="straightConnector1">
            <a:avLst/>
          </a:prstGeom>
          <a:noFill/>
          <a:ln cap="flat" cmpd="sng" w="9525">
            <a:solidFill>
              <a:srgbClr val="999999"/>
            </a:solidFill>
            <a:prstDash val="solid"/>
            <a:round/>
            <a:headEnd len="sm" w="sm" type="none"/>
            <a:tailEnd len="sm" w="sm" type="none"/>
          </a:ln>
        </p:spPr>
      </p:cxnSp>
      <p:sp>
        <p:nvSpPr>
          <p:cNvPr id="475" name="Google Shape;475;p18"/>
          <p:cNvSpPr/>
          <p:nvPr/>
        </p:nvSpPr>
        <p:spPr>
          <a:xfrm>
            <a:off x="7325193" y="3938946"/>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6" name="Google Shape;476;p18"/>
          <p:cNvSpPr/>
          <p:nvPr/>
        </p:nvSpPr>
        <p:spPr>
          <a:xfrm>
            <a:off x="7182882" y="4191775"/>
            <a:ext cx="6609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Demo</a:t>
            </a:r>
            <a:endParaRPr b="1" i="0" sz="700" u="none" cap="none" strike="noStrike">
              <a:solidFill>
                <a:srgbClr val="000000"/>
              </a:solidFill>
              <a:latin typeface="Montserrat"/>
              <a:ea typeface="Montserrat"/>
              <a:cs typeface="Montserrat"/>
              <a:sym typeface="Montserrat"/>
            </a:endParaRPr>
          </a:p>
        </p:txBody>
      </p:sp>
      <p:sp>
        <p:nvSpPr>
          <p:cNvPr id="477" name="Google Shape;477;p18"/>
          <p:cNvSpPr/>
          <p:nvPr/>
        </p:nvSpPr>
        <p:spPr>
          <a:xfrm>
            <a:off x="7325208" y="3356749"/>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78" name="Google Shape;478;p18"/>
          <p:cNvSpPr/>
          <p:nvPr/>
        </p:nvSpPr>
        <p:spPr>
          <a:xfrm>
            <a:off x="7182897" y="3586774"/>
            <a:ext cx="575400" cy="147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Month Planning </a:t>
            </a:r>
            <a:endParaRPr b="0" i="0" sz="700" u="none" cap="none" strike="noStrike">
              <a:solidFill>
                <a:srgbClr val="000000"/>
              </a:solidFill>
              <a:latin typeface="Montserrat"/>
              <a:ea typeface="Montserrat"/>
              <a:cs typeface="Montserrat"/>
              <a:sym typeface="Montserrat"/>
            </a:endParaRPr>
          </a:p>
        </p:txBody>
      </p:sp>
      <p:pic>
        <p:nvPicPr>
          <p:cNvPr id="479" name="Google Shape;479;p18"/>
          <p:cNvPicPr preferRelativeResize="0"/>
          <p:nvPr/>
        </p:nvPicPr>
        <p:blipFill rotWithShape="1">
          <a:blip r:embed="rId5">
            <a:alphaModFix/>
          </a:blip>
          <a:srcRect b="0" l="0" r="0" t="0"/>
          <a:stretch/>
        </p:blipFill>
        <p:spPr>
          <a:xfrm>
            <a:off x="7386594" y="3407623"/>
            <a:ext cx="168328" cy="121270"/>
          </a:xfrm>
          <a:prstGeom prst="rect">
            <a:avLst/>
          </a:prstGeom>
          <a:noFill/>
          <a:ln>
            <a:noFill/>
          </a:ln>
        </p:spPr>
      </p:pic>
      <p:sp>
        <p:nvSpPr>
          <p:cNvPr id="480" name="Google Shape;480;p18"/>
          <p:cNvSpPr/>
          <p:nvPr/>
        </p:nvSpPr>
        <p:spPr>
          <a:xfrm>
            <a:off x="6635482" y="3359668"/>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1" name="Google Shape;481;p18"/>
          <p:cNvSpPr/>
          <p:nvPr/>
        </p:nvSpPr>
        <p:spPr>
          <a:xfrm>
            <a:off x="6493150" y="3584986"/>
            <a:ext cx="575400" cy="1530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Daily Stand-ups</a:t>
            </a:r>
            <a:endParaRPr b="0" i="0" sz="700" u="none" cap="none" strike="noStrike">
              <a:solidFill>
                <a:srgbClr val="000000"/>
              </a:solidFill>
              <a:latin typeface="Montserrat"/>
              <a:ea typeface="Montserrat"/>
              <a:cs typeface="Montserrat"/>
              <a:sym typeface="Montserrat"/>
            </a:endParaRPr>
          </a:p>
        </p:txBody>
      </p:sp>
      <p:pic>
        <p:nvPicPr>
          <p:cNvPr id="482" name="Google Shape;482;p18"/>
          <p:cNvPicPr preferRelativeResize="0"/>
          <p:nvPr/>
        </p:nvPicPr>
        <p:blipFill rotWithShape="1">
          <a:blip r:embed="rId6">
            <a:alphaModFix/>
          </a:blip>
          <a:srcRect b="0" l="0" r="0" t="0"/>
          <a:stretch/>
        </p:blipFill>
        <p:spPr>
          <a:xfrm>
            <a:off x="6687109" y="3399220"/>
            <a:ext cx="187848" cy="143913"/>
          </a:xfrm>
          <a:prstGeom prst="rect">
            <a:avLst/>
          </a:prstGeom>
          <a:noFill/>
          <a:ln>
            <a:noFill/>
          </a:ln>
        </p:spPr>
      </p:pic>
      <p:pic>
        <p:nvPicPr>
          <p:cNvPr id="483" name="Google Shape;483;p18"/>
          <p:cNvPicPr preferRelativeResize="0"/>
          <p:nvPr/>
        </p:nvPicPr>
        <p:blipFill rotWithShape="1">
          <a:blip r:embed="rId7">
            <a:alphaModFix/>
          </a:blip>
          <a:srcRect b="0" l="0" r="0" t="0"/>
          <a:stretch/>
        </p:blipFill>
        <p:spPr>
          <a:xfrm>
            <a:off x="7378788" y="3981126"/>
            <a:ext cx="183912" cy="138659"/>
          </a:xfrm>
          <a:prstGeom prst="rect">
            <a:avLst/>
          </a:prstGeom>
          <a:noFill/>
          <a:ln>
            <a:noFill/>
          </a:ln>
        </p:spPr>
      </p:pic>
      <p:cxnSp>
        <p:nvCxnSpPr>
          <p:cNvPr id="484" name="Google Shape;484;p18"/>
          <p:cNvCxnSpPr/>
          <p:nvPr/>
        </p:nvCxnSpPr>
        <p:spPr>
          <a:xfrm rot="10800000">
            <a:off x="6608487" y="3903739"/>
            <a:ext cx="1217400" cy="5100"/>
          </a:xfrm>
          <a:prstGeom prst="straightConnector1">
            <a:avLst/>
          </a:prstGeom>
          <a:noFill/>
          <a:ln cap="flat" cmpd="sng" w="19050">
            <a:solidFill>
              <a:srgbClr val="999999"/>
            </a:solidFill>
            <a:prstDash val="dot"/>
            <a:miter lim="80"/>
            <a:headEnd len="sm" w="sm" type="oval"/>
            <a:tailEnd len="sm" w="sm" type="oval"/>
          </a:ln>
        </p:spPr>
      </p:cxnSp>
      <p:cxnSp>
        <p:nvCxnSpPr>
          <p:cNvPr id="485" name="Google Shape;485;p18"/>
          <p:cNvCxnSpPr/>
          <p:nvPr/>
        </p:nvCxnSpPr>
        <p:spPr>
          <a:xfrm>
            <a:off x="7149754" y="3492278"/>
            <a:ext cx="900" cy="902700"/>
          </a:xfrm>
          <a:prstGeom prst="straightConnector1">
            <a:avLst/>
          </a:prstGeom>
          <a:noFill/>
          <a:ln cap="flat" cmpd="sng" w="19050">
            <a:solidFill>
              <a:srgbClr val="999999"/>
            </a:solidFill>
            <a:prstDash val="dot"/>
            <a:miter lim="80"/>
            <a:headEnd len="sm" w="sm" type="oval"/>
            <a:tailEnd len="sm" w="sm" type="oval"/>
          </a:ln>
        </p:spPr>
      </p:cxnSp>
      <p:sp>
        <p:nvSpPr>
          <p:cNvPr id="486" name="Google Shape;486;p18"/>
          <p:cNvSpPr/>
          <p:nvPr/>
        </p:nvSpPr>
        <p:spPr>
          <a:xfrm>
            <a:off x="6635482" y="3941925"/>
            <a:ext cx="291000" cy="2229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487" name="Google Shape;487;p18"/>
          <p:cNvSpPr/>
          <p:nvPr/>
        </p:nvSpPr>
        <p:spPr>
          <a:xfrm>
            <a:off x="6493929" y="4191765"/>
            <a:ext cx="575400" cy="90300"/>
          </a:xfrm>
          <a:prstGeom prst="rect">
            <a:avLst/>
          </a:prstGeom>
          <a:noFill/>
          <a:ln>
            <a:noFill/>
          </a:ln>
        </p:spPr>
        <p:txBody>
          <a:bodyPr anchorCtr="0" anchor="t" bIns="33475" lIns="33475" spcFirstLastPara="1" rIns="33475" wrap="square" tIns="33475">
            <a:no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Montserrat"/>
                <a:ea typeface="Montserrat"/>
                <a:cs typeface="Montserrat"/>
                <a:sym typeface="Montserrat"/>
              </a:rPr>
              <a:t>Joint Retrospective</a:t>
            </a:r>
            <a:endParaRPr b="0" i="0" sz="700" u="none" cap="none" strike="noStrike">
              <a:solidFill>
                <a:srgbClr val="000000"/>
              </a:solidFill>
              <a:latin typeface="Montserrat"/>
              <a:ea typeface="Montserrat"/>
              <a:cs typeface="Montserrat"/>
              <a:sym typeface="Montserrat"/>
            </a:endParaRPr>
          </a:p>
        </p:txBody>
      </p:sp>
      <p:sp>
        <p:nvSpPr>
          <p:cNvPr id="488" name="Google Shape;488;p18"/>
          <p:cNvSpPr txBox="1"/>
          <p:nvPr/>
        </p:nvSpPr>
        <p:spPr>
          <a:xfrm>
            <a:off x="6281307" y="3099123"/>
            <a:ext cx="16848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Engagement Highlights </a:t>
            </a:r>
            <a:endParaRPr b="1" i="0" sz="800" u="none" cap="none" strike="noStrike">
              <a:solidFill>
                <a:srgbClr val="000000"/>
              </a:solidFill>
              <a:latin typeface="Montserrat"/>
              <a:ea typeface="Montserrat"/>
              <a:cs typeface="Montserrat"/>
              <a:sym typeface="Montserrat"/>
            </a:endParaRPr>
          </a:p>
        </p:txBody>
      </p:sp>
      <p:sp>
        <p:nvSpPr>
          <p:cNvPr id="489" name="Google Shape;489;p18"/>
          <p:cNvSpPr txBox="1"/>
          <p:nvPr/>
        </p:nvSpPr>
        <p:spPr>
          <a:xfrm>
            <a:off x="4479247" y="1409956"/>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Executive Leadership and Business Unit Head </a:t>
            </a:r>
            <a:endParaRPr b="1" i="0" sz="800" u="none" cap="none" strike="noStrike">
              <a:solidFill>
                <a:srgbClr val="336666"/>
              </a:solidFill>
              <a:latin typeface="Montserrat"/>
              <a:ea typeface="Montserrat"/>
              <a:cs typeface="Montserrat"/>
              <a:sym typeface="Montserrat"/>
            </a:endParaRPr>
          </a:p>
        </p:txBody>
      </p:sp>
      <p:sp>
        <p:nvSpPr>
          <p:cNvPr id="490" name="Google Shape;490;p18"/>
          <p:cNvSpPr txBox="1"/>
          <p:nvPr/>
        </p:nvSpPr>
        <p:spPr>
          <a:xfrm>
            <a:off x="1629325" y="1419354"/>
            <a:ext cx="2121000" cy="2598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Racing Queensland  Executive</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Leadership</a:t>
            </a:r>
            <a:endParaRPr b="1" i="0" sz="800" u="none" cap="none" strike="noStrike">
              <a:solidFill>
                <a:srgbClr val="FFFFFF"/>
              </a:solidFill>
              <a:latin typeface="Montserrat"/>
              <a:ea typeface="Montserrat"/>
              <a:cs typeface="Montserrat"/>
              <a:sym typeface="Montserrat"/>
            </a:endParaRPr>
          </a:p>
        </p:txBody>
      </p:sp>
      <p:sp>
        <p:nvSpPr>
          <p:cNvPr id="491" name="Google Shape;491;p18"/>
          <p:cNvSpPr txBox="1"/>
          <p:nvPr/>
        </p:nvSpPr>
        <p:spPr>
          <a:xfrm>
            <a:off x="4479247" y="2090204"/>
            <a:ext cx="1809900" cy="278100"/>
          </a:xfrm>
          <a:prstGeom prst="rect">
            <a:avLst/>
          </a:prstGeom>
          <a:solidFill>
            <a:srgbClr val="1251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TTN Delivery Director /</a:t>
            </a:r>
            <a:endParaRPr b="1" i="0" sz="800" u="none" cap="none" strike="noStrike">
              <a:solidFill>
                <a:srgbClr val="FFFFFF"/>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 Project Manager</a:t>
            </a:r>
            <a:endParaRPr b="1" i="0" sz="800" u="none" cap="none" strike="noStrike">
              <a:solidFill>
                <a:srgbClr val="336666"/>
              </a:solidFill>
              <a:latin typeface="Montserrat"/>
              <a:ea typeface="Montserrat"/>
              <a:cs typeface="Montserrat"/>
              <a:sym typeface="Montserrat"/>
            </a:endParaRPr>
          </a:p>
        </p:txBody>
      </p:sp>
      <p:sp>
        <p:nvSpPr>
          <p:cNvPr id="492" name="Google Shape;492;p18"/>
          <p:cNvSpPr/>
          <p:nvPr/>
        </p:nvSpPr>
        <p:spPr>
          <a:xfrm>
            <a:off x="2548207" y="1079370"/>
            <a:ext cx="205500" cy="240900"/>
          </a:xfrm>
          <a:prstGeom prst="downArrow">
            <a:avLst>
              <a:gd fmla="val 50000" name="adj1"/>
              <a:gd fmla="val 50000" name="adj2"/>
            </a:avLst>
          </a:prstGeom>
          <a:solidFill>
            <a:srgbClr val="B7B7B7"/>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sp>
        <p:nvSpPr>
          <p:cNvPr id="493" name="Google Shape;493;p18"/>
          <p:cNvSpPr/>
          <p:nvPr/>
        </p:nvSpPr>
        <p:spPr>
          <a:xfrm>
            <a:off x="5320907" y="1073100"/>
            <a:ext cx="205500" cy="240900"/>
          </a:xfrm>
          <a:prstGeom prst="downArrow">
            <a:avLst>
              <a:gd fmla="val 50000" name="adj1"/>
              <a:gd fmla="val 50000" name="adj2"/>
            </a:avLst>
          </a:prstGeom>
          <a:solidFill>
            <a:srgbClr val="12519C"/>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Century Gothic"/>
              <a:ea typeface="Century Gothic"/>
              <a:cs typeface="Century Gothic"/>
              <a:sym typeface="Century Gothic"/>
            </a:endParaRPr>
          </a:p>
        </p:txBody>
      </p:sp>
      <p:cxnSp>
        <p:nvCxnSpPr>
          <p:cNvPr id="494" name="Google Shape;494;p18"/>
          <p:cNvCxnSpPr/>
          <p:nvPr/>
        </p:nvCxnSpPr>
        <p:spPr>
          <a:xfrm rot="10800000">
            <a:off x="2632112" y="175270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5" name="Google Shape;495;p18"/>
          <p:cNvSpPr txBox="1"/>
          <p:nvPr/>
        </p:nvSpPr>
        <p:spPr>
          <a:xfrm>
            <a:off x="4374390" y="1777945"/>
            <a:ext cx="955500" cy="188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6" name="Google Shape;496;p18"/>
          <p:cNvCxnSpPr/>
          <p:nvPr/>
        </p:nvCxnSpPr>
        <p:spPr>
          <a:xfrm>
            <a:off x="5423642" y="1772254"/>
            <a:ext cx="0" cy="231900"/>
          </a:xfrm>
          <a:prstGeom prst="straightConnector1">
            <a:avLst/>
          </a:prstGeom>
          <a:noFill/>
          <a:ln cap="flat" cmpd="sng" w="25400">
            <a:solidFill>
              <a:srgbClr val="B7B7B7"/>
            </a:solidFill>
            <a:prstDash val="solid"/>
            <a:miter lim="8000"/>
            <a:headEnd len="sm" w="sm" type="none"/>
            <a:tailEnd len="med" w="med" type="triangle"/>
          </a:ln>
        </p:spPr>
      </p:cxnSp>
      <p:sp>
        <p:nvSpPr>
          <p:cNvPr id="497" name="Google Shape;497;p18"/>
          <p:cNvSpPr txBox="1"/>
          <p:nvPr/>
        </p:nvSpPr>
        <p:spPr>
          <a:xfrm>
            <a:off x="4336415" y="2517264"/>
            <a:ext cx="9816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Direction &amp; Program Updates</a:t>
            </a:r>
            <a:endParaRPr b="0" i="0" sz="700" u="none" cap="none" strike="noStrike">
              <a:solidFill>
                <a:srgbClr val="336666"/>
              </a:solidFill>
              <a:latin typeface="Montserrat"/>
              <a:ea typeface="Montserrat"/>
              <a:cs typeface="Montserrat"/>
              <a:sym typeface="Montserrat"/>
            </a:endParaRPr>
          </a:p>
        </p:txBody>
      </p:sp>
      <p:cxnSp>
        <p:nvCxnSpPr>
          <p:cNvPr id="498" name="Google Shape;498;p18"/>
          <p:cNvCxnSpPr/>
          <p:nvPr/>
        </p:nvCxnSpPr>
        <p:spPr>
          <a:xfrm>
            <a:off x="5423650" y="2504893"/>
            <a:ext cx="0" cy="332700"/>
          </a:xfrm>
          <a:prstGeom prst="straightConnector1">
            <a:avLst/>
          </a:prstGeom>
          <a:noFill/>
          <a:ln cap="flat" cmpd="sng" w="25400">
            <a:solidFill>
              <a:srgbClr val="B7B7B7"/>
            </a:solidFill>
            <a:prstDash val="solid"/>
            <a:miter lim="8000"/>
            <a:headEnd len="sm" w="sm" type="none"/>
            <a:tailEnd len="med" w="med" type="triangle"/>
          </a:ln>
        </p:spPr>
      </p:cxnSp>
      <p:cxnSp>
        <p:nvCxnSpPr>
          <p:cNvPr id="499" name="Google Shape;499;p18"/>
          <p:cNvCxnSpPr>
            <a:stCxn id="490" idx="3"/>
            <a:endCxn id="489" idx="1"/>
          </p:cNvCxnSpPr>
          <p:nvPr/>
        </p:nvCxnSpPr>
        <p:spPr>
          <a:xfrm flipH="1" rot="10800000">
            <a:off x="3750325" y="1548954"/>
            <a:ext cx="729000" cy="300"/>
          </a:xfrm>
          <a:prstGeom prst="straightConnector1">
            <a:avLst/>
          </a:prstGeom>
          <a:noFill/>
          <a:ln cap="flat" cmpd="sng" w="9525">
            <a:solidFill>
              <a:srgbClr val="B7B7B7"/>
            </a:solidFill>
            <a:prstDash val="solid"/>
            <a:miter lim="8000"/>
            <a:headEnd len="med" w="med" type="triangle"/>
            <a:tailEnd len="med" w="med" type="triangle"/>
          </a:ln>
        </p:spPr>
      </p:cxnSp>
      <p:cxnSp>
        <p:nvCxnSpPr>
          <p:cNvPr id="500" name="Google Shape;500;p18"/>
          <p:cNvCxnSpPr>
            <a:stCxn id="501" idx="3"/>
            <a:endCxn id="491" idx="1"/>
          </p:cNvCxnSpPr>
          <p:nvPr/>
        </p:nvCxnSpPr>
        <p:spPr>
          <a:xfrm>
            <a:off x="3750325" y="2229258"/>
            <a:ext cx="729000" cy="0"/>
          </a:xfrm>
          <a:prstGeom prst="straightConnector1">
            <a:avLst/>
          </a:prstGeom>
          <a:noFill/>
          <a:ln cap="flat" cmpd="sng" w="9525">
            <a:solidFill>
              <a:srgbClr val="B7B7B7"/>
            </a:solidFill>
            <a:prstDash val="solid"/>
            <a:miter lim="8000"/>
            <a:headEnd len="med" w="med" type="triangle"/>
            <a:tailEnd len="med" w="med" type="triangle"/>
          </a:ln>
        </p:spPr>
      </p:cxnSp>
      <p:sp>
        <p:nvSpPr>
          <p:cNvPr id="501" name="Google Shape;501;p18"/>
          <p:cNvSpPr txBox="1"/>
          <p:nvPr/>
        </p:nvSpPr>
        <p:spPr>
          <a:xfrm>
            <a:off x="1629325" y="2090208"/>
            <a:ext cx="2121000" cy="278100"/>
          </a:xfrm>
          <a:prstGeom prst="rect">
            <a:avLst/>
          </a:prstGeom>
          <a:solidFill>
            <a:srgbClr val="B7B7B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FFFFFF"/>
                </a:solidFill>
                <a:latin typeface="Montserrat"/>
                <a:ea typeface="Montserrat"/>
                <a:cs typeface="Montserrat"/>
                <a:sym typeface="Montserrat"/>
              </a:rPr>
              <a:t>Product Manager, Racing Queensland </a:t>
            </a:r>
            <a:endParaRPr b="1" i="0" sz="800" u="none" cap="none" strike="noStrike">
              <a:solidFill>
                <a:srgbClr val="FFFFFF"/>
              </a:solidFill>
              <a:latin typeface="Montserrat"/>
              <a:ea typeface="Montserrat"/>
              <a:cs typeface="Montserrat"/>
              <a:sym typeface="Montserrat"/>
            </a:endParaRPr>
          </a:p>
        </p:txBody>
      </p:sp>
      <p:sp>
        <p:nvSpPr>
          <p:cNvPr id="502" name="Google Shape;502;p18"/>
          <p:cNvSpPr txBox="1"/>
          <p:nvPr/>
        </p:nvSpPr>
        <p:spPr>
          <a:xfrm>
            <a:off x="2864276" y="2533538"/>
            <a:ext cx="660900" cy="151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0" i="0" lang="en" sz="700" u="none" cap="none" strike="noStrike">
                <a:solidFill>
                  <a:srgbClr val="000000"/>
                </a:solidFill>
                <a:latin typeface="Montserrat"/>
                <a:ea typeface="Montserrat"/>
                <a:cs typeface="Montserrat"/>
                <a:sym typeface="Montserrat"/>
              </a:rPr>
              <a:t>Escalate Risks &amp; Issues</a:t>
            </a:r>
            <a:endParaRPr b="0" i="0" sz="700" u="none" cap="none" strike="noStrike">
              <a:solidFill>
                <a:srgbClr val="336666"/>
              </a:solidFill>
              <a:latin typeface="Montserrat"/>
              <a:ea typeface="Montserrat"/>
              <a:cs typeface="Montserrat"/>
              <a:sym typeface="Montserrat"/>
            </a:endParaRPr>
          </a:p>
        </p:txBody>
      </p:sp>
      <p:cxnSp>
        <p:nvCxnSpPr>
          <p:cNvPr id="503" name="Google Shape;503;p18"/>
          <p:cNvCxnSpPr/>
          <p:nvPr/>
        </p:nvCxnSpPr>
        <p:spPr>
          <a:xfrm rot="10800000">
            <a:off x="2632100" y="2507218"/>
            <a:ext cx="0" cy="365700"/>
          </a:xfrm>
          <a:prstGeom prst="straightConnector1">
            <a:avLst/>
          </a:prstGeom>
          <a:noFill/>
          <a:ln cap="flat" cmpd="sng" w="25400">
            <a:solidFill>
              <a:srgbClr val="B7B7B7"/>
            </a:solidFill>
            <a:prstDash val="solid"/>
            <a:miter lim="8000"/>
            <a:headEnd len="sm" w="sm" type="none"/>
            <a:tailEnd len="med" w="med" type="triangle"/>
          </a:ln>
        </p:spPr>
      </p:cxnSp>
      <p:cxnSp>
        <p:nvCxnSpPr>
          <p:cNvPr id="504" name="Google Shape;504;p18"/>
          <p:cNvCxnSpPr>
            <a:stCxn id="488" idx="0"/>
            <a:endCxn id="469" idx="0"/>
          </p:cNvCxnSpPr>
          <p:nvPr/>
        </p:nvCxnSpPr>
        <p:spPr>
          <a:xfrm rot="5400000">
            <a:off x="5404407" y="1633923"/>
            <a:ext cx="254100" cy="3184500"/>
          </a:xfrm>
          <a:prstGeom prst="bentConnector3">
            <a:avLst>
              <a:gd fmla="val -93713" name="adj1"/>
            </a:avLst>
          </a:prstGeom>
          <a:noFill/>
          <a:ln cap="flat" cmpd="sng" w="9525">
            <a:solidFill>
              <a:srgbClr val="B7B7B7"/>
            </a:solidFill>
            <a:prstDash val="solid"/>
            <a:round/>
            <a:headEnd len="med" w="med" type="oval"/>
            <a:tailEnd len="med" w="med" type="oval"/>
          </a:ln>
        </p:spPr>
      </p:cxnSp>
      <p:sp>
        <p:nvSpPr>
          <p:cNvPr id="505" name="Google Shape;505;p18"/>
          <p:cNvSpPr/>
          <p:nvPr/>
        </p:nvSpPr>
        <p:spPr>
          <a:xfrm>
            <a:off x="7182432" y="1935141"/>
            <a:ext cx="1401300" cy="444300"/>
          </a:xfrm>
          <a:prstGeom prst="rect">
            <a:avLst/>
          </a:prstGeom>
          <a:noFill/>
          <a:ln>
            <a:noFill/>
          </a:ln>
        </p:spPr>
        <p:txBody>
          <a:bodyPr anchorCtr="0" anchor="ctr" bIns="121900" lIns="60925" spcFirstLastPara="1" rIns="60925" wrap="square" tIns="121900">
            <a:noAutofit/>
          </a:bodyPr>
          <a:lstStyle/>
          <a:p>
            <a:pPr indent="0" lvl="0" marL="0" marR="0" rtl="0" algn="ctr">
              <a:lnSpc>
                <a:spcPct val="100000"/>
              </a:lnSpc>
              <a:spcBef>
                <a:spcPts val="0"/>
              </a:spcBef>
              <a:spcAft>
                <a:spcPts val="0"/>
              </a:spcAft>
              <a:buClr>
                <a:srgbClr val="000000"/>
              </a:buClr>
              <a:buSzPts val="1300"/>
              <a:buFont typeface="Arial"/>
              <a:buNone/>
            </a:pPr>
            <a:r>
              <a:rPr b="1" i="0" lang="en" sz="700" u="none" cap="none" strike="noStrike">
                <a:solidFill>
                  <a:srgbClr val="191919"/>
                </a:solidFill>
                <a:latin typeface="Montserrat"/>
                <a:ea typeface="Montserrat"/>
                <a:cs typeface="Montserrat"/>
                <a:sym typeface="Montserrat"/>
              </a:rPr>
              <a:t>Monthly Governance Checkpoints (SteerCo)</a:t>
            </a:r>
            <a:endParaRPr b="1" i="0" sz="700" u="none" cap="none" strike="noStrike">
              <a:solidFill>
                <a:srgbClr val="191919"/>
              </a:solidFill>
              <a:latin typeface="Montserrat"/>
              <a:ea typeface="Montserrat"/>
              <a:cs typeface="Montserrat"/>
              <a:sym typeface="Montserrat"/>
            </a:endParaRPr>
          </a:p>
        </p:txBody>
      </p:sp>
      <p:sp>
        <p:nvSpPr>
          <p:cNvPr id="506" name="Google Shape;506;p18"/>
          <p:cNvSpPr/>
          <p:nvPr/>
        </p:nvSpPr>
        <p:spPr>
          <a:xfrm>
            <a:off x="7712458" y="1639644"/>
            <a:ext cx="318300" cy="311700"/>
          </a:xfrm>
          <a:custGeom>
            <a:rect b="b" l="l" r="r" t="t"/>
            <a:pathLst>
              <a:path extrusionOk="0" h="120000" w="120000">
                <a:moveTo>
                  <a:pt x="102419" y="17574"/>
                </a:moveTo>
                <a:cubicBezTo>
                  <a:pt x="125853" y="41002"/>
                  <a:pt x="125853" y="78991"/>
                  <a:pt x="102419" y="102419"/>
                </a:cubicBezTo>
                <a:cubicBezTo>
                  <a:pt x="78991" y="125853"/>
                  <a:pt x="41002" y="125853"/>
                  <a:pt x="17574" y="102419"/>
                </a:cubicBezTo>
                <a:cubicBezTo>
                  <a:pt x="-5860" y="78991"/>
                  <a:pt x="-5860" y="41002"/>
                  <a:pt x="17574" y="17574"/>
                </a:cubicBezTo>
                <a:cubicBezTo>
                  <a:pt x="41002" y="-5860"/>
                  <a:pt x="78991" y="-5860"/>
                  <a:pt x="102419" y="17574"/>
                </a:cubicBezTo>
                <a:close/>
              </a:path>
            </a:pathLst>
          </a:custGeom>
          <a:solidFill>
            <a:srgbClr val="99BDE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t/>
            </a:r>
            <a:endParaRPr b="0" i="0" sz="1300" u="none" cap="none" strike="noStrike">
              <a:solidFill>
                <a:srgbClr val="000000"/>
              </a:solidFill>
              <a:latin typeface="Calibri"/>
              <a:ea typeface="Calibri"/>
              <a:cs typeface="Calibri"/>
              <a:sym typeface="Calibri"/>
            </a:endParaRPr>
          </a:p>
        </p:txBody>
      </p:sp>
      <p:sp>
        <p:nvSpPr>
          <p:cNvPr id="507" name="Google Shape;507;p18"/>
          <p:cNvSpPr/>
          <p:nvPr/>
        </p:nvSpPr>
        <p:spPr>
          <a:xfrm>
            <a:off x="4196599" y="3403869"/>
            <a:ext cx="1334100" cy="9417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08" name="Google Shape;508;p18"/>
          <p:cNvPicPr preferRelativeResize="0"/>
          <p:nvPr/>
        </p:nvPicPr>
        <p:blipFill rotWithShape="1">
          <a:blip r:embed="rId8">
            <a:alphaModFix/>
          </a:blip>
          <a:srcRect b="0" l="0" r="0" t="0"/>
          <a:stretch/>
        </p:blipFill>
        <p:spPr>
          <a:xfrm>
            <a:off x="7756651" y="1712375"/>
            <a:ext cx="229899" cy="166176"/>
          </a:xfrm>
          <a:prstGeom prst="rect">
            <a:avLst/>
          </a:prstGeom>
          <a:noFill/>
          <a:ln>
            <a:noFill/>
          </a:ln>
        </p:spPr>
      </p:pic>
      <p:sp>
        <p:nvSpPr>
          <p:cNvPr id="509" name="Google Shape;509;p18"/>
          <p:cNvSpPr/>
          <p:nvPr/>
        </p:nvSpPr>
        <p:spPr>
          <a:xfrm>
            <a:off x="4128891" y="3446717"/>
            <a:ext cx="1334100" cy="1014300"/>
          </a:xfrm>
          <a:prstGeom prst="roundRect">
            <a:avLst>
              <a:gd fmla="val 5116" name="adj"/>
            </a:avLst>
          </a:prstGeom>
          <a:solidFill>
            <a:srgbClr val="FFFFFF"/>
          </a:solidFill>
          <a:ln cap="flat" cmpd="sng" w="9525">
            <a:solidFill>
              <a:srgbClr val="CC006C"/>
            </a:solidFill>
            <a:prstDash val="dot"/>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10" name="Google Shape;510;p18"/>
          <p:cNvPicPr preferRelativeResize="0"/>
          <p:nvPr/>
        </p:nvPicPr>
        <p:blipFill rotWithShape="1">
          <a:blip r:embed="rId9">
            <a:alphaModFix/>
          </a:blip>
          <a:srcRect b="18198" l="21766" r="23601" t="16993"/>
          <a:stretch/>
        </p:blipFill>
        <p:spPr>
          <a:xfrm>
            <a:off x="4259212" y="4081790"/>
            <a:ext cx="193693" cy="181710"/>
          </a:xfrm>
          <a:prstGeom prst="rect">
            <a:avLst/>
          </a:prstGeom>
          <a:noFill/>
          <a:ln>
            <a:noFill/>
          </a:ln>
        </p:spPr>
      </p:pic>
      <p:sp>
        <p:nvSpPr>
          <p:cNvPr id="511" name="Google Shape;511;p18"/>
          <p:cNvSpPr txBox="1"/>
          <p:nvPr/>
        </p:nvSpPr>
        <p:spPr>
          <a:xfrm>
            <a:off x="4380925" y="3505629"/>
            <a:ext cx="830100" cy="307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TTN Team</a:t>
            </a:r>
            <a:endParaRPr b="1" i="0" sz="800" u="none" cap="none" strike="noStrike">
              <a:solidFill>
                <a:srgbClr val="000000"/>
              </a:solidFill>
              <a:latin typeface="Montserrat"/>
              <a:ea typeface="Montserrat"/>
              <a:cs typeface="Montserrat"/>
              <a:sym typeface="Montserrat"/>
            </a:endParaRPr>
          </a:p>
        </p:txBody>
      </p:sp>
      <p:sp>
        <p:nvSpPr>
          <p:cNvPr id="512" name="Google Shape;512;p18"/>
          <p:cNvSpPr txBox="1"/>
          <p:nvPr/>
        </p:nvSpPr>
        <p:spPr>
          <a:xfrm>
            <a:off x="4232743" y="3979995"/>
            <a:ext cx="12618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TTN Engineering </a:t>
            </a:r>
            <a:endParaRPr b="1" i="0" sz="700" u="none" cap="none" strike="noStrike">
              <a:solidFill>
                <a:srgbClr val="000000"/>
              </a:solidFill>
              <a:latin typeface="Century Gothic"/>
              <a:ea typeface="Century Gothic"/>
              <a:cs typeface="Century Gothic"/>
              <a:sym typeface="Century Gothic"/>
            </a:endParaRPr>
          </a:p>
          <a:p>
            <a:pPr indent="0" lvl="0" marL="0" marR="0" rtl="0" algn="ctr">
              <a:lnSpc>
                <a:spcPct val="10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Team</a:t>
            </a:r>
            <a:endParaRPr b="1" i="0" sz="700" u="none" cap="none" strike="noStrike">
              <a:solidFill>
                <a:srgbClr val="000000"/>
              </a:solidFill>
              <a:latin typeface="Century Gothic"/>
              <a:ea typeface="Century Gothic"/>
              <a:cs typeface="Century Gothic"/>
              <a:sym typeface="Century Gothic"/>
            </a:endParaRPr>
          </a:p>
        </p:txBody>
      </p:sp>
      <p:pic>
        <p:nvPicPr>
          <p:cNvPr id="513" name="Google Shape;513;p18"/>
          <p:cNvPicPr preferRelativeResize="0"/>
          <p:nvPr/>
        </p:nvPicPr>
        <p:blipFill rotWithShape="1">
          <a:blip r:embed="rId9">
            <a:alphaModFix/>
          </a:blip>
          <a:srcRect b="18198" l="21766" r="23601" t="16993"/>
          <a:stretch/>
        </p:blipFill>
        <p:spPr>
          <a:xfrm>
            <a:off x="4271897" y="3802253"/>
            <a:ext cx="168324" cy="180046"/>
          </a:xfrm>
          <a:prstGeom prst="rect">
            <a:avLst/>
          </a:prstGeom>
          <a:noFill/>
          <a:ln>
            <a:noFill/>
          </a:ln>
        </p:spPr>
      </p:pic>
      <p:sp>
        <p:nvSpPr>
          <p:cNvPr id="514" name="Google Shape;514;p18"/>
          <p:cNvSpPr txBox="1"/>
          <p:nvPr/>
        </p:nvSpPr>
        <p:spPr>
          <a:xfrm>
            <a:off x="4388911" y="3821314"/>
            <a:ext cx="981600" cy="290700"/>
          </a:xfrm>
          <a:prstGeom prst="rect">
            <a:avLst/>
          </a:prstGeom>
          <a:noFill/>
          <a:ln>
            <a:noFill/>
          </a:ln>
        </p:spPr>
        <p:txBody>
          <a:bodyPr anchorCtr="0" anchor="b" bIns="91425" lIns="91425" spcFirstLastPara="1" rIns="91425" wrap="square" tIns="91425">
            <a:noAutofit/>
          </a:bodyPr>
          <a:lstStyle/>
          <a:p>
            <a:pPr indent="0" lvl="0" marL="0" marR="0" rtl="0" algn="ctr">
              <a:lnSpc>
                <a:spcPct val="80000"/>
              </a:lnSpc>
              <a:spcBef>
                <a:spcPts val="0"/>
              </a:spcBef>
              <a:spcAft>
                <a:spcPts val="0"/>
              </a:spcAft>
              <a:buClr>
                <a:srgbClr val="000000"/>
              </a:buClr>
              <a:buSzPts val="700"/>
              <a:buFont typeface="Arial"/>
              <a:buNone/>
            </a:pPr>
            <a:r>
              <a:rPr b="1" i="0" lang="en" sz="700" u="none" cap="none" strike="noStrike">
                <a:solidFill>
                  <a:srgbClr val="000000"/>
                </a:solidFill>
                <a:latin typeface="Century Gothic"/>
                <a:ea typeface="Century Gothic"/>
                <a:cs typeface="Century Gothic"/>
                <a:sym typeface="Century Gothic"/>
              </a:rPr>
              <a:t>Project Manager</a:t>
            </a:r>
            <a:endParaRPr b="1" i="0" sz="700" u="none" cap="none" strike="noStrike">
              <a:solidFill>
                <a:srgbClr val="000000"/>
              </a:solidFill>
              <a:latin typeface="Century Gothic"/>
              <a:ea typeface="Century Gothic"/>
              <a:cs typeface="Century Gothic"/>
              <a:sym typeface="Century Gothic"/>
            </a:endParaRPr>
          </a:p>
        </p:txBody>
      </p:sp>
      <p:cxnSp>
        <p:nvCxnSpPr>
          <p:cNvPr id="515" name="Google Shape;515;p18"/>
          <p:cNvCxnSpPr/>
          <p:nvPr/>
        </p:nvCxnSpPr>
        <p:spPr>
          <a:xfrm rot="10800000">
            <a:off x="3316313" y="4030223"/>
            <a:ext cx="276600" cy="0"/>
          </a:xfrm>
          <a:prstGeom prst="straightConnector1">
            <a:avLst/>
          </a:prstGeom>
          <a:noFill/>
          <a:ln cap="flat" cmpd="sng" w="9525">
            <a:solidFill>
              <a:srgbClr val="999999"/>
            </a:solidFill>
            <a:prstDash val="solid"/>
            <a:round/>
            <a:headEnd len="sm" w="sm" type="none"/>
            <a:tailEnd len="sm" w="sm" type="none"/>
          </a:ln>
        </p:spPr>
      </p:cxnSp>
      <p:pic>
        <p:nvPicPr>
          <p:cNvPr id="516" name="Google Shape;516;p18"/>
          <p:cNvPicPr preferRelativeResize="0"/>
          <p:nvPr/>
        </p:nvPicPr>
        <p:blipFill rotWithShape="1">
          <a:blip r:embed="rId8">
            <a:alphaModFix/>
          </a:blip>
          <a:srcRect b="0" l="0" r="0" t="0"/>
          <a:stretch/>
        </p:blipFill>
        <p:spPr>
          <a:xfrm>
            <a:off x="6699607" y="3982434"/>
            <a:ext cx="183925" cy="135766"/>
          </a:xfrm>
          <a:prstGeom prst="rect">
            <a:avLst/>
          </a:prstGeom>
          <a:noFill/>
          <a:ln>
            <a:noFill/>
          </a:ln>
        </p:spPr>
      </p:pic>
      <p:sp>
        <p:nvSpPr>
          <p:cNvPr id="517" name="Google Shape;517;p18"/>
          <p:cNvSpPr txBox="1"/>
          <p:nvPr/>
        </p:nvSpPr>
        <p:spPr>
          <a:xfrm>
            <a:off x="359857" y="1281370"/>
            <a:ext cx="11757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Steering</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sp>
        <p:nvSpPr>
          <p:cNvPr id="518" name="Google Shape;518;p18"/>
          <p:cNvSpPr txBox="1"/>
          <p:nvPr/>
        </p:nvSpPr>
        <p:spPr>
          <a:xfrm>
            <a:off x="409932" y="2011328"/>
            <a:ext cx="9816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Management</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Committee</a:t>
            </a:r>
            <a:endParaRPr b="0" i="0" sz="800" u="none" cap="none" strike="noStrike">
              <a:solidFill>
                <a:srgbClr val="12519C"/>
              </a:solidFill>
              <a:latin typeface="Montserrat"/>
              <a:ea typeface="Montserrat"/>
              <a:cs typeface="Montserrat"/>
              <a:sym typeface="Montserrat"/>
            </a:endParaRPr>
          </a:p>
        </p:txBody>
      </p:sp>
      <p:cxnSp>
        <p:nvCxnSpPr>
          <p:cNvPr id="519" name="Google Shape;519;p18"/>
          <p:cNvCxnSpPr>
            <a:stCxn id="505" idx="2"/>
          </p:cNvCxnSpPr>
          <p:nvPr/>
        </p:nvCxnSpPr>
        <p:spPr>
          <a:xfrm flipH="1" rot="5400000">
            <a:off x="7211532" y="1707891"/>
            <a:ext cx="81300" cy="1261800"/>
          </a:xfrm>
          <a:prstGeom prst="bentConnector4">
            <a:avLst>
              <a:gd fmla="val -292897" name="adj1"/>
              <a:gd fmla="val 77764" name="adj2"/>
            </a:avLst>
          </a:prstGeom>
          <a:noFill/>
          <a:ln cap="flat" cmpd="sng" w="9525">
            <a:solidFill>
              <a:srgbClr val="B7B7B7"/>
            </a:solidFill>
            <a:prstDash val="solid"/>
            <a:round/>
            <a:headEnd len="med" w="med" type="oval"/>
            <a:tailEnd len="med" w="med" type="oval"/>
          </a:ln>
        </p:spPr>
      </p:cxnSp>
      <p:sp>
        <p:nvSpPr>
          <p:cNvPr id="520" name="Google Shape;520;p18"/>
          <p:cNvSpPr txBox="1"/>
          <p:nvPr/>
        </p:nvSpPr>
        <p:spPr>
          <a:xfrm>
            <a:off x="428857" y="3563900"/>
            <a:ext cx="3000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Program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Execution </a:t>
            </a:r>
            <a:endParaRPr b="0" i="0" sz="800" u="none" cap="none" strike="noStrike">
              <a:solidFill>
                <a:srgbClr val="12519C"/>
              </a:solidFill>
              <a:latin typeface="Montserrat"/>
              <a:ea typeface="Montserrat"/>
              <a:cs typeface="Montserrat"/>
              <a:sym typeface="Montserrat"/>
            </a:endParaRPr>
          </a:p>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12519C"/>
                </a:solidFill>
                <a:latin typeface="Montserrat"/>
                <a:ea typeface="Montserrat"/>
                <a:cs typeface="Montserrat"/>
                <a:sym typeface="Montserrat"/>
              </a:rPr>
              <a:t>Team</a:t>
            </a:r>
            <a:endParaRPr b="0" i="0" sz="800" u="none" cap="none" strike="noStrike">
              <a:solidFill>
                <a:srgbClr val="12519C"/>
              </a:solidFill>
              <a:latin typeface="Montserrat"/>
              <a:ea typeface="Montserrat"/>
              <a:cs typeface="Montserrat"/>
              <a:sym typeface="Montserrat"/>
            </a:endParaRPr>
          </a:p>
        </p:txBody>
      </p:sp>
      <p:pic>
        <p:nvPicPr>
          <p:cNvPr descr="TTN Logo.png" id="521" name="Google Shape;521;p18"/>
          <p:cNvPicPr preferRelativeResize="0"/>
          <p:nvPr/>
        </p:nvPicPr>
        <p:blipFill rotWithShape="1">
          <a:blip r:embed="rId10">
            <a:alphaModFix/>
          </a:blip>
          <a:srcRect b="0" l="0" r="0" t="0"/>
          <a:stretch/>
        </p:blipFill>
        <p:spPr>
          <a:xfrm>
            <a:off x="5110881" y="612478"/>
            <a:ext cx="625544" cy="349439"/>
          </a:xfrm>
          <a:prstGeom prst="rect">
            <a:avLst/>
          </a:prstGeom>
          <a:noFill/>
          <a:ln>
            <a:noFill/>
          </a:ln>
        </p:spPr>
      </p:pic>
      <p:pic>
        <p:nvPicPr>
          <p:cNvPr id="522" name="Google Shape;522;p18"/>
          <p:cNvPicPr preferRelativeResize="0"/>
          <p:nvPr/>
        </p:nvPicPr>
        <p:blipFill rotWithShape="1">
          <a:blip r:embed="rId11">
            <a:alphaModFix/>
          </a:blip>
          <a:srcRect b="0" l="0" r="0" t="0"/>
          <a:stretch/>
        </p:blipFill>
        <p:spPr>
          <a:xfrm>
            <a:off x="2384560" y="678107"/>
            <a:ext cx="542839" cy="224450"/>
          </a:xfrm>
          <a:prstGeom prst="rect">
            <a:avLst/>
          </a:prstGeom>
          <a:noFill/>
          <a:ln>
            <a:noFill/>
          </a:ln>
        </p:spPr>
      </p:pic>
      <p:sp>
        <p:nvSpPr>
          <p:cNvPr id="523" name="Google Shape;523;p18"/>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p19"/>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Project Plan</a:t>
            </a:r>
            <a:endParaRPr b="1" i="0" sz="2000" u="none" cap="none" strike="noStrike">
              <a:solidFill>
                <a:schemeClr val="dk1"/>
              </a:solidFill>
              <a:latin typeface="Montserrat"/>
              <a:ea typeface="Montserrat"/>
              <a:cs typeface="Montserrat"/>
              <a:sym typeface="Montserrat"/>
            </a:endParaRPr>
          </a:p>
        </p:txBody>
      </p:sp>
      <p:graphicFrame>
        <p:nvGraphicFramePr>
          <p:cNvPr id="529" name="Google Shape;529;p19"/>
          <p:cNvGraphicFramePr/>
          <p:nvPr/>
        </p:nvGraphicFramePr>
        <p:xfrm>
          <a:off x="232325" y="700950"/>
          <a:ext cx="3000000" cy="3000000"/>
        </p:xfrm>
        <a:graphic>
          <a:graphicData uri="http://schemas.openxmlformats.org/drawingml/2006/table">
            <a:tbl>
              <a:tblPr>
                <a:noFill/>
                <a:tableStyleId>{486883CD-E40B-490B-9AF7-50432A68762B}</a:tableStyleId>
              </a:tblPr>
              <a:tblGrid>
                <a:gridCol w="1256925"/>
                <a:gridCol w="461550"/>
                <a:gridCol w="476475"/>
                <a:gridCol w="453325"/>
                <a:gridCol w="498275"/>
                <a:gridCol w="464450"/>
                <a:gridCol w="457375"/>
                <a:gridCol w="517625"/>
                <a:gridCol w="517625"/>
                <a:gridCol w="517625"/>
                <a:gridCol w="517625"/>
                <a:gridCol w="517625"/>
                <a:gridCol w="517625"/>
                <a:gridCol w="517625"/>
                <a:gridCol w="517625"/>
                <a:gridCol w="517625"/>
              </a:tblGrid>
              <a:tr h="320750">
                <a:tc>
                  <a:txBody>
                    <a:bodyPr/>
                    <a:lstStyle/>
                    <a:p>
                      <a:pPr indent="0" lvl="0" marL="0" marR="0" rtl="0" algn="ctr">
                        <a:lnSpc>
                          <a:spcPct val="100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Activities /Timelines</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2</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3</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4</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5</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6</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7</a:t>
                      </a:r>
                      <a:endParaRPr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8</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9</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10</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11</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12</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solidFill>
                            <a:srgbClr val="FFFFFF"/>
                          </a:solidFill>
                          <a:latin typeface="Montserrat"/>
                          <a:ea typeface="Montserrat"/>
                          <a:cs typeface="Montserrat"/>
                          <a:sym typeface="Montserrat"/>
                        </a:rPr>
                        <a:t>Week 13</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14</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c>
                  <a:txBody>
                    <a:bodyPr/>
                    <a:lstStyle/>
                    <a:p>
                      <a:pPr indent="0" lvl="0" marL="0" marR="0" rtl="0" algn="ctr">
                        <a:lnSpc>
                          <a:spcPct val="115000"/>
                        </a:lnSpc>
                        <a:spcBef>
                          <a:spcPts val="0"/>
                        </a:spcBef>
                        <a:spcAft>
                          <a:spcPts val="0"/>
                        </a:spcAft>
                        <a:buClr>
                          <a:srgbClr val="000000"/>
                        </a:buClr>
                        <a:buSzPts val="1100"/>
                        <a:buFont typeface="Arial"/>
                        <a:buNone/>
                      </a:pPr>
                      <a:r>
                        <a:rPr b="1" lang="en" sz="900" u="none" cap="none" strike="noStrike">
                          <a:solidFill>
                            <a:srgbClr val="FFFFFF"/>
                          </a:solidFill>
                          <a:latin typeface="Montserrat"/>
                          <a:ea typeface="Montserrat"/>
                          <a:cs typeface="Montserrat"/>
                          <a:sym typeface="Montserrat"/>
                        </a:rPr>
                        <a:t>Week 15</a:t>
                      </a:r>
                      <a:endParaRPr b="1" sz="900" u="none" cap="none" strike="noStrike">
                        <a:solidFill>
                          <a:srgbClr val="FFFFFF"/>
                        </a:solidFill>
                        <a:latin typeface="Montserrat"/>
                        <a:ea typeface="Montserrat"/>
                        <a:cs typeface="Montserrat"/>
                        <a:sym typeface="Montserrat"/>
                      </a:endParaRPr>
                    </a:p>
                  </a:txBody>
                  <a:tcPr marT="0" marB="0" marR="0" marL="0" anchor="ctr">
                    <a:lnL cap="flat" cmpd="sng" w="9525">
                      <a:solidFill>
                        <a:srgbClr val="EFEFEF"/>
                      </a:solidFill>
                      <a:prstDash val="solid"/>
                      <a:round/>
                      <a:headEnd len="sm" w="sm" type="none"/>
                      <a:tailEnd len="sm" w="sm" type="none"/>
                    </a:lnL>
                    <a:lnR cap="flat" cmpd="sng" w="9525">
                      <a:solidFill>
                        <a:srgbClr val="EFEFEF"/>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12519C"/>
                    </a:solidFill>
                  </a:tcPr>
                </a:tc>
              </a:tr>
              <a:tr h="654150">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Design &amp; Discovery Phase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74070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Agile based Iterative Development and Testing ( end to end features)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5037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UAT and Go Live (2 Weeks)</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r h="598850">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solidFill>
                            <a:srgbClr val="434343"/>
                          </a:solidFill>
                          <a:latin typeface="Montserrat"/>
                          <a:ea typeface="Montserrat"/>
                          <a:cs typeface="Montserrat"/>
                          <a:sym typeface="Montserrat"/>
                        </a:rPr>
                        <a:t>Hypercare Support ( For 2 Weeks Post Go-Live)</a:t>
                      </a:r>
                      <a:endParaRPr b="1" sz="1000" u="none" cap="none" strike="noStrike">
                        <a:solidFill>
                          <a:srgbClr val="434343"/>
                        </a:solidFill>
                        <a:latin typeface="Montserrat"/>
                        <a:ea typeface="Montserrat"/>
                        <a:cs typeface="Montserrat"/>
                        <a:sym typeface="Montserrat"/>
                      </a:endParaRPr>
                    </a:p>
                  </a:txBody>
                  <a:tcPr marT="19050" marB="19050" marR="0"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Century Gothic"/>
                        <a:ea typeface="Century Gothic"/>
                        <a:cs typeface="Century Gothic"/>
                        <a:sym typeface="Century Gothic"/>
                      </a:endParaRPr>
                    </a:p>
                  </a:txBody>
                  <a:tcPr marT="0" marB="0" marR="0" marL="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FFFFFF"/>
                    </a:solidFill>
                  </a:tcPr>
                </a:tc>
              </a:tr>
            </a:tbl>
          </a:graphicData>
        </a:graphic>
      </p:graphicFrame>
      <p:sp>
        <p:nvSpPr>
          <p:cNvPr id="530" name="Google Shape;530;p19"/>
          <p:cNvSpPr/>
          <p:nvPr/>
        </p:nvSpPr>
        <p:spPr>
          <a:xfrm>
            <a:off x="1489250" y="1136263"/>
            <a:ext cx="9381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Discovery</a:t>
            </a:r>
            <a:endParaRPr b="1" i="0" sz="800" u="none" cap="none" strike="noStrike">
              <a:solidFill>
                <a:srgbClr val="000000"/>
              </a:solidFill>
              <a:latin typeface="Montserrat"/>
              <a:ea typeface="Montserrat"/>
              <a:cs typeface="Montserrat"/>
              <a:sym typeface="Montserrat"/>
            </a:endParaRPr>
          </a:p>
        </p:txBody>
      </p:sp>
      <p:sp>
        <p:nvSpPr>
          <p:cNvPr id="531" name="Google Shape;531;p19"/>
          <p:cNvSpPr/>
          <p:nvPr/>
        </p:nvSpPr>
        <p:spPr>
          <a:xfrm>
            <a:off x="2427275" y="1935925"/>
            <a:ext cx="4443600" cy="307800"/>
          </a:xfrm>
          <a:prstGeom prst="homePlate">
            <a:avLst>
              <a:gd fmla="val 50000" name="adj"/>
            </a:avLst>
          </a:prstGeom>
          <a:solidFill>
            <a:srgbClr val="D71B7F"/>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19"/>
          <p:cNvSpPr/>
          <p:nvPr/>
        </p:nvSpPr>
        <p:spPr>
          <a:xfrm>
            <a:off x="6888825" y="2711775"/>
            <a:ext cx="1035300" cy="307800"/>
          </a:xfrm>
          <a:prstGeom prst="homePlate">
            <a:avLst>
              <a:gd fmla="val 50000" name="adj"/>
            </a:avLst>
          </a:prstGeom>
          <a:solidFill>
            <a:srgbClr val="6AA84F"/>
          </a:solidFill>
          <a:ln cap="flat" cmpd="sng" w="9525">
            <a:solidFill>
              <a:srgbClr val="6AA84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3" name="Google Shape;533;p19"/>
          <p:cNvPicPr preferRelativeResize="0"/>
          <p:nvPr/>
        </p:nvPicPr>
        <p:blipFill rotWithShape="1">
          <a:blip r:embed="rId3">
            <a:alphaModFix/>
          </a:blip>
          <a:srcRect b="0" l="0" r="0" t="0"/>
          <a:stretch/>
        </p:blipFill>
        <p:spPr>
          <a:xfrm>
            <a:off x="6818825" y="2550325"/>
            <a:ext cx="240600" cy="240600"/>
          </a:xfrm>
          <a:prstGeom prst="rect">
            <a:avLst/>
          </a:prstGeom>
          <a:noFill/>
          <a:ln>
            <a:noFill/>
          </a:ln>
        </p:spPr>
      </p:pic>
      <p:sp>
        <p:nvSpPr>
          <p:cNvPr id="534" name="Google Shape;534;p19"/>
          <p:cNvSpPr/>
          <p:nvPr/>
        </p:nvSpPr>
        <p:spPr>
          <a:xfrm>
            <a:off x="7924075" y="3444925"/>
            <a:ext cx="1035300" cy="307800"/>
          </a:xfrm>
          <a:prstGeom prst="homePlate">
            <a:avLst>
              <a:gd fmla="val 50000" name="adj"/>
            </a:avLst>
          </a:prstGeom>
          <a:solidFill>
            <a:srgbClr val="FF9900"/>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5" name="Google Shape;535;p19"/>
          <p:cNvPicPr preferRelativeResize="0"/>
          <p:nvPr/>
        </p:nvPicPr>
        <p:blipFill rotWithShape="1">
          <a:blip r:embed="rId3">
            <a:alphaModFix/>
          </a:blip>
          <a:srcRect b="0" l="0" r="0" t="0"/>
          <a:stretch/>
        </p:blipFill>
        <p:spPr>
          <a:xfrm>
            <a:off x="7877075" y="3184775"/>
            <a:ext cx="240600" cy="240600"/>
          </a:xfrm>
          <a:prstGeom prst="rect">
            <a:avLst/>
          </a:prstGeom>
          <a:noFill/>
          <a:ln>
            <a:noFill/>
          </a:ln>
        </p:spPr>
      </p:pic>
      <p:sp>
        <p:nvSpPr>
          <p:cNvPr id="536" name="Google Shape;536;p19"/>
          <p:cNvSpPr txBox="1"/>
          <p:nvPr/>
        </p:nvSpPr>
        <p:spPr>
          <a:xfrm>
            <a:off x="266700" y="4399275"/>
            <a:ext cx="8596200" cy="646500"/>
          </a:xfrm>
          <a:prstGeom prst="rect">
            <a:avLst/>
          </a:prstGeom>
          <a:noFill/>
          <a:ln>
            <a:noFill/>
          </a:ln>
        </p:spPr>
        <p:txBody>
          <a:bodyPr anchorCtr="0" anchor="t" bIns="91425" lIns="91425" spcFirstLastPara="1" rIns="91425" wrap="square" tIns="91425">
            <a:spAutoFit/>
          </a:bodyPr>
          <a:lstStyle/>
          <a:p>
            <a:r>
              <a:t>Discovery (3 weeks): clinical workflows, integration mapping, security design.</a:t>
            </a:r>
          </a:p>
          <a:p>
            <a:pPr/>
            <a:r>
              <a:t>MVP Build (12 weeks): registration, appointments, messaging, records view.</a:t>
            </a:r>
          </a:p>
          <a:p>
            <a:pPr/>
            <a:r>
              <a:t>Integration Sprint (6 weeks): Cerner FHIR, MHR, telehealth, notifications.</a:t>
            </a:r>
          </a:p>
          <a:p>
            <a:pPr/>
            <a:r>
              <a:t>Pilot &amp; Rollout (5 weeks): 5-clinic pilot, feedback, phased national rollout.</a:t>
            </a:r>
          </a:p>
          <a:p>
            <a:pPr/>
            <a:r>
              <a:t>Change management and staff training embedded in each phase.</a:t>
            </a:r>
          </a:p>
        </p:txBody>
      </p:sp>
      <p:sp>
        <p:nvSpPr>
          <p:cNvPr id="537" name="Google Shape;537;p19"/>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pic>
        <p:nvPicPr>
          <p:cNvPr id="538" name="Google Shape;538;p19"/>
          <p:cNvPicPr preferRelativeResize="0"/>
          <p:nvPr/>
        </p:nvPicPr>
        <p:blipFill rotWithShape="1">
          <a:blip r:embed="rId4">
            <a:alphaModFix/>
          </a:blip>
          <a:srcRect b="0" l="0" r="0" t="0"/>
          <a:stretch/>
        </p:blipFill>
        <p:spPr>
          <a:xfrm>
            <a:off x="3326050" y="1736975"/>
            <a:ext cx="240600" cy="240600"/>
          </a:xfrm>
          <a:prstGeom prst="rect">
            <a:avLst/>
          </a:prstGeom>
          <a:noFill/>
          <a:ln>
            <a:noFill/>
          </a:ln>
        </p:spPr>
      </p:pic>
      <p:pic>
        <p:nvPicPr>
          <p:cNvPr id="539" name="Google Shape;539;p19"/>
          <p:cNvPicPr preferRelativeResize="0"/>
          <p:nvPr/>
        </p:nvPicPr>
        <p:blipFill rotWithShape="1">
          <a:blip r:embed="rId4">
            <a:alphaModFix/>
          </a:blip>
          <a:srcRect b="0" l="0" r="0" t="0"/>
          <a:stretch/>
        </p:blipFill>
        <p:spPr>
          <a:xfrm>
            <a:off x="4238225" y="1736975"/>
            <a:ext cx="240600" cy="240600"/>
          </a:xfrm>
          <a:prstGeom prst="rect">
            <a:avLst/>
          </a:prstGeom>
          <a:noFill/>
          <a:ln>
            <a:noFill/>
          </a:ln>
        </p:spPr>
      </p:pic>
      <p:pic>
        <p:nvPicPr>
          <p:cNvPr id="540" name="Google Shape;540;p19"/>
          <p:cNvPicPr preferRelativeResize="0"/>
          <p:nvPr/>
        </p:nvPicPr>
        <p:blipFill rotWithShape="1">
          <a:blip r:embed="rId4">
            <a:alphaModFix/>
          </a:blip>
          <a:srcRect b="0" l="0" r="0" t="0"/>
          <a:stretch/>
        </p:blipFill>
        <p:spPr>
          <a:xfrm>
            <a:off x="5275350" y="1736975"/>
            <a:ext cx="240600" cy="240600"/>
          </a:xfrm>
          <a:prstGeom prst="rect">
            <a:avLst/>
          </a:prstGeom>
          <a:noFill/>
          <a:ln>
            <a:noFill/>
          </a:ln>
        </p:spPr>
      </p:pic>
      <p:pic>
        <p:nvPicPr>
          <p:cNvPr id="541" name="Google Shape;541;p19"/>
          <p:cNvPicPr preferRelativeResize="0"/>
          <p:nvPr/>
        </p:nvPicPr>
        <p:blipFill rotWithShape="1">
          <a:blip r:embed="rId4">
            <a:alphaModFix/>
          </a:blip>
          <a:srcRect b="0" l="0" r="0" t="0"/>
          <a:stretch/>
        </p:blipFill>
        <p:spPr>
          <a:xfrm>
            <a:off x="6312475" y="1736975"/>
            <a:ext cx="240600" cy="240600"/>
          </a:xfrm>
          <a:prstGeom prst="rect">
            <a:avLst/>
          </a:prstGeom>
          <a:noFill/>
          <a:ln>
            <a:noFill/>
          </a:ln>
        </p:spPr>
      </p:pic>
      <p:pic>
        <p:nvPicPr>
          <p:cNvPr id="542" name="Google Shape;542;p19"/>
          <p:cNvPicPr preferRelativeResize="0"/>
          <p:nvPr/>
        </p:nvPicPr>
        <p:blipFill rotWithShape="1">
          <a:blip r:embed="rId4">
            <a:alphaModFix/>
          </a:blip>
          <a:srcRect b="0" l="0" r="0" t="0"/>
          <a:stretch/>
        </p:blipFill>
        <p:spPr>
          <a:xfrm>
            <a:off x="594350" y="3950950"/>
            <a:ext cx="240600" cy="240600"/>
          </a:xfrm>
          <a:prstGeom prst="rect">
            <a:avLst/>
          </a:prstGeom>
          <a:noFill/>
          <a:ln>
            <a:noFill/>
          </a:ln>
        </p:spPr>
      </p:pic>
      <p:sp>
        <p:nvSpPr>
          <p:cNvPr id="543" name="Google Shape;543;p19"/>
          <p:cNvSpPr txBox="1"/>
          <p:nvPr/>
        </p:nvSpPr>
        <p:spPr>
          <a:xfrm>
            <a:off x="7587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Product Increment Review</a:t>
            </a:r>
            <a:endParaRPr b="0" i="0" sz="900" u="none" cap="none" strike="noStrike">
              <a:solidFill>
                <a:srgbClr val="000000"/>
              </a:solidFill>
              <a:latin typeface="Montserrat"/>
              <a:ea typeface="Montserrat"/>
              <a:cs typeface="Montserrat"/>
              <a:sym typeface="Montserrat"/>
            </a:endParaRPr>
          </a:p>
        </p:txBody>
      </p:sp>
      <p:pic>
        <p:nvPicPr>
          <p:cNvPr id="544" name="Google Shape;544;p19"/>
          <p:cNvPicPr preferRelativeResize="0"/>
          <p:nvPr/>
        </p:nvPicPr>
        <p:blipFill rotWithShape="1">
          <a:blip r:embed="rId3">
            <a:alphaModFix/>
          </a:blip>
          <a:srcRect b="0" l="0" r="0" t="0"/>
          <a:stretch/>
        </p:blipFill>
        <p:spPr>
          <a:xfrm>
            <a:off x="2973050" y="3950950"/>
            <a:ext cx="240600" cy="240600"/>
          </a:xfrm>
          <a:prstGeom prst="rect">
            <a:avLst/>
          </a:prstGeom>
          <a:noFill/>
          <a:ln>
            <a:noFill/>
          </a:ln>
        </p:spPr>
      </p:pic>
      <p:sp>
        <p:nvSpPr>
          <p:cNvPr id="545" name="Google Shape;545;p19"/>
          <p:cNvSpPr txBox="1"/>
          <p:nvPr/>
        </p:nvSpPr>
        <p:spPr>
          <a:xfrm>
            <a:off x="3120950" y="3909700"/>
            <a:ext cx="2000100" cy="323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900"/>
              <a:buFont typeface="Arial"/>
              <a:buNone/>
            </a:pPr>
            <a:r>
              <a:rPr b="0" i="0" lang="en" sz="900" u="none" cap="none" strike="noStrike">
                <a:solidFill>
                  <a:srgbClr val="000000"/>
                </a:solidFill>
                <a:latin typeface="Montserrat"/>
                <a:ea typeface="Montserrat"/>
                <a:cs typeface="Montserrat"/>
                <a:sym typeface="Montserrat"/>
              </a:rPr>
              <a:t>UAT and Go-Live</a:t>
            </a:r>
            <a:endParaRPr b="0" i="0" sz="900" u="none" cap="none" strike="noStrike">
              <a:solidFill>
                <a:srgbClr val="000000"/>
              </a:solidFill>
              <a:latin typeface="Montserrat"/>
              <a:ea typeface="Montserrat"/>
              <a:cs typeface="Montserrat"/>
              <a:sym typeface="Montserrat"/>
            </a:endParaRPr>
          </a:p>
        </p:txBody>
      </p:sp>
      <p:sp>
        <p:nvSpPr>
          <p:cNvPr id="546" name="Google Shape;546;p19"/>
          <p:cNvSpPr/>
          <p:nvPr/>
        </p:nvSpPr>
        <p:spPr>
          <a:xfrm>
            <a:off x="1489250" y="1392800"/>
            <a:ext cx="2811600" cy="164700"/>
          </a:xfrm>
          <a:prstGeom prst="homePlate">
            <a:avLst>
              <a:gd fmla="val 50000" name="adj"/>
            </a:avLst>
          </a:prstGeom>
          <a:solidFill>
            <a:srgbClr val="F5B6D7"/>
          </a:solidFill>
          <a:ln cap="flat" cmpd="sng" w="9525">
            <a:solidFill>
              <a:srgbClr val="F5B6D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Montserrat"/>
                <a:ea typeface="Montserrat"/>
                <a:cs typeface="Montserrat"/>
                <a:sym typeface="Montserrat"/>
              </a:rPr>
              <a:t>Design Phase</a:t>
            </a:r>
            <a:endParaRPr b="1"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20"/>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2" name="Google Shape;552;p20"/>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53" name="Google Shape;553;p20"/>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54" name="Google Shape;554;p20"/>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55" name="Google Shape;555;p20"/>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100"/>
              <a:buFont typeface="Arial"/>
              <a:buNone/>
            </a:pPr>
            <a:r>
              <a:rPr b="0" i="0" lang="en" sz="1200" u="none" cap="none" strike="noStrike">
                <a:solidFill>
                  <a:srgbClr val="000000"/>
                </a:solidFill>
                <a:latin typeface="Montserrat"/>
                <a:ea typeface="Montserrat"/>
                <a:cs typeface="Montserrat"/>
                <a:sym typeface="Montserrat"/>
              </a:rPr>
              <a:t>Success Stories</a:t>
            </a:r>
            <a:endParaRPr b="0" i="0" sz="1200" u="none" cap="none" strike="noStrike">
              <a:solidFill>
                <a:srgbClr val="000000"/>
              </a:solidFill>
              <a:latin typeface="Montserrat"/>
              <a:ea typeface="Montserrat"/>
              <a:cs typeface="Montserrat"/>
              <a:sym typeface="Montserrat"/>
            </a:endParaRPr>
          </a:p>
        </p:txBody>
      </p:sp>
      <p:cxnSp>
        <p:nvCxnSpPr>
          <p:cNvPr id="556" name="Google Shape;556;p20"/>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57" name="Google Shape;557;p20"/>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558" name="Google Shape;558;p20"/>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559" name="Google Shape;559;p20"/>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0" name="Google Shape;560;p20"/>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1" name="Google Shape;561;p20"/>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62" name="Google Shape;562;p20"/>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563" name="Google Shape;563;p20"/>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564" name="Google Shape;564;p20"/>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565" name="Google Shape;565;p20"/>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6" name="Google Shape;566;p20"/>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Commercial Summary</a:t>
            </a:r>
            <a:endParaRPr b="1" i="0" sz="1200" u="none" cap="none" strike="noStrike">
              <a:solidFill>
                <a:srgbClr val="D71B7F"/>
              </a:solidFill>
              <a:latin typeface="Montserrat"/>
              <a:ea typeface="Montserrat"/>
              <a:cs typeface="Montserrat"/>
              <a:sym typeface="Montserrat"/>
            </a:endParaRPr>
          </a:p>
        </p:txBody>
      </p:sp>
      <p:cxnSp>
        <p:nvCxnSpPr>
          <p:cNvPr id="567" name="Google Shape;567;p20"/>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568" name="Google Shape;568;p20"/>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9" name="Google Shape;569;p20"/>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3" name="Shape 573"/>
        <p:cNvGrpSpPr/>
        <p:nvPr/>
      </p:nvGrpSpPr>
      <p:grpSpPr>
        <a:xfrm>
          <a:off x="0" y="0"/>
          <a:ext cx="0" cy="0"/>
          <a:chOff x="0" y="0"/>
          <a:chExt cx="0" cy="0"/>
        </a:xfrm>
      </p:grpSpPr>
      <p:sp>
        <p:nvSpPr>
          <p:cNvPr id="574" name="Google Shape;574;p21"/>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Proposed Engagement Model</a:t>
            </a:r>
            <a:endParaRPr b="1" i="0" sz="2000" u="none" cap="none" strike="noStrike">
              <a:solidFill>
                <a:schemeClr val="dk1"/>
              </a:solidFill>
              <a:latin typeface="Montserrat"/>
              <a:ea typeface="Montserrat"/>
              <a:cs typeface="Montserrat"/>
              <a:sym typeface="Montserrat"/>
            </a:endParaRPr>
          </a:p>
        </p:txBody>
      </p:sp>
      <p:sp>
        <p:nvSpPr>
          <p:cNvPr id="575" name="Google Shape;575;p21"/>
          <p:cNvSpPr/>
          <p:nvPr/>
        </p:nvSpPr>
        <p:spPr>
          <a:xfrm>
            <a:off x="268738" y="861370"/>
            <a:ext cx="4201500" cy="37182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Project will be executed in Iterative Agile manner for each phase  with the following iterations-</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Agile-based Development </a:t>
            </a:r>
            <a:endParaRPr b="0" i="0" sz="1100" u="none" cap="none" strike="noStrike">
              <a:solidFill>
                <a:srgbClr val="000000"/>
              </a:solidFill>
              <a:latin typeface="Montserrat"/>
              <a:ea typeface="Montserrat"/>
              <a:cs typeface="Montserrat"/>
              <a:sym typeface="Montserrat"/>
            </a:endParaRPr>
          </a:p>
          <a:p>
            <a:pPr indent="-292100" lvl="1" marL="914400" marR="0" rtl="0" algn="l">
              <a:lnSpc>
                <a:spcPct val="115000"/>
              </a:lnSpc>
              <a:spcBef>
                <a:spcPts val="0"/>
              </a:spcBef>
              <a:spcAft>
                <a:spcPts val="0"/>
              </a:spcAft>
              <a:buClr>
                <a:srgbClr val="000000"/>
              </a:buClr>
              <a:buSzPts val="1000"/>
              <a:buFont typeface="Montserrat"/>
              <a:buChar char="○"/>
            </a:pPr>
            <a:r>
              <a:rPr b="0" i="0" lang="en" sz="1100" u="none" cap="none" strike="noStrike">
                <a:solidFill>
                  <a:srgbClr val="000000"/>
                </a:solidFill>
                <a:latin typeface="Montserrat"/>
                <a:ea typeface="Montserrat"/>
                <a:cs typeface="Montserrat"/>
                <a:sym typeface="Montserrat"/>
              </a:rPr>
              <a:t>UAT and Go-Live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Any delay in project due to reasons beyond TTN will warrant a change request against the impacted man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If there are any changes to assumptions or delays caused due to dependencies from Racing Queensland, impact on effort, timelines and cost would need to be assessed and will go through change request process.</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6" name="Google Shape;576;p21"/>
          <p:cNvCxnSpPr/>
          <p:nvPr/>
        </p:nvCxnSpPr>
        <p:spPr>
          <a:xfrm>
            <a:off x="272290" y="855475"/>
            <a:ext cx="0" cy="3710400"/>
          </a:xfrm>
          <a:prstGeom prst="straightConnector1">
            <a:avLst/>
          </a:prstGeom>
          <a:noFill/>
          <a:ln cap="flat" cmpd="sng" w="19050">
            <a:solidFill>
              <a:srgbClr val="12519C"/>
            </a:solidFill>
            <a:prstDash val="solid"/>
            <a:round/>
            <a:headEnd len="sm" w="sm" type="none"/>
            <a:tailEnd len="sm" w="sm" type="none"/>
          </a:ln>
        </p:spPr>
      </p:cxnSp>
      <p:sp>
        <p:nvSpPr>
          <p:cNvPr id="577" name="Google Shape;577;p21"/>
          <p:cNvSpPr/>
          <p:nvPr/>
        </p:nvSpPr>
        <p:spPr>
          <a:xfrm>
            <a:off x="4673772" y="863998"/>
            <a:ext cx="4201500" cy="3704400"/>
          </a:xfrm>
          <a:prstGeom prst="snip1Rect">
            <a:avLst>
              <a:gd fmla="val 14134"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91425" lIns="91425" spcFirstLastPara="1" rIns="0" wrap="square" tIns="91425">
            <a:noAutofit/>
          </a:bodyPr>
          <a:lstStyle/>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Total price for the entire project as per requirements outlined in the proposal would be: </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Price Before dIscount : AUD </a:t>
            </a:r>
            <a:r>
              <a:rPr b="1" lang="en" sz="1100">
                <a:latin typeface="Montserrat"/>
                <a:ea typeface="Montserrat"/>
                <a:cs typeface="Montserrat"/>
                <a:sym typeface="Montserrat"/>
              </a:rPr>
              <a:t>80</a:t>
            </a:r>
            <a:r>
              <a:rPr b="1" i="0" lang="en" sz="1100" u="none" cap="none" strike="noStrike">
                <a:solidFill>
                  <a:srgbClr val="000000"/>
                </a:solidFill>
                <a:latin typeface="Montserrat"/>
                <a:ea typeface="Montserrat"/>
                <a:cs typeface="Montserrat"/>
                <a:sym typeface="Montserrat"/>
              </a:rPr>
              <a:t>,712.63</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Discount : 5%</a:t>
            </a:r>
            <a:endParaRPr b="1" i="0" sz="1100" u="none" cap="none" strike="noStrike">
              <a:solidFill>
                <a:srgbClr val="000000"/>
              </a:solidFill>
              <a:latin typeface="Montserrat"/>
              <a:ea typeface="Montserrat"/>
              <a:cs typeface="Montserrat"/>
              <a:sym typeface="Montserrat"/>
            </a:endParaRPr>
          </a:p>
          <a:p>
            <a:pPr indent="-109220" lvl="1" marL="731520" marR="0" rtl="0" algn="l">
              <a:lnSpc>
                <a:spcPct val="115000"/>
              </a:lnSpc>
              <a:spcBef>
                <a:spcPts val="0"/>
              </a:spcBef>
              <a:spcAft>
                <a:spcPts val="0"/>
              </a:spcAft>
              <a:buClr>
                <a:srgbClr val="D71B7F"/>
              </a:buClr>
              <a:buSzPts val="1000"/>
              <a:buFont typeface="Montserrat"/>
              <a:buChar char="○"/>
            </a:pPr>
            <a:r>
              <a:rPr b="1" i="0" lang="en" sz="1100" u="none" cap="none" strike="noStrike">
                <a:solidFill>
                  <a:srgbClr val="000000"/>
                </a:solidFill>
                <a:latin typeface="Montserrat"/>
                <a:ea typeface="Montserrat"/>
                <a:cs typeface="Montserrat"/>
                <a:sym typeface="Montserrat"/>
              </a:rPr>
              <a:t>Final Price After discount : AUD </a:t>
            </a:r>
            <a:r>
              <a:rPr b="1" lang="en" sz="1100">
                <a:latin typeface="Montserrat"/>
                <a:ea typeface="Montserrat"/>
                <a:cs typeface="Montserrat"/>
                <a:sym typeface="Montserrat"/>
              </a:rPr>
              <a:t>78</a:t>
            </a:r>
            <a:r>
              <a:rPr b="1" i="0" lang="en" sz="1100" u="none" cap="none" strike="noStrike">
                <a:solidFill>
                  <a:srgbClr val="000000"/>
                </a:solidFill>
                <a:latin typeface="Montserrat"/>
                <a:ea typeface="Montserrat"/>
                <a:cs typeface="Montserrat"/>
                <a:sym typeface="Montserrat"/>
              </a:rPr>
              <a:t>,727.00</a:t>
            </a:r>
            <a:endParaRPr b="1"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mentioned prices are exclusive of applicable taxes.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Milestones has been added in the following slide.</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All the invoices would be considered accepted by the customer if there is no objection in 5 days.</a:t>
            </a:r>
            <a:endParaRPr b="0" i="0" sz="1100" u="none" cap="none" strike="noStrike">
              <a:solidFill>
                <a:srgbClr val="000000"/>
              </a:solidFill>
              <a:latin typeface="Montserrat"/>
              <a:ea typeface="Montserrat"/>
              <a:cs typeface="Montserrat"/>
              <a:sym typeface="Montserrat"/>
            </a:endParaRPr>
          </a:p>
          <a:p>
            <a:pPr indent="-292100" lvl="0" marL="457200" marR="0" rtl="0" algn="l">
              <a:lnSpc>
                <a:spcPct val="115000"/>
              </a:lnSpc>
              <a:spcBef>
                <a:spcPts val="0"/>
              </a:spcBef>
              <a:spcAft>
                <a:spcPts val="0"/>
              </a:spcAft>
              <a:buClr>
                <a:srgbClr val="E7E6E6"/>
              </a:buClr>
              <a:buSzPts val="1000"/>
              <a:buFont typeface="Montserrat"/>
              <a:buChar char="●"/>
            </a:pPr>
            <a:r>
              <a:rPr b="0" i="0" lang="en" sz="1100" u="none" cap="none" strike="noStrike">
                <a:solidFill>
                  <a:srgbClr val="000000"/>
                </a:solidFill>
                <a:latin typeface="Montserrat"/>
                <a:ea typeface="Montserrat"/>
                <a:cs typeface="Montserrat"/>
                <a:sym typeface="Montserrat"/>
              </a:rPr>
              <a:t>Payment terms are 30 calendar days from the receipt of the invoice.</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45720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a:p>
            <a:pPr indent="0" lvl="0" marL="0" marR="0" rtl="0" algn="l">
              <a:lnSpc>
                <a:spcPct val="115000"/>
              </a:lnSpc>
              <a:spcBef>
                <a:spcPts val="0"/>
              </a:spcBef>
              <a:spcAft>
                <a:spcPts val="0"/>
              </a:spcAft>
              <a:buClr>
                <a:srgbClr val="000000"/>
              </a:buClr>
              <a:buSzPts val="1100"/>
              <a:buFont typeface="Arial"/>
              <a:buNone/>
            </a:pPr>
            <a:r>
              <a:t/>
            </a:r>
            <a:endParaRPr b="0" i="0" sz="1100" u="none" cap="none" strike="noStrike">
              <a:solidFill>
                <a:srgbClr val="000000"/>
              </a:solidFill>
              <a:latin typeface="Montserrat"/>
              <a:ea typeface="Montserrat"/>
              <a:cs typeface="Montserrat"/>
              <a:sym typeface="Montserrat"/>
            </a:endParaRPr>
          </a:p>
        </p:txBody>
      </p:sp>
      <p:cxnSp>
        <p:nvCxnSpPr>
          <p:cNvPr id="578" name="Google Shape;578;p21"/>
          <p:cNvCxnSpPr/>
          <p:nvPr/>
        </p:nvCxnSpPr>
        <p:spPr>
          <a:xfrm>
            <a:off x="4677324" y="858123"/>
            <a:ext cx="0" cy="3697500"/>
          </a:xfrm>
          <a:prstGeom prst="straightConnector1">
            <a:avLst/>
          </a:prstGeom>
          <a:noFill/>
          <a:ln cap="flat" cmpd="sng" w="19050">
            <a:solidFill>
              <a:srgbClr val="D41883"/>
            </a:solidFill>
            <a:prstDash val="solid"/>
            <a:round/>
            <a:headEnd len="sm" w="sm" type="none"/>
            <a:tailEnd len="sm" w="sm" type="none"/>
          </a:ln>
        </p:spPr>
      </p:cxnSp>
      <p:sp>
        <p:nvSpPr>
          <p:cNvPr id="579" name="Google Shape;579;p21"/>
          <p:cNvSpPr txBox="1"/>
          <p:nvPr/>
        </p:nvSpPr>
        <p:spPr>
          <a:xfrm>
            <a:off x="554448" y="989025"/>
            <a:ext cx="34230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Fixed Price Fixed Scope Engagement</a:t>
            </a:r>
            <a:endParaRPr b="0" i="0" sz="1100" u="none" cap="none" strike="noStrike">
              <a:solidFill>
                <a:srgbClr val="12519C"/>
              </a:solidFill>
              <a:latin typeface="Montserrat"/>
              <a:ea typeface="Montserrat"/>
              <a:cs typeface="Montserrat"/>
              <a:sym typeface="Montserrat"/>
            </a:endParaRPr>
          </a:p>
        </p:txBody>
      </p:sp>
      <p:sp>
        <p:nvSpPr>
          <p:cNvPr id="580" name="Google Shape;580;p21"/>
          <p:cNvSpPr txBox="1"/>
          <p:nvPr/>
        </p:nvSpPr>
        <p:spPr>
          <a:xfrm>
            <a:off x="5322463" y="989017"/>
            <a:ext cx="2638200" cy="3540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12519C"/>
                </a:solidFill>
                <a:latin typeface="Montserrat"/>
                <a:ea typeface="Montserrat"/>
                <a:cs typeface="Montserrat"/>
                <a:sym typeface="Montserrat"/>
              </a:rPr>
              <a:t>Commercial Summary</a:t>
            </a:r>
            <a:endParaRPr b="0" i="0" sz="1100" u="none" cap="none" strike="noStrike">
              <a:solidFill>
                <a:srgbClr val="12519C"/>
              </a:solidFill>
              <a:latin typeface="Montserrat"/>
              <a:ea typeface="Montserrat"/>
              <a:cs typeface="Montserrat"/>
              <a:sym typeface="Montserrat"/>
            </a:endParaRPr>
          </a:p>
        </p:txBody>
      </p:sp>
      <p:sp>
        <p:nvSpPr>
          <p:cNvPr id="581" name="Google Shape;581;p2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22"/>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Payment Milestones</a:t>
            </a:r>
            <a:endParaRPr b="1" i="0" sz="2000" u="none" cap="none" strike="noStrike">
              <a:solidFill>
                <a:schemeClr val="dk1"/>
              </a:solidFill>
              <a:latin typeface="Montserrat"/>
              <a:ea typeface="Montserrat"/>
              <a:cs typeface="Montserrat"/>
              <a:sym typeface="Montserrat"/>
            </a:endParaRPr>
          </a:p>
        </p:txBody>
      </p:sp>
      <p:graphicFrame>
        <p:nvGraphicFramePr>
          <p:cNvPr id="587" name="Google Shape;587;p22"/>
          <p:cNvGraphicFramePr/>
          <p:nvPr/>
        </p:nvGraphicFramePr>
        <p:xfrm>
          <a:off x="450100" y="877425"/>
          <a:ext cx="3000000" cy="3000000"/>
        </p:xfrm>
        <a:graphic>
          <a:graphicData uri="http://schemas.openxmlformats.org/drawingml/2006/table">
            <a:tbl>
              <a:tblPr>
                <a:noFill/>
                <a:tableStyleId>{A0409FBF-130E-4C89-B222-25A7FCDD58EE}</a:tableStyleId>
              </a:tblPr>
              <a:tblGrid>
                <a:gridCol w="3532775"/>
                <a:gridCol w="2286950"/>
                <a:gridCol w="2286950"/>
              </a:tblGrid>
              <a:tr h="330475">
                <a:tc gridSpan="2">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Payment Milestones</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solidFill>
                      <a:schemeClr val="accent2"/>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solidFill>
                            <a:schemeClr val="lt1"/>
                          </a:solidFill>
                          <a:latin typeface="Montserrat"/>
                          <a:ea typeface="Montserrat"/>
                          <a:cs typeface="Montserrat"/>
                          <a:sym typeface="Montserrat"/>
                        </a:rPr>
                        <a:t>Cost in AUD</a:t>
                      </a:r>
                      <a:endParaRPr b="1" sz="1100" u="none" cap="none" strike="noStrike">
                        <a:solidFill>
                          <a:schemeClr val="lt1"/>
                        </a:solidFill>
                        <a:latin typeface="Montserrat"/>
                        <a:ea typeface="Montserrat"/>
                        <a:cs typeface="Montserrat"/>
                        <a:sym typeface="Montserrat"/>
                      </a:endParaRPr>
                    </a:p>
                  </a:txBody>
                  <a:tcPr marT="63500" marB="63500" marR="63500" marL="63500"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chemeClr val="accent2"/>
                    </a:solidFill>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Kickoff</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 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Discovery Phase ( 2 Weeks) Sign off</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10%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8</a:t>
                      </a:r>
                      <a:r>
                        <a:rPr lang="en" sz="1100" u="none" cap="none" strike="noStrike">
                          <a:latin typeface="Montserrat"/>
                          <a:ea typeface="Montserrat"/>
                          <a:cs typeface="Montserrat"/>
                          <a:sym typeface="Montserrat"/>
                        </a:rPr>
                        <a:t>,473</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6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25%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1</a:t>
                      </a:r>
                      <a:r>
                        <a:rPr lang="en" sz="1100" u="none" cap="none" strike="noStrike">
                          <a:latin typeface="Montserrat"/>
                          <a:ea typeface="Montserrat"/>
                          <a:cs typeface="Montserrat"/>
                          <a:sym typeface="Montserrat"/>
                        </a:rPr>
                        <a:t>,682</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Week 10 Completion</a:t>
                      </a:r>
                      <a:endParaRPr b="1"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30%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2</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,418</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UAT Sign off</a:t>
                      </a:r>
                      <a:endParaRPr b="1" sz="1100" u="none" cap="none" strike="noStrike">
                        <a:solidFill>
                          <a:srgbClr val="000000"/>
                        </a:solidFill>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20% of total cost</a:t>
                      </a:r>
                      <a:endParaRPr sz="1100" u="none" cap="none" strike="noStrike">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1</a:t>
                      </a:r>
                      <a:r>
                        <a:rPr lang="en" sz="1100">
                          <a:latin typeface="Montserrat"/>
                          <a:ea typeface="Montserrat"/>
                          <a:cs typeface="Montserrat"/>
                          <a:sym typeface="Montserrat"/>
                        </a:rPr>
                        <a:t>7</a:t>
                      </a:r>
                      <a:r>
                        <a:rPr lang="en" sz="1100" u="none" cap="none" strike="noStrike">
                          <a:latin typeface="Montserrat"/>
                          <a:ea typeface="Montserrat"/>
                          <a:cs typeface="Montserrat"/>
                          <a:sym typeface="Montserrat"/>
                        </a:rPr>
                        <a:t>,945</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Project Go-live</a:t>
                      </a:r>
                      <a:endParaRPr sz="1100" u="none" cap="none" strike="noStrike">
                        <a:latin typeface="Montserrat"/>
                        <a:ea typeface="Montserrat"/>
                        <a:cs typeface="Montserrat"/>
                        <a:sym typeface="Montserrat"/>
                      </a:endParaRPr>
                    </a:p>
                  </a:txBody>
                  <a:tcPr marT="19050" marB="19050" marR="28575" marL="91425" anchor="ctr">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solidFill>
                            <a:schemeClr val="dk1"/>
                          </a:solidFill>
                          <a:latin typeface="Montserrat"/>
                          <a:ea typeface="Montserrat"/>
                          <a:cs typeface="Montserrat"/>
                          <a:sym typeface="Montserrat"/>
                        </a:rPr>
                        <a:t>5% of total cost</a:t>
                      </a:r>
                      <a:endParaRPr sz="1100" u="none" cap="none" strike="noStrike">
                        <a:solidFill>
                          <a:schemeClr val="dk1"/>
                        </a:solidFill>
                        <a:latin typeface="Montserrat"/>
                        <a:ea typeface="Montserrat"/>
                        <a:cs typeface="Montserrat"/>
                        <a:sym typeface="Montserrat"/>
                      </a:endParaRPr>
                    </a:p>
                  </a:txBody>
                  <a:tcPr marT="19050" marB="19050" marR="28575" marL="28575" anchor="ctr">
                    <a:lnL cap="flat" cmpd="sng" w="9525">
                      <a:solidFill>
                        <a:srgbClr val="D9D9D9"/>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AUD </a:t>
                      </a:r>
                      <a:r>
                        <a:rPr lang="en" sz="1100">
                          <a:latin typeface="Montserrat"/>
                          <a:ea typeface="Montserrat"/>
                          <a:cs typeface="Montserrat"/>
                          <a:sym typeface="Montserrat"/>
                        </a:rPr>
                        <a:t>3</a:t>
                      </a:r>
                      <a:r>
                        <a:rPr lang="en" sz="1100" u="none" cap="none" strike="noStrike">
                          <a:latin typeface="Montserrat"/>
                          <a:ea typeface="Montserrat"/>
                          <a:cs typeface="Montserrat"/>
                          <a:sym typeface="Montserrat"/>
                        </a:rPr>
                        <a:t>,736</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Hypercare </a:t>
                      </a:r>
                      <a:endParaRPr sz="1100" u="none" cap="none" strike="noStrike">
                        <a:solidFill>
                          <a:schemeClr val="lt1"/>
                        </a:solidFill>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TTN Investment</a:t>
                      </a:r>
                      <a:endParaRPr sz="1100" u="none" cap="none" strike="noStrike">
                        <a:solidFill>
                          <a:schemeClr val="lt1"/>
                        </a:solidFill>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ctr">
                        <a:lnSpc>
                          <a:spcPct val="115000"/>
                        </a:lnSpc>
                        <a:spcBef>
                          <a:spcPts val="0"/>
                        </a:spcBef>
                        <a:spcAft>
                          <a:spcPts val="0"/>
                        </a:spcAft>
                        <a:buClr>
                          <a:srgbClr val="000000"/>
                        </a:buClr>
                        <a:buSzPts val="1100"/>
                        <a:buFont typeface="Arial"/>
                        <a:buNone/>
                      </a:pPr>
                      <a:r>
                        <a:rPr lang="en" sz="1100" u="none" cap="none" strike="noStrike">
                          <a:latin typeface="Montserrat"/>
                          <a:ea typeface="Montserrat"/>
                          <a:cs typeface="Montserrat"/>
                          <a:sym typeface="Montserrat"/>
                        </a:rPr>
                        <a:t>0</a:t>
                      </a:r>
                      <a:endParaRPr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tcPr>
                </a:tc>
              </a:tr>
              <a:tr h="417825">
                <a:tc gridSpan="2">
                  <a:txBody>
                    <a:bodyPr/>
                    <a:lstStyle/>
                    <a:p>
                      <a:pPr indent="0" lvl="0" marL="0" marR="0" rtl="0" algn="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Total Cost</a:t>
                      </a:r>
                      <a:endParaRPr b="1" sz="1100" u="none" cap="none" strike="noStrike">
                        <a:latin typeface="Montserrat"/>
                        <a:ea typeface="Montserrat"/>
                        <a:cs typeface="Montserrat"/>
                        <a:sym typeface="Montserrat"/>
                      </a:endParaRPr>
                    </a:p>
                  </a:txBody>
                  <a:tcPr marT="19050" marB="19050" marR="28575" marL="9142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c hMerge="1"/>
                <a:tc>
                  <a:txBody>
                    <a:bodyPr/>
                    <a:lstStyle/>
                    <a:p>
                      <a:pPr indent="0" lvl="0" marL="0" marR="0" rtl="0" algn="ctr">
                        <a:lnSpc>
                          <a:spcPct val="100000"/>
                        </a:lnSpc>
                        <a:spcBef>
                          <a:spcPts val="0"/>
                        </a:spcBef>
                        <a:spcAft>
                          <a:spcPts val="0"/>
                        </a:spcAft>
                        <a:buClr>
                          <a:srgbClr val="000000"/>
                        </a:buClr>
                        <a:buSzPts val="1100"/>
                        <a:buFont typeface="Arial"/>
                        <a:buNone/>
                      </a:pPr>
                      <a:r>
                        <a:rPr b="1" lang="en" sz="1100" u="none" cap="none" strike="noStrike">
                          <a:latin typeface="Montserrat"/>
                          <a:ea typeface="Montserrat"/>
                          <a:cs typeface="Montserrat"/>
                          <a:sym typeface="Montserrat"/>
                        </a:rPr>
                        <a:t>AUD </a:t>
                      </a:r>
                      <a:r>
                        <a:rPr b="1" lang="en" sz="1100">
                          <a:latin typeface="Montserrat"/>
                          <a:ea typeface="Montserrat"/>
                          <a:cs typeface="Montserrat"/>
                          <a:sym typeface="Montserrat"/>
                        </a:rPr>
                        <a:t>87</a:t>
                      </a:r>
                      <a:r>
                        <a:rPr b="1" lang="en" sz="1100" u="none" cap="none" strike="noStrike">
                          <a:latin typeface="Montserrat"/>
                          <a:ea typeface="Montserrat"/>
                          <a:cs typeface="Montserrat"/>
                          <a:sym typeface="Montserrat"/>
                        </a:rPr>
                        <a:t>,727</a:t>
                      </a:r>
                      <a:endParaRPr b="1" sz="1100" u="none" cap="none" strike="noStrike">
                        <a:latin typeface="Montserrat"/>
                        <a:ea typeface="Montserrat"/>
                        <a:cs typeface="Montserrat"/>
                        <a:sym typeface="Montserrat"/>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CCCCCC"/>
                      </a:solidFill>
                      <a:prstDash val="solid"/>
                      <a:round/>
                      <a:headEnd len="sm" w="sm" type="none"/>
                      <a:tailEnd len="sm" w="sm" type="none"/>
                    </a:lnT>
                    <a:lnB cap="flat" cmpd="sng" w="9525">
                      <a:solidFill>
                        <a:srgbClr val="CCCCCC"/>
                      </a:solidFill>
                      <a:prstDash val="solid"/>
                      <a:round/>
                      <a:headEnd len="sm" w="sm" type="none"/>
                      <a:tailEnd len="sm" w="sm" type="none"/>
                    </a:lnB>
                    <a:solidFill>
                      <a:srgbClr val="E7F2F8"/>
                    </a:solidFill>
                  </a:tcPr>
                </a:tc>
              </a:tr>
            </a:tbl>
          </a:graphicData>
        </a:graphic>
      </p:graphicFrame>
      <p:sp>
        <p:nvSpPr>
          <p:cNvPr id="588" name="Google Shape;588;p22"/>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23"/>
          <p:cNvSpPr/>
          <p:nvPr/>
        </p:nvSpPr>
        <p:spPr>
          <a:xfrm>
            <a:off x="0" y="144000"/>
            <a:ext cx="47400" cy="3573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4" name="Google Shape;594;p23"/>
          <p:cNvSpPr txBox="1"/>
          <p:nvPr>
            <p:ph type="title"/>
          </p:nvPr>
        </p:nvSpPr>
        <p:spPr>
          <a:xfrm>
            <a:off x="104500" y="141850"/>
            <a:ext cx="6703800" cy="3573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000"/>
              <a:buNone/>
            </a:pPr>
            <a:r>
              <a:rPr lang="en"/>
              <a:t>Agenda</a:t>
            </a:r>
            <a:endParaRPr/>
          </a:p>
        </p:txBody>
      </p:sp>
      <p:sp>
        <p:nvSpPr>
          <p:cNvPr id="595" name="Google Shape;595;p23"/>
          <p:cNvSpPr/>
          <p:nvPr/>
        </p:nvSpPr>
        <p:spPr>
          <a:xfrm>
            <a:off x="1358763" y="111102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Executive Summary and Our Understanding of Project Requirements</a:t>
            </a:r>
            <a:endParaRPr b="0" i="0" sz="1200" u="none" cap="none" strike="noStrike">
              <a:solidFill>
                <a:srgbClr val="000000"/>
              </a:solidFill>
              <a:latin typeface="Montserrat"/>
              <a:ea typeface="Montserrat"/>
              <a:cs typeface="Montserrat"/>
              <a:sym typeface="Montserrat"/>
            </a:endParaRPr>
          </a:p>
        </p:txBody>
      </p:sp>
      <p:sp>
        <p:nvSpPr>
          <p:cNvPr id="596" name="Google Shape;596;p23"/>
          <p:cNvSpPr/>
          <p:nvPr/>
        </p:nvSpPr>
        <p:spPr>
          <a:xfrm>
            <a:off x="1358763" y="1678410"/>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Proposed Technical Solution Approach</a:t>
            </a:r>
            <a:endParaRPr b="0" i="0" sz="1200" u="none" cap="none" strike="noStrike">
              <a:solidFill>
                <a:srgbClr val="000000"/>
              </a:solidFill>
              <a:latin typeface="Montserrat"/>
              <a:ea typeface="Montserrat"/>
              <a:cs typeface="Montserrat"/>
              <a:sym typeface="Montserrat"/>
            </a:endParaRPr>
          </a:p>
        </p:txBody>
      </p:sp>
      <p:sp>
        <p:nvSpPr>
          <p:cNvPr id="597" name="Google Shape;597;p23"/>
          <p:cNvSpPr/>
          <p:nvPr/>
        </p:nvSpPr>
        <p:spPr>
          <a:xfrm>
            <a:off x="1358763" y="328987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1" i="0" lang="en" sz="1200" u="none" cap="none" strike="noStrike">
                <a:solidFill>
                  <a:srgbClr val="D71B7F"/>
                </a:solidFill>
                <a:latin typeface="Montserrat"/>
                <a:ea typeface="Montserrat"/>
                <a:cs typeface="Montserrat"/>
                <a:sym typeface="Montserrat"/>
              </a:rPr>
              <a:t>Success Stories</a:t>
            </a:r>
            <a:endParaRPr b="1" i="0" sz="1200" u="none" cap="none" strike="noStrike">
              <a:solidFill>
                <a:srgbClr val="D71B7F"/>
              </a:solidFill>
              <a:latin typeface="Montserrat"/>
              <a:ea typeface="Montserrat"/>
              <a:cs typeface="Montserrat"/>
              <a:sym typeface="Montserrat"/>
            </a:endParaRPr>
          </a:p>
        </p:txBody>
      </p:sp>
      <p:cxnSp>
        <p:nvCxnSpPr>
          <p:cNvPr id="598" name="Google Shape;598;p23"/>
          <p:cNvCxnSpPr/>
          <p:nvPr/>
        </p:nvCxnSpPr>
        <p:spPr>
          <a:xfrm>
            <a:off x="1367196" y="1108050"/>
            <a:ext cx="0" cy="382200"/>
          </a:xfrm>
          <a:prstGeom prst="straightConnector1">
            <a:avLst/>
          </a:prstGeom>
          <a:noFill/>
          <a:ln cap="flat" cmpd="sng" w="19050">
            <a:solidFill>
              <a:srgbClr val="12519C"/>
            </a:solidFill>
            <a:prstDash val="solid"/>
            <a:round/>
            <a:headEnd len="sm" w="sm" type="none"/>
            <a:tailEnd len="sm" w="sm" type="none"/>
          </a:ln>
        </p:spPr>
      </p:cxnSp>
      <p:cxnSp>
        <p:nvCxnSpPr>
          <p:cNvPr id="599" name="Google Shape;599;p23"/>
          <p:cNvCxnSpPr/>
          <p:nvPr/>
        </p:nvCxnSpPr>
        <p:spPr>
          <a:xfrm>
            <a:off x="1367196" y="1675436"/>
            <a:ext cx="0" cy="382200"/>
          </a:xfrm>
          <a:prstGeom prst="straightConnector1">
            <a:avLst/>
          </a:prstGeom>
          <a:noFill/>
          <a:ln cap="flat" cmpd="sng" w="19050">
            <a:solidFill>
              <a:srgbClr val="12519C"/>
            </a:solidFill>
            <a:prstDash val="solid"/>
            <a:round/>
            <a:headEnd len="sm" w="sm" type="none"/>
            <a:tailEnd len="sm" w="sm" type="none"/>
          </a:ln>
        </p:spPr>
      </p:cxnSp>
      <p:cxnSp>
        <p:nvCxnSpPr>
          <p:cNvPr id="600" name="Google Shape;600;p23"/>
          <p:cNvCxnSpPr/>
          <p:nvPr/>
        </p:nvCxnSpPr>
        <p:spPr>
          <a:xfrm>
            <a:off x="1367196" y="3288390"/>
            <a:ext cx="0" cy="382200"/>
          </a:xfrm>
          <a:prstGeom prst="straightConnector1">
            <a:avLst/>
          </a:prstGeom>
          <a:noFill/>
          <a:ln cap="flat" cmpd="sng" w="19050">
            <a:solidFill>
              <a:srgbClr val="12519C"/>
            </a:solidFill>
            <a:prstDash val="solid"/>
            <a:round/>
            <a:headEnd len="sm" w="sm" type="none"/>
            <a:tailEnd len="sm" w="sm" type="none"/>
          </a:ln>
        </p:spPr>
      </p:cxnSp>
      <p:sp>
        <p:nvSpPr>
          <p:cNvPr id="601" name="Google Shape;601;p23"/>
          <p:cNvSpPr/>
          <p:nvPr/>
        </p:nvSpPr>
        <p:spPr>
          <a:xfrm>
            <a:off x="1048238" y="1260478"/>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23"/>
          <p:cNvSpPr/>
          <p:nvPr/>
        </p:nvSpPr>
        <p:spPr>
          <a:xfrm>
            <a:off x="1048238" y="1827880"/>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23"/>
          <p:cNvSpPr/>
          <p:nvPr/>
        </p:nvSpPr>
        <p:spPr>
          <a:xfrm>
            <a:off x="1048238" y="3439362"/>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04" name="Google Shape;604;p23"/>
          <p:cNvPicPr preferRelativeResize="0"/>
          <p:nvPr/>
        </p:nvPicPr>
        <p:blipFill rotWithShape="1">
          <a:blip r:embed="rId3">
            <a:alphaModFix/>
          </a:blip>
          <a:srcRect b="0" l="0" r="0" t="0"/>
          <a:stretch/>
        </p:blipFill>
        <p:spPr>
          <a:xfrm>
            <a:off x="1246476" y="4086150"/>
            <a:ext cx="6568648" cy="958975"/>
          </a:xfrm>
          <a:prstGeom prst="rect">
            <a:avLst/>
          </a:prstGeom>
          <a:noFill/>
          <a:ln>
            <a:noFill/>
          </a:ln>
        </p:spPr>
      </p:pic>
      <p:sp>
        <p:nvSpPr>
          <p:cNvPr id="605" name="Google Shape;605;p23"/>
          <p:cNvSpPr/>
          <p:nvPr/>
        </p:nvSpPr>
        <p:spPr>
          <a:xfrm>
            <a:off x="1358763" y="224580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Project Plan and Key Deliverables</a:t>
            </a:r>
            <a:endParaRPr b="0" i="0" sz="1200" u="none" cap="none" strike="noStrike">
              <a:solidFill>
                <a:srgbClr val="000000"/>
              </a:solidFill>
              <a:latin typeface="Montserrat"/>
              <a:ea typeface="Montserrat"/>
              <a:cs typeface="Montserrat"/>
              <a:sym typeface="Montserrat"/>
            </a:endParaRPr>
          </a:p>
        </p:txBody>
      </p:sp>
      <p:cxnSp>
        <p:nvCxnSpPr>
          <p:cNvPr id="606" name="Google Shape;606;p23"/>
          <p:cNvCxnSpPr/>
          <p:nvPr/>
        </p:nvCxnSpPr>
        <p:spPr>
          <a:xfrm>
            <a:off x="1367196" y="2242832"/>
            <a:ext cx="0" cy="382200"/>
          </a:xfrm>
          <a:prstGeom prst="straightConnector1">
            <a:avLst/>
          </a:prstGeom>
          <a:noFill/>
          <a:ln cap="flat" cmpd="sng" w="19050">
            <a:solidFill>
              <a:srgbClr val="12519C"/>
            </a:solidFill>
            <a:prstDash val="solid"/>
            <a:round/>
            <a:headEnd len="sm" w="sm" type="none"/>
            <a:tailEnd len="sm" w="sm" type="none"/>
          </a:ln>
        </p:spPr>
      </p:cxnSp>
      <p:sp>
        <p:nvSpPr>
          <p:cNvPr id="607" name="Google Shape;607;p23"/>
          <p:cNvSpPr/>
          <p:nvPr/>
        </p:nvSpPr>
        <p:spPr>
          <a:xfrm>
            <a:off x="1048238" y="239527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8" name="Google Shape;608;p23"/>
          <p:cNvSpPr/>
          <p:nvPr/>
        </p:nvSpPr>
        <p:spPr>
          <a:xfrm>
            <a:off x="1358763" y="2755885"/>
            <a:ext cx="6654600" cy="376800"/>
          </a:xfrm>
          <a:prstGeom prst="snip1Rect">
            <a:avLst>
              <a:gd fmla="val 35537"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ctr" bIns="91425" lIns="91425" spcFirstLastPara="1" rIns="91425" wrap="square" tIns="91425">
            <a:noAutofit/>
          </a:bodyPr>
          <a:lstStyle/>
          <a:p>
            <a:pPr indent="0" lvl="0" marL="457200" marR="0" rtl="0" algn="l">
              <a:lnSpc>
                <a:spcPct val="115000"/>
              </a:lnSpc>
              <a:spcBef>
                <a:spcPts val="0"/>
              </a:spcBef>
              <a:spcAft>
                <a:spcPts val="0"/>
              </a:spcAft>
              <a:buClr>
                <a:srgbClr val="000000"/>
              </a:buClr>
              <a:buSzPts val="1200"/>
              <a:buFont typeface="Arial"/>
              <a:buNone/>
            </a:pPr>
            <a:r>
              <a:rPr b="0" i="0" lang="en" sz="1200" u="none" cap="none" strike="noStrike">
                <a:solidFill>
                  <a:srgbClr val="000000"/>
                </a:solidFill>
                <a:latin typeface="Montserrat"/>
                <a:ea typeface="Montserrat"/>
                <a:cs typeface="Montserrat"/>
                <a:sym typeface="Montserrat"/>
              </a:rPr>
              <a:t>Commercial Summary</a:t>
            </a:r>
            <a:endParaRPr b="0" i="0" sz="1200" u="none" cap="none" strike="noStrike">
              <a:solidFill>
                <a:srgbClr val="000000"/>
              </a:solidFill>
              <a:latin typeface="Montserrat"/>
              <a:ea typeface="Montserrat"/>
              <a:cs typeface="Montserrat"/>
              <a:sym typeface="Montserrat"/>
            </a:endParaRPr>
          </a:p>
        </p:txBody>
      </p:sp>
      <p:cxnSp>
        <p:nvCxnSpPr>
          <p:cNvPr id="609" name="Google Shape;609;p23"/>
          <p:cNvCxnSpPr/>
          <p:nvPr/>
        </p:nvCxnSpPr>
        <p:spPr>
          <a:xfrm>
            <a:off x="1367196" y="2752912"/>
            <a:ext cx="0" cy="382200"/>
          </a:xfrm>
          <a:prstGeom prst="straightConnector1">
            <a:avLst/>
          </a:prstGeom>
          <a:noFill/>
          <a:ln cap="flat" cmpd="sng" w="19050">
            <a:solidFill>
              <a:srgbClr val="12519C"/>
            </a:solidFill>
            <a:prstDash val="solid"/>
            <a:round/>
            <a:headEnd len="sm" w="sm" type="none"/>
            <a:tailEnd len="sm" w="sm" type="none"/>
          </a:ln>
        </p:spPr>
      </p:cxnSp>
      <p:sp>
        <p:nvSpPr>
          <p:cNvPr id="610" name="Google Shape;610;p23"/>
          <p:cNvSpPr/>
          <p:nvPr/>
        </p:nvSpPr>
        <p:spPr>
          <a:xfrm>
            <a:off x="1048238" y="2905355"/>
            <a:ext cx="79200" cy="77400"/>
          </a:xfrm>
          <a:prstGeom prst="ellipse">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23"/>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fld id="{00000000-1234-1234-1234-123412341234}" type="slidenum">
              <a:rPr b="0" i="0" lang="en" sz="1000" u="none" cap="none" strike="noStrike">
                <a:solidFill>
                  <a:srgbClr val="000000"/>
                </a:solidFill>
                <a:latin typeface="Montserrat"/>
                <a:ea typeface="Montserrat"/>
                <a:cs typeface="Montserrat"/>
                <a:sym typeface="Montserrat"/>
              </a:rPr>
              <a:t>‹#›</a:t>
            </a:fld>
            <a:endParaRPr b="0" i="0" sz="10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5" name="Shape 615"/>
        <p:cNvGrpSpPr/>
        <p:nvPr/>
      </p:nvGrpSpPr>
      <p:grpSpPr>
        <a:xfrm>
          <a:off x="0" y="0"/>
          <a:ext cx="0" cy="0"/>
          <a:chOff x="0" y="0"/>
          <a:chExt cx="0" cy="0"/>
        </a:xfrm>
      </p:grpSpPr>
      <p:sp>
        <p:nvSpPr>
          <p:cNvPr id="616" name="Google Shape;616;p24"/>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24"/>
          <p:cNvSpPr txBox="1"/>
          <p:nvPr/>
        </p:nvSpPr>
        <p:spPr>
          <a:xfrm>
            <a:off x="6222488" y="959944"/>
            <a:ext cx="26931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Since 2018, TTN has been a strategic partner in Tabcorp’s transformation, evolving from supporting its digital arm to over 150 people enabling </a:t>
            </a:r>
            <a:r>
              <a:rPr b="1" i="0" lang="en" sz="700" u="none" cap="none" strike="noStrike">
                <a:solidFill>
                  <a:schemeClr val="dk1"/>
                </a:solidFill>
                <a:latin typeface="Montserrat"/>
                <a:ea typeface="Montserrat"/>
                <a:cs typeface="Montserrat"/>
                <a:sym typeface="Montserrat"/>
              </a:rPr>
              <a:t>digital, gaming, data, trackside, retail, </a:t>
            </a:r>
            <a:r>
              <a:rPr b="0" i="0" lang="en" sz="700" u="none" cap="none" strike="noStrike">
                <a:solidFill>
                  <a:schemeClr val="dk1"/>
                </a:solidFill>
                <a:latin typeface="Montserrat"/>
                <a:ea typeface="Montserrat"/>
                <a:cs typeface="Montserrat"/>
                <a:sym typeface="Montserrat"/>
              </a:rPr>
              <a:t>and</a:t>
            </a:r>
            <a:r>
              <a:rPr b="1" i="0" lang="en" sz="700" u="none" cap="none" strike="noStrike">
                <a:solidFill>
                  <a:schemeClr val="dk1"/>
                </a:solidFill>
                <a:latin typeface="Montserrat"/>
                <a:ea typeface="Montserrat"/>
                <a:cs typeface="Montserrat"/>
                <a:sym typeface="Montserrat"/>
              </a:rPr>
              <a:t> cybersecurity</a:t>
            </a:r>
            <a:r>
              <a:rPr b="0" i="0" lang="en" sz="700" u="none" cap="none" strike="noStrike">
                <a:solidFill>
                  <a:schemeClr val="dk1"/>
                </a:solidFill>
                <a:latin typeface="Montserrat"/>
                <a:ea typeface="Montserrat"/>
                <a:cs typeface="Montserrat"/>
                <a:sym typeface="Montserrat"/>
              </a:rPr>
              <a:t>. Together, we have delivered groundbreaking solutions at scale.</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From omni-channel innovations like a </a:t>
            </a:r>
            <a:r>
              <a:rPr b="1" i="0" lang="en" sz="700" u="none" cap="none" strike="noStrike">
                <a:solidFill>
                  <a:schemeClr val="dk1"/>
                </a:solidFill>
                <a:latin typeface="Montserrat"/>
                <a:ea typeface="Montserrat"/>
                <a:cs typeface="Montserrat"/>
                <a:sym typeface="Montserrat"/>
              </a:rPr>
              <a:t>cross-platform betting app</a:t>
            </a:r>
            <a:r>
              <a:rPr b="0" i="0" lang="en" sz="700" u="none" cap="none" strike="noStrike">
                <a:solidFill>
                  <a:schemeClr val="dk1"/>
                </a:solidFill>
                <a:latin typeface="Montserrat"/>
                <a:ea typeface="Montserrat"/>
                <a:cs typeface="Montserrat"/>
                <a:sym typeface="Montserrat"/>
              </a:rPr>
              <a:t>, integrating </a:t>
            </a:r>
            <a:r>
              <a:rPr b="1" i="0" lang="en" sz="700" u="none" cap="none" strike="noStrike">
                <a:solidFill>
                  <a:schemeClr val="dk1"/>
                </a:solidFill>
                <a:latin typeface="Montserrat"/>
                <a:ea typeface="Montserrat"/>
                <a:cs typeface="Montserrat"/>
                <a:sym typeface="Montserrat"/>
              </a:rPr>
              <a:t>web</a:t>
            </a:r>
            <a:r>
              <a:rPr b="0" i="0" lang="en" sz="700" u="none" cap="none" strike="noStrike">
                <a:solidFill>
                  <a:schemeClr val="dk1"/>
                </a:solidFill>
                <a:latin typeface="Montserrat"/>
                <a:ea typeface="Montserrat"/>
                <a:cs typeface="Montserrat"/>
                <a:sym typeface="Montserrat"/>
              </a:rPr>
              <a:t> and mobile experiences, customer engagement and </a:t>
            </a:r>
            <a:r>
              <a:rPr b="1" i="0" lang="en" sz="700" u="none" cap="none" strike="noStrike">
                <a:solidFill>
                  <a:schemeClr val="dk1"/>
                </a:solidFill>
                <a:latin typeface="Montserrat"/>
                <a:ea typeface="Montserrat"/>
                <a:cs typeface="Montserrat"/>
                <a:sym typeface="Montserrat"/>
              </a:rPr>
              <a:t>personalisation</a:t>
            </a:r>
            <a:r>
              <a:rPr b="0" i="0" lang="en" sz="700" u="none" cap="none" strike="noStrike">
                <a:solidFill>
                  <a:schemeClr val="dk1"/>
                </a:solidFill>
                <a:latin typeface="Montserrat"/>
                <a:ea typeface="Montserrat"/>
                <a:cs typeface="Montserrat"/>
                <a:sym typeface="Montserrat"/>
              </a:rPr>
              <a:t> through </a:t>
            </a:r>
            <a:r>
              <a:rPr b="1" i="0" lang="en" sz="700" u="none" cap="none" strike="noStrike">
                <a:solidFill>
                  <a:schemeClr val="dk1"/>
                </a:solidFill>
                <a:latin typeface="Montserrat"/>
                <a:ea typeface="Montserrat"/>
                <a:cs typeface="Montserrat"/>
                <a:sym typeface="Montserrat"/>
              </a:rPr>
              <a:t>Adobe Target, Analytics, and AEM</a:t>
            </a:r>
            <a:r>
              <a:rPr b="0" i="0" lang="en" sz="700" u="none" cap="none" strike="noStrike">
                <a:solidFill>
                  <a:schemeClr val="dk1"/>
                </a:solidFill>
                <a:latin typeface="Montserrat"/>
                <a:ea typeface="Montserrat"/>
                <a:cs typeface="Montserrat"/>
                <a:sym typeface="Montserrat"/>
              </a:rPr>
              <a:t>, to infrastructure modernisation with</a:t>
            </a:r>
            <a:r>
              <a:rPr b="1" i="0" lang="en" sz="700" u="none" cap="none" strike="noStrike">
                <a:solidFill>
                  <a:schemeClr val="dk1"/>
                </a:solidFill>
                <a:latin typeface="Montserrat"/>
                <a:ea typeface="Montserrat"/>
                <a:cs typeface="Montserrat"/>
                <a:sym typeface="Montserrat"/>
              </a:rPr>
              <a:t> Infra as Code</a:t>
            </a:r>
            <a:r>
              <a:rPr b="0" i="0" lang="en" sz="700" u="none" cap="none" strike="noStrike">
                <a:solidFill>
                  <a:schemeClr val="dk1"/>
                </a:solidFill>
                <a:latin typeface="Montserrat"/>
                <a:ea typeface="Montserrat"/>
                <a:cs typeface="Montserrat"/>
                <a:sym typeface="Montserrat"/>
              </a:rPr>
              <a:t>, AWS Cloud optimisation, and </a:t>
            </a:r>
            <a:r>
              <a:rPr b="1" i="0" lang="en" sz="700" u="none" cap="none" strike="noStrike">
                <a:solidFill>
                  <a:schemeClr val="dk1"/>
                </a:solidFill>
                <a:latin typeface="Montserrat"/>
                <a:ea typeface="Montserrat"/>
                <a:cs typeface="Montserrat"/>
                <a:sym typeface="Montserrat"/>
              </a:rPr>
              <a:t>Graviton</a:t>
            </a:r>
            <a:r>
              <a:rPr b="0" i="0" lang="en" sz="700" u="none" cap="none" strike="noStrike">
                <a:solidFill>
                  <a:schemeClr val="dk1"/>
                </a:solidFill>
                <a:latin typeface="Montserrat"/>
                <a:ea typeface="Montserrat"/>
                <a:cs typeface="Montserrat"/>
                <a:sym typeface="Montserrat"/>
              </a:rPr>
              <a:t> migration, to reducing manual testing by 45% through </a:t>
            </a:r>
            <a:r>
              <a:rPr b="1" i="0" lang="en" sz="700" u="none" cap="none" strike="noStrike">
                <a:solidFill>
                  <a:schemeClr val="dk1"/>
                </a:solidFill>
                <a:latin typeface="Montserrat"/>
                <a:ea typeface="Montserrat"/>
                <a:cs typeface="Montserrat"/>
                <a:sym typeface="Montserrat"/>
              </a:rPr>
              <a:t>automation</a:t>
            </a:r>
            <a:r>
              <a:rPr b="0" i="0" lang="en" sz="700" u="none" cap="none" strike="noStrike">
                <a:solidFill>
                  <a:schemeClr val="dk1"/>
                </a:solidFill>
                <a:latin typeface="Montserrat"/>
                <a:ea typeface="Montserrat"/>
                <a:cs typeface="Montserrat"/>
                <a:sym typeface="Montserrat"/>
              </a:rPr>
              <a: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We have enabled compliance adherence through </a:t>
            </a:r>
            <a:r>
              <a:rPr b="1" i="0" lang="en" sz="700" u="none" cap="none" strike="noStrike">
                <a:solidFill>
                  <a:schemeClr val="dk1"/>
                </a:solidFill>
                <a:latin typeface="Montserrat"/>
                <a:ea typeface="Montserrat"/>
                <a:cs typeface="Montserrat"/>
                <a:sym typeface="Montserrat"/>
              </a:rPr>
              <a:t>AML/CTF tools </a:t>
            </a:r>
            <a:r>
              <a:rPr b="0" i="0" lang="en" sz="700" u="none" cap="none" strike="noStrike">
                <a:solidFill>
                  <a:schemeClr val="dk1"/>
                </a:solidFill>
                <a:latin typeface="Montserrat"/>
                <a:ea typeface="Montserrat"/>
                <a:cs typeface="Montserrat"/>
                <a:sym typeface="Montserrat"/>
              </a:rPr>
              <a:t>for</a:t>
            </a:r>
            <a:r>
              <a:rPr b="1" i="0" lang="en" sz="700" u="none" cap="none" strike="noStrike">
                <a:solidFill>
                  <a:schemeClr val="dk1"/>
                </a:solidFill>
                <a:latin typeface="Montserrat"/>
                <a:ea typeface="Montserrat"/>
                <a:cs typeface="Montserrat"/>
                <a:sym typeface="Montserrat"/>
              </a:rPr>
              <a:t> Enhanced Customer Due Diligence</a:t>
            </a:r>
            <a:r>
              <a:rPr b="0" i="0" lang="en" sz="700" u="none" cap="none" strike="noStrike">
                <a:solidFill>
                  <a:schemeClr val="dk1"/>
                </a:solidFill>
                <a:latin typeface="Montserrat"/>
                <a:ea typeface="Montserrat"/>
                <a:cs typeface="Montserrat"/>
                <a:sym typeface="Montserrat"/>
              </a:rPr>
              <a:t> and </a:t>
            </a:r>
            <a:r>
              <a:rPr b="1" i="0" lang="en" sz="700" u="none" cap="none" strike="noStrike">
                <a:solidFill>
                  <a:schemeClr val="dk1"/>
                </a:solidFill>
                <a:latin typeface="Montserrat"/>
                <a:ea typeface="Montserrat"/>
                <a:cs typeface="Montserrat"/>
                <a:sym typeface="Montserrat"/>
              </a:rPr>
              <a:t>suppression</a:t>
            </a:r>
            <a:r>
              <a:rPr b="0" i="0" lang="en" sz="700" u="none" cap="none" strike="noStrike">
                <a:solidFill>
                  <a:schemeClr val="dk1"/>
                </a:solidFill>
                <a:latin typeface="Montserrat"/>
                <a:ea typeface="Montserrat"/>
                <a:cs typeface="Montserrat"/>
                <a:sym typeface="Montserrat"/>
              </a:rPr>
              <a:t> management.</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rPr b="0" i="0" lang="en" sz="700" u="none" cap="none" strike="noStrike">
                <a:solidFill>
                  <a:schemeClr val="dk1"/>
                </a:solidFill>
                <a:latin typeface="Montserrat"/>
                <a:ea typeface="Montserrat"/>
                <a:cs typeface="Montserrat"/>
                <a:sym typeface="Montserrat"/>
              </a:rPr>
              <a:t>Our work includes cutting-edge betting features like </a:t>
            </a:r>
            <a:r>
              <a:rPr b="1" i="0" lang="en" sz="700" u="none" cap="none" strike="noStrike">
                <a:solidFill>
                  <a:schemeClr val="dk1"/>
                </a:solidFill>
                <a:latin typeface="Montserrat"/>
                <a:ea typeface="Montserrat"/>
                <a:cs typeface="Montserrat"/>
                <a:sym typeface="Montserrat"/>
              </a:rPr>
              <a:t>Same Game Multi</a:t>
            </a:r>
            <a:r>
              <a:rPr b="0" i="0" lang="en" sz="700" u="none" cap="none" strike="noStrike">
                <a:solidFill>
                  <a:schemeClr val="dk1"/>
                </a:solidFill>
                <a:latin typeface="Montserrat"/>
                <a:ea typeface="Montserrat"/>
                <a:cs typeface="Montserrat"/>
                <a:sym typeface="Montserrat"/>
              </a:rPr>
              <a:t> for sports, </a:t>
            </a:r>
            <a:r>
              <a:rPr b="1" i="0" lang="en" sz="700" u="none" cap="none" strike="noStrike">
                <a:solidFill>
                  <a:schemeClr val="dk1"/>
                </a:solidFill>
                <a:latin typeface="Montserrat"/>
                <a:ea typeface="Montserrat"/>
                <a:cs typeface="Montserrat"/>
                <a:sym typeface="Montserrat"/>
              </a:rPr>
              <a:t>Blackbook</a:t>
            </a:r>
            <a:r>
              <a:rPr b="0" i="0" lang="en" sz="700" u="none" cap="none" strike="noStrike">
                <a:solidFill>
                  <a:schemeClr val="dk1"/>
                </a:solidFill>
                <a:latin typeface="Montserrat"/>
                <a:ea typeface="Montserrat"/>
                <a:cs typeface="Montserrat"/>
                <a:sym typeface="Montserrat"/>
              </a:rPr>
              <a:t> for racing, and </a:t>
            </a:r>
            <a:r>
              <a:rPr b="1" i="0" lang="en" sz="700" u="none" cap="none" strike="noStrike">
                <a:solidFill>
                  <a:schemeClr val="dk1"/>
                </a:solidFill>
                <a:latin typeface="Montserrat"/>
                <a:ea typeface="Montserrat"/>
                <a:cs typeface="Montserrat"/>
                <a:sym typeface="Montserrat"/>
              </a:rPr>
              <a:t>Retail in-play</a:t>
            </a:r>
            <a:r>
              <a:rPr b="0" i="0" lang="en" sz="700" u="none" cap="none" strike="noStrike">
                <a:solidFill>
                  <a:schemeClr val="dk1"/>
                </a:solidFill>
                <a:latin typeface="Montserrat"/>
                <a:ea typeface="Montserrat"/>
                <a:cs typeface="Montserrat"/>
                <a:sym typeface="Montserrat"/>
              </a:rPr>
              <a:t> initiatives to boost engagement and custom experiences.</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900"/>
              </a:spcBef>
              <a:spcAft>
                <a:spcPts val="0"/>
              </a:spcAft>
              <a:buClr>
                <a:schemeClr val="dk1"/>
              </a:buClr>
              <a:buSzPts val="800"/>
              <a:buFont typeface="Arial"/>
              <a:buNone/>
            </a:pPr>
            <a:r>
              <a:t/>
            </a:r>
            <a:endParaRPr b="0" i="0" sz="700" u="none" cap="none" strike="noStrike">
              <a:solidFill>
                <a:schemeClr val="dk1"/>
              </a:solidFill>
              <a:latin typeface="Montserrat"/>
              <a:ea typeface="Montserrat"/>
              <a:cs typeface="Montserrat"/>
              <a:sym typeface="Montserrat"/>
            </a:endParaRPr>
          </a:p>
          <a:p>
            <a:pPr indent="0" lvl="0" marL="0" marR="0" rtl="0" algn="l">
              <a:lnSpc>
                <a:spcPct val="150000"/>
              </a:lnSpc>
              <a:spcBef>
                <a:spcPts val="0"/>
              </a:spcBef>
              <a:spcAft>
                <a:spcPts val="0"/>
              </a:spcAft>
              <a:buClr>
                <a:schemeClr val="dk1"/>
              </a:buClr>
              <a:buSzPts val="1100"/>
              <a:buFont typeface="Arial"/>
              <a:buNone/>
            </a:pPr>
            <a:r>
              <a:t/>
            </a:r>
            <a:endParaRPr b="0" i="0" sz="700" u="none" cap="none" strike="noStrike">
              <a:solidFill>
                <a:srgbClr val="434343"/>
              </a:solidFill>
              <a:latin typeface="Montserrat"/>
              <a:ea typeface="Montserrat"/>
              <a:cs typeface="Montserrat"/>
              <a:sym typeface="Montserrat"/>
            </a:endParaRPr>
          </a:p>
        </p:txBody>
      </p:sp>
      <p:sp>
        <p:nvSpPr>
          <p:cNvPr id="618" name="Google Shape;618;p24"/>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19" name="Google Shape;619;p24"/>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20" name="Google Shape;620;p24"/>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21" name="Google Shape;621;p24"/>
          <p:cNvPicPr preferRelativeResize="0"/>
          <p:nvPr/>
        </p:nvPicPr>
        <p:blipFill rotWithShape="1">
          <a:blip r:embed="rId6">
            <a:alphaModFix/>
          </a:blip>
          <a:srcRect b="51129" l="0" r="0" t="0"/>
          <a:stretch/>
        </p:blipFill>
        <p:spPr>
          <a:xfrm>
            <a:off x="851951" y="1443450"/>
            <a:ext cx="3776933" cy="2202435"/>
          </a:xfrm>
          <a:prstGeom prst="rect">
            <a:avLst/>
          </a:prstGeom>
          <a:noFill/>
          <a:ln>
            <a:noFill/>
          </a:ln>
        </p:spPr>
      </p:pic>
      <p:pic>
        <p:nvPicPr>
          <p:cNvPr id="622" name="Google Shape;622;p24"/>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23" name="Google Shape;623;p24"/>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24" name="Google Shape;624;p24"/>
          <p:cNvPicPr preferRelativeResize="0"/>
          <p:nvPr/>
        </p:nvPicPr>
        <p:blipFill rotWithShape="1">
          <a:blip r:embed="rId9">
            <a:alphaModFix/>
          </a:blip>
          <a:srcRect b="0" l="0" r="0" t="0"/>
          <a:stretch/>
        </p:blipFill>
        <p:spPr>
          <a:xfrm>
            <a:off x="207877" y="179550"/>
            <a:ext cx="1531468" cy="286200"/>
          </a:xfrm>
          <a:prstGeom prst="rect">
            <a:avLst/>
          </a:prstGeom>
          <a:noFill/>
          <a:ln>
            <a:noFill/>
          </a:ln>
        </p:spPr>
      </p:pic>
      <p:pic>
        <p:nvPicPr>
          <p:cNvPr descr="TTN Logo.png" id="625" name="Google Shape;625;p24"/>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26" name="Google Shape;626;p24"/>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0" name="Shape 630"/>
        <p:cNvGrpSpPr/>
        <p:nvPr/>
      </p:nvGrpSpPr>
      <p:grpSpPr>
        <a:xfrm>
          <a:off x="0" y="0"/>
          <a:ext cx="0" cy="0"/>
          <a:chOff x="0" y="0"/>
          <a:chExt cx="0" cy="0"/>
        </a:xfrm>
      </p:grpSpPr>
      <p:sp>
        <p:nvSpPr>
          <p:cNvPr id="631" name="Google Shape;631;p25"/>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25"/>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TTN successfully </a:t>
            </a:r>
            <a:r>
              <a:rPr b="1" i="0" lang="en" sz="900" u="none" cap="none" strike="noStrike">
                <a:solidFill>
                  <a:schemeClr val="dk1"/>
                </a:solidFill>
                <a:latin typeface="Montserrat"/>
                <a:ea typeface="Montserrat"/>
                <a:cs typeface="Montserrat"/>
                <a:sym typeface="Montserrat"/>
              </a:rPr>
              <a:t>rebuilt</a:t>
            </a:r>
            <a:r>
              <a:rPr b="0" i="0" lang="en" sz="900" u="none" cap="none" strike="noStrike">
                <a:solidFill>
                  <a:schemeClr val="dk1"/>
                </a:solidFill>
                <a:latin typeface="Montserrat"/>
                <a:ea typeface="Montserrat"/>
                <a:cs typeface="Montserrat"/>
                <a:sym typeface="Montserrat"/>
              </a:rPr>
              <a:t> the entire </a:t>
            </a:r>
            <a:r>
              <a:rPr b="1" i="0" lang="en" sz="900" u="none" cap="none" strike="noStrike">
                <a:solidFill>
                  <a:schemeClr val="dk1"/>
                </a:solidFill>
                <a:latin typeface="Montserrat"/>
                <a:ea typeface="Montserrat"/>
                <a:cs typeface="Montserrat"/>
                <a:sym typeface="Montserrat"/>
              </a:rPr>
              <a:t>Sky</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Racing Website</a:t>
            </a:r>
            <a:r>
              <a:rPr b="0" i="0" lang="en" sz="900" u="none" cap="none" strike="noStrike">
                <a:solidFill>
                  <a:schemeClr val="dk1"/>
                </a:solidFill>
                <a:latin typeface="Montserrat"/>
                <a:ea typeface="Montserrat"/>
                <a:cs typeface="Montserrat"/>
                <a:sym typeface="Montserrat"/>
              </a:rPr>
              <a:t>, optimised for SEO, and implemented a microservices-based architecture that is highly resilient and scalable, hosted on AWS.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In addition to enhancing core digital properties, </a:t>
            </a:r>
            <a:r>
              <a:rPr b="1" i="0" lang="en" sz="900" u="none" cap="none" strike="noStrike">
                <a:solidFill>
                  <a:schemeClr val="dk1"/>
                </a:solidFill>
                <a:latin typeface="Montserrat"/>
                <a:ea typeface="Montserrat"/>
                <a:cs typeface="Montserrat"/>
                <a:sym typeface="Montserrat"/>
              </a:rPr>
              <a:t>TTN streamlined content curation</a:t>
            </a:r>
            <a:r>
              <a:rPr b="0" i="0" lang="en" sz="900" u="none" cap="none" strike="noStrike">
                <a:solidFill>
                  <a:schemeClr val="dk1"/>
                </a:solidFill>
                <a:latin typeface="Montserrat"/>
                <a:ea typeface="Montserrat"/>
                <a:cs typeface="Montserrat"/>
                <a:sym typeface="Montserrat"/>
              </a:rPr>
              <a:t> through a</a:t>
            </a:r>
            <a:r>
              <a:rPr b="1" i="0" lang="en" sz="900" u="none" cap="none" strike="noStrike">
                <a:solidFill>
                  <a:schemeClr val="dk1"/>
                </a:solidFill>
                <a:latin typeface="Montserrat"/>
                <a:ea typeface="Montserrat"/>
                <a:cs typeface="Montserrat"/>
                <a:sym typeface="Montserrat"/>
              </a:rPr>
              <a:t> custom-built CMS</a:t>
            </a:r>
            <a:r>
              <a:rPr b="0" i="0" lang="en" sz="900" u="none" cap="none" strike="noStrike">
                <a:solidFill>
                  <a:schemeClr val="dk1"/>
                </a:solidFill>
                <a:latin typeface="Montserrat"/>
                <a:ea typeface="Montserrat"/>
                <a:cs typeface="Montserrat"/>
                <a:sym typeface="Montserrat"/>
              </a:rPr>
              <a:t>, enabling auto and personalised playlists based on</a:t>
            </a:r>
            <a:r>
              <a:rPr b="1" i="0" lang="en" sz="900" u="none" cap="none" strike="noStrike">
                <a:solidFill>
                  <a:schemeClr val="dk1"/>
                </a:solidFill>
                <a:latin typeface="Montserrat"/>
                <a:ea typeface="Montserrat"/>
                <a:cs typeface="Montserrat"/>
                <a:sym typeface="Montserrat"/>
              </a:rPr>
              <a:t> user preferences</a:t>
            </a:r>
            <a:r>
              <a:rPr b="0" i="0" lang="en" sz="900" u="none" cap="none" strike="noStrike">
                <a:solidFill>
                  <a:schemeClr val="dk1"/>
                </a:solidFill>
                <a:latin typeface="Montserrat"/>
                <a:ea typeface="Montserrat"/>
                <a:cs typeface="Montserrat"/>
                <a:sym typeface="Montserrat"/>
              </a:rPr>
              <a:t>, which significantly improved </a:t>
            </a:r>
            <a:r>
              <a:rPr b="1" i="0" lang="en" sz="900" u="none" cap="none" strike="noStrike">
                <a:solidFill>
                  <a:schemeClr val="dk1"/>
                </a:solidFill>
                <a:latin typeface="Montserrat"/>
                <a:ea typeface="Montserrat"/>
                <a:cs typeface="Montserrat"/>
                <a:sym typeface="Montserrat"/>
              </a:rPr>
              <a:t>operational efficiency.</a:t>
            </a:r>
            <a:r>
              <a:rPr b="0" i="0" lang="en" sz="900" u="none" cap="none" strike="noStrike">
                <a:solidFill>
                  <a:schemeClr val="dk1"/>
                </a:solidFill>
                <a:latin typeface="Montserrat"/>
                <a:ea typeface="Montserrat"/>
                <a:cs typeface="Montserrat"/>
                <a:sym typeface="Montserrat"/>
              </a:rPr>
              <a:t> </a:t>
            </a:r>
            <a:br>
              <a:rPr b="0" i="0" lang="en" sz="900" u="none" cap="none" strike="noStrike">
                <a:solidFill>
                  <a:schemeClr val="dk1"/>
                </a:solidFill>
                <a:latin typeface="Montserrat"/>
                <a:ea typeface="Montserrat"/>
                <a:cs typeface="Montserrat"/>
                <a:sym typeface="Montserrat"/>
              </a:rPr>
            </a:br>
            <a:br>
              <a:rPr b="0" i="0" lang="en" sz="900" u="none" cap="none" strike="noStrike">
                <a:solidFill>
                  <a:schemeClr val="dk1"/>
                </a:solidFill>
                <a:latin typeface="Montserrat"/>
                <a:ea typeface="Montserrat"/>
                <a:cs typeface="Montserrat"/>
                <a:sym typeface="Montserrat"/>
              </a:rPr>
            </a:br>
            <a:r>
              <a:rPr b="0" i="0" lang="en" sz="900" u="none" cap="none" strike="noStrike">
                <a:solidFill>
                  <a:schemeClr val="dk1"/>
                </a:solidFill>
                <a:latin typeface="Montserrat"/>
                <a:ea typeface="Montserrat"/>
                <a:cs typeface="Montserrat"/>
                <a:sym typeface="Montserrat"/>
              </a:rPr>
              <a:t>The platform features live </a:t>
            </a:r>
            <a:r>
              <a:rPr b="1" i="0" lang="en" sz="900" u="none" cap="none" strike="noStrike">
                <a:solidFill>
                  <a:schemeClr val="dk1"/>
                </a:solidFill>
                <a:latin typeface="Montserrat"/>
                <a:ea typeface="Montserrat"/>
                <a:cs typeface="Montserrat"/>
                <a:sym typeface="Montserrat"/>
              </a:rPr>
              <a:t>race streaming and VOD content</a:t>
            </a:r>
            <a:r>
              <a:rPr b="0" i="0" lang="en" sz="900" u="none" cap="none" strike="noStrike">
                <a:solidFill>
                  <a:schemeClr val="dk1"/>
                </a:solidFill>
                <a:latin typeface="Montserrat"/>
                <a:ea typeface="Montserrat"/>
                <a:cs typeface="Montserrat"/>
                <a:sym typeface="Montserrat"/>
              </a:rPr>
              <a:t>, leveraging a comprehensive technology stack that includes Kotlin, Swift, Java, MongoDB, Spring Boot, and more.</a:t>
            </a:r>
            <a:endParaRPr b="1" i="0" sz="900" u="none" cap="none" strike="noStrike">
              <a:solidFill>
                <a:srgbClr val="D9187F"/>
              </a:solidFill>
              <a:latin typeface="Montserrat"/>
              <a:ea typeface="Montserrat"/>
              <a:cs typeface="Montserrat"/>
              <a:sym typeface="Montserrat"/>
            </a:endParaRPr>
          </a:p>
        </p:txBody>
      </p:sp>
      <p:pic>
        <p:nvPicPr>
          <p:cNvPr id="633" name="Google Shape;633;p25"/>
          <p:cNvPicPr preferRelativeResize="0"/>
          <p:nvPr/>
        </p:nvPicPr>
        <p:blipFill rotWithShape="1">
          <a:blip r:embed="rId4">
            <a:alphaModFix/>
          </a:blip>
          <a:srcRect b="0" l="0" r="0" t="0"/>
          <a:stretch/>
        </p:blipFill>
        <p:spPr>
          <a:xfrm>
            <a:off x="182896" y="156319"/>
            <a:ext cx="612506" cy="510431"/>
          </a:xfrm>
          <a:prstGeom prst="rect">
            <a:avLst/>
          </a:prstGeom>
          <a:noFill/>
          <a:ln>
            <a:noFill/>
          </a:ln>
        </p:spPr>
      </p:pic>
      <p:sp>
        <p:nvSpPr>
          <p:cNvPr id="634" name="Google Shape;634;p25"/>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Australia </a:t>
            </a:r>
            <a:endParaRPr b="0" i="0" sz="1000" u="none" cap="none" strike="noStrike">
              <a:solidFill>
                <a:schemeClr val="lt1"/>
              </a:solidFill>
              <a:latin typeface="Montserrat"/>
              <a:ea typeface="Montserrat"/>
              <a:cs typeface="Montserrat"/>
              <a:sym typeface="Montserrat"/>
            </a:endParaRPr>
          </a:p>
        </p:txBody>
      </p:sp>
      <p:pic>
        <p:nvPicPr>
          <p:cNvPr id="635" name="Google Shape;635;p25"/>
          <p:cNvPicPr preferRelativeResize="0"/>
          <p:nvPr/>
        </p:nvPicPr>
        <p:blipFill rotWithShape="1">
          <a:blip r:embed="rId5">
            <a:alphaModFix/>
          </a:blip>
          <a:srcRect b="0" l="0" r="0" t="0"/>
          <a:stretch/>
        </p:blipFill>
        <p:spPr>
          <a:xfrm>
            <a:off x="309115" y="1314638"/>
            <a:ext cx="4862602" cy="2662069"/>
          </a:xfrm>
          <a:prstGeom prst="rect">
            <a:avLst/>
          </a:prstGeom>
          <a:noFill/>
          <a:ln>
            <a:noFill/>
          </a:ln>
        </p:spPr>
      </p:pic>
      <p:pic>
        <p:nvPicPr>
          <p:cNvPr id="636" name="Google Shape;636;p25"/>
          <p:cNvPicPr preferRelativeResize="0"/>
          <p:nvPr/>
        </p:nvPicPr>
        <p:blipFill rotWithShape="1">
          <a:blip r:embed="rId6">
            <a:alphaModFix/>
          </a:blip>
          <a:srcRect b="10521" l="6650" r="11154" t="4633"/>
          <a:stretch/>
        </p:blipFill>
        <p:spPr>
          <a:xfrm>
            <a:off x="851944" y="1443453"/>
            <a:ext cx="3776945" cy="1955583"/>
          </a:xfrm>
          <a:prstGeom prst="rect">
            <a:avLst/>
          </a:prstGeom>
          <a:noFill/>
          <a:ln>
            <a:noFill/>
          </a:ln>
        </p:spPr>
      </p:pic>
      <p:pic>
        <p:nvPicPr>
          <p:cNvPr id="637" name="Google Shape;637;p25"/>
          <p:cNvPicPr preferRelativeResize="0"/>
          <p:nvPr/>
        </p:nvPicPr>
        <p:blipFill rotWithShape="1">
          <a:blip r:embed="rId7">
            <a:alphaModFix/>
          </a:blip>
          <a:srcRect b="0" l="0" r="0" t="0"/>
          <a:stretch/>
        </p:blipFill>
        <p:spPr>
          <a:xfrm>
            <a:off x="4213317" y="1131394"/>
            <a:ext cx="1400655" cy="2780532"/>
          </a:xfrm>
          <a:prstGeom prst="rect">
            <a:avLst/>
          </a:prstGeom>
          <a:noFill/>
          <a:ln>
            <a:noFill/>
          </a:ln>
        </p:spPr>
      </p:pic>
      <p:pic>
        <p:nvPicPr>
          <p:cNvPr id="638" name="Google Shape;638;p25"/>
          <p:cNvPicPr preferRelativeResize="0"/>
          <p:nvPr/>
        </p:nvPicPr>
        <p:blipFill rotWithShape="1">
          <a:blip r:embed="rId8">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39" name="Google Shape;639;p25"/>
          <p:cNvPicPr preferRelativeResize="0"/>
          <p:nvPr/>
        </p:nvPicPr>
        <p:blipFill rotWithShape="1">
          <a:blip r:embed="rId9">
            <a:alphaModFix/>
          </a:blip>
          <a:srcRect b="14288" l="0" r="0" t="0"/>
          <a:stretch/>
        </p:blipFill>
        <p:spPr>
          <a:xfrm>
            <a:off x="851951" y="1443450"/>
            <a:ext cx="3361367" cy="2148149"/>
          </a:xfrm>
          <a:prstGeom prst="rect">
            <a:avLst/>
          </a:prstGeom>
          <a:noFill/>
          <a:ln>
            <a:noFill/>
          </a:ln>
        </p:spPr>
      </p:pic>
      <p:pic>
        <p:nvPicPr>
          <p:cNvPr id="640" name="Google Shape;640;p25"/>
          <p:cNvPicPr preferRelativeResize="0"/>
          <p:nvPr/>
        </p:nvPicPr>
        <p:blipFill rotWithShape="1">
          <a:blip r:embed="rId10">
            <a:alphaModFix/>
          </a:blip>
          <a:srcRect b="0" l="0" r="0" t="0"/>
          <a:stretch/>
        </p:blipFill>
        <p:spPr>
          <a:xfrm>
            <a:off x="4298069" y="1177687"/>
            <a:ext cx="1236900" cy="2597100"/>
          </a:xfrm>
          <a:prstGeom prst="round2SameRect">
            <a:avLst>
              <a:gd fmla="val 13849" name="adj1"/>
              <a:gd fmla="val 0" name="adj2"/>
            </a:avLst>
          </a:prstGeom>
          <a:noFill/>
          <a:ln>
            <a:noFill/>
          </a:ln>
        </p:spPr>
      </p:pic>
      <p:pic>
        <p:nvPicPr>
          <p:cNvPr descr="TTN Logo.png" id="641" name="Google Shape;641;p25"/>
          <p:cNvPicPr preferRelativeResize="0"/>
          <p:nvPr/>
        </p:nvPicPr>
        <p:blipFill rotWithShape="1">
          <a:blip r:embed="rId11">
            <a:alphaModFix/>
          </a:blip>
          <a:srcRect b="0" l="0" r="0" t="0"/>
          <a:stretch/>
        </p:blipFill>
        <p:spPr>
          <a:xfrm>
            <a:off x="8414781" y="117828"/>
            <a:ext cx="625544" cy="349439"/>
          </a:xfrm>
          <a:prstGeom prst="rect">
            <a:avLst/>
          </a:prstGeom>
          <a:noFill/>
          <a:ln>
            <a:noFill/>
          </a:ln>
        </p:spPr>
      </p:pic>
      <p:sp>
        <p:nvSpPr>
          <p:cNvPr id="642" name="Google Shape;642;p25"/>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46" name="Shape 646"/>
        <p:cNvGrpSpPr/>
        <p:nvPr/>
      </p:nvGrpSpPr>
      <p:grpSpPr>
        <a:xfrm>
          <a:off x="0" y="0"/>
          <a:ext cx="0" cy="0"/>
          <a:chOff x="0" y="0"/>
          <a:chExt cx="0" cy="0"/>
        </a:xfrm>
      </p:grpSpPr>
      <p:sp>
        <p:nvSpPr>
          <p:cNvPr id="647" name="Google Shape;647;p26"/>
          <p:cNvSpPr/>
          <p:nvPr/>
        </p:nvSpPr>
        <p:spPr>
          <a:xfrm>
            <a:off x="0" y="144000"/>
            <a:ext cx="47400" cy="357300"/>
          </a:xfrm>
          <a:prstGeom prst="rect">
            <a:avLst/>
          </a:prstGeom>
          <a:solidFill>
            <a:srgbClr val="D71B7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8" name="Google Shape;648;p26"/>
          <p:cNvSpPr txBox="1"/>
          <p:nvPr/>
        </p:nvSpPr>
        <p:spPr>
          <a:xfrm>
            <a:off x="6221063" y="1127906"/>
            <a:ext cx="2846400" cy="2014200"/>
          </a:xfrm>
          <a:prstGeom prst="rect">
            <a:avLst/>
          </a:prstGeom>
          <a:noFill/>
          <a:ln>
            <a:noFill/>
          </a:ln>
          <a:effectLst>
            <a:outerShdw blurRad="228600" rotWithShape="0" algn="bl" dir="5400000" dist="57150">
              <a:srgbClr val="000000">
                <a:alpha val="10980"/>
              </a:srgbClr>
            </a:outerShdw>
          </a:effectLst>
        </p:spPr>
        <p:txBody>
          <a:bodyPr anchorCtr="0" anchor="t" bIns="91425" lIns="91425" spcFirstLastPara="1" rIns="91425" wrap="square" tIns="91425">
            <a:noAutofit/>
          </a:bodyPr>
          <a:lstStyle/>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Tata Play partnered with us to reimagine their digital platforms - bringing innovation to both entertainment and customer self-service.</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We engineered a secure OTT solution featuring </a:t>
            </a:r>
            <a:r>
              <a:rPr b="1" i="0" lang="en" sz="900" u="none" cap="none" strike="noStrike">
                <a:solidFill>
                  <a:schemeClr val="dk1"/>
                </a:solidFill>
                <a:latin typeface="Montserrat"/>
                <a:ea typeface="Montserrat"/>
                <a:cs typeface="Montserrat"/>
                <a:sym typeface="Montserrat"/>
              </a:rPr>
              <a:t>Live TV</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VoD</a:t>
            </a:r>
            <a:r>
              <a:rPr b="0" i="0" lang="en" sz="900" u="none" cap="none" strike="noStrike">
                <a:solidFill>
                  <a:schemeClr val="dk1"/>
                </a:solidFill>
                <a:latin typeface="Montserrat"/>
                <a:ea typeface="Montserrat"/>
                <a:cs typeface="Montserrat"/>
                <a:sym typeface="Montserrat"/>
              </a:rPr>
              <a:t>, </a:t>
            </a:r>
            <a:r>
              <a:rPr b="1" i="0" lang="en" sz="900" u="none" cap="none" strike="noStrike">
                <a:solidFill>
                  <a:schemeClr val="dk1"/>
                </a:solidFill>
                <a:latin typeface="Montserrat"/>
                <a:ea typeface="Montserrat"/>
                <a:cs typeface="Montserrat"/>
                <a:sym typeface="Montserrat"/>
              </a:rPr>
              <a:t>DRM integration</a:t>
            </a:r>
            <a:r>
              <a:rPr b="0" i="0" lang="en" sz="900" u="none" cap="none" strike="noStrike">
                <a:solidFill>
                  <a:schemeClr val="dk1"/>
                </a:solidFill>
                <a:latin typeface="Montserrat"/>
                <a:ea typeface="Montserrat"/>
                <a:cs typeface="Montserrat"/>
                <a:sym typeface="Montserrat"/>
              </a:rPr>
              <a:t>, and user-friendly tools like </a:t>
            </a:r>
            <a:r>
              <a:rPr b="1" i="0" lang="en" sz="900" u="none" cap="none" strike="noStrike">
                <a:solidFill>
                  <a:schemeClr val="dk1"/>
                </a:solidFill>
                <a:latin typeface="Montserrat"/>
                <a:ea typeface="Montserrat"/>
                <a:cs typeface="Montserrat"/>
                <a:sym typeface="Montserrat"/>
              </a:rPr>
              <a:t>remote recording</a:t>
            </a:r>
            <a:r>
              <a:rPr b="0" i="0" lang="en" sz="900" u="none" cap="none" strike="noStrike">
                <a:solidFill>
                  <a:schemeClr val="dk1"/>
                </a:solidFill>
                <a:latin typeface="Montserrat"/>
                <a:ea typeface="Montserrat"/>
                <a:cs typeface="Montserrat"/>
                <a:sym typeface="Montserrat"/>
              </a:rPr>
              <a:t> and </a:t>
            </a:r>
            <a:r>
              <a:rPr b="1" i="0" lang="en" sz="900" u="none" cap="none" strike="noStrike">
                <a:solidFill>
                  <a:schemeClr val="dk1"/>
                </a:solidFill>
                <a:latin typeface="Montserrat"/>
                <a:ea typeface="Montserrat"/>
                <a:cs typeface="Montserrat"/>
                <a:sym typeface="Montserrat"/>
              </a:rPr>
              <a:t>rich analytics</a:t>
            </a:r>
            <a:r>
              <a:rPr b="0" i="0" lang="en" sz="900" u="none" cap="none" strike="noStrike">
                <a:solidFill>
                  <a:schemeClr val="dk1"/>
                </a:solidFill>
                <a:latin typeface="Montserrat"/>
                <a:ea typeface="Montserrat"/>
                <a:cs typeface="Montserrat"/>
                <a:sym typeface="Montserrat"/>
              </a:rPr>
              <a:t>. In parallel, we developed a </a:t>
            </a:r>
            <a:r>
              <a:rPr b="1" i="0" lang="en" sz="900" u="none" cap="none" strike="noStrike">
                <a:solidFill>
                  <a:schemeClr val="dk1"/>
                </a:solidFill>
                <a:latin typeface="Montserrat"/>
                <a:ea typeface="Montserrat"/>
                <a:cs typeface="Montserrat"/>
                <a:sym typeface="Montserrat"/>
              </a:rPr>
              <a:t>React Native-based Self-Care app</a:t>
            </a:r>
            <a:r>
              <a:rPr b="0" i="0" lang="en" sz="900" u="none" cap="none" strike="noStrike">
                <a:solidFill>
                  <a:schemeClr val="dk1"/>
                </a:solidFill>
                <a:latin typeface="Montserrat"/>
                <a:ea typeface="Montserrat"/>
                <a:cs typeface="Montserrat"/>
                <a:sym typeface="Montserrat"/>
              </a:rPr>
              <a:t> with a </a:t>
            </a:r>
            <a:r>
              <a:rPr b="1" i="0" lang="en" sz="900" u="none" cap="none" strike="noStrike">
                <a:solidFill>
                  <a:schemeClr val="dk1"/>
                </a:solidFill>
                <a:latin typeface="Montserrat"/>
                <a:ea typeface="Montserrat"/>
                <a:cs typeface="Montserrat"/>
                <a:sym typeface="Montserrat"/>
              </a:rPr>
              <a:t>unified Android/iOS codebase</a:t>
            </a:r>
            <a:r>
              <a:rPr b="0" i="0" lang="en" sz="900" u="none" cap="none" strike="noStrike">
                <a:solidFill>
                  <a:schemeClr val="dk1"/>
                </a:solidFill>
                <a:latin typeface="Montserrat"/>
                <a:ea typeface="Montserrat"/>
                <a:cs typeface="Montserrat"/>
                <a:sym typeface="Montserrat"/>
              </a:rPr>
              <a:t>, enabling faster releases and seamless </a:t>
            </a:r>
            <a:r>
              <a:rPr b="1" i="0" lang="en" sz="900" u="none" cap="none" strike="noStrike">
                <a:solidFill>
                  <a:schemeClr val="dk1"/>
                </a:solidFill>
                <a:latin typeface="Montserrat"/>
                <a:ea typeface="Montserrat"/>
                <a:cs typeface="Montserrat"/>
                <a:sym typeface="Montserrat"/>
              </a:rPr>
              <a:t>CRM/payment gateway integration</a:t>
            </a:r>
            <a:r>
              <a:rPr b="0" i="0" lang="en" sz="900" u="none" cap="none" strike="noStrike">
                <a:solidFill>
                  <a:schemeClr val="dk1"/>
                </a:solidFill>
                <a:latin typeface="Montserrat"/>
                <a:ea typeface="Montserrat"/>
                <a:cs typeface="Montserrat"/>
                <a:sym typeface="Montserrat"/>
              </a:rPr>
              <a:t>.</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Powered by a </a:t>
            </a:r>
            <a:r>
              <a:rPr b="1" i="0" lang="en" sz="900" u="none" cap="none" strike="noStrike">
                <a:solidFill>
                  <a:schemeClr val="dk1"/>
                </a:solidFill>
                <a:latin typeface="Montserrat"/>
                <a:ea typeface="Montserrat"/>
                <a:cs typeface="Montserrat"/>
                <a:sym typeface="Montserrat"/>
              </a:rPr>
              <a:t>microservices architecture</a:t>
            </a:r>
            <a:r>
              <a:rPr b="0" i="0" lang="en" sz="900" u="none" cap="none" strike="noStrike">
                <a:solidFill>
                  <a:schemeClr val="dk1"/>
                </a:solidFill>
                <a:latin typeface="Montserrat"/>
                <a:ea typeface="Montserrat"/>
                <a:cs typeface="Montserrat"/>
                <a:sym typeface="Montserrat"/>
              </a:rPr>
              <a:t>, the platforms are scalable, resilient, and experience-driven.</a:t>
            </a:r>
            <a:endParaRPr b="0" i="0" sz="900" u="none" cap="none" strike="noStrike">
              <a:solidFill>
                <a:schemeClr val="dk1"/>
              </a:solidFill>
              <a:latin typeface="Montserrat"/>
              <a:ea typeface="Montserrat"/>
              <a:cs typeface="Montserrat"/>
              <a:sym typeface="Montserrat"/>
            </a:endParaRPr>
          </a:p>
          <a:p>
            <a:pPr indent="0" lvl="0" marL="0" marR="0" rtl="0" algn="l">
              <a:lnSpc>
                <a:spcPct val="115000"/>
              </a:lnSpc>
              <a:spcBef>
                <a:spcPts val="1200"/>
              </a:spcBef>
              <a:spcAft>
                <a:spcPts val="0"/>
              </a:spcAft>
              <a:buClr>
                <a:schemeClr val="dk1"/>
              </a:buClr>
              <a:buSzPts val="1100"/>
              <a:buFont typeface="Arial"/>
              <a:buNone/>
            </a:pPr>
            <a:r>
              <a:rPr b="0" i="0" lang="en" sz="900" u="none" cap="none" strike="noStrike">
                <a:solidFill>
                  <a:schemeClr val="dk1"/>
                </a:solidFill>
                <a:latin typeface="Montserrat"/>
                <a:ea typeface="Montserrat"/>
                <a:cs typeface="Montserrat"/>
                <a:sym typeface="Montserrat"/>
              </a:rPr>
              <a:t>Achieved </a:t>
            </a:r>
            <a:r>
              <a:rPr b="1" i="0" lang="en" sz="900" u="none" cap="none" strike="noStrike">
                <a:solidFill>
                  <a:schemeClr val="dk1"/>
                </a:solidFill>
                <a:latin typeface="Montserrat"/>
                <a:ea typeface="Montserrat"/>
                <a:cs typeface="Montserrat"/>
                <a:sym typeface="Montserrat"/>
              </a:rPr>
              <a:t>70%+ mobile engagement</a:t>
            </a:r>
            <a:r>
              <a:rPr b="0" i="0" lang="en" sz="900" u="none" cap="none" strike="noStrike">
                <a:solidFill>
                  <a:schemeClr val="dk1"/>
                </a:solidFill>
                <a:latin typeface="Montserrat"/>
                <a:ea typeface="Montserrat"/>
                <a:cs typeface="Montserrat"/>
                <a:sym typeface="Montserrat"/>
              </a:rPr>
              <a:t>, improved </a:t>
            </a:r>
            <a:r>
              <a:rPr b="1" i="0" lang="en" sz="900" u="none" cap="none" strike="noStrike">
                <a:solidFill>
                  <a:schemeClr val="dk1"/>
                </a:solidFill>
                <a:latin typeface="Montserrat"/>
                <a:ea typeface="Montserrat"/>
                <a:cs typeface="Montserrat"/>
                <a:sym typeface="Montserrat"/>
              </a:rPr>
              <a:t>app ratings</a:t>
            </a:r>
            <a:r>
              <a:rPr b="0" i="0" lang="en" sz="900" u="none" cap="none" strike="noStrike">
                <a:solidFill>
                  <a:schemeClr val="dk1"/>
                </a:solidFill>
                <a:latin typeface="Montserrat"/>
                <a:ea typeface="Montserrat"/>
                <a:cs typeface="Montserrat"/>
                <a:sym typeface="Montserrat"/>
              </a:rPr>
              <a:t>, higher </a:t>
            </a:r>
            <a:r>
              <a:rPr b="1" i="0" lang="en" sz="900" u="none" cap="none" strike="noStrike">
                <a:solidFill>
                  <a:schemeClr val="dk1"/>
                </a:solidFill>
                <a:latin typeface="Montserrat"/>
                <a:ea typeface="Montserrat"/>
                <a:cs typeface="Montserrat"/>
                <a:sym typeface="Montserrat"/>
              </a:rPr>
              <a:t>user adoption</a:t>
            </a:r>
            <a:r>
              <a:rPr b="0" i="0" lang="en" sz="900" u="none" cap="none" strike="noStrike">
                <a:solidFill>
                  <a:schemeClr val="dk1"/>
                </a:solidFill>
                <a:latin typeface="Montserrat"/>
                <a:ea typeface="Montserrat"/>
                <a:cs typeface="Montserrat"/>
                <a:sym typeface="Montserrat"/>
              </a:rPr>
              <a:t>, and increased </a:t>
            </a:r>
            <a:r>
              <a:rPr b="1" i="0" lang="en" sz="900" u="none" cap="none" strike="noStrike">
                <a:solidFill>
                  <a:schemeClr val="dk1"/>
                </a:solidFill>
                <a:latin typeface="Montserrat"/>
                <a:ea typeface="Montserrat"/>
                <a:cs typeface="Montserrat"/>
                <a:sym typeface="Montserrat"/>
              </a:rPr>
              <a:t>recharge and upsell conversions</a:t>
            </a:r>
            <a:r>
              <a:rPr b="0" i="0" lang="en" sz="900" u="none" cap="none" strike="noStrike">
                <a:solidFill>
                  <a:schemeClr val="dk1"/>
                </a:solidFill>
                <a:latin typeface="Montserrat"/>
                <a:ea typeface="Montserrat"/>
                <a:cs typeface="Montserrat"/>
                <a:sym typeface="Montserrat"/>
              </a:rPr>
              <a:t> across digital channels.</a:t>
            </a:r>
            <a:endParaRPr b="0" i="0" sz="900" u="none" cap="none" strike="noStrike">
              <a:solidFill>
                <a:schemeClr val="dk1"/>
              </a:solidFill>
              <a:latin typeface="Montserrat"/>
              <a:ea typeface="Montserrat"/>
              <a:cs typeface="Montserrat"/>
              <a:sym typeface="Montserrat"/>
            </a:endParaRPr>
          </a:p>
          <a:p>
            <a:pPr indent="0" lvl="0" marL="0" marR="0" rtl="0" algn="l">
              <a:lnSpc>
                <a:spcPct val="150000"/>
              </a:lnSpc>
              <a:spcBef>
                <a:spcPts val="1200"/>
              </a:spcBef>
              <a:spcAft>
                <a:spcPts val="0"/>
              </a:spcAft>
              <a:buClr>
                <a:schemeClr val="dk1"/>
              </a:buClr>
              <a:buSzPts val="1100"/>
              <a:buFont typeface="Arial"/>
              <a:buNone/>
            </a:pPr>
            <a:r>
              <a:t/>
            </a:r>
            <a:endParaRPr b="1" i="0" sz="900" u="none" cap="none" strike="noStrike">
              <a:solidFill>
                <a:schemeClr val="dk1"/>
              </a:solidFill>
              <a:latin typeface="Montserrat"/>
              <a:ea typeface="Montserrat"/>
              <a:cs typeface="Montserrat"/>
              <a:sym typeface="Montserrat"/>
            </a:endParaRPr>
          </a:p>
        </p:txBody>
      </p:sp>
      <p:sp>
        <p:nvSpPr>
          <p:cNvPr id="649" name="Google Shape;649;p26"/>
          <p:cNvSpPr/>
          <p:nvPr/>
        </p:nvSpPr>
        <p:spPr>
          <a:xfrm>
            <a:off x="6123225" y="763069"/>
            <a:ext cx="2232300" cy="267900"/>
          </a:xfrm>
          <a:prstGeom prst="rect">
            <a:avLst/>
          </a:prstGeom>
          <a:solidFill>
            <a:srgbClr val="5C72B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Montserrat"/>
                <a:ea typeface="Montserrat"/>
                <a:cs typeface="Montserrat"/>
                <a:sym typeface="Montserrat"/>
              </a:rPr>
              <a:t>   India</a:t>
            </a:r>
            <a:endParaRPr b="0" i="0" sz="1000" u="none" cap="none" strike="noStrike">
              <a:solidFill>
                <a:schemeClr val="lt1"/>
              </a:solidFill>
              <a:latin typeface="Montserrat"/>
              <a:ea typeface="Montserrat"/>
              <a:cs typeface="Montserrat"/>
              <a:sym typeface="Montserrat"/>
            </a:endParaRPr>
          </a:p>
        </p:txBody>
      </p:sp>
      <p:pic>
        <p:nvPicPr>
          <p:cNvPr id="650" name="Google Shape;650;p26"/>
          <p:cNvPicPr preferRelativeResize="0"/>
          <p:nvPr/>
        </p:nvPicPr>
        <p:blipFill rotWithShape="1">
          <a:blip r:embed="rId4">
            <a:alphaModFix/>
          </a:blip>
          <a:srcRect b="0" l="0" r="0" t="0"/>
          <a:stretch/>
        </p:blipFill>
        <p:spPr>
          <a:xfrm>
            <a:off x="309115" y="1314638"/>
            <a:ext cx="4862602" cy="2662069"/>
          </a:xfrm>
          <a:prstGeom prst="rect">
            <a:avLst/>
          </a:prstGeom>
          <a:noFill/>
          <a:ln>
            <a:noFill/>
          </a:ln>
        </p:spPr>
      </p:pic>
      <p:pic>
        <p:nvPicPr>
          <p:cNvPr id="651" name="Google Shape;651;p26"/>
          <p:cNvPicPr preferRelativeResize="0"/>
          <p:nvPr/>
        </p:nvPicPr>
        <p:blipFill rotWithShape="1">
          <a:blip r:embed="rId5">
            <a:alphaModFix/>
          </a:blip>
          <a:srcRect b="10521" l="6650" r="11154" t="4633"/>
          <a:stretch/>
        </p:blipFill>
        <p:spPr>
          <a:xfrm>
            <a:off x="851944" y="1443453"/>
            <a:ext cx="3776945" cy="1955583"/>
          </a:xfrm>
          <a:prstGeom prst="rect">
            <a:avLst/>
          </a:prstGeom>
          <a:noFill/>
          <a:ln>
            <a:noFill/>
          </a:ln>
        </p:spPr>
      </p:pic>
      <p:pic>
        <p:nvPicPr>
          <p:cNvPr id="652" name="Google Shape;652;p26"/>
          <p:cNvPicPr preferRelativeResize="0"/>
          <p:nvPr/>
        </p:nvPicPr>
        <p:blipFill rotWithShape="1">
          <a:blip r:embed="rId6">
            <a:alphaModFix/>
          </a:blip>
          <a:srcRect b="0" l="0" r="0" t="0"/>
          <a:stretch/>
        </p:blipFill>
        <p:spPr>
          <a:xfrm>
            <a:off x="4213317" y="1131394"/>
            <a:ext cx="1400655" cy="2780532"/>
          </a:xfrm>
          <a:prstGeom prst="rect">
            <a:avLst/>
          </a:prstGeom>
          <a:noFill/>
          <a:ln>
            <a:noFill/>
          </a:ln>
        </p:spPr>
      </p:pic>
      <p:pic>
        <p:nvPicPr>
          <p:cNvPr id="653" name="Google Shape;653;p26"/>
          <p:cNvPicPr preferRelativeResize="0"/>
          <p:nvPr/>
        </p:nvPicPr>
        <p:blipFill rotWithShape="1">
          <a:blip r:embed="rId7">
            <a:alphaModFix/>
          </a:blip>
          <a:srcRect b="0" l="0" r="0" t="0"/>
          <a:stretch/>
        </p:blipFill>
        <p:spPr>
          <a:xfrm>
            <a:off x="4298073" y="1209199"/>
            <a:ext cx="1236900" cy="2565600"/>
          </a:xfrm>
          <a:prstGeom prst="round2SameRect">
            <a:avLst>
              <a:gd fmla="val 10615" name="adj1"/>
              <a:gd fmla="val 0" name="adj2"/>
            </a:avLst>
          </a:prstGeom>
          <a:noFill/>
          <a:ln>
            <a:noFill/>
          </a:ln>
        </p:spPr>
      </p:pic>
      <p:pic>
        <p:nvPicPr>
          <p:cNvPr id="654" name="Google Shape;654;p26" title="Screenshot (11).png"/>
          <p:cNvPicPr preferRelativeResize="0"/>
          <p:nvPr/>
        </p:nvPicPr>
        <p:blipFill rotWithShape="1">
          <a:blip r:embed="rId8">
            <a:alphaModFix/>
          </a:blip>
          <a:srcRect b="0" l="8089" r="8089" t="0"/>
          <a:stretch/>
        </p:blipFill>
        <p:spPr>
          <a:xfrm>
            <a:off x="851951" y="1443450"/>
            <a:ext cx="3361368" cy="2148150"/>
          </a:xfrm>
          <a:prstGeom prst="rect">
            <a:avLst/>
          </a:prstGeom>
          <a:noFill/>
          <a:ln>
            <a:noFill/>
          </a:ln>
        </p:spPr>
      </p:pic>
      <p:pic>
        <p:nvPicPr>
          <p:cNvPr id="655" name="Google Shape;655;p26" title="Screenshot (12).png"/>
          <p:cNvPicPr preferRelativeResize="0"/>
          <p:nvPr/>
        </p:nvPicPr>
        <p:blipFill rotWithShape="1">
          <a:blip r:embed="rId9">
            <a:alphaModFix/>
          </a:blip>
          <a:srcRect b="1067" l="0" r="0" t="1057"/>
          <a:stretch/>
        </p:blipFill>
        <p:spPr>
          <a:xfrm>
            <a:off x="4298069" y="1177687"/>
            <a:ext cx="1236900" cy="2597100"/>
          </a:xfrm>
          <a:prstGeom prst="round2SameRect">
            <a:avLst>
              <a:gd fmla="val 13849" name="adj1"/>
              <a:gd fmla="val 0" name="adj2"/>
            </a:avLst>
          </a:prstGeom>
          <a:noFill/>
          <a:ln>
            <a:noFill/>
          </a:ln>
        </p:spPr>
      </p:pic>
      <p:pic>
        <p:nvPicPr>
          <p:cNvPr descr="TTN Logo.png" id="656" name="Google Shape;656;p26"/>
          <p:cNvPicPr preferRelativeResize="0"/>
          <p:nvPr/>
        </p:nvPicPr>
        <p:blipFill rotWithShape="1">
          <a:blip r:embed="rId10">
            <a:alphaModFix/>
          </a:blip>
          <a:srcRect b="0" l="0" r="0" t="0"/>
          <a:stretch/>
        </p:blipFill>
        <p:spPr>
          <a:xfrm>
            <a:off x="8414781" y="117828"/>
            <a:ext cx="625544" cy="349439"/>
          </a:xfrm>
          <a:prstGeom prst="rect">
            <a:avLst/>
          </a:prstGeom>
          <a:noFill/>
          <a:ln>
            <a:noFill/>
          </a:ln>
        </p:spPr>
      </p:pic>
      <p:sp>
        <p:nvSpPr>
          <p:cNvPr id="657" name="Google Shape;657;p26"/>
          <p:cNvSpPr txBox="1"/>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800"/>
              <a:buFont typeface="Arial"/>
              <a:buNone/>
            </a:pPr>
            <a:fld id="{00000000-1234-1234-1234-123412341234}" type="slidenum">
              <a:rPr b="0" i="0" lang="en" sz="800" u="none" cap="none" strike="noStrike">
                <a:solidFill>
                  <a:srgbClr val="000000"/>
                </a:solidFill>
                <a:latin typeface="Montserrat"/>
                <a:ea typeface="Montserrat"/>
                <a:cs typeface="Montserrat"/>
                <a:sym typeface="Montserrat"/>
              </a:rPr>
              <a:t>‹#›</a:t>
            </a:fld>
            <a:endParaRPr b="0" i="0" sz="800" u="none" cap="none" strike="noStrike">
              <a:solidFill>
                <a:srgbClr val="000000"/>
              </a:solidFill>
              <a:latin typeface="Montserrat"/>
              <a:ea typeface="Montserrat"/>
              <a:cs typeface="Montserrat"/>
              <a:sym typeface="Montserrat"/>
            </a:endParaRPr>
          </a:p>
        </p:txBody>
      </p:sp>
      <p:pic>
        <p:nvPicPr>
          <p:cNvPr id="658" name="Google Shape;658;p26"/>
          <p:cNvPicPr preferRelativeResize="0"/>
          <p:nvPr/>
        </p:nvPicPr>
        <p:blipFill rotWithShape="1">
          <a:blip r:embed="rId11">
            <a:alphaModFix/>
          </a:blip>
          <a:srcRect b="0" l="0" r="0" t="0"/>
          <a:stretch/>
        </p:blipFill>
        <p:spPr>
          <a:xfrm>
            <a:off x="222400" y="64450"/>
            <a:ext cx="516401" cy="516401"/>
          </a:xfrm>
          <a:prstGeom prst="rect">
            <a:avLst/>
          </a:prstGeom>
          <a:noFill/>
          <a:ln>
            <a:noFill/>
          </a:ln>
        </p:spPr>
      </p:pic>
      <p:pic>
        <p:nvPicPr>
          <p:cNvPr id="659" name="Google Shape;659;p26"/>
          <p:cNvPicPr preferRelativeResize="0"/>
          <p:nvPr/>
        </p:nvPicPr>
        <p:blipFill rotWithShape="1">
          <a:blip r:embed="rId12">
            <a:alphaModFix/>
          </a:blip>
          <a:srcRect b="21694" l="0" r="0" t="17945"/>
          <a:stretch/>
        </p:blipFill>
        <p:spPr>
          <a:xfrm>
            <a:off x="913800" y="64450"/>
            <a:ext cx="994426" cy="516401"/>
          </a:xfrm>
          <a:prstGeom prst="rect">
            <a:avLst/>
          </a:prstGeom>
          <a:noFill/>
          <a:ln>
            <a:noFill/>
          </a:ln>
        </p:spPr>
      </p:pic>
      <p:cxnSp>
        <p:nvCxnSpPr>
          <p:cNvPr id="660" name="Google Shape;660;p26"/>
          <p:cNvCxnSpPr/>
          <p:nvPr/>
        </p:nvCxnSpPr>
        <p:spPr>
          <a:xfrm>
            <a:off x="819193" y="153689"/>
            <a:ext cx="0" cy="324300"/>
          </a:xfrm>
          <a:prstGeom prst="straightConnector1">
            <a:avLst/>
          </a:prstGeom>
          <a:noFill/>
          <a:ln cap="flat" cmpd="sng" w="9525">
            <a:solidFill>
              <a:srgbClr val="595959"/>
            </a:solidFill>
            <a:prstDash val="solid"/>
            <a:round/>
            <a:headEnd len="sm" w="sm" type="none"/>
            <a:tailEnd len="sm" w="sm" type="none"/>
          </a:ln>
        </p:spPr>
      </p:cxnSp>
      <p:pic>
        <p:nvPicPr>
          <p:cNvPr id="661" name="Google Shape;661;p26" title="Screenshot 2025-05-29 at 10.49.36 AM.png"/>
          <p:cNvPicPr preferRelativeResize="0"/>
          <p:nvPr/>
        </p:nvPicPr>
        <p:blipFill rotWithShape="1">
          <a:blip r:embed="rId13">
            <a:alphaModFix/>
          </a:blip>
          <a:srcRect b="0" l="0" r="0" t="0"/>
          <a:stretch/>
        </p:blipFill>
        <p:spPr>
          <a:xfrm>
            <a:off x="4298075" y="1209175"/>
            <a:ext cx="1269475" cy="2565601"/>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27"/>
          <p:cNvSpPr txBox="1"/>
          <p:nvPr/>
        </p:nvSpPr>
        <p:spPr>
          <a:xfrm>
            <a:off x="105040" y="143994"/>
            <a:ext cx="6765900" cy="3573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en" sz="2000" u="none" cap="none" strike="noStrike">
                <a:solidFill>
                  <a:schemeClr val="dk1"/>
                </a:solidFill>
                <a:latin typeface="Montserrat"/>
                <a:ea typeface="Montserrat"/>
                <a:cs typeface="Montserrat"/>
                <a:sym typeface="Montserrat"/>
              </a:rPr>
              <a:t>Quick Recap</a:t>
            </a:r>
            <a:endParaRPr b="1" i="0" sz="2000" u="none" cap="none" strike="noStrike">
              <a:solidFill>
                <a:schemeClr val="dk1"/>
              </a:solidFill>
              <a:latin typeface="Montserrat"/>
              <a:ea typeface="Montserrat"/>
              <a:cs typeface="Montserrat"/>
              <a:sym typeface="Montserrat"/>
            </a:endParaRPr>
          </a:p>
        </p:txBody>
      </p:sp>
      <p:sp>
        <p:nvSpPr>
          <p:cNvPr id="667" name="Google Shape;667;p27"/>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sz="1000"/>
              <a:t>‹#›</a:t>
            </a:fld>
            <a:endParaRPr sz="1000"/>
          </a:p>
        </p:txBody>
      </p:sp>
      <p:sp>
        <p:nvSpPr>
          <p:cNvPr id="668" name="Google Shape;668;p27"/>
          <p:cNvSpPr/>
          <p:nvPr/>
        </p:nvSpPr>
        <p:spPr>
          <a:xfrm>
            <a:off x="226950" y="921038"/>
            <a:ext cx="8690100" cy="3293100"/>
          </a:xfrm>
          <a:prstGeom prst="snip1Rect">
            <a:avLst>
              <a:gd fmla="val 16333" name="adj"/>
            </a:avLst>
          </a:prstGeom>
          <a:solidFill>
            <a:srgbClr val="FFFFFF"/>
          </a:solidFill>
          <a:ln cap="flat" cmpd="sng" w="9525">
            <a:solidFill>
              <a:srgbClr val="E7E6E6"/>
            </a:solidFill>
            <a:prstDash val="solid"/>
            <a:round/>
            <a:headEnd len="sm" w="sm" type="none"/>
            <a:tailEnd len="sm" w="sm" type="none"/>
          </a:ln>
          <a:effectLst>
            <a:outerShdw blurRad="114300" rotWithShape="0" algn="bl" dir="5100000" dist="28575">
              <a:srgbClr val="999999">
                <a:alpha val="20000"/>
              </a:srgbClr>
            </a:outerShdw>
          </a:effectLst>
        </p:spPr>
        <p:txBody>
          <a:bodyPr anchorCtr="0" anchor="t" bIns="0" lIns="121875" spcFirstLastPara="1" rIns="121875" wrap="square" tIns="0">
            <a:noAutofit/>
          </a:bodyPr>
          <a:lstStyle/>
          <a:p>
            <a:pPr indent="0" lvl="0" marL="0" marR="0" rtl="0" algn="just">
              <a:lnSpc>
                <a:spcPct val="115000"/>
              </a:lnSpc>
              <a:spcBef>
                <a:spcPts val="0"/>
              </a:spcBef>
              <a:spcAft>
                <a:spcPts val="0"/>
              </a:spcAft>
              <a:buClr>
                <a:srgbClr val="000000"/>
              </a:buClr>
              <a:buSzPts val="1100"/>
              <a:buFont typeface="Arial"/>
              <a:buNone/>
            </a:pPr>
            <a:r>
              <a:t/>
            </a:r>
            <a:endParaRPr b="1" i="0" sz="1000" u="none" cap="none" strike="noStrike">
              <a:solidFill>
                <a:srgbClr val="D71B7F"/>
              </a:solidFill>
              <a:latin typeface="Montserrat"/>
              <a:ea typeface="Montserrat"/>
              <a:cs typeface="Montserrat"/>
              <a:sym typeface="Montserrat"/>
            </a:endParaRPr>
          </a:p>
        </p:txBody>
      </p:sp>
      <p:cxnSp>
        <p:nvCxnSpPr>
          <p:cNvPr id="669" name="Google Shape;669;p27"/>
          <p:cNvCxnSpPr/>
          <p:nvPr/>
        </p:nvCxnSpPr>
        <p:spPr>
          <a:xfrm>
            <a:off x="249444" y="929365"/>
            <a:ext cx="0" cy="3293100"/>
          </a:xfrm>
          <a:prstGeom prst="straightConnector1">
            <a:avLst/>
          </a:prstGeom>
          <a:noFill/>
          <a:ln cap="flat" cmpd="sng" w="19050">
            <a:solidFill>
              <a:srgbClr val="12519C"/>
            </a:solidFill>
            <a:prstDash val="solid"/>
            <a:round/>
            <a:headEnd len="sm" w="sm" type="none"/>
            <a:tailEnd len="sm" w="sm" type="none"/>
          </a:ln>
        </p:spPr>
      </p:cxnSp>
      <p:sp>
        <p:nvSpPr>
          <p:cNvPr id="670" name="Google Shape;670;p27"/>
          <p:cNvSpPr txBox="1"/>
          <p:nvPr/>
        </p:nvSpPr>
        <p:spPr>
          <a:xfrm>
            <a:off x="261425" y="987013"/>
            <a:ext cx="8127900" cy="3124500"/>
          </a:xfrm>
          <a:prstGeom prst="rect">
            <a:avLst/>
          </a:prstGeom>
          <a:noFill/>
          <a:ln>
            <a:noFill/>
          </a:ln>
        </p:spPr>
        <p:txBody>
          <a:bodyPr anchorCtr="0" anchor="t" bIns="91425" lIns="91425" spcFirstLastPara="1" rIns="91425" wrap="square" tIns="91425">
            <a:spAutoFit/>
          </a:bodyPr>
          <a:lstStyle/>
          <a:p>
            <a:r>
              <a:t>TTN proposes a secure, patient-centric digital health portal for MediCare Health Network. The solution enables appointment booking, telehealth, medical records access, and prescription management while meeting Australian healthcare privacy and My Health Record integration requirements.</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pic>
        <p:nvPicPr>
          <p:cNvPr id="675" name="Google Shape;675;p28"/>
          <p:cNvPicPr preferRelativeResize="0"/>
          <p:nvPr/>
        </p:nvPicPr>
        <p:blipFill rotWithShape="1">
          <a:blip r:embed="rId3">
            <a:alphaModFix/>
          </a:blip>
          <a:srcRect b="0" l="0" r="0" t="0"/>
          <a:stretch/>
        </p:blipFill>
        <p:spPr>
          <a:xfrm>
            <a:off x="249975" y="246249"/>
            <a:ext cx="1145175" cy="585599"/>
          </a:xfrm>
          <a:prstGeom prst="rect">
            <a:avLst/>
          </a:prstGeom>
          <a:noFill/>
          <a:ln>
            <a:noFill/>
          </a:ln>
        </p:spPr>
      </p:pic>
      <p:pic>
        <p:nvPicPr>
          <p:cNvPr id="676" name="Google Shape;676;p28"/>
          <p:cNvPicPr preferRelativeResize="0"/>
          <p:nvPr/>
        </p:nvPicPr>
        <p:blipFill rotWithShape="1">
          <a:blip r:embed="rId4">
            <a:alphaModFix/>
          </a:blip>
          <a:srcRect b="3131" l="0" r="0" t="3122"/>
          <a:stretch/>
        </p:blipFill>
        <p:spPr>
          <a:xfrm>
            <a:off x="210229" y="2037900"/>
            <a:ext cx="5420723" cy="873450"/>
          </a:xfrm>
          <a:prstGeom prst="rect">
            <a:avLst/>
          </a:prstGeom>
          <a:noFill/>
          <a:ln>
            <a:noFill/>
          </a:ln>
        </p:spPr>
      </p:pic>
      <p:cxnSp>
        <p:nvCxnSpPr>
          <p:cNvPr id="677" name="Google Shape;677;p28"/>
          <p:cNvCxnSpPr/>
          <p:nvPr/>
        </p:nvCxnSpPr>
        <p:spPr>
          <a:xfrm>
            <a:off x="7475" y="3099589"/>
            <a:ext cx="3926700" cy="0"/>
          </a:xfrm>
          <a:prstGeom prst="straightConnector1">
            <a:avLst/>
          </a:prstGeom>
          <a:noFill/>
          <a:ln cap="flat" cmpd="sng" w="19050">
            <a:solidFill>
              <a:srgbClr val="D71B7F"/>
            </a:solidFill>
            <a:prstDash val="solid"/>
            <a:round/>
            <a:headEnd len="sm" w="sm" type="none"/>
            <a:tailEnd len="sm" w="sm" type="none"/>
          </a:ln>
        </p:spPr>
      </p:cxnSp>
    </p:spTree>
  </p:cSld>
  <p:clrMapOvr>
    <a:masterClrMapping/>
  </p:clrMapOvr>
</p:sld>
</file>

<file path=ppt/theme/theme1.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Master">
  <a:themeElements>
    <a:clrScheme name="Custom 9">
      <a:dk1>
        <a:srgbClr val="000000"/>
      </a:dk1>
      <a:lt1>
        <a:srgbClr val="FFFFFF"/>
      </a:lt1>
      <a:dk2>
        <a:srgbClr val="44546A"/>
      </a:dk2>
      <a:lt2>
        <a:srgbClr val="E7E6E6"/>
      </a:lt2>
      <a:accent1>
        <a:srgbClr val="D71B7F"/>
      </a:accent1>
      <a:accent2>
        <a:srgbClr val="12519C"/>
      </a:accent2>
      <a:accent3>
        <a:srgbClr val="6F3A93"/>
      </a:accent3>
      <a:accent4>
        <a:srgbClr val="F5B6D7"/>
      </a:accent4>
      <a:accent5>
        <a:srgbClr val="99BDEA"/>
      </a:accent5>
      <a:accent6>
        <a:srgbClr val="70AD47"/>
      </a:accent6>
      <a:hlink>
        <a:srgbClr val="FFFFFF"/>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