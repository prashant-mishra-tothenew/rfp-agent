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3" r:id="rId6"/>
    <p:sldMasterId id="2147483664"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Lst>
  <p:sldSz cy="5143500" cx="9144000"/>
  <p:notesSz cx="6858000" cy="9144000"/>
  <p:embeddedFontLst>
    <p:embeddedFont>
      <p:font typeface="Montserrat SemiBold"/>
      <p:regular r:id="rId37"/>
      <p:bold r:id="rId38"/>
      <p:italic r:id="rId39"/>
      <p:boldItalic r:id="rId40"/>
    </p:embeddedFont>
    <p:embeddedFont>
      <p:font typeface="Montserrat"/>
      <p:regular r:id="rId41"/>
      <p:bold r:id="rId42"/>
      <p:italic r:id="rId43"/>
      <p:boldItalic r:id="rId44"/>
    </p:embeddedFont>
    <p:embeddedFont>
      <p:font typeface="Montserrat Medium"/>
      <p:regular r:id="rId45"/>
      <p:bold r:id="rId46"/>
      <p:italic r:id="rId47"/>
      <p:boldItalic r:id="rId48"/>
    </p:embeddedFont>
    <p:embeddedFont>
      <p:font typeface="Tahoma"/>
      <p:regular r:id="rId49"/>
      <p:bold r:id="rId50"/>
    </p:embeddedFont>
    <p:embeddedFont>
      <p:font typeface="Montserrat Light"/>
      <p:regular r:id="rId51"/>
      <p:bold r:id="rId52"/>
      <p:italic r:id="rId53"/>
      <p:boldItalic r:id="rId54"/>
    </p:embeddedFont>
    <p:embeddedFont>
      <p:font typeface="Century Gothic"/>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9" roundtripDataSignature="AMtx7mjrcQjjxTMEva7885HIDdwaADPV3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776C36E-D2AD-4AE9-B92F-3330EE880BF7}">
  <a:tblStyle styleId="{4776C36E-D2AD-4AE9-B92F-3330EE880BF7}"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759350B3-BBFF-4BFA-8656-60803C743C3A}" styleName="Table_1">
    <a:wholeTbl>
      <a:tcTxStyle b="off" i="off">
        <a:font>
          <a:latin typeface="Arial"/>
          <a:ea typeface="Arial"/>
          <a:cs typeface="Arial"/>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9EFF7"/>
          </a:solidFill>
        </a:fill>
      </a:tcStyle>
    </a:wholeTbl>
    <a:band1H>
      <a:tcTxStyle b="off" i="off"/>
      <a:tcStyle>
        <a:fill>
          <a:solidFill>
            <a:srgbClr val="D0DEEF"/>
          </a:solidFill>
        </a:fill>
      </a:tcStyle>
    </a:band1H>
    <a:band2H>
      <a:tcTxStyle b="off" i="off"/>
    </a:band2H>
    <a:band1V>
      <a:tcTxStyle b="off" i="off"/>
      <a:tcStyle>
        <a:fill>
          <a:solidFill>
            <a:srgbClr val="D0DEEF"/>
          </a:solidFill>
        </a:fill>
      </a:tcStyle>
    </a:band1V>
    <a:band2V>
      <a:tcTxStyle b="off" i="off"/>
    </a:band2V>
    <a:lastCol>
      <a:tcTxStyle b="on" i="off">
        <a:font>
          <a:latin typeface="Arial"/>
          <a:ea typeface="Arial"/>
          <a:cs typeface="Arial"/>
        </a:font>
        <a:srgbClr val="FFFFFF"/>
      </a:tcTxStyle>
      <a:tcStyle>
        <a:fill>
          <a:solidFill>
            <a:srgbClr val="D71B7F"/>
          </a:solidFill>
        </a:fill>
      </a:tcStyle>
    </a:lastCol>
    <a:firstCol>
      <a:tcTxStyle b="on" i="off">
        <a:font>
          <a:latin typeface="Arial"/>
          <a:ea typeface="Arial"/>
          <a:cs typeface="Arial"/>
        </a:font>
        <a:srgbClr val="FFFFFF"/>
      </a:tcTxStyle>
      <a:tcStyle>
        <a:fill>
          <a:solidFill>
            <a:srgbClr val="D71B7F"/>
          </a:solidFill>
        </a:fill>
      </a:tcStyle>
    </a:firstCol>
    <a:lastRow>
      <a:tcTxStyle b="on" i="off">
        <a:font>
          <a:latin typeface="Arial"/>
          <a:ea typeface="Arial"/>
          <a:cs typeface="Arial"/>
        </a:font>
        <a:srgbClr val="FFFFFF"/>
      </a:tcTxStyle>
      <a:tcStyle>
        <a:tcBdr>
          <a:top>
            <a:ln cap="flat" cmpd="sng" w="38100">
              <a:solidFill>
                <a:srgbClr val="FFFFFF"/>
              </a:solidFill>
              <a:prstDash val="solid"/>
              <a:round/>
              <a:headEnd len="sm" w="sm" type="none"/>
              <a:tailEnd len="sm" w="sm" type="none"/>
            </a:ln>
          </a:top>
        </a:tcBdr>
        <a:fill>
          <a:solidFill>
            <a:srgbClr val="D71B7F"/>
          </a:solidFill>
        </a:fill>
      </a:tcStyle>
    </a:lastRow>
    <a:seCell>
      <a:tcTxStyle b="off" i="off"/>
    </a:seCell>
    <a:swCell>
      <a:tcTxStyle b="off" i="off"/>
    </a:swCell>
    <a:firstRow>
      <a:tcTxStyle b="on" i="off">
        <a:font>
          <a:latin typeface="Arial"/>
          <a:ea typeface="Arial"/>
          <a:cs typeface="Arial"/>
        </a:font>
        <a:srgbClr val="FFFFFF"/>
      </a:tcTxStyle>
      <a:tcStyle>
        <a:tcBdr>
          <a:bottom>
            <a:ln cap="flat" cmpd="sng" w="38100">
              <a:solidFill>
                <a:srgbClr val="FFFFFF"/>
              </a:solidFill>
              <a:prstDash val="solid"/>
              <a:round/>
              <a:headEnd len="sm" w="sm" type="none"/>
              <a:tailEnd len="sm" w="sm" type="none"/>
            </a:ln>
          </a:bottom>
        </a:tcBdr>
        <a:fill>
          <a:solidFill>
            <a:srgbClr val="D71B7F"/>
          </a:solidFill>
        </a:fill>
      </a:tcStyle>
    </a:firstRow>
    <a:neCell>
      <a:tcTxStyle b="off" i="off"/>
    </a:neCell>
    <a:nwCell>
      <a:tcTxStyle b="off" i="off"/>
    </a:nwCell>
  </a:tblStyle>
  <a:tblStyle styleId="{486883CD-E40B-490B-9AF7-50432A68762B}" styleName="Table_2">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A0409FBF-130E-4C89-B222-25A7FCDD58EE}" styleName="Table_3">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font" Target="fonts/MontserratSemiBold-regular.fntdata"/><Relationship Id="rId38" Type="http://schemas.openxmlformats.org/officeDocument/2006/relationships/font" Target="fonts/MontserratSemiBold-bold.fntdata"/><Relationship Id="rId39" Type="http://schemas.openxmlformats.org/officeDocument/2006/relationships/font" Target="fonts/MontserratSemiBold-italic.fntdata"/><Relationship Id="rId40" Type="http://schemas.openxmlformats.org/officeDocument/2006/relationships/font" Target="fonts/MontserratSemiBold-boldItalic.fntdata"/><Relationship Id="rId41" Type="http://schemas.openxmlformats.org/officeDocument/2006/relationships/font" Target="fonts/Montserrat-regular.fntdata"/><Relationship Id="rId42" Type="http://schemas.openxmlformats.org/officeDocument/2006/relationships/font" Target="fonts/Montserrat-bold.fntdata"/><Relationship Id="rId43" Type="http://schemas.openxmlformats.org/officeDocument/2006/relationships/font" Target="fonts/Montserrat-italic.fntdata"/><Relationship Id="rId44" Type="http://schemas.openxmlformats.org/officeDocument/2006/relationships/font" Target="fonts/Montserrat-boldItalic.fntdata"/><Relationship Id="rId45" Type="http://schemas.openxmlformats.org/officeDocument/2006/relationships/font" Target="fonts/MontserratMedium-regular.fntdata"/><Relationship Id="rId46" Type="http://schemas.openxmlformats.org/officeDocument/2006/relationships/font" Target="fonts/MontserratMedium-bold.fntdata"/><Relationship Id="rId47" Type="http://schemas.openxmlformats.org/officeDocument/2006/relationships/font" Target="fonts/MontserratMedium-italic.fntdata"/><Relationship Id="rId48" Type="http://schemas.openxmlformats.org/officeDocument/2006/relationships/font" Target="fonts/MontserratMedium-boldItalic.fntdata"/><Relationship Id="rId49" Type="http://schemas.openxmlformats.org/officeDocument/2006/relationships/font" Target="fonts/Tahoma-regular.fntdata"/><Relationship Id="rId50" Type="http://schemas.openxmlformats.org/officeDocument/2006/relationships/font" Target="fonts/Tahoma-bold.fntdata"/><Relationship Id="rId51" Type="http://schemas.openxmlformats.org/officeDocument/2006/relationships/font" Target="fonts/MontserratLight-regular.fntdata"/><Relationship Id="rId52" Type="http://schemas.openxmlformats.org/officeDocument/2006/relationships/font" Target="fonts/MontserratLight-bold.fntdata"/><Relationship Id="rId53" Type="http://schemas.openxmlformats.org/officeDocument/2006/relationships/font" Target="fonts/MontserratLight-italic.fntdata"/><Relationship Id="rId54" Type="http://schemas.openxmlformats.org/officeDocument/2006/relationships/font" Target="fonts/MontserratLight-boldItalic.fntdata"/><Relationship Id="rId55" Type="http://schemas.openxmlformats.org/officeDocument/2006/relationships/font" Target="fonts/CenturyGothic-regular.fntdata"/><Relationship Id="rId56" Type="http://schemas.openxmlformats.org/officeDocument/2006/relationships/font" Target="fonts/CenturyGothic-bold.fntdata"/><Relationship Id="rId57" Type="http://schemas.openxmlformats.org/officeDocument/2006/relationships/font" Target="fonts/CenturyGothic-italic.fntdata"/><Relationship Id="rId58" Type="http://schemas.openxmlformats.org/officeDocument/2006/relationships/font" Target="fonts/CenturyGothic-boldItalic.fntdata"/><Relationship Id="rId5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800">
                <a:solidFill>
                  <a:srgbClr val="666666"/>
                </a:solidFill>
                <a:latin typeface="Montserrat"/>
                <a:ea typeface="Montserrat"/>
                <a:cs typeface="Montserrat"/>
                <a:sym typeface="Montserrat"/>
              </a:rPr>
              <a:t>ChatBot Development - Sales &amp; After Sales ( Text to sequel problem)</a:t>
            </a:r>
            <a:endParaRPr sz="800">
              <a:latin typeface="Montserrat"/>
              <a:ea typeface="Montserrat"/>
              <a:cs typeface="Montserrat"/>
              <a:sym typeface="Montserra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9" name="Google Shape;34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2" name="Google Shape;38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0" name="Google Shape;46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6" name="Google Shape;52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9" name="Google Shape;54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2" name="Google Shape;57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4" name="Google Shape;584;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1" name="Google Shape;59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4" name="Google Shape;61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9" name="Google Shape;62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5" name="Google Shape;64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4" name="Google Shape;664;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3" name="Google Shape;673;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2.png"/><Relationship Id="rId10" Type="http://schemas.openxmlformats.org/officeDocument/2006/relationships/image" Target="../media/image1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2">
  <p:cSld name="TITLE_2">
    <p:spTree>
      <p:nvGrpSpPr>
        <p:cNvPr id="8" name="Shape 8"/>
        <p:cNvGrpSpPr/>
        <p:nvPr/>
      </p:nvGrpSpPr>
      <p:grpSpPr>
        <a:xfrm>
          <a:off x="0" y="0"/>
          <a:ext cx="0" cy="0"/>
          <a:chOff x="0" y="0"/>
          <a:chExt cx="0" cy="0"/>
        </a:xfrm>
      </p:grpSpPr>
      <p:pic>
        <p:nvPicPr>
          <p:cNvPr id="9" name="Google Shape;9;p30"/>
          <p:cNvPicPr preferRelativeResize="0"/>
          <p:nvPr/>
        </p:nvPicPr>
        <p:blipFill rotWithShape="1">
          <a:blip r:embed="rId2">
            <a:alphaModFix/>
          </a:blip>
          <a:srcRect b="0" l="0" r="0" t="0"/>
          <a:stretch/>
        </p:blipFill>
        <p:spPr>
          <a:xfrm>
            <a:off x="7465" y="0"/>
            <a:ext cx="9144008" cy="5143501"/>
          </a:xfrm>
          <a:prstGeom prst="rect">
            <a:avLst/>
          </a:prstGeom>
          <a:noFill/>
          <a:ln>
            <a:noFill/>
          </a:ln>
        </p:spPr>
      </p:pic>
      <p:sp>
        <p:nvSpPr>
          <p:cNvPr id="10" name="Google Shape;10;p30"/>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1" name="Google Shape;11;p30"/>
          <p:cNvPicPr preferRelativeResize="0"/>
          <p:nvPr/>
        </p:nvPicPr>
        <p:blipFill rotWithShape="1">
          <a:blip r:embed="rId3">
            <a:alphaModFix/>
          </a:blip>
          <a:srcRect b="0" l="0" r="0" t="0"/>
          <a:stretch/>
        </p:blipFill>
        <p:spPr>
          <a:xfrm>
            <a:off x="-10" y="5071684"/>
            <a:ext cx="9151473" cy="8044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p:cSld name="TITLE_AND_TWO_COLUMNS_2_1">
    <p:spTree>
      <p:nvGrpSpPr>
        <p:cNvPr id="12" name="Shape 12"/>
        <p:cNvGrpSpPr/>
        <p:nvPr/>
      </p:nvGrpSpPr>
      <p:grpSpPr>
        <a:xfrm>
          <a:off x="0" y="0"/>
          <a:ext cx="0" cy="0"/>
          <a:chOff x="0" y="0"/>
          <a:chExt cx="0" cy="0"/>
        </a:xfrm>
      </p:grpSpPr>
      <p:sp>
        <p:nvSpPr>
          <p:cNvPr id="13" name="Google Shape;13;p31"/>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31"/>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sp>
        <p:nvSpPr>
          <p:cNvPr id="15" name="Google Shape;15;p3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pic>
        <p:nvPicPr>
          <p:cNvPr descr="TTN Logo.png" id="16" name="Google Shape;16;p31"/>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17" name="Google Shape;17;p31"/>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18" name="Google Shape;18;p31"/>
          <p:cNvPicPr preferRelativeResize="0"/>
          <p:nvPr/>
        </p:nvPicPr>
        <p:blipFill rotWithShape="1">
          <a:blip r:embed="rId3">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9" name="Shape 19"/>
        <p:cNvGrpSpPr/>
        <p:nvPr/>
      </p:nvGrpSpPr>
      <p:grpSpPr>
        <a:xfrm>
          <a:off x="0" y="0"/>
          <a:ext cx="0" cy="0"/>
          <a:chOff x="0" y="0"/>
          <a:chExt cx="0" cy="0"/>
        </a:xfrm>
      </p:grpSpPr>
      <p:pic>
        <p:nvPicPr>
          <p:cNvPr id="20" name="Google Shape;20;p36"/>
          <p:cNvPicPr preferRelativeResize="0"/>
          <p:nvPr/>
        </p:nvPicPr>
        <p:blipFill rotWithShape="1">
          <a:blip r:embed="rId2">
            <a:alphaModFix/>
          </a:blip>
          <a:srcRect b="0" l="0" r="0" t="0"/>
          <a:stretch/>
        </p:blipFill>
        <p:spPr>
          <a:xfrm>
            <a:off x="7465" y="0"/>
            <a:ext cx="9144008" cy="5143501"/>
          </a:xfrm>
          <a:prstGeom prst="rect">
            <a:avLst/>
          </a:prstGeom>
          <a:noFill/>
          <a:ln>
            <a:noFill/>
          </a:ln>
        </p:spPr>
      </p:pic>
      <p:sp>
        <p:nvSpPr>
          <p:cNvPr id="21" name="Google Shape;21;p36"/>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2" name="Google Shape;22;p36"/>
          <p:cNvPicPr preferRelativeResize="0"/>
          <p:nvPr/>
        </p:nvPicPr>
        <p:blipFill rotWithShape="1">
          <a:blip r:embed="rId3">
            <a:alphaModFix/>
          </a:blip>
          <a:srcRect b="0" l="0" r="0" t="0"/>
          <a:stretch/>
        </p:blipFill>
        <p:spPr>
          <a:xfrm>
            <a:off x="-10" y="5071684"/>
            <a:ext cx="9151473" cy="8044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Slide">
  <p:cSld name="CUSTOM_6_1_1_1_1_1_1_1_2_1_2_1_1_1">
    <p:bg>
      <p:bgPr>
        <a:noFill/>
      </p:bgPr>
    </p:bg>
    <p:spTree>
      <p:nvGrpSpPr>
        <p:cNvPr id="23" name="Shape 23"/>
        <p:cNvGrpSpPr/>
        <p:nvPr/>
      </p:nvGrpSpPr>
      <p:grpSpPr>
        <a:xfrm>
          <a:off x="0" y="0"/>
          <a:ext cx="0" cy="0"/>
          <a:chOff x="0" y="0"/>
          <a:chExt cx="0" cy="0"/>
        </a:xfrm>
      </p:grpSpPr>
      <p:pic>
        <p:nvPicPr>
          <p:cNvPr id="24" name="Google Shape;24;p44"/>
          <p:cNvPicPr preferRelativeResize="0"/>
          <p:nvPr/>
        </p:nvPicPr>
        <p:blipFill rotWithShape="1">
          <a:blip r:embed="rId2">
            <a:alphaModFix/>
          </a:blip>
          <a:srcRect b="0" l="-10120" r="10120" t="0"/>
          <a:stretch/>
        </p:blipFill>
        <p:spPr>
          <a:xfrm>
            <a:off x="0" y="-7476"/>
            <a:ext cx="9143956" cy="5143501"/>
          </a:xfrm>
          <a:prstGeom prst="rect">
            <a:avLst/>
          </a:prstGeom>
          <a:noFill/>
          <a:ln>
            <a:noFill/>
          </a:ln>
        </p:spPr>
      </p:pic>
      <p:pic>
        <p:nvPicPr>
          <p:cNvPr descr="TTN Logo.png" id="25" name="Google Shape;25;p44"/>
          <p:cNvPicPr preferRelativeResize="0"/>
          <p:nvPr/>
        </p:nvPicPr>
        <p:blipFill rotWithShape="1">
          <a:blip r:embed="rId3">
            <a:alphaModFix/>
          </a:blip>
          <a:srcRect b="0" l="0" r="0" t="0"/>
          <a:stretch/>
        </p:blipFill>
        <p:spPr>
          <a:xfrm>
            <a:off x="8295649" y="178006"/>
            <a:ext cx="648924" cy="362494"/>
          </a:xfrm>
          <a:prstGeom prst="rect">
            <a:avLst/>
          </a:prstGeom>
          <a:noFill/>
          <a:ln>
            <a:noFill/>
          </a:ln>
        </p:spPr>
      </p:pic>
      <p:sp>
        <p:nvSpPr>
          <p:cNvPr id="26" name="Google Shape;26;p44"/>
          <p:cNvSpPr/>
          <p:nvPr/>
        </p:nvSpPr>
        <p:spPr>
          <a:xfrm>
            <a:off x="3929500" y="2179825"/>
            <a:ext cx="559800" cy="559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p:cSld name="TITLE_AND_TWO_COLUMNS_2">
    <p:spTree>
      <p:nvGrpSpPr>
        <p:cNvPr id="31" name="Shape 31"/>
        <p:cNvGrpSpPr/>
        <p:nvPr/>
      </p:nvGrpSpPr>
      <p:grpSpPr>
        <a:xfrm>
          <a:off x="0" y="0"/>
          <a:ext cx="0" cy="0"/>
          <a:chOff x="0" y="0"/>
          <a:chExt cx="0" cy="0"/>
        </a:xfrm>
      </p:grpSpPr>
      <p:sp>
        <p:nvSpPr>
          <p:cNvPr id="32" name="Google Shape;32;p3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3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pic>
        <p:nvPicPr>
          <p:cNvPr descr="TTN Logo.png" id="34" name="Google Shape;34;p33"/>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35" name="Google Shape;35;p33"/>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36" name="Google Shape;36;p33"/>
          <p:cNvPicPr preferRelativeResize="0"/>
          <p:nvPr/>
        </p:nvPicPr>
        <p:blipFill rotWithShape="1">
          <a:blip r:embed="rId3">
            <a:alphaModFix/>
          </a:blip>
          <a:srcRect b="0" l="0" r="0" t="0"/>
          <a:stretch/>
        </p:blipFill>
        <p:spPr>
          <a:xfrm>
            <a:off x="7665385" y="210432"/>
            <a:ext cx="542839" cy="224450"/>
          </a:xfrm>
          <a:prstGeom prst="rect">
            <a:avLst/>
          </a:prstGeom>
          <a:noFill/>
          <a:ln>
            <a:noFill/>
          </a:ln>
        </p:spPr>
      </p:pic>
      <p:sp>
        <p:nvSpPr>
          <p:cNvPr id="37" name="Google Shape;37;p3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p:cSld name="TITLE_AND_TWO_COLUMNS_2_1">
    <p:spTree>
      <p:nvGrpSpPr>
        <p:cNvPr id="38" name="Shape 38"/>
        <p:cNvGrpSpPr/>
        <p:nvPr/>
      </p:nvGrpSpPr>
      <p:grpSpPr>
        <a:xfrm>
          <a:off x="0" y="0"/>
          <a:ext cx="0" cy="0"/>
          <a:chOff x="0" y="0"/>
          <a:chExt cx="0" cy="0"/>
        </a:xfrm>
      </p:grpSpPr>
      <p:pic>
        <p:nvPicPr>
          <p:cNvPr id="39" name="Google Shape;39;p34"/>
          <p:cNvPicPr preferRelativeResize="0"/>
          <p:nvPr/>
        </p:nvPicPr>
        <p:blipFill rotWithShape="1">
          <a:blip r:embed="rId2">
            <a:alphaModFix/>
          </a:blip>
          <a:srcRect b="0" l="0" r="0" t="0"/>
          <a:stretch/>
        </p:blipFill>
        <p:spPr>
          <a:xfrm rot="10800000">
            <a:off x="-12" y="0"/>
            <a:ext cx="3890275" cy="5143501"/>
          </a:xfrm>
          <a:prstGeom prst="rect">
            <a:avLst/>
          </a:prstGeom>
          <a:noFill/>
          <a:ln>
            <a:noFill/>
          </a:ln>
        </p:spPr>
      </p:pic>
      <p:sp>
        <p:nvSpPr>
          <p:cNvPr id="40" name="Google Shape;40;p34"/>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34"/>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pic>
        <p:nvPicPr>
          <p:cNvPr descr="TTN Logo.png" id="42" name="Google Shape;42;p34"/>
          <p:cNvPicPr preferRelativeResize="0"/>
          <p:nvPr/>
        </p:nvPicPr>
        <p:blipFill rotWithShape="1">
          <a:blip r:embed="rId3">
            <a:alphaModFix/>
          </a:blip>
          <a:srcRect b="0" l="0" r="0" t="0"/>
          <a:stretch/>
        </p:blipFill>
        <p:spPr>
          <a:xfrm>
            <a:off x="8414781" y="117828"/>
            <a:ext cx="625544" cy="349439"/>
          </a:xfrm>
          <a:prstGeom prst="rect">
            <a:avLst/>
          </a:prstGeom>
          <a:noFill/>
          <a:ln>
            <a:noFill/>
          </a:ln>
        </p:spPr>
      </p:pic>
      <p:cxnSp>
        <p:nvCxnSpPr>
          <p:cNvPr id="43" name="Google Shape;43;p34"/>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44" name="Google Shape;44;p34"/>
          <p:cNvPicPr preferRelativeResize="0"/>
          <p:nvPr/>
        </p:nvPicPr>
        <p:blipFill rotWithShape="1">
          <a:blip r:embed="rId4">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5">
  <p:cSld name="TITLE_5">
    <p:spTree>
      <p:nvGrpSpPr>
        <p:cNvPr id="45" name="Shape 45"/>
        <p:cNvGrpSpPr/>
        <p:nvPr/>
      </p:nvGrpSpPr>
      <p:grpSpPr>
        <a:xfrm>
          <a:off x="0" y="0"/>
          <a:ext cx="0" cy="0"/>
          <a:chOff x="0" y="0"/>
          <a:chExt cx="0" cy="0"/>
        </a:xfrm>
      </p:grpSpPr>
      <p:sp>
        <p:nvSpPr>
          <p:cNvPr id="46" name="Google Shape;46;p3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47" name="Google Shape;47;p35"/>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9pPr>
          </a:lstStyle>
          <a:p/>
        </p:txBody>
      </p:sp>
      <p:sp>
        <p:nvSpPr>
          <p:cNvPr id="48" name="Google Shape;48;p35"/>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p:cSld name="CUSTOM_6_1_1_1_1_1_1_1_2_1_2_1">
    <p:bg>
      <p:bgPr>
        <a:noFill/>
      </p:bgPr>
    </p:bg>
    <p:spTree>
      <p:nvGrpSpPr>
        <p:cNvPr id="49" name="Shape 49"/>
        <p:cNvGrpSpPr/>
        <p:nvPr/>
      </p:nvGrpSpPr>
      <p:grpSpPr>
        <a:xfrm>
          <a:off x="0" y="0"/>
          <a:ext cx="0" cy="0"/>
          <a:chOff x="0" y="0"/>
          <a:chExt cx="0" cy="0"/>
        </a:xfrm>
      </p:grpSpPr>
      <p:pic>
        <p:nvPicPr>
          <p:cNvPr id="50" name="Google Shape;50;p37"/>
          <p:cNvPicPr preferRelativeResize="0"/>
          <p:nvPr/>
        </p:nvPicPr>
        <p:blipFill rotWithShape="1">
          <a:blip r:embed="rId2">
            <a:alphaModFix/>
          </a:blip>
          <a:srcRect b="2519" l="41915" r="12791" t="6877"/>
          <a:stretch/>
        </p:blipFill>
        <p:spPr>
          <a:xfrm>
            <a:off x="5286150" y="0"/>
            <a:ext cx="3857848" cy="5143501"/>
          </a:xfrm>
          <a:prstGeom prst="rect">
            <a:avLst/>
          </a:prstGeom>
          <a:noFill/>
          <a:ln>
            <a:noFill/>
          </a:ln>
        </p:spPr>
      </p:pic>
      <p:sp>
        <p:nvSpPr>
          <p:cNvPr id="51" name="Google Shape;51;p37"/>
          <p:cNvSpPr/>
          <p:nvPr/>
        </p:nvSpPr>
        <p:spPr>
          <a:xfrm>
            <a:off x="0" y="-25"/>
            <a:ext cx="6464700" cy="5143500"/>
          </a:xfrm>
          <a:prstGeom prst="snip1Rect">
            <a:avLst>
              <a:gd fmla="val 1829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2" name="Google Shape;52;p37"/>
          <p:cNvCxnSpPr/>
          <p:nvPr/>
        </p:nvCxnSpPr>
        <p:spPr>
          <a:xfrm>
            <a:off x="6406775" y="3956400"/>
            <a:ext cx="0" cy="1187100"/>
          </a:xfrm>
          <a:prstGeom prst="straightConnector1">
            <a:avLst/>
          </a:prstGeom>
          <a:noFill/>
          <a:ln cap="flat" cmpd="sng" w="114300">
            <a:solidFill>
              <a:schemeClr val="accent3"/>
            </a:solidFill>
            <a:prstDash val="solid"/>
            <a:round/>
            <a:headEnd len="sm" w="sm" type="none"/>
            <a:tailEnd len="sm" w="sm" type="none"/>
          </a:ln>
        </p:spPr>
      </p:cxnSp>
      <p:pic>
        <p:nvPicPr>
          <p:cNvPr id="53" name="Google Shape;53;p37"/>
          <p:cNvPicPr preferRelativeResize="0"/>
          <p:nvPr/>
        </p:nvPicPr>
        <p:blipFill rotWithShape="1">
          <a:blip r:embed="rId3">
            <a:alphaModFix/>
          </a:blip>
          <a:srcRect b="56881" l="299" r="0" t="4"/>
          <a:stretch/>
        </p:blipFill>
        <p:spPr>
          <a:xfrm>
            <a:off x="-7475" y="5125600"/>
            <a:ext cx="9151474" cy="17899"/>
          </a:xfrm>
          <a:prstGeom prst="rect">
            <a:avLst/>
          </a:prstGeom>
          <a:noFill/>
          <a:ln>
            <a:noFill/>
          </a:ln>
        </p:spPr>
      </p:pic>
      <p:pic>
        <p:nvPicPr>
          <p:cNvPr id="54" name="Google Shape;54;p37"/>
          <p:cNvPicPr preferRelativeResize="0"/>
          <p:nvPr/>
        </p:nvPicPr>
        <p:blipFill rotWithShape="1">
          <a:blip r:embed="rId4">
            <a:alphaModFix/>
          </a:blip>
          <a:srcRect b="3747" l="0" r="0" t="3738"/>
          <a:stretch/>
        </p:blipFill>
        <p:spPr>
          <a:xfrm>
            <a:off x="5628871" y="4764214"/>
            <a:ext cx="527963" cy="207109"/>
          </a:xfrm>
          <a:prstGeom prst="rect">
            <a:avLst/>
          </a:prstGeom>
          <a:noFill/>
          <a:ln>
            <a:noFill/>
          </a:ln>
        </p:spPr>
      </p:pic>
      <p:pic>
        <p:nvPicPr>
          <p:cNvPr id="55" name="Google Shape;55;p37"/>
          <p:cNvPicPr preferRelativeResize="0"/>
          <p:nvPr/>
        </p:nvPicPr>
        <p:blipFill rotWithShape="1">
          <a:blip r:embed="rId5">
            <a:alphaModFix/>
          </a:blip>
          <a:srcRect b="0" l="0" r="0" t="0"/>
          <a:stretch/>
        </p:blipFill>
        <p:spPr>
          <a:xfrm>
            <a:off x="4492492" y="4767423"/>
            <a:ext cx="1005406" cy="200690"/>
          </a:xfrm>
          <a:prstGeom prst="rect">
            <a:avLst/>
          </a:prstGeom>
          <a:noFill/>
          <a:ln>
            <a:noFill/>
          </a:ln>
        </p:spPr>
      </p:pic>
      <p:sp>
        <p:nvSpPr>
          <p:cNvPr id="56" name="Google Shape;56;p37"/>
          <p:cNvSpPr txBox="1"/>
          <p:nvPr/>
        </p:nvSpPr>
        <p:spPr>
          <a:xfrm>
            <a:off x="160663" y="4752390"/>
            <a:ext cx="1432800" cy="230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Proudly recognised by</a:t>
            </a:r>
            <a:endParaRPr b="0" i="0" sz="800" u="none" cap="none" strike="noStrike">
              <a:solidFill>
                <a:srgbClr val="000000"/>
              </a:solidFill>
              <a:latin typeface="Montserrat"/>
              <a:ea typeface="Montserrat"/>
              <a:cs typeface="Montserrat"/>
              <a:sym typeface="Montserrat"/>
            </a:endParaRPr>
          </a:p>
        </p:txBody>
      </p:sp>
      <p:cxnSp>
        <p:nvCxnSpPr>
          <p:cNvPr id="57" name="Google Shape;57;p37"/>
          <p:cNvCxnSpPr/>
          <p:nvPr/>
        </p:nvCxnSpPr>
        <p:spPr>
          <a:xfrm>
            <a:off x="1434913" y="4877373"/>
            <a:ext cx="329100" cy="0"/>
          </a:xfrm>
          <a:prstGeom prst="straightConnector1">
            <a:avLst/>
          </a:prstGeom>
          <a:noFill/>
          <a:ln cap="flat" cmpd="sng" w="9525">
            <a:solidFill>
              <a:srgbClr val="D41883"/>
            </a:solidFill>
            <a:prstDash val="solid"/>
            <a:round/>
            <a:headEnd len="sm" w="sm" type="none"/>
            <a:tailEnd len="med" w="med" type="oval"/>
          </a:ln>
        </p:spPr>
      </p:cxnSp>
      <p:cxnSp>
        <p:nvCxnSpPr>
          <p:cNvPr id="58" name="Google Shape;58;p37"/>
          <p:cNvCxnSpPr/>
          <p:nvPr/>
        </p:nvCxnSpPr>
        <p:spPr>
          <a:xfrm>
            <a:off x="2619072" y="4811830"/>
            <a:ext cx="0" cy="158700"/>
          </a:xfrm>
          <a:prstGeom prst="straightConnector1">
            <a:avLst/>
          </a:prstGeom>
          <a:noFill/>
          <a:ln cap="flat" cmpd="sng" w="9525">
            <a:solidFill>
              <a:srgbClr val="999999"/>
            </a:solidFill>
            <a:prstDash val="dot"/>
            <a:round/>
            <a:headEnd len="sm" w="sm" type="none"/>
            <a:tailEnd len="sm" w="sm" type="none"/>
          </a:ln>
        </p:spPr>
      </p:cxnSp>
      <p:pic>
        <p:nvPicPr>
          <p:cNvPr id="59" name="Google Shape;59;p37"/>
          <p:cNvPicPr preferRelativeResize="0"/>
          <p:nvPr/>
        </p:nvPicPr>
        <p:blipFill rotWithShape="1">
          <a:blip r:embed="rId6">
            <a:alphaModFix/>
          </a:blip>
          <a:srcRect b="0" l="0" r="0" t="0"/>
          <a:stretch/>
        </p:blipFill>
        <p:spPr>
          <a:xfrm>
            <a:off x="3582794" y="4773820"/>
            <a:ext cx="772999" cy="207102"/>
          </a:xfrm>
          <a:prstGeom prst="rect">
            <a:avLst/>
          </a:prstGeom>
          <a:noFill/>
          <a:ln>
            <a:noFill/>
          </a:ln>
        </p:spPr>
      </p:pic>
      <p:cxnSp>
        <p:nvCxnSpPr>
          <p:cNvPr id="60" name="Google Shape;60;p37"/>
          <p:cNvCxnSpPr/>
          <p:nvPr/>
        </p:nvCxnSpPr>
        <p:spPr>
          <a:xfrm>
            <a:off x="3524628" y="4805984"/>
            <a:ext cx="0" cy="158700"/>
          </a:xfrm>
          <a:prstGeom prst="straightConnector1">
            <a:avLst/>
          </a:prstGeom>
          <a:noFill/>
          <a:ln cap="flat" cmpd="sng" w="9525">
            <a:solidFill>
              <a:srgbClr val="999999"/>
            </a:solidFill>
            <a:prstDash val="dot"/>
            <a:round/>
            <a:headEnd len="sm" w="sm" type="none"/>
            <a:tailEnd len="sm" w="sm" type="none"/>
          </a:ln>
        </p:spPr>
      </p:cxnSp>
      <p:cxnSp>
        <p:nvCxnSpPr>
          <p:cNvPr id="61" name="Google Shape;61;p37"/>
          <p:cNvCxnSpPr/>
          <p:nvPr/>
        </p:nvCxnSpPr>
        <p:spPr>
          <a:xfrm>
            <a:off x="4413966" y="4811830"/>
            <a:ext cx="0" cy="158700"/>
          </a:xfrm>
          <a:prstGeom prst="straightConnector1">
            <a:avLst/>
          </a:prstGeom>
          <a:noFill/>
          <a:ln cap="flat" cmpd="sng" w="9525">
            <a:solidFill>
              <a:srgbClr val="999999"/>
            </a:solidFill>
            <a:prstDash val="dot"/>
            <a:round/>
            <a:headEnd len="sm" w="sm" type="none"/>
            <a:tailEnd len="sm" w="sm" type="none"/>
          </a:ln>
        </p:spPr>
      </p:cxnSp>
      <p:cxnSp>
        <p:nvCxnSpPr>
          <p:cNvPr id="62" name="Google Shape;62;p37"/>
          <p:cNvCxnSpPr/>
          <p:nvPr/>
        </p:nvCxnSpPr>
        <p:spPr>
          <a:xfrm>
            <a:off x="5542956" y="4811830"/>
            <a:ext cx="0" cy="158700"/>
          </a:xfrm>
          <a:prstGeom prst="straightConnector1">
            <a:avLst/>
          </a:prstGeom>
          <a:noFill/>
          <a:ln cap="flat" cmpd="sng" w="9525">
            <a:solidFill>
              <a:srgbClr val="999999"/>
            </a:solidFill>
            <a:prstDash val="dot"/>
            <a:round/>
            <a:headEnd len="sm" w="sm" type="none"/>
            <a:tailEnd len="sm" w="sm" type="none"/>
          </a:ln>
        </p:spPr>
      </p:cxnSp>
      <p:pic>
        <p:nvPicPr>
          <p:cNvPr id="63" name="Google Shape;63;p37"/>
          <p:cNvPicPr preferRelativeResize="0"/>
          <p:nvPr/>
        </p:nvPicPr>
        <p:blipFill rotWithShape="1">
          <a:blip r:embed="rId7">
            <a:alphaModFix/>
          </a:blip>
          <a:srcRect b="0" l="0" r="0" t="0"/>
          <a:stretch/>
        </p:blipFill>
        <p:spPr>
          <a:xfrm>
            <a:off x="1835298" y="4767421"/>
            <a:ext cx="711135" cy="200693"/>
          </a:xfrm>
          <a:prstGeom prst="rect">
            <a:avLst/>
          </a:prstGeom>
          <a:noFill/>
          <a:ln>
            <a:noFill/>
          </a:ln>
        </p:spPr>
      </p:pic>
      <p:pic>
        <p:nvPicPr>
          <p:cNvPr id="64" name="Google Shape;64;p37"/>
          <p:cNvPicPr preferRelativeResize="0"/>
          <p:nvPr/>
        </p:nvPicPr>
        <p:blipFill rotWithShape="1">
          <a:blip r:embed="rId8">
            <a:alphaModFix/>
          </a:blip>
          <a:srcRect b="0" l="0" r="0" t="0"/>
          <a:stretch/>
        </p:blipFill>
        <p:spPr>
          <a:xfrm>
            <a:off x="2709573" y="4788445"/>
            <a:ext cx="730426" cy="158646"/>
          </a:xfrm>
          <a:prstGeom prst="rect">
            <a:avLst/>
          </a:prstGeom>
          <a:noFill/>
          <a:ln>
            <a:noFill/>
          </a:ln>
        </p:spPr>
      </p:pic>
      <p:pic>
        <p:nvPicPr>
          <p:cNvPr id="65" name="Google Shape;65;p37"/>
          <p:cNvPicPr preferRelativeResize="0"/>
          <p:nvPr/>
        </p:nvPicPr>
        <p:blipFill rotWithShape="1">
          <a:blip r:embed="rId9">
            <a:alphaModFix/>
          </a:blip>
          <a:srcRect b="0" l="0" r="0" t="0"/>
          <a:stretch/>
        </p:blipFill>
        <p:spPr>
          <a:xfrm>
            <a:off x="1238250" y="271780"/>
            <a:ext cx="1380825" cy="706105"/>
          </a:xfrm>
          <a:prstGeom prst="rect">
            <a:avLst/>
          </a:prstGeom>
          <a:noFill/>
          <a:ln>
            <a:noFill/>
          </a:ln>
        </p:spPr>
      </p:pic>
      <p:pic>
        <p:nvPicPr>
          <p:cNvPr id="66" name="Google Shape;66;p37"/>
          <p:cNvPicPr preferRelativeResize="0"/>
          <p:nvPr/>
        </p:nvPicPr>
        <p:blipFill rotWithShape="1">
          <a:blip r:embed="rId10">
            <a:alphaModFix/>
          </a:blip>
          <a:srcRect b="0" l="0" r="0" t="0"/>
          <a:stretch/>
        </p:blipFill>
        <p:spPr>
          <a:xfrm>
            <a:off x="190536" y="188515"/>
            <a:ext cx="941500" cy="1410499"/>
          </a:xfrm>
          <a:prstGeom prst="rect">
            <a:avLst/>
          </a:prstGeom>
          <a:noFill/>
          <a:ln>
            <a:noFill/>
          </a:ln>
        </p:spPr>
      </p:pic>
      <p:sp>
        <p:nvSpPr>
          <p:cNvPr id="67" name="Google Shape;67;p37"/>
          <p:cNvSpPr txBox="1"/>
          <p:nvPr>
            <p:ph type="title"/>
          </p:nvPr>
        </p:nvSpPr>
        <p:spPr>
          <a:xfrm>
            <a:off x="283675" y="2500825"/>
            <a:ext cx="5466600" cy="11346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1pPr>
            <a:lvl2pPr lvl="1"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2pPr>
            <a:lvl3pPr lvl="2"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3pPr>
            <a:lvl4pPr lvl="3"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4pPr>
            <a:lvl5pPr lvl="4"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5pPr>
            <a:lvl6pPr lvl="5"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6pPr>
            <a:lvl7pPr lvl="6"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7pPr>
            <a:lvl8pPr lvl="7"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8pPr>
            <a:lvl9pPr lvl="8"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Slide">
  <p:cSld name="CUSTOM_6_1_1_1_1_1_1_1_2_1_2_1_1_1">
    <p:bg>
      <p:bgPr>
        <a:noFill/>
      </p:bgPr>
    </p:bg>
    <p:spTree>
      <p:nvGrpSpPr>
        <p:cNvPr id="68" name="Shape 68"/>
        <p:cNvGrpSpPr/>
        <p:nvPr/>
      </p:nvGrpSpPr>
      <p:grpSpPr>
        <a:xfrm>
          <a:off x="0" y="0"/>
          <a:ext cx="0" cy="0"/>
          <a:chOff x="0" y="0"/>
          <a:chExt cx="0" cy="0"/>
        </a:xfrm>
      </p:grpSpPr>
      <p:pic>
        <p:nvPicPr>
          <p:cNvPr id="69" name="Google Shape;69;p38"/>
          <p:cNvPicPr preferRelativeResize="0"/>
          <p:nvPr/>
        </p:nvPicPr>
        <p:blipFill rotWithShape="1">
          <a:blip r:embed="rId2">
            <a:alphaModFix/>
          </a:blip>
          <a:srcRect b="0" l="-10120" r="10120" t="0"/>
          <a:stretch/>
        </p:blipFill>
        <p:spPr>
          <a:xfrm>
            <a:off x="0" y="-7476"/>
            <a:ext cx="9143956" cy="5143501"/>
          </a:xfrm>
          <a:prstGeom prst="rect">
            <a:avLst/>
          </a:prstGeom>
          <a:noFill/>
          <a:ln>
            <a:noFill/>
          </a:ln>
        </p:spPr>
      </p:pic>
      <p:pic>
        <p:nvPicPr>
          <p:cNvPr descr="TTN Logo.png" id="70" name="Google Shape;70;p38"/>
          <p:cNvPicPr preferRelativeResize="0"/>
          <p:nvPr/>
        </p:nvPicPr>
        <p:blipFill rotWithShape="1">
          <a:blip r:embed="rId3">
            <a:alphaModFix/>
          </a:blip>
          <a:srcRect b="0" l="0" r="0" t="0"/>
          <a:stretch/>
        </p:blipFill>
        <p:spPr>
          <a:xfrm>
            <a:off x="8295649" y="178006"/>
            <a:ext cx="648924" cy="362494"/>
          </a:xfrm>
          <a:prstGeom prst="rect">
            <a:avLst/>
          </a:prstGeom>
          <a:noFill/>
          <a:ln>
            <a:noFill/>
          </a:ln>
        </p:spPr>
      </p:pic>
      <p:sp>
        <p:nvSpPr>
          <p:cNvPr id="71" name="Google Shape;71;p38"/>
          <p:cNvSpPr/>
          <p:nvPr/>
        </p:nvSpPr>
        <p:spPr>
          <a:xfrm>
            <a:off x="3929500" y="2179825"/>
            <a:ext cx="559800" cy="559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 Black logo 1 1 1 1 1 1 1 2 1 2 1">
  <p:cSld name="CUSTOM_6_1_1_1_1_1_1_1_2_1_2_1_1">
    <p:bg>
      <p:bgPr>
        <a:noFill/>
      </p:bgPr>
    </p:bg>
    <p:spTree>
      <p:nvGrpSpPr>
        <p:cNvPr id="72" name="Shape 72"/>
        <p:cNvGrpSpPr/>
        <p:nvPr/>
      </p:nvGrpSpPr>
      <p:grpSpPr>
        <a:xfrm>
          <a:off x="0" y="0"/>
          <a:ext cx="0" cy="0"/>
          <a:chOff x="0" y="0"/>
          <a:chExt cx="0" cy="0"/>
        </a:xfrm>
      </p:grpSpPr>
      <p:pic>
        <p:nvPicPr>
          <p:cNvPr id="73" name="Google Shape;73;p39"/>
          <p:cNvPicPr preferRelativeResize="0"/>
          <p:nvPr/>
        </p:nvPicPr>
        <p:blipFill rotWithShape="1">
          <a:blip r:embed="rId2">
            <a:alphaModFix/>
          </a:blip>
          <a:srcRect b="2519" l="41915" r="12791" t="6877"/>
          <a:stretch/>
        </p:blipFill>
        <p:spPr>
          <a:xfrm>
            <a:off x="5286150" y="0"/>
            <a:ext cx="3857848" cy="5143501"/>
          </a:xfrm>
          <a:prstGeom prst="rect">
            <a:avLst/>
          </a:prstGeom>
          <a:noFill/>
          <a:ln>
            <a:noFill/>
          </a:ln>
        </p:spPr>
      </p:pic>
      <p:sp>
        <p:nvSpPr>
          <p:cNvPr id="74" name="Google Shape;74;p3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39"/>
          <p:cNvSpPr/>
          <p:nvPr/>
        </p:nvSpPr>
        <p:spPr>
          <a:xfrm>
            <a:off x="0" y="-25"/>
            <a:ext cx="6464700" cy="5143500"/>
          </a:xfrm>
          <a:prstGeom prst="snip1Rect">
            <a:avLst>
              <a:gd fmla="val 1829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6" name="Google Shape;76;p39"/>
          <p:cNvCxnSpPr/>
          <p:nvPr/>
        </p:nvCxnSpPr>
        <p:spPr>
          <a:xfrm>
            <a:off x="6406775" y="3956400"/>
            <a:ext cx="0" cy="1187100"/>
          </a:xfrm>
          <a:prstGeom prst="straightConnector1">
            <a:avLst/>
          </a:prstGeom>
          <a:noFill/>
          <a:ln cap="flat" cmpd="sng" w="114300">
            <a:solidFill>
              <a:schemeClr val="accent3"/>
            </a:solidFill>
            <a:prstDash val="solid"/>
            <a:round/>
            <a:headEnd len="sm" w="sm" type="none"/>
            <a:tailEnd len="sm" w="sm" type="none"/>
          </a:ln>
        </p:spPr>
      </p:cxnSp>
      <p:pic>
        <p:nvPicPr>
          <p:cNvPr id="77" name="Google Shape;77;p39"/>
          <p:cNvPicPr preferRelativeResize="0"/>
          <p:nvPr/>
        </p:nvPicPr>
        <p:blipFill rotWithShape="1">
          <a:blip r:embed="rId3">
            <a:alphaModFix/>
          </a:blip>
          <a:srcRect b="56881" l="299" r="0" t="4"/>
          <a:stretch/>
        </p:blipFill>
        <p:spPr>
          <a:xfrm>
            <a:off x="-7475" y="5125600"/>
            <a:ext cx="9151474" cy="17899"/>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4">
  <p:cSld name="TITLE_AND_TWO_COLUMNS_1_2_7">
    <p:spTree>
      <p:nvGrpSpPr>
        <p:cNvPr id="78" name="Shape 78"/>
        <p:cNvGrpSpPr/>
        <p:nvPr/>
      </p:nvGrpSpPr>
      <p:grpSpPr>
        <a:xfrm>
          <a:off x="0" y="0"/>
          <a:ext cx="0" cy="0"/>
          <a:chOff x="0" y="0"/>
          <a:chExt cx="0" cy="0"/>
        </a:xfrm>
      </p:grpSpPr>
      <p:sp>
        <p:nvSpPr>
          <p:cNvPr id="79" name="Google Shape;79;p40"/>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80" name="Google Shape;80;p40"/>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81" name="Google Shape;81;p40"/>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82" name="Google Shape;82;p40"/>
          <p:cNvPicPr preferRelativeResize="0"/>
          <p:nvPr/>
        </p:nvPicPr>
        <p:blipFill rotWithShape="1">
          <a:blip r:embed="rId3">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2">
  <p:cSld name="TITLE_AND_TWO_COLUMNS_1_2_9">
    <p:spTree>
      <p:nvGrpSpPr>
        <p:cNvPr id="83" name="Shape 83"/>
        <p:cNvGrpSpPr/>
        <p:nvPr/>
      </p:nvGrpSpPr>
      <p:grpSpPr>
        <a:xfrm>
          <a:off x="0" y="0"/>
          <a:ext cx="0" cy="0"/>
          <a:chOff x="0" y="0"/>
          <a:chExt cx="0" cy="0"/>
        </a:xfrm>
      </p:grpSpPr>
      <p:sp>
        <p:nvSpPr>
          <p:cNvPr id="84" name="Google Shape;84;p41"/>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85" name="Google Shape;85;p41"/>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86" name="Google Shape;86;p41"/>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87" name="Google Shape;87;p41"/>
          <p:cNvPicPr preferRelativeResize="0"/>
          <p:nvPr/>
        </p:nvPicPr>
        <p:blipFill rotWithShape="1">
          <a:blip r:embed="rId3">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3">
  <p:cSld name="TITLE_AND_TWO_COLUMNS_1_2_10">
    <p:spTree>
      <p:nvGrpSpPr>
        <p:cNvPr id="88" name="Shape 88"/>
        <p:cNvGrpSpPr/>
        <p:nvPr/>
      </p:nvGrpSpPr>
      <p:grpSpPr>
        <a:xfrm>
          <a:off x="0" y="0"/>
          <a:ext cx="0" cy="0"/>
          <a:chOff x="0" y="0"/>
          <a:chExt cx="0" cy="0"/>
        </a:xfrm>
      </p:grpSpPr>
      <p:sp>
        <p:nvSpPr>
          <p:cNvPr id="89" name="Google Shape;89;p42"/>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90" name="Google Shape;90;p42"/>
          <p:cNvPicPr preferRelativeResize="0"/>
          <p:nvPr/>
        </p:nvPicPr>
        <p:blipFill rotWithShape="1">
          <a:blip r:embed="rId2">
            <a:alphaModFix/>
          </a:blip>
          <a:srcRect b="0" l="0" r="0" t="0"/>
          <a:stretch/>
        </p:blipFill>
        <p:spPr>
          <a:xfrm>
            <a:off x="8295649" y="178006"/>
            <a:ext cx="648924" cy="36249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1 1">
  <p:cSld name="TITLE_AND_TWO_COLUMNS_2_1_1_1">
    <p:spTree>
      <p:nvGrpSpPr>
        <p:cNvPr id="91" name="Shape 91"/>
        <p:cNvGrpSpPr/>
        <p:nvPr/>
      </p:nvGrpSpPr>
      <p:grpSpPr>
        <a:xfrm>
          <a:off x="0" y="0"/>
          <a:ext cx="0" cy="0"/>
          <a:chOff x="0" y="0"/>
          <a:chExt cx="0" cy="0"/>
        </a:xfrm>
      </p:grpSpPr>
      <p:pic>
        <p:nvPicPr>
          <p:cNvPr id="92" name="Google Shape;92;p43"/>
          <p:cNvPicPr preferRelativeResize="0"/>
          <p:nvPr/>
        </p:nvPicPr>
        <p:blipFill rotWithShape="1">
          <a:blip r:embed="rId2">
            <a:alphaModFix/>
          </a:blip>
          <a:srcRect b="0" l="0" r="0" t="0"/>
          <a:stretch/>
        </p:blipFill>
        <p:spPr>
          <a:xfrm rot="10800000">
            <a:off x="-12" y="0"/>
            <a:ext cx="3890275" cy="5143501"/>
          </a:xfrm>
          <a:prstGeom prst="rect">
            <a:avLst/>
          </a:prstGeom>
          <a:noFill/>
          <a:ln>
            <a:noFill/>
          </a:ln>
        </p:spPr>
      </p:pic>
      <p:sp>
        <p:nvSpPr>
          <p:cNvPr id="93" name="Google Shape;93;p4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4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sp>
        <p:nvSpPr>
          <p:cNvPr id="95" name="Google Shape;95;p4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pic>
        <p:nvPicPr>
          <p:cNvPr descr="TTN Logo.png" id="96" name="Google Shape;96;p43"/>
          <p:cNvPicPr preferRelativeResize="0"/>
          <p:nvPr/>
        </p:nvPicPr>
        <p:blipFill rotWithShape="1">
          <a:blip r:embed="rId3">
            <a:alphaModFix/>
          </a:blip>
          <a:srcRect b="0" l="0" r="0" t="0"/>
          <a:stretch/>
        </p:blipFill>
        <p:spPr>
          <a:xfrm>
            <a:off x="8414781" y="117828"/>
            <a:ext cx="625544" cy="349439"/>
          </a:xfrm>
          <a:prstGeom prst="rect">
            <a:avLst/>
          </a:prstGeom>
          <a:noFill/>
          <a:ln>
            <a:noFill/>
          </a:ln>
        </p:spPr>
      </p:pic>
      <p:cxnSp>
        <p:nvCxnSpPr>
          <p:cNvPr id="97" name="Google Shape;97;p43"/>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98" name="Google Shape;98;p43"/>
          <p:cNvPicPr preferRelativeResize="0"/>
          <p:nvPr/>
        </p:nvPicPr>
        <p:blipFill rotWithShape="1">
          <a:blip r:embed="rId4">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3" name="Shape 103"/>
        <p:cNvGrpSpPr/>
        <p:nvPr/>
      </p:nvGrpSpPr>
      <p:grpSpPr>
        <a:xfrm>
          <a:off x="0" y="0"/>
          <a:ext cx="0" cy="0"/>
          <a:chOff x="0" y="0"/>
          <a:chExt cx="0" cy="0"/>
        </a:xfrm>
      </p:grpSpPr>
      <p:sp>
        <p:nvSpPr>
          <p:cNvPr id="104" name="Google Shape;104;p4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5" name="Google Shape;105;p4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6" name="Google Shape;106;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4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09" name="Google Shape;109;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0" name="Shape 110"/>
        <p:cNvGrpSpPr/>
        <p:nvPr/>
      </p:nvGrpSpPr>
      <p:grpSpPr>
        <a:xfrm>
          <a:off x="0" y="0"/>
          <a:ext cx="0" cy="0"/>
          <a:chOff x="0" y="0"/>
          <a:chExt cx="0" cy="0"/>
        </a:xfrm>
      </p:grpSpPr>
      <p:sp>
        <p:nvSpPr>
          <p:cNvPr id="111" name="Google Shape;111;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2" name="Google Shape;112;p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3" name="Google Shape;113;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4" name="Shape 114"/>
        <p:cNvGrpSpPr/>
        <p:nvPr/>
      </p:nvGrpSpPr>
      <p:grpSpPr>
        <a:xfrm>
          <a:off x="0" y="0"/>
          <a:ext cx="0" cy="0"/>
          <a:chOff x="0" y="0"/>
          <a:chExt cx="0" cy="0"/>
        </a:xfrm>
      </p:grpSpPr>
      <p:sp>
        <p:nvSpPr>
          <p:cNvPr id="115" name="Google Shape;115;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6" name="Google Shape;116;p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7" name="Google Shape;117;p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8" name="Google Shape;118;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9" name="Shape 119"/>
        <p:cNvGrpSpPr/>
        <p:nvPr/>
      </p:nvGrpSpPr>
      <p:grpSpPr>
        <a:xfrm>
          <a:off x="0" y="0"/>
          <a:ext cx="0" cy="0"/>
          <a:chOff x="0" y="0"/>
          <a:chExt cx="0" cy="0"/>
        </a:xfrm>
      </p:grpSpPr>
      <p:sp>
        <p:nvSpPr>
          <p:cNvPr id="120" name="Google Shape;120;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1" name="Google Shape;121;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2" name="Shape 122"/>
        <p:cNvGrpSpPr/>
        <p:nvPr/>
      </p:nvGrpSpPr>
      <p:grpSpPr>
        <a:xfrm>
          <a:off x="0" y="0"/>
          <a:ext cx="0" cy="0"/>
          <a:chOff x="0" y="0"/>
          <a:chExt cx="0" cy="0"/>
        </a:xfrm>
      </p:grpSpPr>
      <p:sp>
        <p:nvSpPr>
          <p:cNvPr id="123" name="Google Shape;123;p5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24" name="Google Shape;124;p5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25" name="Google Shape;125;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6" name="Shape 126"/>
        <p:cNvGrpSpPr/>
        <p:nvPr/>
      </p:nvGrpSpPr>
      <p:grpSpPr>
        <a:xfrm>
          <a:off x="0" y="0"/>
          <a:ext cx="0" cy="0"/>
          <a:chOff x="0" y="0"/>
          <a:chExt cx="0" cy="0"/>
        </a:xfrm>
      </p:grpSpPr>
      <p:sp>
        <p:nvSpPr>
          <p:cNvPr id="127" name="Google Shape;127;p5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28" name="Google Shape;128;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9" name="Shape 129"/>
        <p:cNvGrpSpPr/>
        <p:nvPr/>
      </p:nvGrpSpPr>
      <p:grpSpPr>
        <a:xfrm>
          <a:off x="0" y="0"/>
          <a:ext cx="0" cy="0"/>
          <a:chOff x="0" y="0"/>
          <a:chExt cx="0" cy="0"/>
        </a:xfrm>
      </p:grpSpPr>
      <p:sp>
        <p:nvSpPr>
          <p:cNvPr id="130" name="Google Shape;130;p5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5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32" name="Google Shape;132;p5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33" name="Google Shape;133;p5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4" name="Google Shape;134;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sp>
        <p:nvSpPr>
          <p:cNvPr id="136" name="Google Shape;136;p5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37" name="Google Shape;137;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8" name="Shape 138"/>
        <p:cNvGrpSpPr/>
        <p:nvPr/>
      </p:nvGrpSpPr>
      <p:grpSpPr>
        <a:xfrm>
          <a:off x="0" y="0"/>
          <a:ext cx="0" cy="0"/>
          <a:chOff x="0" y="0"/>
          <a:chExt cx="0" cy="0"/>
        </a:xfrm>
      </p:grpSpPr>
      <p:sp>
        <p:nvSpPr>
          <p:cNvPr id="139" name="Google Shape;139;p5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40" name="Google Shape;140;p5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41" name="Google Shape;141;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2" name="Shape 142"/>
        <p:cNvGrpSpPr/>
        <p:nvPr/>
      </p:nvGrpSpPr>
      <p:grpSpPr>
        <a:xfrm>
          <a:off x="0" y="0"/>
          <a:ext cx="0" cy="0"/>
          <a:chOff x="0" y="0"/>
          <a:chExt cx="0" cy="0"/>
        </a:xfrm>
      </p:grpSpPr>
      <p:sp>
        <p:nvSpPr>
          <p:cNvPr id="143" name="Google Shape;143;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2.png"/><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slideLayout" Target="../slideLayouts/slideLayout14.xml"/><Relationship Id="rId13"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29"/>
          <p:cNvPicPr preferRelativeResize="0"/>
          <p:nvPr/>
        </p:nvPicPr>
        <p:blipFill rotWithShape="1">
          <a:blip r:embed="rId1">
            <a:alphaModFix/>
          </a:blip>
          <a:srcRect b="0" l="0" r="0" t="0"/>
          <a:stretch/>
        </p:blipFill>
        <p:spPr>
          <a:xfrm>
            <a:off x="-10" y="5071684"/>
            <a:ext cx="9151473" cy="80441"/>
          </a:xfrm>
          <a:prstGeom prst="rect">
            <a:avLst/>
          </a:prstGeom>
          <a:noFill/>
          <a:ln>
            <a:noFill/>
          </a:ln>
        </p:spPr>
      </p:pic>
      <p:sp>
        <p:nvSpPr>
          <p:cNvPr id="7" name="Google Shape;7;p2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 name="Shape 27"/>
        <p:cNvGrpSpPr/>
        <p:nvPr/>
      </p:nvGrpSpPr>
      <p:grpSpPr>
        <a:xfrm>
          <a:off x="0" y="0"/>
          <a:ext cx="0" cy="0"/>
          <a:chOff x="0" y="0"/>
          <a:chExt cx="0" cy="0"/>
        </a:xfrm>
      </p:grpSpPr>
      <p:pic>
        <p:nvPicPr>
          <p:cNvPr id="28" name="Google Shape;28;p32"/>
          <p:cNvPicPr preferRelativeResize="0"/>
          <p:nvPr/>
        </p:nvPicPr>
        <p:blipFill rotWithShape="1">
          <a:blip r:embed="rId1">
            <a:alphaModFix/>
          </a:blip>
          <a:srcRect b="56881" l="299" r="0" t="4"/>
          <a:stretch/>
        </p:blipFill>
        <p:spPr>
          <a:xfrm>
            <a:off x="-7475" y="5125600"/>
            <a:ext cx="9151474" cy="17899"/>
          </a:xfrm>
          <a:prstGeom prst="rect">
            <a:avLst/>
          </a:prstGeom>
          <a:noFill/>
          <a:ln>
            <a:noFill/>
          </a:ln>
        </p:spPr>
      </p:pic>
      <p:pic>
        <p:nvPicPr>
          <p:cNvPr id="29" name="Google Shape;29;p32"/>
          <p:cNvPicPr preferRelativeResize="0"/>
          <p:nvPr/>
        </p:nvPicPr>
        <p:blipFill rotWithShape="1">
          <a:blip r:embed="rId2">
            <a:alphaModFix/>
          </a:blip>
          <a:srcRect b="0" l="0" r="0" t="0"/>
          <a:stretch/>
        </p:blipFill>
        <p:spPr>
          <a:xfrm>
            <a:off x="-10" y="5071684"/>
            <a:ext cx="9151473" cy="80441"/>
          </a:xfrm>
          <a:prstGeom prst="rect">
            <a:avLst/>
          </a:prstGeom>
          <a:noFill/>
          <a:ln>
            <a:noFill/>
          </a:ln>
        </p:spPr>
      </p:pic>
      <p:sp>
        <p:nvSpPr>
          <p:cNvPr id="30" name="Google Shape;30;p3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9" name="Shape 99"/>
        <p:cNvGrpSpPr/>
        <p:nvPr/>
      </p:nvGrpSpPr>
      <p:grpSpPr>
        <a:xfrm>
          <a:off x="0" y="0"/>
          <a:ext cx="0" cy="0"/>
          <a:chOff x="0" y="0"/>
          <a:chExt cx="0" cy="0"/>
        </a:xfrm>
      </p:grpSpPr>
      <p:sp>
        <p:nvSpPr>
          <p:cNvPr id="100" name="Google Shape;100;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01" name="Google Shape;101;p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02" name="Google Shape;102;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2.png"/><Relationship Id="rId9" Type="http://schemas.openxmlformats.org/officeDocument/2006/relationships/image" Target="../media/image16.png"/><Relationship Id="rId10" Type="http://schemas.openxmlformats.org/officeDocument/2006/relationships/image" Target="../media/image20.png"/><Relationship Id="rId11"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26.png"/><Relationship Id="rId5"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32.png"/><Relationship Id="rId4" Type="http://schemas.openxmlformats.org/officeDocument/2006/relationships/image" Target="../media/image28.png"/><Relationship Id="rId5" Type="http://schemas.openxmlformats.org/officeDocument/2006/relationships/image" Target="../media/image45.png"/><Relationship Id="rId6" Type="http://schemas.openxmlformats.org/officeDocument/2006/relationships/image" Target="../media/image33.png"/><Relationship Id="rId7" Type="http://schemas.openxmlformats.org/officeDocument/2006/relationships/image" Target="../media/image29.png"/><Relationship Id="rId8" Type="http://schemas.openxmlformats.org/officeDocument/2006/relationships/image" Target="../media/image27.png"/><Relationship Id="rId9" Type="http://schemas.openxmlformats.org/officeDocument/2006/relationships/image" Target="../media/image35.png"/><Relationship Id="rId10" Type="http://schemas.openxmlformats.org/officeDocument/2006/relationships/image" Target="../media/image15.png"/><Relationship Id="rId11"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31.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1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6.png"/><Relationship Id="rId4" Type="http://schemas.openxmlformats.org/officeDocument/2006/relationships/image" Target="../media/image39.png"/><Relationship Id="rId5" Type="http://schemas.openxmlformats.org/officeDocument/2006/relationships/image" Target="../media/image44.png"/><Relationship Id="rId6" Type="http://schemas.openxmlformats.org/officeDocument/2006/relationships/image" Target="../media/image38.png"/><Relationship Id="rId7" Type="http://schemas.openxmlformats.org/officeDocument/2006/relationships/image" Target="../media/image42.png"/><Relationship Id="rId8" Type="http://schemas.openxmlformats.org/officeDocument/2006/relationships/image" Target="../media/image41.png"/><Relationship Id="rId9" Type="http://schemas.openxmlformats.org/officeDocument/2006/relationships/image" Target="../media/image37.png"/><Relationship Id="rId10"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6.png"/><Relationship Id="rId4" Type="http://schemas.openxmlformats.org/officeDocument/2006/relationships/image" Target="../media/image40.png"/><Relationship Id="rId5" Type="http://schemas.openxmlformats.org/officeDocument/2006/relationships/image" Target="../media/image39.png"/><Relationship Id="rId6" Type="http://schemas.openxmlformats.org/officeDocument/2006/relationships/image" Target="../media/image44.png"/><Relationship Id="rId7" Type="http://schemas.openxmlformats.org/officeDocument/2006/relationships/image" Target="../media/image42.png"/><Relationship Id="rId8" Type="http://schemas.openxmlformats.org/officeDocument/2006/relationships/image" Target="../media/image41.png"/><Relationship Id="rId9" Type="http://schemas.openxmlformats.org/officeDocument/2006/relationships/image" Target="../media/image43.png"/><Relationship Id="rId10" Type="http://schemas.openxmlformats.org/officeDocument/2006/relationships/image" Target="../media/image46.png"/><Relationship Id="rId11"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6.png"/><Relationship Id="rId4" Type="http://schemas.openxmlformats.org/officeDocument/2006/relationships/image" Target="../media/image39.png"/><Relationship Id="rId5" Type="http://schemas.openxmlformats.org/officeDocument/2006/relationships/image" Target="../media/image44.png"/><Relationship Id="rId6" Type="http://schemas.openxmlformats.org/officeDocument/2006/relationships/image" Target="../media/image42.png"/><Relationship Id="rId7" Type="http://schemas.openxmlformats.org/officeDocument/2006/relationships/image" Target="../media/image41.png"/><Relationship Id="rId8" Type="http://schemas.openxmlformats.org/officeDocument/2006/relationships/image" Target="../media/image51.png"/><Relationship Id="rId9" Type="http://schemas.openxmlformats.org/officeDocument/2006/relationships/image" Target="../media/image49.png"/><Relationship Id="rId10" Type="http://schemas.openxmlformats.org/officeDocument/2006/relationships/image" Target="../media/image15.png"/><Relationship Id="rId11" Type="http://schemas.openxmlformats.org/officeDocument/2006/relationships/image" Target="../media/image47.png"/><Relationship Id="rId12" Type="http://schemas.openxmlformats.org/officeDocument/2006/relationships/image" Target="../media/image48.png"/><Relationship Id="rId13" Type="http://schemas.openxmlformats.org/officeDocument/2006/relationships/image" Target="../media/image5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2.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1"/>
          <p:cNvPicPr preferRelativeResize="0"/>
          <p:nvPr/>
        </p:nvPicPr>
        <p:blipFill rotWithShape="1">
          <a:blip r:embed="rId3">
            <a:alphaModFix/>
          </a:blip>
          <a:srcRect b="3747" l="0" r="0" t="3738"/>
          <a:stretch/>
        </p:blipFill>
        <p:spPr>
          <a:xfrm>
            <a:off x="5628871" y="4764214"/>
            <a:ext cx="527963" cy="207109"/>
          </a:xfrm>
          <a:prstGeom prst="rect">
            <a:avLst/>
          </a:prstGeom>
          <a:noFill/>
          <a:ln>
            <a:noFill/>
          </a:ln>
        </p:spPr>
      </p:pic>
      <p:pic>
        <p:nvPicPr>
          <p:cNvPr id="149" name="Google Shape;149;p1"/>
          <p:cNvPicPr preferRelativeResize="0"/>
          <p:nvPr/>
        </p:nvPicPr>
        <p:blipFill rotWithShape="1">
          <a:blip r:embed="rId4">
            <a:alphaModFix/>
          </a:blip>
          <a:srcRect b="0" l="0" r="0" t="0"/>
          <a:stretch/>
        </p:blipFill>
        <p:spPr>
          <a:xfrm>
            <a:off x="4492492" y="4767423"/>
            <a:ext cx="1005406" cy="200690"/>
          </a:xfrm>
          <a:prstGeom prst="rect">
            <a:avLst/>
          </a:prstGeom>
          <a:noFill/>
          <a:ln>
            <a:noFill/>
          </a:ln>
        </p:spPr>
      </p:pic>
      <p:sp>
        <p:nvSpPr>
          <p:cNvPr id="150" name="Google Shape;150;p1"/>
          <p:cNvSpPr txBox="1"/>
          <p:nvPr/>
        </p:nvSpPr>
        <p:spPr>
          <a:xfrm>
            <a:off x="160663" y="4752390"/>
            <a:ext cx="1432800" cy="230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Proudly recognised by</a:t>
            </a:r>
            <a:endParaRPr b="0" i="0" sz="800" u="none" cap="none" strike="noStrike">
              <a:solidFill>
                <a:srgbClr val="000000"/>
              </a:solidFill>
              <a:latin typeface="Montserrat"/>
              <a:ea typeface="Montserrat"/>
              <a:cs typeface="Montserrat"/>
              <a:sym typeface="Montserrat"/>
            </a:endParaRPr>
          </a:p>
        </p:txBody>
      </p:sp>
      <p:cxnSp>
        <p:nvCxnSpPr>
          <p:cNvPr id="151" name="Google Shape;151;p1"/>
          <p:cNvCxnSpPr/>
          <p:nvPr/>
        </p:nvCxnSpPr>
        <p:spPr>
          <a:xfrm>
            <a:off x="1434913" y="4877373"/>
            <a:ext cx="329100" cy="0"/>
          </a:xfrm>
          <a:prstGeom prst="straightConnector1">
            <a:avLst/>
          </a:prstGeom>
          <a:noFill/>
          <a:ln cap="flat" cmpd="sng" w="9525">
            <a:solidFill>
              <a:srgbClr val="D41883"/>
            </a:solidFill>
            <a:prstDash val="solid"/>
            <a:round/>
            <a:headEnd len="sm" w="sm" type="none"/>
            <a:tailEnd len="med" w="med" type="oval"/>
          </a:ln>
        </p:spPr>
      </p:cxnSp>
      <p:cxnSp>
        <p:nvCxnSpPr>
          <p:cNvPr id="152" name="Google Shape;152;p1"/>
          <p:cNvCxnSpPr/>
          <p:nvPr/>
        </p:nvCxnSpPr>
        <p:spPr>
          <a:xfrm>
            <a:off x="2619072" y="4811830"/>
            <a:ext cx="0" cy="158700"/>
          </a:xfrm>
          <a:prstGeom prst="straightConnector1">
            <a:avLst/>
          </a:prstGeom>
          <a:noFill/>
          <a:ln cap="flat" cmpd="sng" w="9525">
            <a:solidFill>
              <a:srgbClr val="999999"/>
            </a:solidFill>
            <a:prstDash val="dot"/>
            <a:round/>
            <a:headEnd len="sm" w="sm" type="none"/>
            <a:tailEnd len="sm" w="sm" type="none"/>
          </a:ln>
        </p:spPr>
      </p:cxnSp>
      <p:pic>
        <p:nvPicPr>
          <p:cNvPr id="153" name="Google Shape;153;p1"/>
          <p:cNvPicPr preferRelativeResize="0"/>
          <p:nvPr/>
        </p:nvPicPr>
        <p:blipFill rotWithShape="1">
          <a:blip r:embed="rId5">
            <a:alphaModFix/>
          </a:blip>
          <a:srcRect b="0" l="0" r="0" t="0"/>
          <a:stretch/>
        </p:blipFill>
        <p:spPr>
          <a:xfrm>
            <a:off x="3582794" y="4773820"/>
            <a:ext cx="772999" cy="207102"/>
          </a:xfrm>
          <a:prstGeom prst="rect">
            <a:avLst/>
          </a:prstGeom>
          <a:noFill/>
          <a:ln>
            <a:noFill/>
          </a:ln>
        </p:spPr>
      </p:pic>
      <p:cxnSp>
        <p:nvCxnSpPr>
          <p:cNvPr id="154" name="Google Shape;154;p1"/>
          <p:cNvCxnSpPr/>
          <p:nvPr/>
        </p:nvCxnSpPr>
        <p:spPr>
          <a:xfrm>
            <a:off x="3524628" y="4805984"/>
            <a:ext cx="0" cy="158700"/>
          </a:xfrm>
          <a:prstGeom prst="straightConnector1">
            <a:avLst/>
          </a:prstGeom>
          <a:noFill/>
          <a:ln cap="flat" cmpd="sng" w="9525">
            <a:solidFill>
              <a:srgbClr val="999999"/>
            </a:solidFill>
            <a:prstDash val="dot"/>
            <a:round/>
            <a:headEnd len="sm" w="sm" type="none"/>
            <a:tailEnd len="sm" w="sm" type="none"/>
          </a:ln>
        </p:spPr>
      </p:cxnSp>
      <p:cxnSp>
        <p:nvCxnSpPr>
          <p:cNvPr id="155" name="Google Shape;155;p1"/>
          <p:cNvCxnSpPr/>
          <p:nvPr/>
        </p:nvCxnSpPr>
        <p:spPr>
          <a:xfrm>
            <a:off x="4413966" y="4811830"/>
            <a:ext cx="0" cy="158700"/>
          </a:xfrm>
          <a:prstGeom prst="straightConnector1">
            <a:avLst/>
          </a:prstGeom>
          <a:noFill/>
          <a:ln cap="flat" cmpd="sng" w="9525">
            <a:solidFill>
              <a:srgbClr val="999999"/>
            </a:solidFill>
            <a:prstDash val="dot"/>
            <a:round/>
            <a:headEnd len="sm" w="sm" type="none"/>
            <a:tailEnd len="sm" w="sm" type="none"/>
          </a:ln>
        </p:spPr>
      </p:cxnSp>
      <p:cxnSp>
        <p:nvCxnSpPr>
          <p:cNvPr id="156" name="Google Shape;156;p1"/>
          <p:cNvCxnSpPr/>
          <p:nvPr/>
        </p:nvCxnSpPr>
        <p:spPr>
          <a:xfrm>
            <a:off x="5542956" y="4811830"/>
            <a:ext cx="0" cy="158700"/>
          </a:xfrm>
          <a:prstGeom prst="straightConnector1">
            <a:avLst/>
          </a:prstGeom>
          <a:noFill/>
          <a:ln cap="flat" cmpd="sng" w="9525">
            <a:solidFill>
              <a:srgbClr val="999999"/>
            </a:solidFill>
            <a:prstDash val="dot"/>
            <a:round/>
            <a:headEnd len="sm" w="sm" type="none"/>
            <a:tailEnd len="sm" w="sm" type="none"/>
          </a:ln>
        </p:spPr>
      </p:cxnSp>
      <p:pic>
        <p:nvPicPr>
          <p:cNvPr id="157" name="Google Shape;157;p1"/>
          <p:cNvPicPr preferRelativeResize="0"/>
          <p:nvPr/>
        </p:nvPicPr>
        <p:blipFill rotWithShape="1">
          <a:blip r:embed="rId6">
            <a:alphaModFix/>
          </a:blip>
          <a:srcRect b="0" l="0" r="0" t="0"/>
          <a:stretch/>
        </p:blipFill>
        <p:spPr>
          <a:xfrm>
            <a:off x="1835298" y="4767421"/>
            <a:ext cx="711135" cy="200693"/>
          </a:xfrm>
          <a:prstGeom prst="rect">
            <a:avLst/>
          </a:prstGeom>
          <a:noFill/>
          <a:ln>
            <a:noFill/>
          </a:ln>
        </p:spPr>
      </p:pic>
      <p:pic>
        <p:nvPicPr>
          <p:cNvPr id="158" name="Google Shape;158;p1"/>
          <p:cNvPicPr preferRelativeResize="0"/>
          <p:nvPr/>
        </p:nvPicPr>
        <p:blipFill rotWithShape="1">
          <a:blip r:embed="rId7">
            <a:alphaModFix/>
          </a:blip>
          <a:srcRect b="0" l="0" r="0" t="0"/>
          <a:stretch/>
        </p:blipFill>
        <p:spPr>
          <a:xfrm>
            <a:off x="2709573" y="4788445"/>
            <a:ext cx="730426" cy="158646"/>
          </a:xfrm>
          <a:prstGeom prst="rect">
            <a:avLst/>
          </a:prstGeom>
          <a:noFill/>
          <a:ln>
            <a:noFill/>
          </a:ln>
        </p:spPr>
      </p:pic>
      <p:pic>
        <p:nvPicPr>
          <p:cNvPr id="159" name="Google Shape;159;p1"/>
          <p:cNvPicPr preferRelativeResize="0"/>
          <p:nvPr/>
        </p:nvPicPr>
        <p:blipFill rotWithShape="1">
          <a:blip r:embed="rId8">
            <a:alphaModFix/>
          </a:blip>
          <a:srcRect b="0" l="0" r="0" t="0"/>
          <a:stretch/>
        </p:blipFill>
        <p:spPr>
          <a:xfrm>
            <a:off x="249975" y="246249"/>
            <a:ext cx="1145175" cy="585599"/>
          </a:xfrm>
          <a:prstGeom prst="rect">
            <a:avLst/>
          </a:prstGeom>
          <a:noFill/>
          <a:ln>
            <a:noFill/>
          </a:ln>
        </p:spPr>
      </p:pic>
      <p:sp>
        <p:nvSpPr>
          <p:cNvPr id="160" name="Google Shape;160;p1"/>
          <p:cNvSpPr txBox="1"/>
          <p:nvPr/>
        </p:nvSpPr>
        <p:spPr>
          <a:xfrm>
            <a:off x="452550" y="2096825"/>
            <a:ext cx="6849000" cy="2123700"/>
          </a:xfrm>
          <a:prstGeom prst="rect">
            <a:avLst/>
          </a:prstGeom>
          <a:noFill/>
          <a:ln>
            <a:noFill/>
          </a:ln>
        </p:spPr>
        <p:txBody>
          <a:bodyPr anchorCtr="0" anchor="t" bIns="91425" lIns="91425" spcFirstLastPara="1" rIns="91425" wrap="square" tIns="91425">
            <a:noAutofit/>
          </a:bodyPr>
          <a:lstStyle/>
          <a:p>
            <a:r>
              <a:t>TTN Proposal | RetailMax Group</a:t>
            </a:r>
          </a:p>
          <a:p>
            <a:r>
              <a:t>Date : 11 Sep 2026</a:t>
            </a:r>
          </a:p>
          <a:p>
            <a:r>
              <a:t>Ref : TRAIN-RFP-001</a:t>
            </a:r>
          </a:p>
        </p:txBody>
      </p:sp>
      <p:cxnSp>
        <p:nvCxnSpPr>
          <p:cNvPr id="161" name="Google Shape;161;p1"/>
          <p:cNvCxnSpPr/>
          <p:nvPr/>
        </p:nvCxnSpPr>
        <p:spPr>
          <a:xfrm>
            <a:off x="300149" y="2165563"/>
            <a:ext cx="0" cy="1057800"/>
          </a:xfrm>
          <a:prstGeom prst="straightConnector1">
            <a:avLst/>
          </a:prstGeom>
          <a:noFill/>
          <a:ln cap="flat" cmpd="sng" w="76200">
            <a:solidFill>
              <a:srgbClr val="5424A0"/>
            </a:solidFill>
            <a:prstDash val="solid"/>
            <a:round/>
            <a:headEnd len="sm" w="sm" type="none"/>
            <a:tailEnd len="sm" w="sm" type="none"/>
          </a:ln>
        </p:spPr>
      </p:cxnSp>
      <p:pic>
        <p:nvPicPr>
          <p:cNvPr id="162" name="Google Shape;162;p1"/>
          <p:cNvPicPr preferRelativeResize="0"/>
          <p:nvPr/>
        </p:nvPicPr>
        <p:blipFill rotWithShape="1">
          <a:blip r:embed="rId9">
            <a:alphaModFix/>
          </a:blip>
          <a:srcRect b="3131" l="0" r="0" t="3122"/>
          <a:stretch/>
        </p:blipFill>
        <p:spPr>
          <a:xfrm>
            <a:off x="5213775" y="246250"/>
            <a:ext cx="3634284" cy="585600"/>
          </a:xfrm>
          <a:prstGeom prst="rect">
            <a:avLst/>
          </a:prstGeom>
          <a:noFill/>
          <a:ln>
            <a:noFill/>
          </a:ln>
        </p:spPr>
      </p:pic>
      <p:pic>
        <p:nvPicPr>
          <p:cNvPr id="163" name="Google Shape;163;p1"/>
          <p:cNvPicPr preferRelativeResize="0"/>
          <p:nvPr/>
        </p:nvPicPr>
        <p:blipFill rotWithShape="1">
          <a:blip r:embed="rId10">
            <a:alphaModFix/>
          </a:blip>
          <a:srcRect b="-10" l="-6921" r="-6910" t="10"/>
          <a:stretch/>
        </p:blipFill>
        <p:spPr>
          <a:xfrm>
            <a:off x="6287808" y="4668680"/>
            <a:ext cx="265774" cy="398125"/>
          </a:xfrm>
          <a:prstGeom prst="rect">
            <a:avLst/>
          </a:prstGeom>
          <a:noFill/>
          <a:ln>
            <a:noFill/>
          </a:ln>
        </p:spPr>
      </p:pic>
      <p:cxnSp>
        <p:nvCxnSpPr>
          <p:cNvPr id="164" name="Google Shape;164;p1"/>
          <p:cNvCxnSpPr/>
          <p:nvPr/>
        </p:nvCxnSpPr>
        <p:spPr>
          <a:xfrm>
            <a:off x="6204494" y="4811830"/>
            <a:ext cx="0" cy="158700"/>
          </a:xfrm>
          <a:prstGeom prst="straightConnector1">
            <a:avLst/>
          </a:prstGeom>
          <a:noFill/>
          <a:ln cap="flat" cmpd="sng" w="9525">
            <a:solidFill>
              <a:srgbClr val="999999"/>
            </a:solidFill>
            <a:prstDash val="dot"/>
            <a:round/>
            <a:headEnd len="sm" w="sm" type="none"/>
            <a:tailEnd len="sm" w="sm" type="none"/>
          </a:ln>
        </p:spPr>
      </p:cxnSp>
      <p:pic>
        <p:nvPicPr>
          <p:cNvPr id="165" name="Google Shape;165;p1"/>
          <p:cNvPicPr preferRelativeResize="0"/>
          <p:nvPr/>
        </p:nvPicPr>
        <p:blipFill rotWithShape="1">
          <a:blip r:embed="rId11">
            <a:alphaModFix/>
          </a:blip>
          <a:srcRect b="0" l="0" r="0" t="0"/>
          <a:stretch/>
        </p:blipFill>
        <p:spPr>
          <a:xfrm>
            <a:off x="1593475" y="242835"/>
            <a:ext cx="1432800" cy="59242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2"/>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172" name="Google Shape;172;p2"/>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Executive Summary and Our Understanding of Project Requirements</a:t>
            </a:r>
            <a:endParaRPr b="1" i="0" sz="1200" u="none" cap="none" strike="noStrike">
              <a:solidFill>
                <a:srgbClr val="D71B7F"/>
              </a:solidFill>
              <a:latin typeface="Montserrat"/>
              <a:ea typeface="Montserrat"/>
              <a:cs typeface="Montserrat"/>
              <a:sym typeface="Montserrat"/>
            </a:endParaRPr>
          </a:p>
        </p:txBody>
      </p:sp>
      <p:sp>
        <p:nvSpPr>
          <p:cNvPr id="173" name="Google Shape;173;p2"/>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174" name="Google Shape;174;p2"/>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175" name="Google Shape;175;p2"/>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176" name="Google Shape;176;p2"/>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177" name="Google Shape;177;p2"/>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178" name="Google Shape;178;p2"/>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2"/>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2"/>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1" name="Google Shape;181;p2"/>
          <p:cNvPicPr preferRelativeResize="0"/>
          <p:nvPr/>
        </p:nvPicPr>
        <p:blipFill rotWithShape="1">
          <a:blip r:embed="rId3">
            <a:alphaModFix/>
          </a:blip>
          <a:srcRect b="0" l="0" r="0" t="0"/>
          <a:stretch/>
        </p:blipFill>
        <p:spPr>
          <a:xfrm>
            <a:off x="1246476" y="4086150"/>
            <a:ext cx="6568648" cy="958975"/>
          </a:xfrm>
          <a:prstGeom prst="rect">
            <a:avLst/>
          </a:prstGeom>
          <a:noFill/>
          <a:ln>
            <a:noFill/>
          </a:ln>
        </p:spPr>
      </p:pic>
      <p:sp>
        <p:nvSpPr>
          <p:cNvPr id="182" name="Google Shape;182;p2"/>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183" name="Google Shape;183;p2"/>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184" name="Google Shape;184;p2"/>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2"/>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186" name="Google Shape;186;p2"/>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187" name="Google Shape;187;p2"/>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3"/>
          <p:cNvSpPr txBox="1"/>
          <p:nvPr>
            <p:ph type="title"/>
          </p:nvPr>
        </p:nvSpPr>
        <p:spPr>
          <a:xfrm>
            <a:off x="104500" y="141850"/>
            <a:ext cx="5994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Executive Summary</a:t>
            </a:r>
            <a:endParaRPr/>
          </a:p>
        </p:txBody>
      </p:sp>
      <p:sp>
        <p:nvSpPr>
          <p:cNvPr id="195" name="Google Shape;195;p3"/>
          <p:cNvSpPr/>
          <p:nvPr/>
        </p:nvSpPr>
        <p:spPr>
          <a:xfrm>
            <a:off x="223850" y="746325"/>
            <a:ext cx="8690100" cy="40992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121875" lIns="121875" spcFirstLastPara="1" rIns="0" wrap="square" tIns="27425">
            <a:noAutofit/>
          </a:bodyPr>
          <a:lstStyle/>
          <a:p>
            <a:r>
              <a:t>Following our discussions with RetailMax Group, we are pleased to submit this proposal for the design and development of a unified B2C and B2B commerce platform. TTN will deliver a Drupal Commerce solution with PIM integration, multi-store management, and faceted search supporting 100,000+ SKUs across Australia and New Zealand.</a:t>
            </a:r>
          </a:p>
        </p:txBody>
      </p:sp>
      <p:cxnSp>
        <p:nvCxnSpPr>
          <p:cNvPr id="196" name="Google Shape;196;p3"/>
          <p:cNvCxnSpPr/>
          <p:nvPr/>
        </p:nvCxnSpPr>
        <p:spPr>
          <a:xfrm flipH="1">
            <a:off x="242444" y="754971"/>
            <a:ext cx="3900" cy="4102800"/>
          </a:xfrm>
          <a:prstGeom prst="straightConnector1">
            <a:avLst/>
          </a:prstGeom>
          <a:noFill/>
          <a:ln cap="flat" cmpd="sng" w="19050">
            <a:solidFill>
              <a:srgbClr val="12519C"/>
            </a:solidFill>
            <a:prstDash val="solid"/>
            <a:round/>
            <a:headEnd len="sm" w="sm" type="none"/>
            <a:tailEnd len="sm" w="sm" type="none"/>
          </a:ln>
        </p:spPr>
      </p:cxnSp>
      <p:sp>
        <p:nvSpPr>
          <p:cNvPr id="197" name="Google Shape;197;p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4"/>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4"/>
          <p:cNvSpPr txBox="1"/>
          <p:nvPr>
            <p:ph type="title"/>
          </p:nvPr>
        </p:nvSpPr>
        <p:spPr>
          <a:xfrm>
            <a:off x="104500" y="141850"/>
            <a:ext cx="5994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Why TTN?</a:t>
            </a:r>
            <a:endParaRPr/>
          </a:p>
        </p:txBody>
      </p:sp>
      <p:sp>
        <p:nvSpPr>
          <p:cNvPr id="204" name="Google Shape;204;p4"/>
          <p:cNvSpPr/>
          <p:nvPr/>
        </p:nvSpPr>
        <p:spPr>
          <a:xfrm>
            <a:off x="474900" y="910600"/>
            <a:ext cx="3914100" cy="1666500"/>
          </a:xfrm>
          <a:prstGeom prst="snip1Rect">
            <a:avLst>
              <a:gd fmla="val 16667" name="adj"/>
            </a:avLst>
          </a:prstGeom>
          <a:no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Proven UX &amp; Mobile Expertise</a:t>
            </a:r>
            <a:r>
              <a:rPr b="0" i="0" lang="en" sz="1100" u="none" cap="none" strike="noStrike">
                <a:solidFill>
                  <a:schemeClr val="dk1"/>
                </a:solidFill>
                <a:latin typeface="Montserrat"/>
                <a:ea typeface="Montserrat"/>
                <a:cs typeface="Montserrat"/>
                <a:sym typeface="Montserrat"/>
              </a:rPr>
              <a:t> </a:t>
            </a:r>
            <a:endParaRPr b="0"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We specialize in building intuitive, high-performance mobile applications with seamless user journeys - critical for customer engagement and retention.</a:t>
            </a:r>
            <a:endParaRPr b="0" i="0" sz="1100" u="none" cap="none" strike="noStrike">
              <a:solidFill>
                <a:schemeClr val="dk1"/>
              </a:solidFill>
              <a:latin typeface="Montserrat"/>
              <a:ea typeface="Montserrat"/>
              <a:cs typeface="Montserrat"/>
              <a:sym typeface="Montserrat"/>
            </a:endParaRPr>
          </a:p>
        </p:txBody>
      </p:sp>
      <p:sp>
        <p:nvSpPr>
          <p:cNvPr id="205" name="Google Shape;205;p4"/>
          <p:cNvSpPr/>
          <p:nvPr/>
        </p:nvSpPr>
        <p:spPr>
          <a:xfrm>
            <a:off x="4755004" y="910600"/>
            <a:ext cx="3914100" cy="1666500"/>
          </a:xfrm>
          <a:prstGeom prst="snip1Rect">
            <a:avLst>
              <a:gd fmla="val 16667" name="adj"/>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Domain-Focused Delivery</a:t>
            </a:r>
            <a:endParaRPr b="1"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Our extensive experience in iGaming with real-time data integration, media streaming, and interactive user features aligns perfectly with your racing platform requirements.</a:t>
            </a:r>
            <a:endParaRPr b="0" i="0" sz="1100" u="none" cap="none" strike="noStrike">
              <a:solidFill>
                <a:schemeClr val="dk1"/>
              </a:solidFill>
              <a:latin typeface="Montserrat"/>
              <a:ea typeface="Montserrat"/>
              <a:cs typeface="Montserrat"/>
              <a:sym typeface="Montserrat"/>
            </a:endParaRPr>
          </a:p>
        </p:txBody>
      </p:sp>
      <p:sp>
        <p:nvSpPr>
          <p:cNvPr id="206" name="Google Shape;206;p4"/>
          <p:cNvSpPr/>
          <p:nvPr/>
        </p:nvSpPr>
        <p:spPr>
          <a:xfrm>
            <a:off x="474900" y="2900036"/>
            <a:ext cx="3914100" cy="1666500"/>
          </a:xfrm>
          <a:prstGeom prst="snip1Rect">
            <a:avLst>
              <a:gd fmla="val 16667" name="adj"/>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End-to-End Ownership</a:t>
            </a:r>
            <a:r>
              <a:rPr b="0" i="0" lang="en" sz="1100" u="none" cap="none" strike="noStrike">
                <a:solidFill>
                  <a:schemeClr val="dk1"/>
                </a:solidFill>
                <a:latin typeface="Montserrat"/>
                <a:ea typeface="Montserrat"/>
                <a:cs typeface="Montserrat"/>
                <a:sym typeface="Montserrat"/>
              </a:rPr>
              <a:t> </a:t>
            </a:r>
            <a:endParaRPr b="0"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From design and development to deployment and support, we provide full-cycle mobile app services- ensuring speed, quality, and continuity.</a:t>
            </a:r>
            <a:endParaRPr b="0" i="0" sz="1100" u="none" cap="none" strike="noStrike">
              <a:solidFill>
                <a:schemeClr val="dk1"/>
              </a:solidFill>
              <a:latin typeface="Montserrat"/>
              <a:ea typeface="Montserrat"/>
              <a:cs typeface="Montserrat"/>
              <a:sym typeface="Montserrat"/>
            </a:endParaRPr>
          </a:p>
        </p:txBody>
      </p:sp>
      <p:sp>
        <p:nvSpPr>
          <p:cNvPr id="207" name="Google Shape;207;p4"/>
          <p:cNvSpPr/>
          <p:nvPr/>
        </p:nvSpPr>
        <p:spPr>
          <a:xfrm>
            <a:off x="4755004" y="2900036"/>
            <a:ext cx="3914100" cy="1666500"/>
          </a:xfrm>
          <a:prstGeom prst="snip1Rect">
            <a:avLst>
              <a:gd fmla="val 16667" name="adj"/>
            </a:avLst>
          </a:prstGeom>
          <a:no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Scalable Architecture</a:t>
            </a:r>
            <a:endParaRPr b="1"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Our solutions are designed to grow with your user base, ensuring performance and reliability under peak traffic conditions</a:t>
            </a:r>
            <a:endParaRPr b="0" i="0" sz="1100" u="none" cap="none" strike="noStrike">
              <a:solidFill>
                <a:schemeClr val="dk1"/>
              </a:solidFill>
              <a:latin typeface="Montserrat"/>
              <a:ea typeface="Montserrat"/>
              <a:cs typeface="Montserrat"/>
              <a:sym typeface="Montserrat"/>
            </a:endParaRPr>
          </a:p>
        </p:txBody>
      </p:sp>
      <p:sp>
        <p:nvSpPr>
          <p:cNvPr id="208" name="Google Shape;208;p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5"/>
          <p:cNvSpPr/>
          <p:nvPr/>
        </p:nvSpPr>
        <p:spPr>
          <a:xfrm>
            <a:off x="223850" y="640050"/>
            <a:ext cx="8690100" cy="40956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indent="0" lvl="0" marL="0" marR="0" rtl="0" algn="just">
              <a:lnSpc>
                <a:spcPct val="115000"/>
              </a:lnSpc>
              <a:spcBef>
                <a:spcPts val="0"/>
              </a:spcBef>
              <a:spcAft>
                <a:spcPts val="0"/>
              </a:spcAft>
              <a:buClr>
                <a:srgbClr val="000000"/>
              </a:buClr>
              <a:buSzPts val="1100"/>
              <a:buFont typeface="Arial"/>
              <a:buNone/>
            </a:pPr>
            <a:r>
              <a:t/>
            </a:r>
            <a:endParaRPr b="1" i="0" sz="1000" u="none" cap="none" strike="noStrike">
              <a:solidFill>
                <a:srgbClr val="D71B7F"/>
              </a:solidFill>
              <a:latin typeface="Montserrat"/>
              <a:ea typeface="Montserrat"/>
              <a:cs typeface="Montserrat"/>
              <a:sym typeface="Montserrat"/>
            </a:endParaRPr>
          </a:p>
        </p:txBody>
      </p:sp>
      <p:cxnSp>
        <p:nvCxnSpPr>
          <p:cNvPr id="214" name="Google Shape;214;p5"/>
          <p:cNvCxnSpPr/>
          <p:nvPr/>
        </p:nvCxnSpPr>
        <p:spPr>
          <a:xfrm>
            <a:off x="246344" y="650407"/>
            <a:ext cx="0" cy="4095600"/>
          </a:xfrm>
          <a:prstGeom prst="straightConnector1">
            <a:avLst/>
          </a:prstGeom>
          <a:noFill/>
          <a:ln cap="flat" cmpd="sng" w="19050">
            <a:solidFill>
              <a:srgbClr val="12519C"/>
            </a:solidFill>
            <a:prstDash val="solid"/>
            <a:round/>
            <a:headEnd len="sm" w="sm" type="none"/>
            <a:tailEnd len="sm" w="sm" type="none"/>
          </a:ln>
        </p:spPr>
      </p:cxnSp>
      <p:sp>
        <p:nvSpPr>
          <p:cNvPr id="215" name="Google Shape;215;p5"/>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Our Understanding of Requirements</a:t>
            </a:r>
            <a:endParaRPr/>
          </a:p>
        </p:txBody>
      </p:sp>
      <p:sp>
        <p:nvSpPr>
          <p:cNvPr id="216" name="Google Shape;216;p5"/>
          <p:cNvSpPr txBox="1"/>
          <p:nvPr/>
        </p:nvSpPr>
        <p:spPr>
          <a:xfrm>
            <a:off x="258325" y="782225"/>
            <a:ext cx="8127900" cy="3924900"/>
          </a:xfrm>
          <a:prstGeom prst="rect">
            <a:avLst/>
          </a:prstGeom>
          <a:noFill/>
          <a:ln>
            <a:noFill/>
          </a:ln>
        </p:spPr>
        <p:txBody>
          <a:bodyPr anchorCtr="0" anchor="t" bIns="91425" lIns="91425" spcFirstLastPara="1" rIns="91425" wrap="square" tIns="91425">
            <a:spAutoFit/>
          </a:bodyPr>
          <a:lstStyle/>
          <a:p>
            <a:r>
              <a:t>Enable multi-store catalogue management with regional pricing and tax rules.</a:t>
            </a:r>
          </a:p>
          <a:p>
            <a:pPr/>
            <a:r>
              <a:t>Support faceted search, product recommendations, and inventory sync with ERP.</a:t>
            </a:r>
          </a:p>
          <a:p>
            <a:pPr/>
            <a:r>
              <a:t>Provide B2B account hierarchies, quote-to-order workflows, and approval chains.</a:t>
            </a:r>
          </a:p>
          <a:p>
            <a:pPr/>
            <a:r>
              <a:t>Integrate Stripe, PayPal, and Afterpay for multi-currency checkout.</a:t>
            </a:r>
          </a:p>
          <a:p>
            <a:pPr/>
            <a:r>
              <a:t>Deliver WCAG 2.1 AA accessible storefronts with CDN-backed performance.</a:t>
            </a:r>
          </a:p>
        </p:txBody>
      </p:sp>
      <p:sp>
        <p:nvSpPr>
          <p:cNvPr id="217" name="Google Shape;217;p5"/>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218" name="Google Shape;218;p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6"/>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Key Application Modules </a:t>
            </a:r>
            <a:endParaRPr>
              <a:solidFill>
                <a:schemeClr val="dk1"/>
              </a:solidFill>
            </a:endParaRPr>
          </a:p>
        </p:txBody>
      </p:sp>
      <p:sp>
        <p:nvSpPr>
          <p:cNvPr id="224" name="Google Shape;224;p6"/>
          <p:cNvSpPr/>
          <p:nvPr/>
        </p:nvSpPr>
        <p:spPr>
          <a:xfrm>
            <a:off x="3204902" y="70623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Races &amp; Profiles </a:t>
            </a:r>
            <a:endParaRPr b="0" i="0" sz="1100" u="none" cap="none" strike="noStrike">
              <a:solidFill>
                <a:srgbClr val="6F3A9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277E"/>
              </a:buClr>
              <a:buSzPts val="900"/>
              <a:buFont typeface="Montserrat"/>
              <a:buChar char="●"/>
            </a:pPr>
            <a:r>
              <a:rPr b="0" i="0" lang="en" sz="900" u="none" cap="none" strike="noStrike">
                <a:solidFill>
                  <a:srgbClr val="000000"/>
                </a:solidFill>
                <a:latin typeface="Montserrat"/>
                <a:ea typeface="Montserrat"/>
                <a:cs typeface="Montserrat"/>
                <a:sym typeface="Montserrat"/>
              </a:rPr>
              <a:t>Search and Filter, Past and Upcoming Races</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277E"/>
              </a:buClr>
              <a:buSzPts val="900"/>
              <a:buFont typeface="Montserrat"/>
              <a:buChar char="●"/>
            </a:pPr>
            <a:r>
              <a:rPr b="0" i="0" lang="en" sz="900" u="none" cap="none" strike="noStrike">
                <a:solidFill>
                  <a:srgbClr val="000000"/>
                </a:solidFill>
                <a:latin typeface="Montserrat"/>
                <a:ea typeface="Montserrat"/>
                <a:cs typeface="Montserrat"/>
                <a:sym typeface="Montserrat"/>
              </a:rPr>
              <a:t>Search and View Profile Pages for Tracks, Jockeys, Trainers, and Runners</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sp>
        <p:nvSpPr>
          <p:cNvPr id="225" name="Google Shape;225;p6"/>
          <p:cNvSpPr/>
          <p:nvPr/>
        </p:nvSpPr>
        <p:spPr>
          <a:xfrm>
            <a:off x="299125" y="70623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User Access &amp; Account Management</a:t>
            </a:r>
            <a:r>
              <a:rPr b="0" i="0" lang="en" sz="1100" u="none" cap="none" strike="noStrike">
                <a:solidFill>
                  <a:srgbClr val="6F3A93"/>
                </a:solidFill>
                <a:latin typeface="Montserrat SemiBold"/>
                <a:ea typeface="Montserrat SemiBold"/>
                <a:cs typeface="Montserrat SemiBold"/>
                <a:sym typeface="Montserrat SemiBold"/>
              </a:rPr>
              <a:t> </a:t>
            </a:r>
            <a:endParaRPr b="0" i="0" sz="1400" u="none" cap="none" strike="noStrike">
              <a:solidFill>
                <a:srgbClr val="6F3A9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User Registration</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User Login</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Forgot Password</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Show Account Details </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Add Jockeys and Trainers  to Blackbook</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Show Blackbook Activities</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100"/>
              <a:buFont typeface="Arial"/>
              <a:buNone/>
            </a:pPr>
            <a:r>
              <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26" name="Google Shape;226;p6"/>
          <p:cNvCxnSpPr/>
          <p:nvPr/>
        </p:nvCxnSpPr>
        <p:spPr>
          <a:xfrm>
            <a:off x="299130" y="706238"/>
            <a:ext cx="0" cy="2007300"/>
          </a:xfrm>
          <a:prstGeom prst="straightConnector1">
            <a:avLst/>
          </a:prstGeom>
          <a:noFill/>
          <a:ln cap="flat" cmpd="sng" w="19050">
            <a:solidFill>
              <a:srgbClr val="12519C"/>
            </a:solidFill>
            <a:prstDash val="solid"/>
            <a:round/>
            <a:headEnd len="sm" w="sm" type="none"/>
            <a:tailEnd len="sm" w="sm" type="none"/>
          </a:ln>
        </p:spPr>
      </p:cxnSp>
      <p:cxnSp>
        <p:nvCxnSpPr>
          <p:cNvPr id="227" name="Google Shape;227;p6"/>
          <p:cNvCxnSpPr/>
          <p:nvPr/>
        </p:nvCxnSpPr>
        <p:spPr>
          <a:xfrm>
            <a:off x="3204907" y="706238"/>
            <a:ext cx="0" cy="2007300"/>
          </a:xfrm>
          <a:prstGeom prst="straightConnector1">
            <a:avLst/>
          </a:prstGeom>
          <a:noFill/>
          <a:ln cap="flat" cmpd="sng" w="19050">
            <a:solidFill>
              <a:srgbClr val="12519C"/>
            </a:solidFill>
            <a:prstDash val="solid"/>
            <a:round/>
            <a:headEnd len="sm" w="sm" type="none"/>
            <a:tailEnd len="sm" w="sm" type="none"/>
          </a:ln>
        </p:spPr>
      </p:cxnSp>
      <p:sp>
        <p:nvSpPr>
          <p:cNvPr id="228" name="Google Shape;228;p6"/>
          <p:cNvSpPr/>
          <p:nvPr/>
        </p:nvSpPr>
        <p:spPr>
          <a:xfrm>
            <a:off x="6110675" y="704926"/>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Race</a:t>
            </a:r>
            <a:r>
              <a:rPr b="0" i="0" lang="en" sz="1000" u="none" cap="none" strike="noStrike">
                <a:solidFill>
                  <a:schemeClr val="accent3"/>
                </a:solidFill>
                <a:latin typeface="Montserrat SemiBold"/>
                <a:ea typeface="Montserrat SemiBold"/>
                <a:cs typeface="Montserrat SemiBold"/>
                <a:sym typeface="Montserrat SemiBold"/>
              </a:rPr>
              <a:t> Calendar &amp; Planner</a:t>
            </a:r>
            <a:endParaRPr b="0" i="0" sz="10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View Race Details  for Upcoming and Past Races using the Race Calendar </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Filter and Export Race Details using Race Planner</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29" name="Google Shape;229;p6"/>
          <p:cNvCxnSpPr/>
          <p:nvPr/>
        </p:nvCxnSpPr>
        <p:spPr>
          <a:xfrm>
            <a:off x="6110681" y="704925"/>
            <a:ext cx="0" cy="2007300"/>
          </a:xfrm>
          <a:prstGeom prst="straightConnector1">
            <a:avLst/>
          </a:prstGeom>
          <a:noFill/>
          <a:ln cap="flat" cmpd="sng" w="19050">
            <a:solidFill>
              <a:srgbClr val="12519C"/>
            </a:solidFill>
            <a:prstDash val="solid"/>
            <a:round/>
            <a:headEnd len="sm" w="sm" type="none"/>
            <a:tailEnd len="sm" w="sm" type="none"/>
          </a:ln>
        </p:spPr>
      </p:cxnSp>
      <p:sp>
        <p:nvSpPr>
          <p:cNvPr id="230" name="Google Shape;230;p6"/>
          <p:cNvSpPr/>
          <p:nvPr/>
        </p:nvSpPr>
        <p:spPr>
          <a:xfrm>
            <a:off x="299125" y="294267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chemeClr val="accent3"/>
                </a:solidFill>
                <a:latin typeface="Montserrat SemiBold"/>
                <a:ea typeface="Montserrat SemiBold"/>
                <a:cs typeface="Montserrat SemiBold"/>
                <a:sym typeface="Montserrat SemiBold"/>
              </a:rPr>
              <a:t>Races, Results &amp; </a:t>
            </a:r>
            <a:r>
              <a:rPr b="0" i="0" lang="en" sz="1000" u="none" cap="none" strike="noStrike">
                <a:solidFill>
                  <a:srgbClr val="6F3A93"/>
                </a:solidFill>
                <a:latin typeface="Montserrat SemiBold"/>
                <a:ea typeface="Montserrat SemiBold"/>
                <a:cs typeface="Montserrat SemiBold"/>
                <a:sym typeface="Montserrat SemiBold"/>
              </a:rPr>
              <a:t>Replays</a:t>
            </a:r>
            <a:r>
              <a:rPr b="0" i="0" lang="en" sz="1000" u="none" cap="none" strike="noStrike">
                <a:solidFill>
                  <a:schemeClr val="accent3"/>
                </a:solidFill>
                <a:latin typeface="Montserrat SemiBold"/>
                <a:ea typeface="Montserrat SemiBold"/>
                <a:cs typeface="Montserrat SemiBold"/>
                <a:sym typeface="Montserrat SemiBold"/>
              </a:rPr>
              <a:t> </a:t>
            </a:r>
            <a:endParaRPr b="0" i="0" sz="10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Stream Races and Replay Feeds in-app  from Betting Partners.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Redirect to Queensland Non-TAB Racing  YouTube channel to Stream Replay Feeds from other sources..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Show Real-Time Race Results.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View and Download Steward and Sectional Reports.</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31" name="Google Shape;231;p6"/>
          <p:cNvCxnSpPr/>
          <p:nvPr/>
        </p:nvCxnSpPr>
        <p:spPr>
          <a:xfrm>
            <a:off x="299130" y="2942678"/>
            <a:ext cx="0" cy="2007300"/>
          </a:xfrm>
          <a:prstGeom prst="straightConnector1">
            <a:avLst/>
          </a:prstGeom>
          <a:noFill/>
          <a:ln cap="flat" cmpd="sng" w="19050">
            <a:solidFill>
              <a:srgbClr val="12519C"/>
            </a:solidFill>
            <a:prstDash val="solid"/>
            <a:round/>
            <a:headEnd len="sm" w="sm" type="none"/>
            <a:tailEnd len="sm" w="sm" type="none"/>
          </a:ln>
        </p:spPr>
      </p:cxnSp>
      <p:sp>
        <p:nvSpPr>
          <p:cNvPr id="232" name="Google Shape;232;p6"/>
          <p:cNvSpPr/>
          <p:nvPr/>
        </p:nvSpPr>
        <p:spPr>
          <a:xfrm>
            <a:off x="3204902" y="294267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r>
              <a:t>Drupal 10 with Commerce 2.x as the core commerce engine.</a:t>
            </a:r>
          </a:p>
          <a:p>
            <a:pPr/>
            <a:r>
              <a:t>Akeneo PIM connector for product enrichment and attribute management.</a:t>
            </a:r>
          </a:p>
          <a:p>
            <a:pPr/>
            <a:r>
              <a:t>Search API with Solr for faceted navigation and autocomplete.</a:t>
            </a:r>
          </a:p>
          <a:p>
            <a:pPr/>
            <a:r>
              <a:t>Headless Next.js storefront with SSR for SEO and Core Web Vitals.</a:t>
            </a:r>
          </a:p>
          <a:p>
            <a:pPr/>
            <a:r>
              <a:t>Middleware layer for ERP (SAP) inventory and order synchronisation.</a:t>
            </a:r>
          </a:p>
        </p:txBody>
      </p:sp>
      <p:cxnSp>
        <p:nvCxnSpPr>
          <p:cNvPr id="233" name="Google Shape;233;p6"/>
          <p:cNvCxnSpPr/>
          <p:nvPr/>
        </p:nvCxnSpPr>
        <p:spPr>
          <a:xfrm>
            <a:off x="3204907" y="2942678"/>
            <a:ext cx="0" cy="2007300"/>
          </a:xfrm>
          <a:prstGeom prst="straightConnector1">
            <a:avLst/>
          </a:prstGeom>
          <a:noFill/>
          <a:ln cap="flat" cmpd="sng" w="19050">
            <a:solidFill>
              <a:srgbClr val="12519C"/>
            </a:solidFill>
            <a:prstDash val="solid"/>
            <a:round/>
            <a:headEnd len="sm" w="sm" type="none"/>
            <a:tailEnd len="sm" w="sm" type="none"/>
          </a:ln>
        </p:spPr>
      </p:cxnSp>
      <p:sp>
        <p:nvSpPr>
          <p:cNvPr id="234" name="Google Shape;234;p6"/>
          <p:cNvSpPr/>
          <p:nvPr/>
        </p:nvSpPr>
        <p:spPr>
          <a:xfrm>
            <a:off x="6110675" y="2941366"/>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chemeClr val="accent3"/>
                </a:solidFill>
                <a:latin typeface="Montserrat SemiBold"/>
                <a:ea typeface="Montserrat SemiBold"/>
                <a:cs typeface="Montserrat SemiBold"/>
                <a:sym typeface="Montserrat SemiBold"/>
              </a:rPr>
              <a:t>News</a:t>
            </a:r>
            <a:r>
              <a:rPr b="0" i="0" lang="en" sz="1000" u="none" cap="none" strike="noStrike">
                <a:solidFill>
                  <a:srgbClr val="6F3A93"/>
                </a:solidFill>
                <a:latin typeface="Montserrat SemiBold"/>
                <a:ea typeface="Montserrat SemiBold"/>
                <a:cs typeface="Montserrat SemiBold"/>
                <a:sym typeface="Montserrat SemiBold"/>
              </a:rPr>
              <a:t> </a:t>
            </a:r>
            <a:r>
              <a:rPr b="0" i="0" lang="en" sz="1000" u="none" cap="none" strike="noStrike">
                <a:solidFill>
                  <a:schemeClr val="accent3"/>
                </a:solidFill>
                <a:latin typeface="Montserrat SemiBold"/>
                <a:ea typeface="Montserrat SemiBold"/>
                <a:cs typeface="Montserrat SemiBold"/>
                <a:sym typeface="Montserrat SemiBold"/>
              </a:rPr>
              <a:t>&amp; Notifications </a:t>
            </a:r>
            <a:endParaRPr b="0" i="0" sz="10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and View Racing News Items </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and View Business Awareness pages such as Ownership, Career &amp; Training, Infrastructure, Open API details etc.</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Get Push Notifications for Race Alerts &amp; Updates.</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35" name="Google Shape;235;p6"/>
          <p:cNvCxnSpPr/>
          <p:nvPr/>
        </p:nvCxnSpPr>
        <p:spPr>
          <a:xfrm>
            <a:off x="6110681" y="2941365"/>
            <a:ext cx="0" cy="2007300"/>
          </a:xfrm>
          <a:prstGeom prst="straightConnector1">
            <a:avLst/>
          </a:prstGeom>
          <a:noFill/>
          <a:ln cap="flat" cmpd="sng" w="19050">
            <a:solidFill>
              <a:srgbClr val="12519C"/>
            </a:solidFill>
            <a:prstDash val="solid"/>
            <a:round/>
            <a:headEnd len="sm" w="sm" type="none"/>
            <a:tailEnd len="sm" w="sm" type="none"/>
          </a:ln>
        </p:spPr>
      </p:cxnSp>
      <p:sp>
        <p:nvSpPr>
          <p:cNvPr id="236" name="Google Shape;236;p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7"/>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Non Functional Requirements</a:t>
            </a:r>
            <a:endParaRPr>
              <a:solidFill>
                <a:schemeClr val="dk1"/>
              </a:solidFill>
            </a:endParaRPr>
          </a:p>
        </p:txBody>
      </p:sp>
      <p:sp>
        <p:nvSpPr>
          <p:cNvPr id="242" name="Google Shape;242;p7"/>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243" name="Google Shape;243;p7"/>
          <p:cNvSpPr/>
          <p:nvPr/>
        </p:nvSpPr>
        <p:spPr>
          <a:xfrm>
            <a:off x="347850" y="904575"/>
            <a:ext cx="8442300" cy="38787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91425" spcFirstLastPara="1" rIns="91425" wrap="square" tIns="0">
            <a:noAutofit/>
          </a:bodyPr>
          <a:lstStyle/>
          <a:p>
            <a:r>
              <a:t>Modular microservices architecture deployed on AWS EKS.</a:t>
            </a:r>
          </a:p>
          <a:p>
            <a:pPr/>
            <a:r>
              <a:t>API-first design with GraphQL gateway for storefront and mobile apps.</a:t>
            </a:r>
          </a:p>
          <a:p>
            <a:pPr/>
            <a:r>
              <a:t>Redis caching layer for session, cart, and catalogue hot paths.</a:t>
            </a:r>
          </a:p>
          <a:p>
            <a:pPr/>
            <a:r>
              <a:t>Event-driven order pipeline using Amazon SQS and Lambda.</a:t>
            </a:r>
          </a:p>
          <a:p>
            <a:pPr/>
            <a:r>
              <a:t>Blue-green deployments with automated rollback on health check failure.</a:t>
            </a:r>
          </a:p>
        </p:txBody>
      </p:sp>
      <p:cxnSp>
        <p:nvCxnSpPr>
          <p:cNvPr id="244" name="Google Shape;244;p7"/>
          <p:cNvCxnSpPr/>
          <p:nvPr/>
        </p:nvCxnSpPr>
        <p:spPr>
          <a:xfrm>
            <a:off x="353817" y="911950"/>
            <a:ext cx="14400" cy="3842100"/>
          </a:xfrm>
          <a:prstGeom prst="straightConnector1">
            <a:avLst/>
          </a:prstGeom>
          <a:noFill/>
          <a:ln cap="flat" cmpd="sng" w="19050">
            <a:solidFill>
              <a:srgbClr val="12519C"/>
            </a:solidFill>
            <a:prstDash val="solid"/>
            <a:round/>
            <a:headEnd len="sm" w="sm" type="none"/>
            <a:tailEnd len="sm" w="sm" type="none"/>
          </a:ln>
        </p:spPr>
      </p:cxnSp>
      <p:sp>
        <p:nvSpPr>
          <p:cNvPr id="245" name="Google Shape;245;p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228600" lvl="0" marL="342900" marR="0" rtl="0" algn="l">
              <a:lnSpc>
                <a:spcPct val="200000"/>
              </a:lnSpc>
              <a:spcBef>
                <a:spcPts val="0"/>
              </a:spcBef>
              <a:spcAft>
                <a:spcPts val="0"/>
              </a:spcAft>
              <a:buClr>
                <a:srgbClr val="E7E6E6"/>
              </a:buClr>
              <a:buSzPts val="1000"/>
              <a:buFont typeface="Montserrat"/>
              <a:buChar char="●"/>
            </a:pPr>
            <a:fld id="{00000000-1234-1234-1234-123412341234}" type="slidenum">
              <a:rPr lang="en" sz="1000"/>
              <a:t>‹#›</a:t>
            </a:fld>
            <a:endParaRPr sz="1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8"/>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Non Functional Requirements</a:t>
            </a:r>
            <a:endParaRPr>
              <a:solidFill>
                <a:schemeClr val="dk1"/>
              </a:solidFill>
            </a:endParaRPr>
          </a:p>
        </p:txBody>
      </p:sp>
      <p:sp>
        <p:nvSpPr>
          <p:cNvPr id="251" name="Google Shape;251;p8"/>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252" name="Google Shape;252;p8"/>
          <p:cNvSpPr/>
          <p:nvPr/>
        </p:nvSpPr>
        <p:spPr>
          <a:xfrm>
            <a:off x="347850" y="904575"/>
            <a:ext cx="8442300" cy="38787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91425" spcFirstLastPara="1" rIns="91425" wrap="square" tIns="0">
            <a:noAutofit/>
          </a:bodyPr>
          <a:lstStyle/>
          <a:p>
            <a:r>
              <a:t>PCI-DSS aligned payment flows with tokenised card data via Stripe.</a:t>
            </a:r>
          </a:p>
          <a:p>
            <a:pPr/>
            <a:r>
              <a:t>OWASP Top 10 mitigations including WAF, CSP, and rate limiting.</a:t>
            </a:r>
          </a:p>
          <a:p>
            <a:pPr/>
            <a:r>
              <a:t>Data residency in ap-southeast-2 with encrypted RDS and S3 buckets.</a:t>
            </a:r>
          </a:p>
          <a:p>
            <a:pPr/>
            <a:r>
              <a:t>SOC 2 Type II controls for access management and audit logging.</a:t>
            </a:r>
          </a:p>
          <a:p>
            <a:pPr/>
            <a:r>
              <a:t>Penetration testing before go-live and quarterly vulnerability scans.</a:t>
            </a:r>
          </a:p>
        </p:txBody>
      </p:sp>
      <p:cxnSp>
        <p:nvCxnSpPr>
          <p:cNvPr id="253" name="Google Shape;253;p8"/>
          <p:cNvCxnSpPr/>
          <p:nvPr/>
        </p:nvCxnSpPr>
        <p:spPr>
          <a:xfrm>
            <a:off x="353817" y="911950"/>
            <a:ext cx="14400" cy="3842100"/>
          </a:xfrm>
          <a:prstGeom prst="straightConnector1">
            <a:avLst/>
          </a:prstGeom>
          <a:noFill/>
          <a:ln cap="flat" cmpd="sng" w="19050">
            <a:solidFill>
              <a:srgbClr val="12519C"/>
            </a:solidFill>
            <a:prstDash val="solid"/>
            <a:round/>
            <a:headEnd len="sm" w="sm" type="none"/>
            <a:tailEnd len="sm" w="sm" type="none"/>
          </a:ln>
        </p:spPr>
      </p:cxnSp>
      <p:sp>
        <p:nvSpPr>
          <p:cNvPr id="254" name="Google Shape;254;p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228600" lvl="0" marL="342900" marR="0" rtl="0" algn="l">
              <a:lnSpc>
                <a:spcPct val="200000"/>
              </a:lnSpc>
              <a:spcBef>
                <a:spcPts val="0"/>
              </a:spcBef>
              <a:spcAft>
                <a:spcPts val="0"/>
              </a:spcAft>
              <a:buClr>
                <a:srgbClr val="E7E6E6"/>
              </a:buClr>
              <a:buSzPts val="1000"/>
              <a:buFont typeface="Montserrat"/>
              <a:buChar char="●"/>
            </a:pPr>
            <a:fld id="{00000000-1234-1234-1234-123412341234}" type="slidenum">
              <a:rPr lang="en" sz="1000"/>
              <a:t>‹#›</a:t>
            </a:fld>
            <a:endParaRPr sz="1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9"/>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9"/>
          <p:cNvSpPr txBox="1"/>
          <p:nvPr>
            <p:ph type="title"/>
          </p:nvPr>
        </p:nvSpPr>
        <p:spPr>
          <a:xfrm>
            <a:off x="104500" y="141850"/>
            <a:ext cx="7426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Key Assumptions and Dependencies</a:t>
            </a:r>
            <a:endParaRPr/>
          </a:p>
        </p:txBody>
      </p:sp>
      <p:sp>
        <p:nvSpPr>
          <p:cNvPr id="261" name="Google Shape;261;p9"/>
          <p:cNvSpPr/>
          <p:nvPr/>
        </p:nvSpPr>
        <p:spPr>
          <a:xfrm>
            <a:off x="223850" y="746325"/>
            <a:ext cx="8690100" cy="40035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121875" lIns="121875" spcFirstLastPara="1" rIns="121875" wrap="square" tIns="27425">
            <a:noAutofit/>
          </a:bodyPr>
          <a:lstStyle/>
          <a:p>
            <a:r>
              <a:t>RetailMax will provide API access to SAP ERP within 2 weeks of kick-off.</a:t>
            </a:r>
          </a:p>
          <a:p>
            <a:pPr/>
            <a:r>
              <a:t>Product data migration scope limited to 80,000 active SKUs.</a:t>
            </a:r>
          </a:p>
          <a:p>
            <a:pPr/>
            <a:r>
              <a:t>UAT environment and test accounts provided by RetailMax.</a:t>
            </a:r>
          </a:p>
          <a:p>
            <a:pPr/>
            <a:r>
              <a:t>Third-party PIM licence costs are borne by RetailMax.</a:t>
            </a:r>
          </a:p>
          <a:p>
            <a:pPr/>
            <a:r>
              <a:t>Hypercare support of 2 weeks included post go-live.</a:t>
            </a:r>
          </a:p>
        </p:txBody>
      </p:sp>
      <p:cxnSp>
        <p:nvCxnSpPr>
          <p:cNvPr id="262" name="Google Shape;262;p9"/>
          <p:cNvCxnSpPr/>
          <p:nvPr/>
        </p:nvCxnSpPr>
        <p:spPr>
          <a:xfrm flipH="1">
            <a:off x="243425" y="736325"/>
            <a:ext cx="10200" cy="3997800"/>
          </a:xfrm>
          <a:prstGeom prst="straightConnector1">
            <a:avLst/>
          </a:prstGeom>
          <a:noFill/>
          <a:ln cap="flat" cmpd="sng" w="19050">
            <a:solidFill>
              <a:srgbClr val="12519C"/>
            </a:solidFill>
            <a:prstDash val="solid"/>
            <a:round/>
            <a:headEnd len="sm" w="sm" type="none"/>
            <a:tailEnd len="sm" w="sm" type="none"/>
          </a:ln>
        </p:spPr>
      </p:cxnSp>
      <p:sp>
        <p:nvSpPr>
          <p:cNvPr id="263" name="Google Shape;263;p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0"/>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10"/>
          <p:cNvSpPr txBox="1"/>
          <p:nvPr>
            <p:ph type="title"/>
          </p:nvPr>
        </p:nvSpPr>
        <p:spPr>
          <a:xfrm>
            <a:off x="104500" y="141850"/>
            <a:ext cx="7426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In Scope and Out of Scope</a:t>
            </a:r>
            <a:endParaRPr/>
          </a:p>
        </p:txBody>
      </p:sp>
      <p:sp>
        <p:nvSpPr>
          <p:cNvPr id="270" name="Google Shape;270;p10"/>
          <p:cNvSpPr/>
          <p:nvPr/>
        </p:nvSpPr>
        <p:spPr>
          <a:xfrm>
            <a:off x="396575" y="1028850"/>
            <a:ext cx="4084800" cy="3675900"/>
          </a:xfrm>
          <a:prstGeom prst="snip1Rect">
            <a:avLst>
              <a:gd fmla="val 7022"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800"/>
              <a:buFont typeface="Arial"/>
              <a:buNone/>
            </a:pPr>
            <a:r>
              <a:t/>
            </a:r>
            <a:endParaRPr b="0" i="0" sz="800" u="none" cap="none" strike="noStrike">
              <a:solidFill>
                <a:srgbClr val="000000"/>
              </a:solidFill>
              <a:latin typeface="Montserrat"/>
              <a:ea typeface="Montserrat"/>
              <a:cs typeface="Montserrat"/>
              <a:sym typeface="Montserrat"/>
            </a:endParaRPr>
          </a:p>
        </p:txBody>
      </p:sp>
      <p:sp>
        <p:nvSpPr>
          <p:cNvPr id="271" name="Google Shape;271;p10"/>
          <p:cNvSpPr/>
          <p:nvPr/>
        </p:nvSpPr>
        <p:spPr>
          <a:xfrm>
            <a:off x="400818" y="898163"/>
            <a:ext cx="4084800" cy="476100"/>
          </a:xfrm>
          <a:prstGeom prst="snip1Rect">
            <a:avLst>
              <a:gd fmla="val 21756" name="adj"/>
            </a:avLst>
          </a:prstGeom>
          <a:solidFill>
            <a:srgbClr val="F0EFFF"/>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100" u="none" cap="none" strike="noStrike">
                <a:solidFill>
                  <a:srgbClr val="6F3A93"/>
                </a:solidFill>
                <a:latin typeface="Montserrat"/>
                <a:ea typeface="Montserrat"/>
                <a:cs typeface="Montserrat"/>
                <a:sym typeface="Montserrat"/>
              </a:rPr>
              <a:t>In Scope</a:t>
            </a:r>
            <a:endParaRPr b="1" i="0" sz="1100" u="none" cap="none" strike="noStrike">
              <a:solidFill>
                <a:srgbClr val="6F3A93"/>
              </a:solidFill>
              <a:latin typeface="Montserrat"/>
              <a:ea typeface="Montserrat"/>
              <a:cs typeface="Montserrat"/>
              <a:sym typeface="Montserrat"/>
            </a:endParaRPr>
          </a:p>
        </p:txBody>
      </p:sp>
      <p:sp>
        <p:nvSpPr>
          <p:cNvPr id="272" name="Google Shape;272;p10"/>
          <p:cNvSpPr/>
          <p:nvPr/>
        </p:nvSpPr>
        <p:spPr>
          <a:xfrm>
            <a:off x="4658375" y="900350"/>
            <a:ext cx="4084800" cy="3804300"/>
          </a:xfrm>
          <a:prstGeom prst="snip1Rect">
            <a:avLst>
              <a:gd fmla="val 10616"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800"/>
              <a:buFont typeface="Arial"/>
              <a:buNone/>
            </a:pPr>
            <a:r>
              <a:t/>
            </a:r>
            <a:endParaRPr b="0" i="0" sz="800" u="none" cap="none" strike="noStrike">
              <a:solidFill>
                <a:srgbClr val="000000"/>
              </a:solidFill>
              <a:latin typeface="Montserrat"/>
              <a:ea typeface="Montserrat"/>
              <a:cs typeface="Montserrat"/>
              <a:sym typeface="Montserrat"/>
            </a:endParaRPr>
          </a:p>
        </p:txBody>
      </p:sp>
      <p:sp>
        <p:nvSpPr>
          <p:cNvPr id="273" name="Google Shape;273;p10"/>
          <p:cNvSpPr/>
          <p:nvPr/>
        </p:nvSpPr>
        <p:spPr>
          <a:xfrm>
            <a:off x="4662635" y="898172"/>
            <a:ext cx="4084800" cy="476100"/>
          </a:xfrm>
          <a:prstGeom prst="snip1Rect">
            <a:avLst>
              <a:gd fmla="val 21756" name="adj"/>
            </a:avLst>
          </a:prstGeom>
          <a:solidFill>
            <a:srgbClr val="F0EFFF"/>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100" u="none" cap="none" strike="noStrike">
                <a:solidFill>
                  <a:srgbClr val="6F3A93"/>
                </a:solidFill>
                <a:latin typeface="Montserrat"/>
                <a:ea typeface="Montserrat"/>
                <a:cs typeface="Montserrat"/>
                <a:sym typeface="Montserrat"/>
              </a:rPr>
              <a:t>Not Estimated</a:t>
            </a:r>
            <a:endParaRPr b="1" i="0" sz="1100" u="none" cap="none" strike="noStrike">
              <a:solidFill>
                <a:srgbClr val="6F3A93"/>
              </a:solidFill>
              <a:latin typeface="Montserrat"/>
              <a:ea typeface="Montserrat"/>
              <a:cs typeface="Montserrat"/>
              <a:sym typeface="Montserrat"/>
            </a:endParaRPr>
          </a:p>
        </p:txBody>
      </p:sp>
      <p:sp>
        <p:nvSpPr>
          <p:cNvPr id="274" name="Google Shape;274;p10"/>
          <p:cNvSpPr txBox="1"/>
          <p:nvPr/>
        </p:nvSpPr>
        <p:spPr>
          <a:xfrm>
            <a:off x="4662575" y="1374275"/>
            <a:ext cx="4084800" cy="3274800"/>
          </a:xfrm>
          <a:prstGeom prst="rect">
            <a:avLst/>
          </a:prstGeom>
          <a:noFill/>
          <a:ln>
            <a:noFill/>
          </a:ln>
        </p:spPr>
        <p:txBody>
          <a:bodyPr anchorCtr="0" anchor="t" bIns="91425" lIns="91425" spcFirstLastPara="1" rIns="91425" wrap="square" tIns="91425">
            <a:spAutoFit/>
          </a:bodyPr>
          <a:lstStyle/>
          <a:p>
            <a:r>
              <a:t>RetailMax will provide API access to SAP ERP within 2 weeks of kick-off.</a:t>
            </a:r>
          </a:p>
          <a:p>
            <a:pPr/>
            <a:r>
              <a:t>Product data migration scope limited to 80,000 active SKUs.</a:t>
            </a:r>
          </a:p>
          <a:p>
            <a:pPr/>
            <a:r>
              <a:t>UAT environment and test accounts provided by RetailMax.</a:t>
            </a:r>
          </a:p>
          <a:p>
            <a:pPr/>
            <a:r>
              <a:t>Third-party PIM licence costs are borne by RetailMax.</a:t>
            </a:r>
          </a:p>
          <a:p>
            <a:pPr/>
            <a:r>
              <a:t>Hypercare support of 2 weeks included post go-live.</a:t>
            </a:r>
          </a:p>
        </p:txBody>
      </p:sp>
      <p:sp>
        <p:nvSpPr>
          <p:cNvPr id="275" name="Google Shape;275;p10"/>
          <p:cNvSpPr txBox="1"/>
          <p:nvPr/>
        </p:nvSpPr>
        <p:spPr>
          <a:xfrm>
            <a:off x="400819" y="1406088"/>
            <a:ext cx="4084800" cy="19116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Project Discovery, Design, Development and Deployment.</a:t>
            </a:r>
            <a:endParaRPr b="0" i="0" sz="1100" u="none" cap="none" strike="noStrike">
              <a:solidFill>
                <a:srgbClr val="000000"/>
              </a:solidFill>
              <a:latin typeface="Montserrat"/>
              <a:ea typeface="Montserrat"/>
              <a:cs typeface="Montserrat"/>
              <a:sym typeface="Montserrat"/>
            </a:endParaRPr>
          </a:p>
          <a:p>
            <a:pPr indent="-298450" lvl="1" marL="914400" marR="0" rtl="0" algn="l">
              <a:lnSpc>
                <a:spcPct val="115000"/>
              </a:lnSpc>
              <a:spcBef>
                <a:spcPts val="0"/>
              </a:spcBef>
              <a:spcAft>
                <a:spcPts val="0"/>
              </a:spcAft>
              <a:buClr>
                <a:srgbClr val="000000"/>
              </a:buClr>
              <a:buSzPts val="1100"/>
              <a:buFont typeface="Montserrat"/>
              <a:buChar char="○"/>
            </a:pPr>
            <a:r>
              <a:rPr b="0" i="0" lang="en" sz="1100" u="none" cap="none" strike="noStrike">
                <a:solidFill>
                  <a:srgbClr val="000000"/>
                </a:solidFill>
                <a:latin typeface="Montserrat"/>
                <a:ea typeface="Montserrat"/>
                <a:cs typeface="Montserrat"/>
                <a:sym typeface="Montserrat"/>
              </a:rPr>
              <a:t>Mobile Application Development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UX and Visual Designs of all the screens</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Manual QA Testing for the developed features</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CI/CD Implementation</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UAT support and deployment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Go-Live Support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Hypercare /Warranty Support(2 Weeks)</a:t>
            </a:r>
            <a:endParaRPr b="0" i="0" sz="1100" u="none" cap="none" strike="noStrike">
              <a:solidFill>
                <a:srgbClr val="000000"/>
              </a:solidFill>
              <a:latin typeface="Montserrat"/>
              <a:ea typeface="Montserrat"/>
              <a:cs typeface="Montserrat"/>
              <a:sym typeface="Montserrat"/>
            </a:endParaRPr>
          </a:p>
        </p:txBody>
      </p:sp>
      <p:sp>
        <p:nvSpPr>
          <p:cNvPr id="276" name="Google Shape;276;p1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1"/>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1"/>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283" name="Google Shape;283;p11"/>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284" name="Google Shape;284;p11"/>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Proposed Technical Solution Approach</a:t>
            </a:r>
            <a:endParaRPr b="1" i="0" sz="1200" u="none" cap="none" strike="noStrike">
              <a:solidFill>
                <a:srgbClr val="D71B7F"/>
              </a:solidFill>
              <a:latin typeface="Montserrat"/>
              <a:ea typeface="Montserrat"/>
              <a:cs typeface="Montserrat"/>
              <a:sym typeface="Montserrat"/>
            </a:endParaRPr>
          </a:p>
        </p:txBody>
      </p:sp>
      <p:sp>
        <p:nvSpPr>
          <p:cNvPr id="285" name="Google Shape;285;p11"/>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286" name="Google Shape;286;p11"/>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287" name="Google Shape;287;p11"/>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288" name="Google Shape;288;p11"/>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289" name="Google Shape;289;p11"/>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1"/>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11"/>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2" name="Google Shape;292;p11"/>
          <p:cNvPicPr preferRelativeResize="0"/>
          <p:nvPr/>
        </p:nvPicPr>
        <p:blipFill rotWithShape="1">
          <a:blip r:embed="rId3">
            <a:alphaModFix/>
          </a:blip>
          <a:srcRect b="0" l="0" r="0" t="0"/>
          <a:stretch/>
        </p:blipFill>
        <p:spPr>
          <a:xfrm>
            <a:off x="1246476" y="4086150"/>
            <a:ext cx="6568648" cy="958975"/>
          </a:xfrm>
          <a:prstGeom prst="rect">
            <a:avLst/>
          </a:prstGeom>
          <a:noFill/>
          <a:ln>
            <a:noFill/>
          </a:ln>
        </p:spPr>
      </p:pic>
      <p:sp>
        <p:nvSpPr>
          <p:cNvPr id="293" name="Google Shape;293;p11"/>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294" name="Google Shape;294;p11"/>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295" name="Google Shape;295;p11"/>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1"/>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297" name="Google Shape;297;p11"/>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298" name="Google Shape;298;p11"/>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11"/>
          <p:cNvSpPr txBox="1"/>
          <p:nvPr>
            <p:ph idx="4294967295"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2"/>
          <p:cNvSpPr/>
          <p:nvPr/>
        </p:nvSpPr>
        <p:spPr>
          <a:xfrm>
            <a:off x="226950" y="740900"/>
            <a:ext cx="8690100" cy="41133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indent="0" lvl="0" marL="0" marR="0" rtl="0" algn="just">
              <a:lnSpc>
                <a:spcPct val="115000"/>
              </a:lnSpc>
              <a:spcBef>
                <a:spcPts val="0"/>
              </a:spcBef>
              <a:spcAft>
                <a:spcPts val="0"/>
              </a:spcAft>
              <a:buClr>
                <a:srgbClr val="000000"/>
              </a:buClr>
              <a:buSzPts val="1100"/>
              <a:buFont typeface="Arial"/>
              <a:buNone/>
            </a:pPr>
            <a:r>
              <a:t/>
            </a:r>
            <a:endParaRPr b="1" i="0" sz="1000" u="none" cap="none" strike="noStrike">
              <a:solidFill>
                <a:srgbClr val="D71B7F"/>
              </a:solidFill>
              <a:latin typeface="Montserrat"/>
              <a:ea typeface="Montserrat"/>
              <a:cs typeface="Montserrat"/>
              <a:sym typeface="Montserrat"/>
            </a:endParaRPr>
          </a:p>
        </p:txBody>
      </p:sp>
      <p:cxnSp>
        <p:nvCxnSpPr>
          <p:cNvPr id="305" name="Google Shape;305;p12"/>
          <p:cNvCxnSpPr/>
          <p:nvPr/>
        </p:nvCxnSpPr>
        <p:spPr>
          <a:xfrm>
            <a:off x="249444" y="751302"/>
            <a:ext cx="0" cy="4113300"/>
          </a:xfrm>
          <a:prstGeom prst="straightConnector1">
            <a:avLst/>
          </a:prstGeom>
          <a:noFill/>
          <a:ln cap="flat" cmpd="sng" w="19050">
            <a:solidFill>
              <a:srgbClr val="12519C"/>
            </a:solidFill>
            <a:prstDash val="solid"/>
            <a:round/>
            <a:headEnd len="sm" w="sm" type="none"/>
            <a:tailEnd len="sm" w="sm" type="none"/>
          </a:ln>
        </p:spPr>
      </p:cxnSp>
      <p:sp>
        <p:nvSpPr>
          <p:cNvPr id="306" name="Google Shape;306;p12"/>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Solutioning Highlights</a:t>
            </a:r>
            <a:endParaRPr/>
          </a:p>
        </p:txBody>
      </p:sp>
      <p:sp>
        <p:nvSpPr>
          <p:cNvPr id="307" name="Google Shape;307;p12"/>
          <p:cNvSpPr txBox="1"/>
          <p:nvPr/>
        </p:nvSpPr>
        <p:spPr>
          <a:xfrm>
            <a:off x="340550" y="993438"/>
            <a:ext cx="8196900" cy="4032900"/>
          </a:xfrm>
          <a:prstGeom prst="rect">
            <a:avLst/>
          </a:prstGeom>
          <a:noFill/>
          <a:ln>
            <a:noFill/>
          </a:ln>
        </p:spPr>
        <p:txBody>
          <a:bodyPr anchorCtr="0" anchor="t" bIns="91425" lIns="91425" spcFirstLastPara="1" rIns="91425" wrap="square" tIns="91425">
            <a:spAutoFit/>
          </a:bodyPr>
          <a:lstStyle/>
          <a:p>
            <a:r>
              <a:t>Drupal 10 with Commerce 2.x as the core commerce engine.</a:t>
            </a:r>
          </a:p>
          <a:p>
            <a:pPr/>
            <a:r>
              <a:t>Akeneo PIM connector for product enrichment and attribute management.</a:t>
            </a:r>
          </a:p>
          <a:p>
            <a:pPr/>
            <a:r>
              <a:t>Search API with Solr for faceted navigation and autocomplete.</a:t>
            </a:r>
          </a:p>
          <a:p>
            <a:pPr/>
            <a:r>
              <a:t>Headless Next.js storefront with SSR for SEO and Core Web Vitals.</a:t>
            </a:r>
          </a:p>
          <a:p>
            <a:pPr/>
            <a:r>
              <a:t>Middleware layer for ERP (SAP) inventory and order synchronisation.</a:t>
            </a:r>
          </a:p>
        </p:txBody>
      </p:sp>
      <p:sp>
        <p:nvSpPr>
          <p:cNvPr id="308" name="Google Shape;308;p1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3"/>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Proposed High Level Architecture</a:t>
            </a:r>
            <a:endParaRPr/>
          </a:p>
        </p:txBody>
      </p:sp>
      <p:sp>
        <p:nvSpPr>
          <p:cNvPr id="314" name="Google Shape;314;p13"/>
          <p:cNvSpPr/>
          <p:nvPr/>
        </p:nvSpPr>
        <p:spPr>
          <a:xfrm>
            <a:off x="2397150" y="887625"/>
            <a:ext cx="3813600" cy="3699300"/>
          </a:xfrm>
          <a:prstGeom prst="snip1Rect">
            <a:avLst>
              <a:gd fmla="val 8329" name="adj"/>
            </a:avLst>
          </a:prstGeom>
          <a:noFill/>
          <a:ln cap="flat" cmpd="sng" w="9525">
            <a:solidFill>
              <a:srgbClr val="6F3A93"/>
            </a:solidFill>
            <a:prstDash val="solid"/>
            <a:round/>
            <a:headEnd len="sm" w="sm" type="none"/>
            <a:tailEnd len="sm" w="sm" type="none"/>
          </a:ln>
        </p:spPr>
        <p:txBody>
          <a:bodyPr anchorCtr="0" anchor="t" bIns="91425"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F3A93"/>
                </a:solidFill>
                <a:latin typeface="Montserrat"/>
                <a:ea typeface="Montserrat"/>
                <a:cs typeface="Montserrat"/>
                <a:sym typeface="Montserrat"/>
              </a:rPr>
              <a:t>Mobile Application</a:t>
            </a:r>
            <a:endParaRPr b="1" i="0" sz="900" u="none" cap="none" strike="noStrike">
              <a:solidFill>
                <a:srgbClr val="6F3A93"/>
              </a:solidFill>
              <a:latin typeface="Montserrat"/>
              <a:ea typeface="Montserrat"/>
              <a:cs typeface="Montserrat"/>
              <a:sym typeface="Montserrat"/>
            </a:endParaRPr>
          </a:p>
        </p:txBody>
      </p:sp>
      <p:sp>
        <p:nvSpPr>
          <p:cNvPr id="315" name="Google Shape;315;p13"/>
          <p:cNvSpPr/>
          <p:nvPr/>
        </p:nvSpPr>
        <p:spPr>
          <a:xfrm>
            <a:off x="756125" y="2252475"/>
            <a:ext cx="922800" cy="969600"/>
          </a:xfrm>
          <a:prstGeom prst="snip1Rect">
            <a:avLst>
              <a:gd fmla="val 8329" name="adj"/>
            </a:avLst>
          </a:prstGeom>
          <a:noFill/>
          <a:ln cap="flat" cmpd="sng" w="9525">
            <a:solidFill>
              <a:srgbClr val="12519C"/>
            </a:solidFill>
            <a:prstDash val="solid"/>
            <a:round/>
            <a:headEnd len="sm" w="sm" type="none"/>
            <a:tailEnd len="sm" w="sm" type="none"/>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1" i="0" sz="900" u="none" cap="none" strike="noStrike">
              <a:solidFill>
                <a:srgbClr val="D71B7F"/>
              </a:solidFill>
              <a:latin typeface="Montserrat"/>
              <a:ea typeface="Montserrat"/>
              <a:cs typeface="Montserrat"/>
              <a:sym typeface="Montserrat"/>
            </a:endParaRPr>
          </a:p>
        </p:txBody>
      </p:sp>
      <p:sp>
        <p:nvSpPr>
          <p:cNvPr id="316" name="Google Shape;316;p13"/>
          <p:cNvSpPr/>
          <p:nvPr/>
        </p:nvSpPr>
        <p:spPr>
          <a:xfrm>
            <a:off x="2549550" y="1316100"/>
            <a:ext cx="3508800" cy="305700"/>
          </a:xfrm>
          <a:prstGeom prst="snip1Rect">
            <a:avLst>
              <a:gd fmla="val 8329" name="adj"/>
            </a:avLst>
          </a:prstGeom>
          <a:solidFill>
            <a:srgbClr val="F6F6F6"/>
          </a:solidFill>
          <a:ln cap="flat" cmpd="sng" w="9525">
            <a:solidFill>
              <a:srgbClr val="E7E6E6"/>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UI layer Screens</a:t>
            </a:r>
            <a:endParaRPr b="1" i="0" sz="900" u="none" cap="none" strike="noStrike">
              <a:solidFill>
                <a:srgbClr val="12519C"/>
              </a:solidFill>
              <a:latin typeface="Montserrat"/>
              <a:ea typeface="Montserrat"/>
              <a:cs typeface="Montserrat"/>
              <a:sym typeface="Montserrat"/>
            </a:endParaRPr>
          </a:p>
        </p:txBody>
      </p:sp>
      <p:sp>
        <p:nvSpPr>
          <p:cNvPr id="317" name="Google Shape;317;p13"/>
          <p:cNvSpPr txBox="1"/>
          <p:nvPr/>
        </p:nvSpPr>
        <p:spPr>
          <a:xfrm>
            <a:off x="744425" y="2826663"/>
            <a:ext cx="9462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Mobile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User</a:t>
            </a:r>
            <a:endParaRPr b="1" i="0" sz="800" u="none" cap="none" strike="noStrike">
              <a:solidFill>
                <a:srgbClr val="12519C"/>
              </a:solidFill>
              <a:latin typeface="Montserrat"/>
              <a:ea typeface="Montserrat"/>
              <a:cs typeface="Montserrat"/>
              <a:sym typeface="Montserrat"/>
            </a:endParaRPr>
          </a:p>
        </p:txBody>
      </p:sp>
      <p:sp>
        <p:nvSpPr>
          <p:cNvPr id="318" name="Google Shape;318;p13"/>
          <p:cNvSpPr/>
          <p:nvPr/>
        </p:nvSpPr>
        <p:spPr>
          <a:xfrm>
            <a:off x="7069675" y="1671550"/>
            <a:ext cx="1329900" cy="882000"/>
          </a:xfrm>
          <a:prstGeom prst="snip1Rect">
            <a:avLst>
              <a:gd fmla="val 16667" name="adj"/>
            </a:avLst>
          </a:prstGeom>
          <a:solidFill>
            <a:srgbClr val="D9D2E9"/>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525252"/>
                </a:solidFill>
                <a:latin typeface="Montserrat"/>
                <a:ea typeface="Montserrat"/>
                <a:cs typeface="Montserrat"/>
                <a:sym typeface="Montserrat"/>
              </a:rPr>
              <a:t>Racing Queensland Backend APIs</a:t>
            </a:r>
            <a:endParaRPr b="1" i="0" sz="800" u="none" cap="none" strike="noStrike">
              <a:solidFill>
                <a:srgbClr val="525252"/>
              </a:solidFill>
              <a:latin typeface="Montserrat"/>
              <a:ea typeface="Montserrat"/>
              <a:cs typeface="Montserrat"/>
              <a:sym typeface="Montserrat"/>
            </a:endParaRPr>
          </a:p>
        </p:txBody>
      </p:sp>
      <p:sp>
        <p:nvSpPr>
          <p:cNvPr id="319" name="Google Shape;319;p13"/>
          <p:cNvSpPr/>
          <p:nvPr/>
        </p:nvSpPr>
        <p:spPr>
          <a:xfrm>
            <a:off x="7069675" y="2847049"/>
            <a:ext cx="1329900" cy="882000"/>
          </a:xfrm>
          <a:prstGeom prst="snip1Rect">
            <a:avLst>
              <a:gd fmla="val 16667" name="adj"/>
            </a:avLst>
          </a:prstGeom>
          <a:solidFill>
            <a:srgbClr val="D9D2E9"/>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525252"/>
                </a:solidFill>
                <a:latin typeface="Montserrat"/>
                <a:ea typeface="Montserrat"/>
                <a:cs typeface="Montserrat"/>
                <a:sym typeface="Montserrat"/>
              </a:rPr>
              <a:t>Firebase</a:t>
            </a:r>
            <a:endParaRPr b="1" i="0" sz="800" u="none" cap="none" strike="noStrike">
              <a:solidFill>
                <a:srgbClr val="525252"/>
              </a:solidFill>
              <a:latin typeface="Montserrat"/>
              <a:ea typeface="Montserrat"/>
              <a:cs typeface="Montserrat"/>
              <a:sym typeface="Montserrat"/>
            </a:endParaRPr>
          </a:p>
        </p:txBody>
      </p:sp>
      <p:pic>
        <p:nvPicPr>
          <p:cNvPr id="320" name="Google Shape;320;p13"/>
          <p:cNvPicPr preferRelativeResize="0"/>
          <p:nvPr/>
        </p:nvPicPr>
        <p:blipFill rotWithShape="1">
          <a:blip r:embed="rId3">
            <a:alphaModFix/>
          </a:blip>
          <a:srcRect b="0" l="0" r="0" t="0"/>
          <a:stretch/>
        </p:blipFill>
        <p:spPr>
          <a:xfrm>
            <a:off x="1016525" y="2379875"/>
            <a:ext cx="401999" cy="401999"/>
          </a:xfrm>
          <a:prstGeom prst="rect">
            <a:avLst/>
          </a:prstGeom>
          <a:noFill/>
          <a:ln>
            <a:noFill/>
          </a:ln>
        </p:spPr>
      </p:pic>
      <p:sp>
        <p:nvSpPr>
          <p:cNvPr id="321" name="Google Shape;321;p13"/>
          <p:cNvSpPr/>
          <p:nvPr/>
        </p:nvSpPr>
        <p:spPr>
          <a:xfrm>
            <a:off x="2549550" y="1959698"/>
            <a:ext cx="3508800" cy="305700"/>
          </a:xfrm>
          <a:prstGeom prst="snip1Rect">
            <a:avLst>
              <a:gd fmla="val 8329" name="adj"/>
            </a:avLst>
          </a:prstGeom>
          <a:solidFill>
            <a:srgbClr val="F6F6F6"/>
          </a:solidFill>
          <a:ln cap="flat" cmpd="sng" w="9525">
            <a:solidFill>
              <a:srgbClr val="E7E6E6"/>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Business Logic Layer</a:t>
            </a:r>
            <a:endParaRPr b="1" i="0" sz="900" u="none" cap="none" strike="noStrike">
              <a:solidFill>
                <a:srgbClr val="12519C"/>
              </a:solidFill>
              <a:latin typeface="Montserrat"/>
              <a:ea typeface="Montserrat"/>
              <a:cs typeface="Montserrat"/>
              <a:sym typeface="Montserrat"/>
            </a:endParaRPr>
          </a:p>
        </p:txBody>
      </p:sp>
      <p:sp>
        <p:nvSpPr>
          <p:cNvPr id="322" name="Google Shape;322;p13"/>
          <p:cNvSpPr/>
          <p:nvPr/>
        </p:nvSpPr>
        <p:spPr>
          <a:xfrm>
            <a:off x="2549550" y="2603300"/>
            <a:ext cx="3508800" cy="612000"/>
          </a:xfrm>
          <a:prstGeom prst="snip1Rect">
            <a:avLst>
              <a:gd fmla="val 16667" name="adj"/>
            </a:avLst>
          </a:prstGeom>
          <a:solidFill>
            <a:srgbClr val="E7F2F8"/>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rgbClr val="12519C"/>
              </a:solidFill>
              <a:latin typeface="Montserrat"/>
              <a:ea typeface="Montserrat"/>
              <a:cs typeface="Montserrat"/>
              <a:sym typeface="Montserrat"/>
            </a:endParaRPr>
          </a:p>
        </p:txBody>
      </p:sp>
      <p:sp>
        <p:nvSpPr>
          <p:cNvPr id="323" name="Google Shape;323;p13"/>
          <p:cNvSpPr/>
          <p:nvPr/>
        </p:nvSpPr>
        <p:spPr>
          <a:xfrm>
            <a:off x="2975075" y="2890671"/>
            <a:ext cx="1231500" cy="2535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Network Service</a:t>
            </a:r>
            <a:endParaRPr b="1" i="0" sz="800" u="none" cap="none" strike="noStrike">
              <a:solidFill>
                <a:srgbClr val="525252"/>
              </a:solidFill>
              <a:latin typeface="Montserrat"/>
              <a:ea typeface="Montserrat"/>
              <a:cs typeface="Montserrat"/>
              <a:sym typeface="Montserrat"/>
            </a:endParaRPr>
          </a:p>
        </p:txBody>
      </p:sp>
      <p:sp>
        <p:nvSpPr>
          <p:cNvPr id="324" name="Google Shape;324;p13"/>
          <p:cNvSpPr/>
          <p:nvPr/>
        </p:nvSpPr>
        <p:spPr>
          <a:xfrm>
            <a:off x="4481025" y="2890671"/>
            <a:ext cx="1231500" cy="2535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Local Storage</a:t>
            </a:r>
            <a:endParaRPr b="1" i="0" sz="800" u="none" cap="none" strike="noStrike">
              <a:solidFill>
                <a:srgbClr val="525252"/>
              </a:solidFill>
              <a:latin typeface="Montserrat"/>
              <a:ea typeface="Montserrat"/>
              <a:cs typeface="Montserrat"/>
              <a:sym typeface="Montserrat"/>
            </a:endParaRPr>
          </a:p>
        </p:txBody>
      </p:sp>
      <p:sp>
        <p:nvSpPr>
          <p:cNvPr id="325" name="Google Shape;325;p13"/>
          <p:cNvSpPr/>
          <p:nvPr/>
        </p:nvSpPr>
        <p:spPr>
          <a:xfrm>
            <a:off x="2549550" y="3553200"/>
            <a:ext cx="3508800" cy="882000"/>
          </a:xfrm>
          <a:prstGeom prst="snip1Rect">
            <a:avLst>
              <a:gd fmla="val 16667" name="adj"/>
            </a:avLst>
          </a:prstGeom>
          <a:solidFill>
            <a:srgbClr val="E7F2F8"/>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rgbClr val="12519C"/>
              </a:solidFill>
              <a:latin typeface="Montserrat"/>
              <a:ea typeface="Montserrat"/>
              <a:cs typeface="Montserrat"/>
              <a:sym typeface="Montserrat"/>
            </a:endParaRPr>
          </a:p>
        </p:txBody>
      </p:sp>
      <p:sp>
        <p:nvSpPr>
          <p:cNvPr id="326" name="Google Shape;326;p13"/>
          <p:cNvSpPr/>
          <p:nvPr/>
        </p:nvSpPr>
        <p:spPr>
          <a:xfrm>
            <a:off x="2641000"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Analytics</a:t>
            </a:r>
            <a:endParaRPr b="1" i="0" sz="800" u="none" cap="none" strike="noStrike">
              <a:solidFill>
                <a:srgbClr val="525252"/>
              </a:solidFill>
              <a:latin typeface="Montserrat"/>
              <a:ea typeface="Montserrat"/>
              <a:cs typeface="Montserrat"/>
              <a:sym typeface="Montserrat"/>
            </a:endParaRPr>
          </a:p>
        </p:txBody>
      </p:sp>
      <p:sp>
        <p:nvSpPr>
          <p:cNvPr id="327" name="Google Shape;327;p13"/>
          <p:cNvSpPr/>
          <p:nvPr/>
        </p:nvSpPr>
        <p:spPr>
          <a:xfrm>
            <a:off x="3788308"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Push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Notifications</a:t>
            </a:r>
            <a:endParaRPr b="1" i="0" sz="800" u="none" cap="none" strike="noStrike">
              <a:solidFill>
                <a:srgbClr val="525252"/>
              </a:solidFill>
              <a:latin typeface="Montserrat"/>
              <a:ea typeface="Montserrat"/>
              <a:cs typeface="Montserrat"/>
              <a:sym typeface="Montserrat"/>
            </a:endParaRPr>
          </a:p>
        </p:txBody>
      </p:sp>
      <p:sp>
        <p:nvSpPr>
          <p:cNvPr id="328" name="Google Shape;328;p13"/>
          <p:cNvSpPr/>
          <p:nvPr/>
        </p:nvSpPr>
        <p:spPr>
          <a:xfrm>
            <a:off x="4935616"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Crash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Reporting</a:t>
            </a:r>
            <a:endParaRPr b="1" i="0" sz="800" u="none" cap="none" strike="noStrike">
              <a:solidFill>
                <a:srgbClr val="525252"/>
              </a:solidFill>
              <a:latin typeface="Montserrat"/>
              <a:ea typeface="Montserrat"/>
              <a:cs typeface="Montserrat"/>
              <a:sym typeface="Montserrat"/>
            </a:endParaRPr>
          </a:p>
        </p:txBody>
      </p:sp>
      <p:pic>
        <p:nvPicPr>
          <p:cNvPr id="329" name="Google Shape;329;p13"/>
          <p:cNvPicPr preferRelativeResize="0"/>
          <p:nvPr/>
        </p:nvPicPr>
        <p:blipFill rotWithShape="1">
          <a:blip r:embed="rId4">
            <a:alphaModFix/>
          </a:blip>
          <a:srcRect b="0" l="0" r="0" t="0"/>
          <a:stretch/>
        </p:blipFill>
        <p:spPr>
          <a:xfrm>
            <a:off x="7544462" y="3032873"/>
            <a:ext cx="283233" cy="357299"/>
          </a:xfrm>
          <a:prstGeom prst="rect">
            <a:avLst/>
          </a:prstGeom>
          <a:noFill/>
          <a:ln>
            <a:noFill/>
          </a:ln>
        </p:spPr>
      </p:pic>
      <p:pic>
        <p:nvPicPr>
          <p:cNvPr id="330" name="Google Shape;330;p13"/>
          <p:cNvPicPr preferRelativeResize="0"/>
          <p:nvPr/>
        </p:nvPicPr>
        <p:blipFill rotWithShape="1">
          <a:blip r:embed="rId5">
            <a:alphaModFix/>
          </a:blip>
          <a:srcRect b="0" l="0" r="0" t="0"/>
          <a:stretch/>
        </p:blipFill>
        <p:spPr>
          <a:xfrm>
            <a:off x="7572597" y="1767500"/>
            <a:ext cx="324045" cy="357300"/>
          </a:xfrm>
          <a:prstGeom prst="rect">
            <a:avLst/>
          </a:prstGeom>
          <a:noFill/>
          <a:ln>
            <a:noFill/>
          </a:ln>
        </p:spPr>
      </p:pic>
      <p:cxnSp>
        <p:nvCxnSpPr>
          <p:cNvPr id="331" name="Google Shape;331;p13"/>
          <p:cNvCxnSpPr>
            <a:stCxn id="315" idx="0"/>
            <a:endCxn id="314" idx="2"/>
          </p:cNvCxnSpPr>
          <p:nvPr/>
        </p:nvCxnSpPr>
        <p:spPr>
          <a:xfrm>
            <a:off x="1678925" y="2737275"/>
            <a:ext cx="718200" cy="0"/>
          </a:xfrm>
          <a:prstGeom prst="straightConnector1">
            <a:avLst/>
          </a:prstGeom>
          <a:noFill/>
          <a:ln cap="flat" cmpd="sng" w="9525">
            <a:solidFill>
              <a:srgbClr val="D9D9D9"/>
            </a:solidFill>
            <a:prstDash val="solid"/>
            <a:round/>
            <a:headEnd len="sm" w="sm" type="none"/>
            <a:tailEnd len="med" w="med" type="triangle"/>
          </a:ln>
        </p:spPr>
      </p:cxnSp>
      <p:cxnSp>
        <p:nvCxnSpPr>
          <p:cNvPr id="332" name="Google Shape;332;p13"/>
          <p:cNvCxnSpPr>
            <a:stCxn id="316" idx="1"/>
            <a:endCxn id="321" idx="3"/>
          </p:cNvCxnSpPr>
          <p:nvPr/>
        </p:nvCxnSpPr>
        <p:spPr>
          <a:xfrm>
            <a:off x="4303950" y="1621800"/>
            <a:ext cx="0" cy="337800"/>
          </a:xfrm>
          <a:prstGeom prst="straightConnector1">
            <a:avLst/>
          </a:prstGeom>
          <a:noFill/>
          <a:ln cap="flat" cmpd="sng" w="9525">
            <a:solidFill>
              <a:srgbClr val="D9D9D9"/>
            </a:solidFill>
            <a:prstDash val="solid"/>
            <a:round/>
            <a:headEnd len="med" w="med" type="triangle"/>
            <a:tailEnd len="med" w="med" type="triangle"/>
          </a:ln>
        </p:spPr>
      </p:cxnSp>
      <p:cxnSp>
        <p:nvCxnSpPr>
          <p:cNvPr id="333" name="Google Shape;333;p13"/>
          <p:cNvCxnSpPr>
            <a:stCxn id="321" idx="1"/>
            <a:endCxn id="322" idx="3"/>
          </p:cNvCxnSpPr>
          <p:nvPr/>
        </p:nvCxnSpPr>
        <p:spPr>
          <a:xfrm>
            <a:off x="4303950" y="2265398"/>
            <a:ext cx="0" cy="337800"/>
          </a:xfrm>
          <a:prstGeom prst="straightConnector1">
            <a:avLst/>
          </a:prstGeom>
          <a:noFill/>
          <a:ln cap="flat" cmpd="sng" w="9525">
            <a:solidFill>
              <a:srgbClr val="D9D9D9"/>
            </a:solidFill>
            <a:prstDash val="solid"/>
            <a:round/>
            <a:headEnd len="med" w="med" type="triangle"/>
            <a:tailEnd len="med" w="med" type="triangle"/>
          </a:ln>
        </p:spPr>
      </p:cxnSp>
      <p:sp>
        <p:nvSpPr>
          <p:cNvPr id="334" name="Google Shape;334;p13"/>
          <p:cNvSpPr txBox="1"/>
          <p:nvPr/>
        </p:nvSpPr>
        <p:spPr>
          <a:xfrm>
            <a:off x="3872500" y="2603296"/>
            <a:ext cx="946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Data Layer</a:t>
            </a:r>
            <a:endParaRPr b="1" i="0" sz="900" u="none" cap="none" strike="noStrike">
              <a:solidFill>
                <a:srgbClr val="12519C"/>
              </a:solidFill>
              <a:latin typeface="Montserrat"/>
              <a:ea typeface="Montserrat"/>
              <a:cs typeface="Montserrat"/>
              <a:sym typeface="Montserrat"/>
            </a:endParaRPr>
          </a:p>
        </p:txBody>
      </p:sp>
      <p:cxnSp>
        <p:nvCxnSpPr>
          <p:cNvPr id="335" name="Google Shape;335;p13"/>
          <p:cNvCxnSpPr>
            <a:stCxn id="322" idx="1"/>
            <a:endCxn id="325" idx="3"/>
          </p:cNvCxnSpPr>
          <p:nvPr/>
        </p:nvCxnSpPr>
        <p:spPr>
          <a:xfrm>
            <a:off x="4303950" y="3215300"/>
            <a:ext cx="0" cy="337800"/>
          </a:xfrm>
          <a:prstGeom prst="straightConnector1">
            <a:avLst/>
          </a:prstGeom>
          <a:noFill/>
          <a:ln cap="flat" cmpd="sng" w="9525">
            <a:solidFill>
              <a:srgbClr val="D9D9D9"/>
            </a:solidFill>
            <a:prstDash val="solid"/>
            <a:round/>
            <a:headEnd len="med" w="med" type="triangle"/>
            <a:tailEnd len="med" w="med" type="triangle"/>
          </a:ln>
        </p:spPr>
      </p:cxnSp>
      <p:sp>
        <p:nvSpPr>
          <p:cNvPr id="336" name="Google Shape;336;p13"/>
          <p:cNvSpPr txBox="1"/>
          <p:nvPr/>
        </p:nvSpPr>
        <p:spPr>
          <a:xfrm>
            <a:off x="3925088" y="3553196"/>
            <a:ext cx="946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3rd Party</a:t>
            </a:r>
            <a:endParaRPr b="1" i="0" sz="900" u="none" cap="none" strike="noStrike">
              <a:solidFill>
                <a:srgbClr val="12519C"/>
              </a:solidFill>
              <a:latin typeface="Montserrat"/>
              <a:ea typeface="Montserrat"/>
              <a:cs typeface="Montserrat"/>
              <a:sym typeface="Montserrat"/>
            </a:endParaRPr>
          </a:p>
        </p:txBody>
      </p:sp>
      <p:cxnSp>
        <p:nvCxnSpPr>
          <p:cNvPr id="337" name="Google Shape;337;p13"/>
          <p:cNvCxnSpPr>
            <a:stCxn id="314" idx="0"/>
            <a:endCxn id="318" idx="2"/>
          </p:cNvCxnSpPr>
          <p:nvPr/>
        </p:nvCxnSpPr>
        <p:spPr>
          <a:xfrm flipH="1" rot="10800000">
            <a:off x="6210750" y="2112675"/>
            <a:ext cx="858900" cy="624600"/>
          </a:xfrm>
          <a:prstGeom prst="bentConnector3">
            <a:avLst>
              <a:gd fmla="val 50001" name="adj1"/>
            </a:avLst>
          </a:prstGeom>
          <a:noFill/>
          <a:ln cap="flat" cmpd="sng" w="9525">
            <a:solidFill>
              <a:srgbClr val="D9D9D9"/>
            </a:solidFill>
            <a:prstDash val="solid"/>
            <a:round/>
            <a:headEnd len="sm" w="sm" type="none"/>
            <a:tailEnd len="med" w="med" type="triangle"/>
          </a:ln>
        </p:spPr>
      </p:cxnSp>
      <p:cxnSp>
        <p:nvCxnSpPr>
          <p:cNvPr id="338" name="Google Shape;338;p13"/>
          <p:cNvCxnSpPr>
            <a:stCxn id="314" idx="0"/>
            <a:endCxn id="319" idx="2"/>
          </p:cNvCxnSpPr>
          <p:nvPr/>
        </p:nvCxnSpPr>
        <p:spPr>
          <a:xfrm>
            <a:off x="6210750" y="2737275"/>
            <a:ext cx="858900" cy="550800"/>
          </a:xfrm>
          <a:prstGeom prst="bentConnector3">
            <a:avLst>
              <a:gd fmla="val 50001" name="adj1"/>
            </a:avLst>
          </a:prstGeom>
          <a:noFill/>
          <a:ln cap="flat" cmpd="sng" w="9525">
            <a:solidFill>
              <a:srgbClr val="D9D9D9"/>
            </a:solidFill>
            <a:prstDash val="solid"/>
            <a:round/>
            <a:headEnd len="sm" w="sm" type="none"/>
            <a:tailEnd len="med" w="med" type="triangle"/>
          </a:ln>
        </p:spPr>
      </p:cxnSp>
      <p:sp>
        <p:nvSpPr>
          <p:cNvPr id="339" name="Google Shape;339;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14"/>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Architecture Considerations</a:t>
            </a:r>
            <a:endParaRPr/>
          </a:p>
        </p:txBody>
      </p:sp>
      <p:graphicFrame>
        <p:nvGraphicFramePr>
          <p:cNvPr id="345" name="Google Shape;345;p14"/>
          <p:cNvGraphicFramePr/>
          <p:nvPr/>
        </p:nvGraphicFramePr>
        <p:xfrm>
          <a:off x="264425" y="755775"/>
          <a:ext cx="3000000" cy="3000000"/>
        </p:xfrm>
        <a:graphic>
          <a:graphicData uri="http://schemas.openxmlformats.org/drawingml/2006/table">
            <a:tbl>
              <a:tblPr>
                <a:noFill/>
                <a:tableStyleId>{4776C36E-D2AD-4AE9-B92F-3330EE880BF7}</a:tableStyleId>
              </a:tblPr>
              <a:tblGrid>
                <a:gridCol w="1855975"/>
                <a:gridCol w="6695125"/>
              </a:tblGrid>
              <a:tr h="28810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latin typeface="Montserrat"/>
                          <a:ea typeface="Montserrat"/>
                          <a:cs typeface="Montserrat"/>
                          <a:sym typeface="Montserrat"/>
                        </a:rPr>
                        <a:t>Component</a:t>
                      </a:r>
                      <a:endParaRPr b="1" sz="1000" u="none" cap="none" strike="noStrike">
                        <a:solidFill>
                          <a:srgbClr val="FFFFFF"/>
                        </a:solidFill>
                        <a:latin typeface="Montserrat"/>
                        <a:ea typeface="Montserrat"/>
                        <a:cs typeface="Montserrat"/>
                        <a:sym typeface="Montserrat"/>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12519C"/>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latin typeface="Montserrat"/>
                          <a:ea typeface="Montserrat"/>
                          <a:cs typeface="Montserrat"/>
                          <a:sym typeface="Montserrat"/>
                        </a:rPr>
                        <a:t>Key Considerations</a:t>
                      </a:r>
                      <a:endParaRPr b="1" sz="1000" u="none" cap="none" strike="noStrike">
                        <a:solidFill>
                          <a:srgbClr val="FFFFFF"/>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12519C"/>
                    </a:solidFill>
                  </a:tcPr>
                </a:tc>
              </a:tr>
              <a:tr h="67050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Mobile Application Development Platform</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Cross-platform technologies like Flutter or React Native to be considered for mobile application development. They will enable us to use a single codebase for both Android and iOS, reducing development time and costs while increasing code reuse and maintainability.</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602400">
                <a:tc>
                  <a:txBody>
                    <a:bodyPr/>
                    <a:lstStyle/>
                    <a:p>
                      <a:pPr indent="0" lvl="0" marL="0" marR="0" rtl="0" algn="l">
                        <a:lnSpc>
                          <a:spcPct val="115000"/>
                        </a:lnSpc>
                        <a:spcBef>
                          <a:spcPts val="0"/>
                        </a:spcBef>
                        <a:spcAft>
                          <a:spcPts val="0"/>
                        </a:spcAft>
                        <a:buClr>
                          <a:schemeClr val="dk1"/>
                        </a:buClr>
                        <a:buSzPts val="1100"/>
                        <a:buFont typeface="Arial"/>
                        <a:buNone/>
                      </a:pPr>
                      <a:r>
                        <a:rPr b="1" lang="en" sz="1000" u="none" cap="none" strike="noStrike">
                          <a:latin typeface="Montserrat"/>
                          <a:ea typeface="Montserrat"/>
                          <a:cs typeface="Montserrat"/>
                          <a:sym typeface="Montserrat"/>
                        </a:rPr>
                        <a:t>On-the-fly Deployment</a:t>
                      </a:r>
                      <a:r>
                        <a:rPr lang="en" sz="1000" u="none" cap="none" strike="noStrike">
                          <a:solidFill>
                            <a:schemeClr val="dk1"/>
                          </a:solidFill>
                          <a:latin typeface="Montserrat"/>
                          <a:ea typeface="Montserrat"/>
                          <a:cs typeface="Montserrat"/>
                          <a:sym typeface="Montserrat"/>
                        </a:rPr>
                        <a:t> </a:t>
                      </a:r>
                      <a:endParaRPr b="1" sz="1000" u="none" cap="none" strike="noStrike">
                        <a:solidFill>
                          <a:schemeClr val="dk1"/>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On-the-fly deployment enables pushing app updates without app store resubmission-natively supported in React Native via CodePush and achievable in Flutter using Shorebird. This is particularly useful for hot-fixes and minor changes</a:t>
                      </a:r>
                      <a:r>
                        <a:rPr lang="en" sz="1100" u="none" cap="none" strike="noStrike">
                          <a:solidFill>
                            <a:schemeClr val="dk1"/>
                          </a:solidFill>
                        </a:rPr>
                        <a:t>.</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19075">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Montserrat"/>
                          <a:ea typeface="Montserrat"/>
                          <a:cs typeface="Montserrat"/>
                          <a:sym typeface="Montserrat"/>
                        </a:rPr>
                        <a:t>Performance Optimisation</a:t>
                      </a:r>
                      <a:endParaRPr b="1" sz="1000" u="none" cap="none" strike="noStrike">
                        <a:solidFill>
                          <a:schemeClr val="dk1"/>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Responsive UI and smooth animations, lazy loading of images, pagination and optimised asset management. </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367200">
                <a:tc>
                  <a:txBody>
                    <a:bodyPr/>
                    <a:lstStyle/>
                    <a:p>
                      <a:pPr indent="0" lvl="0" marL="0" marR="0" rtl="0" algn="l">
                        <a:lnSpc>
                          <a:spcPct val="100000"/>
                        </a:lnSpc>
                        <a:spcBef>
                          <a:spcPts val="0"/>
                        </a:spcBef>
                        <a:spcAft>
                          <a:spcPts val="0"/>
                        </a:spcAft>
                        <a:buClr>
                          <a:schemeClr val="dk1"/>
                        </a:buClr>
                        <a:buSzPts val="1100"/>
                        <a:buFont typeface="Arial"/>
                        <a:buNone/>
                      </a:pPr>
                      <a:r>
                        <a:rPr b="1" lang="en" sz="1000" u="none" cap="none" strike="noStrike">
                          <a:solidFill>
                            <a:schemeClr val="dk1"/>
                          </a:solidFill>
                          <a:latin typeface="Montserrat"/>
                          <a:ea typeface="Montserrat"/>
                          <a:cs typeface="Montserrat"/>
                          <a:sym typeface="Montserrat"/>
                        </a:rPr>
                        <a:t>API Integration</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RESTful API integration using the existing APIs utilised by the Web platform.</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652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Security &amp; Data Protection</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Any user data to be securely stored in keychain and encryption if required. Secure communication using HTTPS. Authentication using existing backend architecture.</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652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Analytics &amp; Crash Monitoring</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Firebase Analytics(or any other preferred tool) to be utilised for analysing user behavior, page views and clicks. Crash reporting and error monitoring to be dove via Firebase Crashlytics.</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555075">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Deployment Strategy</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App Store and Play store guidelines compliance.</a:t>
                      </a:r>
                      <a:endParaRPr sz="1000" u="none" cap="none" strike="noStrike">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CI/CD pipeline for automated deployment for different environments.</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bl>
          </a:graphicData>
        </a:graphic>
      </p:graphicFrame>
      <p:sp>
        <p:nvSpPr>
          <p:cNvPr id="346" name="Google Shape;346;p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15"/>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15"/>
          <p:cNvSpPr txBox="1"/>
          <p:nvPr>
            <p:ph type="title"/>
          </p:nvPr>
        </p:nvSpPr>
        <p:spPr>
          <a:xfrm>
            <a:off x="104500" y="141850"/>
            <a:ext cx="7467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Mobile Development Platform - Comparison</a:t>
            </a:r>
            <a:endParaRPr>
              <a:solidFill>
                <a:schemeClr val="dk1"/>
              </a:solidFill>
            </a:endParaRPr>
          </a:p>
        </p:txBody>
      </p:sp>
      <p:sp>
        <p:nvSpPr>
          <p:cNvPr id="353" name="Google Shape;353;p15"/>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latin typeface="Montserrat"/>
                <a:ea typeface="Montserrat"/>
                <a:cs typeface="Montserrat"/>
                <a:sym typeface="Montserrat"/>
              </a:rPr>
              <a:t>‹#›</a:t>
            </a:fld>
            <a:endParaRPr sz="1000">
              <a:latin typeface="Montserrat"/>
              <a:ea typeface="Montserrat"/>
              <a:cs typeface="Montserrat"/>
              <a:sym typeface="Montserrat"/>
            </a:endParaRPr>
          </a:p>
        </p:txBody>
      </p:sp>
      <p:sp>
        <p:nvSpPr>
          <p:cNvPr id="354" name="Google Shape;354;p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graphicFrame>
        <p:nvGraphicFramePr>
          <p:cNvPr id="355" name="Google Shape;355;p15"/>
          <p:cNvGraphicFramePr/>
          <p:nvPr/>
        </p:nvGraphicFramePr>
        <p:xfrm>
          <a:off x="189880" y="722548"/>
          <a:ext cx="3000000" cy="3000000"/>
        </p:xfrm>
        <a:graphic>
          <a:graphicData uri="http://schemas.openxmlformats.org/drawingml/2006/table">
            <a:tbl>
              <a:tblPr bandRow="1" firstRow="1">
                <a:noFill/>
                <a:tableStyleId>{759350B3-BBFF-4BFA-8656-60803C743C3A}</a:tableStyleId>
              </a:tblPr>
              <a:tblGrid>
                <a:gridCol w="4210000"/>
                <a:gridCol w="2933625"/>
                <a:gridCol w="1567950"/>
              </a:tblGrid>
              <a:tr h="260600">
                <a:tc>
                  <a:txBody>
                    <a:bodyPr/>
                    <a:lstStyle/>
                    <a:p>
                      <a:pPr indent="0" lvl="0" marL="63500" marR="0" rtl="0" algn="l">
                        <a:lnSpc>
                          <a:spcPct val="100000"/>
                        </a:lnSpc>
                        <a:spcBef>
                          <a:spcPts val="0"/>
                        </a:spcBef>
                        <a:spcAft>
                          <a:spcPts val="0"/>
                        </a:spcAft>
                        <a:buClr>
                          <a:srgbClr val="FFFFFF"/>
                        </a:buClr>
                        <a:buSzPts val="900"/>
                        <a:buFont typeface="Arial"/>
                        <a:buNone/>
                      </a:pPr>
                      <a:r>
                        <a:rPr lang="en" sz="1100" u="none" cap="none" strike="noStrike">
                          <a:latin typeface="Montserrat"/>
                          <a:ea typeface="Montserrat"/>
                          <a:cs typeface="Montserrat"/>
                          <a:sym typeface="Montserrat"/>
                        </a:rPr>
                        <a:t>Factors</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c>
                  <a:txBody>
                    <a:bodyPr/>
                    <a:lstStyle/>
                    <a:p>
                      <a:pPr indent="0" lvl="0" marL="63500" marR="0" rtl="0" algn="ctr">
                        <a:lnSpc>
                          <a:spcPct val="100000"/>
                        </a:lnSpc>
                        <a:spcBef>
                          <a:spcPts val="0"/>
                        </a:spcBef>
                        <a:spcAft>
                          <a:spcPts val="0"/>
                        </a:spcAft>
                        <a:buClr>
                          <a:srgbClr val="FFFFFF"/>
                        </a:buClr>
                        <a:buSzPts val="900"/>
                        <a:buFont typeface="Arial"/>
                        <a:buNone/>
                      </a:pPr>
                      <a:r>
                        <a:rPr lang="en" sz="1100" u="none" cap="none" strike="noStrike">
                          <a:solidFill>
                            <a:srgbClr val="FFFFFF"/>
                          </a:solidFill>
                          <a:latin typeface="Montserrat"/>
                          <a:ea typeface="Montserrat"/>
                          <a:cs typeface="Montserrat"/>
                          <a:sym typeface="Montserrat"/>
                        </a:rPr>
                        <a:t>REACT NATIVE</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c>
                  <a:txBody>
                    <a:bodyPr/>
                    <a:lstStyle/>
                    <a:p>
                      <a:pPr indent="0" lvl="0" marL="63500" marR="0" rtl="0" algn="ctr">
                        <a:lnSpc>
                          <a:spcPct val="100000"/>
                        </a:lnSpc>
                        <a:spcBef>
                          <a:spcPts val="0"/>
                        </a:spcBef>
                        <a:spcAft>
                          <a:spcPts val="0"/>
                        </a:spcAft>
                        <a:buClr>
                          <a:srgbClr val="FFFFFF"/>
                        </a:buClr>
                        <a:buSzPts val="900"/>
                        <a:buFont typeface="Arial"/>
                        <a:buNone/>
                      </a:pPr>
                      <a:r>
                        <a:rPr lang="en" sz="1100" u="none" cap="none" strike="noStrike">
                          <a:solidFill>
                            <a:srgbClr val="FFFFFF"/>
                          </a:solidFill>
                          <a:latin typeface="Montserrat"/>
                          <a:ea typeface="Montserrat"/>
                          <a:cs typeface="Montserrat"/>
                          <a:sym typeface="Montserrat"/>
                        </a:rPr>
                        <a:t>Flutter</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Performance/Speed</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OTA Updates  (Without going through App Store)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Possible (Using Codepush or Expo)</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Possible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41775">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Technologies Used</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React/ React-Native/ Native Components</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Dart</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Development Time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Debugging</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Easy</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Easy</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Community Support</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Backed By</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Facebook/ Open Source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Google/ Open Source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Build Size</a:t>
                      </a:r>
                      <a:endParaRPr b="1"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Highest</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Code Reuse between Platforms</a:t>
                      </a:r>
                      <a:endParaRPr b="1"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70-80%</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70-80%</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Support for OS Upgrades</a:t>
                      </a:r>
                      <a:endParaRPr b="1"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Ability &amp; Support for 3</a:t>
                      </a:r>
                      <a:r>
                        <a:rPr b="1" baseline="30000" lang="en" sz="1000" u="none" cap="none" strike="noStrike">
                          <a:latin typeface="Montserrat"/>
                          <a:ea typeface="Montserrat"/>
                          <a:cs typeface="Montserrat"/>
                          <a:sym typeface="Montserrat"/>
                        </a:rPr>
                        <a:t>rd</a:t>
                      </a:r>
                      <a:r>
                        <a:rPr b="1" lang="en" sz="1000" u="none" cap="none" strike="noStrike">
                          <a:latin typeface="Montserrat"/>
                          <a:ea typeface="Montserrat"/>
                          <a:cs typeface="Montserrat"/>
                          <a:sym typeface="Montserrat"/>
                        </a:rPr>
                        <a:t> party hardware / SDK</a:t>
                      </a:r>
                      <a:endParaRPr b="1"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
        <p:nvSpPr>
          <p:cNvPr id="356" name="Google Shape;356;p15"/>
          <p:cNvSpPr txBox="1"/>
          <p:nvPr/>
        </p:nvSpPr>
        <p:spPr>
          <a:xfrm>
            <a:off x="0" y="4485550"/>
            <a:ext cx="9144000" cy="495000"/>
          </a:xfrm>
          <a:prstGeom prst="rect">
            <a:avLst/>
          </a:prstGeom>
          <a:solidFill>
            <a:srgbClr val="FFFFFF"/>
          </a:solidFill>
          <a:ln>
            <a:noFill/>
          </a:ln>
        </p:spPr>
        <p:txBody>
          <a:bodyPr anchorCtr="0" anchor="t" bIns="91425" lIns="91425" spcFirstLastPara="1" rIns="91425" wrap="square" tIns="91425">
            <a:noAutofit/>
          </a:bodyPr>
          <a:lstStyle/>
          <a:p>
            <a:r>
              <a:t>Modular microservices architecture deployed on AWS EKS.</a:t>
            </a:r>
          </a:p>
          <a:p>
            <a:pPr/>
            <a:r>
              <a:t>API-first design with GraphQL gateway for storefront and mobile apps.</a:t>
            </a:r>
          </a:p>
          <a:p>
            <a:pPr/>
            <a:r>
              <a:t>Redis caching layer for session, cart, and catalogue hot paths.</a:t>
            </a:r>
          </a:p>
          <a:p>
            <a:pPr/>
            <a:r>
              <a:t>Event-driven order pipeline using Amazon SQS and Lambda.</a:t>
            </a:r>
          </a:p>
          <a:p>
            <a:pPr/>
            <a:r>
              <a:t>Blue-green deployments with automated rollback on health check failure.</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16"/>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16"/>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363" name="Google Shape;363;p16"/>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364" name="Google Shape;364;p16"/>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365" name="Google Shape;365;p16"/>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366" name="Google Shape;366;p16"/>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367" name="Google Shape;367;p16"/>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368" name="Google Shape;368;p16"/>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369" name="Google Shape;369;p16"/>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16"/>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16"/>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72" name="Google Shape;372;p16"/>
          <p:cNvPicPr preferRelativeResize="0"/>
          <p:nvPr/>
        </p:nvPicPr>
        <p:blipFill rotWithShape="1">
          <a:blip r:embed="rId3">
            <a:alphaModFix/>
          </a:blip>
          <a:srcRect b="0" l="0" r="0" t="0"/>
          <a:stretch/>
        </p:blipFill>
        <p:spPr>
          <a:xfrm>
            <a:off x="1246476" y="4086150"/>
            <a:ext cx="6568648" cy="958975"/>
          </a:xfrm>
          <a:prstGeom prst="rect">
            <a:avLst/>
          </a:prstGeom>
          <a:noFill/>
          <a:ln>
            <a:noFill/>
          </a:ln>
        </p:spPr>
      </p:pic>
      <p:sp>
        <p:nvSpPr>
          <p:cNvPr id="373" name="Google Shape;373;p16"/>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Project Plan and Key Deliverables</a:t>
            </a:r>
            <a:endParaRPr b="1" i="0" sz="1200" u="none" cap="none" strike="noStrike">
              <a:solidFill>
                <a:srgbClr val="D71B7F"/>
              </a:solidFill>
              <a:latin typeface="Montserrat"/>
              <a:ea typeface="Montserrat"/>
              <a:cs typeface="Montserrat"/>
              <a:sym typeface="Montserrat"/>
            </a:endParaRPr>
          </a:p>
        </p:txBody>
      </p:sp>
      <p:cxnSp>
        <p:nvCxnSpPr>
          <p:cNvPr id="374" name="Google Shape;374;p16"/>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375" name="Google Shape;375;p16"/>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16"/>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377" name="Google Shape;377;p16"/>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378" name="Google Shape;378;p16"/>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16"/>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17"/>
          <p:cNvSpPr/>
          <p:nvPr/>
        </p:nvSpPr>
        <p:spPr>
          <a:xfrm>
            <a:off x="1623100" y="934600"/>
            <a:ext cx="7355400" cy="3713100"/>
          </a:xfrm>
          <a:prstGeom prst="snip1Rect">
            <a:avLst>
              <a:gd fmla="val 8163" name="adj"/>
            </a:avLst>
          </a:pr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p:txBody>
      </p:sp>
      <p:sp>
        <p:nvSpPr>
          <p:cNvPr id="385" name="Google Shape;385;p17"/>
          <p:cNvSpPr/>
          <p:nvPr/>
        </p:nvSpPr>
        <p:spPr>
          <a:xfrm>
            <a:off x="236853" y="1505825"/>
            <a:ext cx="1877400" cy="2588100"/>
          </a:xfrm>
          <a:prstGeom prst="snip1Rect">
            <a:avLst>
              <a:gd fmla="val 8163" name="adj"/>
            </a:avLst>
          </a:pr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p:txBody>
      </p:sp>
      <p:sp>
        <p:nvSpPr>
          <p:cNvPr id="386" name="Google Shape;386;p17"/>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Management Approach</a:t>
            </a:r>
            <a:endParaRPr b="1" i="0" sz="2000" u="none" cap="none" strike="noStrike">
              <a:solidFill>
                <a:schemeClr val="dk1"/>
              </a:solidFill>
              <a:latin typeface="Montserrat"/>
              <a:ea typeface="Montserrat"/>
              <a:cs typeface="Montserrat"/>
              <a:sym typeface="Montserrat"/>
            </a:endParaRPr>
          </a:p>
        </p:txBody>
      </p:sp>
      <p:sp>
        <p:nvSpPr>
          <p:cNvPr id="387" name="Google Shape;387;p17"/>
          <p:cNvSpPr/>
          <p:nvPr/>
        </p:nvSpPr>
        <p:spPr>
          <a:xfrm>
            <a:off x="2303501" y="2698629"/>
            <a:ext cx="1202100" cy="1327200"/>
          </a:xfrm>
          <a:prstGeom prst="rect">
            <a:avLst/>
          </a:prstGeom>
          <a:no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88" name="Google Shape;388;p17"/>
          <p:cNvSpPr/>
          <p:nvPr/>
        </p:nvSpPr>
        <p:spPr>
          <a:xfrm>
            <a:off x="3799228" y="2698629"/>
            <a:ext cx="1202100" cy="1366800"/>
          </a:xfrm>
          <a:prstGeom prst="rect">
            <a:avLst/>
          </a:prstGeom>
          <a:no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89" name="Google Shape;389;p17"/>
          <p:cNvSpPr/>
          <p:nvPr/>
        </p:nvSpPr>
        <p:spPr>
          <a:xfrm>
            <a:off x="2303500" y="1677712"/>
            <a:ext cx="11772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Engagement </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Kick off &amp; Discovery</a:t>
            </a:r>
            <a:endParaRPr b="1" i="0" sz="900" u="none" cap="none" strike="noStrike">
              <a:solidFill>
                <a:srgbClr val="616161"/>
              </a:solidFill>
              <a:latin typeface="Montserrat"/>
              <a:ea typeface="Montserrat"/>
              <a:cs typeface="Montserrat"/>
              <a:sym typeface="Montserrat"/>
            </a:endParaRPr>
          </a:p>
        </p:txBody>
      </p:sp>
      <p:sp>
        <p:nvSpPr>
          <p:cNvPr id="390" name="Google Shape;390;p17"/>
          <p:cNvSpPr/>
          <p:nvPr/>
        </p:nvSpPr>
        <p:spPr>
          <a:xfrm>
            <a:off x="3814239" y="1677712"/>
            <a:ext cx="11772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Iterative</a:t>
            </a:r>
            <a:br>
              <a:rPr b="1" i="0" lang="en" sz="900" u="none" cap="none" strike="noStrike">
                <a:solidFill>
                  <a:srgbClr val="616161"/>
                </a:solidFill>
                <a:latin typeface="Montserrat"/>
                <a:ea typeface="Montserrat"/>
                <a:cs typeface="Montserrat"/>
                <a:sym typeface="Montserrat"/>
              </a:rPr>
            </a:br>
            <a:r>
              <a:rPr b="1" i="0" lang="en" sz="900" u="none" cap="none" strike="noStrike">
                <a:solidFill>
                  <a:srgbClr val="616161"/>
                </a:solidFill>
                <a:latin typeface="Montserrat"/>
                <a:ea typeface="Montserrat"/>
                <a:cs typeface="Montserrat"/>
                <a:sym typeface="Montserrat"/>
              </a:rPr>
              <a:t>Development</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br>
              <a:rPr b="1" i="0" lang="en" sz="900" u="none" cap="none" strike="noStrike">
                <a:solidFill>
                  <a:srgbClr val="616161"/>
                </a:solidFill>
                <a:latin typeface="Montserrat"/>
                <a:ea typeface="Montserrat"/>
                <a:cs typeface="Montserrat"/>
                <a:sym typeface="Montserrat"/>
              </a:rPr>
            </a:br>
            <a:r>
              <a:rPr b="1" i="0" lang="en" sz="900" u="none" cap="none" strike="noStrike">
                <a:solidFill>
                  <a:srgbClr val="616161"/>
                </a:solidFill>
                <a:latin typeface="Montserrat"/>
                <a:ea typeface="Montserrat"/>
                <a:cs typeface="Montserrat"/>
                <a:sym typeface="Montserrat"/>
              </a:rPr>
              <a:t>1     2    3    .   .</a:t>
            </a:r>
            <a:endParaRPr b="1" i="0" sz="900" u="none" cap="none" strike="noStrike">
              <a:solidFill>
                <a:srgbClr val="616161"/>
              </a:solidFill>
              <a:latin typeface="Montserrat"/>
              <a:ea typeface="Montserrat"/>
              <a:cs typeface="Montserrat"/>
              <a:sym typeface="Montserrat"/>
            </a:endParaRPr>
          </a:p>
        </p:txBody>
      </p:sp>
      <p:grpSp>
        <p:nvGrpSpPr>
          <p:cNvPr id="391" name="Google Shape;391;p17"/>
          <p:cNvGrpSpPr/>
          <p:nvPr/>
        </p:nvGrpSpPr>
        <p:grpSpPr>
          <a:xfrm>
            <a:off x="3934107" y="2120825"/>
            <a:ext cx="817618" cy="72728"/>
            <a:chOff x="3198956" y="2429934"/>
            <a:chExt cx="1353000" cy="149400"/>
          </a:xfrm>
        </p:grpSpPr>
        <p:sp>
          <p:nvSpPr>
            <p:cNvPr id="392" name="Google Shape;392;p17"/>
            <p:cNvSpPr/>
            <p:nvPr/>
          </p:nvSpPr>
          <p:spPr>
            <a:xfrm flipH="1">
              <a:off x="31989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93" name="Google Shape;393;p17"/>
            <p:cNvSpPr/>
            <p:nvPr/>
          </p:nvSpPr>
          <p:spPr>
            <a:xfrm flipH="1">
              <a:off x="35037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94" name="Google Shape;394;p17"/>
            <p:cNvSpPr/>
            <p:nvPr/>
          </p:nvSpPr>
          <p:spPr>
            <a:xfrm flipH="1">
              <a:off x="38085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95" name="Google Shape;395;p17"/>
            <p:cNvSpPr/>
            <p:nvPr/>
          </p:nvSpPr>
          <p:spPr>
            <a:xfrm flipH="1">
              <a:off x="41133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96" name="Google Shape;396;p17"/>
            <p:cNvSpPr/>
            <p:nvPr/>
          </p:nvSpPr>
          <p:spPr>
            <a:xfrm flipH="1">
              <a:off x="44181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grpSp>
      <p:cxnSp>
        <p:nvCxnSpPr>
          <p:cNvPr id="397" name="Google Shape;397;p17"/>
          <p:cNvCxnSpPr>
            <a:stCxn id="389" idx="3"/>
            <a:endCxn id="390" idx="1"/>
          </p:cNvCxnSpPr>
          <p:nvPr/>
        </p:nvCxnSpPr>
        <p:spPr>
          <a:xfrm>
            <a:off x="3480700" y="2075212"/>
            <a:ext cx="333600" cy="0"/>
          </a:xfrm>
          <a:prstGeom prst="straightConnector1">
            <a:avLst/>
          </a:prstGeom>
          <a:noFill/>
          <a:ln cap="flat" cmpd="sng" w="9525">
            <a:solidFill>
              <a:srgbClr val="44546A"/>
            </a:solidFill>
            <a:prstDash val="solid"/>
            <a:round/>
            <a:headEnd len="sm" w="sm" type="none"/>
            <a:tailEnd len="med" w="med" type="triangle"/>
          </a:ln>
        </p:spPr>
      </p:cxnSp>
      <p:sp>
        <p:nvSpPr>
          <p:cNvPr id="398" name="Google Shape;398;p17"/>
          <p:cNvSpPr/>
          <p:nvPr/>
        </p:nvSpPr>
        <p:spPr>
          <a:xfrm>
            <a:off x="3721678" y="1352950"/>
            <a:ext cx="1306500" cy="262800"/>
          </a:xfrm>
          <a:prstGeom prst="rect">
            <a:avLst/>
          </a:prstGeom>
          <a:no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Continuous Evolution of Working Software</a:t>
            </a:r>
            <a:endParaRPr b="0" i="0" sz="700" u="none" cap="none" strike="noStrike">
              <a:solidFill>
                <a:srgbClr val="000000"/>
              </a:solidFill>
              <a:latin typeface="Montserrat"/>
              <a:ea typeface="Montserrat"/>
              <a:cs typeface="Montserrat"/>
              <a:sym typeface="Montserrat"/>
            </a:endParaRPr>
          </a:p>
        </p:txBody>
      </p:sp>
      <p:sp>
        <p:nvSpPr>
          <p:cNvPr id="399" name="Google Shape;399;p17"/>
          <p:cNvSpPr/>
          <p:nvPr/>
        </p:nvSpPr>
        <p:spPr>
          <a:xfrm>
            <a:off x="5324975" y="1677700"/>
            <a:ext cx="7893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15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UAT</a:t>
            </a:r>
            <a:endParaRPr b="1" i="0" sz="900" u="none" cap="none" strike="noStrike">
              <a:solidFill>
                <a:srgbClr val="616161"/>
              </a:solidFill>
              <a:latin typeface="Montserrat"/>
              <a:ea typeface="Montserrat"/>
              <a:cs typeface="Montserrat"/>
              <a:sym typeface="Montserrat"/>
            </a:endParaRPr>
          </a:p>
        </p:txBody>
      </p:sp>
      <p:cxnSp>
        <p:nvCxnSpPr>
          <p:cNvPr id="400" name="Google Shape;400;p17"/>
          <p:cNvCxnSpPr>
            <a:stCxn id="390" idx="3"/>
            <a:endCxn id="399" idx="1"/>
          </p:cNvCxnSpPr>
          <p:nvPr/>
        </p:nvCxnSpPr>
        <p:spPr>
          <a:xfrm>
            <a:off x="4991439" y="2075212"/>
            <a:ext cx="333600" cy="0"/>
          </a:xfrm>
          <a:prstGeom prst="straightConnector1">
            <a:avLst/>
          </a:prstGeom>
          <a:noFill/>
          <a:ln cap="flat" cmpd="sng" w="9525">
            <a:solidFill>
              <a:srgbClr val="44546A"/>
            </a:solidFill>
            <a:prstDash val="solid"/>
            <a:round/>
            <a:headEnd len="sm" w="sm" type="none"/>
            <a:tailEnd len="med" w="med" type="triangle"/>
          </a:ln>
        </p:spPr>
      </p:cxnSp>
      <p:sp>
        <p:nvSpPr>
          <p:cNvPr id="401" name="Google Shape;401;p17"/>
          <p:cNvSpPr/>
          <p:nvPr/>
        </p:nvSpPr>
        <p:spPr>
          <a:xfrm>
            <a:off x="6447800" y="1694125"/>
            <a:ext cx="789300" cy="7569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15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Go-Live</a:t>
            </a:r>
            <a:endParaRPr b="1" i="0" sz="900" u="none" cap="none" strike="noStrike">
              <a:solidFill>
                <a:srgbClr val="616161"/>
              </a:solidFill>
              <a:latin typeface="Montserrat"/>
              <a:ea typeface="Montserrat"/>
              <a:cs typeface="Montserrat"/>
              <a:sym typeface="Montserrat"/>
            </a:endParaRPr>
          </a:p>
        </p:txBody>
      </p:sp>
      <p:cxnSp>
        <p:nvCxnSpPr>
          <p:cNvPr id="402" name="Google Shape;402;p17"/>
          <p:cNvCxnSpPr>
            <a:stCxn id="399" idx="3"/>
            <a:endCxn id="401" idx="1"/>
          </p:cNvCxnSpPr>
          <p:nvPr/>
        </p:nvCxnSpPr>
        <p:spPr>
          <a:xfrm flipH="1" rot="10800000">
            <a:off x="6114275" y="2072500"/>
            <a:ext cx="333600" cy="2700"/>
          </a:xfrm>
          <a:prstGeom prst="straightConnector1">
            <a:avLst/>
          </a:prstGeom>
          <a:noFill/>
          <a:ln cap="flat" cmpd="sng" w="9525">
            <a:solidFill>
              <a:srgbClr val="44546A"/>
            </a:solidFill>
            <a:prstDash val="solid"/>
            <a:round/>
            <a:headEnd len="sm" w="sm" type="none"/>
            <a:tailEnd len="med" w="med" type="triangle"/>
          </a:ln>
        </p:spPr>
      </p:cxnSp>
      <p:sp>
        <p:nvSpPr>
          <p:cNvPr id="403" name="Google Shape;403;p17"/>
          <p:cNvSpPr/>
          <p:nvPr/>
        </p:nvSpPr>
        <p:spPr>
          <a:xfrm>
            <a:off x="7633975" y="1683488"/>
            <a:ext cx="11970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Hypercare</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Support</a:t>
            </a:r>
            <a:endParaRPr b="1" i="0" sz="900" u="none" cap="none" strike="noStrike">
              <a:solidFill>
                <a:srgbClr val="616161"/>
              </a:solidFill>
              <a:latin typeface="Montserrat"/>
              <a:ea typeface="Montserrat"/>
              <a:cs typeface="Montserrat"/>
              <a:sym typeface="Montserrat"/>
            </a:endParaRPr>
          </a:p>
        </p:txBody>
      </p:sp>
      <p:cxnSp>
        <p:nvCxnSpPr>
          <p:cNvPr id="404" name="Google Shape;404;p17"/>
          <p:cNvCxnSpPr/>
          <p:nvPr/>
        </p:nvCxnSpPr>
        <p:spPr>
          <a:xfrm>
            <a:off x="7237088" y="2071309"/>
            <a:ext cx="365700" cy="7800"/>
          </a:xfrm>
          <a:prstGeom prst="straightConnector1">
            <a:avLst/>
          </a:prstGeom>
          <a:noFill/>
          <a:ln cap="flat" cmpd="sng" w="9525">
            <a:solidFill>
              <a:srgbClr val="44546A"/>
            </a:solidFill>
            <a:prstDash val="solid"/>
            <a:round/>
            <a:headEnd len="sm" w="sm" type="none"/>
            <a:tailEnd len="med" w="med" type="triangle"/>
          </a:ln>
        </p:spPr>
      </p:cxnSp>
      <p:sp>
        <p:nvSpPr>
          <p:cNvPr id="405" name="Google Shape;405;p17"/>
          <p:cNvSpPr/>
          <p:nvPr/>
        </p:nvSpPr>
        <p:spPr>
          <a:xfrm>
            <a:off x="2374525" y="2817019"/>
            <a:ext cx="1054200" cy="320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6" name="Google Shape;406;p17"/>
          <p:cNvSpPr/>
          <p:nvPr/>
        </p:nvSpPr>
        <p:spPr>
          <a:xfrm>
            <a:off x="2374517" y="3276841"/>
            <a:ext cx="1054200" cy="320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7" name="Google Shape;407;p17"/>
          <p:cNvSpPr/>
          <p:nvPr/>
        </p:nvSpPr>
        <p:spPr>
          <a:xfrm>
            <a:off x="2374517" y="3727228"/>
            <a:ext cx="1054200" cy="2040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8" name="Google Shape;408;p17"/>
          <p:cNvSpPr/>
          <p:nvPr/>
        </p:nvSpPr>
        <p:spPr>
          <a:xfrm>
            <a:off x="4131026" y="3035164"/>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9" name="Google Shape;409;p17"/>
          <p:cNvSpPr/>
          <p:nvPr/>
        </p:nvSpPr>
        <p:spPr>
          <a:xfrm>
            <a:off x="4131026" y="3299908"/>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10" name="Google Shape;410;p17"/>
          <p:cNvSpPr/>
          <p:nvPr/>
        </p:nvSpPr>
        <p:spPr>
          <a:xfrm>
            <a:off x="4131026" y="3560703"/>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11" name="Google Shape;411;p17"/>
          <p:cNvSpPr/>
          <p:nvPr/>
        </p:nvSpPr>
        <p:spPr>
          <a:xfrm>
            <a:off x="4131026" y="3813593"/>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12" name="Google Shape;412;p17"/>
          <p:cNvSpPr/>
          <p:nvPr/>
        </p:nvSpPr>
        <p:spPr>
          <a:xfrm>
            <a:off x="4131026" y="2766471"/>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cxnSp>
        <p:nvCxnSpPr>
          <p:cNvPr id="413" name="Google Shape;413;p17"/>
          <p:cNvCxnSpPr/>
          <p:nvPr/>
        </p:nvCxnSpPr>
        <p:spPr>
          <a:xfrm>
            <a:off x="3992919" y="2867471"/>
            <a:ext cx="0" cy="1011600"/>
          </a:xfrm>
          <a:prstGeom prst="straightConnector1">
            <a:avLst/>
          </a:prstGeom>
          <a:noFill/>
          <a:ln cap="flat" cmpd="sng" w="12700">
            <a:solidFill>
              <a:srgbClr val="7F7F7F"/>
            </a:solidFill>
            <a:prstDash val="solid"/>
            <a:miter lim="8000"/>
            <a:headEnd len="sm" w="sm" type="none"/>
            <a:tailEnd len="sm" w="sm" type="none"/>
          </a:ln>
        </p:spPr>
      </p:cxnSp>
      <p:sp>
        <p:nvSpPr>
          <p:cNvPr id="414" name="Google Shape;414;p17"/>
          <p:cNvSpPr/>
          <p:nvPr/>
        </p:nvSpPr>
        <p:spPr>
          <a:xfrm>
            <a:off x="3804525" y="4077663"/>
            <a:ext cx="1202100" cy="433800"/>
          </a:xfrm>
          <a:prstGeom prst="rect">
            <a:avLst/>
          </a:prstGeom>
          <a:solidFill>
            <a:srgbClr val="F2F2F2"/>
          </a:solid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Iterative &amp; Incremental </a:t>
            </a:r>
            <a:endParaRPr b="0" i="0" sz="700"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Collaboration</a:t>
            </a:r>
            <a:endParaRPr b="0" i="0" sz="700" u="none" cap="none" strike="noStrike">
              <a:solidFill>
                <a:srgbClr val="FFFFFF"/>
              </a:solidFill>
              <a:latin typeface="Montserrat"/>
              <a:ea typeface="Montserrat"/>
              <a:cs typeface="Montserrat"/>
              <a:sym typeface="Montserrat"/>
            </a:endParaRPr>
          </a:p>
        </p:txBody>
      </p:sp>
      <p:sp>
        <p:nvSpPr>
          <p:cNvPr id="415" name="Google Shape;415;p17"/>
          <p:cNvSpPr/>
          <p:nvPr/>
        </p:nvSpPr>
        <p:spPr>
          <a:xfrm>
            <a:off x="2304491" y="3293825"/>
            <a:ext cx="1054200" cy="297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Test Framework Setup</a:t>
            </a:r>
            <a:endParaRPr b="0" i="0" sz="700" u="none" cap="none" strike="noStrike">
              <a:solidFill>
                <a:srgbClr val="000000"/>
              </a:solidFill>
              <a:latin typeface="Montserrat"/>
              <a:ea typeface="Montserrat"/>
              <a:cs typeface="Montserrat"/>
              <a:sym typeface="Montserrat"/>
            </a:endParaRPr>
          </a:p>
        </p:txBody>
      </p:sp>
      <p:sp>
        <p:nvSpPr>
          <p:cNvPr id="416" name="Google Shape;416;p17"/>
          <p:cNvSpPr/>
          <p:nvPr/>
        </p:nvSpPr>
        <p:spPr>
          <a:xfrm>
            <a:off x="2463228" y="3738183"/>
            <a:ext cx="8973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Dev &amp; CI Setup</a:t>
            </a:r>
            <a:endParaRPr b="0" i="0" sz="700" u="none" cap="none" strike="noStrike">
              <a:solidFill>
                <a:srgbClr val="000000"/>
              </a:solidFill>
              <a:latin typeface="Montserrat"/>
              <a:ea typeface="Montserrat"/>
              <a:cs typeface="Montserrat"/>
              <a:sym typeface="Montserrat"/>
            </a:endParaRPr>
          </a:p>
        </p:txBody>
      </p:sp>
      <p:sp>
        <p:nvSpPr>
          <p:cNvPr id="417" name="Google Shape;417;p17"/>
          <p:cNvSpPr/>
          <p:nvPr/>
        </p:nvSpPr>
        <p:spPr>
          <a:xfrm>
            <a:off x="2308793" y="4041178"/>
            <a:ext cx="1202100" cy="433800"/>
          </a:xfrm>
          <a:prstGeom prst="rect">
            <a:avLst/>
          </a:prstGeom>
          <a:solidFill>
            <a:srgbClr val="F2F2F2"/>
          </a:solid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Project Setup &amp; Preparation</a:t>
            </a:r>
            <a:endParaRPr b="0" i="0" sz="700" u="none" cap="none" strike="noStrike">
              <a:solidFill>
                <a:srgbClr val="FFFFFF"/>
              </a:solidFill>
              <a:latin typeface="Montserrat"/>
              <a:ea typeface="Montserrat"/>
              <a:cs typeface="Montserrat"/>
              <a:sym typeface="Montserrat"/>
            </a:endParaRPr>
          </a:p>
        </p:txBody>
      </p:sp>
      <p:sp>
        <p:nvSpPr>
          <p:cNvPr id="418" name="Google Shape;418;p17"/>
          <p:cNvSpPr/>
          <p:nvPr/>
        </p:nvSpPr>
        <p:spPr>
          <a:xfrm>
            <a:off x="4155819" y="2755171"/>
            <a:ext cx="5769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Analyse</a:t>
            </a:r>
            <a:endParaRPr b="0" i="0" sz="700" u="none" cap="none" strike="noStrike">
              <a:solidFill>
                <a:srgbClr val="000000"/>
              </a:solidFill>
              <a:latin typeface="Montserrat"/>
              <a:ea typeface="Montserrat"/>
              <a:cs typeface="Montserrat"/>
              <a:sym typeface="Montserrat"/>
            </a:endParaRPr>
          </a:p>
        </p:txBody>
      </p:sp>
      <p:sp>
        <p:nvSpPr>
          <p:cNvPr id="419" name="Google Shape;419;p17"/>
          <p:cNvSpPr/>
          <p:nvPr/>
        </p:nvSpPr>
        <p:spPr>
          <a:xfrm>
            <a:off x="4190073" y="3018350"/>
            <a:ext cx="5085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Design</a:t>
            </a:r>
            <a:endParaRPr b="0" i="0" sz="700" u="none" cap="none" strike="noStrike">
              <a:solidFill>
                <a:srgbClr val="000000"/>
              </a:solidFill>
              <a:latin typeface="Montserrat"/>
              <a:ea typeface="Montserrat"/>
              <a:cs typeface="Montserrat"/>
              <a:sym typeface="Montserrat"/>
            </a:endParaRPr>
          </a:p>
        </p:txBody>
      </p:sp>
      <p:sp>
        <p:nvSpPr>
          <p:cNvPr id="420" name="Google Shape;420;p17"/>
          <p:cNvSpPr/>
          <p:nvPr/>
        </p:nvSpPr>
        <p:spPr>
          <a:xfrm>
            <a:off x="4125640" y="3285549"/>
            <a:ext cx="6480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Code</a:t>
            </a:r>
            <a:endParaRPr b="0" i="0" sz="700" u="none" cap="none" strike="noStrike">
              <a:solidFill>
                <a:srgbClr val="000000"/>
              </a:solidFill>
              <a:latin typeface="Montserrat"/>
              <a:ea typeface="Montserrat"/>
              <a:cs typeface="Montserrat"/>
              <a:sym typeface="Montserrat"/>
            </a:endParaRPr>
          </a:p>
        </p:txBody>
      </p:sp>
      <p:sp>
        <p:nvSpPr>
          <p:cNvPr id="421" name="Google Shape;421;p17"/>
          <p:cNvSpPr/>
          <p:nvPr/>
        </p:nvSpPr>
        <p:spPr>
          <a:xfrm>
            <a:off x="4279537" y="3537980"/>
            <a:ext cx="3294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Test</a:t>
            </a:r>
            <a:endParaRPr b="0" i="0" sz="700" u="none" cap="none" strike="noStrike">
              <a:solidFill>
                <a:srgbClr val="000000"/>
              </a:solidFill>
              <a:latin typeface="Montserrat"/>
              <a:ea typeface="Montserrat"/>
              <a:cs typeface="Montserrat"/>
              <a:sym typeface="Montserrat"/>
            </a:endParaRPr>
          </a:p>
        </p:txBody>
      </p:sp>
      <p:sp>
        <p:nvSpPr>
          <p:cNvPr id="422" name="Google Shape;422;p17"/>
          <p:cNvSpPr/>
          <p:nvPr/>
        </p:nvSpPr>
        <p:spPr>
          <a:xfrm>
            <a:off x="4156461" y="3790409"/>
            <a:ext cx="5361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Deploy</a:t>
            </a:r>
            <a:endParaRPr b="0" i="0" sz="700" u="none" cap="none" strike="noStrike">
              <a:solidFill>
                <a:srgbClr val="000000"/>
              </a:solidFill>
              <a:latin typeface="Montserrat"/>
              <a:ea typeface="Montserrat"/>
              <a:cs typeface="Montserrat"/>
              <a:sym typeface="Montserrat"/>
            </a:endParaRPr>
          </a:p>
        </p:txBody>
      </p:sp>
      <p:cxnSp>
        <p:nvCxnSpPr>
          <p:cNvPr id="423" name="Google Shape;423;p17"/>
          <p:cNvCxnSpPr/>
          <p:nvPr/>
        </p:nvCxnSpPr>
        <p:spPr>
          <a:xfrm flipH="1">
            <a:off x="4443986" y="2927883"/>
            <a:ext cx="1200" cy="105000"/>
          </a:xfrm>
          <a:prstGeom prst="straightConnector1">
            <a:avLst/>
          </a:prstGeom>
          <a:noFill/>
          <a:ln cap="flat" cmpd="sng" w="9525">
            <a:solidFill>
              <a:srgbClr val="616161"/>
            </a:solidFill>
            <a:prstDash val="solid"/>
            <a:miter lim="8000"/>
            <a:headEnd len="sm" w="sm" type="none"/>
            <a:tailEnd len="med" w="med" type="triangle"/>
          </a:ln>
        </p:spPr>
      </p:cxnSp>
      <p:cxnSp>
        <p:nvCxnSpPr>
          <p:cNvPr id="424" name="Google Shape;424;p17"/>
          <p:cNvCxnSpPr/>
          <p:nvPr/>
        </p:nvCxnSpPr>
        <p:spPr>
          <a:xfrm>
            <a:off x="3995621" y="2867471"/>
            <a:ext cx="147900" cy="0"/>
          </a:xfrm>
          <a:prstGeom prst="straightConnector1">
            <a:avLst/>
          </a:prstGeom>
          <a:noFill/>
          <a:ln cap="flat" cmpd="sng" w="9525">
            <a:solidFill>
              <a:srgbClr val="616161"/>
            </a:solidFill>
            <a:prstDash val="solid"/>
            <a:miter lim="8000"/>
            <a:headEnd len="sm" w="sm" type="none"/>
            <a:tailEnd len="med" w="med" type="triangle"/>
          </a:ln>
        </p:spPr>
      </p:cxnSp>
      <p:cxnSp>
        <p:nvCxnSpPr>
          <p:cNvPr id="425" name="Google Shape;425;p17"/>
          <p:cNvCxnSpPr/>
          <p:nvPr/>
        </p:nvCxnSpPr>
        <p:spPr>
          <a:xfrm>
            <a:off x="3992919" y="3881063"/>
            <a:ext cx="150900" cy="0"/>
          </a:xfrm>
          <a:prstGeom prst="straightConnector1">
            <a:avLst/>
          </a:prstGeom>
          <a:noFill/>
          <a:ln cap="flat" cmpd="sng" w="12700">
            <a:solidFill>
              <a:srgbClr val="7F7F7F"/>
            </a:solidFill>
            <a:prstDash val="solid"/>
            <a:miter lim="8000"/>
            <a:headEnd len="sm" w="sm" type="none"/>
            <a:tailEnd len="sm" w="sm" type="none"/>
          </a:ln>
        </p:spPr>
      </p:cxnSp>
      <p:sp>
        <p:nvSpPr>
          <p:cNvPr id="426" name="Google Shape;426;p17"/>
          <p:cNvSpPr/>
          <p:nvPr/>
        </p:nvSpPr>
        <p:spPr>
          <a:xfrm rot="-5400000">
            <a:off x="3694246" y="3254831"/>
            <a:ext cx="452400" cy="1626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Century Gothic"/>
                <a:ea typeface="Century Gothic"/>
                <a:cs typeface="Century Gothic"/>
                <a:sym typeface="Century Gothic"/>
              </a:rPr>
              <a:t>Repeat</a:t>
            </a:r>
            <a:endParaRPr b="0" i="0" sz="600" u="none" cap="none" strike="noStrike">
              <a:solidFill>
                <a:srgbClr val="000000"/>
              </a:solidFill>
              <a:latin typeface="Century Gothic"/>
              <a:ea typeface="Century Gothic"/>
              <a:cs typeface="Century Gothic"/>
              <a:sym typeface="Century Gothic"/>
            </a:endParaRPr>
          </a:p>
        </p:txBody>
      </p:sp>
      <p:cxnSp>
        <p:nvCxnSpPr>
          <p:cNvPr id="427" name="Google Shape;427;p17"/>
          <p:cNvCxnSpPr/>
          <p:nvPr/>
        </p:nvCxnSpPr>
        <p:spPr>
          <a:xfrm flipH="1">
            <a:off x="4443986" y="3192628"/>
            <a:ext cx="1200" cy="105000"/>
          </a:xfrm>
          <a:prstGeom prst="straightConnector1">
            <a:avLst/>
          </a:prstGeom>
          <a:noFill/>
          <a:ln cap="flat" cmpd="sng" w="9525">
            <a:solidFill>
              <a:srgbClr val="616161"/>
            </a:solidFill>
            <a:prstDash val="solid"/>
            <a:miter lim="8000"/>
            <a:headEnd len="sm" w="sm" type="none"/>
            <a:tailEnd len="med" w="med" type="triangle"/>
          </a:ln>
        </p:spPr>
      </p:cxnSp>
      <p:cxnSp>
        <p:nvCxnSpPr>
          <p:cNvPr id="428" name="Google Shape;428;p17"/>
          <p:cNvCxnSpPr/>
          <p:nvPr/>
        </p:nvCxnSpPr>
        <p:spPr>
          <a:xfrm flipH="1">
            <a:off x="4443986" y="3457373"/>
            <a:ext cx="1200" cy="105000"/>
          </a:xfrm>
          <a:prstGeom prst="straightConnector1">
            <a:avLst/>
          </a:prstGeom>
          <a:noFill/>
          <a:ln cap="flat" cmpd="sng" w="9525">
            <a:solidFill>
              <a:srgbClr val="616161"/>
            </a:solidFill>
            <a:prstDash val="solid"/>
            <a:miter lim="8000"/>
            <a:headEnd len="sm" w="sm" type="none"/>
            <a:tailEnd len="med" w="med" type="triangle"/>
          </a:ln>
        </p:spPr>
      </p:cxnSp>
      <p:cxnSp>
        <p:nvCxnSpPr>
          <p:cNvPr id="429" name="Google Shape;429;p17"/>
          <p:cNvCxnSpPr/>
          <p:nvPr/>
        </p:nvCxnSpPr>
        <p:spPr>
          <a:xfrm flipH="1">
            <a:off x="4443986" y="3714215"/>
            <a:ext cx="1200" cy="105000"/>
          </a:xfrm>
          <a:prstGeom prst="straightConnector1">
            <a:avLst/>
          </a:prstGeom>
          <a:noFill/>
          <a:ln cap="flat" cmpd="sng" w="9525">
            <a:solidFill>
              <a:srgbClr val="616161"/>
            </a:solidFill>
            <a:prstDash val="solid"/>
            <a:miter lim="8000"/>
            <a:headEnd len="sm" w="sm" type="none"/>
            <a:tailEnd len="med" w="med" type="triangle"/>
          </a:ln>
        </p:spPr>
      </p:cxnSp>
      <p:pic>
        <p:nvPicPr>
          <p:cNvPr id="430" name="Google Shape;430;p17"/>
          <p:cNvPicPr preferRelativeResize="0"/>
          <p:nvPr/>
        </p:nvPicPr>
        <p:blipFill rotWithShape="1">
          <a:blip r:embed="rId3">
            <a:alphaModFix/>
          </a:blip>
          <a:srcRect b="20805" l="17274" r="12333" t="17276"/>
          <a:stretch/>
        </p:blipFill>
        <p:spPr>
          <a:xfrm>
            <a:off x="2755125" y="1771113"/>
            <a:ext cx="228668" cy="211275"/>
          </a:xfrm>
          <a:prstGeom prst="rect">
            <a:avLst/>
          </a:prstGeom>
          <a:noFill/>
          <a:ln>
            <a:noFill/>
          </a:ln>
        </p:spPr>
      </p:pic>
      <p:pic>
        <p:nvPicPr>
          <p:cNvPr id="431" name="Google Shape;431;p17"/>
          <p:cNvPicPr preferRelativeResize="0"/>
          <p:nvPr/>
        </p:nvPicPr>
        <p:blipFill rotWithShape="1">
          <a:blip r:embed="rId4">
            <a:alphaModFix/>
          </a:blip>
          <a:srcRect b="0" l="0" r="0" t="0"/>
          <a:stretch/>
        </p:blipFill>
        <p:spPr>
          <a:xfrm>
            <a:off x="5605313" y="1880725"/>
            <a:ext cx="228675" cy="228675"/>
          </a:xfrm>
          <a:prstGeom prst="rect">
            <a:avLst/>
          </a:prstGeom>
          <a:noFill/>
          <a:ln>
            <a:noFill/>
          </a:ln>
        </p:spPr>
      </p:pic>
      <p:pic>
        <p:nvPicPr>
          <p:cNvPr id="432" name="Google Shape;432;p17"/>
          <p:cNvPicPr preferRelativeResize="0"/>
          <p:nvPr/>
        </p:nvPicPr>
        <p:blipFill rotWithShape="1">
          <a:blip r:embed="rId5">
            <a:alphaModFix/>
          </a:blip>
          <a:srcRect b="0" l="0" r="0" t="0"/>
          <a:stretch/>
        </p:blipFill>
        <p:spPr>
          <a:xfrm>
            <a:off x="6691264" y="1886352"/>
            <a:ext cx="365700" cy="217409"/>
          </a:xfrm>
          <a:prstGeom prst="rect">
            <a:avLst/>
          </a:prstGeom>
          <a:noFill/>
          <a:ln>
            <a:noFill/>
          </a:ln>
        </p:spPr>
      </p:pic>
      <p:pic>
        <p:nvPicPr>
          <p:cNvPr id="433" name="Google Shape;433;p17"/>
          <p:cNvPicPr preferRelativeResize="0"/>
          <p:nvPr/>
        </p:nvPicPr>
        <p:blipFill rotWithShape="1">
          <a:blip r:embed="rId6">
            <a:alphaModFix/>
          </a:blip>
          <a:srcRect b="0" l="0" r="0" t="0"/>
          <a:stretch/>
        </p:blipFill>
        <p:spPr>
          <a:xfrm>
            <a:off x="8118138" y="1785736"/>
            <a:ext cx="228675" cy="228675"/>
          </a:xfrm>
          <a:prstGeom prst="rect">
            <a:avLst/>
          </a:prstGeom>
          <a:noFill/>
          <a:ln>
            <a:noFill/>
          </a:ln>
        </p:spPr>
      </p:pic>
      <p:grpSp>
        <p:nvGrpSpPr>
          <p:cNvPr id="434" name="Google Shape;434;p17"/>
          <p:cNvGrpSpPr/>
          <p:nvPr/>
        </p:nvGrpSpPr>
        <p:grpSpPr>
          <a:xfrm>
            <a:off x="308754" y="1982358"/>
            <a:ext cx="1734192" cy="256660"/>
            <a:chOff x="530597" y="1659894"/>
            <a:chExt cx="1541778" cy="210931"/>
          </a:xfrm>
        </p:grpSpPr>
        <p:sp>
          <p:nvSpPr>
            <p:cNvPr id="435" name="Google Shape;435;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Project Manager/Business Analyst</a:t>
              </a:r>
              <a:endParaRPr b="0" i="0" sz="800" u="none" cap="none" strike="noStrike">
                <a:solidFill>
                  <a:srgbClr val="000000"/>
                </a:solidFill>
                <a:latin typeface="Montserrat"/>
                <a:ea typeface="Montserrat"/>
                <a:cs typeface="Montserrat"/>
                <a:sym typeface="Montserrat"/>
              </a:endParaRPr>
            </a:p>
          </p:txBody>
        </p:sp>
        <p:pic>
          <p:nvPicPr>
            <p:cNvPr id="436" name="Google Shape;436;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sp>
        <p:nvSpPr>
          <p:cNvPr id="437" name="Google Shape;437;p17"/>
          <p:cNvSpPr txBox="1"/>
          <p:nvPr/>
        </p:nvSpPr>
        <p:spPr>
          <a:xfrm>
            <a:off x="2538875" y="980525"/>
            <a:ext cx="4908300" cy="338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chemeClr val="accent2"/>
                </a:solidFill>
                <a:latin typeface="Montserrat"/>
                <a:ea typeface="Montserrat"/>
                <a:cs typeface="Montserrat"/>
                <a:sym typeface="Montserrat"/>
              </a:rPr>
              <a:t>Agile Based iterative Development Approach</a:t>
            </a:r>
            <a:endParaRPr b="1" i="0" sz="1000" u="none" cap="none" strike="noStrike">
              <a:solidFill>
                <a:schemeClr val="accent2"/>
              </a:solidFill>
              <a:latin typeface="Montserrat"/>
              <a:ea typeface="Montserrat"/>
              <a:cs typeface="Montserrat"/>
              <a:sym typeface="Montserrat"/>
            </a:endParaRPr>
          </a:p>
        </p:txBody>
      </p:sp>
      <p:sp>
        <p:nvSpPr>
          <p:cNvPr id="438" name="Google Shape;438;p17"/>
          <p:cNvSpPr txBox="1"/>
          <p:nvPr/>
        </p:nvSpPr>
        <p:spPr>
          <a:xfrm>
            <a:off x="-241825" y="1505825"/>
            <a:ext cx="30000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accent2"/>
                </a:solidFill>
                <a:latin typeface="Montserrat"/>
                <a:ea typeface="Montserrat"/>
                <a:cs typeface="Montserrat"/>
                <a:sym typeface="Montserrat"/>
              </a:rPr>
              <a:t>TTN Engineering Team</a:t>
            </a:r>
            <a:endParaRPr b="1" i="0" sz="900" u="none" cap="none" strike="noStrike">
              <a:solidFill>
                <a:schemeClr val="accent2"/>
              </a:solidFill>
              <a:latin typeface="Montserrat"/>
              <a:ea typeface="Montserrat"/>
              <a:cs typeface="Montserrat"/>
              <a:sym typeface="Montserrat"/>
            </a:endParaRPr>
          </a:p>
        </p:txBody>
      </p:sp>
      <p:sp>
        <p:nvSpPr>
          <p:cNvPr id="439" name="Google Shape;439;p17"/>
          <p:cNvSpPr/>
          <p:nvPr/>
        </p:nvSpPr>
        <p:spPr>
          <a:xfrm>
            <a:off x="2344200" y="2880388"/>
            <a:ext cx="1013700" cy="2628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Tech &amp; Functional Discovery</a:t>
            </a:r>
            <a:endParaRPr b="0" i="0" sz="700" u="none" cap="none" strike="noStrike">
              <a:solidFill>
                <a:srgbClr val="000000"/>
              </a:solidFill>
              <a:latin typeface="Montserrat"/>
              <a:ea typeface="Montserrat"/>
              <a:cs typeface="Montserrat"/>
              <a:sym typeface="Montserrat"/>
            </a:endParaRPr>
          </a:p>
        </p:txBody>
      </p:sp>
      <p:grpSp>
        <p:nvGrpSpPr>
          <p:cNvPr id="440" name="Google Shape;440;p17"/>
          <p:cNvGrpSpPr/>
          <p:nvPr/>
        </p:nvGrpSpPr>
        <p:grpSpPr>
          <a:xfrm>
            <a:off x="298800" y="2292174"/>
            <a:ext cx="1734192" cy="256660"/>
            <a:chOff x="530597" y="1659894"/>
            <a:chExt cx="1541778" cy="210931"/>
          </a:xfrm>
        </p:grpSpPr>
        <p:sp>
          <p:nvSpPr>
            <p:cNvPr id="441" name="Google Shape;441;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Technical lead</a:t>
              </a:r>
              <a:endParaRPr b="0" i="0" sz="800" u="none" cap="none" strike="noStrike">
                <a:solidFill>
                  <a:srgbClr val="000000"/>
                </a:solidFill>
                <a:latin typeface="Montserrat"/>
                <a:ea typeface="Montserrat"/>
                <a:cs typeface="Montserrat"/>
                <a:sym typeface="Montserrat"/>
              </a:endParaRPr>
            </a:p>
          </p:txBody>
        </p:sp>
        <p:pic>
          <p:nvPicPr>
            <p:cNvPr id="442" name="Google Shape;442;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43" name="Google Shape;443;p17"/>
          <p:cNvGrpSpPr/>
          <p:nvPr/>
        </p:nvGrpSpPr>
        <p:grpSpPr>
          <a:xfrm>
            <a:off x="308757" y="2617640"/>
            <a:ext cx="1734192" cy="256660"/>
            <a:chOff x="530597" y="1659894"/>
            <a:chExt cx="1541778" cy="210931"/>
          </a:xfrm>
        </p:grpSpPr>
        <p:sp>
          <p:nvSpPr>
            <p:cNvPr id="444" name="Google Shape;444;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DevOps Experts</a:t>
              </a:r>
              <a:endParaRPr b="0" i="0" sz="800" u="none" cap="none" strike="noStrike">
                <a:solidFill>
                  <a:srgbClr val="000000"/>
                </a:solidFill>
                <a:latin typeface="Montserrat"/>
                <a:ea typeface="Montserrat"/>
                <a:cs typeface="Montserrat"/>
                <a:sym typeface="Montserrat"/>
              </a:endParaRPr>
            </a:p>
          </p:txBody>
        </p:sp>
        <p:pic>
          <p:nvPicPr>
            <p:cNvPr id="445" name="Google Shape;445;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46" name="Google Shape;446;p17"/>
          <p:cNvGrpSpPr/>
          <p:nvPr/>
        </p:nvGrpSpPr>
        <p:grpSpPr>
          <a:xfrm>
            <a:off x="298803" y="2943091"/>
            <a:ext cx="1734192" cy="256660"/>
            <a:chOff x="530597" y="1659894"/>
            <a:chExt cx="1541778" cy="210931"/>
          </a:xfrm>
        </p:grpSpPr>
        <p:sp>
          <p:nvSpPr>
            <p:cNvPr id="447" name="Google Shape;447;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Ui/UX Expert</a:t>
              </a:r>
              <a:endParaRPr b="0" i="0" sz="800" u="none" cap="none" strike="noStrike">
                <a:solidFill>
                  <a:srgbClr val="000000"/>
                </a:solidFill>
                <a:latin typeface="Montserrat"/>
                <a:ea typeface="Montserrat"/>
                <a:cs typeface="Montserrat"/>
                <a:sym typeface="Montserrat"/>
              </a:endParaRPr>
            </a:p>
          </p:txBody>
        </p:sp>
        <p:pic>
          <p:nvPicPr>
            <p:cNvPr id="448" name="Google Shape;448;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49" name="Google Shape;449;p17"/>
          <p:cNvGrpSpPr/>
          <p:nvPr/>
        </p:nvGrpSpPr>
        <p:grpSpPr>
          <a:xfrm>
            <a:off x="298803" y="3281643"/>
            <a:ext cx="1734192" cy="256660"/>
            <a:chOff x="530597" y="1659894"/>
            <a:chExt cx="1541778" cy="210931"/>
          </a:xfrm>
        </p:grpSpPr>
        <p:sp>
          <p:nvSpPr>
            <p:cNvPr id="450" name="Google Shape;450;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Mobility Developer</a:t>
              </a:r>
              <a:endParaRPr b="0" i="0" sz="800" u="none" cap="none" strike="noStrike">
                <a:solidFill>
                  <a:srgbClr val="000000"/>
                </a:solidFill>
                <a:latin typeface="Montserrat"/>
                <a:ea typeface="Montserrat"/>
                <a:cs typeface="Montserrat"/>
                <a:sym typeface="Montserrat"/>
              </a:endParaRPr>
            </a:p>
          </p:txBody>
        </p:sp>
        <p:pic>
          <p:nvPicPr>
            <p:cNvPr id="451" name="Google Shape;451;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52" name="Google Shape;452;p17"/>
          <p:cNvGrpSpPr/>
          <p:nvPr/>
        </p:nvGrpSpPr>
        <p:grpSpPr>
          <a:xfrm>
            <a:off x="298803" y="3624423"/>
            <a:ext cx="1734192" cy="256660"/>
            <a:chOff x="530597" y="1659894"/>
            <a:chExt cx="1541778" cy="210931"/>
          </a:xfrm>
        </p:grpSpPr>
        <p:sp>
          <p:nvSpPr>
            <p:cNvPr id="453" name="Google Shape;453;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Quality Analyst</a:t>
              </a:r>
              <a:endParaRPr b="0" i="0" sz="800" u="none" cap="none" strike="noStrike">
                <a:solidFill>
                  <a:srgbClr val="000000"/>
                </a:solidFill>
                <a:latin typeface="Montserrat"/>
                <a:ea typeface="Montserrat"/>
                <a:cs typeface="Montserrat"/>
                <a:sym typeface="Montserrat"/>
              </a:endParaRPr>
            </a:p>
          </p:txBody>
        </p:sp>
        <p:pic>
          <p:nvPicPr>
            <p:cNvPr id="454" name="Google Shape;454;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sp>
        <p:nvSpPr>
          <p:cNvPr id="455" name="Google Shape;455;p17"/>
          <p:cNvSpPr txBox="1"/>
          <p:nvPr/>
        </p:nvSpPr>
        <p:spPr>
          <a:xfrm>
            <a:off x="5325050" y="2625250"/>
            <a:ext cx="3480300" cy="1313700"/>
          </a:xfrm>
          <a:prstGeom prst="rect">
            <a:avLst/>
          </a:prstGeom>
          <a:solidFill>
            <a:srgbClr val="FFFFFF"/>
          </a:solidFill>
          <a:ln cap="flat" cmpd="sng" w="9525">
            <a:solidFill>
              <a:srgbClr val="EFEFEF"/>
            </a:solidFill>
            <a:prstDash val="solid"/>
            <a:round/>
            <a:headEnd len="sm" w="sm" type="none"/>
            <a:tailEnd len="sm" w="sm" type="none"/>
          </a:ln>
          <a:effectLst>
            <a:outerShdw blurRad="157163" rotWithShape="0" algn="bl" dir="9060000" dist="9525">
              <a:srgbClr val="000000">
                <a:alpha val="14118"/>
              </a:srgbClr>
            </a:outerShdw>
          </a:effectLst>
        </p:spPr>
        <p:txBody>
          <a:bodyPr anchorCtr="0" anchor="t" bIns="91425" lIns="91425" spcFirstLastPara="1" rIns="91425" wrap="square" tIns="91425">
            <a:spAutoFit/>
          </a:bodyPr>
          <a:lstStyle/>
          <a:p>
            <a:r>
              <a:t>Phase 1 — Discovery &amp; Architecture (4 weeks): workshops, backlog, solution design.</a:t>
            </a:r>
          </a:p>
          <a:p>
            <a:pPr/>
            <a:r>
              <a:t>Phase 2 — Core Platform (10 weeks): catalogue, cart, checkout, admin.</a:t>
            </a:r>
          </a:p>
          <a:p>
            <a:pPr/>
            <a:r>
              <a:t>Phase 3 — Integrations (6 weeks): ERP, PIM, payments, search tuning.</a:t>
            </a:r>
          </a:p>
          <a:p>
            <a:pPr/>
            <a:r>
              <a:t>Phase 4 — UAT &amp; Go-Live (4 weeks): regression, performance, cutover.</a:t>
            </a:r>
          </a:p>
          <a:p>
            <a:pPr/>
            <a:r>
              <a:t>Agile sprints with fortnightly demos and steering committee reviews.</a:t>
            </a:r>
          </a:p>
        </p:txBody>
      </p:sp>
      <p:sp>
        <p:nvSpPr>
          <p:cNvPr id="456" name="Google Shape;456;p17"/>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latin typeface="Montserrat"/>
                <a:ea typeface="Montserrat"/>
                <a:cs typeface="Montserrat"/>
                <a:sym typeface="Montserrat"/>
              </a:rPr>
              <a:t>‹#›</a:t>
            </a:fld>
            <a:endParaRPr sz="1000">
              <a:latin typeface="Montserrat"/>
              <a:ea typeface="Montserrat"/>
              <a:cs typeface="Montserrat"/>
              <a:sym typeface="Montserrat"/>
            </a:endParaRPr>
          </a:p>
        </p:txBody>
      </p:sp>
      <p:sp>
        <p:nvSpPr>
          <p:cNvPr id="457" name="Google Shape;457;p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18"/>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Governance Model</a:t>
            </a:r>
            <a:endParaRPr b="1" i="0" sz="2000" u="none" cap="none" strike="noStrike">
              <a:solidFill>
                <a:schemeClr val="dk1"/>
              </a:solidFill>
              <a:latin typeface="Montserrat"/>
              <a:ea typeface="Montserrat"/>
              <a:cs typeface="Montserrat"/>
              <a:sym typeface="Montserrat"/>
            </a:endParaRPr>
          </a:p>
        </p:txBody>
      </p:sp>
      <p:sp>
        <p:nvSpPr>
          <p:cNvPr id="463" name="Google Shape;463;p18"/>
          <p:cNvSpPr/>
          <p:nvPr/>
        </p:nvSpPr>
        <p:spPr>
          <a:xfrm>
            <a:off x="406550" y="2890925"/>
            <a:ext cx="8032800" cy="2023500"/>
          </a:xfrm>
          <a:prstGeom prst="snip1Rect">
            <a:avLst>
              <a:gd fmla="val 8163" name="adj"/>
            </a:avLst>
          </a:prstGeom>
          <a:solidFill>
            <a:srgbClr val="FFFFFF"/>
          </a:solidFill>
          <a:ln cap="flat" cmpd="sng" w="9525">
            <a:solidFill>
              <a:srgbClr val="6F3A93"/>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4" name="Google Shape;464;p18"/>
          <p:cNvSpPr/>
          <p:nvPr/>
        </p:nvSpPr>
        <p:spPr>
          <a:xfrm>
            <a:off x="6340857" y="3106350"/>
            <a:ext cx="1684800" cy="17016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5" name="Google Shape;465;p18"/>
          <p:cNvSpPr/>
          <p:nvPr/>
        </p:nvSpPr>
        <p:spPr>
          <a:xfrm>
            <a:off x="6822582" y="1602888"/>
            <a:ext cx="2121000" cy="8010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6" name="Google Shape;466;p18"/>
          <p:cNvSpPr/>
          <p:nvPr/>
        </p:nvSpPr>
        <p:spPr>
          <a:xfrm>
            <a:off x="330332" y="2029610"/>
            <a:ext cx="6291000" cy="4974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7" name="Google Shape;467;p18"/>
          <p:cNvSpPr/>
          <p:nvPr/>
        </p:nvSpPr>
        <p:spPr>
          <a:xfrm>
            <a:off x="317407" y="1296319"/>
            <a:ext cx="6291000" cy="4443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cxnSp>
        <p:nvCxnSpPr>
          <p:cNvPr id="468" name="Google Shape;468;p18"/>
          <p:cNvCxnSpPr/>
          <p:nvPr/>
        </p:nvCxnSpPr>
        <p:spPr>
          <a:xfrm rot="10800000">
            <a:off x="6694101" y="1402153"/>
            <a:ext cx="1177500" cy="211500"/>
          </a:xfrm>
          <a:prstGeom prst="bentConnector3">
            <a:avLst>
              <a:gd fmla="val -748" name="adj1"/>
            </a:avLst>
          </a:prstGeom>
          <a:noFill/>
          <a:ln cap="flat" cmpd="sng" w="9525">
            <a:solidFill>
              <a:srgbClr val="B7B7B7"/>
            </a:solidFill>
            <a:prstDash val="solid"/>
            <a:round/>
            <a:headEnd len="med" w="med" type="oval"/>
            <a:tailEnd len="med" w="med" type="oval"/>
          </a:ln>
        </p:spPr>
      </p:cxnSp>
      <p:sp>
        <p:nvSpPr>
          <p:cNvPr id="469" name="Google Shape;469;p18"/>
          <p:cNvSpPr/>
          <p:nvPr/>
        </p:nvSpPr>
        <p:spPr>
          <a:xfrm>
            <a:off x="1641650" y="3353226"/>
            <a:ext cx="4595100" cy="1180800"/>
          </a:xfrm>
          <a:prstGeom prst="roundRect">
            <a:avLst>
              <a:gd fmla="val 5116" name="adj"/>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18"/>
          <p:cNvSpPr/>
          <p:nvPr/>
        </p:nvSpPr>
        <p:spPr>
          <a:xfrm>
            <a:off x="1988934" y="3446717"/>
            <a:ext cx="1334100" cy="10143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18"/>
          <p:cNvSpPr txBox="1"/>
          <p:nvPr/>
        </p:nvSpPr>
        <p:spPr>
          <a:xfrm>
            <a:off x="1988925" y="3507010"/>
            <a:ext cx="13341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Racing Queensland Stakeholders</a:t>
            </a:r>
            <a:endParaRPr b="1" i="0" sz="800" u="none" cap="none" strike="noStrike">
              <a:solidFill>
                <a:srgbClr val="000000"/>
              </a:solidFill>
              <a:latin typeface="Montserrat"/>
              <a:ea typeface="Montserrat"/>
              <a:cs typeface="Montserrat"/>
              <a:sym typeface="Montserrat"/>
            </a:endParaRPr>
          </a:p>
        </p:txBody>
      </p:sp>
      <p:pic>
        <p:nvPicPr>
          <p:cNvPr id="472" name="Google Shape;472;p18"/>
          <p:cNvPicPr preferRelativeResize="0"/>
          <p:nvPr/>
        </p:nvPicPr>
        <p:blipFill rotWithShape="1">
          <a:blip r:embed="rId3">
            <a:alphaModFix/>
          </a:blip>
          <a:srcRect b="0" l="0" r="0" t="0"/>
          <a:stretch/>
        </p:blipFill>
        <p:spPr>
          <a:xfrm>
            <a:off x="2396311" y="3951547"/>
            <a:ext cx="519140" cy="306875"/>
          </a:xfrm>
          <a:prstGeom prst="rect">
            <a:avLst/>
          </a:prstGeom>
          <a:noFill/>
          <a:ln>
            <a:noFill/>
          </a:ln>
        </p:spPr>
      </p:pic>
      <p:pic>
        <p:nvPicPr>
          <p:cNvPr id="473" name="Google Shape;473;p18"/>
          <p:cNvPicPr preferRelativeResize="0"/>
          <p:nvPr/>
        </p:nvPicPr>
        <p:blipFill rotWithShape="1">
          <a:blip r:embed="rId4">
            <a:alphaModFix/>
          </a:blip>
          <a:srcRect b="0" l="0" r="0" t="0"/>
          <a:stretch/>
        </p:blipFill>
        <p:spPr>
          <a:xfrm>
            <a:off x="3599434" y="3917769"/>
            <a:ext cx="252974" cy="257791"/>
          </a:xfrm>
          <a:prstGeom prst="rect">
            <a:avLst/>
          </a:prstGeom>
          <a:noFill/>
          <a:ln>
            <a:noFill/>
          </a:ln>
        </p:spPr>
      </p:pic>
      <p:cxnSp>
        <p:nvCxnSpPr>
          <p:cNvPr id="474" name="Google Shape;474;p18"/>
          <p:cNvCxnSpPr/>
          <p:nvPr/>
        </p:nvCxnSpPr>
        <p:spPr>
          <a:xfrm rot="10800000">
            <a:off x="3852626" y="4030223"/>
            <a:ext cx="276600" cy="0"/>
          </a:xfrm>
          <a:prstGeom prst="straightConnector1">
            <a:avLst/>
          </a:prstGeom>
          <a:noFill/>
          <a:ln cap="flat" cmpd="sng" w="9525">
            <a:solidFill>
              <a:srgbClr val="999999"/>
            </a:solidFill>
            <a:prstDash val="solid"/>
            <a:round/>
            <a:headEnd len="sm" w="sm" type="none"/>
            <a:tailEnd len="sm" w="sm" type="none"/>
          </a:ln>
        </p:spPr>
      </p:cxnSp>
      <p:sp>
        <p:nvSpPr>
          <p:cNvPr id="475" name="Google Shape;475;p18"/>
          <p:cNvSpPr/>
          <p:nvPr/>
        </p:nvSpPr>
        <p:spPr>
          <a:xfrm>
            <a:off x="7325193" y="3938946"/>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76" name="Google Shape;476;p18"/>
          <p:cNvSpPr/>
          <p:nvPr/>
        </p:nvSpPr>
        <p:spPr>
          <a:xfrm>
            <a:off x="7182882" y="4191775"/>
            <a:ext cx="660900" cy="903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Month Demo</a:t>
            </a:r>
            <a:endParaRPr b="1" i="0" sz="700" u="none" cap="none" strike="noStrike">
              <a:solidFill>
                <a:srgbClr val="000000"/>
              </a:solidFill>
              <a:latin typeface="Montserrat"/>
              <a:ea typeface="Montserrat"/>
              <a:cs typeface="Montserrat"/>
              <a:sym typeface="Montserrat"/>
            </a:endParaRPr>
          </a:p>
        </p:txBody>
      </p:sp>
      <p:sp>
        <p:nvSpPr>
          <p:cNvPr id="477" name="Google Shape;477;p18"/>
          <p:cNvSpPr/>
          <p:nvPr/>
        </p:nvSpPr>
        <p:spPr>
          <a:xfrm>
            <a:off x="7325208" y="3356749"/>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78" name="Google Shape;478;p18"/>
          <p:cNvSpPr/>
          <p:nvPr/>
        </p:nvSpPr>
        <p:spPr>
          <a:xfrm>
            <a:off x="7182897" y="3586774"/>
            <a:ext cx="575400" cy="1470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Month Planning </a:t>
            </a:r>
            <a:endParaRPr b="0" i="0" sz="700" u="none" cap="none" strike="noStrike">
              <a:solidFill>
                <a:srgbClr val="000000"/>
              </a:solidFill>
              <a:latin typeface="Montserrat"/>
              <a:ea typeface="Montserrat"/>
              <a:cs typeface="Montserrat"/>
              <a:sym typeface="Montserrat"/>
            </a:endParaRPr>
          </a:p>
        </p:txBody>
      </p:sp>
      <p:pic>
        <p:nvPicPr>
          <p:cNvPr id="479" name="Google Shape;479;p18"/>
          <p:cNvPicPr preferRelativeResize="0"/>
          <p:nvPr/>
        </p:nvPicPr>
        <p:blipFill rotWithShape="1">
          <a:blip r:embed="rId5">
            <a:alphaModFix/>
          </a:blip>
          <a:srcRect b="0" l="0" r="0" t="0"/>
          <a:stretch/>
        </p:blipFill>
        <p:spPr>
          <a:xfrm>
            <a:off x="7386594" y="3407623"/>
            <a:ext cx="168328" cy="121270"/>
          </a:xfrm>
          <a:prstGeom prst="rect">
            <a:avLst/>
          </a:prstGeom>
          <a:noFill/>
          <a:ln>
            <a:noFill/>
          </a:ln>
        </p:spPr>
      </p:pic>
      <p:sp>
        <p:nvSpPr>
          <p:cNvPr id="480" name="Google Shape;480;p18"/>
          <p:cNvSpPr/>
          <p:nvPr/>
        </p:nvSpPr>
        <p:spPr>
          <a:xfrm>
            <a:off x="6635482" y="3359668"/>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81" name="Google Shape;481;p18"/>
          <p:cNvSpPr/>
          <p:nvPr/>
        </p:nvSpPr>
        <p:spPr>
          <a:xfrm>
            <a:off x="6493150" y="3584986"/>
            <a:ext cx="575400" cy="1530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Daily Stand-ups</a:t>
            </a:r>
            <a:endParaRPr b="0" i="0" sz="700" u="none" cap="none" strike="noStrike">
              <a:solidFill>
                <a:srgbClr val="000000"/>
              </a:solidFill>
              <a:latin typeface="Montserrat"/>
              <a:ea typeface="Montserrat"/>
              <a:cs typeface="Montserrat"/>
              <a:sym typeface="Montserrat"/>
            </a:endParaRPr>
          </a:p>
        </p:txBody>
      </p:sp>
      <p:pic>
        <p:nvPicPr>
          <p:cNvPr id="482" name="Google Shape;482;p18"/>
          <p:cNvPicPr preferRelativeResize="0"/>
          <p:nvPr/>
        </p:nvPicPr>
        <p:blipFill rotWithShape="1">
          <a:blip r:embed="rId6">
            <a:alphaModFix/>
          </a:blip>
          <a:srcRect b="0" l="0" r="0" t="0"/>
          <a:stretch/>
        </p:blipFill>
        <p:spPr>
          <a:xfrm>
            <a:off x="6687109" y="3399220"/>
            <a:ext cx="187848" cy="143913"/>
          </a:xfrm>
          <a:prstGeom prst="rect">
            <a:avLst/>
          </a:prstGeom>
          <a:noFill/>
          <a:ln>
            <a:noFill/>
          </a:ln>
        </p:spPr>
      </p:pic>
      <p:pic>
        <p:nvPicPr>
          <p:cNvPr id="483" name="Google Shape;483;p18"/>
          <p:cNvPicPr preferRelativeResize="0"/>
          <p:nvPr/>
        </p:nvPicPr>
        <p:blipFill rotWithShape="1">
          <a:blip r:embed="rId7">
            <a:alphaModFix/>
          </a:blip>
          <a:srcRect b="0" l="0" r="0" t="0"/>
          <a:stretch/>
        </p:blipFill>
        <p:spPr>
          <a:xfrm>
            <a:off x="7378788" y="3981126"/>
            <a:ext cx="183912" cy="138659"/>
          </a:xfrm>
          <a:prstGeom prst="rect">
            <a:avLst/>
          </a:prstGeom>
          <a:noFill/>
          <a:ln>
            <a:noFill/>
          </a:ln>
        </p:spPr>
      </p:pic>
      <p:cxnSp>
        <p:nvCxnSpPr>
          <p:cNvPr id="484" name="Google Shape;484;p18"/>
          <p:cNvCxnSpPr/>
          <p:nvPr/>
        </p:nvCxnSpPr>
        <p:spPr>
          <a:xfrm rot="10800000">
            <a:off x="6608487" y="3903739"/>
            <a:ext cx="1217400" cy="5100"/>
          </a:xfrm>
          <a:prstGeom prst="straightConnector1">
            <a:avLst/>
          </a:prstGeom>
          <a:noFill/>
          <a:ln cap="flat" cmpd="sng" w="19050">
            <a:solidFill>
              <a:srgbClr val="999999"/>
            </a:solidFill>
            <a:prstDash val="dot"/>
            <a:miter lim="80"/>
            <a:headEnd len="sm" w="sm" type="oval"/>
            <a:tailEnd len="sm" w="sm" type="oval"/>
          </a:ln>
        </p:spPr>
      </p:cxnSp>
      <p:cxnSp>
        <p:nvCxnSpPr>
          <p:cNvPr id="485" name="Google Shape;485;p18"/>
          <p:cNvCxnSpPr/>
          <p:nvPr/>
        </p:nvCxnSpPr>
        <p:spPr>
          <a:xfrm>
            <a:off x="7149754" y="3492278"/>
            <a:ext cx="900" cy="902700"/>
          </a:xfrm>
          <a:prstGeom prst="straightConnector1">
            <a:avLst/>
          </a:prstGeom>
          <a:noFill/>
          <a:ln cap="flat" cmpd="sng" w="19050">
            <a:solidFill>
              <a:srgbClr val="999999"/>
            </a:solidFill>
            <a:prstDash val="dot"/>
            <a:miter lim="80"/>
            <a:headEnd len="sm" w="sm" type="oval"/>
            <a:tailEnd len="sm" w="sm" type="oval"/>
          </a:ln>
        </p:spPr>
      </p:cxnSp>
      <p:sp>
        <p:nvSpPr>
          <p:cNvPr id="486" name="Google Shape;486;p18"/>
          <p:cNvSpPr/>
          <p:nvPr/>
        </p:nvSpPr>
        <p:spPr>
          <a:xfrm>
            <a:off x="6635482" y="3941925"/>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87" name="Google Shape;487;p18"/>
          <p:cNvSpPr/>
          <p:nvPr/>
        </p:nvSpPr>
        <p:spPr>
          <a:xfrm>
            <a:off x="6493929" y="4191765"/>
            <a:ext cx="575400" cy="903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Joint Retrospective</a:t>
            </a:r>
            <a:endParaRPr b="0" i="0" sz="700" u="none" cap="none" strike="noStrike">
              <a:solidFill>
                <a:srgbClr val="000000"/>
              </a:solidFill>
              <a:latin typeface="Montserrat"/>
              <a:ea typeface="Montserrat"/>
              <a:cs typeface="Montserrat"/>
              <a:sym typeface="Montserrat"/>
            </a:endParaRPr>
          </a:p>
        </p:txBody>
      </p:sp>
      <p:sp>
        <p:nvSpPr>
          <p:cNvPr id="488" name="Google Shape;488;p18"/>
          <p:cNvSpPr txBox="1"/>
          <p:nvPr/>
        </p:nvSpPr>
        <p:spPr>
          <a:xfrm>
            <a:off x="6281307" y="3099123"/>
            <a:ext cx="16848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Engagement Highlights </a:t>
            </a:r>
            <a:endParaRPr b="1" i="0" sz="800" u="none" cap="none" strike="noStrike">
              <a:solidFill>
                <a:srgbClr val="000000"/>
              </a:solidFill>
              <a:latin typeface="Montserrat"/>
              <a:ea typeface="Montserrat"/>
              <a:cs typeface="Montserrat"/>
              <a:sym typeface="Montserrat"/>
            </a:endParaRPr>
          </a:p>
        </p:txBody>
      </p:sp>
      <p:sp>
        <p:nvSpPr>
          <p:cNvPr id="489" name="Google Shape;489;p18"/>
          <p:cNvSpPr txBox="1"/>
          <p:nvPr/>
        </p:nvSpPr>
        <p:spPr>
          <a:xfrm>
            <a:off x="4479247" y="1409956"/>
            <a:ext cx="1809900" cy="278100"/>
          </a:xfrm>
          <a:prstGeom prst="rect">
            <a:avLst/>
          </a:prstGeom>
          <a:solidFill>
            <a:srgbClr val="1251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TTN Executive Leadership and Business Unit Head </a:t>
            </a:r>
            <a:endParaRPr b="1" i="0" sz="800" u="none" cap="none" strike="noStrike">
              <a:solidFill>
                <a:srgbClr val="336666"/>
              </a:solidFill>
              <a:latin typeface="Montserrat"/>
              <a:ea typeface="Montserrat"/>
              <a:cs typeface="Montserrat"/>
              <a:sym typeface="Montserrat"/>
            </a:endParaRPr>
          </a:p>
        </p:txBody>
      </p:sp>
      <p:sp>
        <p:nvSpPr>
          <p:cNvPr id="490" name="Google Shape;490;p18"/>
          <p:cNvSpPr txBox="1"/>
          <p:nvPr/>
        </p:nvSpPr>
        <p:spPr>
          <a:xfrm>
            <a:off x="1629325" y="1419354"/>
            <a:ext cx="2121000" cy="259800"/>
          </a:xfrm>
          <a:prstGeom prst="rect">
            <a:avLst/>
          </a:prstGeom>
          <a:solidFill>
            <a:srgbClr val="B7B7B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Racing Queensland  Executive</a:t>
            </a:r>
            <a:endParaRPr b="1" i="0" sz="8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Leadership</a:t>
            </a:r>
            <a:endParaRPr b="1" i="0" sz="800" u="none" cap="none" strike="noStrike">
              <a:solidFill>
                <a:srgbClr val="FFFFFF"/>
              </a:solidFill>
              <a:latin typeface="Montserrat"/>
              <a:ea typeface="Montserrat"/>
              <a:cs typeface="Montserrat"/>
              <a:sym typeface="Montserrat"/>
            </a:endParaRPr>
          </a:p>
        </p:txBody>
      </p:sp>
      <p:sp>
        <p:nvSpPr>
          <p:cNvPr id="491" name="Google Shape;491;p18"/>
          <p:cNvSpPr txBox="1"/>
          <p:nvPr/>
        </p:nvSpPr>
        <p:spPr>
          <a:xfrm>
            <a:off x="4479247" y="2090204"/>
            <a:ext cx="1809900" cy="278100"/>
          </a:xfrm>
          <a:prstGeom prst="rect">
            <a:avLst/>
          </a:prstGeom>
          <a:solidFill>
            <a:srgbClr val="1251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TTN Delivery Director /</a:t>
            </a:r>
            <a:endParaRPr b="1" i="0" sz="8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 Project Manager</a:t>
            </a:r>
            <a:endParaRPr b="1" i="0" sz="800" u="none" cap="none" strike="noStrike">
              <a:solidFill>
                <a:srgbClr val="336666"/>
              </a:solidFill>
              <a:latin typeface="Montserrat"/>
              <a:ea typeface="Montserrat"/>
              <a:cs typeface="Montserrat"/>
              <a:sym typeface="Montserrat"/>
            </a:endParaRPr>
          </a:p>
        </p:txBody>
      </p:sp>
      <p:sp>
        <p:nvSpPr>
          <p:cNvPr id="492" name="Google Shape;492;p18"/>
          <p:cNvSpPr/>
          <p:nvPr/>
        </p:nvSpPr>
        <p:spPr>
          <a:xfrm>
            <a:off x="2548207" y="1079370"/>
            <a:ext cx="205500" cy="240900"/>
          </a:xfrm>
          <a:prstGeom prst="downArrow">
            <a:avLst>
              <a:gd fmla="val 50000" name="adj1"/>
              <a:gd fmla="val 50000" name="adj2"/>
            </a:avLst>
          </a:prstGeom>
          <a:solidFill>
            <a:srgbClr val="B7B7B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Century Gothic"/>
              <a:ea typeface="Century Gothic"/>
              <a:cs typeface="Century Gothic"/>
              <a:sym typeface="Century Gothic"/>
            </a:endParaRPr>
          </a:p>
        </p:txBody>
      </p:sp>
      <p:sp>
        <p:nvSpPr>
          <p:cNvPr id="493" name="Google Shape;493;p18"/>
          <p:cNvSpPr/>
          <p:nvPr/>
        </p:nvSpPr>
        <p:spPr>
          <a:xfrm>
            <a:off x="5320907" y="1073100"/>
            <a:ext cx="205500" cy="240900"/>
          </a:xfrm>
          <a:prstGeom prst="downArrow">
            <a:avLst>
              <a:gd fmla="val 50000" name="adj1"/>
              <a:gd fmla="val 50000" name="adj2"/>
            </a:avLst>
          </a:prstGeom>
          <a:solidFill>
            <a:srgbClr val="12519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Century Gothic"/>
              <a:ea typeface="Century Gothic"/>
              <a:cs typeface="Century Gothic"/>
              <a:sym typeface="Century Gothic"/>
            </a:endParaRPr>
          </a:p>
        </p:txBody>
      </p:sp>
      <p:cxnSp>
        <p:nvCxnSpPr>
          <p:cNvPr id="494" name="Google Shape;494;p18"/>
          <p:cNvCxnSpPr/>
          <p:nvPr/>
        </p:nvCxnSpPr>
        <p:spPr>
          <a:xfrm rot="10800000">
            <a:off x="2632112" y="1752704"/>
            <a:ext cx="0" cy="231900"/>
          </a:xfrm>
          <a:prstGeom prst="straightConnector1">
            <a:avLst/>
          </a:prstGeom>
          <a:noFill/>
          <a:ln cap="flat" cmpd="sng" w="25400">
            <a:solidFill>
              <a:srgbClr val="B7B7B7"/>
            </a:solidFill>
            <a:prstDash val="solid"/>
            <a:miter lim="8000"/>
            <a:headEnd len="sm" w="sm" type="none"/>
            <a:tailEnd len="med" w="med" type="triangle"/>
          </a:ln>
        </p:spPr>
      </p:cxnSp>
      <p:sp>
        <p:nvSpPr>
          <p:cNvPr id="495" name="Google Shape;495;p18"/>
          <p:cNvSpPr txBox="1"/>
          <p:nvPr/>
        </p:nvSpPr>
        <p:spPr>
          <a:xfrm>
            <a:off x="4374390" y="1777945"/>
            <a:ext cx="955500" cy="188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Direction &amp; Program Updates</a:t>
            </a:r>
            <a:endParaRPr b="0" i="0" sz="700" u="none" cap="none" strike="noStrike">
              <a:solidFill>
                <a:srgbClr val="336666"/>
              </a:solidFill>
              <a:latin typeface="Montserrat"/>
              <a:ea typeface="Montserrat"/>
              <a:cs typeface="Montserrat"/>
              <a:sym typeface="Montserrat"/>
            </a:endParaRPr>
          </a:p>
        </p:txBody>
      </p:sp>
      <p:cxnSp>
        <p:nvCxnSpPr>
          <p:cNvPr id="496" name="Google Shape;496;p18"/>
          <p:cNvCxnSpPr/>
          <p:nvPr/>
        </p:nvCxnSpPr>
        <p:spPr>
          <a:xfrm>
            <a:off x="5423642" y="1772254"/>
            <a:ext cx="0" cy="231900"/>
          </a:xfrm>
          <a:prstGeom prst="straightConnector1">
            <a:avLst/>
          </a:prstGeom>
          <a:noFill/>
          <a:ln cap="flat" cmpd="sng" w="25400">
            <a:solidFill>
              <a:srgbClr val="B7B7B7"/>
            </a:solidFill>
            <a:prstDash val="solid"/>
            <a:miter lim="8000"/>
            <a:headEnd len="sm" w="sm" type="none"/>
            <a:tailEnd len="med" w="med" type="triangle"/>
          </a:ln>
        </p:spPr>
      </p:cxnSp>
      <p:sp>
        <p:nvSpPr>
          <p:cNvPr id="497" name="Google Shape;497;p18"/>
          <p:cNvSpPr txBox="1"/>
          <p:nvPr/>
        </p:nvSpPr>
        <p:spPr>
          <a:xfrm>
            <a:off x="4336415" y="2517264"/>
            <a:ext cx="981600" cy="15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Direction &amp; Program Updates</a:t>
            </a:r>
            <a:endParaRPr b="0" i="0" sz="700" u="none" cap="none" strike="noStrike">
              <a:solidFill>
                <a:srgbClr val="336666"/>
              </a:solidFill>
              <a:latin typeface="Montserrat"/>
              <a:ea typeface="Montserrat"/>
              <a:cs typeface="Montserrat"/>
              <a:sym typeface="Montserrat"/>
            </a:endParaRPr>
          </a:p>
        </p:txBody>
      </p:sp>
      <p:cxnSp>
        <p:nvCxnSpPr>
          <p:cNvPr id="498" name="Google Shape;498;p18"/>
          <p:cNvCxnSpPr/>
          <p:nvPr/>
        </p:nvCxnSpPr>
        <p:spPr>
          <a:xfrm>
            <a:off x="5423650" y="2504893"/>
            <a:ext cx="0" cy="332700"/>
          </a:xfrm>
          <a:prstGeom prst="straightConnector1">
            <a:avLst/>
          </a:prstGeom>
          <a:noFill/>
          <a:ln cap="flat" cmpd="sng" w="25400">
            <a:solidFill>
              <a:srgbClr val="B7B7B7"/>
            </a:solidFill>
            <a:prstDash val="solid"/>
            <a:miter lim="8000"/>
            <a:headEnd len="sm" w="sm" type="none"/>
            <a:tailEnd len="med" w="med" type="triangle"/>
          </a:ln>
        </p:spPr>
      </p:cxnSp>
      <p:cxnSp>
        <p:nvCxnSpPr>
          <p:cNvPr id="499" name="Google Shape;499;p18"/>
          <p:cNvCxnSpPr>
            <a:stCxn id="490" idx="3"/>
            <a:endCxn id="489" idx="1"/>
          </p:cNvCxnSpPr>
          <p:nvPr/>
        </p:nvCxnSpPr>
        <p:spPr>
          <a:xfrm flipH="1" rot="10800000">
            <a:off x="3750325" y="1548954"/>
            <a:ext cx="729000" cy="300"/>
          </a:xfrm>
          <a:prstGeom prst="straightConnector1">
            <a:avLst/>
          </a:prstGeom>
          <a:noFill/>
          <a:ln cap="flat" cmpd="sng" w="9525">
            <a:solidFill>
              <a:srgbClr val="B7B7B7"/>
            </a:solidFill>
            <a:prstDash val="solid"/>
            <a:miter lim="8000"/>
            <a:headEnd len="med" w="med" type="triangle"/>
            <a:tailEnd len="med" w="med" type="triangle"/>
          </a:ln>
        </p:spPr>
      </p:cxnSp>
      <p:cxnSp>
        <p:nvCxnSpPr>
          <p:cNvPr id="500" name="Google Shape;500;p18"/>
          <p:cNvCxnSpPr>
            <a:stCxn id="501" idx="3"/>
            <a:endCxn id="491" idx="1"/>
          </p:cNvCxnSpPr>
          <p:nvPr/>
        </p:nvCxnSpPr>
        <p:spPr>
          <a:xfrm>
            <a:off x="3750325" y="2229258"/>
            <a:ext cx="729000" cy="0"/>
          </a:xfrm>
          <a:prstGeom prst="straightConnector1">
            <a:avLst/>
          </a:prstGeom>
          <a:noFill/>
          <a:ln cap="flat" cmpd="sng" w="9525">
            <a:solidFill>
              <a:srgbClr val="B7B7B7"/>
            </a:solidFill>
            <a:prstDash val="solid"/>
            <a:miter lim="8000"/>
            <a:headEnd len="med" w="med" type="triangle"/>
            <a:tailEnd len="med" w="med" type="triangle"/>
          </a:ln>
        </p:spPr>
      </p:cxnSp>
      <p:sp>
        <p:nvSpPr>
          <p:cNvPr id="501" name="Google Shape;501;p18"/>
          <p:cNvSpPr txBox="1"/>
          <p:nvPr/>
        </p:nvSpPr>
        <p:spPr>
          <a:xfrm>
            <a:off x="1629325" y="2090208"/>
            <a:ext cx="2121000" cy="278100"/>
          </a:xfrm>
          <a:prstGeom prst="rect">
            <a:avLst/>
          </a:prstGeom>
          <a:solidFill>
            <a:srgbClr val="B7B7B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Product Manager, Racing Queensland </a:t>
            </a:r>
            <a:endParaRPr b="1" i="0" sz="800" u="none" cap="none" strike="noStrike">
              <a:solidFill>
                <a:srgbClr val="FFFFFF"/>
              </a:solidFill>
              <a:latin typeface="Montserrat"/>
              <a:ea typeface="Montserrat"/>
              <a:cs typeface="Montserrat"/>
              <a:sym typeface="Montserrat"/>
            </a:endParaRPr>
          </a:p>
        </p:txBody>
      </p:sp>
      <p:sp>
        <p:nvSpPr>
          <p:cNvPr id="502" name="Google Shape;502;p18"/>
          <p:cNvSpPr txBox="1"/>
          <p:nvPr/>
        </p:nvSpPr>
        <p:spPr>
          <a:xfrm>
            <a:off x="2864276" y="2533538"/>
            <a:ext cx="660900" cy="15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Escalate Risks &amp; Issues</a:t>
            </a:r>
            <a:endParaRPr b="0" i="0" sz="700" u="none" cap="none" strike="noStrike">
              <a:solidFill>
                <a:srgbClr val="336666"/>
              </a:solidFill>
              <a:latin typeface="Montserrat"/>
              <a:ea typeface="Montserrat"/>
              <a:cs typeface="Montserrat"/>
              <a:sym typeface="Montserrat"/>
            </a:endParaRPr>
          </a:p>
        </p:txBody>
      </p:sp>
      <p:cxnSp>
        <p:nvCxnSpPr>
          <p:cNvPr id="503" name="Google Shape;503;p18"/>
          <p:cNvCxnSpPr/>
          <p:nvPr/>
        </p:nvCxnSpPr>
        <p:spPr>
          <a:xfrm rot="10800000">
            <a:off x="2632100" y="2507218"/>
            <a:ext cx="0" cy="365700"/>
          </a:xfrm>
          <a:prstGeom prst="straightConnector1">
            <a:avLst/>
          </a:prstGeom>
          <a:noFill/>
          <a:ln cap="flat" cmpd="sng" w="25400">
            <a:solidFill>
              <a:srgbClr val="B7B7B7"/>
            </a:solidFill>
            <a:prstDash val="solid"/>
            <a:miter lim="8000"/>
            <a:headEnd len="sm" w="sm" type="none"/>
            <a:tailEnd len="med" w="med" type="triangle"/>
          </a:ln>
        </p:spPr>
      </p:cxnSp>
      <p:cxnSp>
        <p:nvCxnSpPr>
          <p:cNvPr id="504" name="Google Shape;504;p18"/>
          <p:cNvCxnSpPr>
            <a:stCxn id="488" idx="0"/>
            <a:endCxn id="469" idx="0"/>
          </p:cNvCxnSpPr>
          <p:nvPr/>
        </p:nvCxnSpPr>
        <p:spPr>
          <a:xfrm rot="5400000">
            <a:off x="5404407" y="1633923"/>
            <a:ext cx="254100" cy="3184500"/>
          </a:xfrm>
          <a:prstGeom prst="bentConnector3">
            <a:avLst>
              <a:gd fmla="val -93713" name="adj1"/>
            </a:avLst>
          </a:prstGeom>
          <a:noFill/>
          <a:ln cap="flat" cmpd="sng" w="9525">
            <a:solidFill>
              <a:srgbClr val="B7B7B7"/>
            </a:solidFill>
            <a:prstDash val="solid"/>
            <a:round/>
            <a:headEnd len="med" w="med" type="oval"/>
            <a:tailEnd len="med" w="med" type="oval"/>
          </a:ln>
        </p:spPr>
      </p:cxnSp>
      <p:sp>
        <p:nvSpPr>
          <p:cNvPr id="505" name="Google Shape;505;p18"/>
          <p:cNvSpPr/>
          <p:nvPr/>
        </p:nvSpPr>
        <p:spPr>
          <a:xfrm>
            <a:off x="7182432" y="1935141"/>
            <a:ext cx="1401300" cy="444300"/>
          </a:xfrm>
          <a:prstGeom prst="rect">
            <a:avLst/>
          </a:prstGeom>
          <a:noFill/>
          <a:ln>
            <a:noFill/>
          </a:ln>
        </p:spPr>
        <p:txBody>
          <a:bodyPr anchorCtr="0" anchor="ctr" bIns="121900" lIns="60925" spcFirstLastPara="1" rIns="60925" wrap="square" tIns="121900">
            <a:noAutofit/>
          </a:bodyPr>
          <a:lstStyle/>
          <a:p>
            <a:pPr indent="0" lvl="0" marL="0" marR="0" rtl="0" algn="ctr">
              <a:lnSpc>
                <a:spcPct val="100000"/>
              </a:lnSpc>
              <a:spcBef>
                <a:spcPts val="0"/>
              </a:spcBef>
              <a:spcAft>
                <a:spcPts val="0"/>
              </a:spcAft>
              <a:buClr>
                <a:srgbClr val="000000"/>
              </a:buClr>
              <a:buSzPts val="1300"/>
              <a:buFont typeface="Arial"/>
              <a:buNone/>
            </a:pPr>
            <a:r>
              <a:rPr b="1" i="0" lang="en" sz="700" u="none" cap="none" strike="noStrike">
                <a:solidFill>
                  <a:srgbClr val="191919"/>
                </a:solidFill>
                <a:latin typeface="Montserrat"/>
                <a:ea typeface="Montserrat"/>
                <a:cs typeface="Montserrat"/>
                <a:sym typeface="Montserrat"/>
              </a:rPr>
              <a:t>Monthly Governance Checkpoints (SteerCo)</a:t>
            </a:r>
            <a:endParaRPr b="1" i="0" sz="700" u="none" cap="none" strike="noStrike">
              <a:solidFill>
                <a:srgbClr val="191919"/>
              </a:solidFill>
              <a:latin typeface="Montserrat"/>
              <a:ea typeface="Montserrat"/>
              <a:cs typeface="Montserrat"/>
              <a:sym typeface="Montserrat"/>
            </a:endParaRPr>
          </a:p>
        </p:txBody>
      </p:sp>
      <p:sp>
        <p:nvSpPr>
          <p:cNvPr id="506" name="Google Shape;506;p18"/>
          <p:cNvSpPr/>
          <p:nvPr/>
        </p:nvSpPr>
        <p:spPr>
          <a:xfrm>
            <a:off x="7712458" y="1639644"/>
            <a:ext cx="318300" cy="3117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507" name="Google Shape;507;p18"/>
          <p:cNvSpPr/>
          <p:nvPr/>
        </p:nvSpPr>
        <p:spPr>
          <a:xfrm>
            <a:off x="4196599" y="3403869"/>
            <a:ext cx="1334100" cy="9417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08" name="Google Shape;508;p18"/>
          <p:cNvPicPr preferRelativeResize="0"/>
          <p:nvPr/>
        </p:nvPicPr>
        <p:blipFill rotWithShape="1">
          <a:blip r:embed="rId8">
            <a:alphaModFix/>
          </a:blip>
          <a:srcRect b="0" l="0" r="0" t="0"/>
          <a:stretch/>
        </p:blipFill>
        <p:spPr>
          <a:xfrm>
            <a:off x="7756651" y="1712375"/>
            <a:ext cx="229899" cy="166176"/>
          </a:xfrm>
          <a:prstGeom prst="rect">
            <a:avLst/>
          </a:prstGeom>
          <a:noFill/>
          <a:ln>
            <a:noFill/>
          </a:ln>
        </p:spPr>
      </p:pic>
      <p:sp>
        <p:nvSpPr>
          <p:cNvPr id="509" name="Google Shape;509;p18"/>
          <p:cNvSpPr/>
          <p:nvPr/>
        </p:nvSpPr>
        <p:spPr>
          <a:xfrm>
            <a:off x="4128891" y="3446717"/>
            <a:ext cx="1334100" cy="10143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10" name="Google Shape;510;p18"/>
          <p:cNvPicPr preferRelativeResize="0"/>
          <p:nvPr/>
        </p:nvPicPr>
        <p:blipFill rotWithShape="1">
          <a:blip r:embed="rId9">
            <a:alphaModFix/>
          </a:blip>
          <a:srcRect b="18198" l="21766" r="23601" t="16993"/>
          <a:stretch/>
        </p:blipFill>
        <p:spPr>
          <a:xfrm>
            <a:off x="4259212" y="4081790"/>
            <a:ext cx="193693" cy="181710"/>
          </a:xfrm>
          <a:prstGeom prst="rect">
            <a:avLst/>
          </a:prstGeom>
          <a:noFill/>
          <a:ln>
            <a:noFill/>
          </a:ln>
        </p:spPr>
      </p:pic>
      <p:sp>
        <p:nvSpPr>
          <p:cNvPr id="511" name="Google Shape;511;p18"/>
          <p:cNvSpPr txBox="1"/>
          <p:nvPr/>
        </p:nvSpPr>
        <p:spPr>
          <a:xfrm>
            <a:off x="4380925" y="3505629"/>
            <a:ext cx="8301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TTN Team</a:t>
            </a:r>
            <a:endParaRPr b="1" i="0" sz="800" u="none" cap="none" strike="noStrike">
              <a:solidFill>
                <a:srgbClr val="000000"/>
              </a:solidFill>
              <a:latin typeface="Montserrat"/>
              <a:ea typeface="Montserrat"/>
              <a:cs typeface="Montserrat"/>
              <a:sym typeface="Montserrat"/>
            </a:endParaRPr>
          </a:p>
        </p:txBody>
      </p:sp>
      <p:sp>
        <p:nvSpPr>
          <p:cNvPr id="512" name="Google Shape;512;p18"/>
          <p:cNvSpPr txBox="1"/>
          <p:nvPr/>
        </p:nvSpPr>
        <p:spPr>
          <a:xfrm>
            <a:off x="4232743" y="3979995"/>
            <a:ext cx="12618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TTN Engineering </a:t>
            </a:r>
            <a:endParaRPr b="1" i="0" sz="700" u="none" cap="none" strike="noStrike">
              <a:solidFill>
                <a:srgbClr val="000000"/>
              </a:solidFill>
              <a:latin typeface="Century Gothic"/>
              <a:ea typeface="Century Gothic"/>
              <a:cs typeface="Century Gothic"/>
              <a:sym typeface="Century Gothic"/>
            </a:endParaRPr>
          </a:p>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Team</a:t>
            </a:r>
            <a:endParaRPr b="1" i="0" sz="700" u="none" cap="none" strike="noStrike">
              <a:solidFill>
                <a:srgbClr val="000000"/>
              </a:solidFill>
              <a:latin typeface="Century Gothic"/>
              <a:ea typeface="Century Gothic"/>
              <a:cs typeface="Century Gothic"/>
              <a:sym typeface="Century Gothic"/>
            </a:endParaRPr>
          </a:p>
        </p:txBody>
      </p:sp>
      <p:pic>
        <p:nvPicPr>
          <p:cNvPr id="513" name="Google Shape;513;p18"/>
          <p:cNvPicPr preferRelativeResize="0"/>
          <p:nvPr/>
        </p:nvPicPr>
        <p:blipFill rotWithShape="1">
          <a:blip r:embed="rId9">
            <a:alphaModFix/>
          </a:blip>
          <a:srcRect b="18198" l="21766" r="23601" t="16993"/>
          <a:stretch/>
        </p:blipFill>
        <p:spPr>
          <a:xfrm>
            <a:off x="4271897" y="3802253"/>
            <a:ext cx="168324" cy="180046"/>
          </a:xfrm>
          <a:prstGeom prst="rect">
            <a:avLst/>
          </a:prstGeom>
          <a:noFill/>
          <a:ln>
            <a:noFill/>
          </a:ln>
        </p:spPr>
      </p:pic>
      <p:sp>
        <p:nvSpPr>
          <p:cNvPr id="514" name="Google Shape;514;p18"/>
          <p:cNvSpPr txBox="1"/>
          <p:nvPr/>
        </p:nvSpPr>
        <p:spPr>
          <a:xfrm>
            <a:off x="4388911" y="3821314"/>
            <a:ext cx="981600" cy="290700"/>
          </a:xfrm>
          <a:prstGeom prst="rect">
            <a:avLst/>
          </a:prstGeom>
          <a:noFill/>
          <a:ln>
            <a:noFill/>
          </a:ln>
        </p:spPr>
        <p:txBody>
          <a:bodyPr anchorCtr="0" anchor="b" bIns="91425" lIns="91425" spcFirstLastPara="1" rIns="91425" wrap="square" tIns="91425">
            <a:noAutofit/>
          </a:bodyPr>
          <a:lstStyle/>
          <a:p>
            <a:pPr indent="0" lvl="0" marL="0" marR="0" rtl="0" algn="ctr">
              <a:lnSpc>
                <a:spcPct val="8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Project Manager</a:t>
            </a:r>
            <a:endParaRPr b="1" i="0" sz="700" u="none" cap="none" strike="noStrike">
              <a:solidFill>
                <a:srgbClr val="000000"/>
              </a:solidFill>
              <a:latin typeface="Century Gothic"/>
              <a:ea typeface="Century Gothic"/>
              <a:cs typeface="Century Gothic"/>
              <a:sym typeface="Century Gothic"/>
            </a:endParaRPr>
          </a:p>
        </p:txBody>
      </p:sp>
      <p:cxnSp>
        <p:nvCxnSpPr>
          <p:cNvPr id="515" name="Google Shape;515;p18"/>
          <p:cNvCxnSpPr/>
          <p:nvPr/>
        </p:nvCxnSpPr>
        <p:spPr>
          <a:xfrm rot="10800000">
            <a:off x="3316313" y="4030223"/>
            <a:ext cx="276600" cy="0"/>
          </a:xfrm>
          <a:prstGeom prst="straightConnector1">
            <a:avLst/>
          </a:prstGeom>
          <a:noFill/>
          <a:ln cap="flat" cmpd="sng" w="9525">
            <a:solidFill>
              <a:srgbClr val="999999"/>
            </a:solidFill>
            <a:prstDash val="solid"/>
            <a:round/>
            <a:headEnd len="sm" w="sm" type="none"/>
            <a:tailEnd len="sm" w="sm" type="none"/>
          </a:ln>
        </p:spPr>
      </p:cxnSp>
      <p:pic>
        <p:nvPicPr>
          <p:cNvPr id="516" name="Google Shape;516;p18"/>
          <p:cNvPicPr preferRelativeResize="0"/>
          <p:nvPr/>
        </p:nvPicPr>
        <p:blipFill rotWithShape="1">
          <a:blip r:embed="rId8">
            <a:alphaModFix/>
          </a:blip>
          <a:srcRect b="0" l="0" r="0" t="0"/>
          <a:stretch/>
        </p:blipFill>
        <p:spPr>
          <a:xfrm>
            <a:off x="6699607" y="3982434"/>
            <a:ext cx="183925" cy="135766"/>
          </a:xfrm>
          <a:prstGeom prst="rect">
            <a:avLst/>
          </a:prstGeom>
          <a:noFill/>
          <a:ln>
            <a:noFill/>
          </a:ln>
        </p:spPr>
      </p:pic>
      <p:sp>
        <p:nvSpPr>
          <p:cNvPr id="517" name="Google Shape;517;p18"/>
          <p:cNvSpPr txBox="1"/>
          <p:nvPr/>
        </p:nvSpPr>
        <p:spPr>
          <a:xfrm>
            <a:off x="359857" y="1281370"/>
            <a:ext cx="1175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Steering</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Committee</a:t>
            </a:r>
            <a:endParaRPr b="0" i="0" sz="800" u="none" cap="none" strike="noStrike">
              <a:solidFill>
                <a:srgbClr val="12519C"/>
              </a:solidFill>
              <a:latin typeface="Montserrat"/>
              <a:ea typeface="Montserrat"/>
              <a:cs typeface="Montserrat"/>
              <a:sym typeface="Montserrat"/>
            </a:endParaRPr>
          </a:p>
        </p:txBody>
      </p:sp>
      <p:sp>
        <p:nvSpPr>
          <p:cNvPr id="518" name="Google Shape;518;p18"/>
          <p:cNvSpPr txBox="1"/>
          <p:nvPr/>
        </p:nvSpPr>
        <p:spPr>
          <a:xfrm>
            <a:off x="409932" y="2011328"/>
            <a:ext cx="9816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Program</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Management</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Committee</a:t>
            </a:r>
            <a:endParaRPr b="0" i="0" sz="800" u="none" cap="none" strike="noStrike">
              <a:solidFill>
                <a:srgbClr val="12519C"/>
              </a:solidFill>
              <a:latin typeface="Montserrat"/>
              <a:ea typeface="Montserrat"/>
              <a:cs typeface="Montserrat"/>
              <a:sym typeface="Montserrat"/>
            </a:endParaRPr>
          </a:p>
        </p:txBody>
      </p:sp>
      <p:cxnSp>
        <p:nvCxnSpPr>
          <p:cNvPr id="519" name="Google Shape;519;p18"/>
          <p:cNvCxnSpPr>
            <a:stCxn id="505" idx="2"/>
          </p:cNvCxnSpPr>
          <p:nvPr/>
        </p:nvCxnSpPr>
        <p:spPr>
          <a:xfrm flipH="1" rot="5400000">
            <a:off x="7211532" y="1707891"/>
            <a:ext cx="81300" cy="1261800"/>
          </a:xfrm>
          <a:prstGeom prst="bentConnector4">
            <a:avLst>
              <a:gd fmla="val -292897" name="adj1"/>
              <a:gd fmla="val 77764" name="adj2"/>
            </a:avLst>
          </a:prstGeom>
          <a:noFill/>
          <a:ln cap="flat" cmpd="sng" w="9525">
            <a:solidFill>
              <a:srgbClr val="B7B7B7"/>
            </a:solidFill>
            <a:prstDash val="solid"/>
            <a:round/>
            <a:headEnd len="med" w="med" type="oval"/>
            <a:tailEnd len="med" w="med" type="oval"/>
          </a:ln>
        </p:spPr>
      </p:cxnSp>
      <p:sp>
        <p:nvSpPr>
          <p:cNvPr id="520" name="Google Shape;520;p18"/>
          <p:cNvSpPr txBox="1"/>
          <p:nvPr/>
        </p:nvSpPr>
        <p:spPr>
          <a:xfrm>
            <a:off x="428857" y="3563900"/>
            <a:ext cx="3000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Program </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Execution </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Team</a:t>
            </a:r>
            <a:endParaRPr b="0" i="0" sz="800" u="none" cap="none" strike="noStrike">
              <a:solidFill>
                <a:srgbClr val="12519C"/>
              </a:solidFill>
              <a:latin typeface="Montserrat"/>
              <a:ea typeface="Montserrat"/>
              <a:cs typeface="Montserrat"/>
              <a:sym typeface="Montserrat"/>
            </a:endParaRPr>
          </a:p>
        </p:txBody>
      </p:sp>
      <p:pic>
        <p:nvPicPr>
          <p:cNvPr descr="TTN Logo.png" id="521" name="Google Shape;521;p18"/>
          <p:cNvPicPr preferRelativeResize="0"/>
          <p:nvPr/>
        </p:nvPicPr>
        <p:blipFill rotWithShape="1">
          <a:blip r:embed="rId10">
            <a:alphaModFix/>
          </a:blip>
          <a:srcRect b="0" l="0" r="0" t="0"/>
          <a:stretch/>
        </p:blipFill>
        <p:spPr>
          <a:xfrm>
            <a:off x="5110881" y="612478"/>
            <a:ext cx="625544" cy="349439"/>
          </a:xfrm>
          <a:prstGeom prst="rect">
            <a:avLst/>
          </a:prstGeom>
          <a:noFill/>
          <a:ln>
            <a:noFill/>
          </a:ln>
        </p:spPr>
      </p:pic>
      <p:pic>
        <p:nvPicPr>
          <p:cNvPr id="522" name="Google Shape;522;p18"/>
          <p:cNvPicPr preferRelativeResize="0"/>
          <p:nvPr/>
        </p:nvPicPr>
        <p:blipFill rotWithShape="1">
          <a:blip r:embed="rId11">
            <a:alphaModFix/>
          </a:blip>
          <a:srcRect b="0" l="0" r="0" t="0"/>
          <a:stretch/>
        </p:blipFill>
        <p:spPr>
          <a:xfrm>
            <a:off x="2384560" y="678107"/>
            <a:ext cx="542839" cy="224450"/>
          </a:xfrm>
          <a:prstGeom prst="rect">
            <a:avLst/>
          </a:prstGeom>
          <a:noFill/>
          <a:ln>
            <a:noFill/>
          </a:ln>
        </p:spPr>
      </p:pic>
      <p:sp>
        <p:nvSpPr>
          <p:cNvPr id="523" name="Google Shape;523;p1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19"/>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Plan</a:t>
            </a:r>
            <a:endParaRPr b="1" i="0" sz="2000" u="none" cap="none" strike="noStrike">
              <a:solidFill>
                <a:schemeClr val="dk1"/>
              </a:solidFill>
              <a:latin typeface="Montserrat"/>
              <a:ea typeface="Montserrat"/>
              <a:cs typeface="Montserrat"/>
              <a:sym typeface="Montserrat"/>
            </a:endParaRPr>
          </a:p>
        </p:txBody>
      </p:sp>
      <p:graphicFrame>
        <p:nvGraphicFramePr>
          <p:cNvPr id="529" name="Google Shape;529;p19"/>
          <p:cNvGraphicFramePr/>
          <p:nvPr/>
        </p:nvGraphicFramePr>
        <p:xfrm>
          <a:off x="232325" y="700950"/>
          <a:ext cx="3000000" cy="3000000"/>
        </p:xfrm>
        <a:graphic>
          <a:graphicData uri="http://schemas.openxmlformats.org/drawingml/2006/table">
            <a:tbl>
              <a:tblPr>
                <a:noFill/>
                <a:tableStyleId>{486883CD-E40B-490B-9AF7-50432A68762B}</a:tableStyleId>
              </a:tblPr>
              <a:tblGrid>
                <a:gridCol w="1256925"/>
                <a:gridCol w="461550"/>
                <a:gridCol w="476475"/>
                <a:gridCol w="453325"/>
                <a:gridCol w="498275"/>
                <a:gridCol w="464450"/>
                <a:gridCol w="457375"/>
                <a:gridCol w="517625"/>
                <a:gridCol w="517625"/>
                <a:gridCol w="517625"/>
                <a:gridCol w="517625"/>
                <a:gridCol w="517625"/>
                <a:gridCol w="517625"/>
                <a:gridCol w="517625"/>
                <a:gridCol w="517625"/>
                <a:gridCol w="517625"/>
              </a:tblGrid>
              <a:tr h="320750">
                <a:tc>
                  <a:txBody>
                    <a:bodyPr/>
                    <a:lstStyle/>
                    <a:p>
                      <a:pPr indent="0" lvl="0" marL="0" marR="0" rtl="0" algn="ctr">
                        <a:lnSpc>
                          <a:spcPct val="100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Activities /Timelines</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1</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2</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3</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4</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5</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6</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7</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8</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9</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10</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11</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12</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13</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14</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15</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r>
              <a:tr h="6541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Design &amp; Discovery Phase</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740700">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Agile based Iterative Development and Testing ( end to end features)</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50375">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UAT and Go Live (2 Weeks)</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98850">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Hypercare Support ( For 2 Weeks Post Go-Live)</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
        <p:nvSpPr>
          <p:cNvPr id="530" name="Google Shape;530;p19"/>
          <p:cNvSpPr/>
          <p:nvPr/>
        </p:nvSpPr>
        <p:spPr>
          <a:xfrm>
            <a:off x="1489250" y="1136263"/>
            <a:ext cx="938100" cy="164700"/>
          </a:xfrm>
          <a:prstGeom prst="homePlate">
            <a:avLst>
              <a:gd fmla="val 50000" name="adj"/>
            </a:avLst>
          </a:prstGeom>
          <a:solidFill>
            <a:srgbClr val="F5B6D7"/>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Discovery</a:t>
            </a:r>
            <a:endParaRPr b="1" i="0" sz="800" u="none" cap="none" strike="noStrike">
              <a:solidFill>
                <a:srgbClr val="000000"/>
              </a:solidFill>
              <a:latin typeface="Montserrat"/>
              <a:ea typeface="Montserrat"/>
              <a:cs typeface="Montserrat"/>
              <a:sym typeface="Montserrat"/>
            </a:endParaRPr>
          </a:p>
        </p:txBody>
      </p:sp>
      <p:sp>
        <p:nvSpPr>
          <p:cNvPr id="531" name="Google Shape;531;p19"/>
          <p:cNvSpPr/>
          <p:nvPr/>
        </p:nvSpPr>
        <p:spPr>
          <a:xfrm>
            <a:off x="2427275" y="1935925"/>
            <a:ext cx="4443600" cy="307800"/>
          </a:xfrm>
          <a:prstGeom prst="homePlate">
            <a:avLst>
              <a:gd fmla="val 50000" name="adj"/>
            </a:avLst>
          </a:prstGeom>
          <a:solidFill>
            <a:srgbClr val="D71B7F"/>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19"/>
          <p:cNvSpPr/>
          <p:nvPr/>
        </p:nvSpPr>
        <p:spPr>
          <a:xfrm>
            <a:off x="6888825" y="2711775"/>
            <a:ext cx="1035300" cy="307800"/>
          </a:xfrm>
          <a:prstGeom prst="homePlate">
            <a:avLst>
              <a:gd fmla="val 50000" name="adj"/>
            </a:avLst>
          </a:prstGeom>
          <a:solidFill>
            <a:srgbClr val="6AA84F"/>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33" name="Google Shape;533;p19"/>
          <p:cNvPicPr preferRelativeResize="0"/>
          <p:nvPr/>
        </p:nvPicPr>
        <p:blipFill rotWithShape="1">
          <a:blip r:embed="rId3">
            <a:alphaModFix/>
          </a:blip>
          <a:srcRect b="0" l="0" r="0" t="0"/>
          <a:stretch/>
        </p:blipFill>
        <p:spPr>
          <a:xfrm>
            <a:off x="6818825" y="2550325"/>
            <a:ext cx="240600" cy="240600"/>
          </a:xfrm>
          <a:prstGeom prst="rect">
            <a:avLst/>
          </a:prstGeom>
          <a:noFill/>
          <a:ln>
            <a:noFill/>
          </a:ln>
        </p:spPr>
      </p:pic>
      <p:sp>
        <p:nvSpPr>
          <p:cNvPr id="534" name="Google Shape;534;p19"/>
          <p:cNvSpPr/>
          <p:nvPr/>
        </p:nvSpPr>
        <p:spPr>
          <a:xfrm>
            <a:off x="7924075" y="3444925"/>
            <a:ext cx="1035300" cy="307800"/>
          </a:xfrm>
          <a:prstGeom prst="homePlate">
            <a:avLst>
              <a:gd fmla="val 50000" name="adj"/>
            </a:avLst>
          </a:prstGeom>
          <a:solidFill>
            <a:srgbClr val="FF9900"/>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35" name="Google Shape;535;p19"/>
          <p:cNvPicPr preferRelativeResize="0"/>
          <p:nvPr/>
        </p:nvPicPr>
        <p:blipFill rotWithShape="1">
          <a:blip r:embed="rId3">
            <a:alphaModFix/>
          </a:blip>
          <a:srcRect b="0" l="0" r="0" t="0"/>
          <a:stretch/>
        </p:blipFill>
        <p:spPr>
          <a:xfrm>
            <a:off x="7877075" y="3184775"/>
            <a:ext cx="240600" cy="240600"/>
          </a:xfrm>
          <a:prstGeom prst="rect">
            <a:avLst/>
          </a:prstGeom>
          <a:noFill/>
          <a:ln>
            <a:noFill/>
          </a:ln>
        </p:spPr>
      </p:pic>
      <p:sp>
        <p:nvSpPr>
          <p:cNvPr id="536" name="Google Shape;536;p19"/>
          <p:cNvSpPr txBox="1"/>
          <p:nvPr/>
        </p:nvSpPr>
        <p:spPr>
          <a:xfrm>
            <a:off x="266700" y="4399275"/>
            <a:ext cx="8596200" cy="646500"/>
          </a:xfrm>
          <a:prstGeom prst="rect">
            <a:avLst/>
          </a:prstGeom>
          <a:noFill/>
          <a:ln>
            <a:noFill/>
          </a:ln>
        </p:spPr>
        <p:txBody>
          <a:bodyPr anchorCtr="0" anchor="t" bIns="91425" lIns="91425" spcFirstLastPara="1" rIns="91425" wrap="square" tIns="91425">
            <a:spAutoFit/>
          </a:bodyPr>
          <a:lstStyle/>
          <a:p>
            <a:r>
              <a:t>Phase 1 — Discovery &amp; Architecture (4 weeks): workshops, backlog, solution design.</a:t>
            </a:r>
          </a:p>
          <a:p>
            <a:pPr/>
            <a:r>
              <a:t>Phase 2 — Core Platform (10 weeks): catalogue, cart, checkout, admin.</a:t>
            </a:r>
          </a:p>
          <a:p>
            <a:pPr/>
            <a:r>
              <a:t>Phase 3 — Integrations (6 weeks): ERP, PIM, payments, search tuning.</a:t>
            </a:r>
          </a:p>
          <a:p>
            <a:pPr/>
            <a:r>
              <a:t>Phase 4 — UAT &amp; Go-Live (4 weeks): regression, performance, cutover.</a:t>
            </a:r>
          </a:p>
          <a:p>
            <a:pPr/>
            <a:r>
              <a:t>Agile sprints with fortnightly demos and steering committee reviews.</a:t>
            </a:r>
          </a:p>
        </p:txBody>
      </p:sp>
      <p:sp>
        <p:nvSpPr>
          <p:cNvPr id="537" name="Google Shape;537;p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pic>
        <p:nvPicPr>
          <p:cNvPr id="538" name="Google Shape;538;p19"/>
          <p:cNvPicPr preferRelativeResize="0"/>
          <p:nvPr/>
        </p:nvPicPr>
        <p:blipFill rotWithShape="1">
          <a:blip r:embed="rId4">
            <a:alphaModFix/>
          </a:blip>
          <a:srcRect b="0" l="0" r="0" t="0"/>
          <a:stretch/>
        </p:blipFill>
        <p:spPr>
          <a:xfrm>
            <a:off x="3326050" y="1736975"/>
            <a:ext cx="240600" cy="240600"/>
          </a:xfrm>
          <a:prstGeom prst="rect">
            <a:avLst/>
          </a:prstGeom>
          <a:noFill/>
          <a:ln>
            <a:noFill/>
          </a:ln>
        </p:spPr>
      </p:pic>
      <p:pic>
        <p:nvPicPr>
          <p:cNvPr id="539" name="Google Shape;539;p19"/>
          <p:cNvPicPr preferRelativeResize="0"/>
          <p:nvPr/>
        </p:nvPicPr>
        <p:blipFill rotWithShape="1">
          <a:blip r:embed="rId4">
            <a:alphaModFix/>
          </a:blip>
          <a:srcRect b="0" l="0" r="0" t="0"/>
          <a:stretch/>
        </p:blipFill>
        <p:spPr>
          <a:xfrm>
            <a:off x="4238225" y="1736975"/>
            <a:ext cx="240600" cy="240600"/>
          </a:xfrm>
          <a:prstGeom prst="rect">
            <a:avLst/>
          </a:prstGeom>
          <a:noFill/>
          <a:ln>
            <a:noFill/>
          </a:ln>
        </p:spPr>
      </p:pic>
      <p:pic>
        <p:nvPicPr>
          <p:cNvPr id="540" name="Google Shape;540;p19"/>
          <p:cNvPicPr preferRelativeResize="0"/>
          <p:nvPr/>
        </p:nvPicPr>
        <p:blipFill rotWithShape="1">
          <a:blip r:embed="rId4">
            <a:alphaModFix/>
          </a:blip>
          <a:srcRect b="0" l="0" r="0" t="0"/>
          <a:stretch/>
        </p:blipFill>
        <p:spPr>
          <a:xfrm>
            <a:off x="5275350" y="1736975"/>
            <a:ext cx="240600" cy="240600"/>
          </a:xfrm>
          <a:prstGeom prst="rect">
            <a:avLst/>
          </a:prstGeom>
          <a:noFill/>
          <a:ln>
            <a:noFill/>
          </a:ln>
        </p:spPr>
      </p:pic>
      <p:pic>
        <p:nvPicPr>
          <p:cNvPr id="541" name="Google Shape;541;p19"/>
          <p:cNvPicPr preferRelativeResize="0"/>
          <p:nvPr/>
        </p:nvPicPr>
        <p:blipFill rotWithShape="1">
          <a:blip r:embed="rId4">
            <a:alphaModFix/>
          </a:blip>
          <a:srcRect b="0" l="0" r="0" t="0"/>
          <a:stretch/>
        </p:blipFill>
        <p:spPr>
          <a:xfrm>
            <a:off x="6312475" y="1736975"/>
            <a:ext cx="240600" cy="240600"/>
          </a:xfrm>
          <a:prstGeom prst="rect">
            <a:avLst/>
          </a:prstGeom>
          <a:noFill/>
          <a:ln>
            <a:noFill/>
          </a:ln>
        </p:spPr>
      </p:pic>
      <p:pic>
        <p:nvPicPr>
          <p:cNvPr id="542" name="Google Shape;542;p19"/>
          <p:cNvPicPr preferRelativeResize="0"/>
          <p:nvPr/>
        </p:nvPicPr>
        <p:blipFill rotWithShape="1">
          <a:blip r:embed="rId4">
            <a:alphaModFix/>
          </a:blip>
          <a:srcRect b="0" l="0" r="0" t="0"/>
          <a:stretch/>
        </p:blipFill>
        <p:spPr>
          <a:xfrm>
            <a:off x="594350" y="3950950"/>
            <a:ext cx="240600" cy="240600"/>
          </a:xfrm>
          <a:prstGeom prst="rect">
            <a:avLst/>
          </a:prstGeom>
          <a:noFill/>
          <a:ln>
            <a:noFill/>
          </a:ln>
        </p:spPr>
      </p:pic>
      <p:sp>
        <p:nvSpPr>
          <p:cNvPr id="543" name="Google Shape;543;p19"/>
          <p:cNvSpPr txBox="1"/>
          <p:nvPr/>
        </p:nvSpPr>
        <p:spPr>
          <a:xfrm>
            <a:off x="758750" y="3909700"/>
            <a:ext cx="20001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Montserrat"/>
                <a:ea typeface="Montserrat"/>
                <a:cs typeface="Montserrat"/>
                <a:sym typeface="Montserrat"/>
              </a:rPr>
              <a:t>Product Increment Review</a:t>
            </a:r>
            <a:endParaRPr b="0" i="0" sz="900" u="none" cap="none" strike="noStrike">
              <a:solidFill>
                <a:srgbClr val="000000"/>
              </a:solidFill>
              <a:latin typeface="Montserrat"/>
              <a:ea typeface="Montserrat"/>
              <a:cs typeface="Montserrat"/>
              <a:sym typeface="Montserrat"/>
            </a:endParaRPr>
          </a:p>
        </p:txBody>
      </p:sp>
      <p:pic>
        <p:nvPicPr>
          <p:cNvPr id="544" name="Google Shape;544;p19"/>
          <p:cNvPicPr preferRelativeResize="0"/>
          <p:nvPr/>
        </p:nvPicPr>
        <p:blipFill rotWithShape="1">
          <a:blip r:embed="rId3">
            <a:alphaModFix/>
          </a:blip>
          <a:srcRect b="0" l="0" r="0" t="0"/>
          <a:stretch/>
        </p:blipFill>
        <p:spPr>
          <a:xfrm>
            <a:off x="2973050" y="3950950"/>
            <a:ext cx="240600" cy="240600"/>
          </a:xfrm>
          <a:prstGeom prst="rect">
            <a:avLst/>
          </a:prstGeom>
          <a:noFill/>
          <a:ln>
            <a:noFill/>
          </a:ln>
        </p:spPr>
      </p:pic>
      <p:sp>
        <p:nvSpPr>
          <p:cNvPr id="545" name="Google Shape;545;p19"/>
          <p:cNvSpPr txBox="1"/>
          <p:nvPr/>
        </p:nvSpPr>
        <p:spPr>
          <a:xfrm>
            <a:off x="3120950" y="3909700"/>
            <a:ext cx="20001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Montserrat"/>
                <a:ea typeface="Montserrat"/>
                <a:cs typeface="Montserrat"/>
                <a:sym typeface="Montserrat"/>
              </a:rPr>
              <a:t>UAT and Go-Live</a:t>
            </a:r>
            <a:endParaRPr b="0" i="0" sz="900" u="none" cap="none" strike="noStrike">
              <a:solidFill>
                <a:srgbClr val="000000"/>
              </a:solidFill>
              <a:latin typeface="Montserrat"/>
              <a:ea typeface="Montserrat"/>
              <a:cs typeface="Montserrat"/>
              <a:sym typeface="Montserrat"/>
            </a:endParaRPr>
          </a:p>
        </p:txBody>
      </p:sp>
      <p:sp>
        <p:nvSpPr>
          <p:cNvPr id="546" name="Google Shape;546;p19"/>
          <p:cNvSpPr/>
          <p:nvPr/>
        </p:nvSpPr>
        <p:spPr>
          <a:xfrm>
            <a:off x="1489250" y="1392800"/>
            <a:ext cx="2811600" cy="164700"/>
          </a:xfrm>
          <a:prstGeom prst="homePlate">
            <a:avLst>
              <a:gd fmla="val 50000" name="adj"/>
            </a:avLst>
          </a:prstGeom>
          <a:solidFill>
            <a:srgbClr val="F5B6D7"/>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Design Phase</a:t>
            </a:r>
            <a:endParaRPr b="1"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20"/>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20"/>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553" name="Google Shape;553;p20"/>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554" name="Google Shape;554;p20"/>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555" name="Google Shape;555;p20"/>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556" name="Google Shape;556;p20"/>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557" name="Google Shape;557;p20"/>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558" name="Google Shape;558;p20"/>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559" name="Google Shape;559;p20"/>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20"/>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20"/>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62" name="Google Shape;562;p20"/>
          <p:cNvPicPr preferRelativeResize="0"/>
          <p:nvPr/>
        </p:nvPicPr>
        <p:blipFill rotWithShape="1">
          <a:blip r:embed="rId3">
            <a:alphaModFix/>
          </a:blip>
          <a:srcRect b="0" l="0" r="0" t="0"/>
          <a:stretch/>
        </p:blipFill>
        <p:spPr>
          <a:xfrm>
            <a:off x="1246476" y="4086150"/>
            <a:ext cx="6568648" cy="958975"/>
          </a:xfrm>
          <a:prstGeom prst="rect">
            <a:avLst/>
          </a:prstGeom>
          <a:noFill/>
          <a:ln>
            <a:noFill/>
          </a:ln>
        </p:spPr>
      </p:pic>
      <p:sp>
        <p:nvSpPr>
          <p:cNvPr id="563" name="Google Shape;563;p20"/>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564" name="Google Shape;564;p20"/>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565" name="Google Shape;565;p20"/>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20"/>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Commercial Summary</a:t>
            </a:r>
            <a:endParaRPr b="1" i="0" sz="1200" u="none" cap="none" strike="noStrike">
              <a:solidFill>
                <a:srgbClr val="D71B7F"/>
              </a:solidFill>
              <a:latin typeface="Montserrat"/>
              <a:ea typeface="Montserrat"/>
              <a:cs typeface="Montserrat"/>
              <a:sym typeface="Montserrat"/>
            </a:endParaRPr>
          </a:p>
        </p:txBody>
      </p:sp>
      <p:cxnSp>
        <p:nvCxnSpPr>
          <p:cNvPr id="567" name="Google Shape;567;p20"/>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568" name="Google Shape;568;p20"/>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20"/>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21"/>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Proposed Engagement Model</a:t>
            </a:r>
            <a:endParaRPr b="1" i="0" sz="2000" u="none" cap="none" strike="noStrike">
              <a:solidFill>
                <a:schemeClr val="dk1"/>
              </a:solidFill>
              <a:latin typeface="Montserrat"/>
              <a:ea typeface="Montserrat"/>
              <a:cs typeface="Montserrat"/>
              <a:sym typeface="Montserrat"/>
            </a:endParaRPr>
          </a:p>
        </p:txBody>
      </p:sp>
      <p:sp>
        <p:nvSpPr>
          <p:cNvPr id="575" name="Google Shape;575;p21"/>
          <p:cNvSpPr/>
          <p:nvPr/>
        </p:nvSpPr>
        <p:spPr>
          <a:xfrm>
            <a:off x="268738" y="861370"/>
            <a:ext cx="4201500" cy="3718200"/>
          </a:xfrm>
          <a:prstGeom prst="snip1Rect">
            <a:avLst>
              <a:gd fmla="val 14134"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0" wrap="square" tIns="91425">
            <a:noAutofit/>
          </a:bodyPr>
          <a:lstStyle/>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Project will be executed in Iterative Agile manner for each phase  with the following iterations-</a:t>
            </a:r>
            <a:endParaRPr b="0" i="0" sz="1100" u="none" cap="none" strike="noStrike">
              <a:solidFill>
                <a:srgbClr val="000000"/>
              </a:solidFill>
              <a:latin typeface="Montserrat"/>
              <a:ea typeface="Montserrat"/>
              <a:cs typeface="Montserrat"/>
              <a:sym typeface="Montserrat"/>
            </a:endParaRPr>
          </a:p>
          <a:p>
            <a:pPr indent="-292100" lvl="1" marL="914400" marR="0" rtl="0" algn="l">
              <a:lnSpc>
                <a:spcPct val="115000"/>
              </a:lnSpc>
              <a:spcBef>
                <a:spcPts val="0"/>
              </a:spcBef>
              <a:spcAft>
                <a:spcPts val="0"/>
              </a:spcAft>
              <a:buClr>
                <a:srgbClr val="000000"/>
              </a:buClr>
              <a:buSzPts val="1000"/>
              <a:buFont typeface="Montserrat"/>
              <a:buChar char="○"/>
            </a:pPr>
            <a:r>
              <a:rPr b="0" i="0" lang="en" sz="1100" u="none" cap="none" strike="noStrike">
                <a:solidFill>
                  <a:srgbClr val="000000"/>
                </a:solidFill>
                <a:latin typeface="Montserrat"/>
                <a:ea typeface="Montserrat"/>
                <a:cs typeface="Montserrat"/>
                <a:sym typeface="Montserrat"/>
              </a:rPr>
              <a:t>Agile-based Development </a:t>
            </a:r>
            <a:endParaRPr b="0" i="0" sz="1100" u="none" cap="none" strike="noStrike">
              <a:solidFill>
                <a:srgbClr val="000000"/>
              </a:solidFill>
              <a:latin typeface="Montserrat"/>
              <a:ea typeface="Montserrat"/>
              <a:cs typeface="Montserrat"/>
              <a:sym typeface="Montserrat"/>
            </a:endParaRPr>
          </a:p>
          <a:p>
            <a:pPr indent="-292100" lvl="1" marL="914400" marR="0" rtl="0" algn="l">
              <a:lnSpc>
                <a:spcPct val="115000"/>
              </a:lnSpc>
              <a:spcBef>
                <a:spcPts val="0"/>
              </a:spcBef>
              <a:spcAft>
                <a:spcPts val="0"/>
              </a:spcAft>
              <a:buClr>
                <a:srgbClr val="000000"/>
              </a:buClr>
              <a:buSzPts val="1000"/>
              <a:buFont typeface="Montserrat"/>
              <a:buChar char="○"/>
            </a:pPr>
            <a:r>
              <a:rPr b="0" i="0" lang="en" sz="1100" u="none" cap="none" strike="noStrike">
                <a:solidFill>
                  <a:srgbClr val="000000"/>
                </a:solidFill>
                <a:latin typeface="Montserrat"/>
                <a:ea typeface="Montserrat"/>
                <a:cs typeface="Montserrat"/>
                <a:sym typeface="Montserrat"/>
              </a:rPr>
              <a:t>UAT and Go-Live</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Any delay in project due to reasons beyond TTN will warrant a change request against the impacted man days</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If there are any changes to assumptions or delays caused due to dependencies from Racing Queensland, impact on effort, timelines and cost would need to be assessed and will go through change request process.</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p:txBody>
      </p:sp>
      <p:cxnSp>
        <p:nvCxnSpPr>
          <p:cNvPr id="576" name="Google Shape;576;p21"/>
          <p:cNvCxnSpPr/>
          <p:nvPr/>
        </p:nvCxnSpPr>
        <p:spPr>
          <a:xfrm>
            <a:off x="272290" y="855475"/>
            <a:ext cx="0" cy="3710400"/>
          </a:xfrm>
          <a:prstGeom prst="straightConnector1">
            <a:avLst/>
          </a:prstGeom>
          <a:noFill/>
          <a:ln cap="flat" cmpd="sng" w="19050">
            <a:solidFill>
              <a:srgbClr val="12519C"/>
            </a:solidFill>
            <a:prstDash val="solid"/>
            <a:round/>
            <a:headEnd len="sm" w="sm" type="none"/>
            <a:tailEnd len="sm" w="sm" type="none"/>
          </a:ln>
        </p:spPr>
      </p:cxnSp>
      <p:sp>
        <p:nvSpPr>
          <p:cNvPr id="577" name="Google Shape;577;p21"/>
          <p:cNvSpPr/>
          <p:nvPr/>
        </p:nvSpPr>
        <p:spPr>
          <a:xfrm>
            <a:off x="4673772" y="863998"/>
            <a:ext cx="4201500" cy="3704400"/>
          </a:xfrm>
          <a:prstGeom prst="snip1Rect">
            <a:avLst>
              <a:gd fmla="val 14134"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0" wrap="square" tIns="91425">
            <a:noAutofit/>
          </a:bodyPr>
          <a:lstStyle/>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Total price for the entire project as per requirements outlined in the proposal would be: </a:t>
            </a:r>
            <a:endParaRPr b="1" i="0" sz="1100" u="none" cap="none" strike="noStrike">
              <a:solidFill>
                <a:srgbClr val="000000"/>
              </a:solidFill>
              <a:latin typeface="Montserrat"/>
              <a:ea typeface="Montserrat"/>
              <a:cs typeface="Montserrat"/>
              <a:sym typeface="Montserrat"/>
            </a:endParaRPr>
          </a:p>
          <a:p>
            <a:pPr indent="-109220" lvl="1" marL="731520" marR="0" rtl="0" algn="l">
              <a:lnSpc>
                <a:spcPct val="115000"/>
              </a:lnSpc>
              <a:spcBef>
                <a:spcPts val="0"/>
              </a:spcBef>
              <a:spcAft>
                <a:spcPts val="0"/>
              </a:spcAft>
              <a:buClr>
                <a:srgbClr val="D71B7F"/>
              </a:buClr>
              <a:buSzPts val="1000"/>
              <a:buFont typeface="Montserrat"/>
              <a:buChar char="○"/>
            </a:pPr>
            <a:r>
              <a:rPr b="1" i="0" lang="en" sz="1100" u="none" cap="none" strike="noStrike">
                <a:solidFill>
                  <a:srgbClr val="000000"/>
                </a:solidFill>
                <a:latin typeface="Montserrat"/>
                <a:ea typeface="Montserrat"/>
                <a:cs typeface="Montserrat"/>
                <a:sym typeface="Montserrat"/>
              </a:rPr>
              <a:t>Price Before dIscount : AUD </a:t>
            </a:r>
            <a:r>
              <a:rPr b="1" lang="en" sz="1100">
                <a:latin typeface="Montserrat"/>
                <a:ea typeface="Montserrat"/>
                <a:cs typeface="Montserrat"/>
                <a:sym typeface="Montserrat"/>
              </a:rPr>
              <a:t>80</a:t>
            </a:r>
            <a:r>
              <a:rPr b="1" i="0" lang="en" sz="1100" u="none" cap="none" strike="noStrike">
                <a:solidFill>
                  <a:srgbClr val="000000"/>
                </a:solidFill>
                <a:latin typeface="Montserrat"/>
                <a:ea typeface="Montserrat"/>
                <a:cs typeface="Montserrat"/>
                <a:sym typeface="Montserrat"/>
              </a:rPr>
              <a:t>,712.63</a:t>
            </a:r>
            <a:endParaRPr b="1" i="0" sz="1100" u="none" cap="none" strike="noStrike">
              <a:solidFill>
                <a:srgbClr val="000000"/>
              </a:solidFill>
              <a:latin typeface="Montserrat"/>
              <a:ea typeface="Montserrat"/>
              <a:cs typeface="Montserrat"/>
              <a:sym typeface="Montserrat"/>
            </a:endParaRPr>
          </a:p>
          <a:p>
            <a:pPr indent="-109220" lvl="1" marL="731520" marR="0" rtl="0" algn="l">
              <a:lnSpc>
                <a:spcPct val="115000"/>
              </a:lnSpc>
              <a:spcBef>
                <a:spcPts val="0"/>
              </a:spcBef>
              <a:spcAft>
                <a:spcPts val="0"/>
              </a:spcAft>
              <a:buClr>
                <a:srgbClr val="D71B7F"/>
              </a:buClr>
              <a:buSzPts val="1000"/>
              <a:buFont typeface="Montserrat"/>
              <a:buChar char="○"/>
            </a:pPr>
            <a:r>
              <a:rPr b="1" i="0" lang="en" sz="1100" u="none" cap="none" strike="noStrike">
                <a:solidFill>
                  <a:srgbClr val="000000"/>
                </a:solidFill>
                <a:latin typeface="Montserrat"/>
                <a:ea typeface="Montserrat"/>
                <a:cs typeface="Montserrat"/>
                <a:sym typeface="Montserrat"/>
              </a:rPr>
              <a:t>Discount : 5%</a:t>
            </a:r>
            <a:endParaRPr b="1" i="0" sz="1100" u="none" cap="none" strike="noStrike">
              <a:solidFill>
                <a:srgbClr val="000000"/>
              </a:solidFill>
              <a:latin typeface="Montserrat"/>
              <a:ea typeface="Montserrat"/>
              <a:cs typeface="Montserrat"/>
              <a:sym typeface="Montserrat"/>
            </a:endParaRPr>
          </a:p>
          <a:p>
            <a:pPr indent="-109220" lvl="1" marL="731520" marR="0" rtl="0" algn="l">
              <a:lnSpc>
                <a:spcPct val="115000"/>
              </a:lnSpc>
              <a:spcBef>
                <a:spcPts val="0"/>
              </a:spcBef>
              <a:spcAft>
                <a:spcPts val="0"/>
              </a:spcAft>
              <a:buClr>
                <a:srgbClr val="D71B7F"/>
              </a:buClr>
              <a:buSzPts val="1000"/>
              <a:buFont typeface="Montserrat"/>
              <a:buChar char="○"/>
            </a:pPr>
            <a:r>
              <a:rPr b="1" i="0" lang="en" sz="1100" u="none" cap="none" strike="noStrike">
                <a:solidFill>
                  <a:srgbClr val="000000"/>
                </a:solidFill>
                <a:latin typeface="Montserrat"/>
                <a:ea typeface="Montserrat"/>
                <a:cs typeface="Montserrat"/>
                <a:sym typeface="Montserrat"/>
              </a:rPr>
              <a:t>Final Price After discount : AUD </a:t>
            </a:r>
            <a:r>
              <a:rPr b="1" lang="en" sz="1100">
                <a:latin typeface="Montserrat"/>
                <a:ea typeface="Montserrat"/>
                <a:cs typeface="Montserrat"/>
                <a:sym typeface="Montserrat"/>
              </a:rPr>
              <a:t>78</a:t>
            </a:r>
            <a:r>
              <a:rPr b="1" i="0" lang="en" sz="1100" u="none" cap="none" strike="noStrike">
                <a:solidFill>
                  <a:srgbClr val="000000"/>
                </a:solidFill>
                <a:latin typeface="Montserrat"/>
                <a:ea typeface="Montserrat"/>
                <a:cs typeface="Montserrat"/>
                <a:sym typeface="Montserrat"/>
              </a:rPr>
              <a:t>,727.00</a:t>
            </a:r>
            <a:endParaRPr b="1"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All mentioned prices are exclusive of applicable taxes.</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Payment Milestones has been added in the following slide.</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All the invoices would be considered accepted by the customer if there is no objection in 5 days.</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Payment terms are 30 calendar days from the receipt of the invoice.</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p:txBody>
      </p:sp>
      <p:cxnSp>
        <p:nvCxnSpPr>
          <p:cNvPr id="578" name="Google Shape;578;p21"/>
          <p:cNvCxnSpPr/>
          <p:nvPr/>
        </p:nvCxnSpPr>
        <p:spPr>
          <a:xfrm>
            <a:off x="4677324" y="858123"/>
            <a:ext cx="0" cy="3697500"/>
          </a:xfrm>
          <a:prstGeom prst="straightConnector1">
            <a:avLst/>
          </a:prstGeom>
          <a:noFill/>
          <a:ln cap="flat" cmpd="sng" w="19050">
            <a:solidFill>
              <a:srgbClr val="D41883"/>
            </a:solidFill>
            <a:prstDash val="solid"/>
            <a:round/>
            <a:headEnd len="sm" w="sm" type="none"/>
            <a:tailEnd len="sm" w="sm" type="none"/>
          </a:ln>
        </p:spPr>
      </p:cxnSp>
      <p:sp>
        <p:nvSpPr>
          <p:cNvPr id="579" name="Google Shape;579;p21"/>
          <p:cNvSpPr txBox="1"/>
          <p:nvPr/>
        </p:nvSpPr>
        <p:spPr>
          <a:xfrm>
            <a:off x="554448" y="989025"/>
            <a:ext cx="3423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12519C"/>
                </a:solidFill>
                <a:latin typeface="Montserrat"/>
                <a:ea typeface="Montserrat"/>
                <a:cs typeface="Montserrat"/>
                <a:sym typeface="Montserrat"/>
              </a:rPr>
              <a:t>Fixed Price Fixed Scope Engagement</a:t>
            </a:r>
            <a:endParaRPr b="0" i="0" sz="1100" u="none" cap="none" strike="noStrike">
              <a:solidFill>
                <a:srgbClr val="12519C"/>
              </a:solidFill>
              <a:latin typeface="Montserrat"/>
              <a:ea typeface="Montserrat"/>
              <a:cs typeface="Montserrat"/>
              <a:sym typeface="Montserrat"/>
            </a:endParaRPr>
          </a:p>
        </p:txBody>
      </p:sp>
      <p:sp>
        <p:nvSpPr>
          <p:cNvPr id="580" name="Google Shape;580;p21"/>
          <p:cNvSpPr txBox="1"/>
          <p:nvPr/>
        </p:nvSpPr>
        <p:spPr>
          <a:xfrm>
            <a:off x="5322463" y="989017"/>
            <a:ext cx="26382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12519C"/>
                </a:solidFill>
                <a:latin typeface="Montserrat"/>
                <a:ea typeface="Montserrat"/>
                <a:cs typeface="Montserrat"/>
                <a:sym typeface="Montserrat"/>
              </a:rPr>
              <a:t>Commercial Summary</a:t>
            </a:r>
            <a:endParaRPr b="0" i="0" sz="1100" u="none" cap="none" strike="noStrike">
              <a:solidFill>
                <a:srgbClr val="12519C"/>
              </a:solidFill>
              <a:latin typeface="Montserrat"/>
              <a:ea typeface="Montserrat"/>
              <a:cs typeface="Montserrat"/>
              <a:sym typeface="Montserrat"/>
            </a:endParaRPr>
          </a:p>
        </p:txBody>
      </p:sp>
      <p:sp>
        <p:nvSpPr>
          <p:cNvPr id="581" name="Google Shape;581;p2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22"/>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Payment Milestones</a:t>
            </a:r>
            <a:endParaRPr b="1" i="0" sz="2000" u="none" cap="none" strike="noStrike">
              <a:solidFill>
                <a:schemeClr val="dk1"/>
              </a:solidFill>
              <a:latin typeface="Montserrat"/>
              <a:ea typeface="Montserrat"/>
              <a:cs typeface="Montserrat"/>
              <a:sym typeface="Montserrat"/>
            </a:endParaRPr>
          </a:p>
        </p:txBody>
      </p:sp>
      <p:graphicFrame>
        <p:nvGraphicFramePr>
          <p:cNvPr id="587" name="Google Shape;587;p22"/>
          <p:cNvGraphicFramePr/>
          <p:nvPr/>
        </p:nvGraphicFramePr>
        <p:xfrm>
          <a:off x="450100" y="877425"/>
          <a:ext cx="3000000" cy="3000000"/>
        </p:xfrm>
        <a:graphic>
          <a:graphicData uri="http://schemas.openxmlformats.org/drawingml/2006/table">
            <a:tbl>
              <a:tblPr>
                <a:noFill/>
                <a:tableStyleId>{A0409FBF-130E-4C89-B222-25A7FCDD58EE}</a:tableStyleId>
              </a:tblPr>
              <a:tblGrid>
                <a:gridCol w="3532775"/>
                <a:gridCol w="2286950"/>
                <a:gridCol w="2286950"/>
              </a:tblGrid>
              <a:tr h="330475">
                <a:tc gridSpan="2">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solidFill>
                            <a:schemeClr val="lt1"/>
                          </a:solidFill>
                          <a:latin typeface="Montserrat"/>
                          <a:ea typeface="Montserrat"/>
                          <a:cs typeface="Montserrat"/>
                          <a:sym typeface="Montserrat"/>
                        </a:rPr>
                        <a:t>Payment Milestones</a:t>
                      </a:r>
                      <a:endParaRPr b="1" sz="1100" u="none" cap="none" strike="noStrike">
                        <a:solidFill>
                          <a:schemeClr val="lt1"/>
                        </a:solidFill>
                        <a:latin typeface="Montserrat"/>
                        <a:ea typeface="Montserrat"/>
                        <a:cs typeface="Montserrat"/>
                        <a:sym typeface="Montserrat"/>
                      </a:endParaRPr>
                    </a:p>
                  </a:txBody>
                  <a:tcPr marT="63500" marB="63500" marR="63500" marL="635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D9D9"/>
                      </a:solidFill>
                      <a:prstDash val="solid"/>
                      <a:round/>
                      <a:headEnd len="sm" w="sm" type="none"/>
                      <a:tailEnd len="sm" w="sm" type="none"/>
                    </a:lnB>
                    <a:solidFill>
                      <a:schemeClr val="accent2"/>
                    </a:solidFill>
                  </a:tcPr>
                </a:tc>
                <a:tc hMerge="1"/>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solidFill>
                            <a:schemeClr val="lt1"/>
                          </a:solidFill>
                          <a:latin typeface="Montserrat"/>
                          <a:ea typeface="Montserrat"/>
                          <a:cs typeface="Montserrat"/>
                          <a:sym typeface="Montserrat"/>
                        </a:rPr>
                        <a:t>Cost in AUD</a:t>
                      </a:r>
                      <a:endParaRPr b="1" sz="1100" u="none" cap="none" strike="noStrike">
                        <a:solidFill>
                          <a:schemeClr val="lt1"/>
                        </a:solidFill>
                        <a:latin typeface="Montserrat"/>
                        <a:ea typeface="Montserrat"/>
                        <a:cs typeface="Montserrat"/>
                        <a:sym typeface="Montserrat"/>
                      </a:endParaRPr>
                    </a:p>
                  </a:txBody>
                  <a:tcPr marT="63500" marB="63500" marR="63500" marL="635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2"/>
                    </a:solidFill>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Kickoff</a:t>
                      </a:r>
                      <a:endParaRPr sz="1100" u="none" cap="none" strike="noStrike">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10%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 AUD </a:t>
                      </a:r>
                      <a:r>
                        <a:rPr lang="en" sz="1100">
                          <a:latin typeface="Montserrat"/>
                          <a:ea typeface="Montserrat"/>
                          <a:cs typeface="Montserrat"/>
                          <a:sym typeface="Montserrat"/>
                        </a:rPr>
                        <a:t>8</a:t>
                      </a:r>
                      <a:r>
                        <a:rPr lang="en" sz="1100" u="none" cap="none" strike="noStrike">
                          <a:latin typeface="Montserrat"/>
                          <a:ea typeface="Montserrat"/>
                          <a:cs typeface="Montserrat"/>
                          <a:sym typeface="Montserrat"/>
                        </a:rPr>
                        <a:t>,473</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Discovery Phase ( 2 Weeks) Sign off</a:t>
                      </a:r>
                      <a:endParaRPr b="1"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10%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a:t>
                      </a:r>
                      <a:r>
                        <a:rPr lang="en" sz="1100">
                          <a:latin typeface="Montserrat"/>
                          <a:ea typeface="Montserrat"/>
                          <a:cs typeface="Montserrat"/>
                          <a:sym typeface="Montserrat"/>
                        </a:rPr>
                        <a:t>8</a:t>
                      </a:r>
                      <a:r>
                        <a:rPr lang="en" sz="1100" u="none" cap="none" strike="noStrike">
                          <a:latin typeface="Montserrat"/>
                          <a:ea typeface="Montserrat"/>
                          <a:cs typeface="Montserrat"/>
                          <a:sym typeface="Montserrat"/>
                        </a:rPr>
                        <a:t>,473</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Week 6 Completion</a:t>
                      </a:r>
                      <a:endParaRPr b="1"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25%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2</a:t>
                      </a:r>
                      <a:r>
                        <a:rPr lang="en" sz="1100">
                          <a:latin typeface="Montserrat"/>
                          <a:ea typeface="Montserrat"/>
                          <a:cs typeface="Montserrat"/>
                          <a:sym typeface="Montserrat"/>
                        </a:rPr>
                        <a:t>1</a:t>
                      </a:r>
                      <a:r>
                        <a:rPr lang="en" sz="1100" u="none" cap="none" strike="noStrike">
                          <a:latin typeface="Montserrat"/>
                          <a:ea typeface="Montserrat"/>
                          <a:cs typeface="Montserrat"/>
                          <a:sym typeface="Montserrat"/>
                        </a:rPr>
                        <a:t>,682</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Week 10 Completion</a:t>
                      </a:r>
                      <a:endParaRPr b="1"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30%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2</a:t>
                      </a:r>
                      <a:r>
                        <a:rPr lang="en" sz="1100">
                          <a:latin typeface="Montserrat"/>
                          <a:ea typeface="Montserrat"/>
                          <a:cs typeface="Montserrat"/>
                          <a:sym typeface="Montserrat"/>
                        </a:rPr>
                        <a:t>7</a:t>
                      </a:r>
                      <a:r>
                        <a:rPr lang="en" sz="1100" u="none" cap="none" strike="noStrike">
                          <a:latin typeface="Montserrat"/>
                          <a:ea typeface="Montserrat"/>
                          <a:cs typeface="Montserrat"/>
                          <a:sym typeface="Montserrat"/>
                        </a:rPr>
                        <a:t>,418</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UAT Sign off</a:t>
                      </a:r>
                      <a:endParaRPr b="1" sz="1100" u="none" cap="none" strike="noStrike">
                        <a:solidFill>
                          <a:srgbClr val="000000"/>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20%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1</a:t>
                      </a:r>
                      <a:r>
                        <a:rPr lang="en" sz="1100">
                          <a:latin typeface="Montserrat"/>
                          <a:ea typeface="Montserrat"/>
                          <a:cs typeface="Montserrat"/>
                          <a:sym typeface="Montserrat"/>
                        </a:rPr>
                        <a:t>7</a:t>
                      </a:r>
                      <a:r>
                        <a:rPr lang="en" sz="1100" u="none" cap="none" strike="noStrike">
                          <a:latin typeface="Montserrat"/>
                          <a:ea typeface="Montserrat"/>
                          <a:cs typeface="Montserrat"/>
                          <a:sym typeface="Montserrat"/>
                        </a:rPr>
                        <a:t>,945</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Project Go-live</a:t>
                      </a:r>
                      <a:endParaRPr sz="1100" u="none" cap="none" strike="noStrike">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5% of total cost</a:t>
                      </a:r>
                      <a:endParaRPr sz="1100" u="none" cap="none" strike="noStrike">
                        <a:solidFill>
                          <a:schemeClr val="dk1"/>
                        </a:solidFill>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a:t>
                      </a:r>
                      <a:r>
                        <a:rPr lang="en" sz="1100">
                          <a:latin typeface="Montserrat"/>
                          <a:ea typeface="Montserrat"/>
                          <a:cs typeface="Montserrat"/>
                          <a:sym typeface="Montserrat"/>
                        </a:rPr>
                        <a:t>3</a:t>
                      </a:r>
                      <a:r>
                        <a:rPr lang="en" sz="1100" u="none" cap="none" strike="noStrike">
                          <a:latin typeface="Montserrat"/>
                          <a:ea typeface="Montserrat"/>
                          <a:cs typeface="Montserrat"/>
                          <a:sym typeface="Montserrat"/>
                        </a:rPr>
                        <a:t>,736</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Hypercare </a:t>
                      </a:r>
                      <a:endParaRPr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TTN Investment</a:t>
                      </a:r>
                      <a:endParaRPr sz="1100" u="none" cap="none" strike="noStrike">
                        <a:solidFill>
                          <a:schemeClr val="lt1"/>
                        </a:solidFill>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0</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gridSpan="2">
                  <a:txBody>
                    <a:bodyPr/>
                    <a:lstStyle/>
                    <a:p>
                      <a:pPr indent="0" lvl="0" marL="0" marR="0" rtl="0" algn="r">
                        <a:lnSpc>
                          <a:spcPct val="100000"/>
                        </a:lnSpc>
                        <a:spcBef>
                          <a:spcPts val="0"/>
                        </a:spcBef>
                        <a:spcAft>
                          <a:spcPts val="0"/>
                        </a:spcAft>
                        <a:buClr>
                          <a:srgbClr val="000000"/>
                        </a:buClr>
                        <a:buSzPts val="1100"/>
                        <a:buFont typeface="Arial"/>
                        <a:buNone/>
                      </a:pPr>
                      <a:r>
                        <a:rPr b="1" lang="en" sz="1100" u="none" cap="none" strike="noStrike">
                          <a:latin typeface="Montserrat"/>
                          <a:ea typeface="Montserrat"/>
                          <a:cs typeface="Montserrat"/>
                          <a:sym typeface="Montserrat"/>
                        </a:rPr>
                        <a:t>Total Cost</a:t>
                      </a:r>
                      <a:endParaRPr b="1" sz="1100" u="none" cap="none" strike="noStrike">
                        <a:latin typeface="Montserrat"/>
                        <a:ea typeface="Montserrat"/>
                        <a:cs typeface="Montserrat"/>
                        <a:sym typeface="Montserrat"/>
                      </a:endParaRPr>
                    </a:p>
                  </a:txBody>
                  <a:tcPr marT="19050" marB="19050" marR="2857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CCCCCC"/>
                      </a:solidFill>
                      <a:prstDash val="solid"/>
                      <a:round/>
                      <a:headEnd len="sm" w="sm" type="none"/>
                      <a:tailEnd len="sm" w="sm" type="none"/>
                    </a:lnB>
                    <a:solidFill>
                      <a:srgbClr val="E7F2F8"/>
                    </a:solidFill>
                  </a:tcPr>
                </a:tc>
                <a:tc hMerge="1"/>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latin typeface="Montserrat"/>
                          <a:ea typeface="Montserrat"/>
                          <a:cs typeface="Montserrat"/>
                          <a:sym typeface="Montserrat"/>
                        </a:rPr>
                        <a:t>AUD </a:t>
                      </a:r>
                      <a:r>
                        <a:rPr b="1" lang="en" sz="1100">
                          <a:latin typeface="Montserrat"/>
                          <a:ea typeface="Montserrat"/>
                          <a:cs typeface="Montserrat"/>
                          <a:sym typeface="Montserrat"/>
                        </a:rPr>
                        <a:t>87</a:t>
                      </a:r>
                      <a:r>
                        <a:rPr b="1" lang="en" sz="1100" u="none" cap="none" strike="noStrike">
                          <a:latin typeface="Montserrat"/>
                          <a:ea typeface="Montserrat"/>
                          <a:cs typeface="Montserrat"/>
                          <a:sym typeface="Montserrat"/>
                        </a:rPr>
                        <a:t>,727</a:t>
                      </a:r>
                      <a:endParaRPr b="1"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7F2F8"/>
                    </a:solidFill>
                  </a:tcPr>
                </a:tc>
              </a:tr>
            </a:tbl>
          </a:graphicData>
        </a:graphic>
      </p:graphicFrame>
      <p:sp>
        <p:nvSpPr>
          <p:cNvPr id="588" name="Google Shape;588;p2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2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2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595" name="Google Shape;595;p23"/>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596" name="Google Shape;596;p23"/>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597" name="Google Shape;597;p23"/>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Success Stories</a:t>
            </a:r>
            <a:endParaRPr b="1" i="0" sz="1200" u="none" cap="none" strike="noStrike">
              <a:solidFill>
                <a:srgbClr val="D71B7F"/>
              </a:solidFill>
              <a:latin typeface="Montserrat"/>
              <a:ea typeface="Montserrat"/>
              <a:cs typeface="Montserrat"/>
              <a:sym typeface="Montserrat"/>
            </a:endParaRPr>
          </a:p>
        </p:txBody>
      </p:sp>
      <p:cxnSp>
        <p:nvCxnSpPr>
          <p:cNvPr id="598" name="Google Shape;598;p23"/>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599" name="Google Shape;599;p23"/>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600" name="Google Shape;600;p23"/>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601" name="Google Shape;601;p23"/>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23"/>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23"/>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04" name="Google Shape;604;p23"/>
          <p:cNvPicPr preferRelativeResize="0"/>
          <p:nvPr/>
        </p:nvPicPr>
        <p:blipFill rotWithShape="1">
          <a:blip r:embed="rId3">
            <a:alphaModFix/>
          </a:blip>
          <a:srcRect b="0" l="0" r="0" t="0"/>
          <a:stretch/>
        </p:blipFill>
        <p:spPr>
          <a:xfrm>
            <a:off x="1246476" y="4086150"/>
            <a:ext cx="6568648" cy="958975"/>
          </a:xfrm>
          <a:prstGeom prst="rect">
            <a:avLst/>
          </a:prstGeom>
          <a:noFill/>
          <a:ln>
            <a:noFill/>
          </a:ln>
        </p:spPr>
      </p:pic>
      <p:sp>
        <p:nvSpPr>
          <p:cNvPr id="605" name="Google Shape;605;p23"/>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606" name="Google Shape;606;p23"/>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607" name="Google Shape;607;p23"/>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23"/>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609" name="Google Shape;609;p23"/>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610" name="Google Shape;610;p23"/>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23"/>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15" name="Shape 615"/>
        <p:cNvGrpSpPr/>
        <p:nvPr/>
      </p:nvGrpSpPr>
      <p:grpSpPr>
        <a:xfrm>
          <a:off x="0" y="0"/>
          <a:ext cx="0" cy="0"/>
          <a:chOff x="0" y="0"/>
          <a:chExt cx="0" cy="0"/>
        </a:xfrm>
      </p:grpSpPr>
      <p:sp>
        <p:nvSpPr>
          <p:cNvPr id="616" name="Google Shape;616;p24"/>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24"/>
          <p:cNvSpPr txBox="1"/>
          <p:nvPr/>
        </p:nvSpPr>
        <p:spPr>
          <a:xfrm>
            <a:off x="6222488" y="959944"/>
            <a:ext cx="26931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Since 2018, TTN has been a strategic partner in Tabcorp’s transformation, evolving from supporting its digital arm to over 150 people enabling </a:t>
            </a:r>
            <a:r>
              <a:rPr b="1" i="0" lang="en" sz="700" u="none" cap="none" strike="noStrike">
                <a:solidFill>
                  <a:schemeClr val="dk1"/>
                </a:solidFill>
                <a:latin typeface="Montserrat"/>
                <a:ea typeface="Montserrat"/>
                <a:cs typeface="Montserrat"/>
                <a:sym typeface="Montserrat"/>
              </a:rPr>
              <a:t>digital, gaming, data, trackside, retail, </a:t>
            </a:r>
            <a:r>
              <a:rPr b="0" i="0" lang="en" sz="700" u="none" cap="none" strike="noStrike">
                <a:solidFill>
                  <a:schemeClr val="dk1"/>
                </a:solidFill>
                <a:latin typeface="Montserrat"/>
                <a:ea typeface="Montserrat"/>
                <a:cs typeface="Montserrat"/>
                <a:sym typeface="Montserrat"/>
              </a:rPr>
              <a:t>and</a:t>
            </a:r>
            <a:r>
              <a:rPr b="1" i="0" lang="en" sz="700" u="none" cap="none" strike="noStrike">
                <a:solidFill>
                  <a:schemeClr val="dk1"/>
                </a:solidFill>
                <a:latin typeface="Montserrat"/>
                <a:ea typeface="Montserrat"/>
                <a:cs typeface="Montserrat"/>
                <a:sym typeface="Montserrat"/>
              </a:rPr>
              <a:t> cybersecurity</a:t>
            </a:r>
            <a:r>
              <a:rPr b="0" i="0" lang="en" sz="700" u="none" cap="none" strike="noStrike">
                <a:solidFill>
                  <a:schemeClr val="dk1"/>
                </a:solidFill>
                <a:latin typeface="Montserrat"/>
                <a:ea typeface="Montserrat"/>
                <a:cs typeface="Montserrat"/>
                <a:sym typeface="Montserrat"/>
              </a:rPr>
              <a:t>. Together, we have delivered groundbreaking solutions at scale.</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From omni-channel innovations like a </a:t>
            </a:r>
            <a:r>
              <a:rPr b="1" i="0" lang="en" sz="700" u="none" cap="none" strike="noStrike">
                <a:solidFill>
                  <a:schemeClr val="dk1"/>
                </a:solidFill>
                <a:latin typeface="Montserrat"/>
                <a:ea typeface="Montserrat"/>
                <a:cs typeface="Montserrat"/>
                <a:sym typeface="Montserrat"/>
              </a:rPr>
              <a:t>cross-platform betting app</a:t>
            </a:r>
            <a:r>
              <a:rPr b="0" i="0" lang="en" sz="700" u="none" cap="none" strike="noStrike">
                <a:solidFill>
                  <a:schemeClr val="dk1"/>
                </a:solidFill>
                <a:latin typeface="Montserrat"/>
                <a:ea typeface="Montserrat"/>
                <a:cs typeface="Montserrat"/>
                <a:sym typeface="Montserrat"/>
              </a:rPr>
              <a:t>, integrating </a:t>
            </a:r>
            <a:r>
              <a:rPr b="1" i="0" lang="en" sz="700" u="none" cap="none" strike="noStrike">
                <a:solidFill>
                  <a:schemeClr val="dk1"/>
                </a:solidFill>
                <a:latin typeface="Montserrat"/>
                <a:ea typeface="Montserrat"/>
                <a:cs typeface="Montserrat"/>
                <a:sym typeface="Montserrat"/>
              </a:rPr>
              <a:t>web</a:t>
            </a:r>
            <a:r>
              <a:rPr b="0" i="0" lang="en" sz="700" u="none" cap="none" strike="noStrike">
                <a:solidFill>
                  <a:schemeClr val="dk1"/>
                </a:solidFill>
                <a:latin typeface="Montserrat"/>
                <a:ea typeface="Montserrat"/>
                <a:cs typeface="Montserrat"/>
                <a:sym typeface="Montserrat"/>
              </a:rPr>
              <a:t> and mobile experiences, customer engagement and </a:t>
            </a:r>
            <a:r>
              <a:rPr b="1" i="0" lang="en" sz="700" u="none" cap="none" strike="noStrike">
                <a:solidFill>
                  <a:schemeClr val="dk1"/>
                </a:solidFill>
                <a:latin typeface="Montserrat"/>
                <a:ea typeface="Montserrat"/>
                <a:cs typeface="Montserrat"/>
                <a:sym typeface="Montserrat"/>
              </a:rPr>
              <a:t>personalisation</a:t>
            </a:r>
            <a:r>
              <a:rPr b="0" i="0" lang="en" sz="700" u="none" cap="none" strike="noStrike">
                <a:solidFill>
                  <a:schemeClr val="dk1"/>
                </a:solidFill>
                <a:latin typeface="Montserrat"/>
                <a:ea typeface="Montserrat"/>
                <a:cs typeface="Montserrat"/>
                <a:sym typeface="Montserrat"/>
              </a:rPr>
              <a:t> through </a:t>
            </a:r>
            <a:r>
              <a:rPr b="1" i="0" lang="en" sz="700" u="none" cap="none" strike="noStrike">
                <a:solidFill>
                  <a:schemeClr val="dk1"/>
                </a:solidFill>
                <a:latin typeface="Montserrat"/>
                <a:ea typeface="Montserrat"/>
                <a:cs typeface="Montserrat"/>
                <a:sym typeface="Montserrat"/>
              </a:rPr>
              <a:t>Adobe Target, Analytics, and AEM</a:t>
            </a:r>
            <a:r>
              <a:rPr b="0" i="0" lang="en" sz="700" u="none" cap="none" strike="noStrike">
                <a:solidFill>
                  <a:schemeClr val="dk1"/>
                </a:solidFill>
                <a:latin typeface="Montserrat"/>
                <a:ea typeface="Montserrat"/>
                <a:cs typeface="Montserrat"/>
                <a:sym typeface="Montserrat"/>
              </a:rPr>
              <a:t>, to infrastructure modernisation with</a:t>
            </a:r>
            <a:r>
              <a:rPr b="1" i="0" lang="en" sz="700" u="none" cap="none" strike="noStrike">
                <a:solidFill>
                  <a:schemeClr val="dk1"/>
                </a:solidFill>
                <a:latin typeface="Montserrat"/>
                <a:ea typeface="Montserrat"/>
                <a:cs typeface="Montserrat"/>
                <a:sym typeface="Montserrat"/>
              </a:rPr>
              <a:t> Infra as Code</a:t>
            </a:r>
            <a:r>
              <a:rPr b="0" i="0" lang="en" sz="700" u="none" cap="none" strike="noStrike">
                <a:solidFill>
                  <a:schemeClr val="dk1"/>
                </a:solidFill>
                <a:latin typeface="Montserrat"/>
                <a:ea typeface="Montserrat"/>
                <a:cs typeface="Montserrat"/>
                <a:sym typeface="Montserrat"/>
              </a:rPr>
              <a:t>, AWS Cloud optimisation, and </a:t>
            </a:r>
            <a:r>
              <a:rPr b="1" i="0" lang="en" sz="700" u="none" cap="none" strike="noStrike">
                <a:solidFill>
                  <a:schemeClr val="dk1"/>
                </a:solidFill>
                <a:latin typeface="Montserrat"/>
                <a:ea typeface="Montserrat"/>
                <a:cs typeface="Montserrat"/>
                <a:sym typeface="Montserrat"/>
              </a:rPr>
              <a:t>Graviton</a:t>
            </a:r>
            <a:r>
              <a:rPr b="0" i="0" lang="en" sz="700" u="none" cap="none" strike="noStrike">
                <a:solidFill>
                  <a:schemeClr val="dk1"/>
                </a:solidFill>
                <a:latin typeface="Montserrat"/>
                <a:ea typeface="Montserrat"/>
                <a:cs typeface="Montserrat"/>
                <a:sym typeface="Montserrat"/>
              </a:rPr>
              <a:t> migration, to reducing manual testing by 45% through </a:t>
            </a:r>
            <a:r>
              <a:rPr b="1" i="0" lang="en" sz="700" u="none" cap="none" strike="noStrike">
                <a:solidFill>
                  <a:schemeClr val="dk1"/>
                </a:solidFill>
                <a:latin typeface="Montserrat"/>
                <a:ea typeface="Montserrat"/>
                <a:cs typeface="Montserrat"/>
                <a:sym typeface="Montserrat"/>
              </a:rPr>
              <a:t>automation</a:t>
            </a:r>
            <a:r>
              <a:rPr b="0" i="0" lang="en" sz="700" u="none" cap="none" strike="noStrike">
                <a:solidFill>
                  <a:schemeClr val="dk1"/>
                </a:solidFill>
                <a:latin typeface="Montserrat"/>
                <a:ea typeface="Montserrat"/>
                <a:cs typeface="Montserrat"/>
                <a:sym typeface="Montserrat"/>
              </a:rPr>
              <a:t>.</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We have enabled compliance adherence through </a:t>
            </a:r>
            <a:r>
              <a:rPr b="1" i="0" lang="en" sz="700" u="none" cap="none" strike="noStrike">
                <a:solidFill>
                  <a:schemeClr val="dk1"/>
                </a:solidFill>
                <a:latin typeface="Montserrat"/>
                <a:ea typeface="Montserrat"/>
                <a:cs typeface="Montserrat"/>
                <a:sym typeface="Montserrat"/>
              </a:rPr>
              <a:t>AML/CTF tools </a:t>
            </a:r>
            <a:r>
              <a:rPr b="0" i="0" lang="en" sz="700" u="none" cap="none" strike="noStrike">
                <a:solidFill>
                  <a:schemeClr val="dk1"/>
                </a:solidFill>
                <a:latin typeface="Montserrat"/>
                <a:ea typeface="Montserrat"/>
                <a:cs typeface="Montserrat"/>
                <a:sym typeface="Montserrat"/>
              </a:rPr>
              <a:t>for</a:t>
            </a:r>
            <a:r>
              <a:rPr b="1" i="0" lang="en" sz="700" u="none" cap="none" strike="noStrike">
                <a:solidFill>
                  <a:schemeClr val="dk1"/>
                </a:solidFill>
                <a:latin typeface="Montserrat"/>
                <a:ea typeface="Montserrat"/>
                <a:cs typeface="Montserrat"/>
                <a:sym typeface="Montserrat"/>
              </a:rPr>
              <a:t> Enhanced Customer Due Diligence</a:t>
            </a:r>
            <a:r>
              <a:rPr b="0" i="0" lang="en" sz="700" u="none" cap="none" strike="noStrike">
                <a:solidFill>
                  <a:schemeClr val="dk1"/>
                </a:solidFill>
                <a:latin typeface="Montserrat"/>
                <a:ea typeface="Montserrat"/>
                <a:cs typeface="Montserrat"/>
                <a:sym typeface="Montserrat"/>
              </a:rPr>
              <a:t> and </a:t>
            </a:r>
            <a:r>
              <a:rPr b="1" i="0" lang="en" sz="700" u="none" cap="none" strike="noStrike">
                <a:solidFill>
                  <a:schemeClr val="dk1"/>
                </a:solidFill>
                <a:latin typeface="Montserrat"/>
                <a:ea typeface="Montserrat"/>
                <a:cs typeface="Montserrat"/>
                <a:sym typeface="Montserrat"/>
              </a:rPr>
              <a:t>suppression</a:t>
            </a:r>
            <a:r>
              <a:rPr b="0" i="0" lang="en" sz="700" u="none" cap="none" strike="noStrike">
                <a:solidFill>
                  <a:schemeClr val="dk1"/>
                </a:solidFill>
                <a:latin typeface="Montserrat"/>
                <a:ea typeface="Montserrat"/>
                <a:cs typeface="Montserrat"/>
                <a:sym typeface="Montserrat"/>
              </a:rPr>
              <a:t> management.</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Our work includes cutting-edge betting features like </a:t>
            </a:r>
            <a:r>
              <a:rPr b="1" i="0" lang="en" sz="700" u="none" cap="none" strike="noStrike">
                <a:solidFill>
                  <a:schemeClr val="dk1"/>
                </a:solidFill>
                <a:latin typeface="Montserrat"/>
                <a:ea typeface="Montserrat"/>
                <a:cs typeface="Montserrat"/>
                <a:sym typeface="Montserrat"/>
              </a:rPr>
              <a:t>Same Game Multi</a:t>
            </a:r>
            <a:r>
              <a:rPr b="0" i="0" lang="en" sz="700" u="none" cap="none" strike="noStrike">
                <a:solidFill>
                  <a:schemeClr val="dk1"/>
                </a:solidFill>
                <a:latin typeface="Montserrat"/>
                <a:ea typeface="Montserrat"/>
                <a:cs typeface="Montserrat"/>
                <a:sym typeface="Montserrat"/>
              </a:rPr>
              <a:t> for sports, </a:t>
            </a:r>
            <a:r>
              <a:rPr b="1" i="0" lang="en" sz="700" u="none" cap="none" strike="noStrike">
                <a:solidFill>
                  <a:schemeClr val="dk1"/>
                </a:solidFill>
                <a:latin typeface="Montserrat"/>
                <a:ea typeface="Montserrat"/>
                <a:cs typeface="Montserrat"/>
                <a:sym typeface="Montserrat"/>
              </a:rPr>
              <a:t>Blackbook</a:t>
            </a:r>
            <a:r>
              <a:rPr b="0" i="0" lang="en" sz="700" u="none" cap="none" strike="noStrike">
                <a:solidFill>
                  <a:schemeClr val="dk1"/>
                </a:solidFill>
                <a:latin typeface="Montserrat"/>
                <a:ea typeface="Montserrat"/>
                <a:cs typeface="Montserrat"/>
                <a:sym typeface="Montserrat"/>
              </a:rPr>
              <a:t> for racing, and </a:t>
            </a:r>
            <a:r>
              <a:rPr b="1" i="0" lang="en" sz="700" u="none" cap="none" strike="noStrike">
                <a:solidFill>
                  <a:schemeClr val="dk1"/>
                </a:solidFill>
                <a:latin typeface="Montserrat"/>
                <a:ea typeface="Montserrat"/>
                <a:cs typeface="Montserrat"/>
                <a:sym typeface="Montserrat"/>
              </a:rPr>
              <a:t>Retail in-play</a:t>
            </a:r>
            <a:r>
              <a:rPr b="0" i="0" lang="en" sz="700" u="none" cap="none" strike="noStrike">
                <a:solidFill>
                  <a:schemeClr val="dk1"/>
                </a:solidFill>
                <a:latin typeface="Montserrat"/>
                <a:ea typeface="Montserrat"/>
                <a:cs typeface="Montserrat"/>
                <a:sym typeface="Montserrat"/>
              </a:rPr>
              <a:t> initiatives to boost engagement and custom experiences.</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chemeClr val="dk1"/>
              </a:buClr>
              <a:buSzPts val="1100"/>
              <a:buFont typeface="Arial"/>
              <a:buNone/>
            </a:pPr>
            <a:r>
              <a:t/>
            </a:r>
            <a:endParaRPr b="0" i="0" sz="700" u="none" cap="none" strike="noStrike">
              <a:solidFill>
                <a:srgbClr val="434343"/>
              </a:solidFill>
              <a:latin typeface="Montserrat"/>
              <a:ea typeface="Montserrat"/>
              <a:cs typeface="Montserrat"/>
              <a:sym typeface="Montserrat"/>
            </a:endParaRPr>
          </a:p>
        </p:txBody>
      </p:sp>
      <p:sp>
        <p:nvSpPr>
          <p:cNvPr id="618" name="Google Shape;618;p24"/>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Australia </a:t>
            </a:r>
            <a:endParaRPr b="0" i="0" sz="1000" u="none" cap="none" strike="noStrike">
              <a:solidFill>
                <a:schemeClr val="lt1"/>
              </a:solidFill>
              <a:latin typeface="Montserrat"/>
              <a:ea typeface="Montserrat"/>
              <a:cs typeface="Montserrat"/>
              <a:sym typeface="Montserrat"/>
            </a:endParaRPr>
          </a:p>
        </p:txBody>
      </p:sp>
      <p:pic>
        <p:nvPicPr>
          <p:cNvPr id="619" name="Google Shape;619;p24"/>
          <p:cNvPicPr preferRelativeResize="0"/>
          <p:nvPr/>
        </p:nvPicPr>
        <p:blipFill rotWithShape="1">
          <a:blip r:embed="rId4">
            <a:alphaModFix/>
          </a:blip>
          <a:srcRect b="0" l="0" r="0" t="0"/>
          <a:stretch/>
        </p:blipFill>
        <p:spPr>
          <a:xfrm>
            <a:off x="309115" y="1314638"/>
            <a:ext cx="4862602" cy="2662069"/>
          </a:xfrm>
          <a:prstGeom prst="rect">
            <a:avLst/>
          </a:prstGeom>
          <a:noFill/>
          <a:ln>
            <a:noFill/>
          </a:ln>
        </p:spPr>
      </p:pic>
      <p:pic>
        <p:nvPicPr>
          <p:cNvPr id="620" name="Google Shape;620;p24"/>
          <p:cNvPicPr preferRelativeResize="0"/>
          <p:nvPr/>
        </p:nvPicPr>
        <p:blipFill rotWithShape="1">
          <a:blip r:embed="rId5">
            <a:alphaModFix/>
          </a:blip>
          <a:srcRect b="10521" l="6650" r="11154" t="4633"/>
          <a:stretch/>
        </p:blipFill>
        <p:spPr>
          <a:xfrm>
            <a:off x="851944" y="1443453"/>
            <a:ext cx="3776945" cy="1955583"/>
          </a:xfrm>
          <a:prstGeom prst="rect">
            <a:avLst/>
          </a:prstGeom>
          <a:noFill/>
          <a:ln>
            <a:noFill/>
          </a:ln>
        </p:spPr>
      </p:pic>
      <p:pic>
        <p:nvPicPr>
          <p:cNvPr id="621" name="Google Shape;621;p24"/>
          <p:cNvPicPr preferRelativeResize="0"/>
          <p:nvPr/>
        </p:nvPicPr>
        <p:blipFill rotWithShape="1">
          <a:blip r:embed="rId6">
            <a:alphaModFix/>
          </a:blip>
          <a:srcRect b="51129" l="0" r="0" t="0"/>
          <a:stretch/>
        </p:blipFill>
        <p:spPr>
          <a:xfrm>
            <a:off x="851951" y="1443450"/>
            <a:ext cx="3776933" cy="2202435"/>
          </a:xfrm>
          <a:prstGeom prst="rect">
            <a:avLst/>
          </a:prstGeom>
          <a:noFill/>
          <a:ln>
            <a:noFill/>
          </a:ln>
        </p:spPr>
      </p:pic>
      <p:pic>
        <p:nvPicPr>
          <p:cNvPr id="622" name="Google Shape;622;p24"/>
          <p:cNvPicPr preferRelativeResize="0"/>
          <p:nvPr/>
        </p:nvPicPr>
        <p:blipFill rotWithShape="1">
          <a:blip r:embed="rId7">
            <a:alphaModFix/>
          </a:blip>
          <a:srcRect b="0" l="0" r="0" t="0"/>
          <a:stretch/>
        </p:blipFill>
        <p:spPr>
          <a:xfrm>
            <a:off x="4213317" y="1131394"/>
            <a:ext cx="1400655" cy="2780532"/>
          </a:xfrm>
          <a:prstGeom prst="rect">
            <a:avLst/>
          </a:prstGeom>
          <a:noFill/>
          <a:ln>
            <a:noFill/>
          </a:ln>
        </p:spPr>
      </p:pic>
      <p:pic>
        <p:nvPicPr>
          <p:cNvPr id="623" name="Google Shape;623;p24"/>
          <p:cNvPicPr preferRelativeResize="0"/>
          <p:nvPr/>
        </p:nvPicPr>
        <p:blipFill rotWithShape="1">
          <a:blip r:embed="rId8">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624" name="Google Shape;624;p24"/>
          <p:cNvPicPr preferRelativeResize="0"/>
          <p:nvPr/>
        </p:nvPicPr>
        <p:blipFill rotWithShape="1">
          <a:blip r:embed="rId9">
            <a:alphaModFix/>
          </a:blip>
          <a:srcRect b="0" l="0" r="0" t="0"/>
          <a:stretch/>
        </p:blipFill>
        <p:spPr>
          <a:xfrm>
            <a:off x="207877" y="179550"/>
            <a:ext cx="1531468" cy="286200"/>
          </a:xfrm>
          <a:prstGeom prst="rect">
            <a:avLst/>
          </a:prstGeom>
          <a:noFill/>
          <a:ln>
            <a:noFill/>
          </a:ln>
        </p:spPr>
      </p:pic>
      <p:pic>
        <p:nvPicPr>
          <p:cNvPr descr="TTN Logo.png" id="625" name="Google Shape;625;p24"/>
          <p:cNvPicPr preferRelativeResize="0"/>
          <p:nvPr/>
        </p:nvPicPr>
        <p:blipFill rotWithShape="1">
          <a:blip r:embed="rId10">
            <a:alphaModFix/>
          </a:blip>
          <a:srcRect b="0" l="0" r="0" t="0"/>
          <a:stretch/>
        </p:blipFill>
        <p:spPr>
          <a:xfrm>
            <a:off x="8414781" y="117828"/>
            <a:ext cx="625544" cy="349439"/>
          </a:xfrm>
          <a:prstGeom prst="rect">
            <a:avLst/>
          </a:prstGeom>
          <a:noFill/>
          <a:ln>
            <a:noFill/>
          </a:ln>
        </p:spPr>
      </p:pic>
      <p:sp>
        <p:nvSpPr>
          <p:cNvPr id="626" name="Google Shape;626;p24"/>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30" name="Shape 630"/>
        <p:cNvGrpSpPr/>
        <p:nvPr/>
      </p:nvGrpSpPr>
      <p:grpSpPr>
        <a:xfrm>
          <a:off x="0" y="0"/>
          <a:ext cx="0" cy="0"/>
          <a:chOff x="0" y="0"/>
          <a:chExt cx="0" cy="0"/>
        </a:xfrm>
      </p:grpSpPr>
      <p:sp>
        <p:nvSpPr>
          <p:cNvPr id="631" name="Google Shape;631;p25"/>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25"/>
          <p:cNvSpPr txBox="1"/>
          <p:nvPr/>
        </p:nvSpPr>
        <p:spPr>
          <a:xfrm>
            <a:off x="6221063" y="1127906"/>
            <a:ext cx="28464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TTN successfully </a:t>
            </a:r>
            <a:r>
              <a:rPr b="1" i="0" lang="en" sz="900" u="none" cap="none" strike="noStrike">
                <a:solidFill>
                  <a:schemeClr val="dk1"/>
                </a:solidFill>
                <a:latin typeface="Montserrat"/>
                <a:ea typeface="Montserrat"/>
                <a:cs typeface="Montserrat"/>
                <a:sym typeface="Montserrat"/>
              </a:rPr>
              <a:t>rebuilt</a:t>
            </a:r>
            <a:r>
              <a:rPr b="0" i="0" lang="en" sz="900" u="none" cap="none" strike="noStrike">
                <a:solidFill>
                  <a:schemeClr val="dk1"/>
                </a:solidFill>
                <a:latin typeface="Montserrat"/>
                <a:ea typeface="Montserrat"/>
                <a:cs typeface="Montserrat"/>
                <a:sym typeface="Montserrat"/>
              </a:rPr>
              <a:t> the entire </a:t>
            </a:r>
            <a:r>
              <a:rPr b="1" i="0" lang="en" sz="900" u="none" cap="none" strike="noStrike">
                <a:solidFill>
                  <a:schemeClr val="dk1"/>
                </a:solidFill>
                <a:latin typeface="Montserrat"/>
                <a:ea typeface="Montserrat"/>
                <a:cs typeface="Montserrat"/>
                <a:sym typeface="Montserrat"/>
              </a:rPr>
              <a:t>Sky</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Racing Website</a:t>
            </a:r>
            <a:r>
              <a:rPr b="0" i="0" lang="en" sz="900" u="none" cap="none" strike="noStrike">
                <a:solidFill>
                  <a:schemeClr val="dk1"/>
                </a:solidFill>
                <a:latin typeface="Montserrat"/>
                <a:ea typeface="Montserrat"/>
                <a:cs typeface="Montserrat"/>
                <a:sym typeface="Montserrat"/>
              </a:rPr>
              <a:t>, optimised for SEO, and implemented a microservices-based architecture that is highly resilient and scalable, hosted on AWS. </a:t>
            </a:r>
            <a:br>
              <a:rPr b="0" i="0" lang="en" sz="900" u="none" cap="none" strike="noStrike">
                <a:solidFill>
                  <a:schemeClr val="dk1"/>
                </a:solidFill>
                <a:latin typeface="Montserrat"/>
                <a:ea typeface="Montserrat"/>
                <a:cs typeface="Montserrat"/>
                <a:sym typeface="Montserrat"/>
              </a:rPr>
            </a:br>
            <a:br>
              <a:rPr b="0" i="0" lang="en" sz="900" u="none" cap="none" strike="noStrike">
                <a:solidFill>
                  <a:schemeClr val="dk1"/>
                </a:solidFill>
                <a:latin typeface="Montserrat"/>
                <a:ea typeface="Montserrat"/>
                <a:cs typeface="Montserrat"/>
                <a:sym typeface="Montserrat"/>
              </a:rPr>
            </a:br>
            <a:r>
              <a:rPr b="0" i="0" lang="en" sz="900" u="none" cap="none" strike="noStrike">
                <a:solidFill>
                  <a:schemeClr val="dk1"/>
                </a:solidFill>
                <a:latin typeface="Montserrat"/>
                <a:ea typeface="Montserrat"/>
                <a:cs typeface="Montserrat"/>
                <a:sym typeface="Montserrat"/>
              </a:rPr>
              <a:t>In addition to enhancing core digital properties, </a:t>
            </a:r>
            <a:r>
              <a:rPr b="1" i="0" lang="en" sz="900" u="none" cap="none" strike="noStrike">
                <a:solidFill>
                  <a:schemeClr val="dk1"/>
                </a:solidFill>
                <a:latin typeface="Montserrat"/>
                <a:ea typeface="Montserrat"/>
                <a:cs typeface="Montserrat"/>
                <a:sym typeface="Montserrat"/>
              </a:rPr>
              <a:t>TTN streamlined content curation</a:t>
            </a:r>
            <a:r>
              <a:rPr b="0" i="0" lang="en" sz="900" u="none" cap="none" strike="noStrike">
                <a:solidFill>
                  <a:schemeClr val="dk1"/>
                </a:solidFill>
                <a:latin typeface="Montserrat"/>
                <a:ea typeface="Montserrat"/>
                <a:cs typeface="Montserrat"/>
                <a:sym typeface="Montserrat"/>
              </a:rPr>
              <a:t> through a</a:t>
            </a:r>
            <a:r>
              <a:rPr b="1" i="0" lang="en" sz="900" u="none" cap="none" strike="noStrike">
                <a:solidFill>
                  <a:schemeClr val="dk1"/>
                </a:solidFill>
                <a:latin typeface="Montserrat"/>
                <a:ea typeface="Montserrat"/>
                <a:cs typeface="Montserrat"/>
                <a:sym typeface="Montserrat"/>
              </a:rPr>
              <a:t> custom-built CMS</a:t>
            </a:r>
            <a:r>
              <a:rPr b="0" i="0" lang="en" sz="900" u="none" cap="none" strike="noStrike">
                <a:solidFill>
                  <a:schemeClr val="dk1"/>
                </a:solidFill>
                <a:latin typeface="Montserrat"/>
                <a:ea typeface="Montserrat"/>
                <a:cs typeface="Montserrat"/>
                <a:sym typeface="Montserrat"/>
              </a:rPr>
              <a:t>, enabling auto and personalised playlists based on</a:t>
            </a:r>
            <a:r>
              <a:rPr b="1" i="0" lang="en" sz="900" u="none" cap="none" strike="noStrike">
                <a:solidFill>
                  <a:schemeClr val="dk1"/>
                </a:solidFill>
                <a:latin typeface="Montserrat"/>
                <a:ea typeface="Montserrat"/>
                <a:cs typeface="Montserrat"/>
                <a:sym typeface="Montserrat"/>
              </a:rPr>
              <a:t> user preferences</a:t>
            </a:r>
            <a:r>
              <a:rPr b="0" i="0" lang="en" sz="900" u="none" cap="none" strike="noStrike">
                <a:solidFill>
                  <a:schemeClr val="dk1"/>
                </a:solidFill>
                <a:latin typeface="Montserrat"/>
                <a:ea typeface="Montserrat"/>
                <a:cs typeface="Montserrat"/>
                <a:sym typeface="Montserrat"/>
              </a:rPr>
              <a:t>, which significantly improved </a:t>
            </a:r>
            <a:r>
              <a:rPr b="1" i="0" lang="en" sz="900" u="none" cap="none" strike="noStrike">
                <a:solidFill>
                  <a:schemeClr val="dk1"/>
                </a:solidFill>
                <a:latin typeface="Montserrat"/>
                <a:ea typeface="Montserrat"/>
                <a:cs typeface="Montserrat"/>
                <a:sym typeface="Montserrat"/>
              </a:rPr>
              <a:t>operational efficiency.</a:t>
            </a:r>
            <a:r>
              <a:rPr b="0" i="0" lang="en" sz="900" u="none" cap="none" strike="noStrike">
                <a:solidFill>
                  <a:schemeClr val="dk1"/>
                </a:solidFill>
                <a:latin typeface="Montserrat"/>
                <a:ea typeface="Montserrat"/>
                <a:cs typeface="Montserrat"/>
                <a:sym typeface="Montserrat"/>
              </a:rPr>
              <a:t> </a:t>
            </a:r>
            <a:br>
              <a:rPr b="0" i="0" lang="en" sz="900" u="none" cap="none" strike="noStrike">
                <a:solidFill>
                  <a:schemeClr val="dk1"/>
                </a:solidFill>
                <a:latin typeface="Montserrat"/>
                <a:ea typeface="Montserrat"/>
                <a:cs typeface="Montserrat"/>
                <a:sym typeface="Montserrat"/>
              </a:rPr>
            </a:br>
            <a:br>
              <a:rPr b="0" i="0" lang="en" sz="900" u="none" cap="none" strike="noStrike">
                <a:solidFill>
                  <a:schemeClr val="dk1"/>
                </a:solidFill>
                <a:latin typeface="Montserrat"/>
                <a:ea typeface="Montserrat"/>
                <a:cs typeface="Montserrat"/>
                <a:sym typeface="Montserrat"/>
              </a:rPr>
            </a:br>
            <a:r>
              <a:rPr b="0" i="0" lang="en" sz="900" u="none" cap="none" strike="noStrike">
                <a:solidFill>
                  <a:schemeClr val="dk1"/>
                </a:solidFill>
                <a:latin typeface="Montserrat"/>
                <a:ea typeface="Montserrat"/>
                <a:cs typeface="Montserrat"/>
                <a:sym typeface="Montserrat"/>
              </a:rPr>
              <a:t>The platform features live </a:t>
            </a:r>
            <a:r>
              <a:rPr b="1" i="0" lang="en" sz="900" u="none" cap="none" strike="noStrike">
                <a:solidFill>
                  <a:schemeClr val="dk1"/>
                </a:solidFill>
                <a:latin typeface="Montserrat"/>
                <a:ea typeface="Montserrat"/>
                <a:cs typeface="Montserrat"/>
                <a:sym typeface="Montserrat"/>
              </a:rPr>
              <a:t>race streaming and VOD content</a:t>
            </a:r>
            <a:r>
              <a:rPr b="0" i="0" lang="en" sz="900" u="none" cap="none" strike="noStrike">
                <a:solidFill>
                  <a:schemeClr val="dk1"/>
                </a:solidFill>
                <a:latin typeface="Montserrat"/>
                <a:ea typeface="Montserrat"/>
                <a:cs typeface="Montserrat"/>
                <a:sym typeface="Montserrat"/>
              </a:rPr>
              <a:t>, leveraging a comprehensive technology stack that includes Kotlin, Swift, Java, MongoDB, Spring Boot, and more.</a:t>
            </a:r>
            <a:endParaRPr b="1" i="0" sz="900" u="none" cap="none" strike="noStrike">
              <a:solidFill>
                <a:srgbClr val="D9187F"/>
              </a:solidFill>
              <a:latin typeface="Montserrat"/>
              <a:ea typeface="Montserrat"/>
              <a:cs typeface="Montserrat"/>
              <a:sym typeface="Montserrat"/>
            </a:endParaRPr>
          </a:p>
        </p:txBody>
      </p:sp>
      <p:pic>
        <p:nvPicPr>
          <p:cNvPr id="633" name="Google Shape;633;p25"/>
          <p:cNvPicPr preferRelativeResize="0"/>
          <p:nvPr/>
        </p:nvPicPr>
        <p:blipFill rotWithShape="1">
          <a:blip r:embed="rId4">
            <a:alphaModFix/>
          </a:blip>
          <a:srcRect b="0" l="0" r="0" t="0"/>
          <a:stretch/>
        </p:blipFill>
        <p:spPr>
          <a:xfrm>
            <a:off x="182896" y="156319"/>
            <a:ext cx="612506" cy="510431"/>
          </a:xfrm>
          <a:prstGeom prst="rect">
            <a:avLst/>
          </a:prstGeom>
          <a:noFill/>
          <a:ln>
            <a:noFill/>
          </a:ln>
        </p:spPr>
      </p:pic>
      <p:sp>
        <p:nvSpPr>
          <p:cNvPr id="634" name="Google Shape;634;p25"/>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Australia </a:t>
            </a:r>
            <a:endParaRPr b="0" i="0" sz="1000" u="none" cap="none" strike="noStrike">
              <a:solidFill>
                <a:schemeClr val="lt1"/>
              </a:solidFill>
              <a:latin typeface="Montserrat"/>
              <a:ea typeface="Montserrat"/>
              <a:cs typeface="Montserrat"/>
              <a:sym typeface="Montserrat"/>
            </a:endParaRPr>
          </a:p>
        </p:txBody>
      </p:sp>
      <p:pic>
        <p:nvPicPr>
          <p:cNvPr id="635" name="Google Shape;635;p25"/>
          <p:cNvPicPr preferRelativeResize="0"/>
          <p:nvPr/>
        </p:nvPicPr>
        <p:blipFill rotWithShape="1">
          <a:blip r:embed="rId5">
            <a:alphaModFix/>
          </a:blip>
          <a:srcRect b="0" l="0" r="0" t="0"/>
          <a:stretch/>
        </p:blipFill>
        <p:spPr>
          <a:xfrm>
            <a:off x="309115" y="1314638"/>
            <a:ext cx="4862602" cy="2662069"/>
          </a:xfrm>
          <a:prstGeom prst="rect">
            <a:avLst/>
          </a:prstGeom>
          <a:noFill/>
          <a:ln>
            <a:noFill/>
          </a:ln>
        </p:spPr>
      </p:pic>
      <p:pic>
        <p:nvPicPr>
          <p:cNvPr id="636" name="Google Shape;636;p25"/>
          <p:cNvPicPr preferRelativeResize="0"/>
          <p:nvPr/>
        </p:nvPicPr>
        <p:blipFill rotWithShape="1">
          <a:blip r:embed="rId6">
            <a:alphaModFix/>
          </a:blip>
          <a:srcRect b="10521" l="6650" r="11154" t="4633"/>
          <a:stretch/>
        </p:blipFill>
        <p:spPr>
          <a:xfrm>
            <a:off x="851944" y="1443453"/>
            <a:ext cx="3776945" cy="1955583"/>
          </a:xfrm>
          <a:prstGeom prst="rect">
            <a:avLst/>
          </a:prstGeom>
          <a:noFill/>
          <a:ln>
            <a:noFill/>
          </a:ln>
        </p:spPr>
      </p:pic>
      <p:pic>
        <p:nvPicPr>
          <p:cNvPr id="637" name="Google Shape;637;p25"/>
          <p:cNvPicPr preferRelativeResize="0"/>
          <p:nvPr/>
        </p:nvPicPr>
        <p:blipFill rotWithShape="1">
          <a:blip r:embed="rId7">
            <a:alphaModFix/>
          </a:blip>
          <a:srcRect b="0" l="0" r="0" t="0"/>
          <a:stretch/>
        </p:blipFill>
        <p:spPr>
          <a:xfrm>
            <a:off x="4213317" y="1131394"/>
            <a:ext cx="1400655" cy="2780532"/>
          </a:xfrm>
          <a:prstGeom prst="rect">
            <a:avLst/>
          </a:prstGeom>
          <a:noFill/>
          <a:ln>
            <a:noFill/>
          </a:ln>
        </p:spPr>
      </p:pic>
      <p:pic>
        <p:nvPicPr>
          <p:cNvPr id="638" name="Google Shape;638;p25"/>
          <p:cNvPicPr preferRelativeResize="0"/>
          <p:nvPr/>
        </p:nvPicPr>
        <p:blipFill rotWithShape="1">
          <a:blip r:embed="rId8">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639" name="Google Shape;639;p25"/>
          <p:cNvPicPr preferRelativeResize="0"/>
          <p:nvPr/>
        </p:nvPicPr>
        <p:blipFill rotWithShape="1">
          <a:blip r:embed="rId9">
            <a:alphaModFix/>
          </a:blip>
          <a:srcRect b="14288" l="0" r="0" t="0"/>
          <a:stretch/>
        </p:blipFill>
        <p:spPr>
          <a:xfrm>
            <a:off x="851951" y="1443450"/>
            <a:ext cx="3361367" cy="2148149"/>
          </a:xfrm>
          <a:prstGeom prst="rect">
            <a:avLst/>
          </a:prstGeom>
          <a:noFill/>
          <a:ln>
            <a:noFill/>
          </a:ln>
        </p:spPr>
      </p:pic>
      <p:pic>
        <p:nvPicPr>
          <p:cNvPr id="640" name="Google Shape;640;p25"/>
          <p:cNvPicPr preferRelativeResize="0"/>
          <p:nvPr/>
        </p:nvPicPr>
        <p:blipFill rotWithShape="1">
          <a:blip r:embed="rId10">
            <a:alphaModFix/>
          </a:blip>
          <a:srcRect b="0" l="0" r="0" t="0"/>
          <a:stretch/>
        </p:blipFill>
        <p:spPr>
          <a:xfrm>
            <a:off x="4298069" y="1177687"/>
            <a:ext cx="1236900" cy="2597100"/>
          </a:xfrm>
          <a:prstGeom prst="round2SameRect">
            <a:avLst>
              <a:gd fmla="val 13849" name="adj1"/>
              <a:gd fmla="val 0" name="adj2"/>
            </a:avLst>
          </a:prstGeom>
          <a:noFill/>
          <a:ln>
            <a:noFill/>
          </a:ln>
        </p:spPr>
      </p:pic>
      <p:pic>
        <p:nvPicPr>
          <p:cNvPr descr="TTN Logo.png" id="641" name="Google Shape;641;p25"/>
          <p:cNvPicPr preferRelativeResize="0"/>
          <p:nvPr/>
        </p:nvPicPr>
        <p:blipFill rotWithShape="1">
          <a:blip r:embed="rId11">
            <a:alphaModFix/>
          </a:blip>
          <a:srcRect b="0" l="0" r="0" t="0"/>
          <a:stretch/>
        </p:blipFill>
        <p:spPr>
          <a:xfrm>
            <a:off x="8414781" y="117828"/>
            <a:ext cx="625544" cy="349439"/>
          </a:xfrm>
          <a:prstGeom prst="rect">
            <a:avLst/>
          </a:prstGeom>
          <a:noFill/>
          <a:ln>
            <a:noFill/>
          </a:ln>
        </p:spPr>
      </p:pic>
      <p:sp>
        <p:nvSpPr>
          <p:cNvPr id="642" name="Google Shape;642;p25"/>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46" name="Shape 646"/>
        <p:cNvGrpSpPr/>
        <p:nvPr/>
      </p:nvGrpSpPr>
      <p:grpSpPr>
        <a:xfrm>
          <a:off x="0" y="0"/>
          <a:ext cx="0" cy="0"/>
          <a:chOff x="0" y="0"/>
          <a:chExt cx="0" cy="0"/>
        </a:xfrm>
      </p:grpSpPr>
      <p:sp>
        <p:nvSpPr>
          <p:cNvPr id="647" name="Google Shape;647;p26"/>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26"/>
          <p:cNvSpPr txBox="1"/>
          <p:nvPr/>
        </p:nvSpPr>
        <p:spPr>
          <a:xfrm>
            <a:off x="6221063" y="1127906"/>
            <a:ext cx="28464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Tata Play partnered with us to reimagine their digital platforms - bringing innovation to both entertainment and customer self-service.</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We engineered a secure OTT solution featuring </a:t>
            </a:r>
            <a:r>
              <a:rPr b="1" i="0" lang="en" sz="900" u="none" cap="none" strike="noStrike">
                <a:solidFill>
                  <a:schemeClr val="dk1"/>
                </a:solidFill>
                <a:latin typeface="Montserrat"/>
                <a:ea typeface="Montserrat"/>
                <a:cs typeface="Montserrat"/>
                <a:sym typeface="Montserrat"/>
              </a:rPr>
              <a:t>Live TV</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VoD</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DRM integration</a:t>
            </a:r>
            <a:r>
              <a:rPr b="0" i="0" lang="en" sz="900" u="none" cap="none" strike="noStrike">
                <a:solidFill>
                  <a:schemeClr val="dk1"/>
                </a:solidFill>
                <a:latin typeface="Montserrat"/>
                <a:ea typeface="Montserrat"/>
                <a:cs typeface="Montserrat"/>
                <a:sym typeface="Montserrat"/>
              </a:rPr>
              <a:t>, and user-friendly tools like </a:t>
            </a:r>
            <a:r>
              <a:rPr b="1" i="0" lang="en" sz="900" u="none" cap="none" strike="noStrike">
                <a:solidFill>
                  <a:schemeClr val="dk1"/>
                </a:solidFill>
                <a:latin typeface="Montserrat"/>
                <a:ea typeface="Montserrat"/>
                <a:cs typeface="Montserrat"/>
                <a:sym typeface="Montserrat"/>
              </a:rPr>
              <a:t>remote recording</a:t>
            </a:r>
            <a:r>
              <a:rPr b="0" i="0" lang="en" sz="900" u="none" cap="none" strike="noStrike">
                <a:solidFill>
                  <a:schemeClr val="dk1"/>
                </a:solidFill>
                <a:latin typeface="Montserrat"/>
                <a:ea typeface="Montserrat"/>
                <a:cs typeface="Montserrat"/>
                <a:sym typeface="Montserrat"/>
              </a:rPr>
              <a:t> and </a:t>
            </a:r>
            <a:r>
              <a:rPr b="1" i="0" lang="en" sz="900" u="none" cap="none" strike="noStrike">
                <a:solidFill>
                  <a:schemeClr val="dk1"/>
                </a:solidFill>
                <a:latin typeface="Montserrat"/>
                <a:ea typeface="Montserrat"/>
                <a:cs typeface="Montserrat"/>
                <a:sym typeface="Montserrat"/>
              </a:rPr>
              <a:t>rich analytics</a:t>
            </a:r>
            <a:r>
              <a:rPr b="0" i="0" lang="en" sz="900" u="none" cap="none" strike="noStrike">
                <a:solidFill>
                  <a:schemeClr val="dk1"/>
                </a:solidFill>
                <a:latin typeface="Montserrat"/>
                <a:ea typeface="Montserrat"/>
                <a:cs typeface="Montserrat"/>
                <a:sym typeface="Montserrat"/>
              </a:rPr>
              <a:t>. In parallel, we developed a </a:t>
            </a:r>
            <a:r>
              <a:rPr b="1" i="0" lang="en" sz="900" u="none" cap="none" strike="noStrike">
                <a:solidFill>
                  <a:schemeClr val="dk1"/>
                </a:solidFill>
                <a:latin typeface="Montserrat"/>
                <a:ea typeface="Montserrat"/>
                <a:cs typeface="Montserrat"/>
                <a:sym typeface="Montserrat"/>
              </a:rPr>
              <a:t>React Native-based Self-Care app</a:t>
            </a:r>
            <a:r>
              <a:rPr b="0" i="0" lang="en" sz="900" u="none" cap="none" strike="noStrike">
                <a:solidFill>
                  <a:schemeClr val="dk1"/>
                </a:solidFill>
                <a:latin typeface="Montserrat"/>
                <a:ea typeface="Montserrat"/>
                <a:cs typeface="Montserrat"/>
                <a:sym typeface="Montserrat"/>
              </a:rPr>
              <a:t> with a </a:t>
            </a:r>
            <a:r>
              <a:rPr b="1" i="0" lang="en" sz="900" u="none" cap="none" strike="noStrike">
                <a:solidFill>
                  <a:schemeClr val="dk1"/>
                </a:solidFill>
                <a:latin typeface="Montserrat"/>
                <a:ea typeface="Montserrat"/>
                <a:cs typeface="Montserrat"/>
                <a:sym typeface="Montserrat"/>
              </a:rPr>
              <a:t>unified Android/iOS codebase</a:t>
            </a:r>
            <a:r>
              <a:rPr b="0" i="0" lang="en" sz="900" u="none" cap="none" strike="noStrike">
                <a:solidFill>
                  <a:schemeClr val="dk1"/>
                </a:solidFill>
                <a:latin typeface="Montserrat"/>
                <a:ea typeface="Montserrat"/>
                <a:cs typeface="Montserrat"/>
                <a:sym typeface="Montserrat"/>
              </a:rPr>
              <a:t>, enabling faster releases and seamless </a:t>
            </a:r>
            <a:r>
              <a:rPr b="1" i="0" lang="en" sz="900" u="none" cap="none" strike="noStrike">
                <a:solidFill>
                  <a:schemeClr val="dk1"/>
                </a:solidFill>
                <a:latin typeface="Montserrat"/>
                <a:ea typeface="Montserrat"/>
                <a:cs typeface="Montserrat"/>
                <a:sym typeface="Montserrat"/>
              </a:rPr>
              <a:t>CRM/payment gateway integration</a:t>
            </a:r>
            <a:r>
              <a:rPr b="0" i="0" lang="en" sz="900" u="none" cap="none" strike="noStrike">
                <a:solidFill>
                  <a:schemeClr val="dk1"/>
                </a:solidFill>
                <a:latin typeface="Montserrat"/>
                <a:ea typeface="Montserrat"/>
                <a:cs typeface="Montserrat"/>
                <a:sym typeface="Montserrat"/>
              </a:rPr>
              <a:t>.</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Powered by a </a:t>
            </a:r>
            <a:r>
              <a:rPr b="1" i="0" lang="en" sz="900" u="none" cap="none" strike="noStrike">
                <a:solidFill>
                  <a:schemeClr val="dk1"/>
                </a:solidFill>
                <a:latin typeface="Montserrat"/>
                <a:ea typeface="Montserrat"/>
                <a:cs typeface="Montserrat"/>
                <a:sym typeface="Montserrat"/>
              </a:rPr>
              <a:t>microservices architecture</a:t>
            </a:r>
            <a:r>
              <a:rPr b="0" i="0" lang="en" sz="900" u="none" cap="none" strike="noStrike">
                <a:solidFill>
                  <a:schemeClr val="dk1"/>
                </a:solidFill>
                <a:latin typeface="Montserrat"/>
                <a:ea typeface="Montserrat"/>
                <a:cs typeface="Montserrat"/>
                <a:sym typeface="Montserrat"/>
              </a:rPr>
              <a:t>, the platforms are scalable, resilient, and experience-driven.</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Achieved </a:t>
            </a:r>
            <a:r>
              <a:rPr b="1" i="0" lang="en" sz="900" u="none" cap="none" strike="noStrike">
                <a:solidFill>
                  <a:schemeClr val="dk1"/>
                </a:solidFill>
                <a:latin typeface="Montserrat"/>
                <a:ea typeface="Montserrat"/>
                <a:cs typeface="Montserrat"/>
                <a:sym typeface="Montserrat"/>
              </a:rPr>
              <a:t>70%+ mobile engagement</a:t>
            </a:r>
            <a:r>
              <a:rPr b="0" i="0" lang="en" sz="900" u="none" cap="none" strike="noStrike">
                <a:solidFill>
                  <a:schemeClr val="dk1"/>
                </a:solidFill>
                <a:latin typeface="Montserrat"/>
                <a:ea typeface="Montserrat"/>
                <a:cs typeface="Montserrat"/>
                <a:sym typeface="Montserrat"/>
              </a:rPr>
              <a:t>, improved </a:t>
            </a:r>
            <a:r>
              <a:rPr b="1" i="0" lang="en" sz="900" u="none" cap="none" strike="noStrike">
                <a:solidFill>
                  <a:schemeClr val="dk1"/>
                </a:solidFill>
                <a:latin typeface="Montserrat"/>
                <a:ea typeface="Montserrat"/>
                <a:cs typeface="Montserrat"/>
                <a:sym typeface="Montserrat"/>
              </a:rPr>
              <a:t>app ratings</a:t>
            </a:r>
            <a:r>
              <a:rPr b="0" i="0" lang="en" sz="900" u="none" cap="none" strike="noStrike">
                <a:solidFill>
                  <a:schemeClr val="dk1"/>
                </a:solidFill>
                <a:latin typeface="Montserrat"/>
                <a:ea typeface="Montserrat"/>
                <a:cs typeface="Montserrat"/>
                <a:sym typeface="Montserrat"/>
              </a:rPr>
              <a:t>, higher </a:t>
            </a:r>
            <a:r>
              <a:rPr b="1" i="0" lang="en" sz="900" u="none" cap="none" strike="noStrike">
                <a:solidFill>
                  <a:schemeClr val="dk1"/>
                </a:solidFill>
                <a:latin typeface="Montserrat"/>
                <a:ea typeface="Montserrat"/>
                <a:cs typeface="Montserrat"/>
                <a:sym typeface="Montserrat"/>
              </a:rPr>
              <a:t>user adoption</a:t>
            </a:r>
            <a:r>
              <a:rPr b="0" i="0" lang="en" sz="900" u="none" cap="none" strike="noStrike">
                <a:solidFill>
                  <a:schemeClr val="dk1"/>
                </a:solidFill>
                <a:latin typeface="Montserrat"/>
                <a:ea typeface="Montserrat"/>
                <a:cs typeface="Montserrat"/>
                <a:sym typeface="Montserrat"/>
              </a:rPr>
              <a:t>, and increased </a:t>
            </a:r>
            <a:r>
              <a:rPr b="1" i="0" lang="en" sz="900" u="none" cap="none" strike="noStrike">
                <a:solidFill>
                  <a:schemeClr val="dk1"/>
                </a:solidFill>
                <a:latin typeface="Montserrat"/>
                <a:ea typeface="Montserrat"/>
                <a:cs typeface="Montserrat"/>
                <a:sym typeface="Montserrat"/>
              </a:rPr>
              <a:t>recharge and upsell conversions</a:t>
            </a:r>
            <a:r>
              <a:rPr b="0" i="0" lang="en" sz="900" u="none" cap="none" strike="noStrike">
                <a:solidFill>
                  <a:schemeClr val="dk1"/>
                </a:solidFill>
                <a:latin typeface="Montserrat"/>
                <a:ea typeface="Montserrat"/>
                <a:cs typeface="Montserrat"/>
                <a:sym typeface="Montserrat"/>
              </a:rPr>
              <a:t> across digital channels.</a:t>
            </a:r>
            <a:endParaRPr b="0" i="0" sz="900" u="none" cap="none" strike="noStrike">
              <a:solidFill>
                <a:schemeClr val="dk1"/>
              </a:solidFill>
              <a:latin typeface="Montserrat"/>
              <a:ea typeface="Montserrat"/>
              <a:cs typeface="Montserrat"/>
              <a:sym typeface="Montserrat"/>
            </a:endParaRPr>
          </a:p>
          <a:p>
            <a:pPr indent="0" lvl="0" marL="0" marR="0" rtl="0" algn="l">
              <a:lnSpc>
                <a:spcPct val="150000"/>
              </a:lnSpc>
              <a:spcBef>
                <a:spcPts val="1200"/>
              </a:spcBef>
              <a:spcAft>
                <a:spcPts val="0"/>
              </a:spcAft>
              <a:buClr>
                <a:schemeClr val="dk1"/>
              </a:buClr>
              <a:buSzPts val="1100"/>
              <a:buFont typeface="Arial"/>
              <a:buNone/>
            </a:pPr>
            <a:r>
              <a:t/>
            </a:r>
            <a:endParaRPr b="1" i="0" sz="900" u="none" cap="none" strike="noStrike">
              <a:solidFill>
                <a:schemeClr val="dk1"/>
              </a:solidFill>
              <a:latin typeface="Montserrat"/>
              <a:ea typeface="Montserrat"/>
              <a:cs typeface="Montserrat"/>
              <a:sym typeface="Montserrat"/>
            </a:endParaRPr>
          </a:p>
        </p:txBody>
      </p:sp>
      <p:sp>
        <p:nvSpPr>
          <p:cNvPr id="649" name="Google Shape;649;p26"/>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India</a:t>
            </a:r>
            <a:endParaRPr b="0" i="0" sz="1000" u="none" cap="none" strike="noStrike">
              <a:solidFill>
                <a:schemeClr val="lt1"/>
              </a:solidFill>
              <a:latin typeface="Montserrat"/>
              <a:ea typeface="Montserrat"/>
              <a:cs typeface="Montserrat"/>
              <a:sym typeface="Montserrat"/>
            </a:endParaRPr>
          </a:p>
        </p:txBody>
      </p:sp>
      <p:pic>
        <p:nvPicPr>
          <p:cNvPr id="650" name="Google Shape;650;p26"/>
          <p:cNvPicPr preferRelativeResize="0"/>
          <p:nvPr/>
        </p:nvPicPr>
        <p:blipFill rotWithShape="1">
          <a:blip r:embed="rId4">
            <a:alphaModFix/>
          </a:blip>
          <a:srcRect b="0" l="0" r="0" t="0"/>
          <a:stretch/>
        </p:blipFill>
        <p:spPr>
          <a:xfrm>
            <a:off x="309115" y="1314638"/>
            <a:ext cx="4862602" cy="2662069"/>
          </a:xfrm>
          <a:prstGeom prst="rect">
            <a:avLst/>
          </a:prstGeom>
          <a:noFill/>
          <a:ln>
            <a:noFill/>
          </a:ln>
        </p:spPr>
      </p:pic>
      <p:pic>
        <p:nvPicPr>
          <p:cNvPr id="651" name="Google Shape;651;p26"/>
          <p:cNvPicPr preferRelativeResize="0"/>
          <p:nvPr/>
        </p:nvPicPr>
        <p:blipFill rotWithShape="1">
          <a:blip r:embed="rId5">
            <a:alphaModFix/>
          </a:blip>
          <a:srcRect b="10521" l="6650" r="11154" t="4633"/>
          <a:stretch/>
        </p:blipFill>
        <p:spPr>
          <a:xfrm>
            <a:off x="851944" y="1443453"/>
            <a:ext cx="3776945" cy="1955583"/>
          </a:xfrm>
          <a:prstGeom prst="rect">
            <a:avLst/>
          </a:prstGeom>
          <a:noFill/>
          <a:ln>
            <a:noFill/>
          </a:ln>
        </p:spPr>
      </p:pic>
      <p:pic>
        <p:nvPicPr>
          <p:cNvPr id="652" name="Google Shape;652;p26"/>
          <p:cNvPicPr preferRelativeResize="0"/>
          <p:nvPr/>
        </p:nvPicPr>
        <p:blipFill rotWithShape="1">
          <a:blip r:embed="rId6">
            <a:alphaModFix/>
          </a:blip>
          <a:srcRect b="0" l="0" r="0" t="0"/>
          <a:stretch/>
        </p:blipFill>
        <p:spPr>
          <a:xfrm>
            <a:off x="4213317" y="1131394"/>
            <a:ext cx="1400655" cy="2780532"/>
          </a:xfrm>
          <a:prstGeom prst="rect">
            <a:avLst/>
          </a:prstGeom>
          <a:noFill/>
          <a:ln>
            <a:noFill/>
          </a:ln>
        </p:spPr>
      </p:pic>
      <p:pic>
        <p:nvPicPr>
          <p:cNvPr id="653" name="Google Shape;653;p26"/>
          <p:cNvPicPr preferRelativeResize="0"/>
          <p:nvPr/>
        </p:nvPicPr>
        <p:blipFill rotWithShape="1">
          <a:blip r:embed="rId7">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654" name="Google Shape;654;p26" title="Screenshot (11).png"/>
          <p:cNvPicPr preferRelativeResize="0"/>
          <p:nvPr/>
        </p:nvPicPr>
        <p:blipFill rotWithShape="1">
          <a:blip r:embed="rId8">
            <a:alphaModFix/>
          </a:blip>
          <a:srcRect b="0" l="8089" r="8089" t="0"/>
          <a:stretch/>
        </p:blipFill>
        <p:spPr>
          <a:xfrm>
            <a:off x="851951" y="1443450"/>
            <a:ext cx="3361368" cy="2148150"/>
          </a:xfrm>
          <a:prstGeom prst="rect">
            <a:avLst/>
          </a:prstGeom>
          <a:noFill/>
          <a:ln>
            <a:noFill/>
          </a:ln>
        </p:spPr>
      </p:pic>
      <p:pic>
        <p:nvPicPr>
          <p:cNvPr id="655" name="Google Shape;655;p26" title="Screenshot (12).png"/>
          <p:cNvPicPr preferRelativeResize="0"/>
          <p:nvPr/>
        </p:nvPicPr>
        <p:blipFill rotWithShape="1">
          <a:blip r:embed="rId9">
            <a:alphaModFix/>
          </a:blip>
          <a:srcRect b="1067" l="0" r="0" t="1057"/>
          <a:stretch/>
        </p:blipFill>
        <p:spPr>
          <a:xfrm>
            <a:off x="4298069" y="1177687"/>
            <a:ext cx="1236900" cy="2597100"/>
          </a:xfrm>
          <a:prstGeom prst="round2SameRect">
            <a:avLst>
              <a:gd fmla="val 13849" name="adj1"/>
              <a:gd fmla="val 0" name="adj2"/>
            </a:avLst>
          </a:prstGeom>
          <a:noFill/>
          <a:ln>
            <a:noFill/>
          </a:ln>
        </p:spPr>
      </p:pic>
      <p:pic>
        <p:nvPicPr>
          <p:cNvPr descr="TTN Logo.png" id="656" name="Google Shape;656;p26"/>
          <p:cNvPicPr preferRelativeResize="0"/>
          <p:nvPr/>
        </p:nvPicPr>
        <p:blipFill rotWithShape="1">
          <a:blip r:embed="rId10">
            <a:alphaModFix/>
          </a:blip>
          <a:srcRect b="0" l="0" r="0" t="0"/>
          <a:stretch/>
        </p:blipFill>
        <p:spPr>
          <a:xfrm>
            <a:off x="8414781" y="117828"/>
            <a:ext cx="625544" cy="349439"/>
          </a:xfrm>
          <a:prstGeom prst="rect">
            <a:avLst/>
          </a:prstGeom>
          <a:noFill/>
          <a:ln>
            <a:noFill/>
          </a:ln>
        </p:spPr>
      </p:pic>
      <p:sp>
        <p:nvSpPr>
          <p:cNvPr id="657" name="Google Shape;657;p26"/>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pic>
        <p:nvPicPr>
          <p:cNvPr id="658" name="Google Shape;658;p26"/>
          <p:cNvPicPr preferRelativeResize="0"/>
          <p:nvPr/>
        </p:nvPicPr>
        <p:blipFill rotWithShape="1">
          <a:blip r:embed="rId11">
            <a:alphaModFix/>
          </a:blip>
          <a:srcRect b="0" l="0" r="0" t="0"/>
          <a:stretch/>
        </p:blipFill>
        <p:spPr>
          <a:xfrm>
            <a:off x="222400" y="64450"/>
            <a:ext cx="516401" cy="516401"/>
          </a:xfrm>
          <a:prstGeom prst="rect">
            <a:avLst/>
          </a:prstGeom>
          <a:noFill/>
          <a:ln>
            <a:noFill/>
          </a:ln>
        </p:spPr>
      </p:pic>
      <p:pic>
        <p:nvPicPr>
          <p:cNvPr id="659" name="Google Shape;659;p26"/>
          <p:cNvPicPr preferRelativeResize="0"/>
          <p:nvPr/>
        </p:nvPicPr>
        <p:blipFill rotWithShape="1">
          <a:blip r:embed="rId12">
            <a:alphaModFix/>
          </a:blip>
          <a:srcRect b="21694" l="0" r="0" t="17945"/>
          <a:stretch/>
        </p:blipFill>
        <p:spPr>
          <a:xfrm>
            <a:off x="913800" y="64450"/>
            <a:ext cx="994426" cy="516401"/>
          </a:xfrm>
          <a:prstGeom prst="rect">
            <a:avLst/>
          </a:prstGeom>
          <a:noFill/>
          <a:ln>
            <a:noFill/>
          </a:ln>
        </p:spPr>
      </p:pic>
      <p:cxnSp>
        <p:nvCxnSpPr>
          <p:cNvPr id="660" name="Google Shape;660;p26"/>
          <p:cNvCxnSpPr/>
          <p:nvPr/>
        </p:nvCxnSpPr>
        <p:spPr>
          <a:xfrm>
            <a:off x="8191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661" name="Google Shape;661;p26" title="Screenshot 2025-05-29 at 10.49.36 AM.png"/>
          <p:cNvPicPr preferRelativeResize="0"/>
          <p:nvPr/>
        </p:nvPicPr>
        <p:blipFill rotWithShape="1">
          <a:blip r:embed="rId13">
            <a:alphaModFix/>
          </a:blip>
          <a:srcRect b="0" l="0" r="0" t="0"/>
          <a:stretch/>
        </p:blipFill>
        <p:spPr>
          <a:xfrm>
            <a:off x="4298075" y="1209175"/>
            <a:ext cx="1269475" cy="25656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27"/>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Quick Recap</a:t>
            </a:r>
            <a:endParaRPr b="1" i="0" sz="2000" u="none" cap="none" strike="noStrike">
              <a:solidFill>
                <a:schemeClr val="dk1"/>
              </a:solidFill>
              <a:latin typeface="Montserrat"/>
              <a:ea typeface="Montserrat"/>
              <a:cs typeface="Montserrat"/>
              <a:sym typeface="Montserrat"/>
            </a:endParaRPr>
          </a:p>
        </p:txBody>
      </p:sp>
      <p:sp>
        <p:nvSpPr>
          <p:cNvPr id="667" name="Google Shape;667;p2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
        <p:nvSpPr>
          <p:cNvPr id="668" name="Google Shape;668;p27"/>
          <p:cNvSpPr/>
          <p:nvPr/>
        </p:nvSpPr>
        <p:spPr>
          <a:xfrm>
            <a:off x="226950" y="921038"/>
            <a:ext cx="8690100" cy="32931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indent="0" lvl="0" marL="0" marR="0" rtl="0" algn="just">
              <a:lnSpc>
                <a:spcPct val="115000"/>
              </a:lnSpc>
              <a:spcBef>
                <a:spcPts val="0"/>
              </a:spcBef>
              <a:spcAft>
                <a:spcPts val="0"/>
              </a:spcAft>
              <a:buClr>
                <a:srgbClr val="000000"/>
              </a:buClr>
              <a:buSzPts val="1100"/>
              <a:buFont typeface="Arial"/>
              <a:buNone/>
            </a:pPr>
            <a:r>
              <a:t/>
            </a:r>
            <a:endParaRPr b="1" i="0" sz="1000" u="none" cap="none" strike="noStrike">
              <a:solidFill>
                <a:srgbClr val="D71B7F"/>
              </a:solidFill>
              <a:latin typeface="Montserrat"/>
              <a:ea typeface="Montserrat"/>
              <a:cs typeface="Montserrat"/>
              <a:sym typeface="Montserrat"/>
            </a:endParaRPr>
          </a:p>
        </p:txBody>
      </p:sp>
      <p:cxnSp>
        <p:nvCxnSpPr>
          <p:cNvPr id="669" name="Google Shape;669;p27"/>
          <p:cNvCxnSpPr/>
          <p:nvPr/>
        </p:nvCxnSpPr>
        <p:spPr>
          <a:xfrm>
            <a:off x="249444" y="929365"/>
            <a:ext cx="0" cy="3293100"/>
          </a:xfrm>
          <a:prstGeom prst="straightConnector1">
            <a:avLst/>
          </a:prstGeom>
          <a:noFill/>
          <a:ln cap="flat" cmpd="sng" w="19050">
            <a:solidFill>
              <a:srgbClr val="12519C"/>
            </a:solidFill>
            <a:prstDash val="solid"/>
            <a:round/>
            <a:headEnd len="sm" w="sm" type="none"/>
            <a:tailEnd len="sm" w="sm" type="none"/>
          </a:ln>
        </p:spPr>
      </p:cxnSp>
      <p:sp>
        <p:nvSpPr>
          <p:cNvPr id="670" name="Google Shape;670;p27"/>
          <p:cNvSpPr txBox="1"/>
          <p:nvPr/>
        </p:nvSpPr>
        <p:spPr>
          <a:xfrm>
            <a:off x="261425" y="987013"/>
            <a:ext cx="8127900" cy="3124500"/>
          </a:xfrm>
          <a:prstGeom prst="rect">
            <a:avLst/>
          </a:prstGeom>
          <a:noFill/>
          <a:ln>
            <a:noFill/>
          </a:ln>
        </p:spPr>
        <p:txBody>
          <a:bodyPr anchorCtr="0" anchor="t" bIns="91425" lIns="91425" spcFirstLastPara="1" rIns="91425" wrap="square" tIns="91425">
            <a:spAutoFit/>
          </a:bodyPr>
          <a:lstStyle/>
          <a:p>
            <a:r>
              <a:t>Following our discussions with RetailMax Group, we are pleased to submit this proposal for the design and development of a unified B2C and B2B commerce platform. TTN will deliver a Drupal Commerce solution with PIM integration, multi-store management, and faceted search supporting 100,000+ SKUs across Australia and New Zealand.</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pic>
        <p:nvPicPr>
          <p:cNvPr id="675" name="Google Shape;675;p28"/>
          <p:cNvPicPr preferRelativeResize="0"/>
          <p:nvPr/>
        </p:nvPicPr>
        <p:blipFill rotWithShape="1">
          <a:blip r:embed="rId3">
            <a:alphaModFix/>
          </a:blip>
          <a:srcRect b="0" l="0" r="0" t="0"/>
          <a:stretch/>
        </p:blipFill>
        <p:spPr>
          <a:xfrm>
            <a:off x="249975" y="246249"/>
            <a:ext cx="1145175" cy="585599"/>
          </a:xfrm>
          <a:prstGeom prst="rect">
            <a:avLst/>
          </a:prstGeom>
          <a:noFill/>
          <a:ln>
            <a:noFill/>
          </a:ln>
        </p:spPr>
      </p:pic>
      <p:pic>
        <p:nvPicPr>
          <p:cNvPr id="676" name="Google Shape;676;p28"/>
          <p:cNvPicPr preferRelativeResize="0"/>
          <p:nvPr/>
        </p:nvPicPr>
        <p:blipFill rotWithShape="1">
          <a:blip r:embed="rId4">
            <a:alphaModFix/>
          </a:blip>
          <a:srcRect b="3131" l="0" r="0" t="3122"/>
          <a:stretch/>
        </p:blipFill>
        <p:spPr>
          <a:xfrm>
            <a:off x="210229" y="2037900"/>
            <a:ext cx="5420723" cy="873450"/>
          </a:xfrm>
          <a:prstGeom prst="rect">
            <a:avLst/>
          </a:prstGeom>
          <a:noFill/>
          <a:ln>
            <a:noFill/>
          </a:ln>
        </p:spPr>
      </p:pic>
      <p:cxnSp>
        <p:nvCxnSpPr>
          <p:cNvPr id="677" name="Google Shape;677;p28"/>
          <p:cNvCxnSpPr/>
          <p:nvPr/>
        </p:nvCxnSpPr>
        <p:spPr>
          <a:xfrm>
            <a:off x="7475" y="3099589"/>
            <a:ext cx="3926700" cy="0"/>
          </a:xfrm>
          <a:prstGeom prst="straightConnector1">
            <a:avLst/>
          </a:prstGeom>
          <a:noFill/>
          <a:ln cap="flat" cmpd="sng" w="19050">
            <a:solidFill>
              <a:srgbClr val="D71B7F"/>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Master">
  <a:themeElements>
    <a:clrScheme name="Custom 9">
      <a:dk1>
        <a:srgbClr val="000000"/>
      </a:dk1>
      <a:lt1>
        <a:srgbClr val="FFFFFF"/>
      </a:lt1>
      <a:dk2>
        <a:srgbClr val="44546A"/>
      </a:dk2>
      <a:lt2>
        <a:srgbClr val="E7E6E6"/>
      </a:lt2>
      <a:accent1>
        <a:srgbClr val="D71B7F"/>
      </a:accent1>
      <a:accent2>
        <a:srgbClr val="12519C"/>
      </a:accent2>
      <a:accent3>
        <a:srgbClr val="6F3A93"/>
      </a:accent3>
      <a:accent4>
        <a:srgbClr val="F5B6D7"/>
      </a:accent4>
      <a:accent5>
        <a:srgbClr val="99BDEA"/>
      </a:accent5>
      <a:accent6>
        <a:srgbClr val="70AD47"/>
      </a:accent6>
      <a:hlink>
        <a:srgbClr val="FFFF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Master">
  <a:themeElements>
    <a:clrScheme name="Custom 9">
      <a:dk1>
        <a:srgbClr val="000000"/>
      </a:dk1>
      <a:lt1>
        <a:srgbClr val="FFFFFF"/>
      </a:lt1>
      <a:dk2>
        <a:srgbClr val="44546A"/>
      </a:dk2>
      <a:lt2>
        <a:srgbClr val="E7E6E6"/>
      </a:lt2>
      <a:accent1>
        <a:srgbClr val="D71B7F"/>
      </a:accent1>
      <a:accent2>
        <a:srgbClr val="12519C"/>
      </a:accent2>
      <a:accent3>
        <a:srgbClr val="6F3A93"/>
      </a:accent3>
      <a:accent4>
        <a:srgbClr val="F5B6D7"/>
      </a:accent4>
      <a:accent5>
        <a:srgbClr val="99BDEA"/>
      </a:accent5>
      <a:accent6>
        <a:srgbClr val="70AD47"/>
      </a:accent6>
      <a:hlink>
        <a:srgbClr val="FFFF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