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 id="214748366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
      <p:font typeface="Tahoma"/>
      <p:regular r:id="rId49"/>
      <p:bold r:id="rId50"/>
    </p:embeddedFont>
    <p:embeddedFont>
      <p:font typeface="Montserrat Light"/>
      <p:regular r:id="rId51"/>
      <p:bold r:id="rId52"/>
      <p:italic r:id="rId53"/>
      <p:boldItalic r:id="rId54"/>
    </p:embeddedFont>
    <p:embeddedFont>
      <p:font typeface="Century Gothic"/>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jrcQjjxTMEva7885HIDdwaADPV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76C36E-D2AD-4AE9-B92F-3330EE880BF7}">
  <a:tblStyle styleId="{4776C36E-D2AD-4AE9-B92F-3330EE880BF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59350B3-BBFF-4BFA-8656-60803C743C3A}"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486883CD-E40B-490B-9AF7-50432A68762B}"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0409FBF-130E-4C89-B222-25A7FCDD58EE}" styleName="Table_3">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font" Target="fonts/MontserratSemiBold-regular.fntdata"/><Relationship Id="rId38" Type="http://schemas.openxmlformats.org/officeDocument/2006/relationships/font" Target="fonts/MontserratSemiBold-bold.fntdata"/><Relationship Id="rId39" Type="http://schemas.openxmlformats.org/officeDocument/2006/relationships/font" Target="fonts/MontserratSemiBold-italic.fntdata"/><Relationship Id="rId40" Type="http://schemas.openxmlformats.org/officeDocument/2006/relationships/font" Target="fonts/MontserratSemiBold-boldItalic.fntdata"/><Relationship Id="rId41" Type="http://schemas.openxmlformats.org/officeDocument/2006/relationships/font" Target="fonts/Montserrat-regular.fntdata"/><Relationship Id="rId42" Type="http://schemas.openxmlformats.org/officeDocument/2006/relationships/font" Target="fonts/Montserrat-bold.fntdata"/><Relationship Id="rId43" Type="http://schemas.openxmlformats.org/officeDocument/2006/relationships/font" Target="fonts/Montserrat-italic.fntdata"/><Relationship Id="rId44" Type="http://schemas.openxmlformats.org/officeDocument/2006/relationships/font" Target="fonts/Montserrat-boldItalic.fntdata"/><Relationship Id="rId45" Type="http://schemas.openxmlformats.org/officeDocument/2006/relationships/font" Target="fonts/MontserratMedium-regular.fntdata"/><Relationship Id="rId46" Type="http://schemas.openxmlformats.org/officeDocument/2006/relationships/font" Target="fonts/MontserratMedium-bold.fntdata"/><Relationship Id="rId47" Type="http://schemas.openxmlformats.org/officeDocument/2006/relationships/font" Target="fonts/MontserratMedium-italic.fntdata"/><Relationship Id="rId48" Type="http://schemas.openxmlformats.org/officeDocument/2006/relationships/font" Target="fonts/MontserratMedium-boldItalic.fntdata"/><Relationship Id="rId49" Type="http://schemas.openxmlformats.org/officeDocument/2006/relationships/font" Target="fonts/Tahoma-regular.fntdata"/><Relationship Id="rId50" Type="http://schemas.openxmlformats.org/officeDocument/2006/relationships/font" Target="fonts/Tahoma-bold.fntdata"/><Relationship Id="rId51" Type="http://schemas.openxmlformats.org/officeDocument/2006/relationships/font" Target="fonts/MontserratLight-regular.fntdata"/><Relationship Id="rId52" Type="http://schemas.openxmlformats.org/officeDocument/2006/relationships/font" Target="fonts/MontserratLight-bold.fntdata"/><Relationship Id="rId53" Type="http://schemas.openxmlformats.org/officeDocument/2006/relationships/font" Target="fonts/MontserratLight-italic.fntdata"/><Relationship Id="rId54" Type="http://schemas.openxmlformats.org/officeDocument/2006/relationships/font" Target="fonts/MontserratLight-boldItalic.fntdata"/><Relationship Id="rId55" Type="http://schemas.openxmlformats.org/officeDocument/2006/relationships/font" Target="fonts/CenturyGothic-regular.fntdata"/><Relationship Id="rId56" Type="http://schemas.openxmlformats.org/officeDocument/2006/relationships/font" Target="fonts/CenturyGothic-bold.fntdata"/><Relationship Id="rId57" Type="http://schemas.openxmlformats.org/officeDocument/2006/relationships/font" Target="fonts/CenturyGothic-italic.fntdata"/><Relationship Id="rId58" Type="http://schemas.openxmlformats.org/officeDocument/2006/relationships/font" Target="fonts/CenturyGothic-boldItalic.fntdata"/><Relationship Id="rId5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4" name="Google Shape;61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5" name="Google Shape;64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3" name="Google Shape;67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2.png"/><Relationship Id="rId10"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18" name="Google Shape;18;p3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9" name="Shape 19"/>
        <p:cNvGrpSpPr/>
        <p:nvPr/>
      </p:nvGrpSpPr>
      <p:grpSpPr>
        <a:xfrm>
          <a:off x="0" y="0"/>
          <a:ext cx="0" cy="0"/>
          <a:chOff x="0" y="0"/>
          <a:chExt cx="0" cy="0"/>
        </a:xfrm>
      </p:grpSpPr>
      <p:pic>
        <p:nvPicPr>
          <p:cNvPr id="20" name="Google Shape;20;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1" name="Google Shape;21;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3" name="Shape 23"/>
        <p:cNvGrpSpPr/>
        <p:nvPr/>
      </p:nvGrpSpPr>
      <p:grpSpPr>
        <a:xfrm>
          <a:off x="0" y="0"/>
          <a:ext cx="0" cy="0"/>
          <a:chOff x="0" y="0"/>
          <a:chExt cx="0" cy="0"/>
        </a:xfrm>
      </p:grpSpPr>
      <p:pic>
        <p:nvPicPr>
          <p:cNvPr id="24" name="Google Shape;24;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5" name="Google Shape;25;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6" name="Google Shape;26;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1" name="Shape 31"/>
        <p:cNvGrpSpPr/>
        <p:nvPr/>
      </p:nvGrpSpPr>
      <p:grpSpPr>
        <a:xfrm>
          <a:off x="0" y="0"/>
          <a:ext cx="0" cy="0"/>
          <a:chOff x="0" y="0"/>
          <a:chExt cx="0" cy="0"/>
        </a:xfrm>
      </p:grpSpPr>
      <p:sp>
        <p:nvSpPr>
          <p:cNvPr id="32" name="Google Shape;32;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4" name="Google Shape;34;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5" name="Google Shape;35;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36" name="Google Shape;36;p33"/>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
        <p:nvSpPr>
          <p:cNvPr id="37" name="Google Shape;37;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8" name="Shape 38"/>
        <p:cNvGrpSpPr/>
        <p:nvPr/>
      </p:nvGrpSpPr>
      <p:grpSpPr>
        <a:xfrm>
          <a:off x="0" y="0"/>
          <a:ext cx="0" cy="0"/>
          <a:chOff x="0" y="0"/>
          <a:chExt cx="0" cy="0"/>
        </a:xfrm>
      </p:grpSpPr>
      <p:pic>
        <p:nvPicPr>
          <p:cNvPr id="39" name="Google Shape;39;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40" name="Google Shape;40;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2" name="Google Shape;42;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3" name="Google Shape;43;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44" name="Google Shape;44;p34"/>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5" name="Shape 45"/>
        <p:cNvGrpSpPr/>
        <p:nvPr/>
      </p:nvGrpSpPr>
      <p:grpSpPr>
        <a:xfrm>
          <a:off x="0" y="0"/>
          <a:ext cx="0" cy="0"/>
          <a:chOff x="0" y="0"/>
          <a:chExt cx="0" cy="0"/>
        </a:xfrm>
      </p:grpSpPr>
      <p:sp>
        <p:nvSpPr>
          <p:cNvPr id="46" name="Google Shape;46;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7" name="Google Shape;47;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8" name="Google Shape;48;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9" name="Shape 49"/>
        <p:cNvGrpSpPr/>
        <p:nvPr/>
      </p:nvGrpSpPr>
      <p:grpSpPr>
        <a:xfrm>
          <a:off x="0" y="0"/>
          <a:ext cx="0" cy="0"/>
          <a:chOff x="0" y="0"/>
          <a:chExt cx="0" cy="0"/>
        </a:xfrm>
      </p:grpSpPr>
      <p:pic>
        <p:nvPicPr>
          <p:cNvPr id="50" name="Google Shape;50;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51" name="Google Shape;51;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3" name="Google Shape;53;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4" name="Google Shape;54;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5" name="Google Shape;55;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6" name="Google Shape;56;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7" name="Google Shape;57;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8" name="Google Shape;58;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9" name="Google Shape;59;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60" name="Google Shape;60;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61" name="Google Shape;61;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62" name="Google Shape;62;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3" name="Google Shape;63;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4" name="Google Shape;64;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5" name="Google Shape;65;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6" name="Google Shape;66;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7" name="Google Shape;67;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8" name="Shape 68"/>
        <p:cNvGrpSpPr/>
        <p:nvPr/>
      </p:nvGrpSpPr>
      <p:grpSpPr>
        <a:xfrm>
          <a:off x="0" y="0"/>
          <a:ext cx="0" cy="0"/>
          <a:chOff x="0" y="0"/>
          <a:chExt cx="0" cy="0"/>
        </a:xfrm>
      </p:grpSpPr>
      <p:pic>
        <p:nvPicPr>
          <p:cNvPr id="69" name="Google Shape;69;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70" name="Google Shape;70;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71" name="Google Shape;71;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72" name="Shape 72"/>
        <p:cNvGrpSpPr/>
        <p:nvPr/>
      </p:nvGrpSpPr>
      <p:grpSpPr>
        <a:xfrm>
          <a:off x="0" y="0"/>
          <a:ext cx="0" cy="0"/>
          <a:chOff x="0" y="0"/>
          <a:chExt cx="0" cy="0"/>
        </a:xfrm>
      </p:grpSpPr>
      <p:pic>
        <p:nvPicPr>
          <p:cNvPr id="73" name="Google Shape;73;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4" name="Google Shape;74;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7" name="Google Shape;77;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8" name="Shape 78"/>
        <p:cNvGrpSpPr/>
        <p:nvPr/>
      </p:nvGrpSpPr>
      <p:grpSpPr>
        <a:xfrm>
          <a:off x="0" y="0"/>
          <a:ext cx="0" cy="0"/>
          <a:chOff x="0" y="0"/>
          <a:chExt cx="0" cy="0"/>
        </a:xfrm>
      </p:grpSpPr>
      <p:sp>
        <p:nvSpPr>
          <p:cNvPr id="79" name="Google Shape;79;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0" name="Google Shape;80;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1" name="Google Shape;81;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2" name="Google Shape;82;p40"/>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83" name="Shape 83"/>
        <p:cNvGrpSpPr/>
        <p:nvPr/>
      </p:nvGrpSpPr>
      <p:grpSpPr>
        <a:xfrm>
          <a:off x="0" y="0"/>
          <a:ext cx="0" cy="0"/>
          <a:chOff x="0" y="0"/>
          <a:chExt cx="0" cy="0"/>
        </a:xfrm>
      </p:grpSpPr>
      <p:sp>
        <p:nvSpPr>
          <p:cNvPr id="84" name="Google Shape;84;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6" name="Google Shape;86;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7" name="Google Shape;87;p4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8" name="Shape 88"/>
        <p:cNvGrpSpPr/>
        <p:nvPr/>
      </p:nvGrpSpPr>
      <p:grpSpPr>
        <a:xfrm>
          <a:off x="0" y="0"/>
          <a:ext cx="0" cy="0"/>
          <a:chOff x="0" y="0"/>
          <a:chExt cx="0" cy="0"/>
        </a:xfrm>
      </p:grpSpPr>
      <p:sp>
        <p:nvSpPr>
          <p:cNvPr id="89" name="Google Shape;89;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90" name="Google Shape;90;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91" name="Shape 91"/>
        <p:cNvGrpSpPr/>
        <p:nvPr/>
      </p:nvGrpSpPr>
      <p:grpSpPr>
        <a:xfrm>
          <a:off x="0" y="0"/>
          <a:ext cx="0" cy="0"/>
          <a:chOff x="0" y="0"/>
          <a:chExt cx="0" cy="0"/>
        </a:xfrm>
      </p:grpSpPr>
      <p:pic>
        <p:nvPicPr>
          <p:cNvPr id="92" name="Google Shape;92;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93" name="Google Shape;93;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5" name="Google Shape;95;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6" name="Google Shape;96;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7" name="Google Shape;97;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98" name="Google Shape;98;p43"/>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5" name="Google Shape;105;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6" name="Google Shape;10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9" name="Google Shape;10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sp>
        <p:nvSpPr>
          <p:cNvPr id="111" name="Google Shape;11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 name="Google Shape;11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8" name="Google Shape;11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4" name="Google Shape;124;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5" name="Google Shape;12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6" name="Shape 126"/>
        <p:cNvGrpSpPr/>
        <p:nvPr/>
      </p:nvGrpSpPr>
      <p:grpSpPr>
        <a:xfrm>
          <a:off x="0" y="0"/>
          <a:ext cx="0" cy="0"/>
          <a:chOff x="0" y="0"/>
          <a:chExt cx="0" cy="0"/>
        </a:xfrm>
      </p:grpSpPr>
      <p:sp>
        <p:nvSpPr>
          <p:cNvPr id="127" name="Google Shape;127;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8" name="Google Shape;12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sp>
        <p:nvSpPr>
          <p:cNvPr id="130" name="Google Shape;130;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32" name="Google Shape;132;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3" name="Google Shape;133;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4" name="Google Shape;13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sp>
        <p:nvSpPr>
          <p:cNvPr id="136" name="Google Shape;136;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37" name="Google Shape;13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0" name="Google Shape;140;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1" name="Google Shape;14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2.png"/><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pic>
        <p:nvPicPr>
          <p:cNvPr id="28" name="Google Shape;28;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9" name="Google Shape;29;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30" name="Google Shape;30;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 name="Shape 99"/>
        <p:cNvGrpSpPr/>
        <p:nvPr/>
      </p:nvGrpSpPr>
      <p:grpSpPr>
        <a:xfrm>
          <a:off x="0" y="0"/>
          <a:ext cx="0" cy="0"/>
          <a:chOff x="0" y="0"/>
          <a:chExt cx="0" cy="0"/>
        </a:xfrm>
      </p:grpSpPr>
      <p:sp>
        <p:nvSpPr>
          <p:cNvPr id="100" name="Google Shape;100;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1" name="Google Shape;101;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2" name="Google Shape;10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20.png"/><Relationship Id="rId11"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28.png"/><Relationship Id="rId5" Type="http://schemas.openxmlformats.org/officeDocument/2006/relationships/image" Target="../media/image45.png"/><Relationship Id="rId6" Type="http://schemas.openxmlformats.org/officeDocument/2006/relationships/image" Target="../media/image33.png"/><Relationship Id="rId7" Type="http://schemas.openxmlformats.org/officeDocument/2006/relationships/image" Target="../media/image29.png"/><Relationship Id="rId8" Type="http://schemas.openxmlformats.org/officeDocument/2006/relationships/image" Target="../media/image27.png"/><Relationship Id="rId9" Type="http://schemas.openxmlformats.org/officeDocument/2006/relationships/image" Target="../media/image35.png"/><Relationship Id="rId10" Type="http://schemas.openxmlformats.org/officeDocument/2006/relationships/image" Target="../media/image15.png"/><Relationship Id="rId1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38.png"/><Relationship Id="rId7" Type="http://schemas.openxmlformats.org/officeDocument/2006/relationships/image" Target="../media/image42.png"/><Relationship Id="rId8" Type="http://schemas.openxmlformats.org/officeDocument/2006/relationships/image" Target="../media/image41.png"/><Relationship Id="rId9" Type="http://schemas.openxmlformats.org/officeDocument/2006/relationships/image" Target="../media/image37.png"/><Relationship Id="rId10"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44.png"/><Relationship Id="rId7" Type="http://schemas.openxmlformats.org/officeDocument/2006/relationships/image" Target="../media/image42.png"/><Relationship Id="rId8" Type="http://schemas.openxmlformats.org/officeDocument/2006/relationships/image" Target="../media/image41.png"/><Relationship Id="rId9" Type="http://schemas.openxmlformats.org/officeDocument/2006/relationships/image" Target="../media/image43.png"/><Relationship Id="rId10" Type="http://schemas.openxmlformats.org/officeDocument/2006/relationships/image" Target="../media/image46.png"/><Relationship Id="rId11"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42.png"/><Relationship Id="rId7" Type="http://schemas.openxmlformats.org/officeDocument/2006/relationships/image" Target="../media/image41.png"/><Relationship Id="rId8" Type="http://schemas.openxmlformats.org/officeDocument/2006/relationships/image" Target="../media/image51.png"/><Relationship Id="rId9" Type="http://schemas.openxmlformats.org/officeDocument/2006/relationships/image" Target="../media/image49.png"/><Relationship Id="rId10" Type="http://schemas.openxmlformats.org/officeDocument/2006/relationships/image" Target="../media/image15.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149" name="Google Shape;149;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150" name="Google Shape;150;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51" name="Google Shape;151;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52" name="Google Shape;152;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3" name="Google Shape;153;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54" name="Google Shape;154;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55" name="Google Shape;155;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56" name="Google Shape;156;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7" name="Google Shape;157;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58" name="Google Shape;158;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59" name="Google Shape;159;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60" name="Google Shape;160;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r>
              <a:t>TTN Proposal | FinServe Bank</a:t>
            </a:r>
          </a:p>
          <a:p>
            <a:r>
              <a:t>Date : 11 Sep 2026</a:t>
            </a:r>
          </a:p>
          <a:p>
            <a:r>
              <a:t>Ref : TRAIN-RFP-003</a:t>
            </a:r>
          </a:p>
        </p:txBody>
      </p:sp>
      <p:cxnSp>
        <p:nvCxnSpPr>
          <p:cNvPr id="161" name="Google Shape;161;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62" name="Google Shape;162;p1"/>
          <p:cNvPicPr preferRelativeResize="0"/>
          <p:nvPr/>
        </p:nvPicPr>
        <p:blipFill rotWithShape="1">
          <a:blip r:embed="rId9">
            <a:alphaModFix/>
          </a:blip>
          <a:srcRect b="3131" l="0" r="0" t="3122"/>
          <a:stretch/>
        </p:blipFill>
        <p:spPr>
          <a:xfrm>
            <a:off x="5213775" y="246250"/>
            <a:ext cx="3634284" cy="585600"/>
          </a:xfrm>
          <a:prstGeom prst="rect">
            <a:avLst/>
          </a:prstGeom>
          <a:noFill/>
          <a:ln>
            <a:noFill/>
          </a:ln>
        </p:spPr>
      </p:pic>
      <p:pic>
        <p:nvPicPr>
          <p:cNvPr id="163" name="Google Shape;163;p1"/>
          <p:cNvPicPr preferRelativeResize="0"/>
          <p:nvPr/>
        </p:nvPicPr>
        <p:blipFill rotWithShape="1">
          <a:blip r:embed="rId10">
            <a:alphaModFix/>
          </a:blip>
          <a:srcRect b="-10" l="-6921" r="-6910" t="10"/>
          <a:stretch/>
        </p:blipFill>
        <p:spPr>
          <a:xfrm>
            <a:off x="6287808" y="4668680"/>
            <a:ext cx="265774" cy="398125"/>
          </a:xfrm>
          <a:prstGeom prst="rect">
            <a:avLst/>
          </a:prstGeom>
          <a:noFill/>
          <a:ln>
            <a:noFill/>
          </a:ln>
        </p:spPr>
      </p:pic>
      <p:cxnSp>
        <p:nvCxnSpPr>
          <p:cNvPr id="164" name="Google Shape;164;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65" name="Google Shape;165;p1"/>
          <p:cNvPicPr preferRelativeResize="0"/>
          <p:nvPr/>
        </p:nvPicPr>
        <p:blipFill rotWithShape="1">
          <a:blip r:embed="rId11">
            <a:alphaModFix/>
          </a:blip>
          <a:srcRect b="0" l="0" r="0" t="0"/>
          <a:stretch/>
        </p:blipFill>
        <p:spPr>
          <a:xfrm>
            <a:off x="1593475" y="242835"/>
            <a:ext cx="1432800" cy="59242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72" name="Google Shape;172;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73" name="Google Shape;173;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74" name="Google Shape;174;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75" name="Google Shape;175;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76" name="Google Shape;176;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77" name="Google Shape;177;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78" name="Google Shape;178;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1" name="Google Shape;181;p2"/>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182" name="Google Shape;182;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83" name="Google Shape;183;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84" name="Google Shape;184;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86" name="Google Shape;186;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87" name="Google Shape;187;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95" name="Google Shape;195;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r>
              <a:t>TTN is pleased to present our proposal for FinServe Bank's digital customer onboarding and mobile banking platform modernisation. We will deliver a cloud-native solution supporting KYC/AML verification, account opening in under 5 minutes, and personalised banking experiences across iOS and Android.</a:t>
            </a:r>
          </a:p>
        </p:txBody>
      </p:sp>
      <p:cxnSp>
        <p:nvCxnSpPr>
          <p:cNvPr id="196" name="Google Shape;196;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97" name="Google Shape;197;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204" name="Google Shape;204;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205" name="Google Shape;205;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206" name="Google Shape;206;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207" name="Google Shape;207;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208" name="Google Shape;208;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214" name="Google Shape;214;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215" name="Google Shape;215;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216" name="Google Shape;216;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r>
              <a:t>Digital account opening for personal and business customers with eKYC.</a:t>
            </a:r>
          </a:p>
          <a:p>
            <a:pPr/>
            <a:r>
              <a:t>Integration with AUSTRAC reporting and identity providers (GreenID, OCR labs).</a:t>
            </a:r>
          </a:p>
          <a:p>
            <a:pPr/>
            <a:r>
              <a:t>Mobile banking: balances, transfers, BPAY, card controls, and spending insights.</a:t>
            </a:r>
          </a:p>
          <a:p>
            <a:pPr/>
            <a:r>
              <a:t>Open Banking (CDR) consent management and data sharing dashboards.</a:t>
            </a:r>
          </a:p>
          <a:p>
            <a:pPr/>
            <a:r>
              <a:t>Push notifications for transactions, fraud alerts, and marketing opt-in.</a:t>
            </a:r>
          </a:p>
          <a:p>
            <a:pPr/>
            <a:r>
              <a:t>Accessibility compliance and support for screen readers on mobile.</a:t>
            </a:r>
          </a:p>
        </p:txBody>
      </p:sp>
      <p:sp>
        <p:nvSpPr>
          <p:cNvPr id="217" name="Google Shape;217;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18" name="Google Shape;218;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224" name="Google Shape;224;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Races &amp; Profiles </a:t>
            </a:r>
            <a:endParaRPr b="0" i="0" sz="11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Filter, Past and Upcoming Races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View Profile Pages for Tracks, Jockeys, Trainers, and Runners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sp>
        <p:nvSpPr>
          <p:cNvPr id="225" name="Google Shape;225;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User Access &amp; Account Management</a:t>
            </a:r>
            <a:r>
              <a:rPr b="0" i="0" lang="en" sz="1100" u="none" cap="none" strike="noStrike">
                <a:solidFill>
                  <a:srgbClr val="6F3A93"/>
                </a:solidFill>
                <a:latin typeface="Montserrat SemiBold"/>
                <a:ea typeface="Montserrat SemiBold"/>
                <a:cs typeface="Montserrat SemiBold"/>
                <a:sym typeface="Montserrat SemiBold"/>
              </a:rPr>
              <a:t> </a:t>
            </a:r>
            <a:endParaRPr b="0" i="0" sz="14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Registration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Login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Forgot Password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Account Details </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Add Jockeys and Trainers  to Blackbook</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Blackbook Activities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6" name="Google Shape;226;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227" name="Google Shape;227;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228" name="Google Shape;228;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a:t>
            </a:r>
            <a:r>
              <a:rPr b="0" i="0" lang="en" sz="1000" u="none" cap="none" strike="noStrike">
                <a:solidFill>
                  <a:schemeClr val="accent3"/>
                </a:solidFill>
                <a:latin typeface="Montserrat SemiBold"/>
                <a:ea typeface="Montserrat SemiBold"/>
                <a:cs typeface="Montserrat SemiBold"/>
                <a:sym typeface="Montserrat SemiBold"/>
              </a:rPr>
              <a:t> Calendar &amp; Planner</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Race Details  for Upcoming and Past Races using the Race Calendar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Filter and Export Race Details using Race Planner</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9" name="Google Shape;229;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230" name="Google Shape;230;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Races, Results &amp; </a:t>
            </a:r>
            <a:r>
              <a:rPr b="0" i="0" lang="en" sz="1000" u="none" cap="none" strike="noStrike">
                <a:solidFill>
                  <a:srgbClr val="6F3A93"/>
                </a:solidFill>
                <a:latin typeface="Montserrat SemiBold"/>
                <a:ea typeface="Montserrat SemiBold"/>
                <a:cs typeface="Montserrat SemiBold"/>
                <a:sym typeface="Montserrat SemiBold"/>
              </a:rPr>
              <a:t>Replays</a:t>
            </a:r>
            <a:r>
              <a:rPr b="0" i="0" lang="en" sz="1000" u="none" cap="none" strike="noStrike">
                <a:solidFill>
                  <a:schemeClr val="accent3"/>
                </a:solidFill>
                <a:latin typeface="Montserrat SemiBold"/>
                <a:ea typeface="Montserrat SemiBold"/>
                <a:cs typeface="Montserrat SemiBold"/>
                <a:sym typeface="Montserrat SemiBold"/>
              </a:rPr>
              <a:t>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Stream Races and Replay Feeds in-app  from Betting Partners.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Redirect to Queensland Non-TAB Racing  YouTube channel to Stream Replay Feeds from other sources..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Show Real-Time Race Results.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and Download Steward and Sectional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1" name="Google Shape;231;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2" name="Google Shape;232;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r>
              <a:t>Flutter cross-platform mobile app with native biometric authentication.</a:t>
            </a:r>
          </a:p>
          <a:p>
            <a:pPr/>
            <a:r>
              <a:t>Camunda BPM for onboarding workflow orchestration and exception handling.</a:t>
            </a:r>
          </a:p>
          <a:p>
            <a:pPr/>
            <a:r>
              <a:t>Mambu core banking connector for account provisioning and ledger sync.</a:t>
            </a:r>
          </a:p>
          <a:p>
            <a:pPr/>
            <a:r>
              <a:t>Feature flags via LaunchDarkly for controlled rollout of new capabilities.</a:t>
            </a:r>
          </a:p>
          <a:p>
            <a:pPr/>
            <a:r>
              <a:t>Adobe Target for personalised product offers based on customer segments.</a:t>
            </a:r>
          </a:p>
        </p:txBody>
      </p:sp>
      <p:cxnSp>
        <p:nvCxnSpPr>
          <p:cNvPr id="233" name="Google Shape;233;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4" name="Google Shape;234;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News</a:t>
            </a:r>
            <a:r>
              <a:rPr b="0" i="0" lang="en" sz="1000" u="none" cap="none" strike="noStrike">
                <a:solidFill>
                  <a:srgbClr val="6F3A93"/>
                </a:solidFill>
                <a:latin typeface="Montserrat SemiBold"/>
                <a:ea typeface="Montserrat SemiBold"/>
                <a:cs typeface="Montserrat SemiBold"/>
                <a:sym typeface="Montserrat SemiBold"/>
              </a:rPr>
              <a:t> </a:t>
            </a:r>
            <a:r>
              <a:rPr b="0" i="0" lang="en" sz="1000" u="none" cap="none" strike="noStrike">
                <a:solidFill>
                  <a:schemeClr val="accent3"/>
                </a:solidFill>
                <a:latin typeface="Montserrat SemiBold"/>
                <a:ea typeface="Montserrat SemiBold"/>
                <a:cs typeface="Montserrat SemiBold"/>
                <a:sym typeface="Montserrat SemiBold"/>
              </a:rPr>
              <a:t>&amp; Notifications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Racing News Items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Business Awareness pages such as Ownership, Career &amp; Training, Infrastructure, Open API details etc.</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Get Push Notifications for Race Alerts &amp; Updates.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5" name="Google Shape;235;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236" name="Google Shape;236;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2" name="Google Shape;242;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43" name="Google Shape;243;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Kubernetes on GCP with Istio service mesh for mTLS between services.</a:t>
            </a:r>
          </a:p>
          <a:p>
            <a:pPr/>
            <a:r>
              <a:t>Event sourcing for onboarding audit trail with Apache Kafka.</a:t>
            </a:r>
          </a:p>
          <a:p>
            <a:pPr/>
            <a:r>
              <a:t>API gateway (Kong) with OAuth 2.0, rate limiting, and API versioning.</a:t>
            </a:r>
          </a:p>
          <a:p>
            <a:pPr/>
            <a:r>
              <a:t>Chaos engineering practices in pre-production environments.</a:t>
            </a:r>
          </a:p>
          <a:p>
            <a:pPr/>
            <a:r>
              <a:t>Performance testing targeting 10,000 concurrent onboarding sessions.</a:t>
            </a:r>
          </a:p>
        </p:txBody>
      </p:sp>
      <p:cxnSp>
        <p:nvCxnSpPr>
          <p:cNvPr id="244" name="Google Shape;244;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45" name="Google Shape;245;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51" name="Google Shape;251;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52" name="Google Shape;252;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APRA CPS 234 aligned information security controls.</a:t>
            </a:r>
          </a:p>
          <a:p>
            <a:pPr/>
            <a:r>
              <a:t>ASIC RG 271 compliant design for digital advice disclosures.</a:t>
            </a:r>
          </a:p>
          <a:p>
            <a:pPr/>
            <a:r>
              <a:t>Hardware security module (HSM) for key management via GCP Cloud HSM.</a:t>
            </a:r>
          </a:p>
          <a:p>
            <a:pPr/>
            <a:r>
              <a:t>Real-time fraud scoring integration with Feedzai.</a:t>
            </a:r>
          </a:p>
          <a:p>
            <a:pPr/>
            <a:r>
              <a:t>Annual penetration test and red-team exercise before production launch.</a:t>
            </a:r>
          </a:p>
        </p:txBody>
      </p:sp>
      <p:cxnSp>
        <p:nvCxnSpPr>
          <p:cNvPr id="253" name="Google Shape;253;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54" name="Google Shape;254;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61" name="Google Shape;261;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r>
              <a:t>Mambu sandbox and API credentials provided within 2 weeks.</a:t>
            </a:r>
          </a:p>
          <a:p>
            <a:pPr/>
            <a:r>
              <a:t>FinServe legal team approves KYC vendor contracts before build starts.</a:t>
            </a:r>
          </a:p>
          <a:p>
            <a:pPr/>
            <a:r>
              <a:t>Apple and Google developer accounts managed by FinServe.</a:t>
            </a:r>
          </a:p>
          <a:p>
            <a:pPr/>
            <a:r>
              <a:t>Legacy core cutover window limited to approved maintenance windows.</a:t>
            </a:r>
          </a:p>
          <a:p>
            <a:pPr/>
            <a:r>
              <a:t>Regulatory sign-off gates defined in joint governance plan.</a:t>
            </a:r>
          </a:p>
        </p:txBody>
      </p:sp>
      <p:cxnSp>
        <p:nvCxnSpPr>
          <p:cNvPr id="262" name="Google Shape;262;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63" name="Google Shape;263;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70" name="Google Shape;270;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1" name="Google Shape;271;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72" name="Google Shape;272;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3" name="Google Shape;273;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74" name="Google Shape;274;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r>
              <a:t>Mambu sandbox and API credentials provided within 2 weeks.</a:t>
            </a:r>
          </a:p>
          <a:p>
            <a:pPr/>
            <a:r>
              <a:t>FinServe legal team approves KYC vendor contracts before build starts.</a:t>
            </a:r>
          </a:p>
          <a:p>
            <a:pPr/>
            <a:r>
              <a:t>Apple and Google developer accounts managed by FinServe.</a:t>
            </a:r>
          </a:p>
          <a:p>
            <a:pPr/>
            <a:r>
              <a:t>Legacy core cutover window limited to approved maintenance windows.</a:t>
            </a:r>
          </a:p>
          <a:p>
            <a:pPr/>
            <a:r>
              <a:t>Regulatory sign-off gates defined in joint governance plan.</a:t>
            </a:r>
          </a:p>
        </p:txBody>
      </p:sp>
      <p:sp>
        <p:nvSpPr>
          <p:cNvPr id="275" name="Google Shape;275;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Project Discovery, Design, Development and Deployment.</a:t>
            </a:r>
            <a:endParaRPr b="0" i="0" sz="1100" u="none" cap="none" strike="noStrike">
              <a:solidFill>
                <a:srgbClr val="000000"/>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000000"/>
              </a:buClr>
              <a:buSzPts val="1100"/>
              <a:buFont typeface="Montserrat"/>
              <a:buChar char="○"/>
            </a:pPr>
            <a:r>
              <a:rPr b="0" i="0" lang="en" sz="1100" u="none" cap="none" strike="noStrike">
                <a:solidFill>
                  <a:srgbClr val="000000"/>
                </a:solidFill>
                <a:latin typeface="Montserrat"/>
                <a:ea typeface="Montserrat"/>
                <a:cs typeface="Montserrat"/>
                <a:sym typeface="Montserrat"/>
              </a:rPr>
              <a:t>Mobile Application Development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UX and Visual Designs of all the screens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Manual QA Testing for the developed features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CI/CD Implementation</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UAT support and deployment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Go-Live Support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Hypercare /Warranty Support(2 Weeks)</a:t>
            </a:r>
            <a:endParaRPr b="0" i="0" sz="1100" u="none" cap="none" strike="noStrike">
              <a:solidFill>
                <a:srgbClr val="000000"/>
              </a:solidFill>
              <a:latin typeface="Montserrat"/>
              <a:ea typeface="Montserrat"/>
              <a:cs typeface="Montserrat"/>
              <a:sym typeface="Montserrat"/>
            </a:endParaRPr>
          </a:p>
        </p:txBody>
      </p:sp>
      <p:sp>
        <p:nvSpPr>
          <p:cNvPr id="276" name="Google Shape;276;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83" name="Google Shape;283;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84" name="Google Shape;284;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85" name="Google Shape;285;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86" name="Google Shape;286;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87" name="Google Shape;287;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88" name="Google Shape;288;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89" name="Google Shape;289;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2" name="Google Shape;292;p11"/>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293" name="Google Shape;293;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94" name="Google Shape;294;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95" name="Google Shape;295;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97" name="Google Shape;297;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98" name="Google Shape;298;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305" name="Google Shape;305;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306" name="Google Shape;306;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307" name="Google Shape;307;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r>
              <a:t>Flutter cross-platform mobile app with native biometric authentication.</a:t>
            </a:r>
          </a:p>
          <a:p>
            <a:pPr/>
            <a:r>
              <a:t>Camunda BPM for onboarding workflow orchestration and exception handling.</a:t>
            </a:r>
          </a:p>
          <a:p>
            <a:pPr/>
            <a:r>
              <a:t>Mambu core banking connector for account provisioning and ledger sync.</a:t>
            </a:r>
          </a:p>
          <a:p>
            <a:pPr/>
            <a:r>
              <a:t>Feature flags via LaunchDarkly for controlled rollout of new capabilities.</a:t>
            </a:r>
          </a:p>
          <a:p>
            <a:pPr/>
            <a:r>
              <a:t>Adobe Target for personalised product offers based on customer segments.</a:t>
            </a:r>
          </a:p>
        </p:txBody>
      </p:sp>
      <p:sp>
        <p:nvSpPr>
          <p:cNvPr id="308" name="Google Shape;308;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314" name="Google Shape;314;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F3A93"/>
                </a:solidFill>
                <a:latin typeface="Montserrat"/>
                <a:ea typeface="Montserrat"/>
                <a:cs typeface="Montserrat"/>
                <a:sym typeface="Montserrat"/>
              </a:rPr>
              <a:t>Mobile Application</a:t>
            </a:r>
            <a:endParaRPr b="1" i="0" sz="900" u="none" cap="none" strike="noStrike">
              <a:solidFill>
                <a:srgbClr val="6F3A93"/>
              </a:solidFill>
              <a:latin typeface="Montserrat"/>
              <a:ea typeface="Montserrat"/>
              <a:cs typeface="Montserrat"/>
              <a:sym typeface="Montserrat"/>
            </a:endParaRPr>
          </a:p>
        </p:txBody>
      </p:sp>
      <p:sp>
        <p:nvSpPr>
          <p:cNvPr id="315" name="Google Shape;315;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316" name="Google Shape;316;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317" name="Google Shape;317;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318" name="Google Shape;318;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Racing Queensland Backend APIs</a:t>
            </a:r>
            <a:endParaRPr b="1" i="0" sz="800" u="none" cap="none" strike="noStrike">
              <a:solidFill>
                <a:srgbClr val="525252"/>
              </a:solidFill>
              <a:latin typeface="Montserrat"/>
              <a:ea typeface="Montserrat"/>
              <a:cs typeface="Montserrat"/>
              <a:sym typeface="Montserrat"/>
            </a:endParaRPr>
          </a:p>
        </p:txBody>
      </p:sp>
      <p:sp>
        <p:nvSpPr>
          <p:cNvPr id="319" name="Google Shape;319;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Firebase</a:t>
            </a:r>
            <a:endParaRPr b="1" i="0" sz="800" u="none" cap="none" strike="noStrike">
              <a:solidFill>
                <a:srgbClr val="525252"/>
              </a:solidFill>
              <a:latin typeface="Montserrat"/>
              <a:ea typeface="Montserrat"/>
              <a:cs typeface="Montserrat"/>
              <a:sym typeface="Montserrat"/>
            </a:endParaRPr>
          </a:p>
        </p:txBody>
      </p:sp>
      <p:pic>
        <p:nvPicPr>
          <p:cNvPr id="320" name="Google Shape;320;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321" name="Google Shape;321;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322" name="Google Shape;322;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3" name="Google Shape;323;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324" name="Google Shape;324;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325" name="Google Shape;325;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6" name="Google Shape;326;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327" name="Google Shape;327;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328" name="Google Shape;328;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329" name="Google Shape;329;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pic>
        <p:nvPicPr>
          <p:cNvPr id="330" name="Google Shape;330;p13"/>
          <p:cNvPicPr preferRelativeResize="0"/>
          <p:nvPr/>
        </p:nvPicPr>
        <p:blipFill rotWithShape="1">
          <a:blip r:embed="rId5">
            <a:alphaModFix/>
          </a:blip>
          <a:srcRect b="0" l="0" r="0" t="0"/>
          <a:stretch/>
        </p:blipFill>
        <p:spPr>
          <a:xfrm>
            <a:off x="7572597" y="1767500"/>
            <a:ext cx="324045" cy="357300"/>
          </a:xfrm>
          <a:prstGeom prst="rect">
            <a:avLst/>
          </a:prstGeom>
          <a:noFill/>
          <a:ln>
            <a:noFill/>
          </a:ln>
        </p:spPr>
      </p:pic>
      <p:cxnSp>
        <p:nvCxnSpPr>
          <p:cNvPr id="331" name="Google Shape;331;p13"/>
          <p:cNvCxnSpPr>
            <a:stCxn id="315" idx="0"/>
            <a:endCxn id="314"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332" name="Google Shape;332;p13"/>
          <p:cNvCxnSpPr>
            <a:stCxn id="316" idx="1"/>
            <a:endCxn id="321"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333" name="Google Shape;333;p13"/>
          <p:cNvCxnSpPr>
            <a:stCxn id="321" idx="1"/>
            <a:endCxn id="322"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4" name="Google Shape;334;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335" name="Google Shape;335;p13"/>
          <p:cNvCxnSpPr>
            <a:stCxn id="322" idx="1"/>
            <a:endCxn id="325"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6" name="Google Shape;336;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337" name="Google Shape;337;p13"/>
          <p:cNvCxnSpPr>
            <a:stCxn id="314" idx="0"/>
            <a:endCxn id="318"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338" name="Google Shape;338;p13"/>
          <p:cNvCxnSpPr>
            <a:stCxn id="314" idx="0"/>
            <a:endCxn id="319"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339" name="Google Shape;339;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345" name="Google Shape;345;p14"/>
          <p:cNvGraphicFramePr/>
          <p:nvPr/>
        </p:nvGraphicFramePr>
        <p:xfrm>
          <a:off x="264425" y="755775"/>
          <a:ext cx="3000000" cy="3000000"/>
        </p:xfrm>
        <a:graphic>
          <a:graphicData uri="http://schemas.openxmlformats.org/drawingml/2006/table">
            <a:tbl>
              <a:tblPr>
                <a:noFill/>
                <a:tableStyleId>{4776C36E-D2AD-4AE9-B92F-3330EE880BF7}</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Mobile Application Development Platform</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Cross-platform technologies like Flutter or React Native to be considered for mobile application development. They will enable us to use a single codebase for both Android and iOS, reducing development time and costs while increasing code reuse and maintainability.</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pPr indent="0" lvl="0" marL="0" marR="0" rtl="0" algn="l">
                        <a:lnSpc>
                          <a:spcPct val="115000"/>
                        </a:lnSpc>
                        <a:spcBef>
                          <a:spcPts val="0"/>
                        </a:spcBef>
                        <a:spcAft>
                          <a:spcPts val="0"/>
                        </a:spcAft>
                        <a:buClr>
                          <a:schemeClr val="dk1"/>
                        </a:buClr>
                        <a:buSzPts val="1100"/>
                        <a:buFont typeface="Arial"/>
                        <a:buNone/>
                      </a:pPr>
                      <a:r>
                        <a:rPr b="1" lang="en" sz="1000" u="none" cap="none" strike="noStrike">
                          <a:latin typeface="Montserrat"/>
                          <a:ea typeface="Montserrat"/>
                          <a:cs typeface="Montserrat"/>
                          <a:sym typeface="Montserrat"/>
                        </a:rPr>
                        <a:t>On-the-fly Deployment</a:t>
                      </a:r>
                      <a:r>
                        <a:rPr lang="en" sz="1000" u="none" cap="none" strike="noStrike">
                          <a:solidFill>
                            <a:schemeClr val="dk1"/>
                          </a:solidFill>
                          <a:latin typeface="Montserrat"/>
                          <a:ea typeface="Montserrat"/>
                          <a:cs typeface="Montserrat"/>
                          <a:sym typeface="Montserrat"/>
                        </a:rPr>
                        <a:t> </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On-the-fly deployment enables pushing app updates without app store resubmission-natively supported in React Native via CodePush and achievable in Flutter using Shorebird. This is particularly useful for hot-fixes and minor changes</a:t>
                      </a:r>
                      <a:r>
                        <a:rPr lang="en" sz="1100" u="none" cap="none" strike="noStrike">
                          <a:solidFill>
                            <a:schemeClr val="dk1"/>
                          </a:solidFill>
                        </a:rPr>
                        <a:t>.</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Montserrat"/>
                          <a:ea typeface="Montserrat"/>
                          <a:cs typeface="Montserrat"/>
                          <a:sym typeface="Montserrat"/>
                        </a:rPr>
                        <a:t>Performance Optimisation</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Responsive UI and smooth animations, lazy loading of images, pagination and optimised asset management. </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pPr indent="0" lvl="0" marL="0" marR="0" rtl="0" algn="l">
                        <a:lnSpc>
                          <a:spcPct val="100000"/>
                        </a:lnSpc>
                        <a:spcBef>
                          <a:spcPts val="0"/>
                        </a:spcBef>
                        <a:spcAft>
                          <a:spcPts val="0"/>
                        </a:spcAft>
                        <a:buClr>
                          <a:schemeClr val="dk1"/>
                        </a:buClr>
                        <a:buSzPts val="1100"/>
                        <a:buFont typeface="Arial"/>
                        <a:buNone/>
                      </a:pPr>
                      <a:r>
                        <a:rPr b="1" lang="en" sz="1000" u="none" cap="none" strike="noStrike">
                          <a:solidFill>
                            <a:schemeClr val="dk1"/>
                          </a:solidFill>
                          <a:latin typeface="Montserrat"/>
                          <a:ea typeface="Montserrat"/>
                          <a:cs typeface="Montserrat"/>
                          <a:sym typeface="Montserrat"/>
                        </a:rPr>
                        <a:t>API Integration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RESTful API integration using the existing APIs utilised by the Web platform.</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Security &amp; Data Protection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Any user data to be securely stored in keychain and encryption if required. Secure communication using HTTPS. Authentication using existing backend architecture.</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Analytics &amp; Crash Monitoring</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Firebase Analytics(or any other preferred tool) to be utilised for analysing user behavior, page views and clicks. Crash reporting and error monitoring to be dove via Firebase Crashlytics.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Deployment Strategy</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App Store and Play store guidelines compliance.</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CI/CD pipeline for automated deployment for different environments.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346" name="Google Shape;346;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Mobile Development Platform - Comparison</a:t>
            </a:r>
            <a:endParaRPr>
              <a:solidFill>
                <a:schemeClr val="dk1"/>
              </a:solidFill>
            </a:endParaRPr>
          </a:p>
        </p:txBody>
      </p:sp>
      <p:sp>
        <p:nvSpPr>
          <p:cNvPr id="353" name="Google Shape;353;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354" name="Google Shape;354;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355" name="Google Shape;355;p15"/>
          <p:cNvGraphicFramePr/>
          <p:nvPr/>
        </p:nvGraphicFramePr>
        <p:xfrm>
          <a:off x="189880" y="722548"/>
          <a:ext cx="3000000" cy="3000000"/>
        </p:xfrm>
        <a:graphic>
          <a:graphicData uri="http://schemas.openxmlformats.org/drawingml/2006/table">
            <a:tbl>
              <a:tblPr bandRow="1" firstRow="1">
                <a:noFill/>
                <a:tableStyleId>{759350B3-BBFF-4BFA-8656-60803C743C3A}</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Performance/Speed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OTA Updates  (Without going through App Store)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 (Using Codepush or Expo)</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Technologies Used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React/ React-Native/ Native Components</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Dart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Development Time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Debugging</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Community Support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Backed By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Facebook/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Google/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Build Size</a:t>
                      </a:r>
                      <a:endParaRPr b="1"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Highest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Code Reuse between Platforms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Support for OS Upgrades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Ability &amp; Support for 3</a:t>
                      </a:r>
                      <a:r>
                        <a:rPr b="1" baseline="30000" lang="en" sz="1000" u="none" cap="none" strike="noStrike">
                          <a:latin typeface="Montserrat"/>
                          <a:ea typeface="Montserrat"/>
                          <a:cs typeface="Montserrat"/>
                          <a:sym typeface="Montserrat"/>
                        </a:rPr>
                        <a:t>rd</a:t>
                      </a:r>
                      <a:r>
                        <a:rPr b="1" lang="en" sz="1000" u="none" cap="none" strike="noStrike">
                          <a:latin typeface="Montserrat"/>
                          <a:ea typeface="Montserrat"/>
                          <a:cs typeface="Montserrat"/>
                          <a:sym typeface="Montserrat"/>
                        </a:rPr>
                        <a:t> party hardware / SDK</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56" name="Google Shape;356;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r>
              <a:t>Kubernetes on GCP with Istio service mesh for mTLS between services.</a:t>
            </a:r>
          </a:p>
          <a:p>
            <a:pPr/>
            <a:r>
              <a:t>Event sourcing for onboarding audit trail with Apache Kafka.</a:t>
            </a:r>
          </a:p>
          <a:p>
            <a:pPr/>
            <a:r>
              <a:t>API gateway (Kong) with OAuth 2.0, rate limiting, and API versioning.</a:t>
            </a:r>
          </a:p>
          <a:p>
            <a:pPr/>
            <a:r>
              <a:t>Chaos engineering practices in pre-production environments.</a:t>
            </a:r>
          </a:p>
          <a:p>
            <a:pPr/>
            <a:r>
              <a:t>Performance testing targeting 10,000 concurrent onboarding sessions.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63" name="Google Shape;363;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64" name="Google Shape;364;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65" name="Google Shape;365;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66" name="Google Shape;366;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67" name="Google Shape;367;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68" name="Google Shape;368;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69" name="Google Shape;369;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2" name="Google Shape;372;p16"/>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373" name="Google Shape;373;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74" name="Google Shape;374;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75" name="Google Shape;375;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77" name="Google Shape;377;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78" name="Google Shape;378;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5" name="Google Shape;385;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6" name="Google Shape;386;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87" name="Google Shape;387;p17"/>
          <p:cNvSpPr/>
          <p:nvPr/>
        </p:nvSpPr>
        <p:spPr>
          <a:xfrm>
            <a:off x="2303501" y="2698629"/>
            <a:ext cx="1202100" cy="13272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8" name="Google Shape;388;p17"/>
          <p:cNvSpPr/>
          <p:nvPr/>
        </p:nvSpPr>
        <p:spPr>
          <a:xfrm>
            <a:off x="3799228" y="2698629"/>
            <a:ext cx="1202100" cy="13668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9" name="Google Shape;389;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90" name="Google Shape;390;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91" name="Google Shape;391;p17"/>
          <p:cNvGrpSpPr/>
          <p:nvPr/>
        </p:nvGrpSpPr>
        <p:grpSpPr>
          <a:xfrm>
            <a:off x="3934107" y="2120825"/>
            <a:ext cx="817618" cy="72728"/>
            <a:chOff x="3198956" y="2429934"/>
            <a:chExt cx="1353000" cy="149400"/>
          </a:xfrm>
        </p:grpSpPr>
        <p:sp>
          <p:nvSpPr>
            <p:cNvPr id="392" name="Google Shape;392;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3" name="Google Shape;393;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4" name="Google Shape;394;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5" name="Google Shape;395;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6" name="Google Shape;396;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97" name="Google Shape;397;p17"/>
          <p:cNvCxnSpPr>
            <a:stCxn id="389" idx="3"/>
            <a:endCxn id="390"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8" name="Google Shape;398;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99" name="Google Shape;399;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400" name="Google Shape;400;p17"/>
          <p:cNvCxnSpPr>
            <a:stCxn id="390" idx="3"/>
            <a:endCxn id="399"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401" name="Google Shape;401;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402" name="Google Shape;402;p17"/>
          <p:cNvCxnSpPr>
            <a:stCxn id="399" idx="3"/>
            <a:endCxn id="401"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403" name="Google Shape;403;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404" name="Google Shape;404;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405" name="Google Shape;405;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6" name="Google Shape;406;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7" name="Google Shape;407;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8" name="Google Shape;408;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9" name="Google Shape;409;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0" name="Google Shape;410;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1" name="Google Shape;411;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2" name="Google Shape;412;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413" name="Google Shape;413;p17"/>
          <p:cNvCxnSpPr/>
          <p:nvPr/>
        </p:nvCxnSpPr>
        <p:spPr>
          <a:xfrm>
            <a:off x="3992919" y="2867471"/>
            <a:ext cx="0" cy="1011600"/>
          </a:xfrm>
          <a:prstGeom prst="straightConnector1">
            <a:avLst/>
          </a:prstGeom>
          <a:noFill/>
          <a:ln cap="flat" cmpd="sng" w="12700">
            <a:solidFill>
              <a:srgbClr val="7F7F7F"/>
            </a:solidFill>
            <a:prstDash val="solid"/>
            <a:miter lim="8000"/>
            <a:headEnd len="sm" w="sm" type="none"/>
            <a:tailEnd len="sm" w="sm" type="none"/>
          </a:ln>
        </p:spPr>
      </p:cxnSp>
      <p:sp>
        <p:nvSpPr>
          <p:cNvPr id="414" name="Google Shape;414;p17"/>
          <p:cNvSpPr/>
          <p:nvPr/>
        </p:nvSpPr>
        <p:spPr>
          <a:xfrm>
            <a:off x="3804525" y="4077663"/>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415" name="Google Shape;415;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416" name="Google Shape;416;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417" name="Google Shape;417;p17"/>
          <p:cNvSpPr/>
          <p:nvPr/>
        </p:nvSpPr>
        <p:spPr>
          <a:xfrm>
            <a:off x="2308793" y="4041178"/>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418" name="Google Shape;418;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419" name="Google Shape;419;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420" name="Google Shape;420;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421" name="Google Shape;421;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422" name="Google Shape;422;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423" name="Google Shape;423;p17"/>
          <p:cNvCxnSpPr/>
          <p:nvPr/>
        </p:nvCxnSpPr>
        <p:spPr>
          <a:xfrm flipH="1">
            <a:off x="4443986" y="292788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4" name="Google Shape;424;p17"/>
          <p:cNvCxnSpPr/>
          <p:nvPr/>
        </p:nvCxnSpPr>
        <p:spPr>
          <a:xfrm>
            <a:off x="3995621" y="2867471"/>
            <a:ext cx="147900" cy="0"/>
          </a:xfrm>
          <a:prstGeom prst="straightConnector1">
            <a:avLst/>
          </a:prstGeom>
          <a:noFill/>
          <a:ln cap="flat" cmpd="sng" w="9525">
            <a:solidFill>
              <a:srgbClr val="616161"/>
            </a:solidFill>
            <a:prstDash val="solid"/>
            <a:miter lim="8000"/>
            <a:headEnd len="sm" w="sm" type="none"/>
            <a:tailEnd len="med" w="med" type="triangle"/>
          </a:ln>
        </p:spPr>
      </p:cxnSp>
      <p:cxnSp>
        <p:nvCxnSpPr>
          <p:cNvPr id="425" name="Google Shape;425;p17"/>
          <p:cNvCxnSpPr/>
          <p:nvPr/>
        </p:nvCxnSpPr>
        <p:spPr>
          <a:xfrm>
            <a:off x="3992919" y="3881063"/>
            <a:ext cx="150900" cy="0"/>
          </a:xfrm>
          <a:prstGeom prst="straightConnector1">
            <a:avLst/>
          </a:prstGeom>
          <a:noFill/>
          <a:ln cap="flat" cmpd="sng" w="12700">
            <a:solidFill>
              <a:srgbClr val="7F7F7F"/>
            </a:solidFill>
            <a:prstDash val="solid"/>
            <a:miter lim="8000"/>
            <a:headEnd len="sm" w="sm" type="none"/>
            <a:tailEnd len="sm" w="sm" type="none"/>
          </a:ln>
        </p:spPr>
      </p:cxnSp>
      <p:sp>
        <p:nvSpPr>
          <p:cNvPr id="426" name="Google Shape;426;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427" name="Google Shape;427;p17"/>
          <p:cNvCxnSpPr/>
          <p:nvPr/>
        </p:nvCxnSpPr>
        <p:spPr>
          <a:xfrm flipH="1">
            <a:off x="4443986" y="3192628"/>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8" name="Google Shape;428;p17"/>
          <p:cNvCxnSpPr/>
          <p:nvPr/>
        </p:nvCxnSpPr>
        <p:spPr>
          <a:xfrm flipH="1">
            <a:off x="4443986" y="345737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9" name="Google Shape;429;p17"/>
          <p:cNvCxnSpPr/>
          <p:nvPr/>
        </p:nvCxnSpPr>
        <p:spPr>
          <a:xfrm flipH="1">
            <a:off x="4443986" y="3714215"/>
            <a:ext cx="1200" cy="105000"/>
          </a:xfrm>
          <a:prstGeom prst="straightConnector1">
            <a:avLst/>
          </a:prstGeom>
          <a:noFill/>
          <a:ln cap="flat" cmpd="sng" w="9525">
            <a:solidFill>
              <a:srgbClr val="616161"/>
            </a:solidFill>
            <a:prstDash val="solid"/>
            <a:miter lim="8000"/>
            <a:headEnd len="sm" w="sm" type="none"/>
            <a:tailEnd len="med" w="med" type="triangle"/>
          </a:ln>
        </p:spPr>
      </p:cxnSp>
      <p:pic>
        <p:nvPicPr>
          <p:cNvPr id="430" name="Google Shape;430;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431" name="Google Shape;431;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432" name="Google Shape;432;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433" name="Google Shape;433;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434" name="Google Shape;434;p17"/>
          <p:cNvGrpSpPr/>
          <p:nvPr/>
        </p:nvGrpSpPr>
        <p:grpSpPr>
          <a:xfrm>
            <a:off x="308754" y="1982358"/>
            <a:ext cx="1734192" cy="256660"/>
            <a:chOff x="530597" y="1659894"/>
            <a:chExt cx="1541778" cy="210931"/>
          </a:xfrm>
        </p:grpSpPr>
        <p:sp>
          <p:nvSpPr>
            <p:cNvPr id="435" name="Google Shape;435;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436" name="Google Shape;436;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37" name="Google Shape;437;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accent2"/>
                </a:solidFill>
                <a:latin typeface="Montserrat"/>
                <a:ea typeface="Montserrat"/>
                <a:cs typeface="Montserrat"/>
                <a:sym typeface="Montserrat"/>
              </a:rPr>
              <a:t>Agile Based iterative Development Approach</a:t>
            </a:r>
            <a:endParaRPr b="1" i="0" sz="1000" u="none" cap="none" strike="noStrike">
              <a:solidFill>
                <a:schemeClr val="accent2"/>
              </a:solidFill>
              <a:latin typeface="Montserrat"/>
              <a:ea typeface="Montserrat"/>
              <a:cs typeface="Montserrat"/>
              <a:sym typeface="Montserrat"/>
            </a:endParaRPr>
          </a:p>
        </p:txBody>
      </p:sp>
      <p:sp>
        <p:nvSpPr>
          <p:cNvPr id="438" name="Google Shape;438;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439" name="Google Shape;439;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440" name="Google Shape;440;p17"/>
          <p:cNvGrpSpPr/>
          <p:nvPr/>
        </p:nvGrpSpPr>
        <p:grpSpPr>
          <a:xfrm>
            <a:off x="298800" y="2292174"/>
            <a:ext cx="1734192" cy="256660"/>
            <a:chOff x="530597" y="1659894"/>
            <a:chExt cx="1541778" cy="210931"/>
          </a:xfrm>
        </p:grpSpPr>
        <p:sp>
          <p:nvSpPr>
            <p:cNvPr id="441" name="Google Shape;441;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442" name="Google Shape;442;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3" name="Google Shape;443;p17"/>
          <p:cNvGrpSpPr/>
          <p:nvPr/>
        </p:nvGrpSpPr>
        <p:grpSpPr>
          <a:xfrm>
            <a:off x="308757" y="2617640"/>
            <a:ext cx="1734192" cy="256660"/>
            <a:chOff x="530597" y="1659894"/>
            <a:chExt cx="1541778" cy="210931"/>
          </a:xfrm>
        </p:grpSpPr>
        <p:sp>
          <p:nvSpPr>
            <p:cNvPr id="444" name="Google Shape;444;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445" name="Google Shape;445;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6" name="Google Shape;446;p17"/>
          <p:cNvGrpSpPr/>
          <p:nvPr/>
        </p:nvGrpSpPr>
        <p:grpSpPr>
          <a:xfrm>
            <a:off x="298803" y="2943091"/>
            <a:ext cx="1734192" cy="256660"/>
            <a:chOff x="530597" y="1659894"/>
            <a:chExt cx="1541778" cy="210931"/>
          </a:xfrm>
        </p:grpSpPr>
        <p:sp>
          <p:nvSpPr>
            <p:cNvPr id="447" name="Google Shape;447;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448" name="Google Shape;448;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9" name="Google Shape;449;p17"/>
          <p:cNvGrpSpPr/>
          <p:nvPr/>
        </p:nvGrpSpPr>
        <p:grpSpPr>
          <a:xfrm>
            <a:off x="298803" y="3281643"/>
            <a:ext cx="1734192" cy="256660"/>
            <a:chOff x="530597" y="1659894"/>
            <a:chExt cx="1541778" cy="210931"/>
          </a:xfrm>
        </p:grpSpPr>
        <p:sp>
          <p:nvSpPr>
            <p:cNvPr id="450" name="Google Shape;45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451" name="Google Shape;45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52" name="Google Shape;452;p17"/>
          <p:cNvGrpSpPr/>
          <p:nvPr/>
        </p:nvGrpSpPr>
        <p:grpSpPr>
          <a:xfrm>
            <a:off x="298803" y="3624423"/>
            <a:ext cx="1734192" cy="256660"/>
            <a:chOff x="530597" y="1659894"/>
            <a:chExt cx="1541778" cy="210931"/>
          </a:xfrm>
        </p:grpSpPr>
        <p:sp>
          <p:nvSpPr>
            <p:cNvPr id="453" name="Google Shape;453;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454" name="Google Shape;454;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55" name="Google Shape;455;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r>
              <a:t>Foundation (4 weeks): architecture, security baseline, CI/CD setup.</a:t>
            </a:r>
          </a:p>
          <a:p>
            <a:pPr/>
            <a:r>
              <a:t>Onboarding MVP (10 weeks): eKYC, account opening, welcome journey.</a:t>
            </a:r>
          </a:p>
          <a:p>
            <a:pPr/>
            <a:r>
              <a:t>Mobile Banking (10 weeks): core banking features, cards, payments.</a:t>
            </a:r>
          </a:p>
          <a:p>
            <a:pPr/>
            <a:r>
              <a:t>Hardening (4 weeks): performance, security testing, APRA evidence pack.</a:t>
            </a:r>
          </a:p>
          <a:p>
            <a:pPr/>
            <a:r>
              <a:t>Phased rollout: 5,000 customers in pilot, then full marketing launch.</a:t>
            </a:r>
          </a:p>
        </p:txBody>
      </p:sp>
      <p:sp>
        <p:nvSpPr>
          <p:cNvPr id="456" name="Google Shape;456;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57" name="Google Shape;457;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63" name="Google Shape;463;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4" name="Google Shape;464;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5" name="Google Shape;465;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6" name="Google Shape;466;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7" name="Google Shape;467;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68" name="Google Shape;468;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69" name="Google Shape;469;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Racing Queensland Stakeholders</a:t>
            </a:r>
            <a:endParaRPr b="1" i="0" sz="800" u="none" cap="none" strike="noStrike">
              <a:solidFill>
                <a:srgbClr val="000000"/>
              </a:solidFill>
              <a:latin typeface="Montserrat"/>
              <a:ea typeface="Montserrat"/>
              <a:cs typeface="Montserrat"/>
              <a:sym typeface="Montserrat"/>
            </a:endParaRPr>
          </a:p>
        </p:txBody>
      </p:sp>
      <p:pic>
        <p:nvPicPr>
          <p:cNvPr id="472" name="Google Shape;472;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73" name="Google Shape;473;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74" name="Google Shape;474;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75" name="Google Shape;475;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6" name="Google Shape;476;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77" name="Google Shape;477;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8" name="Google Shape;478;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79" name="Google Shape;479;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80" name="Google Shape;480;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1" name="Google Shape;481;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82" name="Google Shape;482;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83" name="Google Shape;483;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84" name="Google Shape;484;p18"/>
          <p:cNvCxnSpPr/>
          <p:nvPr/>
        </p:nvCxnSpPr>
        <p:spPr>
          <a:xfrm rot="10800000">
            <a:off x="6608487" y="3903739"/>
            <a:ext cx="1217400" cy="5100"/>
          </a:xfrm>
          <a:prstGeom prst="straightConnector1">
            <a:avLst/>
          </a:prstGeom>
          <a:noFill/>
          <a:ln cap="flat" cmpd="sng" w="19050">
            <a:solidFill>
              <a:srgbClr val="999999"/>
            </a:solidFill>
            <a:prstDash val="dot"/>
            <a:miter lim="80"/>
            <a:headEnd len="sm" w="sm" type="oval"/>
            <a:tailEnd len="sm" w="sm" type="oval"/>
          </a:ln>
        </p:spPr>
      </p:cxnSp>
      <p:cxnSp>
        <p:nvCxnSpPr>
          <p:cNvPr id="485" name="Google Shape;485;p18"/>
          <p:cNvCxnSpPr/>
          <p:nvPr/>
        </p:nvCxnSpPr>
        <p:spPr>
          <a:xfrm>
            <a:off x="7149754" y="3492278"/>
            <a:ext cx="900" cy="902700"/>
          </a:xfrm>
          <a:prstGeom prst="straightConnector1">
            <a:avLst/>
          </a:prstGeom>
          <a:noFill/>
          <a:ln cap="flat" cmpd="sng" w="19050">
            <a:solidFill>
              <a:srgbClr val="999999"/>
            </a:solidFill>
            <a:prstDash val="dot"/>
            <a:miter lim="80"/>
            <a:headEnd len="sm" w="sm" type="oval"/>
            <a:tailEnd len="sm" w="sm" type="oval"/>
          </a:ln>
        </p:spPr>
      </p:cxnSp>
      <p:sp>
        <p:nvSpPr>
          <p:cNvPr id="486" name="Google Shape;486;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7" name="Google Shape;487;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88" name="Google Shape;488;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89" name="Google Shape;489;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90" name="Google Shape;490;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Racing Queensland  Executive</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Leadership</a:t>
            </a:r>
            <a:endParaRPr b="1" i="0" sz="800" u="none" cap="none" strike="noStrike">
              <a:solidFill>
                <a:srgbClr val="FFFFFF"/>
              </a:solidFill>
              <a:latin typeface="Montserrat"/>
              <a:ea typeface="Montserrat"/>
              <a:cs typeface="Montserrat"/>
              <a:sym typeface="Montserrat"/>
            </a:endParaRPr>
          </a:p>
        </p:txBody>
      </p:sp>
      <p:sp>
        <p:nvSpPr>
          <p:cNvPr id="491" name="Google Shape;491;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92" name="Google Shape;492;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93" name="Google Shape;493;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94" name="Google Shape;494;p18"/>
          <p:cNvCxnSpPr/>
          <p:nvPr/>
        </p:nvCxnSpPr>
        <p:spPr>
          <a:xfrm rot="10800000">
            <a:off x="2632112" y="175270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5" name="Google Shape;495;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6" name="Google Shape;496;p18"/>
          <p:cNvCxnSpPr/>
          <p:nvPr/>
        </p:nvCxnSpPr>
        <p:spPr>
          <a:xfrm>
            <a:off x="5423642" y="177225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7" name="Google Shape;497;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8" name="Google Shape;498;p18"/>
          <p:cNvCxnSpPr/>
          <p:nvPr/>
        </p:nvCxnSpPr>
        <p:spPr>
          <a:xfrm>
            <a:off x="5423650" y="2504893"/>
            <a:ext cx="0" cy="332700"/>
          </a:xfrm>
          <a:prstGeom prst="straightConnector1">
            <a:avLst/>
          </a:prstGeom>
          <a:noFill/>
          <a:ln cap="flat" cmpd="sng" w="25400">
            <a:solidFill>
              <a:srgbClr val="B7B7B7"/>
            </a:solidFill>
            <a:prstDash val="solid"/>
            <a:miter lim="8000"/>
            <a:headEnd len="sm" w="sm" type="none"/>
            <a:tailEnd len="med" w="med" type="triangle"/>
          </a:ln>
        </p:spPr>
      </p:cxnSp>
      <p:cxnSp>
        <p:nvCxnSpPr>
          <p:cNvPr id="499" name="Google Shape;499;p18"/>
          <p:cNvCxnSpPr>
            <a:stCxn id="490" idx="3"/>
            <a:endCxn id="489" idx="1"/>
          </p:cNvCxnSpPr>
          <p:nvPr/>
        </p:nvCxnSpPr>
        <p:spPr>
          <a:xfrm flipH="1" rot="10800000">
            <a:off x="3750325" y="1548954"/>
            <a:ext cx="729000" cy="300"/>
          </a:xfrm>
          <a:prstGeom prst="straightConnector1">
            <a:avLst/>
          </a:prstGeom>
          <a:noFill/>
          <a:ln cap="flat" cmpd="sng" w="9525">
            <a:solidFill>
              <a:srgbClr val="B7B7B7"/>
            </a:solidFill>
            <a:prstDash val="solid"/>
            <a:miter lim="8000"/>
            <a:headEnd len="med" w="med" type="triangle"/>
            <a:tailEnd len="med" w="med" type="triangle"/>
          </a:ln>
        </p:spPr>
      </p:cxnSp>
      <p:cxnSp>
        <p:nvCxnSpPr>
          <p:cNvPr id="500" name="Google Shape;500;p18"/>
          <p:cNvCxnSpPr>
            <a:stCxn id="501" idx="3"/>
            <a:endCxn id="491" idx="1"/>
          </p:cNvCxnSpPr>
          <p:nvPr/>
        </p:nvCxnSpPr>
        <p:spPr>
          <a:xfrm>
            <a:off x="3750325" y="2229258"/>
            <a:ext cx="729000" cy="0"/>
          </a:xfrm>
          <a:prstGeom prst="straightConnector1">
            <a:avLst/>
          </a:prstGeom>
          <a:noFill/>
          <a:ln cap="flat" cmpd="sng" w="9525">
            <a:solidFill>
              <a:srgbClr val="B7B7B7"/>
            </a:solidFill>
            <a:prstDash val="solid"/>
            <a:miter lim="8000"/>
            <a:headEnd len="med" w="med" type="triangle"/>
            <a:tailEnd len="med" w="med" type="triangle"/>
          </a:ln>
        </p:spPr>
      </p:cxnSp>
      <p:sp>
        <p:nvSpPr>
          <p:cNvPr id="501" name="Google Shape;501;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Product Manager, Racing Queensland </a:t>
            </a:r>
            <a:endParaRPr b="1" i="0" sz="800" u="none" cap="none" strike="noStrike">
              <a:solidFill>
                <a:srgbClr val="FFFFFF"/>
              </a:solidFill>
              <a:latin typeface="Montserrat"/>
              <a:ea typeface="Montserrat"/>
              <a:cs typeface="Montserrat"/>
              <a:sym typeface="Montserrat"/>
            </a:endParaRPr>
          </a:p>
        </p:txBody>
      </p:sp>
      <p:sp>
        <p:nvSpPr>
          <p:cNvPr id="502" name="Google Shape;502;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503" name="Google Shape;503;p18"/>
          <p:cNvCxnSpPr/>
          <p:nvPr/>
        </p:nvCxnSpPr>
        <p:spPr>
          <a:xfrm rot="10800000">
            <a:off x="2632100" y="2507218"/>
            <a:ext cx="0" cy="365700"/>
          </a:xfrm>
          <a:prstGeom prst="straightConnector1">
            <a:avLst/>
          </a:prstGeom>
          <a:noFill/>
          <a:ln cap="flat" cmpd="sng" w="25400">
            <a:solidFill>
              <a:srgbClr val="B7B7B7"/>
            </a:solidFill>
            <a:prstDash val="solid"/>
            <a:miter lim="8000"/>
            <a:headEnd len="sm" w="sm" type="none"/>
            <a:tailEnd len="med" w="med" type="triangle"/>
          </a:ln>
        </p:spPr>
      </p:cxnSp>
      <p:cxnSp>
        <p:nvCxnSpPr>
          <p:cNvPr id="504" name="Google Shape;504;p18"/>
          <p:cNvCxnSpPr>
            <a:stCxn id="488" idx="0"/>
            <a:endCxn id="469"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505" name="Google Shape;505;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506" name="Google Shape;506;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507" name="Google Shape;507;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8" name="Google Shape;508;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509" name="Google Shape;509;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0" name="Google Shape;510;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511" name="Google Shape;511;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512" name="Google Shape;512;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513" name="Google Shape;513;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514" name="Google Shape;514;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515" name="Google Shape;515;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516" name="Google Shape;516;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517" name="Google Shape;517;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518" name="Google Shape;518;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519" name="Google Shape;519;p18"/>
          <p:cNvCxnSpPr>
            <a:stCxn id="505"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520" name="Google Shape;520;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521" name="Google Shape;521;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pic>
        <p:nvPicPr>
          <p:cNvPr id="522" name="Google Shape;522;p18"/>
          <p:cNvPicPr preferRelativeResize="0"/>
          <p:nvPr/>
        </p:nvPicPr>
        <p:blipFill rotWithShape="1">
          <a:blip r:embed="rId11">
            <a:alphaModFix/>
          </a:blip>
          <a:srcRect b="0" l="0" r="0" t="0"/>
          <a:stretch/>
        </p:blipFill>
        <p:spPr>
          <a:xfrm>
            <a:off x="2384560" y="678107"/>
            <a:ext cx="542839" cy="224450"/>
          </a:xfrm>
          <a:prstGeom prst="rect">
            <a:avLst/>
          </a:prstGeom>
          <a:noFill/>
          <a:ln>
            <a:noFill/>
          </a:ln>
        </p:spPr>
      </p:pic>
      <p:sp>
        <p:nvSpPr>
          <p:cNvPr id="523" name="Google Shape;523;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529" name="Google Shape;529;p19"/>
          <p:cNvGraphicFramePr/>
          <p:nvPr/>
        </p:nvGraphicFramePr>
        <p:xfrm>
          <a:off x="232325" y="700950"/>
          <a:ext cx="3000000" cy="3000000"/>
        </p:xfrm>
        <a:graphic>
          <a:graphicData uri="http://schemas.openxmlformats.org/drawingml/2006/table">
            <a:tbl>
              <a:tblPr>
                <a:noFill/>
                <a:tableStyleId>{486883CD-E40B-490B-9AF7-50432A68762B}</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Design &amp; Discovery Phase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Agile based Iterative Development and Testing ( end to end features)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UAT and Go Live (2 Weeks)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Hypercare Support ( For 2 Weeks Post Go-Live)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530" name="Google Shape;530;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531" name="Google Shape;531;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3" name="Google Shape;533;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534" name="Google Shape;534;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5" name="Google Shape;535;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536" name="Google Shape;536;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r>
              <a:t>Foundation (4 weeks): architecture, security baseline, CI/CD setup.</a:t>
            </a:r>
          </a:p>
          <a:p>
            <a:pPr/>
            <a:r>
              <a:t>Onboarding MVP (10 weeks): eKYC, account opening, welcome journey.</a:t>
            </a:r>
          </a:p>
          <a:p>
            <a:pPr/>
            <a:r>
              <a:t>Mobile Banking (10 weeks): core banking features, cards, payments.</a:t>
            </a:r>
          </a:p>
          <a:p>
            <a:pPr/>
            <a:r>
              <a:t>Hardening (4 weeks): performance, security testing, APRA evidence pack.</a:t>
            </a:r>
          </a:p>
          <a:p>
            <a:pPr/>
            <a:r>
              <a:t>Phased rollout: 5,000 customers in pilot, then full marketing launch.</a:t>
            </a:r>
          </a:p>
        </p:txBody>
      </p:sp>
      <p:sp>
        <p:nvSpPr>
          <p:cNvPr id="537" name="Google Shape;537;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538" name="Google Shape;538;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539" name="Google Shape;539;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540" name="Google Shape;540;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541" name="Google Shape;541;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542" name="Google Shape;542;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543" name="Google Shape;543;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544" name="Google Shape;544;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545" name="Google Shape;545;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546" name="Google Shape;546;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53" name="Google Shape;553;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54" name="Google Shape;554;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55" name="Google Shape;555;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556" name="Google Shape;556;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57" name="Google Shape;557;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58" name="Google Shape;558;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59" name="Google Shape;559;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2" name="Google Shape;562;p20"/>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563" name="Google Shape;563;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64" name="Google Shape;564;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65" name="Google Shape;565;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67" name="Google Shape;567;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68" name="Google Shape;568;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75" name="Google Shape;575;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Project will be executed in Iterative Agile manner for each phase  with the following iterations-</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Agile-based Development </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UAT and Go-Live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Any delay in project due to reasons beyond TTN will warrant a change request against the impacted man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If there are any changes to assumptions or delays caused due to dependencies from Racing Queensland, impact on effort, timelines and cost would need to be assessed and will go through change request process.</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6" name="Google Shape;576;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77" name="Google Shape;577;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Total price for the entire project as per requirements outlined in the proposal would be: </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Price Before dIscount : AUD </a:t>
            </a:r>
            <a:r>
              <a:rPr b="1" lang="en" sz="1100">
                <a:latin typeface="Montserrat"/>
                <a:ea typeface="Montserrat"/>
                <a:cs typeface="Montserrat"/>
                <a:sym typeface="Montserrat"/>
              </a:rPr>
              <a:t>80</a:t>
            </a:r>
            <a:r>
              <a:rPr b="1" i="0" lang="en" sz="1100" u="none" cap="none" strike="noStrike">
                <a:solidFill>
                  <a:srgbClr val="000000"/>
                </a:solidFill>
                <a:latin typeface="Montserrat"/>
                <a:ea typeface="Montserrat"/>
                <a:cs typeface="Montserrat"/>
                <a:sym typeface="Montserrat"/>
              </a:rPr>
              <a:t>,712.63</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Discount : 5%</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Final Price After discount : AUD </a:t>
            </a:r>
            <a:r>
              <a:rPr b="1" lang="en" sz="1100">
                <a:latin typeface="Montserrat"/>
                <a:ea typeface="Montserrat"/>
                <a:cs typeface="Montserrat"/>
                <a:sym typeface="Montserrat"/>
              </a:rPr>
              <a:t>78</a:t>
            </a:r>
            <a:r>
              <a:rPr b="1" i="0" lang="en" sz="1100" u="none" cap="none" strike="noStrike">
                <a:solidFill>
                  <a:srgbClr val="000000"/>
                </a:solidFill>
                <a:latin typeface="Montserrat"/>
                <a:ea typeface="Montserrat"/>
                <a:cs typeface="Montserrat"/>
                <a:sym typeface="Montserrat"/>
              </a:rPr>
              <a:t>,727.00</a:t>
            </a:r>
            <a:endParaRPr b="1"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mentioned prices are exclusive of applicable taxes.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Milestones has been added in the following slide.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the invoices would be considered accepted by the customer if there is no objection in 5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terms are 30 calendar days from the receipt of the invoice.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8" name="Google Shape;578;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79" name="Google Shape;579;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80" name="Google Shape;580;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81" name="Google Shape;581;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2"/>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Payment Milestones</a:t>
            </a:r>
            <a:endParaRPr b="1" i="0" sz="2000" u="none" cap="none" strike="noStrike">
              <a:solidFill>
                <a:schemeClr val="dk1"/>
              </a:solidFill>
              <a:latin typeface="Montserrat"/>
              <a:ea typeface="Montserrat"/>
              <a:cs typeface="Montserrat"/>
              <a:sym typeface="Montserrat"/>
            </a:endParaRPr>
          </a:p>
        </p:txBody>
      </p:sp>
      <p:graphicFrame>
        <p:nvGraphicFramePr>
          <p:cNvPr id="587" name="Google Shape;587;p22"/>
          <p:cNvGraphicFramePr/>
          <p:nvPr/>
        </p:nvGraphicFramePr>
        <p:xfrm>
          <a:off x="450100" y="877425"/>
          <a:ext cx="3000000" cy="3000000"/>
        </p:xfrm>
        <a:graphic>
          <a:graphicData uri="http://schemas.openxmlformats.org/drawingml/2006/table">
            <a:tbl>
              <a:tblPr>
                <a:noFill/>
                <a:tableStyleId>{A0409FBF-130E-4C89-B222-25A7FCDD58EE}</a:tableStyleId>
              </a:tblPr>
              <a:tblGrid>
                <a:gridCol w="3532775"/>
                <a:gridCol w="2286950"/>
                <a:gridCol w="2286950"/>
              </a:tblGrid>
              <a:tr h="330475">
                <a:tc gridSpan="2">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Payment Milestones</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2"/>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Cost in AUD</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Kickoff</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 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Discovery Phase ( 2 Weeks) Sign off</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6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25%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1</a:t>
                      </a:r>
                      <a:r>
                        <a:rPr lang="en" sz="1100" u="none" cap="none" strike="noStrike">
                          <a:latin typeface="Montserrat"/>
                          <a:ea typeface="Montserrat"/>
                          <a:cs typeface="Montserrat"/>
                          <a:sym typeface="Montserrat"/>
                        </a:rPr>
                        <a:t>,682</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10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30%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,418</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UAT Sign off</a:t>
                      </a:r>
                      <a:endParaRPr b="1" sz="1100" u="none" cap="none" strike="noStrike">
                        <a:solidFill>
                          <a:srgbClr val="000000"/>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1</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,945</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Project Go-live</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5% of total cost</a:t>
                      </a:r>
                      <a:endParaRPr sz="1100" u="none" cap="none" strike="noStrike">
                        <a:solidFill>
                          <a:schemeClr val="dk1"/>
                        </a:solidFill>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3</a:t>
                      </a:r>
                      <a:r>
                        <a:rPr lang="en" sz="1100" u="none" cap="none" strike="noStrike">
                          <a:latin typeface="Montserrat"/>
                          <a:ea typeface="Montserrat"/>
                          <a:cs typeface="Montserrat"/>
                          <a:sym typeface="Montserrat"/>
                        </a:rPr>
                        <a:t>,736</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Hypercare </a:t>
                      </a:r>
                      <a:endParaRPr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TTN Investment</a:t>
                      </a:r>
                      <a:endParaRPr sz="1100" u="none" cap="none" strike="noStrike">
                        <a:solidFill>
                          <a:schemeClr val="lt1"/>
                        </a:solidFill>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0</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gridSpan="2">
                  <a:txBody>
                    <a:bodyPr/>
                    <a:lstStyle/>
                    <a:p>
                      <a:pPr indent="0" lvl="0" marL="0" marR="0" rtl="0" algn="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Total Cost</a:t>
                      </a:r>
                      <a:endParaRPr b="1" sz="1100" u="none" cap="none" strike="noStrike">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AUD </a:t>
                      </a:r>
                      <a:r>
                        <a:rPr b="1" lang="en" sz="1100">
                          <a:latin typeface="Montserrat"/>
                          <a:ea typeface="Montserrat"/>
                          <a:cs typeface="Montserrat"/>
                          <a:sym typeface="Montserrat"/>
                        </a:rPr>
                        <a:t>87</a:t>
                      </a:r>
                      <a:r>
                        <a:rPr b="1" lang="en" sz="1100" u="none" cap="none" strike="noStrike">
                          <a:latin typeface="Montserrat"/>
                          <a:ea typeface="Montserrat"/>
                          <a:cs typeface="Montserrat"/>
                          <a:sym typeface="Montserrat"/>
                        </a:rPr>
                        <a:t>,727</a:t>
                      </a:r>
                      <a:endParaRPr b="1"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r>
            </a:tbl>
          </a:graphicData>
        </a:graphic>
      </p:graphicFrame>
      <p:sp>
        <p:nvSpPr>
          <p:cNvPr id="588" name="Google Shape;588;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95" name="Google Shape;595;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96" name="Google Shape;596;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97" name="Google Shape;597;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98" name="Google Shape;598;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99" name="Google Shape;599;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600" name="Google Shape;600;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601" name="Google Shape;601;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04" name="Google Shape;604;p23"/>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605" name="Google Shape;605;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606" name="Google Shape;606;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607" name="Google Shape;607;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609" name="Google Shape;609;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610" name="Google Shape;610;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5" name="Shape 615"/>
        <p:cNvGrpSpPr/>
        <p:nvPr/>
      </p:nvGrpSpPr>
      <p:grpSpPr>
        <a:xfrm>
          <a:off x="0" y="0"/>
          <a:ext cx="0" cy="0"/>
          <a:chOff x="0" y="0"/>
          <a:chExt cx="0" cy="0"/>
        </a:xfrm>
      </p:grpSpPr>
      <p:sp>
        <p:nvSpPr>
          <p:cNvPr id="616" name="Google Shape;616;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618" name="Google Shape;618;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19" name="Google Shape;619;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20" name="Google Shape;620;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21" name="Google Shape;621;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622" name="Google Shape;622;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23" name="Google Shape;623;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24" name="Google Shape;624;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625" name="Google Shape;625;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26" name="Google Shape;626;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0" name="Shape 630"/>
        <p:cNvGrpSpPr/>
        <p:nvPr/>
      </p:nvGrpSpPr>
      <p:grpSpPr>
        <a:xfrm>
          <a:off x="0" y="0"/>
          <a:ext cx="0" cy="0"/>
          <a:chOff x="0" y="0"/>
          <a:chExt cx="0" cy="0"/>
        </a:xfrm>
      </p:grpSpPr>
      <p:sp>
        <p:nvSpPr>
          <p:cNvPr id="631" name="Google Shape;631;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633" name="Google Shape;633;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634" name="Google Shape;634;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35" name="Google Shape;635;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636" name="Google Shape;636;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637" name="Google Shape;637;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38" name="Google Shape;638;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39" name="Google Shape;639;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640" name="Google Shape;640;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641" name="Google Shape;641;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642" name="Google Shape;642;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6" name="Shape 646"/>
        <p:cNvGrpSpPr/>
        <p:nvPr/>
      </p:nvGrpSpPr>
      <p:grpSpPr>
        <a:xfrm>
          <a:off x="0" y="0"/>
          <a:ext cx="0" cy="0"/>
          <a:chOff x="0" y="0"/>
          <a:chExt cx="0" cy="0"/>
        </a:xfrm>
      </p:grpSpPr>
      <p:sp>
        <p:nvSpPr>
          <p:cNvPr id="647" name="Google Shape;647;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649" name="Google Shape;649;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650" name="Google Shape;650;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51" name="Google Shape;651;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52" name="Google Shape;652;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653" name="Google Shape;653;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54" name="Google Shape;654;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655" name="Google Shape;655;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656" name="Google Shape;656;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57" name="Google Shape;657;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658" name="Google Shape;658;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659" name="Google Shape;659;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660" name="Google Shape;660;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661" name="Google Shape;661;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67" name="Google Shape;667;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68" name="Google Shape;668;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669" name="Google Shape;669;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70" name="Google Shape;670;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r>
              <a:t>TTN is pleased to present our proposal for FinServe Bank's digital customer onboarding and mobile banking platform modernisation. We will deliver a cloud-native solution supporting KYC/AML verification, account opening in under 5 minutes, and personalised banking experiences across iOS and Android.</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pic>
        <p:nvPicPr>
          <p:cNvPr id="675" name="Google Shape;675;p28"/>
          <p:cNvPicPr preferRelativeResize="0"/>
          <p:nvPr/>
        </p:nvPicPr>
        <p:blipFill rotWithShape="1">
          <a:blip r:embed="rId3">
            <a:alphaModFix/>
          </a:blip>
          <a:srcRect b="0" l="0" r="0" t="0"/>
          <a:stretch/>
        </p:blipFill>
        <p:spPr>
          <a:xfrm>
            <a:off x="249975" y="246249"/>
            <a:ext cx="1145175" cy="585599"/>
          </a:xfrm>
          <a:prstGeom prst="rect">
            <a:avLst/>
          </a:prstGeom>
          <a:noFill/>
          <a:ln>
            <a:noFill/>
          </a:ln>
        </p:spPr>
      </p:pic>
      <p:pic>
        <p:nvPicPr>
          <p:cNvPr id="676" name="Google Shape;676;p28"/>
          <p:cNvPicPr preferRelativeResize="0"/>
          <p:nvPr/>
        </p:nvPicPr>
        <p:blipFill rotWithShape="1">
          <a:blip r:embed="rId4">
            <a:alphaModFix/>
          </a:blip>
          <a:srcRect b="3131" l="0" r="0" t="3122"/>
          <a:stretch/>
        </p:blipFill>
        <p:spPr>
          <a:xfrm>
            <a:off x="210229" y="2037900"/>
            <a:ext cx="5420723" cy="873450"/>
          </a:xfrm>
          <a:prstGeom prst="rect">
            <a:avLst/>
          </a:prstGeom>
          <a:noFill/>
          <a:ln>
            <a:noFill/>
          </a:ln>
        </p:spPr>
      </p:pic>
      <p:cxnSp>
        <p:nvCxnSpPr>
          <p:cNvPr id="677" name="Google Shape;677;p28"/>
          <p:cNvCxnSpPr/>
          <p:nvPr/>
        </p:nvCxnSpPr>
        <p:spPr>
          <a:xfrm>
            <a:off x="7475" y="3099589"/>
            <a:ext cx="3926700" cy="0"/>
          </a:xfrm>
          <a:prstGeom prst="straightConnector1">
            <a:avLst/>
          </a:prstGeom>
          <a:noFill/>
          <a:ln cap="flat" cmpd="sng" w="19050">
            <a:solidFill>
              <a:srgbClr val="D71B7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