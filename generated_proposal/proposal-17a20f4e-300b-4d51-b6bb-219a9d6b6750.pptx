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Montserrat SemiBold"/>
      <p:regular r:id="rId35"/>
      <p:bold r:id="rId36"/>
      <p:italic r:id="rId37"/>
      <p:boldItalic r:id="rId38"/>
    </p:embeddedFont>
    <p:embeddedFont>
      <p:font typeface="Montserrat"/>
      <p:regular r:id="rId39"/>
      <p:bold r:id="rId40"/>
      <p:italic r:id="rId41"/>
      <p:boldItalic r:id="rId42"/>
    </p:embeddedFont>
    <p:embeddedFont>
      <p:font typeface="Montserrat Medium"/>
      <p:regular r:id="rId43"/>
      <p:bold r:id="rId44"/>
      <p:italic r:id="rId45"/>
      <p:boldItalic r:id="rId46"/>
    </p:embeddedFont>
    <p:embeddedFont>
      <p:font typeface="Tahoma"/>
      <p:regular r:id="rId47"/>
      <p:bold r:id="rId48"/>
    </p:embeddedFont>
    <p:embeddedFont>
      <p:font typeface="Montserrat Light"/>
      <p:regular r:id="rId49"/>
      <p:bold r:id="rId50"/>
      <p:italic r:id="rId51"/>
      <p:boldItalic r:id="rId52"/>
    </p:embeddedFont>
    <p:embeddedFont>
      <p:font typeface="Century Gothic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7" roundtripDataSignature="AMtx7mhnr0KCF43rrLErl1F5WiYmuSdp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4F6760-089B-47EB-8253-D5C54B6EC847}">
  <a:tblStyle styleId="{D94F6760-089B-47EB-8253-D5C54B6EC84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605CC296-D303-4CE0-970A-263B8180C0D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D71B7F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D71B7F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D71B7F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D71B7F"/>
          </a:solidFill>
        </a:fill>
      </a:tcStyle>
    </a:firstRow>
    <a:neCell>
      <a:tcTxStyle b="off" i="off"/>
    </a:neCell>
    <a:nwCell>
      <a:tcTxStyle b="off" i="off"/>
    </a:nwCell>
  </a:tblStyle>
  <a:tblStyle styleId="{2ED30D0B-F584-43FB-8283-64062CD711C6}" styleName="Table_2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font" Target="fonts/MontserratSemiBold-regular.fntdata"/><Relationship Id="rId36" Type="http://schemas.openxmlformats.org/officeDocument/2006/relationships/font" Target="fonts/MontserratSemiBold-bold.fntdata"/><Relationship Id="rId37" Type="http://schemas.openxmlformats.org/officeDocument/2006/relationships/font" Target="fonts/MontserratSemiBold-italic.fntdata"/><Relationship Id="rId38" Type="http://schemas.openxmlformats.org/officeDocument/2006/relationships/font" Target="fonts/MontserratSemiBold-boldItalic.fntdata"/><Relationship Id="rId39" Type="http://schemas.openxmlformats.org/officeDocument/2006/relationships/font" Target="fonts/Montserrat-regular.fntdata"/><Relationship Id="rId40" Type="http://schemas.openxmlformats.org/officeDocument/2006/relationships/font" Target="fonts/Montserrat-bold.fntdata"/><Relationship Id="rId41" Type="http://schemas.openxmlformats.org/officeDocument/2006/relationships/font" Target="fonts/Montserrat-italic.fntdata"/><Relationship Id="rId42" Type="http://schemas.openxmlformats.org/officeDocument/2006/relationships/font" Target="fonts/Montserrat-boldItalic.fntdata"/><Relationship Id="rId43" Type="http://schemas.openxmlformats.org/officeDocument/2006/relationships/font" Target="fonts/MontserratMedium-regular.fntdata"/><Relationship Id="rId44" Type="http://schemas.openxmlformats.org/officeDocument/2006/relationships/font" Target="fonts/MontserratMedium-bold.fntdata"/><Relationship Id="rId45" Type="http://schemas.openxmlformats.org/officeDocument/2006/relationships/font" Target="fonts/MontserratMedium-italic.fntdata"/><Relationship Id="rId46" Type="http://schemas.openxmlformats.org/officeDocument/2006/relationships/font" Target="fonts/MontserratMedium-boldItalic.fntdata"/><Relationship Id="rId47" Type="http://schemas.openxmlformats.org/officeDocument/2006/relationships/font" Target="fonts/Tahoma-regular.fntdata"/><Relationship Id="rId48" Type="http://schemas.openxmlformats.org/officeDocument/2006/relationships/font" Target="fonts/Tahoma-bold.fntdata"/><Relationship Id="rId49" Type="http://schemas.openxmlformats.org/officeDocument/2006/relationships/font" Target="fonts/MontserratLight-regular.fntdata"/><Relationship Id="rId50" Type="http://schemas.openxmlformats.org/officeDocument/2006/relationships/font" Target="fonts/MontserratLight-bold.fntdata"/><Relationship Id="rId51" Type="http://schemas.openxmlformats.org/officeDocument/2006/relationships/font" Target="fonts/MontserratLight-italic.fntdata"/><Relationship Id="rId52" Type="http://schemas.openxmlformats.org/officeDocument/2006/relationships/font" Target="fonts/MontserratLight-boldItalic.fntdata"/><Relationship Id="rId53" Type="http://schemas.openxmlformats.org/officeDocument/2006/relationships/font" Target="fonts/CenturyGothic-regular.fntdata"/><Relationship Id="rId54" Type="http://schemas.openxmlformats.org/officeDocument/2006/relationships/font" Target="fonts/CenturyGothic-bold.fntdata"/><Relationship Id="rId55" Type="http://schemas.openxmlformats.org/officeDocument/2006/relationships/font" Target="fonts/CenturyGothic-italic.fntdata"/><Relationship Id="rId56" Type="http://schemas.openxmlformats.org/officeDocument/2006/relationships/font" Target="fonts/CenturyGothic-boldItalic.fntdata"/><Relationship Id="rId5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ChatBot Development - Sales &amp; After Sales ( Text to sequel problem)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4.png"/><Relationship Id="rId9" Type="http://schemas.openxmlformats.org/officeDocument/2006/relationships/image" Target="../media/image16.png"/><Relationship Id="rId10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65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5071684"/>
            <a:ext cx="9151473" cy="80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Logo without Title 1">
  <p:cSld name="TITLE_AND_TWO_COLUMNS_2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1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1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" name="Google Shape;15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TN Logo.png" id="16" name="Google Shape;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31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65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" name="Google Shape;2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5071684"/>
            <a:ext cx="9151473" cy="80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Slide">
  <p:cSld name="CUSTOM_6_1_1_1_1_1_1_1_2_1_2_1_1_1">
    <p:bg>
      <p:bgPr>
        <a:noFill/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44"/>
          <p:cNvPicPr preferRelativeResize="0"/>
          <p:nvPr/>
        </p:nvPicPr>
        <p:blipFill rotWithShape="1">
          <a:blip r:embed="rId2">
            <a:alphaModFix/>
          </a:blip>
          <a:srcRect b="0" l="-10120" r="10120" t="0"/>
          <a:stretch/>
        </p:blipFill>
        <p:spPr>
          <a:xfrm>
            <a:off x="0" y="-7476"/>
            <a:ext cx="914395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TN Logo.png" id="24" name="Google Shape;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5649" y="178006"/>
            <a:ext cx="648924" cy="36249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4"/>
          <p:cNvSpPr/>
          <p:nvPr/>
        </p:nvSpPr>
        <p:spPr>
          <a:xfrm>
            <a:off x="3929500" y="2179825"/>
            <a:ext cx="559800" cy="55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Logo without Title">
  <p:cSld name="TITLE_AND_TWO_COLUMNS_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3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TTN Logo.png" id="33" name="Google Shape;33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" name="Google Shape;34;p33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Logo without Title 1">
  <p:cSld name="TITLE_AND_TWO_COLUMNS_2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-12" y="0"/>
            <a:ext cx="3890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4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4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TTN Logo.png" id="40" name="Google Shape;4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34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5">
  <p:cSld name="TITLE_5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">
  <p:cSld name="CUSTOM_6_1_1_1_1_1_1_1_2_1_2_1">
    <p:bg>
      <p:bgPr>
        <a:noFill/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37"/>
          <p:cNvPicPr preferRelativeResize="0"/>
          <p:nvPr/>
        </p:nvPicPr>
        <p:blipFill rotWithShape="1">
          <a:blip r:embed="rId2">
            <a:alphaModFix/>
          </a:blip>
          <a:srcRect b="2519" l="41915" r="12791" t="6877"/>
          <a:stretch/>
        </p:blipFill>
        <p:spPr>
          <a:xfrm>
            <a:off x="5286150" y="0"/>
            <a:ext cx="385784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7"/>
          <p:cNvSpPr/>
          <p:nvPr/>
        </p:nvSpPr>
        <p:spPr>
          <a:xfrm>
            <a:off x="0" y="-25"/>
            <a:ext cx="6464700" cy="5143500"/>
          </a:xfrm>
          <a:prstGeom prst="snip1Rect">
            <a:avLst>
              <a:gd fmla="val 18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9;p37"/>
          <p:cNvCxnSpPr/>
          <p:nvPr/>
        </p:nvCxnSpPr>
        <p:spPr>
          <a:xfrm>
            <a:off x="6406775" y="3956400"/>
            <a:ext cx="0" cy="1187100"/>
          </a:xfrm>
          <a:prstGeom prst="straightConnector1">
            <a:avLst/>
          </a:prstGeom>
          <a:noFill/>
          <a:ln cap="flat" cmpd="sng" w="1143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0" name="Google Shape;50;p37"/>
          <p:cNvPicPr preferRelativeResize="0"/>
          <p:nvPr/>
        </p:nvPicPr>
        <p:blipFill rotWithShape="1">
          <a:blip r:embed="rId3">
            <a:alphaModFix/>
          </a:blip>
          <a:srcRect b="56881" l="299" r="0" t="4"/>
          <a:stretch/>
        </p:blipFill>
        <p:spPr>
          <a:xfrm>
            <a:off x="-7475" y="5125600"/>
            <a:ext cx="9151474" cy="1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37"/>
          <p:cNvPicPr preferRelativeResize="0"/>
          <p:nvPr/>
        </p:nvPicPr>
        <p:blipFill rotWithShape="1">
          <a:blip r:embed="rId4">
            <a:alphaModFix/>
          </a:blip>
          <a:srcRect b="3747" l="0" r="0" t="3738"/>
          <a:stretch/>
        </p:blipFill>
        <p:spPr>
          <a:xfrm>
            <a:off x="5628871" y="4764214"/>
            <a:ext cx="527963" cy="20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2492" y="4767423"/>
            <a:ext cx="1005406" cy="20069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7"/>
          <p:cNvSpPr txBox="1"/>
          <p:nvPr/>
        </p:nvSpPr>
        <p:spPr>
          <a:xfrm>
            <a:off x="160663" y="4752390"/>
            <a:ext cx="143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Proudly recognised by</a:t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" name="Google Shape;54;p37"/>
          <p:cNvCxnSpPr/>
          <p:nvPr/>
        </p:nvCxnSpPr>
        <p:spPr>
          <a:xfrm>
            <a:off x="1434913" y="4877373"/>
            <a:ext cx="329100" cy="0"/>
          </a:xfrm>
          <a:prstGeom prst="straightConnector1">
            <a:avLst/>
          </a:prstGeom>
          <a:noFill/>
          <a:ln cap="flat" cmpd="sng" w="9525">
            <a:solidFill>
              <a:srgbClr val="D4188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55" name="Google Shape;55;p37"/>
          <p:cNvCxnSpPr/>
          <p:nvPr/>
        </p:nvCxnSpPr>
        <p:spPr>
          <a:xfrm>
            <a:off x="2619072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56" name="Google Shape;56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82794" y="4773820"/>
            <a:ext cx="772999" cy="2071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37"/>
          <p:cNvCxnSpPr/>
          <p:nvPr/>
        </p:nvCxnSpPr>
        <p:spPr>
          <a:xfrm>
            <a:off x="3524628" y="4805984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8" name="Google Shape;58;p37"/>
          <p:cNvCxnSpPr/>
          <p:nvPr/>
        </p:nvCxnSpPr>
        <p:spPr>
          <a:xfrm>
            <a:off x="4413966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9" name="Google Shape;59;p37"/>
          <p:cNvCxnSpPr/>
          <p:nvPr/>
        </p:nvCxnSpPr>
        <p:spPr>
          <a:xfrm>
            <a:off x="5542956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60" name="Google Shape;60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35298" y="4767421"/>
            <a:ext cx="711135" cy="200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09573" y="4788445"/>
            <a:ext cx="730426" cy="158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38250" y="271780"/>
            <a:ext cx="1380825" cy="706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0536" y="188515"/>
            <a:ext cx="941500" cy="141049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7"/>
          <p:cNvSpPr txBox="1"/>
          <p:nvPr>
            <p:ph type="title"/>
          </p:nvPr>
        </p:nvSpPr>
        <p:spPr>
          <a:xfrm>
            <a:off x="283675" y="2500825"/>
            <a:ext cx="5466600" cy="11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Slide">
  <p:cSld name="CUSTOM_6_1_1_1_1_1_1_1_2_1_2_1_1_1">
    <p:bg>
      <p:bgPr>
        <a:noFill/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38"/>
          <p:cNvPicPr preferRelativeResize="0"/>
          <p:nvPr/>
        </p:nvPicPr>
        <p:blipFill rotWithShape="1">
          <a:blip r:embed="rId2">
            <a:alphaModFix/>
          </a:blip>
          <a:srcRect b="0" l="-10120" r="10120" t="0"/>
          <a:stretch/>
        </p:blipFill>
        <p:spPr>
          <a:xfrm>
            <a:off x="0" y="-7476"/>
            <a:ext cx="914395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TN Logo.png" id="67" name="Google Shape;6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5649" y="178006"/>
            <a:ext cx="648924" cy="36249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8"/>
          <p:cNvSpPr/>
          <p:nvPr/>
        </p:nvSpPr>
        <p:spPr>
          <a:xfrm>
            <a:off x="3929500" y="2179825"/>
            <a:ext cx="559800" cy="55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Black logo 1 1 1 1 1 1 1 2 1 2 1">
  <p:cSld name="CUSTOM_6_1_1_1_1_1_1_1_2_1_2_1_1">
    <p:bg>
      <p:bgPr>
        <a:noFill/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9"/>
          <p:cNvPicPr preferRelativeResize="0"/>
          <p:nvPr/>
        </p:nvPicPr>
        <p:blipFill rotWithShape="1">
          <a:blip r:embed="rId2">
            <a:alphaModFix/>
          </a:blip>
          <a:srcRect b="2519" l="41915" r="12791" t="6877"/>
          <a:stretch/>
        </p:blipFill>
        <p:spPr>
          <a:xfrm>
            <a:off x="5286150" y="0"/>
            <a:ext cx="385784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39"/>
          <p:cNvSpPr/>
          <p:nvPr/>
        </p:nvSpPr>
        <p:spPr>
          <a:xfrm>
            <a:off x="0" y="-25"/>
            <a:ext cx="6464700" cy="5143500"/>
          </a:xfrm>
          <a:prstGeom prst="snip1Rect">
            <a:avLst>
              <a:gd fmla="val 18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39"/>
          <p:cNvCxnSpPr/>
          <p:nvPr/>
        </p:nvCxnSpPr>
        <p:spPr>
          <a:xfrm>
            <a:off x="6406775" y="3956400"/>
            <a:ext cx="0" cy="1187100"/>
          </a:xfrm>
          <a:prstGeom prst="straightConnector1">
            <a:avLst/>
          </a:prstGeom>
          <a:noFill/>
          <a:ln cap="flat" cmpd="sng" w="1143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4" name="Google Shape;74;p39"/>
          <p:cNvPicPr preferRelativeResize="0"/>
          <p:nvPr/>
        </p:nvPicPr>
        <p:blipFill rotWithShape="1">
          <a:blip r:embed="rId3">
            <a:alphaModFix/>
          </a:blip>
          <a:srcRect b="56881" l="299" r="0" t="4"/>
          <a:stretch/>
        </p:blipFill>
        <p:spPr>
          <a:xfrm>
            <a:off x="-7475" y="5125600"/>
            <a:ext cx="9151474" cy="1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Slide - with Title &amp; Logo  4">
  <p:cSld name="TITLE_AND_TWO_COLUMNS_1_2_7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0"/>
          <p:cNvSpPr txBox="1"/>
          <p:nvPr>
            <p:ph type="ctrTitle"/>
          </p:nvPr>
        </p:nvSpPr>
        <p:spPr>
          <a:xfrm>
            <a:off x="264425" y="171950"/>
            <a:ext cx="6858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pic>
        <p:nvPicPr>
          <p:cNvPr descr="TTN Logo.png" id="77" name="Google Shape;77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40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Slide - with Title &amp; Logo  2">
  <p:cSld name="TITLE_AND_TWO_COLUMNS_1_2_9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1"/>
          <p:cNvSpPr txBox="1"/>
          <p:nvPr>
            <p:ph type="ctrTitle"/>
          </p:nvPr>
        </p:nvSpPr>
        <p:spPr>
          <a:xfrm>
            <a:off x="264425" y="171950"/>
            <a:ext cx="6858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pic>
        <p:nvPicPr>
          <p:cNvPr descr="TTN Logo.png" id="81" name="Google Shape;8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" name="Google Shape;82;p41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Slide - with Title &amp; Logo  3">
  <p:cSld name="TITLE_AND_TWO_COLUMNS_1_2_10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2"/>
          <p:cNvSpPr txBox="1"/>
          <p:nvPr>
            <p:ph type="ctrTitle"/>
          </p:nvPr>
        </p:nvSpPr>
        <p:spPr>
          <a:xfrm>
            <a:off x="264425" y="171950"/>
            <a:ext cx="6858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pic>
        <p:nvPicPr>
          <p:cNvPr descr="TTN Logo.png" id="85" name="Google Shape;85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95649" y="178006"/>
            <a:ext cx="648924" cy="362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Logo without Title 1 1 1">
  <p:cSld name="TITLE_AND_TWO_COLUMNS_2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-12" y="0"/>
            <a:ext cx="3890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3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3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0" name="Google Shape;90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TN Logo.png" id="91" name="Google Shape;9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43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0" y="5071684"/>
            <a:ext cx="9151473" cy="804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2"/>
          <p:cNvPicPr preferRelativeResize="0"/>
          <p:nvPr/>
        </p:nvPicPr>
        <p:blipFill rotWithShape="1">
          <a:blip r:embed="rId1">
            <a:alphaModFix/>
          </a:blip>
          <a:srcRect b="56881" l="299" r="0" t="4"/>
          <a:stretch/>
        </p:blipFill>
        <p:spPr>
          <a:xfrm>
            <a:off x="-7475" y="5125600"/>
            <a:ext cx="9151474" cy="1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" y="5071684"/>
            <a:ext cx="9151473" cy="8044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4.png"/><Relationship Id="rId8" Type="http://schemas.openxmlformats.org/officeDocument/2006/relationships/image" Target="../media/image16.png"/><Relationship Id="rId9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31.png"/><Relationship Id="rId10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6.png"/><Relationship Id="rId7" Type="http://schemas.openxmlformats.org/officeDocument/2006/relationships/image" Target="../media/image38.png"/><Relationship Id="rId8" Type="http://schemas.openxmlformats.org/officeDocument/2006/relationships/image" Target="../media/image35.png"/><Relationship Id="rId9" Type="http://schemas.openxmlformats.org/officeDocument/2006/relationships/image" Target="../media/image30.png"/><Relationship Id="rId10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38.png"/><Relationship Id="rId8" Type="http://schemas.openxmlformats.org/officeDocument/2006/relationships/image" Target="../media/image35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8.png"/><Relationship Id="rId7" Type="http://schemas.openxmlformats.org/officeDocument/2006/relationships/image" Target="../media/image35.png"/><Relationship Id="rId8" Type="http://schemas.openxmlformats.org/officeDocument/2006/relationships/image" Target="../media/image47.png"/><Relationship Id="rId9" Type="http://schemas.openxmlformats.org/officeDocument/2006/relationships/image" Target="../media/image44.png"/><Relationship Id="rId10" Type="http://schemas.openxmlformats.org/officeDocument/2006/relationships/image" Target="../media/image2.png"/><Relationship Id="rId11" Type="http://schemas.openxmlformats.org/officeDocument/2006/relationships/image" Target="../media/image43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 b="3747" l="0" r="0" t="3738"/>
          <a:stretch/>
        </p:blipFill>
        <p:spPr>
          <a:xfrm>
            <a:off x="5628871" y="4764214"/>
            <a:ext cx="527963" cy="20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2492" y="4767423"/>
            <a:ext cx="1005406" cy="20069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60663" y="4752390"/>
            <a:ext cx="143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Proudly recognised by</a:t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0" name="Google Shape;100;p1"/>
          <p:cNvCxnSpPr/>
          <p:nvPr/>
        </p:nvCxnSpPr>
        <p:spPr>
          <a:xfrm>
            <a:off x="1434913" y="4877373"/>
            <a:ext cx="329100" cy="0"/>
          </a:xfrm>
          <a:prstGeom prst="straightConnector1">
            <a:avLst/>
          </a:prstGeom>
          <a:noFill/>
          <a:ln cap="flat" cmpd="sng" w="9525">
            <a:solidFill>
              <a:srgbClr val="D4188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01" name="Google Shape;101;p1"/>
          <p:cNvCxnSpPr/>
          <p:nvPr/>
        </p:nvCxnSpPr>
        <p:spPr>
          <a:xfrm>
            <a:off x="2619072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82794" y="4773820"/>
            <a:ext cx="772999" cy="2071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1"/>
          <p:cNvCxnSpPr/>
          <p:nvPr/>
        </p:nvCxnSpPr>
        <p:spPr>
          <a:xfrm>
            <a:off x="3524628" y="4805984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4" name="Google Shape;104;p1"/>
          <p:cNvCxnSpPr/>
          <p:nvPr/>
        </p:nvCxnSpPr>
        <p:spPr>
          <a:xfrm>
            <a:off x="4413966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"/>
          <p:cNvCxnSpPr/>
          <p:nvPr/>
        </p:nvCxnSpPr>
        <p:spPr>
          <a:xfrm>
            <a:off x="5542956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106" name="Google Shape;106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5298" y="4767421"/>
            <a:ext cx="711135" cy="200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09573" y="4788445"/>
            <a:ext cx="730426" cy="158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9975" y="246249"/>
            <a:ext cx="1145175" cy="58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 txBox="1"/>
          <p:nvPr/>
        </p:nvSpPr>
        <p:spPr>
          <a:xfrm>
            <a:off x="452550" y="2096825"/>
            <a:ext cx="6849000" cy="21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TTN Proposal | Apex Retail Solutions</a:t>
            </a:r>
          </a:p>
          <a:p>
            <a:r>
              <a:t>Date : 16 Sep 2026</a:t>
            </a:r>
          </a:p>
          <a:p>
            <a:r>
              <a:t>Ref : 17a20f4e-300b-4d51-b6bb-219a9d6b6750</a:t>
            </a:r>
          </a:p>
        </p:txBody>
      </p:sp>
      <p:cxnSp>
        <p:nvCxnSpPr>
          <p:cNvPr id="110" name="Google Shape;110;p1"/>
          <p:cNvCxnSpPr/>
          <p:nvPr/>
        </p:nvCxnSpPr>
        <p:spPr>
          <a:xfrm>
            <a:off x="300149" y="2165563"/>
            <a:ext cx="0" cy="1057800"/>
          </a:xfrm>
          <a:prstGeom prst="straightConnector1">
            <a:avLst/>
          </a:prstGeom>
          <a:noFill/>
          <a:ln cap="flat" cmpd="sng" w="76200">
            <a:solidFill>
              <a:srgbClr val="5424A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1" name="Google Shape;111;p1"/>
          <p:cNvPicPr preferRelativeResize="0"/>
          <p:nvPr/>
        </p:nvPicPr>
        <p:blipFill rotWithShape="1">
          <a:blip r:embed="rId9">
            <a:alphaModFix/>
          </a:blip>
          <a:srcRect b="-10" l="-6921" r="-6910" t="10"/>
          <a:stretch/>
        </p:blipFill>
        <p:spPr>
          <a:xfrm>
            <a:off x="6287808" y="4668680"/>
            <a:ext cx="265774" cy="398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"/>
          <p:cNvCxnSpPr/>
          <p:nvPr/>
        </p:nvCxnSpPr>
        <p:spPr>
          <a:xfrm>
            <a:off x="6204494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2" name="Google Shape;122;p2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2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2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2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9" name="Google Shape;129;p2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2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2" name="Google Shape;132;p2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2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>
            <p:ph type="title"/>
          </p:nvPr>
        </p:nvSpPr>
        <p:spPr>
          <a:xfrm>
            <a:off x="104500" y="141850"/>
            <a:ext cx="5994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Executive Summary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223850" y="746325"/>
            <a:ext cx="8690100" cy="40992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121875" lIns="121875" spcFirstLastPara="1" rIns="0" wrap="square" tIns="27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2" name="Google Shape;142;p3"/>
          <p:cNvCxnSpPr/>
          <p:nvPr/>
        </p:nvCxnSpPr>
        <p:spPr>
          <a:xfrm flipH="1">
            <a:off x="242444" y="754971"/>
            <a:ext cx="3900" cy="41028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 txBox="1"/>
          <p:nvPr>
            <p:ph type="title"/>
          </p:nvPr>
        </p:nvSpPr>
        <p:spPr>
          <a:xfrm>
            <a:off x="104500" y="141850"/>
            <a:ext cx="5994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Why TTN?</a:t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474900" y="910600"/>
            <a:ext cx="3914100" cy="16665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Proven UX &amp; Mobile Expertise</a:t>
            </a: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specialize in building intuitive, high-performance mobile applications with seamless user journeys - critical for customer engagement and retention.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755004" y="910600"/>
            <a:ext cx="3914100" cy="16665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Domain-Focused Delivery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extensive experience in iGaming with real-time data integration, media streaming, and interactive user features aligns perfectly with your racing platform requirements.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74900" y="2900036"/>
            <a:ext cx="3914100" cy="16665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End-to-End Ownership</a:t>
            </a: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From design and development to deployment and support, we provide full-cycle mobile app services- ensuring speed, quality, and continuity.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755004" y="2900036"/>
            <a:ext cx="3914100" cy="16665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Scalable Architecture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solutions are designed to grow with your user base, ensuring performance and reliability under peak traffic conditions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>
            <a:off x="223850" y="640050"/>
            <a:ext cx="8690100" cy="40956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121875" spcFirstLastPara="1" rIns="121875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" name="Google Shape;160;p5"/>
          <p:cNvCxnSpPr/>
          <p:nvPr/>
        </p:nvCxnSpPr>
        <p:spPr>
          <a:xfrm>
            <a:off x="246344" y="650407"/>
            <a:ext cx="0" cy="40956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5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Our Understanding of Requirements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258325" y="782225"/>
            <a:ext cx="8127900" cy="3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Enable User Access Features such as Registration, Login, and Forgot Password.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Allow User to Race Calendar to support real-time race schedules and results display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Provide View Screens for Track, Jockey/Trainer, Runner Profiles.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Allow users to Search, Filter and View Past and Upcoming race details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List Premiership details.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Allow users  to add favorite runners or Jockey/Trainers to their Blackbook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Provide View Screens to support real-time race results.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Integrate live video streaming of races and TAB race replays functionality.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Provide push notifications for race alerts and updates.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Offer betting partner redirection with deep linking.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Admin portal for managing content and updates.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Search and View News Items.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Provide sections for Steward and Sectional Report Data Export via Mobile App (csv, pdf, print).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Provide Business Awareness pages such as  Ownership, Career &amp; Training, Infrastructure, Open API details etc.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 sz="800"/>
              <a:t>‹#›</a:t>
            </a:fld>
            <a:endParaRPr sz="800"/>
          </a:p>
        </p:txBody>
      </p:sp>
      <p:sp>
        <p:nvSpPr>
          <p:cNvPr id="164" name="Google Shape;164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Key Application Modules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204902" y="706239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b="0" i="0" sz="1100" u="none" cap="none" strike="noStrike">
              <a:solidFill>
                <a:srgbClr val="6F3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99125" y="706239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rgbClr val="6F3A9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User Access &amp; Account Management</a:t>
            </a:r>
            <a:r>
              <a:rPr b="0" i="0" lang="en" sz="1100" u="none" cap="none" strike="noStrike">
                <a:solidFill>
                  <a:srgbClr val="6F3A9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b="0" i="0" sz="1400" u="none" cap="none" strike="noStrike">
              <a:solidFill>
                <a:srgbClr val="6F3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41883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User Registration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1883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User Login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1883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Forgot Password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1883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Show Account Details 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1883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Add Jockeys and Trainers  to Blackbook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1883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Show Blackbook Activities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F3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72" name="Google Shape;172;p6"/>
          <p:cNvCxnSpPr/>
          <p:nvPr/>
        </p:nvCxnSpPr>
        <p:spPr>
          <a:xfrm>
            <a:off x="299130" y="706238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6"/>
          <p:cNvCxnSpPr/>
          <p:nvPr/>
        </p:nvCxnSpPr>
        <p:spPr>
          <a:xfrm>
            <a:off x="3204907" y="706238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6"/>
          <p:cNvSpPr/>
          <p:nvPr/>
        </p:nvSpPr>
        <p:spPr>
          <a:xfrm>
            <a:off x="6110675" y="704926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rgbClr val="6F3A9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Race</a:t>
            </a:r>
            <a:r>
              <a:rPr b="0" i="0" lang="en" sz="1000" u="none" cap="none" strike="noStrike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Calendar &amp; Planner</a:t>
            </a:r>
            <a:endParaRPr b="0" i="0" sz="10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View Race Details  for Upcoming and Past Races using the Race Calendar 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Search, Filter and Export Race Details using Race Planner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F3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75" name="Google Shape;175;p6"/>
          <p:cNvCxnSpPr/>
          <p:nvPr/>
        </p:nvCxnSpPr>
        <p:spPr>
          <a:xfrm>
            <a:off x="6110681" y="704925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6"/>
          <p:cNvSpPr/>
          <p:nvPr/>
        </p:nvSpPr>
        <p:spPr>
          <a:xfrm>
            <a:off x="299125" y="2942679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Races, Results &amp; </a:t>
            </a:r>
            <a:r>
              <a:rPr b="0" i="0" lang="en" sz="1000" u="none" cap="none" strike="noStrike">
                <a:solidFill>
                  <a:srgbClr val="6F3A9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Replays</a:t>
            </a:r>
            <a:r>
              <a:rPr b="0" i="0" lang="en" sz="1000" u="none" cap="none" strike="noStrike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b="0" i="0" sz="10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Stream Races and Replay Feeds in-app  from Betting Partners.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Redirect to Queensland Non-TAB Racing  YouTube channel to Stream Replay Feeds from other sources..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Show Real-Time Race Results.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View and Download Steward and Sectional Reports.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F3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77" name="Google Shape;177;p6"/>
          <p:cNvCxnSpPr/>
          <p:nvPr/>
        </p:nvCxnSpPr>
        <p:spPr>
          <a:xfrm>
            <a:off x="299130" y="2942678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6"/>
          <p:cNvSpPr/>
          <p:nvPr/>
        </p:nvSpPr>
        <p:spPr>
          <a:xfrm>
            <a:off x="3204902" y="2942679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rgbClr val="6F3A9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Premiership Details &amp; Reports</a:t>
            </a: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List Premiership Rankings and Statistics such as wins, placings, prize money earned and total starts for each participant.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Filter Premiership Details based on for different categories, like Metro, Provincial, and Country Premierships for Trainers, Jockeys, and Apprentices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Search &amp; Download Premiership Reports.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F3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79" name="Google Shape;179;p6"/>
          <p:cNvCxnSpPr/>
          <p:nvPr/>
        </p:nvCxnSpPr>
        <p:spPr>
          <a:xfrm>
            <a:off x="3204907" y="2942678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6"/>
          <p:cNvSpPr/>
          <p:nvPr/>
        </p:nvSpPr>
        <p:spPr>
          <a:xfrm>
            <a:off x="6110675" y="2941366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News</a:t>
            </a:r>
            <a:r>
              <a:rPr b="0" i="0" lang="en" sz="1000" u="none" cap="none" strike="noStrike">
                <a:solidFill>
                  <a:srgbClr val="6F3A9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b="0" i="0" lang="en" sz="1000" u="none" cap="none" strike="noStrike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&amp; Notifications </a:t>
            </a:r>
            <a:endParaRPr b="0" i="0" sz="10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Search and View Racing News Items 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Search and View Business Awareness pages such as Ownership, Career &amp; Training, Infrastructure, Open API details etc.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Get Push Notifications for Race Alerts &amp; Updates.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F3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81" name="Google Shape;181;p6"/>
          <p:cNvCxnSpPr/>
          <p:nvPr/>
        </p:nvCxnSpPr>
        <p:spPr>
          <a:xfrm>
            <a:off x="6110681" y="2941365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Non Functional Requirements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" name="Google Shape;188;p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 sz="800"/>
              <a:t>‹#›</a:t>
            </a:fld>
            <a:endParaRPr sz="800"/>
          </a:p>
        </p:txBody>
      </p:sp>
      <p:sp>
        <p:nvSpPr>
          <p:cNvPr id="189" name="Google Shape;189;p7"/>
          <p:cNvSpPr/>
          <p:nvPr/>
        </p:nvSpPr>
        <p:spPr>
          <a:xfrm>
            <a:off x="347850" y="904575"/>
            <a:ext cx="8442300" cy="38787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91425" spcFirstLastPara="1" rIns="91425" wrap="square" tIns="0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Full PCI-DSS Level 1 compliance</a:t>
            </a:r>
          </a:p>
          <a:p>
            <a:pPr>
              <a:spcAft>
                <a:spcPts val="200"/>
              </a:spcAft>
            </a:pPr>
            <a:r>
              <a:rPr sz="1000"/>
              <a:t>GDPR/CCPA data privacy compliance</a:t>
            </a:r>
          </a:p>
          <a:p>
            <a:pPr>
              <a:spcAft>
                <a:spcPts val="200"/>
              </a:spcAft>
            </a:pPr>
            <a:r>
              <a:rPr sz="1000"/>
              <a:t>SSL/TLS encryption for data in transit</a:t>
            </a:r>
          </a:p>
          <a:p>
            <a:pPr>
              <a:spcAft>
                <a:spcPts val="200"/>
              </a:spcAft>
            </a:pPr>
            <a:r>
              <a:rPr sz="1000"/>
              <a:t>AES-256 encryption for data at rest</a:t>
            </a:r>
          </a:p>
        </p:txBody>
      </p:sp>
      <p:cxnSp>
        <p:nvCxnSpPr>
          <p:cNvPr id="190" name="Google Shape;190;p7"/>
          <p:cNvCxnSpPr/>
          <p:nvPr/>
        </p:nvCxnSpPr>
        <p:spPr>
          <a:xfrm>
            <a:off x="353817" y="911950"/>
            <a:ext cx="14400" cy="38421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000"/>
              <a:buFont typeface="Montserrat"/>
              <a:buChar char="●"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Non Functional Requirements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" name="Google Shape;197;p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 sz="800"/>
              <a:t>‹#›</a:t>
            </a:fld>
            <a:endParaRPr sz="800"/>
          </a:p>
        </p:txBody>
      </p:sp>
      <p:sp>
        <p:nvSpPr>
          <p:cNvPr id="198" name="Google Shape;198;p8"/>
          <p:cNvSpPr/>
          <p:nvPr/>
        </p:nvSpPr>
        <p:spPr>
          <a:xfrm>
            <a:off x="347850" y="904575"/>
            <a:ext cx="8442300" cy="38787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91425" spcFirstLastPara="1" rIns="91425" wrap="square" tIns="0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Support faceted search and instant filtering for 50,000+ SKUs using Algolia or Elastic integration.</a:t>
            </a:r>
          </a:p>
          <a:p>
            <a:pPr>
              <a:spcAft>
                <a:spcPts val="200"/>
              </a:spcAft>
            </a:pPr>
            <a:r>
              <a:rPr sz="1000"/>
              <a:t>Implement multi-currency checkout with Stripe, PayPal, and Afterpay for global payment flexibility.</a:t>
            </a:r>
          </a:p>
          <a:p>
            <a:pPr>
              <a:spcAft>
                <a:spcPts val="200"/>
              </a:spcAft>
            </a:pPr>
            <a:r>
              <a:rPr sz="1000"/>
              <a:t>Provide a customer portal for order tracking, returns, saved payment methods, and wishlists.</a:t>
            </a:r>
          </a:p>
          <a:p>
            <a:pPr>
              <a:spcAft>
                <a:spcPts val="200"/>
              </a:spcAft>
            </a:pPr>
            <a:r>
              <a:rPr sz="1000"/>
              <a:t>Integrate headless CMS (Sanity or Strapi) for marketing team content management and delivery.</a:t>
            </a:r>
          </a:p>
          <a:p>
            <a:pPr>
              <a:spcAft>
                <a:spcPts val="200"/>
              </a:spcAft>
            </a:pPr>
            <a:r>
              <a:rPr sz="1000"/>
              <a:t>Develop a password-protected B2B portal with custom price tiers and bulk ordering workflows.</a:t>
            </a:r>
          </a:p>
          <a:p>
            <a:pPr>
              <a:spcAft>
                <a:spcPts val="200"/>
              </a:spcAft>
            </a:pPr>
            <a:r>
              <a:rPr sz="1000"/>
              <a:t>Decouple frontend (Next.js/React) from backend via REST/GraphQL APIs for scalable architecture.</a:t>
            </a:r>
          </a:p>
          <a:p>
            <a:pPr>
              <a:spcAft>
                <a:spcPts val="200"/>
              </a:spcAft>
            </a:pPr>
            <a:r>
              <a:rPr sz="1000"/>
              <a:t>Ensure PCI-DSS Level 1, GDPR, and CCPA compliance with encryption at rest and in transit.</a:t>
            </a:r>
          </a:p>
          <a:p>
            <a:pPr>
              <a:spcAft>
                <a:spcPts val="200"/>
              </a:spcAft>
            </a:pPr>
            <a:r>
              <a:rPr sz="1000"/>
              <a:t>Build for WCAG 2.1 AA accessibility and optimize for core web vitals with CDN and accessible storage.</a:t>
            </a:r>
          </a:p>
          <a:p>
            <a:pPr>
              <a:spcAft>
                <a:spcPts val="200"/>
              </a:spcAft>
            </a:pPr>
            <a:r>
              <a:rPr sz="1000"/>
              <a:t>Integrate with SAP for inventory and order management via API-first design and GraphQL gateway.</a:t>
            </a:r>
          </a:p>
          <a:p>
            <a:pPr>
              <a:spcAft>
                <a:spcPts val="200"/>
              </a:spcAft>
            </a:pPr>
            <a:r>
              <a:rPr sz="1000"/>
              <a:t>Partially support CRM/email integration with HubSpot and Klaviyo for automated customer flows.</a:t>
            </a:r>
          </a:p>
        </p:txBody>
      </p:sp>
      <p:cxnSp>
        <p:nvCxnSpPr>
          <p:cNvPr id="199" name="Google Shape;199;p8"/>
          <p:cNvCxnSpPr/>
          <p:nvPr/>
        </p:nvCxnSpPr>
        <p:spPr>
          <a:xfrm>
            <a:off x="353817" y="911950"/>
            <a:ext cx="14400" cy="38421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000"/>
              <a:buFont typeface="Montserrat"/>
              <a:buChar char="●"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 txBox="1"/>
          <p:nvPr>
            <p:ph type="title"/>
          </p:nvPr>
        </p:nvSpPr>
        <p:spPr>
          <a:xfrm>
            <a:off x="104500" y="141850"/>
            <a:ext cx="7426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Key Assumptions and Dependencies</a:t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223850" y="746325"/>
            <a:ext cx="8690100" cy="40035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121875" lIns="121875" spcFirstLastPara="1" rIns="121875" wrap="square" tIns="27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The customer will provide necessary access to SAP systems for integration</a:t>
            </a:r>
          </a:p>
          <a:p>
            <a:pPr>
              <a:spcAft>
                <a:spcPts val="200"/>
              </a:spcAft>
            </a:pPr>
            <a:r>
              <a:rPr sz="1000"/>
              <a:t>The marketing team will manage content through the headless CMS</a:t>
            </a:r>
          </a:p>
          <a:p>
            <a:pPr>
              <a:spcAft>
                <a:spcPts val="200"/>
              </a:spcAft>
            </a:pPr>
            <a:r>
              <a:rPr sz="1000"/>
              <a:t>The customer will ensure proper configuration of third-party services like Stripe and HubSpot</a:t>
            </a:r>
          </a:p>
        </p:txBody>
      </p:sp>
      <p:cxnSp>
        <p:nvCxnSpPr>
          <p:cNvPr id="208" name="Google Shape;208;p9"/>
          <p:cNvCxnSpPr/>
          <p:nvPr/>
        </p:nvCxnSpPr>
        <p:spPr>
          <a:xfrm flipH="1">
            <a:off x="243425" y="736325"/>
            <a:ext cx="10200" cy="39978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 txBox="1"/>
          <p:nvPr>
            <p:ph type="title"/>
          </p:nvPr>
        </p:nvSpPr>
        <p:spPr>
          <a:xfrm>
            <a:off x="104500" y="141850"/>
            <a:ext cx="7426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In Scope and Out of Scope</a:t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396575" y="1028850"/>
            <a:ext cx="4084800" cy="3675900"/>
          </a:xfrm>
          <a:prstGeom prst="snip1Rect">
            <a:avLst>
              <a:gd fmla="val 7022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00818" y="898163"/>
            <a:ext cx="4084800" cy="476100"/>
          </a:xfrm>
          <a:prstGeom prst="snip1Rect">
            <a:avLst>
              <a:gd fmla="val 21756" name="adj"/>
            </a:avLst>
          </a:prstGeom>
          <a:solidFill>
            <a:srgbClr val="F0E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6F3A93"/>
                </a:solidFill>
                <a:latin typeface="Montserrat"/>
                <a:ea typeface="Montserrat"/>
                <a:cs typeface="Montserrat"/>
                <a:sym typeface="Montserrat"/>
              </a:rPr>
              <a:t>In Scope</a:t>
            </a:r>
            <a:endParaRPr b="1" i="0" sz="1100" u="none" cap="none" strike="noStrike">
              <a:solidFill>
                <a:srgbClr val="6F3A9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658375" y="900350"/>
            <a:ext cx="4084800" cy="3804300"/>
          </a:xfrm>
          <a:prstGeom prst="snip1Rect">
            <a:avLst>
              <a:gd fmla="val 10616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662635" y="898172"/>
            <a:ext cx="4084800" cy="476100"/>
          </a:xfrm>
          <a:prstGeom prst="snip1Rect">
            <a:avLst>
              <a:gd fmla="val 21756" name="adj"/>
            </a:avLst>
          </a:prstGeom>
          <a:solidFill>
            <a:srgbClr val="F0E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6F3A93"/>
                </a:solidFill>
                <a:latin typeface="Montserrat"/>
                <a:ea typeface="Montserrat"/>
                <a:cs typeface="Montserrat"/>
                <a:sym typeface="Montserrat"/>
              </a:rPr>
              <a:t>Not Estimated</a:t>
            </a:r>
            <a:endParaRPr b="1" i="0" sz="1100" u="none" cap="none" strike="noStrike">
              <a:solidFill>
                <a:srgbClr val="6F3A9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4662575" y="1374275"/>
            <a:ext cx="4084800" cy="3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>
              <a:spcAft>
                <a:spcPts val="200"/>
              </a:spcAft>
            </a:pPr>
            <a:r>
              <a:rPr sz="1000"/>
              <a:t>Custom branding or UI/UX design beyond standard templates</a:t>
            </a:r>
          </a:p>
          <a:p>
            <a:pPr>
              <a:spcAft>
                <a:spcPts val="200"/>
              </a:spcAft>
            </a:pPr>
            <a:r>
              <a:rPr sz="1000"/>
              <a:t>On-site implementation or infrastructure setup</a:t>
            </a:r>
          </a:p>
          <a:p>
            <a:pPr>
              <a:spcAft>
                <a:spcPts val="200"/>
              </a:spcAft>
            </a:pPr>
            <a:r>
              <a:rPr sz="1000"/>
              <a:t>Training for third-party systems not specified in the RFP</a:t>
            </a:r>
          </a:p>
          <a:p>
            <a:pPr>
              <a:spcAft>
                <a:spcPts val="200"/>
              </a:spcAft>
            </a:pPr>
            <a:r>
              <a:rPr sz="1000"/>
              <a:t>Additional analytics or reporting tools beyond standard integration</a:t>
            </a:r>
          </a:p>
        </p:txBody>
      </p:sp>
      <p:sp>
        <p:nvSpPr>
          <p:cNvPr id="221" name="Google Shape;221;p10"/>
          <p:cNvSpPr txBox="1"/>
          <p:nvPr/>
        </p:nvSpPr>
        <p:spPr>
          <a:xfrm>
            <a:off x="400819" y="1406088"/>
            <a:ext cx="4084800" cy="1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>
              <a:spcAft>
                <a:spcPts val="200"/>
              </a:spcAft>
            </a:pPr>
            <a:r>
              <a:rPr sz="1000"/>
              <a:t>Faceted search and instant filtering for 50,000+ SKUs</a:t>
            </a:r>
          </a:p>
          <a:p>
            <a:pPr>
              <a:spcAft>
                <a:spcPts val="200"/>
              </a:spcAft>
            </a:pPr>
            <a:r>
              <a:rPr sz="1000"/>
              <a:t>Multi-currency checkout with Stripe, PayPal, and Afterpay</a:t>
            </a:r>
          </a:p>
          <a:p>
            <a:pPr>
              <a:spcAft>
                <a:spcPts val="200"/>
              </a:spcAft>
            </a:pPr>
            <a:r>
              <a:rPr sz="1000"/>
              <a:t>Customer portal for order tracking, returns, and saved payment methods</a:t>
            </a:r>
          </a:p>
          <a:p>
            <a:pPr>
              <a:spcAft>
                <a:spcPts val="200"/>
              </a:spcAft>
            </a:pPr>
            <a:r>
              <a:rPr sz="1000"/>
              <a:t>Headless CMS integration for marketing content updates</a:t>
            </a:r>
          </a:p>
          <a:p>
            <a:pPr>
              <a:spcAft>
                <a:spcPts val="200"/>
              </a:spcAft>
            </a:pPr>
            <a:r>
              <a:rPr sz="1000"/>
              <a:t>B2B Wholesale Module with custom price tiers and bulk ordering</a:t>
            </a:r>
          </a:p>
          <a:p>
            <a:pPr>
              <a:spcAft>
                <a:spcPts val="200"/>
              </a:spcAft>
            </a:pPr>
            <a:r>
              <a:rPr sz="1000"/>
              <a:t>Frontend decoupled from backend via REST/GraphQL APIs</a:t>
            </a:r>
          </a:p>
          <a:p>
            <a:pPr>
              <a:spcAft>
                <a:spcPts val="200"/>
              </a:spcAft>
            </a:pPr>
            <a:r>
              <a:rPr sz="1000"/>
              <a:t>PCI-DSS Level 1, GDPR, and CCPA compliance</a:t>
            </a:r>
          </a:p>
          <a:p>
            <a:pPr>
              <a:spcAft>
                <a:spcPts val="200"/>
              </a:spcAft>
            </a:pPr>
            <a:r>
              <a:rPr sz="1000"/>
              <a:t>WCAG 2.1 AA accessibility guidelines and</a:t>
            </a:r>
          </a:p>
          <a:p>
            <a:pPr>
              <a:spcAft>
                <a:spcPts val="200"/>
              </a:spcAft>
            </a:pPr>
            <a:r>
              <a:rPr sz="1000"/>
              <a:t>SA…</a:t>
            </a:r>
          </a:p>
        </p:txBody>
      </p:sp>
      <p:sp>
        <p:nvSpPr>
          <p:cNvPr id="222" name="Google Shape;222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2" name="Google Shape;232;p11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11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11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11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9" name="Google Shape;239;p11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1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2" name="Google Shape;242;p11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11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/>
          <p:nvPr/>
        </p:nvSpPr>
        <p:spPr>
          <a:xfrm>
            <a:off x="226950" y="740900"/>
            <a:ext cx="8690100" cy="41133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121875" spcFirstLastPara="1" rIns="121875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0" name="Google Shape;250;p12"/>
          <p:cNvCxnSpPr/>
          <p:nvPr/>
        </p:nvCxnSpPr>
        <p:spPr>
          <a:xfrm>
            <a:off x="249444" y="751302"/>
            <a:ext cx="0" cy="4113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12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Solutioning Highlights</a:t>
            </a:r>
            <a:endParaRPr/>
          </a:p>
        </p:txBody>
      </p:sp>
      <p:sp>
        <p:nvSpPr>
          <p:cNvPr id="252" name="Google Shape;252;p12"/>
          <p:cNvSpPr txBox="1"/>
          <p:nvPr/>
        </p:nvSpPr>
        <p:spPr>
          <a:xfrm>
            <a:off x="340550" y="993438"/>
            <a:ext cx="81969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After a detailed discovery of the platform and user needs, we will evaluate the following key aspects to finalise the most suitable mobile app technology: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82"/>
              </a:buClr>
              <a:buSzPts val="1000"/>
              <a:buFont typeface="Arial"/>
              <a:buChar char="●"/>
            </a:pP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Platform: 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Both </a:t>
            </a: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Flutter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React Native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allow us to build high-performance mobile applications that support live streaming and run seamlessly on both Android and iOS from a single codebase. It will enable us to release new features, updates and fixes across platforms simultaneously.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82"/>
              </a:buClr>
              <a:buSzPts val="1000"/>
              <a:buFont typeface="Arial"/>
              <a:buChar char="●"/>
            </a:pP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Streaming and Data Consumption: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Assessing how streaming services (such as live video streaming) are currently integrated or intended to be integrated, and how data is consumed or expected to be managed across both platforms.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82"/>
              </a:buClr>
              <a:buSzPts val="1000"/>
              <a:buFont typeface="Arial"/>
              <a:buChar char="●"/>
            </a:pP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Technical Considerations: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Understanding the performance needs, scalability, and backend integration for streaming content and handling real-time data and the potential for third party libs integration.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82"/>
              </a:buClr>
              <a:buSzPts val="1000"/>
              <a:buFont typeface="Montserrat"/>
              <a:buChar char="●"/>
            </a:pP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Third party support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Since integrations like analytics, ads, and SSO etc are essential. Support and availability for these SDKs will be evaluated to determine the right platform.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Accelerated Development with Generative AI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We will strategically utilise powerful generative AI tools like Cursor AI and GitHub Copilot, significantly improving our coding speed, enhancing efficiency, and enabling our teams to deliver high quality solutions at a faster pace.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team has </a:t>
            </a: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extensive experience and expertise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 working with both </a:t>
            </a: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Flutter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React Native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allowing us to confidently recommend and implement the most suitable solution for your project.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Proposed High Level Architecture</a:t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2397150" y="887625"/>
            <a:ext cx="3813600" cy="3699300"/>
          </a:xfrm>
          <a:prstGeom prst="snip1Rect">
            <a:avLst>
              <a:gd fmla="val 8329" name="adj"/>
            </a:avLst>
          </a:prstGeom>
          <a:noFill/>
          <a:ln cap="flat" cmpd="sng" w="9525">
            <a:solidFill>
              <a:srgbClr val="6F3A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Support faceted search and instant filtering for 50,000+ SKUs using Algolia or Elastic integration.</a:t>
            </a:r>
          </a:p>
          <a:p>
            <a:pPr>
              <a:spcAft>
                <a:spcPts val="200"/>
              </a:spcAft>
            </a:pPr>
            <a:r>
              <a:rPr sz="1000"/>
              <a:t>Implement multi-currency checkout with Stripe, PayPal, and Afterpay for global payment flexibility.</a:t>
            </a:r>
          </a:p>
          <a:p>
            <a:pPr>
              <a:spcAft>
                <a:spcPts val="200"/>
              </a:spcAft>
            </a:pPr>
            <a:r>
              <a:rPr sz="1000"/>
              <a:t>Provide a customer portal for order tracking, returns, saved payment methods, and wishlists.</a:t>
            </a:r>
          </a:p>
          <a:p>
            <a:pPr>
              <a:spcAft>
                <a:spcPts val="200"/>
              </a:spcAft>
            </a:pPr>
            <a:r>
              <a:rPr sz="1000"/>
              <a:t>Integrate headless CMS (Sanity or Strapi) for marketing team content management and delivery.</a:t>
            </a:r>
          </a:p>
          <a:p>
            <a:pPr>
              <a:spcAft>
                <a:spcPts val="200"/>
              </a:spcAft>
            </a:pPr>
            <a:r>
              <a:rPr sz="1000"/>
              <a:t>Develop a password-protected B2B portal with custom price tiers and bulk ordering workflows.</a:t>
            </a:r>
          </a:p>
          <a:p>
            <a:pPr>
              <a:spcAft>
                <a:spcPts val="200"/>
              </a:spcAft>
            </a:pPr>
            <a:r>
              <a:rPr sz="1000"/>
              <a:t>Decouple frontend (Next.js/React) from backend via REST/GraphQL APIs for scalable architecture.</a:t>
            </a:r>
          </a:p>
          <a:p>
            <a:pPr>
              <a:spcAft>
                <a:spcPts val="200"/>
              </a:spcAft>
            </a:pPr>
            <a:r>
              <a:rPr sz="1000"/>
              <a:t>Ensure PCI-DSS Level 1, GDPR, and CCPA compliance with encryption at rest and in transit.</a:t>
            </a:r>
          </a:p>
          <a:p>
            <a:pPr>
              <a:spcAft>
                <a:spcPts val="200"/>
              </a:spcAft>
            </a:pPr>
            <a:r>
              <a:rPr sz="1000"/>
              <a:t>Build for WCAG 2.1 AA accessibility and optimize for core web vitals with CDN and accessible storage.</a:t>
            </a:r>
          </a:p>
          <a:p>
            <a:pPr>
              <a:spcAft>
                <a:spcPts val="200"/>
              </a:spcAft>
            </a:pPr>
            <a:r>
              <a:rPr sz="1000"/>
              <a:t>Integrate with SAP for inventory and</a:t>
            </a:r>
          </a:p>
          <a:p>
            <a:pPr>
              <a:spcAft>
                <a:spcPts val="200"/>
              </a:spcAft>
            </a:pPr>
            <a:r>
              <a:rPr sz="1000"/>
              <a:t>Parti…</a:t>
            </a:r>
          </a:p>
        </p:txBody>
      </p:sp>
      <p:sp>
        <p:nvSpPr>
          <p:cNvPr id="260" name="Google Shape;260;p13"/>
          <p:cNvSpPr/>
          <p:nvPr/>
        </p:nvSpPr>
        <p:spPr>
          <a:xfrm>
            <a:off x="756125" y="2252475"/>
            <a:ext cx="922800" cy="969600"/>
          </a:xfrm>
          <a:prstGeom prst="snip1Rect">
            <a:avLst>
              <a:gd fmla="val 8329" name="adj"/>
            </a:avLst>
          </a:prstGeom>
          <a:noFill/>
          <a:ln cap="flat" cmpd="sng" w="9525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b="1" i="0" sz="9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2549550" y="1316100"/>
            <a:ext cx="3508800" cy="305700"/>
          </a:xfrm>
          <a:prstGeom prst="snip1Rect">
            <a:avLst>
              <a:gd fmla="val 8329" name="adj"/>
            </a:avLst>
          </a:prstGeom>
          <a:solidFill>
            <a:srgbClr val="F6F6F6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UI layer Screens</a:t>
            </a:r>
            <a:endParaRPr b="1" i="0" sz="9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744425" y="2826663"/>
            <a:ext cx="94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Mobile </a:t>
            </a:r>
            <a:endParaRPr b="1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  <a:endParaRPr b="1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7069675" y="1671550"/>
            <a:ext cx="1329900" cy="882000"/>
          </a:xfrm>
          <a:prstGeom prst="snip1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7069675" y="2847049"/>
            <a:ext cx="1329900" cy="882000"/>
          </a:xfrm>
          <a:prstGeom prst="snip1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5" name="Google Shape;2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525" y="2379875"/>
            <a:ext cx="401999" cy="40199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3"/>
          <p:cNvSpPr/>
          <p:nvPr/>
        </p:nvSpPr>
        <p:spPr>
          <a:xfrm>
            <a:off x="2549550" y="1959698"/>
            <a:ext cx="3508800" cy="305700"/>
          </a:xfrm>
          <a:prstGeom prst="snip1Rect">
            <a:avLst>
              <a:gd fmla="val 8329" name="adj"/>
            </a:avLst>
          </a:prstGeom>
          <a:solidFill>
            <a:srgbClr val="F6F6F6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Business Logic Layer</a:t>
            </a:r>
            <a:endParaRPr b="1" i="0" sz="9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2549550" y="2603300"/>
            <a:ext cx="3508800" cy="612000"/>
          </a:xfrm>
          <a:prstGeom prst="snip1Rect">
            <a:avLst>
              <a:gd fmla="val 16667" name="adj"/>
            </a:avLst>
          </a:prstGeom>
          <a:solidFill>
            <a:srgbClr val="E7F2F8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b="1" i="0" sz="7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2975075" y="2890671"/>
            <a:ext cx="1231500" cy="2535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Network Service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4481025" y="2890671"/>
            <a:ext cx="1231500" cy="2535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Local Storage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2549550" y="3553200"/>
            <a:ext cx="3508800" cy="882000"/>
          </a:xfrm>
          <a:prstGeom prst="snip1Rect">
            <a:avLst>
              <a:gd fmla="val 16667" name="adj"/>
            </a:avLst>
          </a:prstGeom>
          <a:solidFill>
            <a:srgbClr val="E7F2F8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b="1" i="0" sz="7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2641000" y="3864854"/>
            <a:ext cx="1038000" cy="3654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Analytics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3788308" y="3864854"/>
            <a:ext cx="1038000" cy="3654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Push </a:t>
            </a:r>
            <a:endParaRPr b="1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Notifications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4935616" y="3864854"/>
            <a:ext cx="1038000" cy="3654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Crash </a:t>
            </a:r>
            <a:endParaRPr b="1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Reporting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4" name="Google Shape;27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4462" y="3032873"/>
            <a:ext cx="283233" cy="3572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13"/>
          <p:cNvCxnSpPr>
            <a:stCxn id="260" idx="0"/>
            <a:endCxn id="259" idx="2"/>
          </p:cNvCxnSpPr>
          <p:nvPr/>
        </p:nvCxnSpPr>
        <p:spPr>
          <a:xfrm>
            <a:off x="1678925" y="2737275"/>
            <a:ext cx="7182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" name="Google Shape;276;p13"/>
          <p:cNvCxnSpPr>
            <a:stCxn id="261" idx="1"/>
            <a:endCxn id="266" idx="3"/>
          </p:cNvCxnSpPr>
          <p:nvPr/>
        </p:nvCxnSpPr>
        <p:spPr>
          <a:xfrm>
            <a:off x="4303950" y="1621800"/>
            <a:ext cx="0" cy="33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7" name="Google Shape;277;p13"/>
          <p:cNvCxnSpPr>
            <a:stCxn id="266" idx="1"/>
            <a:endCxn id="267" idx="3"/>
          </p:cNvCxnSpPr>
          <p:nvPr/>
        </p:nvCxnSpPr>
        <p:spPr>
          <a:xfrm>
            <a:off x="4303950" y="2265398"/>
            <a:ext cx="0" cy="33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8" name="Google Shape;278;p13"/>
          <p:cNvSpPr txBox="1"/>
          <p:nvPr/>
        </p:nvSpPr>
        <p:spPr>
          <a:xfrm>
            <a:off x="3872500" y="2603296"/>
            <a:ext cx="94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Data Layer</a:t>
            </a:r>
            <a:endParaRPr b="1" i="0" sz="9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9" name="Google Shape;279;p13"/>
          <p:cNvCxnSpPr>
            <a:stCxn id="267" idx="1"/>
            <a:endCxn id="270" idx="3"/>
          </p:cNvCxnSpPr>
          <p:nvPr/>
        </p:nvCxnSpPr>
        <p:spPr>
          <a:xfrm>
            <a:off x="4303950" y="3215300"/>
            <a:ext cx="0" cy="33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0" name="Google Shape;280;p13"/>
          <p:cNvSpPr txBox="1"/>
          <p:nvPr/>
        </p:nvSpPr>
        <p:spPr>
          <a:xfrm>
            <a:off x="3925088" y="3553196"/>
            <a:ext cx="94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3rd Party</a:t>
            </a:r>
            <a:endParaRPr b="1" i="0" sz="9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1" name="Google Shape;281;p13"/>
          <p:cNvCxnSpPr>
            <a:stCxn id="259" idx="0"/>
            <a:endCxn id="263" idx="2"/>
          </p:cNvCxnSpPr>
          <p:nvPr/>
        </p:nvCxnSpPr>
        <p:spPr>
          <a:xfrm flipH="1" rot="10800000">
            <a:off x="6210750" y="2112675"/>
            <a:ext cx="858900" cy="6246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" name="Google Shape;282;p13"/>
          <p:cNvCxnSpPr>
            <a:stCxn id="259" idx="0"/>
            <a:endCxn id="264" idx="2"/>
          </p:cNvCxnSpPr>
          <p:nvPr/>
        </p:nvCxnSpPr>
        <p:spPr>
          <a:xfrm>
            <a:off x="6210750" y="2737275"/>
            <a:ext cx="858900" cy="5508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3" name="Google Shape;28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graphicFrame>
        <p:nvGraphicFramePr>
          <p:cNvPr id="289" name="Google Shape;289;p14"/>
          <p:cNvGraphicFramePr/>
          <p:nvPr/>
        </p:nvGraphicFramePr>
        <p:xfrm>
          <a:off x="264425" y="755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{D94F6760-089B-47EB-8253-D5C54B6EC847}</a:tableStyleId>
              </a:tblPr>
              <a:tblGrid>
                <a:gridCol w="1855975"/>
                <a:gridCol w="6695125"/>
              </a:tblGrid>
              <a:tr h="28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Component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Key Considerations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</a:tr>
              <a:tr h="670500">
                <a:tc>
                  <a:txBody>
                    <a:bodyPr/>
                    <a:lstStyle/>
                    <a:p>
                      <a:r>
                        <a:t>Support faceted search and instant filtering for 50,000+ SKUs using Algolia or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Support faceted search and instant filtering for 50,000+ SKUs using Algolia or Elastic integration.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400">
                <a:tc>
                  <a:txBody>
                    <a:bodyPr/>
                    <a:lstStyle/>
                    <a:p>
                      <a:r>
                        <a:t>Implement multi-currency checkout with Stripe, PayPal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Implement multi-currency checkout with Stripe, PayPal, and Afterpay for global payment flexibility.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075">
                <a:tc>
                  <a:txBody>
                    <a:bodyPr/>
                    <a:lstStyle/>
                    <a:p>
                      <a:r>
                        <a:t>Provide a customer portal for order tracking, returns, saved payment methods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Provide a customer portal for order tracking, returns, saved payment methods, and wishlists.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200">
                <a:tc>
                  <a:txBody>
                    <a:bodyPr/>
                    <a:lstStyle/>
                    <a:p>
                      <a:r>
                        <a:t>Integrate headless CMS (Sanity or Strapi) for marketing team content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Integrate headless CMS (Sanity or Strapi) for marketing team content management and delivery.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250">
                <a:tc>
                  <a:txBody>
                    <a:bodyPr/>
                    <a:lstStyle/>
                    <a:p>
                      <a:r>
                        <a:t>Develop a password-protected B2B portal with custom price tiers and bulk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Develop a password-protected B2B portal with custom price tiers and bulk ordering workflows.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250">
                <a:tc>
                  <a:txBody>
                    <a:bodyPr/>
                    <a:lstStyle/>
                    <a:p>
                      <a:r>
                        <a:t>Decouple frontend (Next.js/React) from backend via REST/GraphQL APIs for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Decouple frontend (Next.js/React) from backend via REST/GraphQL APIs for scalable architecture.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075">
                <a:tc>
                  <a:txBody>
                    <a:bodyPr/>
                    <a:lstStyle/>
                    <a:p>
                      <a:r>
                        <a:t>Ensure PCI-DSS Level 1, GDPR, and CCPA compliance with encryption at rest and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Ensure PCI-DSS Level 1, GDPR, and CCPA compliance with encryption at rest and in transit.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0" name="Google Shape;29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5"/>
          <p:cNvSpPr txBox="1"/>
          <p:nvPr>
            <p:ph type="title"/>
          </p:nvPr>
        </p:nvSpPr>
        <p:spPr>
          <a:xfrm>
            <a:off x="104500" y="141850"/>
            <a:ext cx="7467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97" name="Google Shape;297;p1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  <p:graphicFrame>
        <p:nvGraphicFramePr>
          <p:cNvPr id="299" name="Google Shape;299;p15"/>
          <p:cNvGraphicFramePr/>
          <p:nvPr/>
        </p:nvGraphicFramePr>
        <p:xfrm>
          <a:off x="189880" y="7225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{605CC296-D303-4CE0-970A-263B8180C0D9}</a:tableStyleId>
              </a:tblPr>
              <a:tblGrid>
                <a:gridCol w="4210000"/>
                <a:gridCol w="2933625"/>
                <a:gridCol w="1567950"/>
              </a:tblGrid>
              <a:tr h="26060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Factors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REACT NATIVE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Flutter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>
                      <a:r>
                        <a:t>Support faceted search and instant filtering for 50,000+ SKUs using Algolia or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Support faceted search and instant filtering for 50,000+ SKUs using Algolia or Elastic integration.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High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>
                      <a:r>
                        <a:t>Implement multi-currency checkout with Stripe, PayPal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Implement multi-currency checkout with Stripe, PayPal, and Afterpay for global payment flexibility.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Possible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775">
                <a:tc>
                  <a:txBody>
                    <a:bodyPr/>
                    <a:lstStyle/>
                    <a:p>
                      <a:r>
                        <a:t>Provide a customer portal for order tracking, returns, saved payment methods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Provide a customer portal for order tracking, returns, saved payment methods, and wishlists.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Dart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>
                      <a:r>
                        <a:t>Integrate headless CMS (Sanity or Strapi) for marketing team content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Integrate headless CMS (Sanity or Strapi) for marketing team content management and delivery.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Medium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>
                      <a:r>
                        <a:t>Develop a password-protected B2B portal with custom price tiers and bulk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Develop a password-protected B2B portal with custom price tiers and bulk ordering workflows.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Easy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>
                      <a:r>
                        <a:t>Decouple frontend (Next.js/React) from backend via REST/GraphQL APIs for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Decouple frontend (Next.js/React) from backend via REST/GraphQL APIs for scalable architecture.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High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>
                      <a:r>
                        <a:t>Ensure PCI-DSS Level 1, GDPR, and CCPA compliance with encryption at rest and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Ensure PCI-DSS Level 1, GDPR, and CCPA compliance with encryption at rest and in transit.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Google/ Open Source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>
                      <a:r>
                        <a:t>Build for WCAG 2.1 AA accessibility and optimize for core web vitals with CDN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Build for WCAG 2.1 AA accessibility and optimize for core web vitals with CDN and accessible storage.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Highest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>
                      <a:r>
                        <a:t>Integrate with SAP for inventory and order management via API-first design and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Integrate with SAP for inventory and order management via API-first design and GraphQL gateway.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70-80%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>
                      <a:r>
                        <a:t>Partially support CRM/email integration with HubSpot and Klaviyo for automated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Partially support CRM/email integration with HubSpot and Klaviyo for automated customer flows.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High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Medium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0" name="Google Shape;300;p15"/>
          <p:cNvSpPr txBox="1"/>
          <p:nvPr/>
        </p:nvSpPr>
        <p:spPr>
          <a:xfrm>
            <a:off x="0" y="4485550"/>
            <a:ext cx="9144000" cy="49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6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0" name="Google Shape;310;p16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16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16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6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7" name="Google Shape;317;p16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16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0" name="Google Shape;320;p16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6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6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7"/>
          <p:cNvSpPr/>
          <p:nvPr/>
        </p:nvSpPr>
        <p:spPr>
          <a:xfrm>
            <a:off x="1623100" y="934600"/>
            <a:ext cx="7355400" cy="37131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Leverage existing integration capabilities for search engines, payment gateways, and CMS platforms.</a:t>
            </a:r>
          </a:p>
          <a:p>
            <a:pPr>
              <a:spcAft>
                <a:spcPts val="200"/>
              </a:spcAft>
            </a:pPr>
            <a:r>
              <a:rPr sz="1000"/>
              <a:t>Design a modular architecture to support frontend decoupling and backend scalability.</a:t>
            </a:r>
          </a:p>
          <a:p>
            <a:pPr>
              <a:spcAft>
                <a:spcPts val="200"/>
              </a:spcAft>
            </a:pPr>
            <a:r>
              <a:rPr sz="1000"/>
              <a:t>Implement security protocols to meet PCI-DSS, GDPR, and CCPA standards.</a:t>
            </a:r>
          </a:p>
          <a:p>
            <a:pPr>
              <a:spcAft>
                <a:spcPts val="200"/>
              </a:spcAft>
            </a:pPr>
            <a:r>
              <a:rPr sz="1000"/>
              <a:t>Ensure accessibility compliance and optimize performance for core web vitals.</a:t>
            </a:r>
          </a:p>
          <a:p>
            <a:pPr>
              <a:spcAft>
                <a:spcPts val="200"/>
              </a:spcAft>
            </a:pPr>
            <a:r>
              <a:rPr sz="1000"/>
              <a:t>Develop APIs for ERP and CRM integration, ensuring seamless data synchronization.</a:t>
            </a:r>
          </a:p>
          <a:p>
            <a:pPr>
              <a:spcAft>
                <a:spcPts val="200"/>
              </a:spcAft>
            </a:pPr>
            <a:r>
              <a:rPr sz="1000"/>
              <a:t>Provide partial CRM/email integration based on prior experience with HubSpot and Klaviyo.</a:t>
            </a:r>
          </a:p>
        </p:txBody>
      </p:sp>
      <p:sp>
        <p:nvSpPr>
          <p:cNvPr id="328" name="Google Shape;328;p17"/>
          <p:cNvSpPr/>
          <p:nvPr/>
        </p:nvSpPr>
        <p:spPr>
          <a:xfrm>
            <a:off x="236853" y="1505825"/>
            <a:ext cx="1877400" cy="25881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17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Management Approach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2303501" y="2698629"/>
            <a:ext cx="1202100" cy="13272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3799228" y="2698629"/>
            <a:ext cx="1202100" cy="13668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2303500" y="1677712"/>
            <a:ext cx="1177200" cy="7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3814239" y="1677712"/>
            <a:ext cx="1177200" cy="7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34" name="Google Shape;334;p17"/>
          <p:cNvGrpSpPr/>
          <p:nvPr/>
        </p:nvGrpSpPr>
        <p:grpSpPr>
          <a:xfrm>
            <a:off x="3934107" y="2120825"/>
            <a:ext cx="817618" cy="72728"/>
            <a:chOff x="3198956" y="2429934"/>
            <a:chExt cx="1353000" cy="149400"/>
          </a:xfrm>
        </p:grpSpPr>
        <p:sp>
          <p:nvSpPr>
            <p:cNvPr id="335" name="Google Shape;335;p17"/>
            <p:cNvSpPr/>
            <p:nvPr/>
          </p:nvSpPr>
          <p:spPr>
            <a:xfrm flipH="1">
              <a:off x="31989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6" name="Google Shape;336;p17"/>
            <p:cNvSpPr/>
            <p:nvPr/>
          </p:nvSpPr>
          <p:spPr>
            <a:xfrm flipH="1">
              <a:off x="35037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7" name="Google Shape;337;p17"/>
            <p:cNvSpPr/>
            <p:nvPr/>
          </p:nvSpPr>
          <p:spPr>
            <a:xfrm flipH="1">
              <a:off x="38085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8" name="Google Shape;338;p17"/>
            <p:cNvSpPr/>
            <p:nvPr/>
          </p:nvSpPr>
          <p:spPr>
            <a:xfrm flipH="1">
              <a:off x="41133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9" name="Google Shape;339;p17"/>
            <p:cNvSpPr/>
            <p:nvPr/>
          </p:nvSpPr>
          <p:spPr>
            <a:xfrm flipH="1">
              <a:off x="44181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340" name="Google Shape;340;p17"/>
          <p:cNvCxnSpPr>
            <a:stCxn id="332" idx="3"/>
            <a:endCxn id="333" idx="1"/>
          </p:cNvCxnSpPr>
          <p:nvPr/>
        </p:nvCxnSpPr>
        <p:spPr>
          <a:xfrm>
            <a:off x="3480700" y="2075212"/>
            <a:ext cx="3336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1" name="Google Shape;341;p17"/>
          <p:cNvSpPr/>
          <p:nvPr/>
        </p:nvSpPr>
        <p:spPr>
          <a:xfrm>
            <a:off x="3721678" y="1352950"/>
            <a:ext cx="13065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Continuous Evolution of Working Software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5324975" y="1677700"/>
            <a:ext cx="789300" cy="7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3" name="Google Shape;343;p17"/>
          <p:cNvCxnSpPr>
            <a:stCxn id="333" idx="3"/>
            <a:endCxn id="342" idx="1"/>
          </p:cNvCxnSpPr>
          <p:nvPr/>
        </p:nvCxnSpPr>
        <p:spPr>
          <a:xfrm>
            <a:off x="4991439" y="2075212"/>
            <a:ext cx="3336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4" name="Google Shape;344;p17"/>
          <p:cNvSpPr/>
          <p:nvPr/>
        </p:nvSpPr>
        <p:spPr>
          <a:xfrm>
            <a:off x="6447800" y="1694125"/>
            <a:ext cx="789300" cy="75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5" name="Google Shape;345;p17"/>
          <p:cNvCxnSpPr>
            <a:stCxn id="342" idx="3"/>
            <a:endCxn id="344" idx="1"/>
          </p:cNvCxnSpPr>
          <p:nvPr/>
        </p:nvCxnSpPr>
        <p:spPr>
          <a:xfrm flipH="1" rot="10800000">
            <a:off x="6114275" y="2072500"/>
            <a:ext cx="333600" cy="27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6" name="Google Shape;346;p17"/>
          <p:cNvSpPr/>
          <p:nvPr/>
        </p:nvSpPr>
        <p:spPr>
          <a:xfrm>
            <a:off x="7633975" y="1683488"/>
            <a:ext cx="1197000" cy="7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7" name="Google Shape;347;p17"/>
          <p:cNvCxnSpPr/>
          <p:nvPr/>
        </p:nvCxnSpPr>
        <p:spPr>
          <a:xfrm>
            <a:off x="7237088" y="2071309"/>
            <a:ext cx="365700" cy="78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p17"/>
          <p:cNvSpPr/>
          <p:nvPr/>
        </p:nvSpPr>
        <p:spPr>
          <a:xfrm>
            <a:off x="2374525" y="2817019"/>
            <a:ext cx="1054200" cy="32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2374517" y="3276841"/>
            <a:ext cx="1054200" cy="32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2374517" y="3727228"/>
            <a:ext cx="1054200" cy="2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4131026" y="3035164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4131026" y="3299908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4131026" y="3560703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4131026" y="3813593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4131026" y="2766471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17"/>
          <p:cNvCxnSpPr/>
          <p:nvPr/>
        </p:nvCxnSpPr>
        <p:spPr>
          <a:xfrm>
            <a:off x="3992919" y="2867471"/>
            <a:ext cx="0" cy="10116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57" name="Google Shape;357;p17"/>
          <p:cNvSpPr/>
          <p:nvPr/>
        </p:nvSpPr>
        <p:spPr>
          <a:xfrm>
            <a:off x="3804525" y="4077663"/>
            <a:ext cx="1202100" cy="433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Iterative &amp; Incremental 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Collaboration</a:t>
            </a:r>
            <a:endParaRPr b="0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2304491" y="3293825"/>
            <a:ext cx="10542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 Framework Setup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2463228" y="3738183"/>
            <a:ext cx="8973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Dev &amp; CI Setup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2308793" y="4041178"/>
            <a:ext cx="1202100" cy="433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Setup &amp; Preparation</a:t>
            </a:r>
            <a:endParaRPr b="0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4155819" y="2755171"/>
            <a:ext cx="5769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Analyse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4190073" y="3018350"/>
            <a:ext cx="5085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Design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4125640" y="3285549"/>
            <a:ext cx="6480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Code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4279537" y="3537980"/>
            <a:ext cx="3294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4156461" y="3790409"/>
            <a:ext cx="5361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Deploy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6" name="Google Shape;366;p17"/>
          <p:cNvCxnSpPr/>
          <p:nvPr/>
        </p:nvCxnSpPr>
        <p:spPr>
          <a:xfrm flipH="1">
            <a:off x="4443986" y="2927883"/>
            <a:ext cx="1200" cy="10500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367" name="Google Shape;367;p17"/>
          <p:cNvCxnSpPr/>
          <p:nvPr/>
        </p:nvCxnSpPr>
        <p:spPr>
          <a:xfrm>
            <a:off x="3995621" y="2867471"/>
            <a:ext cx="147900" cy="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368" name="Google Shape;368;p17"/>
          <p:cNvCxnSpPr/>
          <p:nvPr/>
        </p:nvCxnSpPr>
        <p:spPr>
          <a:xfrm>
            <a:off x="3992919" y="3881063"/>
            <a:ext cx="150900" cy="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69" name="Google Shape;369;p17"/>
          <p:cNvSpPr/>
          <p:nvPr/>
        </p:nvSpPr>
        <p:spPr>
          <a:xfrm rot="-5400000">
            <a:off x="3694246" y="3254831"/>
            <a:ext cx="452400" cy="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Repeat</a:t>
            </a:r>
            <a:endParaRPr b="0" i="0" sz="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70" name="Google Shape;370;p17"/>
          <p:cNvCxnSpPr/>
          <p:nvPr/>
        </p:nvCxnSpPr>
        <p:spPr>
          <a:xfrm flipH="1">
            <a:off x="4443986" y="3192628"/>
            <a:ext cx="1200" cy="10500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371" name="Google Shape;371;p17"/>
          <p:cNvCxnSpPr/>
          <p:nvPr/>
        </p:nvCxnSpPr>
        <p:spPr>
          <a:xfrm flipH="1">
            <a:off x="4443986" y="3457373"/>
            <a:ext cx="1200" cy="10500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372" name="Google Shape;372;p17"/>
          <p:cNvCxnSpPr/>
          <p:nvPr/>
        </p:nvCxnSpPr>
        <p:spPr>
          <a:xfrm flipH="1">
            <a:off x="4443986" y="3714215"/>
            <a:ext cx="1200" cy="10500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pic>
        <p:nvPicPr>
          <p:cNvPr id="373" name="Google Shape;373;p17"/>
          <p:cNvPicPr preferRelativeResize="0"/>
          <p:nvPr/>
        </p:nvPicPr>
        <p:blipFill rotWithShape="1">
          <a:blip r:embed="rId3">
            <a:alphaModFix/>
          </a:blip>
          <a:srcRect b="20805" l="17274" r="12333" t="17276"/>
          <a:stretch/>
        </p:blipFill>
        <p:spPr>
          <a:xfrm>
            <a:off x="2755125" y="1771113"/>
            <a:ext cx="228668" cy="21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5313" y="1880725"/>
            <a:ext cx="228675" cy="2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1264" y="1886352"/>
            <a:ext cx="365700" cy="217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8138" y="1785736"/>
            <a:ext cx="228675" cy="22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7" name="Google Shape;377;p17"/>
          <p:cNvGrpSpPr/>
          <p:nvPr/>
        </p:nvGrpSpPr>
        <p:grpSpPr>
          <a:xfrm>
            <a:off x="308754" y="1982358"/>
            <a:ext cx="1734192" cy="256660"/>
            <a:chOff x="530597" y="1659894"/>
            <a:chExt cx="1541778" cy="210931"/>
          </a:xfrm>
        </p:grpSpPr>
        <p:sp>
          <p:nvSpPr>
            <p:cNvPr id="378" name="Google Shape;378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Project Manager/Business Analyst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79" name="Google Shape;379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0" name="Google Shape;380;p17"/>
          <p:cNvSpPr txBox="1"/>
          <p:nvPr/>
        </p:nvSpPr>
        <p:spPr>
          <a:xfrm>
            <a:off x="2538875" y="980525"/>
            <a:ext cx="490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Agile Based iterative Development Approach</a:t>
            </a:r>
            <a:endParaRPr b="1" i="0" sz="10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17"/>
          <p:cNvSpPr txBox="1"/>
          <p:nvPr/>
        </p:nvSpPr>
        <p:spPr>
          <a:xfrm>
            <a:off x="-241825" y="150582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TTN Engineering Team</a:t>
            </a:r>
            <a:endParaRPr b="1" i="0" sz="9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2344200" y="2880388"/>
            <a:ext cx="10137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Tech &amp; Functional Discovery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83" name="Google Shape;383;p17"/>
          <p:cNvGrpSpPr/>
          <p:nvPr/>
        </p:nvGrpSpPr>
        <p:grpSpPr>
          <a:xfrm>
            <a:off x="298800" y="2292174"/>
            <a:ext cx="1734192" cy="256660"/>
            <a:chOff x="530597" y="1659894"/>
            <a:chExt cx="1541778" cy="210931"/>
          </a:xfrm>
        </p:grpSpPr>
        <p:sp>
          <p:nvSpPr>
            <p:cNvPr id="384" name="Google Shape;384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Technical lead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85" name="Google Shape;385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6" name="Google Shape;386;p17"/>
          <p:cNvGrpSpPr/>
          <p:nvPr/>
        </p:nvGrpSpPr>
        <p:grpSpPr>
          <a:xfrm>
            <a:off x="308757" y="2617640"/>
            <a:ext cx="1734192" cy="256660"/>
            <a:chOff x="530597" y="1659894"/>
            <a:chExt cx="1541778" cy="210931"/>
          </a:xfrm>
        </p:grpSpPr>
        <p:sp>
          <p:nvSpPr>
            <p:cNvPr id="387" name="Google Shape;387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DevOps Experts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88" name="Google Shape;388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9" name="Google Shape;389;p17"/>
          <p:cNvGrpSpPr/>
          <p:nvPr/>
        </p:nvGrpSpPr>
        <p:grpSpPr>
          <a:xfrm>
            <a:off x="298803" y="2943091"/>
            <a:ext cx="1734192" cy="256660"/>
            <a:chOff x="530597" y="1659894"/>
            <a:chExt cx="1541778" cy="210931"/>
          </a:xfrm>
        </p:grpSpPr>
        <p:sp>
          <p:nvSpPr>
            <p:cNvPr id="390" name="Google Shape;390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Ui/UX Expert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91" name="Google Shape;391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2" name="Google Shape;392;p17"/>
          <p:cNvGrpSpPr/>
          <p:nvPr/>
        </p:nvGrpSpPr>
        <p:grpSpPr>
          <a:xfrm>
            <a:off x="298803" y="3281643"/>
            <a:ext cx="1734192" cy="256660"/>
            <a:chOff x="530597" y="1659894"/>
            <a:chExt cx="1541778" cy="210931"/>
          </a:xfrm>
        </p:grpSpPr>
        <p:sp>
          <p:nvSpPr>
            <p:cNvPr id="393" name="Google Shape;393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Mobility Developer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94" name="Google Shape;394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5" name="Google Shape;395;p17"/>
          <p:cNvGrpSpPr/>
          <p:nvPr/>
        </p:nvGrpSpPr>
        <p:grpSpPr>
          <a:xfrm>
            <a:off x="298803" y="3624423"/>
            <a:ext cx="1734192" cy="256660"/>
            <a:chOff x="530597" y="1659894"/>
            <a:chExt cx="1541778" cy="210931"/>
          </a:xfrm>
        </p:grpSpPr>
        <p:sp>
          <p:nvSpPr>
            <p:cNvPr id="396" name="Google Shape;396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Quality Analyst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97" name="Google Shape;397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8" name="Google Shape;398;p17"/>
          <p:cNvSpPr txBox="1"/>
          <p:nvPr/>
        </p:nvSpPr>
        <p:spPr>
          <a:xfrm>
            <a:off x="5325050" y="2625250"/>
            <a:ext cx="3480300" cy="1313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b="1" i="0" sz="900" u="none" cap="none" strike="noStrike">
              <a:solidFill>
                <a:srgbClr val="CE00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1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Governance Model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406550" y="2890925"/>
            <a:ext cx="8032800" cy="20235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6F3A93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Offer 24/7 technical support with dedicated SLA for critical system issues.</a:t>
            </a:r>
          </a:p>
          <a:p>
            <a:pPr>
              <a:spcAft>
                <a:spcPts val="200"/>
              </a:spcAft>
            </a:pPr>
            <a:r>
              <a:rPr sz="1000"/>
              <a:t>Provide regular system updates and maintenance to ensure compliance and performance.</a:t>
            </a:r>
          </a:p>
          <a:p>
            <a:pPr>
              <a:spcAft>
                <a:spcPts val="200"/>
              </a:spcAft>
            </a:pPr>
            <a:r>
              <a:rPr sz="1000"/>
              <a:t>Ensure data security and privacy through continuous monitoring and encryption.</a:t>
            </a:r>
          </a:p>
          <a:p>
            <a:pPr>
              <a:spcAft>
                <a:spcPts val="200"/>
              </a:spcAft>
            </a:pPr>
            <a:r>
              <a:rPr sz="1000"/>
              <a:t>Offer training and documentation for user portal and integration setup.</a:t>
            </a:r>
          </a:p>
          <a:p>
            <a:pPr>
              <a:spcAft>
                <a:spcPts val="200"/>
              </a:spcAft>
            </a:pPr>
            <a:r>
              <a:rPr sz="1000"/>
              <a:t>Maintain system uptime and performance through proactive monitoring and optimization.</a:t>
            </a:r>
          </a:p>
        </p:txBody>
      </p:sp>
      <p:sp>
        <p:nvSpPr>
          <p:cNvPr id="407" name="Google Shape;407;p18"/>
          <p:cNvSpPr/>
          <p:nvPr/>
        </p:nvSpPr>
        <p:spPr>
          <a:xfrm>
            <a:off x="6340857" y="3106350"/>
            <a:ext cx="1684800" cy="17016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6822582" y="1602888"/>
            <a:ext cx="2121000" cy="8010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330332" y="2029610"/>
            <a:ext cx="6291000" cy="4974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317407" y="1296319"/>
            <a:ext cx="6291000" cy="4443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1" name="Google Shape;411;p18"/>
          <p:cNvCxnSpPr/>
          <p:nvPr/>
        </p:nvCxnSpPr>
        <p:spPr>
          <a:xfrm rot="10800000">
            <a:off x="6694101" y="1402153"/>
            <a:ext cx="1177500" cy="211500"/>
          </a:xfrm>
          <a:prstGeom prst="bentConnector3">
            <a:avLst>
              <a:gd fmla="val -748" name="adj1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12" name="Google Shape;412;p18"/>
          <p:cNvSpPr/>
          <p:nvPr/>
        </p:nvSpPr>
        <p:spPr>
          <a:xfrm>
            <a:off x="1641650" y="3353226"/>
            <a:ext cx="4595100" cy="1180800"/>
          </a:xfrm>
          <a:prstGeom prst="roundRect">
            <a:avLst>
              <a:gd fmla="val 5116" name="adj"/>
            </a:avLst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1988934" y="3446717"/>
            <a:ext cx="1334100" cy="1014300"/>
          </a:xfrm>
          <a:prstGeom prst="roundRect">
            <a:avLst>
              <a:gd fmla="val 5116" name="adj"/>
            </a:avLst>
          </a:prstGeom>
          <a:solidFill>
            <a:srgbClr val="FFFFFF"/>
          </a:solidFill>
          <a:ln cap="flat" cmpd="sng" w="9525">
            <a:solidFill>
              <a:srgbClr val="CC006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8"/>
          <p:cNvSpPr txBox="1"/>
          <p:nvPr/>
        </p:nvSpPr>
        <p:spPr>
          <a:xfrm>
            <a:off x="1988925" y="3507010"/>
            <a:ext cx="133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Apex Retail Solutions Stakeholders</a:t>
            </a:r>
          </a:p>
        </p:txBody>
      </p:sp>
      <p:pic>
        <p:nvPicPr>
          <p:cNvPr id="415" name="Google Shape;4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6311" y="3951547"/>
            <a:ext cx="519140" cy="30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9434" y="3917769"/>
            <a:ext cx="252974" cy="2577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7" name="Google Shape;417;p18"/>
          <p:cNvCxnSpPr/>
          <p:nvPr/>
        </p:nvCxnSpPr>
        <p:spPr>
          <a:xfrm rot="10800000">
            <a:off x="3852626" y="4030223"/>
            <a:ext cx="2766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8"/>
          <p:cNvSpPr/>
          <p:nvPr/>
        </p:nvSpPr>
        <p:spPr>
          <a:xfrm>
            <a:off x="7325193" y="3938946"/>
            <a:ext cx="291000" cy="2229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7182882" y="4191775"/>
            <a:ext cx="660900" cy="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3475" lIns="33475" spcFirstLastPara="1" rIns="33475" wrap="square" tIns="3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Month Demo</a:t>
            </a:r>
            <a:endParaRPr b="1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7325208" y="3356749"/>
            <a:ext cx="291000" cy="2229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7182897" y="3586774"/>
            <a:ext cx="5754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3475" lIns="33475" spcFirstLastPara="1" rIns="33475" wrap="square" tIns="3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Month Planning 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2" name="Google Shape;42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6594" y="3407623"/>
            <a:ext cx="168328" cy="12127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8"/>
          <p:cNvSpPr/>
          <p:nvPr/>
        </p:nvSpPr>
        <p:spPr>
          <a:xfrm>
            <a:off x="6635482" y="3359668"/>
            <a:ext cx="291000" cy="2229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6493150" y="3584986"/>
            <a:ext cx="5754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3475" lIns="33475" spcFirstLastPara="1" rIns="33475" wrap="square" tIns="3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Daily Stand-ups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5" name="Google Shape;42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7109" y="3399220"/>
            <a:ext cx="187848" cy="143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8788" y="3981126"/>
            <a:ext cx="183912" cy="1386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7" name="Google Shape;427;p18"/>
          <p:cNvCxnSpPr/>
          <p:nvPr/>
        </p:nvCxnSpPr>
        <p:spPr>
          <a:xfrm rot="10800000">
            <a:off x="6608487" y="3903739"/>
            <a:ext cx="1217400" cy="51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ot"/>
            <a:miter lim="0"/>
            <a:headEnd len="sm" w="sm" type="oval"/>
            <a:tailEnd len="sm" w="sm" type="oval"/>
          </a:ln>
        </p:spPr>
      </p:cxnSp>
      <p:cxnSp>
        <p:nvCxnSpPr>
          <p:cNvPr id="428" name="Google Shape;428;p18"/>
          <p:cNvCxnSpPr/>
          <p:nvPr/>
        </p:nvCxnSpPr>
        <p:spPr>
          <a:xfrm>
            <a:off x="7149754" y="3492278"/>
            <a:ext cx="900" cy="902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ot"/>
            <a:miter lim="0"/>
            <a:headEnd len="sm" w="sm" type="oval"/>
            <a:tailEnd len="sm" w="sm" type="oval"/>
          </a:ln>
        </p:spPr>
      </p:cxnSp>
      <p:sp>
        <p:nvSpPr>
          <p:cNvPr id="429" name="Google Shape;429;p18"/>
          <p:cNvSpPr/>
          <p:nvPr/>
        </p:nvSpPr>
        <p:spPr>
          <a:xfrm>
            <a:off x="6635482" y="3941925"/>
            <a:ext cx="291000" cy="2229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6493929" y="4191765"/>
            <a:ext cx="575400" cy="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3475" lIns="33475" spcFirstLastPara="1" rIns="33475" wrap="square" tIns="3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Joint Retrospective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18"/>
          <p:cNvSpPr txBox="1"/>
          <p:nvPr/>
        </p:nvSpPr>
        <p:spPr>
          <a:xfrm>
            <a:off x="6281307" y="3099123"/>
            <a:ext cx="168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Engagement Highlights 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18"/>
          <p:cNvSpPr txBox="1"/>
          <p:nvPr/>
        </p:nvSpPr>
        <p:spPr>
          <a:xfrm>
            <a:off x="4479247" y="1409956"/>
            <a:ext cx="1809900" cy="278100"/>
          </a:xfrm>
          <a:prstGeom prst="rect">
            <a:avLst/>
          </a:prstGeom>
          <a:solidFill>
            <a:srgbClr val="1251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TTN Executive Leadership and Business Unit Head </a:t>
            </a:r>
            <a:endParaRPr b="1" i="0" sz="8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18"/>
          <p:cNvSpPr txBox="1"/>
          <p:nvPr/>
        </p:nvSpPr>
        <p:spPr>
          <a:xfrm>
            <a:off x="1629325" y="1419354"/>
            <a:ext cx="2121000" cy="259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Apex Retail Solutions  Executive</a:t>
            </a:r>
          </a:p>
          <a:p>
            <a:r>
              <a:t>Leadership</a:t>
            </a:r>
          </a:p>
        </p:txBody>
      </p:sp>
      <p:sp>
        <p:nvSpPr>
          <p:cNvPr id="434" name="Google Shape;434;p18"/>
          <p:cNvSpPr txBox="1"/>
          <p:nvPr/>
        </p:nvSpPr>
        <p:spPr>
          <a:xfrm>
            <a:off x="4479247" y="2090204"/>
            <a:ext cx="1809900" cy="278100"/>
          </a:xfrm>
          <a:prstGeom prst="rect">
            <a:avLst/>
          </a:prstGeom>
          <a:solidFill>
            <a:srgbClr val="1251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TTN Delivery Director /</a:t>
            </a:r>
            <a:endParaRPr b="1" i="0" sz="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Project Manager</a:t>
            </a:r>
            <a:endParaRPr b="1" i="0" sz="8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2548207" y="1079370"/>
            <a:ext cx="205500" cy="240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7B7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5320907" y="1073100"/>
            <a:ext cx="205500" cy="240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251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37" name="Google Shape;437;p18"/>
          <p:cNvCxnSpPr/>
          <p:nvPr/>
        </p:nvCxnSpPr>
        <p:spPr>
          <a:xfrm rot="10800000">
            <a:off x="2632112" y="1752704"/>
            <a:ext cx="0" cy="231900"/>
          </a:xfrm>
          <a:prstGeom prst="straightConnector1">
            <a:avLst/>
          </a:prstGeom>
          <a:noFill/>
          <a:ln cap="flat" cmpd="sng" w="25400">
            <a:solidFill>
              <a:srgbClr val="B7B7B7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438" name="Google Shape;438;p18"/>
          <p:cNvSpPr txBox="1"/>
          <p:nvPr/>
        </p:nvSpPr>
        <p:spPr>
          <a:xfrm>
            <a:off x="4374390" y="1777945"/>
            <a:ext cx="955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Direction &amp; Program Updates</a:t>
            </a:r>
            <a:endParaRPr b="0" i="0" sz="7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39" name="Google Shape;439;p18"/>
          <p:cNvCxnSpPr/>
          <p:nvPr/>
        </p:nvCxnSpPr>
        <p:spPr>
          <a:xfrm>
            <a:off x="5423642" y="1772254"/>
            <a:ext cx="0" cy="231900"/>
          </a:xfrm>
          <a:prstGeom prst="straightConnector1">
            <a:avLst/>
          </a:prstGeom>
          <a:noFill/>
          <a:ln cap="flat" cmpd="sng" w="25400">
            <a:solidFill>
              <a:srgbClr val="B7B7B7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440" name="Google Shape;440;p18"/>
          <p:cNvSpPr txBox="1"/>
          <p:nvPr/>
        </p:nvSpPr>
        <p:spPr>
          <a:xfrm>
            <a:off x="4336415" y="2517264"/>
            <a:ext cx="9816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Direction &amp; Program Updates</a:t>
            </a:r>
            <a:endParaRPr b="0" i="0" sz="7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1" name="Google Shape;441;p18"/>
          <p:cNvCxnSpPr/>
          <p:nvPr/>
        </p:nvCxnSpPr>
        <p:spPr>
          <a:xfrm>
            <a:off x="5423650" y="2504893"/>
            <a:ext cx="0" cy="332700"/>
          </a:xfrm>
          <a:prstGeom prst="straightConnector1">
            <a:avLst/>
          </a:prstGeom>
          <a:noFill/>
          <a:ln cap="flat" cmpd="sng" w="25400">
            <a:solidFill>
              <a:srgbClr val="B7B7B7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42" name="Google Shape;442;p18"/>
          <p:cNvCxnSpPr>
            <a:stCxn id="433" idx="3"/>
            <a:endCxn id="432" idx="1"/>
          </p:cNvCxnSpPr>
          <p:nvPr/>
        </p:nvCxnSpPr>
        <p:spPr>
          <a:xfrm flipH="1" rot="10800000">
            <a:off x="3750325" y="1548954"/>
            <a:ext cx="729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"/>
            <a:headEnd len="med" w="med" type="triangle"/>
            <a:tailEnd len="med" w="med" type="triangle"/>
          </a:ln>
        </p:spPr>
      </p:cxnSp>
      <p:cxnSp>
        <p:nvCxnSpPr>
          <p:cNvPr id="443" name="Google Shape;443;p18"/>
          <p:cNvCxnSpPr>
            <a:stCxn id="444" idx="3"/>
            <a:endCxn id="434" idx="1"/>
          </p:cNvCxnSpPr>
          <p:nvPr/>
        </p:nvCxnSpPr>
        <p:spPr>
          <a:xfrm>
            <a:off x="3750325" y="2229258"/>
            <a:ext cx="729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"/>
            <a:headEnd len="med" w="med" type="triangle"/>
            <a:tailEnd len="med" w="med" type="triangle"/>
          </a:ln>
        </p:spPr>
      </p:cxnSp>
      <p:sp>
        <p:nvSpPr>
          <p:cNvPr id="444" name="Google Shape;444;p18"/>
          <p:cNvSpPr txBox="1"/>
          <p:nvPr/>
        </p:nvSpPr>
        <p:spPr>
          <a:xfrm>
            <a:off x="1629325" y="2090208"/>
            <a:ext cx="2121000" cy="2781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Product Manager, Apex Retail Solutions </a:t>
            </a:r>
          </a:p>
        </p:txBody>
      </p:sp>
      <p:sp>
        <p:nvSpPr>
          <p:cNvPr id="445" name="Google Shape;445;p18"/>
          <p:cNvSpPr txBox="1"/>
          <p:nvPr/>
        </p:nvSpPr>
        <p:spPr>
          <a:xfrm>
            <a:off x="2864276" y="2533538"/>
            <a:ext cx="6609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Escalate Risks &amp; Issues</a:t>
            </a:r>
            <a:endParaRPr b="0" i="0" sz="7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6" name="Google Shape;446;p18"/>
          <p:cNvCxnSpPr/>
          <p:nvPr/>
        </p:nvCxnSpPr>
        <p:spPr>
          <a:xfrm rot="10800000">
            <a:off x="2632100" y="2507218"/>
            <a:ext cx="0" cy="365700"/>
          </a:xfrm>
          <a:prstGeom prst="straightConnector1">
            <a:avLst/>
          </a:prstGeom>
          <a:noFill/>
          <a:ln cap="flat" cmpd="sng" w="25400">
            <a:solidFill>
              <a:srgbClr val="B7B7B7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47" name="Google Shape;447;p18"/>
          <p:cNvCxnSpPr>
            <a:stCxn id="431" idx="0"/>
            <a:endCxn id="412" idx="0"/>
          </p:cNvCxnSpPr>
          <p:nvPr/>
        </p:nvCxnSpPr>
        <p:spPr>
          <a:xfrm rot="5400000">
            <a:off x="5404407" y="1633923"/>
            <a:ext cx="254100" cy="3184500"/>
          </a:xfrm>
          <a:prstGeom prst="bentConnector3">
            <a:avLst>
              <a:gd fmla="val -93713" name="adj1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48" name="Google Shape;448;p18"/>
          <p:cNvSpPr/>
          <p:nvPr/>
        </p:nvSpPr>
        <p:spPr>
          <a:xfrm>
            <a:off x="7182432" y="1935141"/>
            <a:ext cx="14013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60925" spcFirstLastPara="1" rIns="60925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700" u="none" cap="none" strike="noStrike">
                <a:solidFill>
                  <a:srgbClr val="191919"/>
                </a:solidFill>
                <a:latin typeface="Montserrat"/>
                <a:ea typeface="Montserrat"/>
                <a:cs typeface="Montserrat"/>
                <a:sym typeface="Montserrat"/>
              </a:rPr>
              <a:t>Monthly Governance Checkpoints (SteerCo)</a:t>
            </a:r>
            <a:endParaRPr b="1" i="0" sz="700" u="none" cap="none" strike="noStrike">
              <a:solidFill>
                <a:srgbClr val="19191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7712458" y="1639644"/>
            <a:ext cx="318300" cy="3117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4196599" y="3403869"/>
            <a:ext cx="1334100" cy="941700"/>
          </a:xfrm>
          <a:prstGeom prst="roundRect">
            <a:avLst>
              <a:gd fmla="val 5116" name="adj"/>
            </a:avLst>
          </a:prstGeom>
          <a:solidFill>
            <a:srgbClr val="FFFFFF"/>
          </a:solidFill>
          <a:ln cap="flat" cmpd="sng" w="9525">
            <a:solidFill>
              <a:srgbClr val="CC006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1" name="Google Shape;45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56651" y="1712375"/>
            <a:ext cx="229899" cy="166176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8"/>
          <p:cNvSpPr/>
          <p:nvPr/>
        </p:nvSpPr>
        <p:spPr>
          <a:xfrm>
            <a:off x="4128891" y="3446717"/>
            <a:ext cx="1334100" cy="1014300"/>
          </a:xfrm>
          <a:prstGeom prst="roundRect">
            <a:avLst>
              <a:gd fmla="val 5116" name="adj"/>
            </a:avLst>
          </a:prstGeom>
          <a:solidFill>
            <a:srgbClr val="FFFFFF"/>
          </a:solidFill>
          <a:ln cap="flat" cmpd="sng" w="9525">
            <a:solidFill>
              <a:srgbClr val="CC006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18"/>
          <p:cNvPicPr preferRelativeResize="0"/>
          <p:nvPr/>
        </p:nvPicPr>
        <p:blipFill rotWithShape="1">
          <a:blip r:embed="rId9">
            <a:alphaModFix/>
          </a:blip>
          <a:srcRect b="18198" l="21766" r="23601" t="16993"/>
          <a:stretch/>
        </p:blipFill>
        <p:spPr>
          <a:xfrm>
            <a:off x="4259212" y="4081790"/>
            <a:ext cx="193693" cy="18171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8"/>
          <p:cNvSpPr txBox="1"/>
          <p:nvPr/>
        </p:nvSpPr>
        <p:spPr>
          <a:xfrm>
            <a:off x="4380925" y="3505629"/>
            <a:ext cx="83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TTN Team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18"/>
          <p:cNvSpPr txBox="1"/>
          <p:nvPr/>
        </p:nvSpPr>
        <p:spPr>
          <a:xfrm>
            <a:off x="4232743" y="3979995"/>
            <a:ext cx="126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TTN Engineering </a:t>
            </a:r>
            <a:endParaRPr b="1" i="0" sz="7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Team</a:t>
            </a:r>
            <a:endParaRPr b="1" i="0" sz="7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56" name="Google Shape;456;p18"/>
          <p:cNvPicPr preferRelativeResize="0"/>
          <p:nvPr/>
        </p:nvPicPr>
        <p:blipFill rotWithShape="1">
          <a:blip r:embed="rId9">
            <a:alphaModFix/>
          </a:blip>
          <a:srcRect b="18198" l="21766" r="23601" t="16993"/>
          <a:stretch/>
        </p:blipFill>
        <p:spPr>
          <a:xfrm>
            <a:off x="4271897" y="3802253"/>
            <a:ext cx="168324" cy="180046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8"/>
          <p:cNvSpPr txBox="1"/>
          <p:nvPr/>
        </p:nvSpPr>
        <p:spPr>
          <a:xfrm>
            <a:off x="4388911" y="3821314"/>
            <a:ext cx="9816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Manager</a:t>
            </a:r>
            <a:endParaRPr b="1" i="0" sz="7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58" name="Google Shape;458;p18"/>
          <p:cNvCxnSpPr/>
          <p:nvPr/>
        </p:nvCxnSpPr>
        <p:spPr>
          <a:xfrm rot="10800000">
            <a:off x="3316313" y="4030223"/>
            <a:ext cx="2766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59" name="Google Shape;45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99607" y="3982434"/>
            <a:ext cx="183925" cy="135766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8"/>
          <p:cNvSpPr txBox="1"/>
          <p:nvPr/>
        </p:nvSpPr>
        <p:spPr>
          <a:xfrm>
            <a:off x="359857" y="1281370"/>
            <a:ext cx="117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Steering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Committee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18"/>
          <p:cNvSpPr txBox="1"/>
          <p:nvPr/>
        </p:nvSpPr>
        <p:spPr>
          <a:xfrm>
            <a:off x="409932" y="2011328"/>
            <a:ext cx="98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2" name="Google Shape;462;p18"/>
          <p:cNvCxnSpPr>
            <a:stCxn id="448" idx="2"/>
          </p:cNvCxnSpPr>
          <p:nvPr/>
        </p:nvCxnSpPr>
        <p:spPr>
          <a:xfrm flipH="1" rot="5400000">
            <a:off x="7211532" y="1707891"/>
            <a:ext cx="81300" cy="1261800"/>
          </a:xfrm>
          <a:prstGeom prst="bentConnector4">
            <a:avLst>
              <a:gd fmla="val -292897" name="adj1"/>
              <a:gd fmla="val 77764" name="adj2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63" name="Google Shape;463;p18"/>
          <p:cNvSpPr txBox="1"/>
          <p:nvPr/>
        </p:nvSpPr>
        <p:spPr>
          <a:xfrm>
            <a:off x="428857" y="35639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TTN Logo.png" id="464" name="Google Shape;46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10881" y="612478"/>
            <a:ext cx="625544" cy="349439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9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71" name="Google Shape;471;p19"/>
          <p:cNvGraphicFramePr/>
          <p:nvPr/>
        </p:nvGraphicFramePr>
        <p:xfrm>
          <a:off x="232325" y="70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{2ED30D0B-F584-43FB-8283-64062CD711C6}</a:tableStyleId>
              </a:tblPr>
              <a:tblGrid>
                <a:gridCol w="1256925"/>
                <a:gridCol w="461550"/>
                <a:gridCol w="476475"/>
                <a:gridCol w="453325"/>
                <a:gridCol w="498275"/>
                <a:gridCol w="464450"/>
                <a:gridCol w="457375"/>
                <a:gridCol w="517625"/>
                <a:gridCol w="517625"/>
                <a:gridCol w="517625"/>
                <a:gridCol w="517625"/>
                <a:gridCol w="517625"/>
                <a:gridCol w="517625"/>
                <a:gridCol w="517625"/>
                <a:gridCol w="517625"/>
                <a:gridCol w="517625"/>
              </a:tblGrid>
              <a:tr h="320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Activities /Timelines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2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3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4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5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6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7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8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9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10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11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12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13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14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15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</a:tr>
              <a:tr h="654150">
                <a:tc>
                  <a:txBody>
                    <a:bodyPr/>
                    <a:lstStyle/>
                    <a:p>
                      <a:r>
                        <a:t>Leverage existing integration capabilities for search engines</a:t>
                      </a:r>
                    </a:p>
                  </a:txBody>
                  <a:tcPr marT="19050" marB="19050" marR="0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Leverage existing integration capabilities for search engines, payment gateways, and CMS platforms.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0700">
                <a:tc>
                  <a:txBody>
                    <a:bodyPr/>
                    <a:lstStyle/>
                    <a:p>
                      <a:r>
                        <a:t>Design a modular architecture to support frontend decoupling and backend</a:t>
                      </a:r>
                    </a:p>
                  </a:txBody>
                  <a:tcPr marT="19050" marB="19050" marR="0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Design a modular architecture to support frontend decoupling and backend scalability.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0375">
                <a:tc>
                  <a:txBody>
                    <a:bodyPr/>
                    <a:lstStyle/>
                    <a:p>
                      <a:r>
                        <a:t>Implement security protocols to meet PCI-DSS, GDPR, and CCPA standards.</a:t>
                      </a:r>
                    </a:p>
                  </a:txBody>
                  <a:tcPr marT="19050" marB="19050" marR="0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Implement security protocols to meet PCI-DSS, GDPR, and CCPA standards.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8850">
                <a:tc>
                  <a:txBody>
                    <a:bodyPr/>
                    <a:lstStyle/>
                    <a:p>
                      <a:r>
                        <a:t>Ensure accessibility compliance and optimize performance for core web vitals.</a:t>
                      </a:r>
                    </a:p>
                  </a:txBody>
                  <a:tcPr marT="19050" marB="19050" marR="0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Ensure accessibility compliance and optimize performance for core web vitals.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2" name="Google Shape;472;p19"/>
          <p:cNvSpPr/>
          <p:nvPr/>
        </p:nvSpPr>
        <p:spPr>
          <a:xfrm>
            <a:off x="1489250" y="1136263"/>
            <a:ext cx="938100" cy="164700"/>
          </a:xfrm>
          <a:prstGeom prst="homePlate">
            <a:avLst>
              <a:gd fmla="val 50000" name="adj"/>
            </a:avLst>
          </a:prstGeom>
          <a:solidFill>
            <a:srgbClr val="F5B6D7"/>
          </a:solidFill>
          <a:ln cap="flat" cmpd="sng" w="9525">
            <a:solidFill>
              <a:srgbClr val="F5B6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Discovery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2427275" y="1935925"/>
            <a:ext cx="4443600" cy="307800"/>
          </a:xfrm>
          <a:prstGeom prst="homePlate">
            <a:avLst>
              <a:gd fmla="val 50000" name="adj"/>
            </a:avLst>
          </a:prstGeom>
          <a:solidFill>
            <a:srgbClr val="D71B7F"/>
          </a:solidFill>
          <a:ln cap="flat" cmpd="sng" w="9525">
            <a:solidFill>
              <a:srgbClr val="F5B6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6888825" y="2711775"/>
            <a:ext cx="1035300" cy="307800"/>
          </a:xfrm>
          <a:prstGeom prst="homePlate">
            <a:avLst>
              <a:gd fmla="val 50000" name="adj"/>
            </a:avLst>
          </a:prstGeom>
          <a:solidFill>
            <a:srgbClr val="6AA84F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5" name="Google Shape;4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8825" y="2550325"/>
            <a:ext cx="240600" cy="2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9"/>
          <p:cNvSpPr/>
          <p:nvPr/>
        </p:nvSpPr>
        <p:spPr>
          <a:xfrm>
            <a:off x="7924075" y="3444925"/>
            <a:ext cx="1035300" cy="307800"/>
          </a:xfrm>
          <a:prstGeom prst="homePlate">
            <a:avLst>
              <a:gd fmla="val 50000" name="adj"/>
            </a:avLst>
          </a:prstGeom>
          <a:solidFill>
            <a:srgbClr val="FF9900"/>
          </a:solidFill>
          <a:ln cap="flat" cmpd="sng" w="9525">
            <a:solidFill>
              <a:srgbClr val="F5B6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7" name="Google Shape;4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7075" y="3184775"/>
            <a:ext cx="240600" cy="2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9"/>
          <p:cNvSpPr txBox="1"/>
          <p:nvPr/>
        </p:nvSpPr>
        <p:spPr>
          <a:xfrm>
            <a:off x="266700" y="4399275"/>
            <a:ext cx="859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  <p:pic>
        <p:nvPicPr>
          <p:cNvPr id="480" name="Google Shape;4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6050" y="1736975"/>
            <a:ext cx="240600" cy="2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8225" y="1736975"/>
            <a:ext cx="240600" cy="2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5350" y="1736975"/>
            <a:ext cx="240600" cy="2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2475" y="1736975"/>
            <a:ext cx="240600" cy="2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50" y="3950950"/>
            <a:ext cx="240600" cy="2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9"/>
          <p:cNvSpPr txBox="1"/>
          <p:nvPr/>
        </p:nvSpPr>
        <p:spPr>
          <a:xfrm>
            <a:off x="758750" y="3909700"/>
            <a:ext cx="200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Product Increment Review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6" name="Google Shape;4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3050" y="3950950"/>
            <a:ext cx="240600" cy="2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9"/>
          <p:cNvSpPr txBox="1"/>
          <p:nvPr/>
        </p:nvSpPr>
        <p:spPr>
          <a:xfrm>
            <a:off x="3120950" y="3909700"/>
            <a:ext cx="200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UAT and Go-Live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1489250" y="1392800"/>
            <a:ext cx="2811600" cy="164700"/>
          </a:xfrm>
          <a:prstGeom prst="homePlate">
            <a:avLst>
              <a:gd fmla="val 50000" name="adj"/>
            </a:avLst>
          </a:prstGeom>
          <a:solidFill>
            <a:srgbClr val="F5B6D7"/>
          </a:solidFill>
          <a:ln cap="flat" cmpd="sng" w="9525">
            <a:solidFill>
              <a:srgbClr val="F5B6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Design Phase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0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0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95" name="Google Shape;495;p20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20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8" name="Google Shape;498;p20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20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20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p20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5" name="Google Shape;505;p20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6" name="Google Shape;506;p20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8" name="Google Shape;508;p20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9" name="Google Shape;509;p20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0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1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Proposed Engagement Model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21"/>
          <p:cNvSpPr/>
          <p:nvPr/>
        </p:nvSpPr>
        <p:spPr>
          <a:xfrm>
            <a:off x="268738" y="861370"/>
            <a:ext cx="4201500" cy="3718200"/>
          </a:xfrm>
          <a:prstGeom prst="snip1Rect">
            <a:avLst>
              <a:gd fmla="val 14134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0" wrap="square" tIns="91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Agile development with iterative sprints</a:t>
            </a:r>
          </a:p>
          <a:p>
            <a:pPr>
              <a:spcAft>
                <a:spcPts val="200"/>
              </a:spcAft>
            </a:pPr>
            <a:r>
              <a:rPr sz="1000"/>
              <a:t>Regular stakeholder reviews and feedback sessions</a:t>
            </a:r>
          </a:p>
          <a:p>
            <a:pPr>
              <a:spcAft>
                <a:spcPts val="200"/>
              </a:spcAft>
            </a:pPr>
            <a:r>
              <a:rPr sz="1000"/>
              <a:t>Integration testing with third-party systems</a:t>
            </a:r>
          </a:p>
          <a:p>
            <a:pPr>
              <a:spcAft>
                <a:spcPts val="200"/>
              </a:spcAft>
            </a:pPr>
            <a:r>
              <a:rPr sz="1000"/>
              <a:t>Compliance audits and security assessments</a:t>
            </a:r>
          </a:p>
          <a:p>
            <a:pPr>
              <a:spcAft>
                <a:spcPts val="200"/>
              </a:spcAft>
            </a:pPr>
            <a:r>
              <a:rPr sz="1000"/>
              <a:t>Ongoing support for system maintenance and updates</a:t>
            </a:r>
          </a:p>
        </p:txBody>
      </p:sp>
      <p:cxnSp>
        <p:nvCxnSpPr>
          <p:cNvPr id="517" name="Google Shape;517;p21"/>
          <p:cNvCxnSpPr/>
          <p:nvPr/>
        </p:nvCxnSpPr>
        <p:spPr>
          <a:xfrm>
            <a:off x="272290" y="855475"/>
            <a:ext cx="0" cy="37104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8" name="Google Shape;518;p21"/>
          <p:cNvSpPr/>
          <p:nvPr/>
        </p:nvSpPr>
        <p:spPr>
          <a:xfrm>
            <a:off x="4673772" y="863998"/>
            <a:ext cx="4201500" cy="3704400"/>
          </a:xfrm>
          <a:prstGeom prst="snip1Rect">
            <a:avLst>
              <a:gd fmla="val 14134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0" wrap="square" tIns="91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Commercial pricing and payment terms will be agreed based on final scope, milestones, and contract.</a:t>
            </a:r>
          </a:p>
        </p:txBody>
      </p:sp>
      <p:cxnSp>
        <p:nvCxnSpPr>
          <p:cNvPr id="519" name="Google Shape;519;p21"/>
          <p:cNvCxnSpPr/>
          <p:nvPr/>
        </p:nvCxnSpPr>
        <p:spPr>
          <a:xfrm>
            <a:off x="4677324" y="858123"/>
            <a:ext cx="0" cy="3697500"/>
          </a:xfrm>
          <a:prstGeom prst="straightConnector1">
            <a:avLst/>
          </a:prstGeom>
          <a:noFill/>
          <a:ln cap="flat" cmpd="sng" w="19050">
            <a:solidFill>
              <a:srgbClr val="D4188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0" name="Google Shape;520;p21"/>
          <p:cNvSpPr txBox="1"/>
          <p:nvPr/>
        </p:nvSpPr>
        <p:spPr>
          <a:xfrm>
            <a:off x="554448" y="989025"/>
            <a:ext cx="3423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Fixed Price Fixed Scope Engagement</a:t>
            </a:r>
            <a:endParaRPr b="0" i="0" sz="11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p21"/>
          <p:cNvSpPr txBox="1"/>
          <p:nvPr/>
        </p:nvSpPr>
        <p:spPr>
          <a:xfrm>
            <a:off x="5322463" y="989017"/>
            <a:ext cx="2638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1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3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3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29" name="Google Shape;529;p23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p23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1" name="Google Shape;531;p23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2" name="Google Shape;532;p23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3" name="Google Shape;533;p23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4" name="Google Shape;534;p23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5" name="Google Shape;535;p23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3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3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3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9" name="Google Shape;539;p23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0" name="Google Shape;540;p23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3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2" name="Google Shape;542;p23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3" name="Google Shape;543;p23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3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4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4"/>
          <p:cNvSpPr txBox="1"/>
          <p:nvPr/>
        </p:nvSpPr>
        <p:spPr>
          <a:xfrm>
            <a:off x="6222488" y="959944"/>
            <a:ext cx="2693100" cy="2014200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57150">
              <a:srgbClr val="000000">
                <a:alpha val="1098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Since 2018, TTN has been a strategic partner in Tabcorp’s transformation, evolving from supporting its digital arm to over 150 people enabling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digital, gaming, data, trackside, retail, 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cybersecurity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Together, we have delivered groundbreaking solutions at scale.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From omni-channel innovations like a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cross-platform betting app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integrating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web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mobile experiences, customer engagement and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personalisation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through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Adobe Target, Analytics, and AEM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to infrastructure modernisation with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Infra as Code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AWS Cloud optimisation, and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Graviton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migration, to reducing manual testing by 45% through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automation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have enabled compliance adherence through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AML/CTF tools 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Enhanced Customer Due Diligence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suppression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management.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work includes cutting-edge betting features like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Same Game Multi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for sports,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Blackbook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for racing, and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Retail in-play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initiatives to boost engagement and custom experiences.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24"/>
          <p:cNvSpPr/>
          <p:nvPr/>
        </p:nvSpPr>
        <p:spPr>
          <a:xfrm>
            <a:off x="6123225" y="763069"/>
            <a:ext cx="2232300" cy="267900"/>
          </a:xfrm>
          <a:prstGeom prst="rect">
            <a:avLst/>
          </a:prstGeom>
          <a:solidFill>
            <a:srgbClr val="5C7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Australia </a:t>
            </a:r>
            <a:endParaRPr b="0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2" name="Google Shape;5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115" y="1314638"/>
            <a:ext cx="4862602" cy="266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4"/>
          <p:cNvPicPr preferRelativeResize="0"/>
          <p:nvPr/>
        </p:nvPicPr>
        <p:blipFill rotWithShape="1">
          <a:blip r:embed="rId5">
            <a:alphaModFix/>
          </a:blip>
          <a:srcRect b="10521" l="6650" r="11154" t="4633"/>
          <a:stretch/>
        </p:blipFill>
        <p:spPr>
          <a:xfrm>
            <a:off x="851944" y="1443453"/>
            <a:ext cx="3776945" cy="1955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24"/>
          <p:cNvPicPr preferRelativeResize="0"/>
          <p:nvPr/>
        </p:nvPicPr>
        <p:blipFill rotWithShape="1">
          <a:blip r:embed="rId6">
            <a:alphaModFix/>
          </a:blip>
          <a:srcRect b="51129" l="0" r="0" t="0"/>
          <a:stretch/>
        </p:blipFill>
        <p:spPr>
          <a:xfrm>
            <a:off x="851951" y="1443450"/>
            <a:ext cx="3776933" cy="2202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13317" y="1131394"/>
            <a:ext cx="1400655" cy="2780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98073" y="1209199"/>
            <a:ext cx="1236900" cy="2565600"/>
          </a:xfrm>
          <a:prstGeom prst="round2SameRect">
            <a:avLst>
              <a:gd fmla="val 10615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557" name="Google Shape;557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7877" y="179550"/>
            <a:ext cx="1531468" cy="2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TN Logo.png" id="558" name="Google Shape;558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24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5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5"/>
          <p:cNvSpPr txBox="1"/>
          <p:nvPr/>
        </p:nvSpPr>
        <p:spPr>
          <a:xfrm>
            <a:off x="6221063" y="1127906"/>
            <a:ext cx="2846400" cy="2014200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57150">
              <a:srgbClr val="000000">
                <a:alpha val="1098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TTN successfully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rebuilt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entire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Sky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Racing Website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optimised for SEO, and implemented a microservices-based architecture that is highly resilient and scalable, hosted on AWS. </a:t>
            </a:r>
            <a:b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addition to enhancing core digital properties,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TTN streamlined content curation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through a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custom-built CMS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enabling auto and personalised playlists based on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user preferences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which significantly improved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operational efficiency.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platform features live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race streaming and VOD content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leveraging a comprehensive technology stack that includes Kotlin, Swift, Java, MongoDB, Spring Boot, and more.</a:t>
            </a:r>
            <a:endParaRPr b="1" i="0" sz="900" u="none" cap="none" strike="noStrike">
              <a:solidFill>
                <a:srgbClr val="D918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6" name="Google Shape;56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96" y="156319"/>
            <a:ext cx="612506" cy="510431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5"/>
          <p:cNvSpPr/>
          <p:nvPr/>
        </p:nvSpPr>
        <p:spPr>
          <a:xfrm>
            <a:off x="6123225" y="763069"/>
            <a:ext cx="2232300" cy="267900"/>
          </a:xfrm>
          <a:prstGeom prst="rect">
            <a:avLst/>
          </a:prstGeom>
          <a:solidFill>
            <a:srgbClr val="5C7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Australia </a:t>
            </a:r>
            <a:endParaRPr b="0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8" name="Google Shape;56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9115" y="1314638"/>
            <a:ext cx="4862602" cy="266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25"/>
          <p:cNvPicPr preferRelativeResize="0"/>
          <p:nvPr/>
        </p:nvPicPr>
        <p:blipFill rotWithShape="1">
          <a:blip r:embed="rId6">
            <a:alphaModFix/>
          </a:blip>
          <a:srcRect b="10521" l="6650" r="11154" t="4633"/>
          <a:stretch/>
        </p:blipFill>
        <p:spPr>
          <a:xfrm>
            <a:off x="851944" y="1443453"/>
            <a:ext cx="3776945" cy="1955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13317" y="1131394"/>
            <a:ext cx="1400655" cy="2780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98073" y="1209199"/>
            <a:ext cx="1236900" cy="2565600"/>
          </a:xfrm>
          <a:prstGeom prst="round2SameRect">
            <a:avLst>
              <a:gd fmla="val 10615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572" name="Google Shape;572;p25"/>
          <p:cNvPicPr preferRelativeResize="0"/>
          <p:nvPr/>
        </p:nvPicPr>
        <p:blipFill rotWithShape="1">
          <a:blip r:embed="rId9">
            <a:alphaModFix/>
          </a:blip>
          <a:srcRect b="14288" l="0" r="0" t="0"/>
          <a:stretch/>
        </p:blipFill>
        <p:spPr>
          <a:xfrm>
            <a:off x="851951" y="1443450"/>
            <a:ext cx="3361367" cy="214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98069" y="1177687"/>
            <a:ext cx="1236900" cy="2597100"/>
          </a:xfrm>
          <a:prstGeom prst="round2SameRect">
            <a:avLst>
              <a:gd fmla="val 13849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TTN Logo.png" id="574" name="Google Shape;574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5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6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6"/>
          <p:cNvSpPr txBox="1"/>
          <p:nvPr/>
        </p:nvSpPr>
        <p:spPr>
          <a:xfrm>
            <a:off x="6221063" y="1127906"/>
            <a:ext cx="2846400" cy="2014200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57150">
              <a:srgbClr val="000000">
                <a:alpha val="1098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Tata Play partnered with us to reimagine their digital platforms - bringing innovation to both entertainment and customer self-service.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engineered a secure OTT solution featuring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Live TV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VoD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DRM integration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user-friendly tools like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remote recording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rich analytics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In parallel, we developed a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React Native-based Self-Care app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with a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unified Android/iOS codebase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enabling faster releases and seamless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CRM/payment gateway integration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Powered by a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microservices architecture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the platforms are scalable, resilient, and experience-driven.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Achieved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70%+ mobile engagement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improved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app ratings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higher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user adoption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increased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recharge and upsell conversions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across digital channels.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2" name="Google Shape;582;p26"/>
          <p:cNvSpPr/>
          <p:nvPr/>
        </p:nvSpPr>
        <p:spPr>
          <a:xfrm>
            <a:off x="6123225" y="763069"/>
            <a:ext cx="2232300" cy="267900"/>
          </a:xfrm>
          <a:prstGeom prst="rect">
            <a:avLst/>
          </a:prstGeom>
          <a:solidFill>
            <a:srgbClr val="5C7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India</a:t>
            </a:r>
            <a:endParaRPr b="0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3" name="Google Shape;58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115" y="1314638"/>
            <a:ext cx="4862602" cy="266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26"/>
          <p:cNvPicPr preferRelativeResize="0"/>
          <p:nvPr/>
        </p:nvPicPr>
        <p:blipFill rotWithShape="1">
          <a:blip r:embed="rId5">
            <a:alphaModFix/>
          </a:blip>
          <a:srcRect b="10521" l="6650" r="11154" t="4633"/>
          <a:stretch/>
        </p:blipFill>
        <p:spPr>
          <a:xfrm>
            <a:off x="851944" y="1443453"/>
            <a:ext cx="3776945" cy="1955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13317" y="1131394"/>
            <a:ext cx="1400655" cy="2780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98073" y="1209199"/>
            <a:ext cx="1236900" cy="2565600"/>
          </a:xfrm>
          <a:prstGeom prst="round2SameRect">
            <a:avLst>
              <a:gd fmla="val 10615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587" name="Google Shape;587;p26" title="Screenshot (11).png"/>
          <p:cNvPicPr preferRelativeResize="0"/>
          <p:nvPr/>
        </p:nvPicPr>
        <p:blipFill rotWithShape="1">
          <a:blip r:embed="rId8">
            <a:alphaModFix/>
          </a:blip>
          <a:srcRect b="0" l="8089" r="8089" t="0"/>
          <a:stretch/>
        </p:blipFill>
        <p:spPr>
          <a:xfrm>
            <a:off x="851951" y="1443450"/>
            <a:ext cx="3361368" cy="21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26" title="Screenshot (12).png"/>
          <p:cNvPicPr preferRelativeResize="0"/>
          <p:nvPr/>
        </p:nvPicPr>
        <p:blipFill rotWithShape="1">
          <a:blip r:embed="rId9">
            <a:alphaModFix/>
          </a:blip>
          <a:srcRect b="1067" l="0" r="0" t="1057"/>
          <a:stretch/>
        </p:blipFill>
        <p:spPr>
          <a:xfrm>
            <a:off x="4298069" y="1177687"/>
            <a:ext cx="1236900" cy="2597100"/>
          </a:xfrm>
          <a:prstGeom prst="round2SameRect">
            <a:avLst>
              <a:gd fmla="val 13849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TTN Logo.png" id="589" name="Google Shape;589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26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1" name="Google Shape;591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2400" y="64450"/>
            <a:ext cx="516401" cy="51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26"/>
          <p:cNvPicPr preferRelativeResize="0"/>
          <p:nvPr/>
        </p:nvPicPr>
        <p:blipFill rotWithShape="1">
          <a:blip r:embed="rId12">
            <a:alphaModFix/>
          </a:blip>
          <a:srcRect b="21694" l="0" r="0" t="17945"/>
          <a:stretch/>
        </p:blipFill>
        <p:spPr>
          <a:xfrm>
            <a:off x="913800" y="64450"/>
            <a:ext cx="994426" cy="516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3" name="Google Shape;593;p26"/>
          <p:cNvCxnSpPr/>
          <p:nvPr/>
        </p:nvCxnSpPr>
        <p:spPr>
          <a:xfrm>
            <a:off x="8191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94" name="Google Shape;594;p26" title="Screenshot 2025-05-29 at 10.49.36 AM.png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298075" y="1209175"/>
            <a:ext cx="1269475" cy="256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7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Quick Recap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0" name="Google Shape;600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  <p:sp>
        <p:nvSpPr>
          <p:cNvPr id="601" name="Google Shape;601;p27"/>
          <p:cNvSpPr/>
          <p:nvPr/>
        </p:nvSpPr>
        <p:spPr>
          <a:xfrm>
            <a:off x="226950" y="921038"/>
            <a:ext cx="8690100" cy="32931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121875" spcFirstLastPara="1" rIns="121875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02" name="Google Shape;602;p27"/>
          <p:cNvCxnSpPr/>
          <p:nvPr/>
        </p:nvCxnSpPr>
        <p:spPr>
          <a:xfrm>
            <a:off x="249444" y="929365"/>
            <a:ext cx="0" cy="32931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3" name="Google Shape;603;p27"/>
          <p:cNvSpPr txBox="1"/>
          <p:nvPr/>
        </p:nvSpPr>
        <p:spPr>
          <a:xfrm>
            <a:off x="261425" y="987013"/>
            <a:ext cx="81279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D9177F"/>
              </a:buClr>
              <a:buSzPts val="1100"/>
              <a:buFont typeface="Century Gothic"/>
              <a:buChar char="●"/>
            </a:pP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975" y="246249"/>
            <a:ext cx="1145175" cy="5855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9" name="Google Shape;609;p28"/>
          <p:cNvCxnSpPr/>
          <p:nvPr/>
        </p:nvCxnSpPr>
        <p:spPr>
          <a:xfrm>
            <a:off x="7475" y="3099589"/>
            <a:ext cx="3926700" cy="0"/>
          </a:xfrm>
          <a:prstGeom prst="straightConnector1">
            <a:avLst/>
          </a:prstGeom>
          <a:noFill/>
          <a:ln cap="flat" cmpd="sng" w="19050">
            <a:solidFill>
              <a:srgbClr val="D71B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ster">
  <a:themeElements>
    <a:clrScheme name="Custom 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71B7F"/>
      </a:accent1>
      <a:accent2>
        <a:srgbClr val="12519C"/>
      </a:accent2>
      <a:accent3>
        <a:srgbClr val="6F3A93"/>
      </a:accent3>
      <a:accent4>
        <a:srgbClr val="F5B6D7"/>
      </a:accent4>
      <a:accent5>
        <a:srgbClr val="99BDEA"/>
      </a:accent5>
      <a:accent6>
        <a:srgbClr val="70AD47"/>
      </a:accent6>
      <a:hlink>
        <a:srgbClr val="FFFFF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ster">
  <a:themeElements>
    <a:clrScheme name="Custom 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71B7F"/>
      </a:accent1>
      <a:accent2>
        <a:srgbClr val="12519C"/>
      </a:accent2>
      <a:accent3>
        <a:srgbClr val="6F3A93"/>
      </a:accent3>
      <a:accent4>
        <a:srgbClr val="F5B6D7"/>
      </a:accent4>
      <a:accent5>
        <a:srgbClr val="99BDEA"/>
      </a:accent5>
      <a:accent6>
        <a:srgbClr val="70AD47"/>
      </a:accent6>
      <a:hlink>
        <a:srgbClr val="FFFFF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