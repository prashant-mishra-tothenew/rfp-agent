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Montserrat SemiBold"/>
      <p:regular r:id="rId35"/>
      <p:bold r:id="rId36"/>
      <p:italic r:id="rId37"/>
      <p:boldItalic r:id="rId38"/>
    </p:embeddedFont>
    <p:embeddedFont>
      <p:font typeface="Montserrat"/>
      <p:regular r:id="rId39"/>
      <p:bold r:id="rId40"/>
      <p:italic r:id="rId41"/>
      <p:boldItalic r:id="rId42"/>
    </p:embeddedFont>
    <p:embeddedFont>
      <p:font typeface="Montserrat Medium"/>
      <p:regular r:id="rId43"/>
      <p:bold r:id="rId44"/>
      <p:italic r:id="rId45"/>
      <p:boldItalic r:id="rId46"/>
    </p:embeddedFont>
    <p:embeddedFont>
      <p:font typeface="Tahoma"/>
      <p:regular r:id="rId47"/>
      <p:bold r:id="rId48"/>
    </p:embeddedFont>
    <p:embeddedFont>
      <p:font typeface="Montserrat Light"/>
      <p:regular r:id="rId49"/>
      <p:bold r:id="rId50"/>
      <p:italic r:id="rId51"/>
      <p:boldItalic r:id="rId52"/>
    </p:embeddedFont>
    <p:embeddedFont>
      <p:font typeface="Century Gothic"/>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7" roundtripDataSignature="AMtx7mhnr0KCF43rrLErl1F5WiYmuSdp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4F6760-089B-47EB-8253-D5C54B6EC847}">
  <a:tblStyle styleId="{D94F6760-089B-47EB-8253-D5C54B6EC84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05CC296-D303-4CE0-970A-263B8180C0D9}"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2ED30D0B-F584-43FB-8283-64062CD711C6}"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font" Target="fonts/MontserratSemiBold-regular.fntdata"/><Relationship Id="rId36" Type="http://schemas.openxmlformats.org/officeDocument/2006/relationships/font" Target="fonts/MontserratSemiBold-bold.fntdata"/><Relationship Id="rId37" Type="http://schemas.openxmlformats.org/officeDocument/2006/relationships/font" Target="fonts/MontserratSemiBold-italic.fntdata"/><Relationship Id="rId38" Type="http://schemas.openxmlformats.org/officeDocument/2006/relationships/font" Target="fonts/MontserratSemiBold-boldItalic.fntdata"/><Relationship Id="rId39" Type="http://schemas.openxmlformats.org/officeDocument/2006/relationships/font" Target="fonts/Montserrat-regular.fntdata"/><Relationship Id="rId40" Type="http://schemas.openxmlformats.org/officeDocument/2006/relationships/font" Target="fonts/Montserrat-bold.fntdata"/><Relationship Id="rId41" Type="http://schemas.openxmlformats.org/officeDocument/2006/relationships/font" Target="fonts/Montserrat-italic.fntdata"/><Relationship Id="rId42" Type="http://schemas.openxmlformats.org/officeDocument/2006/relationships/font" Target="fonts/Montserrat-boldItalic.fntdata"/><Relationship Id="rId43" Type="http://schemas.openxmlformats.org/officeDocument/2006/relationships/font" Target="fonts/MontserratMedium-regular.fntdata"/><Relationship Id="rId44" Type="http://schemas.openxmlformats.org/officeDocument/2006/relationships/font" Target="fonts/MontserratMedium-bold.fntdata"/><Relationship Id="rId45" Type="http://schemas.openxmlformats.org/officeDocument/2006/relationships/font" Target="fonts/MontserratMedium-italic.fntdata"/><Relationship Id="rId46" Type="http://schemas.openxmlformats.org/officeDocument/2006/relationships/font" Target="fonts/MontserratMedium-boldItalic.fntdata"/><Relationship Id="rId47" Type="http://schemas.openxmlformats.org/officeDocument/2006/relationships/font" Target="fonts/Tahoma-regular.fntdata"/><Relationship Id="rId48" Type="http://schemas.openxmlformats.org/officeDocument/2006/relationships/font" Target="fonts/Tahoma-bold.fntdata"/><Relationship Id="rId49" Type="http://schemas.openxmlformats.org/officeDocument/2006/relationships/font" Target="fonts/MontserratLight-regular.fntdata"/><Relationship Id="rId50" Type="http://schemas.openxmlformats.org/officeDocument/2006/relationships/font" Target="fonts/MontserratLight-bold.fntdata"/><Relationship Id="rId51" Type="http://schemas.openxmlformats.org/officeDocument/2006/relationships/font" Target="fonts/MontserratLight-italic.fntdata"/><Relationship Id="rId52" Type="http://schemas.openxmlformats.org/officeDocument/2006/relationships/font" Target="fonts/MontserratLight-boldItalic.fntdata"/><Relationship Id="rId53" Type="http://schemas.openxmlformats.org/officeDocument/2006/relationships/font" Target="fonts/CenturyGothic-regular.fntdata"/><Relationship Id="rId54" Type="http://schemas.openxmlformats.org/officeDocument/2006/relationships/font" Target="fonts/CenturyGothic-bold.fntdata"/><Relationship Id="rId55" Type="http://schemas.openxmlformats.org/officeDocument/2006/relationships/font" Target="fonts/CenturyGothic-italic.fntdata"/><Relationship Id="rId56" Type="http://schemas.openxmlformats.org/officeDocument/2006/relationships/font" Target="fonts/CenturyGothic-boldItalic.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7" name="Google Shape;54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4.png"/><Relationship Id="rId9" Type="http://schemas.openxmlformats.org/officeDocument/2006/relationships/image" Target="../media/image16.png"/><Relationship Id="rId10"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8" name="Shape 18"/>
        <p:cNvGrpSpPr/>
        <p:nvPr/>
      </p:nvGrpSpPr>
      <p:grpSpPr>
        <a:xfrm>
          <a:off x="0" y="0"/>
          <a:ext cx="0" cy="0"/>
          <a:chOff x="0" y="0"/>
          <a:chExt cx="0" cy="0"/>
        </a:xfrm>
      </p:grpSpPr>
      <p:pic>
        <p:nvPicPr>
          <p:cNvPr id="19" name="Google Shape;19;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0" name="Google Shape;20;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2" name="Shape 22"/>
        <p:cNvGrpSpPr/>
        <p:nvPr/>
      </p:nvGrpSpPr>
      <p:grpSpPr>
        <a:xfrm>
          <a:off x="0" y="0"/>
          <a:ext cx="0" cy="0"/>
          <a:chOff x="0" y="0"/>
          <a:chExt cx="0" cy="0"/>
        </a:xfrm>
      </p:grpSpPr>
      <p:pic>
        <p:nvPicPr>
          <p:cNvPr id="23" name="Google Shape;23;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4" name="Google Shape;24;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5" name="Google Shape;25;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0" name="Shape 30"/>
        <p:cNvGrpSpPr/>
        <p:nvPr/>
      </p:nvGrpSpPr>
      <p:grpSpPr>
        <a:xfrm>
          <a:off x="0" y="0"/>
          <a:ext cx="0" cy="0"/>
          <a:chOff x="0" y="0"/>
          <a:chExt cx="0" cy="0"/>
        </a:xfrm>
      </p:grpSpPr>
      <p:sp>
        <p:nvSpPr>
          <p:cNvPr id="31" name="Google Shape;31;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3" name="Google Shape;33;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4" name="Google Shape;34;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
        <p:nvSpPr>
          <p:cNvPr id="35" name="Google Shape;35;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6" name="Shape 36"/>
        <p:cNvGrpSpPr/>
        <p:nvPr/>
      </p:nvGrpSpPr>
      <p:grpSpPr>
        <a:xfrm>
          <a:off x="0" y="0"/>
          <a:ext cx="0" cy="0"/>
          <a:chOff x="0" y="0"/>
          <a:chExt cx="0" cy="0"/>
        </a:xfrm>
      </p:grpSpPr>
      <p:pic>
        <p:nvPicPr>
          <p:cNvPr id="37" name="Google Shape;37;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38" name="Google Shape;38;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0" name="Google Shape;40;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1" name="Google Shape;41;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2" name="Shape 42"/>
        <p:cNvGrpSpPr/>
        <p:nvPr/>
      </p:nvGrpSpPr>
      <p:grpSpPr>
        <a:xfrm>
          <a:off x="0" y="0"/>
          <a:ext cx="0" cy="0"/>
          <a:chOff x="0" y="0"/>
          <a:chExt cx="0" cy="0"/>
        </a:xfrm>
      </p:grpSpPr>
      <p:sp>
        <p:nvSpPr>
          <p:cNvPr id="43" name="Google Shape;43;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4" name="Google Shape;44;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5" name="Google Shape;45;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6" name="Shape 46"/>
        <p:cNvGrpSpPr/>
        <p:nvPr/>
      </p:nvGrpSpPr>
      <p:grpSpPr>
        <a:xfrm>
          <a:off x="0" y="0"/>
          <a:ext cx="0" cy="0"/>
          <a:chOff x="0" y="0"/>
          <a:chExt cx="0" cy="0"/>
        </a:xfrm>
      </p:grpSpPr>
      <p:pic>
        <p:nvPicPr>
          <p:cNvPr id="47" name="Google Shape;47;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48" name="Google Shape;48;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0" name="Google Shape;50;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1" name="Google Shape;51;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2" name="Google Shape;52;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3" name="Google Shape;53;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4" name="Google Shape;54;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5" name="Google Shape;55;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6" name="Google Shape;56;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57" name="Google Shape;57;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58" name="Google Shape;58;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59" name="Google Shape;59;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0" name="Google Shape;60;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1" name="Google Shape;61;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2" name="Google Shape;62;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3" name="Google Shape;63;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4" name="Google Shape;64;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5" name="Shape 65"/>
        <p:cNvGrpSpPr/>
        <p:nvPr/>
      </p:nvGrpSpPr>
      <p:grpSpPr>
        <a:xfrm>
          <a:off x="0" y="0"/>
          <a:ext cx="0" cy="0"/>
          <a:chOff x="0" y="0"/>
          <a:chExt cx="0" cy="0"/>
        </a:xfrm>
      </p:grpSpPr>
      <p:pic>
        <p:nvPicPr>
          <p:cNvPr id="66" name="Google Shape;66;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67" name="Google Shape;67;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68" name="Google Shape;68;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69" name="Shape 69"/>
        <p:cNvGrpSpPr/>
        <p:nvPr/>
      </p:nvGrpSpPr>
      <p:grpSpPr>
        <a:xfrm>
          <a:off x="0" y="0"/>
          <a:ext cx="0" cy="0"/>
          <a:chOff x="0" y="0"/>
          <a:chExt cx="0" cy="0"/>
        </a:xfrm>
      </p:grpSpPr>
      <p:pic>
        <p:nvPicPr>
          <p:cNvPr id="70" name="Google Shape;70;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1" name="Google Shape;71;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 name="Google Shape;73;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4" name="Google Shape;74;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5" name="Shape 75"/>
        <p:cNvGrpSpPr/>
        <p:nvPr/>
      </p:nvGrpSpPr>
      <p:grpSpPr>
        <a:xfrm>
          <a:off x="0" y="0"/>
          <a:ext cx="0" cy="0"/>
          <a:chOff x="0" y="0"/>
          <a:chExt cx="0" cy="0"/>
        </a:xfrm>
      </p:grpSpPr>
      <p:sp>
        <p:nvSpPr>
          <p:cNvPr id="76" name="Google Shape;76;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77" name="Google Shape;77;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78" name="Google Shape;78;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79" name="Shape 79"/>
        <p:cNvGrpSpPr/>
        <p:nvPr/>
      </p:nvGrpSpPr>
      <p:grpSpPr>
        <a:xfrm>
          <a:off x="0" y="0"/>
          <a:ext cx="0" cy="0"/>
          <a:chOff x="0" y="0"/>
          <a:chExt cx="0" cy="0"/>
        </a:xfrm>
      </p:grpSpPr>
      <p:sp>
        <p:nvSpPr>
          <p:cNvPr id="80" name="Google Shape;80;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1" name="Google Shape;81;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2" name="Google Shape;82;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3" name="Shape 83"/>
        <p:cNvGrpSpPr/>
        <p:nvPr/>
      </p:nvGrpSpPr>
      <p:grpSpPr>
        <a:xfrm>
          <a:off x="0" y="0"/>
          <a:ext cx="0" cy="0"/>
          <a:chOff x="0" y="0"/>
          <a:chExt cx="0" cy="0"/>
        </a:xfrm>
      </p:grpSpPr>
      <p:sp>
        <p:nvSpPr>
          <p:cNvPr id="84" name="Google Shape;84;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86" name="Shape 86"/>
        <p:cNvGrpSpPr/>
        <p:nvPr/>
      </p:nvGrpSpPr>
      <p:grpSpPr>
        <a:xfrm>
          <a:off x="0" y="0"/>
          <a:ext cx="0" cy="0"/>
          <a:chOff x="0" y="0"/>
          <a:chExt cx="0" cy="0"/>
        </a:xfrm>
      </p:grpSpPr>
      <p:pic>
        <p:nvPicPr>
          <p:cNvPr id="87" name="Google Shape;87;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88" name="Google Shape;88;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0" name="Google Shape;90;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1" name="Google Shape;91;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2" name="Google Shape;92;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1.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pic>
        <p:nvPicPr>
          <p:cNvPr id="27" name="Google Shape;27;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8" name="Google Shape;28;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29" name="Google Shape;29;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4.png"/><Relationship Id="rId8" Type="http://schemas.openxmlformats.org/officeDocument/2006/relationships/image" Target="../media/image16.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31.png"/><Relationship Id="rId10"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36.png"/><Relationship Id="rId7" Type="http://schemas.openxmlformats.org/officeDocument/2006/relationships/image" Target="../media/image38.png"/><Relationship Id="rId8" Type="http://schemas.openxmlformats.org/officeDocument/2006/relationships/image" Target="../media/image35.png"/><Relationship Id="rId9" Type="http://schemas.openxmlformats.org/officeDocument/2006/relationships/image" Target="../media/image30.png"/><Relationship Id="rId10"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35.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38.png"/><Relationship Id="rId7" Type="http://schemas.openxmlformats.org/officeDocument/2006/relationships/image" Target="../media/image35.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2.png"/><Relationship Id="rId11" Type="http://schemas.openxmlformats.org/officeDocument/2006/relationships/image" Target="../media/image43.png"/><Relationship Id="rId12" Type="http://schemas.openxmlformats.org/officeDocument/2006/relationships/image" Target="../media/image45.png"/><Relationship Id="rId13"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98" name="Google Shape;98;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99" name="Google Shape;99;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00" name="Google Shape;100;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01" name="Google Shape;101;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02" name="Google Shape;102;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03" name="Google Shape;103;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04" name="Google Shape;104;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05" name="Google Shape;105;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06" name="Google Shape;106;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07" name="Google Shape;107;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08" name="Google Shape;108;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09" name="Google Shape;109;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Client</a:t>
            </a:r>
          </a:p>
          <a:p>
            <a:r>
              <a:t>Date : 17 Sep 2026</a:t>
            </a:r>
          </a:p>
          <a:p>
            <a:r>
              <a:t>Ref : fbd194c7-6658-4976-9fe9-850206906b58</a:t>
            </a:r>
          </a:p>
        </p:txBody>
      </p:sp>
      <p:cxnSp>
        <p:nvCxnSpPr>
          <p:cNvPr id="110" name="Google Shape;110;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11" name="Google Shape;111;p1"/>
          <p:cNvPicPr preferRelativeResize="0"/>
          <p:nvPr/>
        </p:nvPicPr>
        <p:blipFill rotWithShape="1">
          <a:blip r:embed="rId9">
            <a:alphaModFix/>
          </a:blip>
          <a:srcRect b="-10" l="-6921" r="-6910" t="10"/>
          <a:stretch/>
        </p:blipFill>
        <p:spPr>
          <a:xfrm>
            <a:off x="6287808" y="4668680"/>
            <a:ext cx="265774" cy="398125"/>
          </a:xfrm>
          <a:prstGeom prst="rect">
            <a:avLst/>
          </a:prstGeom>
          <a:noFill/>
          <a:ln>
            <a:noFill/>
          </a:ln>
        </p:spPr>
      </p:pic>
      <p:cxnSp>
        <p:nvCxnSpPr>
          <p:cNvPr id="112" name="Google Shape;112;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19" name="Google Shape;119;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20" name="Google Shape;120;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21" name="Google Shape;121;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22" name="Google Shape;122;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23" name="Google Shape;123;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24" name="Google Shape;124;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25" name="Google Shape;125;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29" name="Google Shape;129;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30" name="Google Shape;130;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32" name="Google Shape;132;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33" name="Google Shape;133;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41" name="Google Shape;141;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pPr>
              <a:spcAft>
                <a:spcPts val="200"/>
              </a:spcAft>
            </a:pPr>
            <a:r>
              <a:rPr sz="1000"/>
              <a:t>The proposed solution aims to deliver a comprehensive and user-friendly website that meets all the mandatory functional and technical requirements outlined in the RFP. The solution will ensure that all pages are developed with the necessary input controls, forms, and content displays as specified. The website will be designed to provide a seamless user experience while maintaining the integrity and functionality required for the platform.</a:t>
            </a:r>
          </a:p>
        </p:txBody>
      </p:sp>
      <p:cxnSp>
        <p:nvCxnSpPr>
          <p:cNvPr id="142" name="Google Shape;142;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43" name="Google Shape;143;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150" name="Google Shape;150;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151" name="Google Shape;151;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152" name="Google Shape;152;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153" name="Google Shape;153;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154" name="Google Shape;154;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a:spcAft>
                <a:spcPts val="200"/>
              </a:spcAft>
            </a:pPr>
            <a:r>
              <a:rPr sz="1000"/>
              <a:t>The RFP outlines a set of mandatory functional and technical requirements for the website, including the display of investment opportunities, search functionality, testimonials, job listings, contact forms, and embedded media. These requirements are critical for ensuring the website serves its intended purpose of promoting investment opportunities and providing a platform for engagement with stakeholders. All requirements are marked as mandatory, indicating that they must be fully addressed in the solution.</a:t>
            </a:r>
          </a:p>
        </p:txBody>
      </p:sp>
      <p:cxnSp>
        <p:nvCxnSpPr>
          <p:cNvPr id="160" name="Google Shape;160;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161" name="Google Shape;161;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162" name="Google Shape;162;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pPr indent="-285750" lvl="0" marL="457200" marR="0" rtl="0" algn="l">
              <a:lnSpc>
                <a:spcPct val="200000"/>
              </a:lnSpc>
              <a:spcBef>
                <a:spcPts val="0"/>
              </a:spcBef>
              <a:spcAft>
                <a:spcPts val="0"/>
              </a:spcAft>
              <a:buClr>
                <a:schemeClr val="accent1"/>
              </a:buClr>
              <a:buSzPts val="900"/>
              <a:buFont typeface="Montserrat"/>
              <a:buChar char="●"/>
            </a:pPr>
            <a:endParaRPr b="0" i="0" sz="900" u="none" cap="none" strike="noStrike">
              <a:solidFill>
                <a:schemeClr val="dk1"/>
              </a:solidFill>
              <a:latin typeface="Montserrat"/>
              <a:ea typeface="Montserrat"/>
              <a:cs typeface="Montserrat"/>
              <a:sym typeface="Montserrat"/>
            </a:endParaRPr>
          </a:p>
        </p:txBody>
      </p:sp>
      <p:sp>
        <p:nvSpPr>
          <p:cNvPr id="163" name="Google Shape;163;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64" name="Google Shape;164;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170" name="Google Shape;170;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About Us page will include initiatives and testimonials, with a radio input for selecting testimonials.</a:t>
            </a:r>
          </a:p>
        </p:txBody>
      </p:sp>
      <p:sp>
        <p:nvSpPr>
          <p:cNvPr id="171" name="Google Shape;171;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home page will display investment opportunities and sector categories, with a search input for filtering content.</a:t>
            </a:r>
          </a:p>
        </p:txBody>
      </p:sp>
      <p:cxnSp>
        <p:nvCxnSpPr>
          <p:cNvPr id="172" name="Google Shape;172;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173" name="Google Shape;173;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174" name="Google Shape;174;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proposed solution will develop a responsive and scalable website that includes all the required pages and functionalities.</a:t>
            </a:r>
          </a:p>
        </p:txBody>
      </p:sp>
      <p:cxnSp>
        <p:nvCxnSpPr>
          <p:cNvPr id="175" name="Google Shape;175;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176" name="Google Shape;176;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Contact Us page will include all required input fields for submitting inquiries, including text inputs for name, company, email, and select controls for sector, country, and state.</a:t>
            </a:r>
          </a:p>
        </p:txBody>
      </p:sp>
      <p:cxnSp>
        <p:nvCxnSpPr>
          <p:cNvPr id="177" name="Google Shape;177;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178" name="Google Shape;178;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EFTA Desk page will include an embedded YouTube video player.</a:t>
            </a:r>
          </a:p>
        </p:txBody>
      </p:sp>
      <p:cxnSp>
        <p:nvCxnSpPr>
          <p:cNvPr id="179" name="Google Shape;179;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180" name="Google Shape;180;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Careers page will feature job listings with search and select controls for filtering roles.</a:t>
            </a:r>
          </a:p>
        </p:txBody>
      </p:sp>
      <p:cxnSp>
        <p:nvCxnSpPr>
          <p:cNvPr id="181" name="Google Shape;181;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182" name="Google Shape;182;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188" name="Google Shape;188;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89" name="Google Shape;189;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a:spcAft>
                <a:spcPts val="200"/>
              </a:spcAft>
            </a:pPr>
            <a:r>
              <a:rPr sz="1000"/>
              <a:t>Compliance with data protection regulations such as GDPR and PII handling will be ensured.</a:t>
            </a:r>
          </a:p>
          <a:p>
            <a:pPr>
              <a:spcAft>
                <a:spcPts val="200"/>
              </a:spcAft>
            </a:pPr>
            <a:r>
              <a:rPr sz="1000"/>
              <a:t>Secure form submissions and data encryption will be implemented for all contact and feedback forms.</a:t>
            </a:r>
          </a:p>
        </p:txBody>
      </p:sp>
      <p:cxnSp>
        <p:nvCxnSpPr>
          <p:cNvPr id="190" name="Google Shape;190;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191" name="Google Shape;191;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197" name="Google Shape;197;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98" name="Google Shape;198;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a:spcAft>
                <a:spcPts val="200"/>
              </a:spcAft>
            </a:pPr>
            <a:r>
              <a:rPr sz="1000"/>
              <a:t>Component | Key consideration</a:t>
            </a:r>
          </a:p>
          <a:p>
            <a:pPr>
              <a:spcAft>
                <a:spcPts val="200"/>
              </a:spcAft>
            </a:pPr>
            <a:r>
              <a:rPr sz="1000"/>
              <a:t>Frontend Framework | React.js for dynamic UI and responsive design</a:t>
            </a:r>
          </a:p>
          <a:p>
            <a:pPr>
              <a:spcAft>
                <a:spcPts val="200"/>
              </a:spcAft>
            </a:pPr>
            <a:r>
              <a:rPr sz="1000"/>
              <a:t>Backend Architecture | Node.js with Express for scalable API handling</a:t>
            </a:r>
          </a:p>
          <a:p>
            <a:pPr>
              <a:spcAft>
                <a:spcPts val="200"/>
              </a:spcAft>
            </a:pPr>
            <a:r>
              <a:rPr sz="1000"/>
              <a:t>Database | MongoDB for flexible data storage and retrieval</a:t>
            </a:r>
          </a:p>
          <a:p>
            <a:pPr>
              <a:spcAft>
                <a:spcPts val="200"/>
              </a:spcAft>
            </a:pPr>
            <a:r>
              <a:rPr sz="1000"/>
              <a:t>Search Functionality | Elasticsearch for efficient content filtering and search</a:t>
            </a:r>
          </a:p>
          <a:p>
            <a:pPr>
              <a:spcAft>
                <a:spcPts val="200"/>
              </a:spcAft>
            </a:pPr>
            <a:r>
              <a:rPr sz="1000"/>
              <a:t>Form Handling | Formik and Yup for validation and submission handling</a:t>
            </a:r>
          </a:p>
          <a:p>
            <a:pPr>
              <a:spcAft>
                <a:spcPts val="200"/>
              </a:spcAft>
            </a:pPr>
            <a:r>
              <a:rPr sz="1000"/>
              <a:t>File Uploads | Cloudinary for secure and scalable file storage</a:t>
            </a:r>
          </a:p>
          <a:p>
            <a:pPr>
              <a:spcAft>
                <a:spcPts val="200"/>
              </a:spcAft>
            </a:pPr>
            <a:r>
              <a:rPr sz="1000"/>
              <a:t>Video Embedding | YouTube IFrame API for embedding videos</a:t>
            </a:r>
          </a:p>
          <a:p>
            <a:pPr>
              <a:spcAft>
                <a:spcPts val="200"/>
              </a:spcAft>
            </a:pPr>
            <a:r>
              <a:rPr sz="1000"/>
              <a:t>User Authentication | Firebase Auth for secure user management</a:t>
            </a:r>
          </a:p>
          <a:p>
            <a:pPr>
              <a:spcAft>
                <a:spcPts val="200"/>
              </a:spcAft>
            </a:pPr>
            <a:r>
              <a:rPr sz="1000"/>
              <a:t>Accessibility | WCAG 2.1 compliance for inclusive design</a:t>
            </a:r>
          </a:p>
        </p:txBody>
      </p:sp>
      <p:cxnSp>
        <p:nvCxnSpPr>
          <p:cNvPr id="199" name="Google Shape;199;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00" name="Google Shape;200;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07" name="Google Shape;207;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pPr>
              <a:spcAft>
                <a:spcPts val="200"/>
              </a:spcAft>
            </a:pPr>
            <a:r>
              <a:rPr sz="1000"/>
              <a:t>The client will provide necessary content and data for implementation.</a:t>
            </a:r>
          </a:p>
          <a:p>
            <a:pPr>
              <a:spcAft>
                <a:spcPts val="200"/>
              </a:spcAft>
            </a:pPr>
            <a:r>
              <a:rPr sz="1000"/>
              <a:t>All required functionalities will be supported by the proposed technical stack.</a:t>
            </a:r>
          </a:p>
          <a:p>
            <a:pPr>
              <a:spcAft>
                <a:spcPts val="200"/>
              </a:spcAft>
            </a:pPr>
            <a:r>
              <a:rPr sz="1000"/>
              <a:t>No third-party integrations are required beyond the specified requirements.</a:t>
            </a:r>
          </a:p>
        </p:txBody>
      </p:sp>
      <p:cxnSp>
        <p:nvCxnSpPr>
          <p:cNvPr id="208" name="Google Shape;208;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09" name="Google Shape;209;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16" name="Google Shape;216;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17" name="Google Shape;217;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18" name="Google Shape;218;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19" name="Google Shape;219;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20" name="Google Shape;220;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pPr>
              <a:spcAft>
                <a:spcPts val="200"/>
              </a:spcAft>
            </a:pPr>
            <a:r>
              <a:rPr sz="1000"/>
              <a:t>Design and branding of the website's visual elements.</a:t>
            </a:r>
          </a:p>
          <a:p>
            <a:pPr>
              <a:spcAft>
                <a:spcPts val="200"/>
              </a:spcAft>
            </a:pPr>
            <a:r>
              <a:rPr sz="1000"/>
              <a:t>Integration with external systems or third-party services not specified in the RFP.</a:t>
            </a:r>
          </a:p>
          <a:p>
            <a:pPr>
              <a:spcAft>
                <a:spcPts val="200"/>
              </a:spcAft>
            </a:pPr>
            <a:r>
              <a:rPr sz="1000"/>
              <a:t>Content creation and management beyond the scope of the provided requirements.</a:t>
            </a:r>
          </a:p>
        </p:txBody>
      </p:sp>
      <p:sp>
        <p:nvSpPr>
          <p:cNvPr id="221" name="Google Shape;221;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a:spcAft>
                <a:spcPts val="200"/>
              </a:spcAft>
            </a:pPr>
            <a:r>
              <a:rPr sz="1000"/>
              <a:t>Implementation of all mandatory functional and technical requirements as listed in the RFP.</a:t>
            </a:r>
          </a:p>
          <a:p>
            <a:pPr>
              <a:spcAft>
                <a:spcPts val="200"/>
              </a:spcAft>
            </a:pPr>
            <a:r>
              <a:rPr sz="1000"/>
              <a:t>Development of user-friendly interfaces for all specified pages.</a:t>
            </a:r>
          </a:p>
          <a:p>
            <a:pPr>
              <a:spcAft>
                <a:spcPts val="200"/>
              </a:spcAft>
            </a:pPr>
            <a:r>
              <a:rPr sz="1000"/>
              <a:t>Ensuring accessibility and usability for all user interactions.</a:t>
            </a:r>
          </a:p>
        </p:txBody>
      </p:sp>
      <p:sp>
        <p:nvSpPr>
          <p:cNvPr id="222" name="Google Shape;222;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29" name="Google Shape;229;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30" name="Google Shape;230;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31" name="Google Shape;231;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32" name="Google Shape;232;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33" name="Google Shape;233;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34" name="Google Shape;234;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35" name="Google Shape;235;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39" name="Google Shape;239;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40" name="Google Shape;240;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42" name="Google Shape;242;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43" name="Google Shape;243;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a:spcAft>
                <a:spcPts val="200"/>
              </a:spcAft>
            </a:pPr>
            <a:r>
              <a:rPr sz="1000"/>
              <a:t>The proposed solution will develop a responsive and scalable website that includes all the required pages and functionalities. The home page will display investment opportunities and sector categories, with a search input for filtering content. The About Us page will include initiatives and testimonials, with a radio input for selecting testimonials. The Careers page will feature job listings with search and select controls for filtering roles. The Contact Us page will include all required input fields for submitting inquiries, including text inputs for name, company, email, and select controls for sector, country, and state. The EFTA Desk page will include an embedded YouTube video player. The Global Investment Opportunities page will include a note about eligibility and a link to submit company profiles. The India Opportunity page will display economic statistics and growth projections. The Invest India Feedback page will include a form for submitting feedback with all required input fields. All pages will be developed with a focus on usability, accessibility, and performance.</a:t>
            </a:r>
          </a:p>
        </p:txBody>
      </p:sp>
      <p:cxnSp>
        <p:nvCxnSpPr>
          <p:cNvPr id="250" name="Google Shape;250;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251" name="Google Shape;251;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252" name="Google Shape;252;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endParaRPr b="0" i="0" sz="1000" u="none" cap="none" strike="noStrike">
              <a:solidFill>
                <a:schemeClr val="dk1"/>
              </a:solidFill>
              <a:latin typeface="Montserrat"/>
              <a:ea typeface="Montserrat"/>
              <a:cs typeface="Montserrat"/>
              <a:sym typeface="Montserrat"/>
            </a:endParaRPr>
          </a:p>
        </p:txBody>
      </p:sp>
      <p:sp>
        <p:nvSpPr>
          <p:cNvPr id="253" name="Google Shape;253;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259" name="Google Shape;259;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260" name="Google Shape;260;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261" name="Google Shape;261;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262" name="Google Shape;262;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263" name="Google Shape;263;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endParaRPr b="1" i="0" sz="800" u="none" cap="none" strike="noStrike">
              <a:solidFill>
                <a:srgbClr val="525252"/>
              </a:solidFill>
              <a:latin typeface="Montserrat"/>
              <a:ea typeface="Montserrat"/>
              <a:cs typeface="Montserrat"/>
              <a:sym typeface="Montserrat"/>
            </a:endParaRPr>
          </a:p>
        </p:txBody>
      </p:sp>
      <p:sp>
        <p:nvSpPr>
          <p:cNvPr id="264" name="Google Shape;264;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265" name="Google Shape;265;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266" name="Google Shape;266;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267" name="Google Shape;267;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268" name="Google Shape;268;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269" name="Google Shape;269;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270" name="Google Shape;270;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271" name="Google Shape;271;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272" name="Google Shape;272;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273" name="Google Shape;273;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274" name="Google Shape;274;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cxnSp>
        <p:nvCxnSpPr>
          <p:cNvPr id="275" name="Google Shape;275;p13"/>
          <p:cNvCxnSpPr>
            <a:stCxn id="260" idx="0"/>
            <a:endCxn id="259"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276" name="Google Shape;276;p13"/>
          <p:cNvCxnSpPr>
            <a:stCxn id="261" idx="1"/>
            <a:endCxn id="266"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277" name="Google Shape;277;p13"/>
          <p:cNvCxnSpPr>
            <a:stCxn id="266" idx="1"/>
            <a:endCxn id="267"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278" name="Google Shape;278;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279" name="Google Shape;279;p13"/>
          <p:cNvCxnSpPr>
            <a:stCxn id="267" idx="1"/>
            <a:endCxn id="270"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280" name="Google Shape;280;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281" name="Google Shape;281;p13"/>
          <p:cNvCxnSpPr>
            <a:stCxn id="259" idx="0"/>
            <a:endCxn id="263"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282" name="Google Shape;282;p13"/>
          <p:cNvCxnSpPr>
            <a:stCxn id="259" idx="0"/>
            <a:endCxn id="264"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283" name="Google Shape;28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289" name="Google Shape;289;p14"/>
          <p:cNvGraphicFramePr/>
          <p:nvPr/>
        </p:nvGraphicFramePr>
        <p:xfrm>
          <a:off x="264425" y="755775"/>
          <a:ext cx="3000000" cy="3000000"/>
        </p:xfrm>
        <a:graphic>
          <a:graphicData uri="http://schemas.openxmlformats.org/drawingml/2006/table">
            <a:tbl>
              <a:tblPr>
                <a:noFill/>
                <a:tableStyleId>{D94F6760-089B-47EB-8253-D5C54B6EC847}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r>
                        <a:t>Component</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Key consideration</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r>
                        <a:t>Frontend Framework</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React.js for dynamic UI and responsive design</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r>
                        <a:t>Backend Architecture</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Node.js with Express for scalable API handling</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r>
                        <a:t>Database</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MongoDB for flexible data storage and retrieval</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r>
                        <a:t>Search Functionality</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Elasticsearch for efficient content filtering and search</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r>
                        <a:t>Form Handling</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Formik and Yup for validation and submission handling</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r>
                        <a:t>File Uploads</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Cloudinary for secure and scalable file storage</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290" name="Google Shape;290;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r>
              <a:t>Mobile Development Platform - Comparison</a:t>
            </a:r>
          </a:p>
        </p:txBody>
      </p:sp>
      <p:sp>
        <p:nvSpPr>
          <p:cNvPr id="297" name="Google Shape;297;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298" name="Google Shape;298;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299" name="Google Shape;299;p15"/>
          <p:cNvGraphicFramePr/>
          <p:nvPr/>
        </p:nvGraphicFramePr>
        <p:xfrm>
          <a:off x="189880" y="722548"/>
          <a:ext cx="3000000" cy="3000000"/>
        </p:xfrm>
        <a:graphic>
          <a:graphicData uri="http://schemas.openxmlformats.org/drawingml/2006/table">
            <a:tbl>
              <a:tblPr bandRow="1" firstRow="1">
                <a:noFill/>
                <a:tableStyleId>{605CC296-D303-4CE0-970A-263B8180C0D9}</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00" name="Google Shape;300;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07" name="Google Shape;307;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08" name="Google Shape;308;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09" name="Google Shape;309;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10" name="Google Shape;310;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11" name="Google Shape;311;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12" name="Google Shape;312;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13" name="Google Shape;313;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17" name="Google Shape;317;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18" name="Google Shape;318;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20" name="Google Shape;320;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21" name="Google Shape;321;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28" name="Google Shape;328;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29" name="Google Shape;329;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30" name="Google Shape;330;p17"/>
          <p:cNvSpPr/>
          <p:nvPr/>
        </p:nvSpPr>
        <p:spPr>
          <a:xfrm>
            <a:off x="2303501" y="2698629"/>
            <a:ext cx="1202100" cy="1327200"/>
          </a:xfrm>
          <a:prstGeom prst="rect">
            <a:avLst/>
          </a:prstGeom>
          <a:no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1" name="Google Shape;331;p17"/>
          <p:cNvSpPr/>
          <p:nvPr/>
        </p:nvSpPr>
        <p:spPr>
          <a:xfrm>
            <a:off x="3799228" y="2698629"/>
            <a:ext cx="1202100" cy="1366800"/>
          </a:xfrm>
          <a:prstGeom prst="rect">
            <a:avLst/>
          </a:prstGeom>
          <a:no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2" name="Google Shape;332;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33" name="Google Shape;333;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34" name="Google Shape;334;p17"/>
          <p:cNvGrpSpPr/>
          <p:nvPr/>
        </p:nvGrpSpPr>
        <p:grpSpPr>
          <a:xfrm>
            <a:off x="3934107" y="2120825"/>
            <a:ext cx="817618" cy="72728"/>
            <a:chOff x="3198956" y="2429934"/>
            <a:chExt cx="1353000" cy="149400"/>
          </a:xfrm>
        </p:grpSpPr>
        <p:sp>
          <p:nvSpPr>
            <p:cNvPr id="335" name="Google Shape;335;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6" name="Google Shape;336;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7" name="Google Shape;337;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8" name="Google Shape;338;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9" name="Google Shape;339;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40" name="Google Shape;340;p17"/>
          <p:cNvCxnSpPr>
            <a:stCxn id="332" idx="3"/>
            <a:endCxn id="333"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41" name="Google Shape;341;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42" name="Google Shape;342;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343" name="Google Shape;343;p17"/>
          <p:cNvCxnSpPr>
            <a:stCxn id="333" idx="3"/>
            <a:endCxn id="342"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44" name="Google Shape;344;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345" name="Google Shape;345;p17"/>
          <p:cNvCxnSpPr>
            <a:stCxn id="342" idx="3"/>
            <a:endCxn id="344"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346" name="Google Shape;346;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347" name="Google Shape;347;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348" name="Google Shape;348;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0" name="Google Shape;350;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1" name="Google Shape;351;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2" name="Google Shape;352;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3" name="Google Shape;353;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4" name="Google Shape;354;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5" name="Google Shape;355;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356" name="Google Shape;356;p17"/>
          <p:cNvCxnSpPr/>
          <p:nvPr/>
        </p:nvCxnSpPr>
        <p:spPr>
          <a:xfrm>
            <a:off x="3992919" y="2867471"/>
            <a:ext cx="0" cy="1011600"/>
          </a:xfrm>
          <a:prstGeom prst="straightConnector1">
            <a:avLst/>
          </a:prstGeom>
          <a:noFill/>
          <a:ln cap="flat" cmpd="sng" w="12700">
            <a:solidFill>
              <a:srgbClr val="7F7F7F"/>
            </a:solidFill>
            <a:prstDash val="solid"/>
            <a:miter lim="80"/>
            <a:headEnd len="sm" w="sm" type="none"/>
            <a:tailEnd len="sm" w="sm" type="none"/>
          </a:ln>
        </p:spPr>
      </p:cxnSp>
      <p:sp>
        <p:nvSpPr>
          <p:cNvPr id="357" name="Google Shape;357;p17"/>
          <p:cNvSpPr/>
          <p:nvPr/>
        </p:nvSpPr>
        <p:spPr>
          <a:xfrm>
            <a:off x="3804525" y="4077663"/>
            <a:ext cx="1202100" cy="433800"/>
          </a:xfrm>
          <a:prstGeom prst="rect">
            <a:avLst/>
          </a:prstGeom>
          <a:solidFill>
            <a:srgbClr val="F2F2F2"/>
          </a:solid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358" name="Google Shape;358;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359" name="Google Shape;359;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360" name="Google Shape;360;p17"/>
          <p:cNvSpPr/>
          <p:nvPr/>
        </p:nvSpPr>
        <p:spPr>
          <a:xfrm>
            <a:off x="2308793" y="4041178"/>
            <a:ext cx="1202100" cy="433800"/>
          </a:xfrm>
          <a:prstGeom prst="rect">
            <a:avLst/>
          </a:prstGeom>
          <a:solidFill>
            <a:srgbClr val="F2F2F2"/>
          </a:solid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361" name="Google Shape;361;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362" name="Google Shape;362;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363" name="Google Shape;363;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364" name="Google Shape;364;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365" name="Google Shape;365;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366" name="Google Shape;366;p17"/>
          <p:cNvCxnSpPr/>
          <p:nvPr/>
        </p:nvCxnSpPr>
        <p:spPr>
          <a:xfrm flipH="1">
            <a:off x="4443986" y="2927883"/>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67" name="Google Shape;367;p17"/>
          <p:cNvCxnSpPr/>
          <p:nvPr/>
        </p:nvCxnSpPr>
        <p:spPr>
          <a:xfrm>
            <a:off x="3995621" y="2867471"/>
            <a:ext cx="147900" cy="0"/>
          </a:xfrm>
          <a:prstGeom prst="straightConnector1">
            <a:avLst/>
          </a:prstGeom>
          <a:noFill/>
          <a:ln cap="flat" cmpd="sng" w="9525">
            <a:solidFill>
              <a:srgbClr val="616161"/>
            </a:solidFill>
            <a:prstDash val="solid"/>
            <a:miter lim="80"/>
            <a:headEnd len="sm" w="sm" type="none"/>
            <a:tailEnd len="med" w="med" type="triangle"/>
          </a:ln>
        </p:spPr>
      </p:cxnSp>
      <p:cxnSp>
        <p:nvCxnSpPr>
          <p:cNvPr id="368" name="Google Shape;368;p17"/>
          <p:cNvCxnSpPr/>
          <p:nvPr/>
        </p:nvCxnSpPr>
        <p:spPr>
          <a:xfrm>
            <a:off x="3992919" y="3881063"/>
            <a:ext cx="150900" cy="0"/>
          </a:xfrm>
          <a:prstGeom prst="straightConnector1">
            <a:avLst/>
          </a:prstGeom>
          <a:noFill/>
          <a:ln cap="flat" cmpd="sng" w="12700">
            <a:solidFill>
              <a:srgbClr val="7F7F7F"/>
            </a:solidFill>
            <a:prstDash val="solid"/>
            <a:miter lim="80"/>
            <a:headEnd len="sm" w="sm" type="none"/>
            <a:tailEnd len="sm" w="sm" type="none"/>
          </a:ln>
        </p:spPr>
      </p:cxnSp>
      <p:sp>
        <p:nvSpPr>
          <p:cNvPr id="369" name="Google Shape;369;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370" name="Google Shape;370;p17"/>
          <p:cNvCxnSpPr/>
          <p:nvPr/>
        </p:nvCxnSpPr>
        <p:spPr>
          <a:xfrm flipH="1">
            <a:off x="4443986" y="3192628"/>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71" name="Google Shape;371;p17"/>
          <p:cNvCxnSpPr/>
          <p:nvPr/>
        </p:nvCxnSpPr>
        <p:spPr>
          <a:xfrm flipH="1">
            <a:off x="4443986" y="3457373"/>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72" name="Google Shape;372;p17"/>
          <p:cNvCxnSpPr/>
          <p:nvPr/>
        </p:nvCxnSpPr>
        <p:spPr>
          <a:xfrm flipH="1">
            <a:off x="4443986" y="3714215"/>
            <a:ext cx="1200" cy="105000"/>
          </a:xfrm>
          <a:prstGeom prst="straightConnector1">
            <a:avLst/>
          </a:prstGeom>
          <a:noFill/>
          <a:ln cap="flat" cmpd="sng" w="9525">
            <a:solidFill>
              <a:srgbClr val="616161"/>
            </a:solidFill>
            <a:prstDash val="solid"/>
            <a:miter lim="80"/>
            <a:headEnd len="sm" w="sm" type="none"/>
            <a:tailEnd len="med" w="med" type="triangle"/>
          </a:ln>
        </p:spPr>
      </p:cxnSp>
      <p:pic>
        <p:nvPicPr>
          <p:cNvPr id="373" name="Google Shape;373;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374" name="Google Shape;374;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375" name="Google Shape;375;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376" name="Google Shape;376;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377" name="Google Shape;377;p17"/>
          <p:cNvGrpSpPr/>
          <p:nvPr/>
        </p:nvGrpSpPr>
        <p:grpSpPr>
          <a:xfrm>
            <a:off x="308754" y="1982358"/>
            <a:ext cx="1734192" cy="256660"/>
            <a:chOff x="530597" y="1659894"/>
            <a:chExt cx="1541778" cy="210931"/>
          </a:xfrm>
        </p:grpSpPr>
        <p:sp>
          <p:nvSpPr>
            <p:cNvPr id="378" name="Google Shape;378;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379" name="Google Shape;379;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380" name="Google Shape;380;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endParaRPr b="1" i="0" sz="1000" u="none" cap="none" strike="noStrike">
              <a:solidFill>
                <a:schemeClr val="accent2"/>
              </a:solidFill>
              <a:latin typeface="Montserrat"/>
              <a:ea typeface="Montserrat"/>
              <a:cs typeface="Montserrat"/>
              <a:sym typeface="Montserrat"/>
            </a:endParaRPr>
          </a:p>
        </p:txBody>
      </p:sp>
      <p:sp>
        <p:nvSpPr>
          <p:cNvPr id="381" name="Google Shape;381;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382" name="Google Shape;382;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383" name="Google Shape;383;p17"/>
          <p:cNvGrpSpPr/>
          <p:nvPr/>
        </p:nvGrpSpPr>
        <p:grpSpPr>
          <a:xfrm>
            <a:off x="298800" y="2292174"/>
            <a:ext cx="1734192" cy="256660"/>
            <a:chOff x="530597" y="1659894"/>
            <a:chExt cx="1541778" cy="210931"/>
          </a:xfrm>
        </p:grpSpPr>
        <p:sp>
          <p:nvSpPr>
            <p:cNvPr id="384" name="Google Shape;38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385" name="Google Shape;38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86" name="Google Shape;386;p17"/>
          <p:cNvGrpSpPr/>
          <p:nvPr/>
        </p:nvGrpSpPr>
        <p:grpSpPr>
          <a:xfrm>
            <a:off x="308757" y="2617640"/>
            <a:ext cx="1734192" cy="256660"/>
            <a:chOff x="530597" y="1659894"/>
            <a:chExt cx="1541778" cy="210931"/>
          </a:xfrm>
        </p:grpSpPr>
        <p:sp>
          <p:nvSpPr>
            <p:cNvPr id="387" name="Google Shape;38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388" name="Google Shape;38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89" name="Google Shape;389;p17"/>
          <p:cNvGrpSpPr/>
          <p:nvPr/>
        </p:nvGrpSpPr>
        <p:grpSpPr>
          <a:xfrm>
            <a:off x="298803" y="2943091"/>
            <a:ext cx="1734192" cy="256660"/>
            <a:chOff x="530597" y="1659894"/>
            <a:chExt cx="1541778" cy="210931"/>
          </a:xfrm>
        </p:grpSpPr>
        <p:sp>
          <p:nvSpPr>
            <p:cNvPr id="390" name="Google Shape;39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391" name="Google Shape;39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92" name="Google Shape;392;p17"/>
          <p:cNvGrpSpPr/>
          <p:nvPr/>
        </p:nvGrpSpPr>
        <p:grpSpPr>
          <a:xfrm>
            <a:off x="298803" y="3281643"/>
            <a:ext cx="1734192" cy="256660"/>
            <a:chOff x="530597" y="1659894"/>
            <a:chExt cx="1541778" cy="210931"/>
          </a:xfrm>
        </p:grpSpPr>
        <p:sp>
          <p:nvSpPr>
            <p:cNvPr id="393" name="Google Shape;39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394" name="Google Shape;39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95" name="Google Shape;395;p17"/>
          <p:cNvGrpSpPr/>
          <p:nvPr/>
        </p:nvGrpSpPr>
        <p:grpSpPr>
          <a:xfrm>
            <a:off x="298803" y="3624423"/>
            <a:ext cx="1734192" cy="256660"/>
            <a:chOff x="530597" y="1659894"/>
            <a:chExt cx="1541778" cy="210931"/>
          </a:xfrm>
        </p:grpSpPr>
        <p:sp>
          <p:nvSpPr>
            <p:cNvPr id="396" name="Google Shape;396;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397" name="Google Shape;397;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398" name="Google Shape;398;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pPr>
              <a:spcAft>
                <a:spcPts val="200"/>
              </a:spcAft>
            </a:pPr>
            <a:r>
              <a:rPr sz="1000"/>
              <a:t>Requirements Analysis | Conduct a detailed review of all mandatory requirements to ensure full alignment</a:t>
            </a:r>
          </a:p>
          <a:p>
            <a:pPr>
              <a:spcAft>
                <a:spcPts val="200"/>
              </a:spcAft>
            </a:pPr>
            <a:r>
              <a:rPr sz="1000"/>
              <a:t>UI/UX Design | Create wireframes and mockups for all pages based on functional and technical requirements</a:t>
            </a:r>
          </a:p>
          <a:p>
            <a:pPr>
              <a:spcAft>
                <a:spcPts val="200"/>
              </a:spcAft>
            </a:pPr>
            <a:r>
              <a:rPr sz="1000"/>
              <a:t>Development Phases | Implement</a:t>
            </a:r>
          </a:p>
          <a:p>
            <a:pPr>
              <a:spcAft>
                <a:spcPts val="200"/>
              </a:spcAft>
            </a:pPr>
            <a:r>
              <a:rPr sz="1000"/>
              <a:t>Test…</a:t>
            </a:r>
          </a:p>
        </p:txBody>
      </p:sp>
      <p:sp>
        <p:nvSpPr>
          <p:cNvPr id="399" name="Google Shape;399;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00" name="Google Shape;400;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06" name="Google Shape;406;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7" name="Google Shape;407;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a:spcAft>
                <a:spcPts val="200"/>
              </a:spcAft>
            </a:pPr>
            <a:r>
              <a:rPr sz="1000"/>
              <a:t>Support Channels | Provide 24/7 support via ticketing system and email</a:t>
            </a:r>
          </a:p>
          <a:p>
            <a:pPr>
              <a:spcAft>
                <a:spcPts val="200"/>
              </a:spcAft>
            </a:pPr>
            <a:r>
              <a:rPr sz="1000"/>
              <a:t>Response Time | SLA of 2 hours for critical issues and 4 hours for non-critical issues</a:t>
            </a:r>
          </a:p>
          <a:p>
            <a:pPr>
              <a:spcAft>
                <a:spcPts val="200"/>
              </a:spcAft>
            </a:pPr>
            <a:r>
              <a:rPr sz="1000"/>
              <a:t>Ma…</a:t>
            </a:r>
          </a:p>
        </p:txBody>
      </p:sp>
      <p:sp>
        <p:nvSpPr>
          <p:cNvPr id="408" name="Google Shape;408;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9" name="Google Shape;409;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10" name="Google Shape;410;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11" name="Google Shape;411;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12" name="Google Shape;412;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r>
              <a:t>Client Stakeholders</a:t>
            </a:r>
          </a:p>
        </p:txBody>
      </p:sp>
      <p:pic>
        <p:nvPicPr>
          <p:cNvPr id="415" name="Google Shape;415;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16" name="Google Shape;416;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17" name="Google Shape;417;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18" name="Google Shape;418;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19" name="Google Shape;419;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20" name="Google Shape;420;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21" name="Google Shape;421;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22" name="Google Shape;422;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23" name="Google Shape;423;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24" name="Google Shape;424;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25" name="Google Shape;425;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26" name="Google Shape;426;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27" name="Google Shape;427;p18"/>
          <p:cNvCxnSpPr/>
          <p:nvPr/>
        </p:nvCxnSpPr>
        <p:spPr>
          <a:xfrm rot="10800000">
            <a:off x="6608487" y="3903739"/>
            <a:ext cx="1217400" cy="5100"/>
          </a:xfrm>
          <a:prstGeom prst="straightConnector1">
            <a:avLst/>
          </a:prstGeom>
          <a:noFill/>
          <a:ln cap="flat" cmpd="sng" w="19050">
            <a:solidFill>
              <a:srgbClr val="999999"/>
            </a:solidFill>
            <a:prstDash val="dot"/>
            <a:miter lim="0"/>
            <a:headEnd len="sm" w="sm" type="oval"/>
            <a:tailEnd len="sm" w="sm" type="oval"/>
          </a:ln>
        </p:spPr>
      </p:cxnSp>
      <p:cxnSp>
        <p:nvCxnSpPr>
          <p:cNvPr id="428" name="Google Shape;428;p18"/>
          <p:cNvCxnSpPr/>
          <p:nvPr/>
        </p:nvCxnSpPr>
        <p:spPr>
          <a:xfrm>
            <a:off x="7149754" y="3492278"/>
            <a:ext cx="900" cy="902700"/>
          </a:xfrm>
          <a:prstGeom prst="straightConnector1">
            <a:avLst/>
          </a:prstGeom>
          <a:noFill/>
          <a:ln cap="flat" cmpd="sng" w="19050">
            <a:solidFill>
              <a:srgbClr val="999999"/>
            </a:solidFill>
            <a:prstDash val="dot"/>
            <a:miter lim="0"/>
            <a:headEnd len="sm" w="sm" type="oval"/>
            <a:tailEnd len="sm" w="sm" type="oval"/>
          </a:ln>
        </p:spPr>
      </p:cxnSp>
      <p:sp>
        <p:nvSpPr>
          <p:cNvPr id="429" name="Google Shape;429;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30" name="Google Shape;430;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31" name="Google Shape;431;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32" name="Google Shape;432;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33" name="Google Shape;433;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r>
              <a:t>Client  Executive</a:t>
            </a:r>
          </a:p>
          <a:p>
            <a:r>
              <a:t>Leadership</a:t>
            </a:r>
          </a:p>
        </p:txBody>
      </p:sp>
      <p:sp>
        <p:nvSpPr>
          <p:cNvPr id="434" name="Google Shape;434;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35" name="Google Shape;435;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36" name="Google Shape;436;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37" name="Google Shape;437;p18"/>
          <p:cNvCxnSpPr/>
          <p:nvPr/>
        </p:nvCxnSpPr>
        <p:spPr>
          <a:xfrm rot="10800000">
            <a:off x="2632112" y="1752704"/>
            <a:ext cx="0" cy="231900"/>
          </a:xfrm>
          <a:prstGeom prst="straightConnector1">
            <a:avLst/>
          </a:prstGeom>
          <a:noFill/>
          <a:ln cap="flat" cmpd="sng" w="25400">
            <a:solidFill>
              <a:srgbClr val="B7B7B7"/>
            </a:solidFill>
            <a:prstDash val="solid"/>
            <a:miter lim="80"/>
            <a:headEnd len="sm" w="sm" type="none"/>
            <a:tailEnd len="med" w="med" type="triangle"/>
          </a:ln>
        </p:spPr>
      </p:cxnSp>
      <p:sp>
        <p:nvSpPr>
          <p:cNvPr id="438" name="Google Shape;438;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39" name="Google Shape;439;p18"/>
          <p:cNvCxnSpPr/>
          <p:nvPr/>
        </p:nvCxnSpPr>
        <p:spPr>
          <a:xfrm>
            <a:off x="5423642" y="1772254"/>
            <a:ext cx="0" cy="231900"/>
          </a:xfrm>
          <a:prstGeom prst="straightConnector1">
            <a:avLst/>
          </a:prstGeom>
          <a:noFill/>
          <a:ln cap="flat" cmpd="sng" w="25400">
            <a:solidFill>
              <a:srgbClr val="B7B7B7"/>
            </a:solidFill>
            <a:prstDash val="solid"/>
            <a:miter lim="80"/>
            <a:headEnd len="sm" w="sm" type="none"/>
            <a:tailEnd len="med" w="med" type="triangle"/>
          </a:ln>
        </p:spPr>
      </p:cxnSp>
      <p:sp>
        <p:nvSpPr>
          <p:cNvPr id="440" name="Google Shape;440;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41" name="Google Shape;441;p18"/>
          <p:cNvCxnSpPr/>
          <p:nvPr/>
        </p:nvCxnSpPr>
        <p:spPr>
          <a:xfrm>
            <a:off x="5423650" y="2504893"/>
            <a:ext cx="0" cy="332700"/>
          </a:xfrm>
          <a:prstGeom prst="straightConnector1">
            <a:avLst/>
          </a:prstGeom>
          <a:noFill/>
          <a:ln cap="flat" cmpd="sng" w="25400">
            <a:solidFill>
              <a:srgbClr val="B7B7B7"/>
            </a:solidFill>
            <a:prstDash val="solid"/>
            <a:miter lim="80"/>
            <a:headEnd len="sm" w="sm" type="none"/>
            <a:tailEnd len="med" w="med" type="triangle"/>
          </a:ln>
        </p:spPr>
      </p:cxnSp>
      <p:cxnSp>
        <p:nvCxnSpPr>
          <p:cNvPr id="442" name="Google Shape;442;p18"/>
          <p:cNvCxnSpPr>
            <a:stCxn id="433" idx="3"/>
            <a:endCxn id="432" idx="1"/>
          </p:cNvCxnSpPr>
          <p:nvPr/>
        </p:nvCxnSpPr>
        <p:spPr>
          <a:xfrm flipH="1" rot="10800000">
            <a:off x="3750325" y="1548954"/>
            <a:ext cx="729000" cy="300"/>
          </a:xfrm>
          <a:prstGeom prst="straightConnector1">
            <a:avLst/>
          </a:prstGeom>
          <a:noFill/>
          <a:ln cap="flat" cmpd="sng" w="9525">
            <a:solidFill>
              <a:srgbClr val="B7B7B7"/>
            </a:solidFill>
            <a:prstDash val="solid"/>
            <a:miter lim="80"/>
            <a:headEnd len="med" w="med" type="triangle"/>
            <a:tailEnd len="med" w="med" type="triangle"/>
          </a:ln>
        </p:spPr>
      </p:cxnSp>
      <p:cxnSp>
        <p:nvCxnSpPr>
          <p:cNvPr id="443" name="Google Shape;443;p18"/>
          <p:cNvCxnSpPr>
            <a:stCxn id="444" idx="3"/>
            <a:endCxn id="434" idx="1"/>
          </p:cNvCxnSpPr>
          <p:nvPr/>
        </p:nvCxnSpPr>
        <p:spPr>
          <a:xfrm>
            <a:off x="3750325" y="2229258"/>
            <a:ext cx="729000" cy="0"/>
          </a:xfrm>
          <a:prstGeom prst="straightConnector1">
            <a:avLst/>
          </a:prstGeom>
          <a:noFill/>
          <a:ln cap="flat" cmpd="sng" w="9525">
            <a:solidFill>
              <a:srgbClr val="B7B7B7"/>
            </a:solidFill>
            <a:prstDash val="solid"/>
            <a:miter lim="80"/>
            <a:headEnd len="med" w="med" type="triangle"/>
            <a:tailEnd len="med" w="med" type="triangle"/>
          </a:ln>
        </p:spPr>
      </p:cxnSp>
      <p:sp>
        <p:nvSpPr>
          <p:cNvPr id="444" name="Google Shape;444;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r>
              <a:t>Product Manager, Client </a:t>
            </a:r>
          </a:p>
        </p:txBody>
      </p:sp>
      <p:sp>
        <p:nvSpPr>
          <p:cNvPr id="445" name="Google Shape;445;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446" name="Google Shape;446;p18"/>
          <p:cNvCxnSpPr/>
          <p:nvPr/>
        </p:nvCxnSpPr>
        <p:spPr>
          <a:xfrm rot="10800000">
            <a:off x="2632100" y="2507218"/>
            <a:ext cx="0" cy="365700"/>
          </a:xfrm>
          <a:prstGeom prst="straightConnector1">
            <a:avLst/>
          </a:prstGeom>
          <a:noFill/>
          <a:ln cap="flat" cmpd="sng" w="25400">
            <a:solidFill>
              <a:srgbClr val="B7B7B7"/>
            </a:solidFill>
            <a:prstDash val="solid"/>
            <a:miter lim="80"/>
            <a:headEnd len="sm" w="sm" type="none"/>
            <a:tailEnd len="med" w="med" type="triangle"/>
          </a:ln>
        </p:spPr>
      </p:cxnSp>
      <p:cxnSp>
        <p:nvCxnSpPr>
          <p:cNvPr id="447" name="Google Shape;447;p18"/>
          <p:cNvCxnSpPr>
            <a:stCxn id="431" idx="0"/>
            <a:endCxn id="412"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448" name="Google Shape;448;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449" name="Google Shape;449;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50" name="Google Shape;450;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1" name="Google Shape;451;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452" name="Google Shape;452;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3" name="Google Shape;453;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454" name="Google Shape;454;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455" name="Google Shape;455;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456" name="Google Shape;456;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457" name="Google Shape;457;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458" name="Google Shape;458;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459" name="Google Shape;459;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460" name="Google Shape;460;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461" name="Google Shape;461;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462" name="Google Shape;462;p18"/>
          <p:cNvCxnSpPr>
            <a:stCxn id="448"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463" name="Google Shape;463;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464" name="Google Shape;464;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sp>
        <p:nvSpPr>
          <p:cNvPr id="465" name="Google Shape;465;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471" name="Google Shape;471;p19"/>
          <p:cNvGraphicFramePr/>
          <p:nvPr/>
        </p:nvGraphicFramePr>
        <p:xfrm>
          <a:off x="232325" y="700950"/>
          <a:ext cx="3000000" cy="3000000"/>
        </p:xfrm>
        <a:graphic>
          <a:graphicData uri="http://schemas.openxmlformats.org/drawingml/2006/table">
            <a:tbl>
              <a:tblPr>
                <a:noFill/>
                <a:tableStyleId>{2ED30D0B-F584-43FB-8283-64062CD711C6}</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472" name="Google Shape;472;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473" name="Google Shape;473;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5" name="Google Shape;475;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476" name="Google Shape;476;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7" name="Google Shape;477;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478" name="Google Shape;478;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endParaRPr b="0" i="0" sz="1000" u="none" cap="none" strike="noStrike">
              <a:solidFill>
                <a:schemeClr val="dk1"/>
              </a:solidFill>
              <a:latin typeface="Montserrat"/>
              <a:ea typeface="Montserrat"/>
              <a:cs typeface="Montserrat"/>
              <a:sym typeface="Montserrat"/>
            </a:endParaRPr>
          </a:p>
        </p:txBody>
      </p:sp>
      <p:sp>
        <p:nvSpPr>
          <p:cNvPr id="479" name="Google Shape;479;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480" name="Google Shape;480;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481" name="Google Shape;481;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482" name="Google Shape;482;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483" name="Google Shape;483;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484" name="Google Shape;484;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485" name="Google Shape;485;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486" name="Google Shape;486;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487" name="Google Shape;487;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488" name="Google Shape;488;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495" name="Google Shape;495;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496" name="Google Shape;496;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497" name="Google Shape;497;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498" name="Google Shape;498;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499" name="Google Shape;499;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00" name="Google Shape;500;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01" name="Google Shape;501;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05" name="Google Shape;505;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06" name="Google Shape;506;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08" name="Google Shape;508;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09" name="Google Shape;509;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16" name="Google Shape;516;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a:spcAft>
                <a:spcPts val="200"/>
              </a:spcAft>
            </a:pPr>
            <a:r>
              <a:rPr sz="1000"/>
              <a:t>Collaborative approach with regular progress updates and stakeholder reviews.</a:t>
            </a:r>
          </a:p>
          <a:p>
            <a:pPr>
              <a:spcAft>
                <a:spcPts val="200"/>
              </a:spcAft>
            </a:pPr>
            <a:r>
              <a:rPr sz="1000"/>
              <a:t>Agile methodology with sprints and iterative development.</a:t>
            </a:r>
          </a:p>
          <a:p>
            <a:pPr>
              <a:spcAft>
                <a:spcPts val="200"/>
              </a:spcAft>
            </a:pPr>
            <a:r>
              <a:rPr sz="1000"/>
              <a:t>Clear communication channels for requirement clarification and feedback.</a:t>
            </a:r>
          </a:p>
        </p:txBody>
      </p:sp>
      <p:cxnSp>
        <p:nvCxnSpPr>
          <p:cNvPr id="517" name="Google Shape;517;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18" name="Google Shape;518;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a:spcAft>
                <a:spcPts val="200"/>
              </a:spcAft>
            </a:pPr>
            <a:r>
              <a:rPr sz="1000"/>
              <a:t>Commercial pricing and payment terms will be agreed based on final scope, milestones, and contract.</a:t>
            </a:r>
          </a:p>
        </p:txBody>
      </p:sp>
      <p:cxnSp>
        <p:nvCxnSpPr>
          <p:cNvPr id="519" name="Google Shape;519;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20" name="Google Shape;520;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21" name="Google Shape;521;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22" name="Google Shape;522;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29" name="Google Shape;529;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30" name="Google Shape;530;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31" name="Google Shape;531;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32" name="Google Shape;532;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33" name="Google Shape;533;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34" name="Google Shape;534;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35" name="Google Shape;535;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39" name="Google Shape;539;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40" name="Google Shape;540;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542" name="Google Shape;542;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43" name="Google Shape;543;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sp>
        <p:nvSpPr>
          <p:cNvPr id="549" name="Google Shape;549;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551" name="Google Shape;551;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552" name="Google Shape;552;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553" name="Google Shape;553;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554" name="Google Shape;554;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555" name="Google Shape;555;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556" name="Google Shape;556;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57" name="Google Shape;557;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558" name="Google Shape;558;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559" name="Google Shape;559;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3" name="Shape 563"/>
        <p:cNvGrpSpPr/>
        <p:nvPr/>
      </p:nvGrpSpPr>
      <p:grpSpPr>
        <a:xfrm>
          <a:off x="0" y="0"/>
          <a:ext cx="0" cy="0"/>
          <a:chOff x="0" y="0"/>
          <a:chExt cx="0" cy="0"/>
        </a:xfrm>
      </p:grpSpPr>
      <p:sp>
        <p:nvSpPr>
          <p:cNvPr id="564" name="Google Shape;564;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566" name="Google Shape;566;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567" name="Google Shape;567;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568" name="Google Shape;568;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569" name="Google Shape;569;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570" name="Google Shape;570;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571" name="Google Shape;571;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72" name="Google Shape;572;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573" name="Google Shape;573;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574" name="Google Shape;574;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575" name="Google Shape;575;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582" name="Google Shape;582;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583" name="Google Shape;583;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584" name="Google Shape;584;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585" name="Google Shape;585;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586" name="Google Shape;586;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87" name="Google Shape;587;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588" name="Google Shape;588;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589" name="Google Shape;589;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590" name="Google Shape;590;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591" name="Google Shape;591;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592" name="Google Shape;592;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593" name="Google Shape;593;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594" name="Google Shape;594;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00" name="Google Shape;600;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01" name="Google Shape;601;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a:spcAft>
                <a:spcPts val="200"/>
              </a:spcAft>
            </a:pPr>
            <a:r>
              <a:rPr sz="1000"/>
              <a:t>The proposed solution aims to deliver a comprehensive and user-friendly website that meets all the mandatory functional and technical requirements outlined in the RFP. The solution will ensure that all pages are developed with the necessary input controls, forms, and content displays as specified. The website will be designed to provide a seamless user experience while maintaining the integrity and functionality required for the platform.</a:t>
            </a:r>
          </a:p>
        </p:txBody>
      </p:sp>
      <p:cxnSp>
        <p:nvCxnSpPr>
          <p:cNvPr id="602" name="Google Shape;602;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03" name="Google Shape;603;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300"/>
              </a:spcBef>
              <a:spcAft>
                <a:spcPts val="0"/>
              </a:spcAft>
              <a:buClr>
                <a:srgbClr val="D9177F"/>
              </a:buClr>
              <a:buSzPts val="1100"/>
              <a:buFont typeface="Century Gothic"/>
              <a:buChar char="●"/>
            </a:pPr>
            <a:endParaRPr b="0" i="0" sz="11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cxnSp>
        <p:nvCxnSpPr>
          <p:cNvPr id="609" name="Google Shape;609;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