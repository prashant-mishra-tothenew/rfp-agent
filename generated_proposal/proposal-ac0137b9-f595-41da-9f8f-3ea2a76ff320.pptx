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Montserrat SemiBold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Montserrat Medium"/>
      <p:regular r:id="rId43"/>
      <p:bold r:id="rId44"/>
      <p:italic r:id="rId45"/>
      <p:boldItalic r:id="rId46"/>
    </p:embeddedFont>
    <p:embeddedFont>
      <p:font typeface="Tahoma"/>
      <p:regular r:id="rId47"/>
      <p:bold r:id="rId48"/>
    </p:embeddedFont>
    <p:embeddedFont>
      <p:font typeface="Montserrat Light"/>
      <p:regular r:id="rId49"/>
      <p:bold r:id="rId50"/>
      <p:italic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7" roundtripDataSignature="AMtx7mhnr0KCF43rrLErl1F5WiYmuSdp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4F6760-089B-47EB-8253-D5C54B6EC847}">
  <a:tblStyle styleId="{D94F6760-089B-47EB-8253-D5C54B6EC8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05CC296-D303-4CE0-970A-263B8180C0D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D71B7F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D71B7F"/>
          </a:solidFill>
        </a:fill>
      </a:tcStyle>
    </a:firstRow>
    <a:neCell>
      <a:tcTxStyle b="off" i="off"/>
    </a:neCell>
    <a:nwCell>
      <a:tcTxStyle b="off" i="off"/>
    </a:nwCell>
  </a:tblStyle>
  <a:tblStyle styleId="{2ED30D0B-F584-43FB-8283-64062CD711C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font" Target="fonts/MontserratSemiBold-regular.fntdata"/><Relationship Id="rId36" Type="http://schemas.openxmlformats.org/officeDocument/2006/relationships/font" Target="fonts/MontserratSemiBold-bold.fntdata"/><Relationship Id="rId37" Type="http://schemas.openxmlformats.org/officeDocument/2006/relationships/font" Target="fonts/MontserratSemiBold-italic.fntdata"/><Relationship Id="rId38" Type="http://schemas.openxmlformats.org/officeDocument/2006/relationships/font" Target="fonts/MontserratSemiBold-boldItalic.fntdata"/><Relationship Id="rId39" Type="http://schemas.openxmlformats.org/officeDocument/2006/relationships/font" Target="fonts/Montserrat-regular.fntdata"/><Relationship Id="rId40" Type="http://schemas.openxmlformats.org/officeDocument/2006/relationships/font" Target="fonts/Montserrat-bold.fntdata"/><Relationship Id="rId41" Type="http://schemas.openxmlformats.org/officeDocument/2006/relationships/font" Target="fonts/Montserrat-italic.fntdata"/><Relationship Id="rId42" Type="http://schemas.openxmlformats.org/officeDocument/2006/relationships/font" Target="fonts/Montserrat-boldItalic.fntdata"/><Relationship Id="rId43" Type="http://schemas.openxmlformats.org/officeDocument/2006/relationships/font" Target="fonts/MontserratMedium-regular.fntdata"/><Relationship Id="rId44" Type="http://schemas.openxmlformats.org/officeDocument/2006/relationships/font" Target="fonts/MontserratMedium-bold.fntdata"/><Relationship Id="rId45" Type="http://schemas.openxmlformats.org/officeDocument/2006/relationships/font" Target="fonts/MontserratMedium-italic.fntdata"/><Relationship Id="rId46" Type="http://schemas.openxmlformats.org/officeDocument/2006/relationships/font" Target="fonts/MontserratMedium-boldItalic.fntdata"/><Relationship Id="rId47" Type="http://schemas.openxmlformats.org/officeDocument/2006/relationships/font" Target="fonts/Tahoma-regular.fntdata"/><Relationship Id="rId48" Type="http://schemas.openxmlformats.org/officeDocument/2006/relationships/font" Target="fonts/Tahoma-bold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Relationship Id="rId53" Type="http://schemas.openxmlformats.org/officeDocument/2006/relationships/font" Target="fonts/CenturyGothic-regular.fntdata"/><Relationship Id="rId54" Type="http://schemas.openxmlformats.org/officeDocument/2006/relationships/font" Target="fonts/CenturyGothic-bold.fntdata"/><Relationship Id="rId55" Type="http://schemas.openxmlformats.org/officeDocument/2006/relationships/font" Target="fonts/CenturyGothic-italic.fntdata"/><Relationship Id="rId56" Type="http://schemas.openxmlformats.org/officeDocument/2006/relationships/font" Target="fonts/CenturyGothic-boldItalic.fntdata"/><Relationship Id="rId5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ChatBot Development - Sales &amp; After Sales ( Text to sequel problem)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Relationship Id="rId9" Type="http://schemas.openxmlformats.org/officeDocument/2006/relationships/image" Target="../media/image16.png"/><Relationship Id="rId10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16" name="Google Shape;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4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24" name="Google Shape;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4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">
  <p:cSld name="TITLE_AND_TWO_COLUMNS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33" name="Google Shape;3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3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40" name="Google Shape;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34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USTOM_6_1_1_1_1_1_1_1_2_1_2_1">
    <p:bg>
      <p:bgPr>
        <a:noFill/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7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7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37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" name="Google Shape;50;p37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7"/>
          <p:cNvPicPr preferRelativeResize="0"/>
          <p:nvPr/>
        </p:nvPicPr>
        <p:blipFill rotWithShape="1">
          <a:blip r:embed="rId4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7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" name="Google Shape;54;p37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5" name="Google Shape;55;p37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56" name="Google Shape;5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37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8" name="Google Shape;58;p37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9" name="Google Shape;59;p37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60" name="Google Shape;6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8250" y="271780"/>
            <a:ext cx="1380825" cy="70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536" y="188515"/>
            <a:ext cx="941500" cy="14104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>
            <p:ph type="title"/>
          </p:nvPr>
        </p:nvSpPr>
        <p:spPr>
          <a:xfrm>
            <a:off x="283675" y="2500825"/>
            <a:ext cx="54666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8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67" name="Google Shape;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8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Black logo 1 1 1 1 1 1 1 2 1 2 1">
  <p:cSld name="CUSTOM_6_1_1_1_1_1_1_1_2_1_2_1_1"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39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39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39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4">
  <p:cSld name="TITLE_AND_TWO_COLUMNS_1_2_7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77" name="Google Shape;7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40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2">
  <p:cSld name="TITLE_AND_TWO_COLUMNS_1_2_9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1" name="Google Shape;8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4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3">
  <p:cSld name="TITLE_AND_TWO_COLUMNS_1_2_10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5" name="Google Shape;8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 1 1">
  <p:cSld name="TITLE_AND_TWO_COLUMNS_2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" name="Google Shape;9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91" name="Google Shape;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4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2"/>
          <p:cNvPicPr preferRelativeResize="0"/>
          <p:nvPr/>
        </p:nvPicPr>
        <p:blipFill rotWithShape="1">
          <a:blip r:embed="rId1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31.png"/><Relationship Id="rId10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30.png"/><Relationship Id="rId10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47.png"/><Relationship Id="rId9" Type="http://schemas.openxmlformats.org/officeDocument/2006/relationships/image" Target="../media/image44.png"/><Relationship Id="rId10" Type="http://schemas.openxmlformats.org/officeDocument/2006/relationships/image" Target="../media/image2.png"/><Relationship Id="rId11" Type="http://schemas.openxmlformats.org/officeDocument/2006/relationships/image" Target="../media/image43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01" name="Google Shape;101;p1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" name="Google Shape;104;p1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452550" y="2096825"/>
            <a:ext cx="68490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TTN Proposal | Apex Retail Solutions</a:t>
            </a:r>
          </a:p>
          <a:p>
            <a:r>
              <a:t>Date : 17 Sep 2026</a:t>
            </a:r>
          </a:p>
          <a:p>
            <a:r>
              <a:t>Ref : ac0137b9-f595-41da-9f8f-3ea2a76ff320</a:t>
            </a:r>
          </a:p>
        </p:txBody>
      </p:sp>
      <p:cxnSp>
        <p:nvCxnSpPr>
          <p:cNvPr id="110" name="Google Shape;110;p1"/>
          <p:cNvCxnSpPr/>
          <p:nvPr/>
        </p:nvCxnSpPr>
        <p:spPr>
          <a:xfrm>
            <a:off x="300149" y="2165563"/>
            <a:ext cx="0" cy="1057800"/>
          </a:xfrm>
          <a:prstGeom prst="straightConnector1">
            <a:avLst/>
          </a:prstGeom>
          <a:noFill/>
          <a:ln cap="flat" cmpd="sng" w="76200">
            <a:solidFill>
              <a:srgbClr val="5424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p1"/>
          <p:cNvPicPr preferRelativeResize="0"/>
          <p:nvPr/>
        </p:nvPicPr>
        <p:blipFill rotWithShape="1">
          <a:blip r:embed="rId9">
            <a:alphaModFix/>
          </a:blip>
          <a:srcRect b="-10" l="-6921" r="-6910" t="10"/>
          <a:stretch/>
        </p:blipFill>
        <p:spPr>
          <a:xfrm>
            <a:off x="6287808" y="4668680"/>
            <a:ext cx="265774" cy="39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"/>
          <p:cNvCxnSpPr/>
          <p:nvPr/>
        </p:nvCxnSpPr>
        <p:spPr>
          <a:xfrm>
            <a:off x="6204494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" name="Google Shape;122;p2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2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2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" name="Google Shape;132;p2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Executive Summary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23850" y="746325"/>
            <a:ext cx="8690100" cy="40992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121875" lIns="121875" spcFirstLastPara="1" rIns="0" wrap="square" tIns="27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3"/>
          <p:cNvCxnSpPr/>
          <p:nvPr/>
        </p:nvCxnSpPr>
        <p:spPr>
          <a:xfrm flipH="1">
            <a:off x="242444" y="754971"/>
            <a:ext cx="3900" cy="4102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Why TTN?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74900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Proven UX &amp; Mobile Expertise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specialize in building intuitive, high-performance mobile applications with seamless user journeys - critical for customer engagement and retention.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755004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Domain-Focused Delivery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extensive experience in iGaming with real-time data integration, media streaming, and interactive user features aligns perfectly with your racing platform requirements.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4900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End-to-End Ownership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design and development to deployment and support, we provide full-cycle mobile app services- ensuring speed, quality, and continuity.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755004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Scalable Architecture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solutions are designed to grow with your user base, ensuring performance and reliability under peak traffic conditions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223850" y="640050"/>
            <a:ext cx="8690100" cy="40956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246344" y="650407"/>
            <a:ext cx="0" cy="40956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Our Understanding of Requirements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258325" y="782225"/>
            <a:ext cx="81279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Application Modules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4902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99125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4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299130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3204907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6110675" y="70492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6110681" y="70492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6"/>
          <p:cNvSpPr/>
          <p:nvPr/>
        </p:nvSpPr>
        <p:spPr>
          <a:xfrm>
            <a:off x="299125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7" name="Google Shape;177;p6"/>
          <p:cNvCxnSpPr/>
          <p:nvPr/>
        </p:nvCxnSpPr>
        <p:spPr>
          <a:xfrm>
            <a:off x="299130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/>
          <p:nvPr/>
        </p:nvSpPr>
        <p:spPr>
          <a:xfrm>
            <a:off x="3204902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3204907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/>
          <p:nvPr/>
        </p:nvSpPr>
        <p:spPr>
          <a:xfrm>
            <a:off x="6110675" y="294136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6110681" y="294136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89" name="Google Shape;189;p7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PCI-DSS Level 1 compliance through zero-trust architecture</a:t>
            </a:r>
          </a:p>
          <a:p>
            <a:pPr>
              <a:spcAft>
                <a:spcPts val="200"/>
              </a:spcAft>
            </a:pPr>
            <a:r>
              <a:rPr sz="1000"/>
              <a:t>GDPR/CCPA data privacy compliance with immutable audit logs</a:t>
            </a:r>
          </a:p>
          <a:p>
            <a:pPr>
              <a:spcAft>
                <a:spcPts val="200"/>
              </a:spcAft>
            </a:pPr>
            <a:r>
              <a:rPr sz="1000"/>
              <a:t>SSL/TLS encryption for all data in transit</a:t>
            </a:r>
          </a:p>
          <a:p>
            <a:pPr>
              <a:spcAft>
                <a:spcPts val="200"/>
              </a:spcAft>
            </a:pPr>
            <a:r>
              <a:rPr sz="1000"/>
              <a:t>Accessibility compliance with WCAG 2.1 AA guidelines</a:t>
            </a:r>
          </a:p>
        </p:txBody>
      </p:sp>
      <p:cxnSp>
        <p:nvCxnSpPr>
          <p:cNvPr id="190" name="Google Shape;190;p7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98" name="Google Shape;198;p8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Montserrat Light"/>
              <a:buChar char="●"/>
            </a:pPr>
            <a:endParaRPr b="1" i="0" sz="1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9" name="Google Shape;199;p8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Assumptions and Dependencies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23850" y="746325"/>
            <a:ext cx="8690100" cy="40035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121875" lIns="121875" spcFirstLastPara="1" rIns="121875" wrap="square" tIns="27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Third-party integrations with SAP, Stripe, and HubSpot/Klaviyo will be available and accessible</a:t>
            </a:r>
          </a:p>
          <a:p>
            <a:pPr>
              <a:spcAft>
                <a:spcPts val="200"/>
              </a:spcAft>
            </a:pPr>
            <a:r>
              <a:rPr sz="1000"/>
              <a:t>Marketing team will provide content for headless CMS integration</a:t>
            </a:r>
          </a:p>
          <a:p>
            <a:pPr>
              <a:spcAft>
                <a:spcPts val="200"/>
              </a:spcAft>
            </a:pPr>
            <a:r>
              <a:rPr sz="1000"/>
              <a:t>B2B Wholesale Module will have access to required pricing data and bulk ordering workflows</a:t>
            </a:r>
          </a:p>
        </p:txBody>
      </p:sp>
      <p:cxnSp>
        <p:nvCxnSpPr>
          <p:cNvPr id="208" name="Google Shape;208;p9"/>
          <p:cNvCxnSpPr/>
          <p:nvPr/>
        </p:nvCxnSpPr>
        <p:spPr>
          <a:xfrm flipH="1">
            <a:off x="243425" y="736325"/>
            <a:ext cx="10200" cy="3997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In Scope and Out of Scope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396575" y="1028850"/>
            <a:ext cx="4084800" cy="3675900"/>
          </a:xfrm>
          <a:prstGeom prst="snip1Rect">
            <a:avLst>
              <a:gd fmla="val 7022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00818" y="898163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In Scope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658375" y="900350"/>
            <a:ext cx="4084800" cy="3804300"/>
          </a:xfrm>
          <a:prstGeom prst="snip1Rect">
            <a:avLst>
              <a:gd fmla="val 10616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662635" y="898172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Not Estimated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4662575" y="1374275"/>
            <a:ext cx="40848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Custom branding or UI/UX design beyond standard templates</a:t>
            </a:r>
          </a:p>
          <a:p>
            <a:pPr>
              <a:spcAft>
                <a:spcPts val="200"/>
              </a:spcAft>
            </a:pPr>
            <a:r>
              <a:rPr sz="1000"/>
              <a:t>Additional third-party integrations not specified in the RFP</a:t>
            </a:r>
          </a:p>
          <a:p>
            <a:pPr>
              <a:spcAft>
                <a:spcPts val="200"/>
              </a:spcAft>
            </a:pPr>
            <a:r>
              <a:rPr sz="1000"/>
              <a:t>On-site implementation or infrastructure setup beyond cloud-based deployment</a:t>
            </a:r>
          </a:p>
        </p:txBody>
      </p:sp>
      <p:sp>
        <p:nvSpPr>
          <p:cNvPr id="221" name="Google Shape;221;p10"/>
          <p:cNvSpPr txBox="1"/>
          <p:nvPr/>
        </p:nvSpPr>
        <p:spPr>
          <a:xfrm>
            <a:off x="400819" y="1406088"/>
            <a:ext cx="40848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Product Catalog &amp; Search with faceted search and instant filtering</a:t>
            </a:r>
          </a:p>
          <a:p>
            <a:pPr>
              <a:spcAft>
                <a:spcPts val="200"/>
              </a:spcAft>
            </a:pPr>
            <a:r>
              <a:rPr sz="1000"/>
              <a:t>Checkout &amp; Payments with multi-currency and supported payment gateways</a:t>
            </a:r>
          </a:p>
          <a:p>
            <a:pPr>
              <a:spcAft>
                <a:spcPts val="200"/>
              </a:spcAft>
            </a:pPr>
            <a:r>
              <a:rPr sz="1000"/>
              <a:t>User Account Management with customer portal features</a:t>
            </a:r>
          </a:p>
          <a:p>
            <a:pPr>
              <a:spcAft>
                <a:spcPts val="200"/>
              </a:spcAft>
            </a:pPr>
            <a:r>
              <a:rPr sz="1000"/>
              <a:t>Content Management System with headless CMS integration</a:t>
            </a:r>
          </a:p>
          <a:p>
            <a:pPr>
              <a:spcAft>
                <a:spcPts val="200"/>
              </a:spcAft>
            </a:pPr>
            <a:r>
              <a:rPr sz="1000"/>
              <a:t>B2B Wholesale Module with password-protected portal</a:t>
            </a:r>
          </a:p>
          <a:p>
            <a:pPr>
              <a:spcAft>
                <a:spcPts val="200"/>
              </a:spcAft>
            </a:pPr>
            <a:r>
              <a:rPr sz="1000"/>
              <a:t>Architecture with frontend decoupled from backend via REST/GraphQL</a:t>
            </a:r>
          </a:p>
          <a:p>
            <a:pPr>
              <a:spcAft>
                <a:spcPts val="200"/>
              </a:spcAft>
            </a:pPr>
            <a:r>
              <a:rPr sz="1000"/>
              <a:t>Security &amp; Compliance with PCI-DSS, GDPR, CCPA, and SSL/TLS</a:t>
            </a:r>
          </a:p>
          <a:p>
            <a:pPr>
              <a:spcAft>
                <a:spcPts val="200"/>
              </a:spcAft>
            </a:pPr>
            <a:r>
              <a:rPr sz="1000"/>
              <a:t>SEO &amp; Accessib…</a:t>
            </a:r>
          </a:p>
        </p:txBody>
      </p:sp>
      <p:sp>
        <p:nvSpPr>
          <p:cNvPr id="222" name="Google Shape;22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1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226950" y="740900"/>
            <a:ext cx="8690100" cy="41133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0" name="Google Shape;250;p12"/>
          <p:cNvCxnSpPr/>
          <p:nvPr/>
        </p:nvCxnSpPr>
        <p:spPr>
          <a:xfrm>
            <a:off x="249444" y="751302"/>
            <a:ext cx="0" cy="4113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2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Solutioning Highlights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340550" y="993438"/>
            <a:ext cx="8196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Proposed High Level Architecture</a:t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2397150" y="887625"/>
            <a:ext cx="3813600" cy="36993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r>
              <a:t>Apex Retail Solutions Platform</a:t>
            </a:r>
          </a:p>
        </p:txBody>
      </p:sp>
      <p:sp>
        <p:nvSpPr>
          <p:cNvPr id="260" name="Google Shape;260;p13"/>
          <p:cNvSpPr/>
          <p:nvPr/>
        </p:nvSpPr>
        <p:spPr>
          <a:xfrm>
            <a:off x="756125" y="2252475"/>
            <a:ext cx="922800" cy="9696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2549550" y="1316100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UI layer Screens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744425" y="2826663"/>
            <a:ext cx="94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Mobile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7069675" y="1671550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525252"/>
                </a:solidFill>
                <a:latin typeface="Montserrat"/>
                <a:ea typeface="Montserrat"/>
                <a:cs typeface="Montserrat"/>
                <a:sym typeface="Montserrat"/>
              </a:rPr>
              <a:t>Backend APIs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069675" y="2847049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525252"/>
                </a:solidFill>
                <a:latin typeface="Montserrat"/>
                <a:ea typeface="Montserrat"/>
                <a:cs typeface="Montserrat"/>
                <a:sym typeface="Montserrat"/>
              </a:rPr>
              <a:t>Firebase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525" y="2379875"/>
            <a:ext cx="401999" cy="4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2549550" y="1959698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Business Logic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2549550" y="2603300"/>
            <a:ext cx="3508800" cy="61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297507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Network Service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48102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Local Storage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2549550" y="3553200"/>
            <a:ext cx="3508800" cy="88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641000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788308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Push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Notifications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935616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Crash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Reporting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4462" y="3032873"/>
            <a:ext cx="283233" cy="357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13"/>
          <p:cNvCxnSpPr>
            <a:stCxn id="260" idx="0"/>
            <a:endCxn id="259" idx="2"/>
          </p:cNvCxnSpPr>
          <p:nvPr/>
        </p:nvCxnSpPr>
        <p:spPr>
          <a:xfrm>
            <a:off x="1678925" y="2737275"/>
            <a:ext cx="7182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13"/>
          <p:cNvCxnSpPr>
            <a:stCxn id="261" idx="1"/>
            <a:endCxn id="266" idx="3"/>
          </p:cNvCxnSpPr>
          <p:nvPr/>
        </p:nvCxnSpPr>
        <p:spPr>
          <a:xfrm>
            <a:off x="4303950" y="16218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7" name="Google Shape;277;p13"/>
          <p:cNvCxnSpPr>
            <a:stCxn id="266" idx="1"/>
            <a:endCxn id="267" idx="3"/>
          </p:cNvCxnSpPr>
          <p:nvPr/>
        </p:nvCxnSpPr>
        <p:spPr>
          <a:xfrm>
            <a:off x="4303950" y="2265398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8" name="Google Shape;278;p13"/>
          <p:cNvSpPr txBox="1"/>
          <p:nvPr/>
        </p:nvSpPr>
        <p:spPr>
          <a:xfrm>
            <a:off x="3872500" y="26032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Data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9" name="Google Shape;279;p13"/>
          <p:cNvCxnSpPr>
            <a:stCxn id="267" idx="1"/>
            <a:endCxn id="270" idx="3"/>
          </p:cNvCxnSpPr>
          <p:nvPr/>
        </p:nvCxnSpPr>
        <p:spPr>
          <a:xfrm>
            <a:off x="4303950" y="32153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0" name="Google Shape;280;p13"/>
          <p:cNvSpPr txBox="1"/>
          <p:nvPr/>
        </p:nvSpPr>
        <p:spPr>
          <a:xfrm>
            <a:off x="3925088" y="35531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3rd Party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p13"/>
          <p:cNvCxnSpPr>
            <a:stCxn id="259" idx="0"/>
            <a:endCxn id="263" idx="2"/>
          </p:cNvCxnSpPr>
          <p:nvPr/>
        </p:nvCxnSpPr>
        <p:spPr>
          <a:xfrm flipH="1" rot="10800000">
            <a:off x="6210750" y="2112675"/>
            <a:ext cx="858900" cy="624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13"/>
          <p:cNvCxnSpPr>
            <a:stCxn id="259" idx="0"/>
            <a:endCxn id="264" idx="2"/>
          </p:cNvCxnSpPr>
          <p:nvPr/>
        </p:nvCxnSpPr>
        <p:spPr>
          <a:xfrm>
            <a:off x="6210750" y="2737275"/>
            <a:ext cx="858900" cy="550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Architecture Considerations</a:t>
            </a:r>
            <a:endParaRPr/>
          </a:p>
        </p:txBody>
      </p:sp>
      <p:graphicFrame>
        <p:nvGraphicFramePr>
          <p:cNvPr id="289" name="Google Shape;289;p14"/>
          <p:cNvGraphicFramePr/>
          <p:nvPr/>
        </p:nvGraphicFramePr>
        <p:xfrm>
          <a:off x="264425" y="7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{D94F6760-089B-47EB-8253-D5C54B6EC847}</a:tableStyleId>
              </a:tblPr>
              <a:tblGrid>
                <a:gridCol w="1855975"/>
                <a:gridCol w="6695125"/>
              </a:tblGrid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Considerations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075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20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075"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 txBox="1"/>
          <p:nvPr>
            <p:ph type="title"/>
          </p:nvPr>
        </p:nvSpPr>
        <p:spPr>
          <a:xfrm>
            <a:off x="104500" y="141850"/>
            <a:ext cx="7467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Mobile Development Platform - Comparison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7" name="Google Shape;297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graphicFrame>
        <p:nvGraphicFramePr>
          <p:cNvPr id="299" name="Google Shape;299;p15"/>
          <p:cNvGraphicFramePr/>
          <p:nvPr/>
        </p:nvGraphicFramePr>
        <p:xfrm>
          <a:off x="189880" y="722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{605CC296-D303-4CE0-970A-263B8180C0D9}</a:tableStyleId>
              </a:tblPr>
              <a:tblGrid>
                <a:gridCol w="4210000"/>
                <a:gridCol w="2933625"/>
                <a:gridCol w="1567950"/>
              </a:tblGrid>
              <a:tr h="26060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Factors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 NATIVE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Flutter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Time to market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Recommended option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Alternative option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Native performance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775">
                <a:tc>
                  <a:txBody>
                    <a:bodyPr/>
                    <a:lstStyle/>
                    <a:p>
                      <a:r>
                        <a:t>Team skill fit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Based on existing engineering skills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Based on mobile specialization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r>
                        <a:t>UI consistency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Strong component libraries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Strong widget catalog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r>
                        <a:t>Integration with APIs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REST/GraphQL friendly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REST/GraphQL friendly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r>
                        <a:t>Maintainability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Modular architecture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Modular architecture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Aligns with stated RFP stack preferences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Viable alternate if skills differ</a:t>
                      </a:r>
                    </a:p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5"/>
          <p:cNvSpPr txBox="1"/>
          <p:nvPr/>
        </p:nvSpPr>
        <p:spPr>
          <a:xfrm>
            <a:off x="0" y="4485550"/>
            <a:ext cx="9144000" cy="4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Recommendation | Aligns with stated RFP stack preferences | Viable alternate if skills differ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0" name="Google Shape;310;p16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6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6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6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7" name="Google Shape;317;p16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6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0" name="Google Shape;320;p16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6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1623100" y="934600"/>
            <a:ext cx="7355400" cy="3713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236853" y="1505825"/>
            <a:ext cx="1877400" cy="2588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 Approach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2303501" y="2698629"/>
            <a:ext cx="1202100" cy="13272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3799228" y="2698629"/>
            <a:ext cx="1202100" cy="13668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2303500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Engagement 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Kick off &amp; Discovery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3814239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Iterative</a:t>
            </a:r>
            <a:b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1     2    3    .   .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34" name="Google Shape;334;p17"/>
          <p:cNvGrpSpPr/>
          <p:nvPr/>
        </p:nvGrpSpPr>
        <p:grpSpPr>
          <a:xfrm>
            <a:off x="3934107" y="2120825"/>
            <a:ext cx="817618" cy="72728"/>
            <a:chOff x="3198956" y="2429934"/>
            <a:chExt cx="1353000" cy="149400"/>
          </a:xfrm>
        </p:grpSpPr>
        <p:sp>
          <p:nvSpPr>
            <p:cNvPr id="335" name="Google Shape;335;p17"/>
            <p:cNvSpPr/>
            <p:nvPr/>
          </p:nvSpPr>
          <p:spPr>
            <a:xfrm flipH="1">
              <a:off x="31989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17"/>
            <p:cNvSpPr/>
            <p:nvPr/>
          </p:nvSpPr>
          <p:spPr>
            <a:xfrm flipH="1">
              <a:off x="35037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p17"/>
            <p:cNvSpPr/>
            <p:nvPr/>
          </p:nvSpPr>
          <p:spPr>
            <a:xfrm flipH="1">
              <a:off x="38085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8" name="Google Shape;338;p17"/>
            <p:cNvSpPr/>
            <p:nvPr/>
          </p:nvSpPr>
          <p:spPr>
            <a:xfrm flipH="1">
              <a:off x="41133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17"/>
            <p:cNvSpPr/>
            <p:nvPr/>
          </p:nvSpPr>
          <p:spPr>
            <a:xfrm flipH="1">
              <a:off x="44181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40" name="Google Shape;340;p17"/>
          <p:cNvCxnSpPr>
            <a:stCxn id="332" idx="3"/>
            <a:endCxn id="333" idx="1"/>
          </p:cNvCxnSpPr>
          <p:nvPr/>
        </p:nvCxnSpPr>
        <p:spPr>
          <a:xfrm>
            <a:off x="3480700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7"/>
          <p:cNvSpPr/>
          <p:nvPr/>
        </p:nvSpPr>
        <p:spPr>
          <a:xfrm>
            <a:off x="3721678" y="1352950"/>
            <a:ext cx="1306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Continuous Evolution of Working Software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324975" y="1677700"/>
            <a:ext cx="7893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UAT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3" name="Google Shape;343;p17"/>
          <p:cNvCxnSpPr>
            <a:stCxn id="333" idx="3"/>
            <a:endCxn id="342" idx="1"/>
          </p:cNvCxnSpPr>
          <p:nvPr/>
        </p:nvCxnSpPr>
        <p:spPr>
          <a:xfrm>
            <a:off x="4991439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" name="Google Shape;344;p17"/>
          <p:cNvSpPr/>
          <p:nvPr/>
        </p:nvSpPr>
        <p:spPr>
          <a:xfrm>
            <a:off x="6447800" y="1694125"/>
            <a:ext cx="789300" cy="7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Go-Live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5" name="Google Shape;345;p17"/>
          <p:cNvCxnSpPr>
            <a:stCxn id="342" idx="3"/>
            <a:endCxn id="344" idx="1"/>
          </p:cNvCxnSpPr>
          <p:nvPr/>
        </p:nvCxnSpPr>
        <p:spPr>
          <a:xfrm flipH="1" rot="10800000">
            <a:off x="6114275" y="2072500"/>
            <a:ext cx="333600" cy="2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17"/>
          <p:cNvSpPr/>
          <p:nvPr/>
        </p:nvSpPr>
        <p:spPr>
          <a:xfrm>
            <a:off x="7633975" y="1683488"/>
            <a:ext cx="11970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Hypercare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Support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" name="Google Shape;347;p17"/>
          <p:cNvCxnSpPr/>
          <p:nvPr/>
        </p:nvCxnSpPr>
        <p:spPr>
          <a:xfrm>
            <a:off x="7237088" y="2071309"/>
            <a:ext cx="365700" cy="7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17"/>
          <p:cNvSpPr/>
          <p:nvPr/>
        </p:nvSpPr>
        <p:spPr>
          <a:xfrm>
            <a:off x="2374525" y="2817019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2374517" y="3276841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374517" y="3727228"/>
            <a:ext cx="1054200" cy="2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4131026" y="3035164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131026" y="3299908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131026" y="356070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4131026" y="381359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4131026" y="2766471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7"/>
          <p:cNvCxnSpPr/>
          <p:nvPr/>
        </p:nvCxnSpPr>
        <p:spPr>
          <a:xfrm>
            <a:off x="3992919" y="2867471"/>
            <a:ext cx="0" cy="10116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57" name="Google Shape;357;p17"/>
          <p:cNvSpPr/>
          <p:nvPr/>
        </p:nvSpPr>
        <p:spPr>
          <a:xfrm>
            <a:off x="3804525" y="4077663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Iterative &amp; Incremental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Collaboration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304491" y="3293825"/>
            <a:ext cx="10542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 Framework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2463228" y="3738183"/>
            <a:ext cx="8973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 &amp; CI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2308793" y="4041178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Setup &amp; Preparation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155819" y="2755171"/>
            <a:ext cx="5769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Analyse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190073" y="3018350"/>
            <a:ext cx="5085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4125640" y="3285549"/>
            <a:ext cx="648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Code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4279537" y="3537980"/>
            <a:ext cx="3294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156461" y="3790409"/>
            <a:ext cx="536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Deploy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p17"/>
          <p:cNvCxnSpPr/>
          <p:nvPr/>
        </p:nvCxnSpPr>
        <p:spPr>
          <a:xfrm flipH="1">
            <a:off x="4443986" y="292788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7" name="Google Shape;367;p17"/>
          <p:cNvCxnSpPr/>
          <p:nvPr/>
        </p:nvCxnSpPr>
        <p:spPr>
          <a:xfrm>
            <a:off x="3995621" y="2867471"/>
            <a:ext cx="147900" cy="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8" name="Google Shape;368;p17"/>
          <p:cNvCxnSpPr/>
          <p:nvPr/>
        </p:nvCxnSpPr>
        <p:spPr>
          <a:xfrm>
            <a:off x="3992919" y="3881063"/>
            <a:ext cx="150900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9" name="Google Shape;369;p17"/>
          <p:cNvSpPr/>
          <p:nvPr/>
        </p:nvSpPr>
        <p:spPr>
          <a:xfrm rot="-5400000">
            <a:off x="3694246" y="3254831"/>
            <a:ext cx="4524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</a:t>
            </a:r>
            <a:endParaRPr b="0" i="0" sz="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0" name="Google Shape;370;p17"/>
          <p:cNvCxnSpPr/>
          <p:nvPr/>
        </p:nvCxnSpPr>
        <p:spPr>
          <a:xfrm flipH="1">
            <a:off x="4443986" y="3192628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1" name="Google Shape;371;p17"/>
          <p:cNvCxnSpPr/>
          <p:nvPr/>
        </p:nvCxnSpPr>
        <p:spPr>
          <a:xfrm flipH="1">
            <a:off x="4443986" y="345737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2" name="Google Shape;372;p17"/>
          <p:cNvCxnSpPr/>
          <p:nvPr/>
        </p:nvCxnSpPr>
        <p:spPr>
          <a:xfrm flipH="1">
            <a:off x="4443986" y="3714215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pic>
        <p:nvPicPr>
          <p:cNvPr id="373" name="Google Shape;373;p17"/>
          <p:cNvPicPr preferRelativeResize="0"/>
          <p:nvPr/>
        </p:nvPicPr>
        <p:blipFill rotWithShape="1">
          <a:blip r:embed="rId3">
            <a:alphaModFix/>
          </a:blip>
          <a:srcRect b="20805" l="17274" r="12333" t="17276"/>
          <a:stretch/>
        </p:blipFill>
        <p:spPr>
          <a:xfrm>
            <a:off x="2755125" y="1771113"/>
            <a:ext cx="228668" cy="2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5313" y="1880725"/>
            <a:ext cx="228675" cy="2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1264" y="1886352"/>
            <a:ext cx="365700" cy="21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138" y="1785736"/>
            <a:ext cx="228675" cy="22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7"/>
          <p:cNvGrpSpPr/>
          <p:nvPr/>
        </p:nvGrpSpPr>
        <p:grpSpPr>
          <a:xfrm>
            <a:off x="308754" y="1982358"/>
            <a:ext cx="1734192" cy="256660"/>
            <a:chOff x="530597" y="1659894"/>
            <a:chExt cx="1541778" cy="210931"/>
          </a:xfrm>
        </p:grpSpPr>
        <p:sp>
          <p:nvSpPr>
            <p:cNvPr id="378" name="Google Shape;378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Project Manager/Business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79" name="Google Shape;379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0" name="Google Shape;380;p17"/>
          <p:cNvSpPr txBox="1"/>
          <p:nvPr/>
        </p:nvSpPr>
        <p:spPr>
          <a:xfrm>
            <a:off x="2538875" y="980525"/>
            <a:ext cx="49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1" i="0" sz="10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-241825" y="15058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TTN Engineering Team</a:t>
            </a:r>
            <a:endParaRPr b="1" i="0" sz="9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2344200" y="2880388"/>
            <a:ext cx="101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 &amp; Functional Discovery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3" name="Google Shape;383;p17"/>
          <p:cNvGrpSpPr/>
          <p:nvPr/>
        </p:nvGrpSpPr>
        <p:grpSpPr>
          <a:xfrm>
            <a:off x="298800" y="2292174"/>
            <a:ext cx="1734192" cy="256660"/>
            <a:chOff x="530597" y="1659894"/>
            <a:chExt cx="1541778" cy="210931"/>
          </a:xfrm>
        </p:grpSpPr>
        <p:sp>
          <p:nvSpPr>
            <p:cNvPr id="384" name="Google Shape;384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Technical lead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5" name="Google Shape;385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6" name="Google Shape;386;p17"/>
          <p:cNvGrpSpPr/>
          <p:nvPr/>
        </p:nvGrpSpPr>
        <p:grpSpPr>
          <a:xfrm>
            <a:off x="308757" y="2617640"/>
            <a:ext cx="1734192" cy="256660"/>
            <a:chOff x="530597" y="1659894"/>
            <a:chExt cx="1541778" cy="210931"/>
          </a:xfrm>
        </p:grpSpPr>
        <p:sp>
          <p:nvSpPr>
            <p:cNvPr id="387" name="Google Shape;387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DevOps Experts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8" name="Google Shape;38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" name="Google Shape;389;p17"/>
          <p:cNvGrpSpPr/>
          <p:nvPr/>
        </p:nvGrpSpPr>
        <p:grpSpPr>
          <a:xfrm>
            <a:off x="298803" y="2943091"/>
            <a:ext cx="1734192" cy="256660"/>
            <a:chOff x="530597" y="1659894"/>
            <a:chExt cx="1541778" cy="210931"/>
          </a:xfrm>
        </p:grpSpPr>
        <p:sp>
          <p:nvSpPr>
            <p:cNvPr id="390" name="Google Shape;390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Ui/UX Expert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1" name="Google Shape;39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17"/>
          <p:cNvGrpSpPr/>
          <p:nvPr/>
        </p:nvGrpSpPr>
        <p:grpSpPr>
          <a:xfrm>
            <a:off x="298803" y="3281643"/>
            <a:ext cx="1734192" cy="256660"/>
            <a:chOff x="530597" y="1659894"/>
            <a:chExt cx="1541778" cy="210931"/>
          </a:xfrm>
        </p:grpSpPr>
        <p:sp>
          <p:nvSpPr>
            <p:cNvPr id="393" name="Google Shape;393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Mobility Developer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4" name="Google Shape;394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" name="Google Shape;395;p17"/>
          <p:cNvGrpSpPr/>
          <p:nvPr/>
        </p:nvGrpSpPr>
        <p:grpSpPr>
          <a:xfrm>
            <a:off x="298803" y="3624423"/>
            <a:ext cx="1734192" cy="256660"/>
            <a:chOff x="530597" y="1659894"/>
            <a:chExt cx="1541778" cy="210931"/>
          </a:xfrm>
        </p:grpSpPr>
        <p:sp>
          <p:nvSpPr>
            <p:cNvPr id="396" name="Google Shape;396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Quality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7" name="Google Shape;39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8" name="Google Shape;398;p17"/>
          <p:cNvSpPr txBox="1"/>
          <p:nvPr/>
        </p:nvSpPr>
        <p:spPr>
          <a:xfrm>
            <a:off x="5325050" y="2625250"/>
            <a:ext cx="3480300" cy="131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b="1" i="0" sz="900" u="none" cap="none" strike="noStrike">
              <a:solidFill>
                <a:srgbClr val="CE00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Governance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406550" y="2890925"/>
            <a:ext cx="8032800" cy="20235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6340857" y="3106350"/>
            <a:ext cx="1684800" cy="17016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6822582" y="1602888"/>
            <a:ext cx="2121000" cy="8010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330332" y="2029610"/>
            <a:ext cx="6291000" cy="4974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317407" y="1296319"/>
            <a:ext cx="6291000" cy="4443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1" name="Google Shape;411;p18"/>
          <p:cNvCxnSpPr/>
          <p:nvPr/>
        </p:nvCxnSpPr>
        <p:spPr>
          <a:xfrm rot="10800000">
            <a:off x="6694101" y="1402153"/>
            <a:ext cx="1177500" cy="211500"/>
          </a:xfrm>
          <a:prstGeom prst="bentConnector3">
            <a:avLst>
              <a:gd fmla="val -748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2" name="Google Shape;412;p18"/>
          <p:cNvSpPr/>
          <p:nvPr/>
        </p:nvSpPr>
        <p:spPr>
          <a:xfrm>
            <a:off x="1641650" y="3353226"/>
            <a:ext cx="4595100" cy="1180800"/>
          </a:xfrm>
          <a:prstGeom prst="roundRect">
            <a:avLst>
              <a:gd fmla="val 5116" name="adj"/>
            </a:avLst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Dedicated project governance with defined SLAs, escalation paths, and ongoing support aligned to agreed service levels.</a:t>
            </a:r>
          </a:p>
        </p:txBody>
      </p:sp>
      <p:sp>
        <p:nvSpPr>
          <p:cNvPr id="413" name="Google Shape;413;p18"/>
          <p:cNvSpPr/>
          <p:nvPr/>
        </p:nvSpPr>
        <p:spPr>
          <a:xfrm>
            <a:off x="1988934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1988925" y="3507010"/>
            <a:ext cx="133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Apex Retail Solutions Stakeholders</a:t>
            </a:r>
          </a:p>
        </p:txBody>
      </p:sp>
      <p:pic>
        <p:nvPicPr>
          <p:cNvPr id="415" name="Google Shape;4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6311" y="3951547"/>
            <a:ext cx="519140" cy="3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9434" y="3917769"/>
            <a:ext cx="252974" cy="257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18"/>
          <p:cNvCxnSpPr/>
          <p:nvPr/>
        </p:nvCxnSpPr>
        <p:spPr>
          <a:xfrm rot="10800000">
            <a:off x="3852626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8"/>
          <p:cNvSpPr/>
          <p:nvPr/>
        </p:nvSpPr>
        <p:spPr>
          <a:xfrm>
            <a:off x="7325193" y="3938946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7182882" y="4191775"/>
            <a:ext cx="6609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Demo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7325208" y="3356749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7182897" y="3586774"/>
            <a:ext cx="575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Planning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2" name="Google Shape;4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594" y="3407623"/>
            <a:ext cx="168328" cy="1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>
            <a:off x="6635482" y="3359668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493150" y="3584986"/>
            <a:ext cx="575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Daily Stand-ups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5" name="Google Shape;4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7109" y="3399220"/>
            <a:ext cx="187848" cy="14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8788" y="3981126"/>
            <a:ext cx="183912" cy="1386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7" name="Google Shape;427;p18"/>
          <p:cNvCxnSpPr/>
          <p:nvPr/>
        </p:nvCxnSpPr>
        <p:spPr>
          <a:xfrm rot="10800000">
            <a:off x="6608487" y="3903739"/>
            <a:ext cx="1217400" cy="5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cxnSp>
        <p:nvCxnSpPr>
          <p:cNvPr id="428" name="Google Shape;428;p18"/>
          <p:cNvCxnSpPr/>
          <p:nvPr/>
        </p:nvCxnSpPr>
        <p:spPr>
          <a:xfrm>
            <a:off x="7149754" y="3492278"/>
            <a:ext cx="900" cy="90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sp>
        <p:nvSpPr>
          <p:cNvPr id="429" name="Google Shape;429;p18"/>
          <p:cNvSpPr/>
          <p:nvPr/>
        </p:nvSpPr>
        <p:spPr>
          <a:xfrm>
            <a:off x="6635482" y="3941925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493929" y="4191765"/>
            <a:ext cx="5754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Joint Retrospective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6281307" y="3099123"/>
            <a:ext cx="16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Engagement Highlights 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4479247" y="1409956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Executive Leadership and Business Unit Head 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1629325" y="1419354"/>
            <a:ext cx="2121000" cy="259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Apex Retail Solutions  Executive</a:t>
            </a:r>
          </a:p>
          <a:p>
            <a:r>
              <a:t>Leadership</a:t>
            </a:r>
          </a:p>
        </p:txBody>
      </p:sp>
      <p:sp>
        <p:nvSpPr>
          <p:cNvPr id="434" name="Google Shape;434;p18"/>
          <p:cNvSpPr txBox="1"/>
          <p:nvPr/>
        </p:nvSpPr>
        <p:spPr>
          <a:xfrm>
            <a:off x="4479247" y="2090204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Delivery Director /</a:t>
            </a:r>
            <a:endParaRPr b="1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Project Manager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2548207" y="107937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5320907" y="107310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7" name="Google Shape;437;p18"/>
          <p:cNvCxnSpPr/>
          <p:nvPr/>
        </p:nvCxnSpPr>
        <p:spPr>
          <a:xfrm rot="10800000">
            <a:off x="2632112" y="175270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38" name="Google Shape;438;p18"/>
          <p:cNvSpPr txBox="1"/>
          <p:nvPr/>
        </p:nvSpPr>
        <p:spPr>
          <a:xfrm>
            <a:off x="4374390" y="1777945"/>
            <a:ext cx="955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18"/>
          <p:cNvCxnSpPr/>
          <p:nvPr/>
        </p:nvCxnSpPr>
        <p:spPr>
          <a:xfrm>
            <a:off x="5423642" y="177225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40" name="Google Shape;440;p18"/>
          <p:cNvSpPr txBox="1"/>
          <p:nvPr/>
        </p:nvSpPr>
        <p:spPr>
          <a:xfrm>
            <a:off x="4336415" y="2517264"/>
            <a:ext cx="9816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1" name="Google Shape;441;p18"/>
          <p:cNvCxnSpPr/>
          <p:nvPr/>
        </p:nvCxnSpPr>
        <p:spPr>
          <a:xfrm>
            <a:off x="5423650" y="2504893"/>
            <a:ext cx="0" cy="332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2" name="Google Shape;442;p18"/>
          <p:cNvCxnSpPr>
            <a:stCxn id="433" idx="3"/>
            <a:endCxn id="432" idx="1"/>
          </p:cNvCxnSpPr>
          <p:nvPr/>
        </p:nvCxnSpPr>
        <p:spPr>
          <a:xfrm flipH="1" rot="10800000">
            <a:off x="3750325" y="1548954"/>
            <a:ext cx="729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cxnSp>
        <p:nvCxnSpPr>
          <p:cNvPr id="443" name="Google Shape;443;p18"/>
          <p:cNvCxnSpPr>
            <a:stCxn id="444" idx="3"/>
            <a:endCxn id="434" idx="1"/>
          </p:cNvCxnSpPr>
          <p:nvPr/>
        </p:nvCxnSpPr>
        <p:spPr>
          <a:xfrm>
            <a:off x="3750325" y="2229258"/>
            <a:ext cx="72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sp>
        <p:nvSpPr>
          <p:cNvPr id="444" name="Google Shape;444;p18"/>
          <p:cNvSpPr txBox="1"/>
          <p:nvPr/>
        </p:nvSpPr>
        <p:spPr>
          <a:xfrm>
            <a:off x="1629325" y="2090208"/>
            <a:ext cx="2121000" cy="278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Product Manager, Apex Retail Solutions </a:t>
            </a:r>
          </a:p>
        </p:txBody>
      </p:sp>
      <p:sp>
        <p:nvSpPr>
          <p:cNvPr id="445" name="Google Shape;445;p18"/>
          <p:cNvSpPr txBox="1"/>
          <p:nvPr/>
        </p:nvSpPr>
        <p:spPr>
          <a:xfrm>
            <a:off x="2864276" y="2533538"/>
            <a:ext cx="6609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Escalate Risks &amp; Issues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6" name="Google Shape;446;p18"/>
          <p:cNvCxnSpPr/>
          <p:nvPr/>
        </p:nvCxnSpPr>
        <p:spPr>
          <a:xfrm rot="10800000">
            <a:off x="2632100" y="2507218"/>
            <a:ext cx="0" cy="365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7" name="Google Shape;447;p18"/>
          <p:cNvCxnSpPr>
            <a:stCxn id="431" idx="0"/>
            <a:endCxn id="412" idx="0"/>
          </p:cNvCxnSpPr>
          <p:nvPr/>
        </p:nvCxnSpPr>
        <p:spPr>
          <a:xfrm rot="5400000">
            <a:off x="5404407" y="1633923"/>
            <a:ext cx="254100" cy="3184500"/>
          </a:xfrm>
          <a:prstGeom prst="bentConnector3">
            <a:avLst>
              <a:gd fmla="val -93713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8" name="Google Shape;448;p18"/>
          <p:cNvSpPr/>
          <p:nvPr/>
        </p:nvSpPr>
        <p:spPr>
          <a:xfrm>
            <a:off x="7182432" y="1935141"/>
            <a:ext cx="1401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60925" spcFirstLastPara="1" rIns="60925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700" u="none" cap="none" strike="noStrike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Monthly Governance Checkpoints (SteerCo)</a:t>
            </a:r>
            <a:endParaRPr b="1" i="0" sz="700" u="none" cap="none" strike="noStrike">
              <a:solidFill>
                <a:srgbClr val="19191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7712458" y="1639644"/>
            <a:ext cx="318300" cy="3117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196599" y="3403869"/>
            <a:ext cx="1334100" cy="9417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56651" y="1712375"/>
            <a:ext cx="229899" cy="166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8"/>
          <p:cNvSpPr/>
          <p:nvPr/>
        </p:nvSpPr>
        <p:spPr>
          <a:xfrm>
            <a:off x="4128891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59212" y="4081790"/>
            <a:ext cx="193693" cy="18171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8"/>
          <p:cNvSpPr txBox="1"/>
          <p:nvPr/>
        </p:nvSpPr>
        <p:spPr>
          <a:xfrm>
            <a:off x="4380925" y="3505629"/>
            <a:ext cx="83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TTN Team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18"/>
          <p:cNvSpPr txBox="1"/>
          <p:nvPr/>
        </p:nvSpPr>
        <p:spPr>
          <a:xfrm>
            <a:off x="4232743" y="3979995"/>
            <a:ext cx="12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TTN Engineering 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6" name="Google Shape;456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71897" y="3802253"/>
            <a:ext cx="168324" cy="18004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8"/>
          <p:cNvSpPr txBox="1"/>
          <p:nvPr/>
        </p:nvSpPr>
        <p:spPr>
          <a:xfrm>
            <a:off x="4388911" y="3821314"/>
            <a:ext cx="9816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Manager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8" name="Google Shape;458;p18"/>
          <p:cNvCxnSpPr/>
          <p:nvPr/>
        </p:nvCxnSpPr>
        <p:spPr>
          <a:xfrm rot="10800000">
            <a:off x="3316313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9" name="Google Shape;4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99607" y="3982434"/>
            <a:ext cx="183925" cy="13576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8"/>
          <p:cNvSpPr txBox="1"/>
          <p:nvPr/>
        </p:nvSpPr>
        <p:spPr>
          <a:xfrm>
            <a:off x="359857" y="1281370"/>
            <a:ext cx="11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Steering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Committee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409932" y="2011328"/>
            <a:ext cx="98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Committee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2" name="Google Shape;462;p18"/>
          <p:cNvCxnSpPr>
            <a:stCxn id="448" idx="2"/>
          </p:cNvCxnSpPr>
          <p:nvPr/>
        </p:nvCxnSpPr>
        <p:spPr>
          <a:xfrm flipH="1" rot="5400000">
            <a:off x="7211532" y="1707891"/>
            <a:ext cx="81300" cy="1261800"/>
          </a:xfrm>
          <a:prstGeom prst="bentConnector4">
            <a:avLst>
              <a:gd fmla="val -292897" name="adj1"/>
              <a:gd fmla="val 77764" name="adj2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3" name="Google Shape;463;p18"/>
          <p:cNvSpPr txBox="1"/>
          <p:nvPr/>
        </p:nvSpPr>
        <p:spPr>
          <a:xfrm>
            <a:off x="428857" y="35639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Program 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Execution 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TN Logo.png" id="464" name="Google Shape;46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10881" y="61247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Plan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1" name="Google Shape;471;p19"/>
          <p:cNvGraphicFramePr/>
          <p:nvPr/>
        </p:nvGraphicFramePr>
        <p:xfrm>
          <a:off x="232325" y="70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{2ED30D0B-F584-43FB-8283-64062CD711C6}</a:tableStyleId>
              </a:tblPr>
              <a:tblGrid>
                <a:gridCol w="1256925"/>
                <a:gridCol w="461550"/>
                <a:gridCol w="476475"/>
                <a:gridCol w="453325"/>
                <a:gridCol w="498275"/>
                <a:gridCol w="464450"/>
                <a:gridCol w="45737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</a:tblGrid>
              <a:tr h="320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Activities /Timelines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2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3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4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5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6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7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8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9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10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12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13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14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15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54150">
                <a:tc>
                  <a:txBody>
                    <a:bodyPr/>
                    <a:lstStyle/>
                    <a:p>
                      <a:r>
                        <a:t>Discovery &amp; Design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0700">
                <a:tc>
                  <a:txBody>
                    <a:bodyPr/>
                    <a:lstStyle/>
                    <a:p>
                      <a:r>
                        <a:t>Iterative Development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0375">
                <a:tc>
                  <a:txBody>
                    <a:bodyPr/>
                    <a:lstStyle/>
                    <a:p>
                      <a:r>
                        <a:t>UAT &amp; Go-Live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8850">
                <a:tc>
                  <a:txBody>
                    <a:bodyPr/>
                    <a:lstStyle/>
                    <a:p>
                      <a:r>
                        <a:t>Hypercare Support</a:t>
                      </a: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●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19"/>
          <p:cNvSpPr/>
          <p:nvPr/>
        </p:nvSpPr>
        <p:spPr>
          <a:xfrm>
            <a:off x="1489250" y="1136263"/>
            <a:ext cx="9381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Discovery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2427275" y="1935925"/>
            <a:ext cx="4443600" cy="307800"/>
          </a:xfrm>
          <a:prstGeom prst="homePlate">
            <a:avLst>
              <a:gd fmla="val 50000" name="adj"/>
            </a:avLst>
          </a:prstGeom>
          <a:solidFill>
            <a:srgbClr val="D71B7F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6888825" y="271177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8825" y="255032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/>
          <p:nvPr/>
        </p:nvSpPr>
        <p:spPr>
          <a:xfrm>
            <a:off x="7924075" y="344492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075" y="318477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9"/>
          <p:cNvSpPr txBox="1"/>
          <p:nvPr/>
        </p:nvSpPr>
        <p:spPr>
          <a:xfrm>
            <a:off x="266700" y="4399275"/>
            <a:ext cx="859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*Notes: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Weeks of Hypercare support post go-live will be provided at no additional cost.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 Timelines could be revised after discovery with expected variation upto +/-10%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pic>
        <p:nvPicPr>
          <p:cNvPr id="480" name="Google Shape;4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60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822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53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247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9"/>
          <p:cNvSpPr txBox="1"/>
          <p:nvPr/>
        </p:nvSpPr>
        <p:spPr>
          <a:xfrm>
            <a:off x="7587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Increment Review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6" name="Google Shape;4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0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9"/>
          <p:cNvSpPr txBox="1"/>
          <p:nvPr/>
        </p:nvSpPr>
        <p:spPr>
          <a:xfrm>
            <a:off x="31209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UAT and Go-Live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489250" y="1392800"/>
            <a:ext cx="28116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 Phase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8" name="Google Shape;498;p20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0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20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20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5" name="Google Shape;505;p20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0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20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20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Proposed Engagement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268738" y="861370"/>
            <a:ext cx="4201500" cy="37182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Agile development with bi-weekly sprints and stakeholder reviews</a:t>
            </a:r>
          </a:p>
          <a:p>
            <a:pPr>
              <a:spcAft>
                <a:spcPts val="200"/>
              </a:spcAft>
            </a:pPr>
            <a:r>
              <a:rPr sz="1000"/>
              <a:t>Dedicated project manager for coordination and communication</a:t>
            </a:r>
          </a:p>
          <a:p>
            <a:pPr>
              <a:spcAft>
                <a:spcPts val="200"/>
              </a:spcAft>
            </a:pPr>
            <a:r>
              <a:rPr sz="1000"/>
              <a:t>Iterative delivery with phased testing and user acceptance</a:t>
            </a:r>
          </a:p>
          <a:p>
            <a:pPr>
              <a:spcAft>
                <a:spcPts val="200"/>
              </a:spcAft>
            </a:pPr>
            <a:r>
              <a:rPr sz="1000"/>
              <a:t>Continuous integration and delivery (CI/CD) for deployment</a:t>
            </a:r>
          </a:p>
        </p:txBody>
      </p:sp>
      <p:cxnSp>
        <p:nvCxnSpPr>
          <p:cNvPr id="517" name="Google Shape;517;p21"/>
          <p:cNvCxnSpPr/>
          <p:nvPr/>
        </p:nvCxnSpPr>
        <p:spPr>
          <a:xfrm>
            <a:off x="272290" y="855475"/>
            <a:ext cx="0" cy="37104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1"/>
          <p:cNvSpPr/>
          <p:nvPr/>
        </p:nvSpPr>
        <p:spPr>
          <a:xfrm>
            <a:off x="4673772" y="863998"/>
            <a:ext cx="4201500" cy="37044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Commercial pricing and payment terms will be agreed based on final scope, milestones, and contract.</a:t>
            </a:r>
          </a:p>
        </p:txBody>
      </p:sp>
      <p:cxnSp>
        <p:nvCxnSpPr>
          <p:cNvPr id="519" name="Google Shape;519;p21"/>
          <p:cNvCxnSpPr/>
          <p:nvPr/>
        </p:nvCxnSpPr>
        <p:spPr>
          <a:xfrm>
            <a:off x="4677324" y="858123"/>
            <a:ext cx="0" cy="3697500"/>
          </a:xfrm>
          <a:prstGeom prst="straightConnector1">
            <a:avLst/>
          </a:prstGeom>
          <a:noFill/>
          <a:ln cap="flat" cmpd="sng" w="19050">
            <a:solidFill>
              <a:srgbClr val="D418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p21"/>
          <p:cNvSpPr txBox="1"/>
          <p:nvPr/>
        </p:nvSpPr>
        <p:spPr>
          <a:xfrm>
            <a:off x="554448" y="989025"/>
            <a:ext cx="342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Fixed Price Fixed Scope Engagement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5322463" y="989017"/>
            <a:ext cx="26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2" name="Google Shape;532;p23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3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3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3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9" name="Google Shape;539;p23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23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2" name="Google Shape;542;p23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23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6222488" y="959944"/>
            <a:ext cx="26931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Since 2018, TTN has been a strategic partner in Tabcorp’s transformation, evolving from supporting its digital arm to over 150 people enabling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digital, gaming, data, trackside, retail,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cybersecurity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Together, we have delivered groundbreaking solutions at scale.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omni-channel innovations like a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betting app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integrating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mobile experiences, customer engagement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personalisation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Adobe Target, Analytics, and AEM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to infrastructure modernisation with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Infra as Code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AWS Cloud optimisation,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Graviton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migration, to reducing manual testing by 45%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have enabled compliance adherence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AML/CTF tools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Enhanced Customer Due Diligence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suppression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management.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work includes cutting-edge betting features like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Same Game Multi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sports,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Blackbook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racing,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Retail in-play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initiatives to boost engagement and custom experiences.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2" name="Google Shape;5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4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4"/>
          <p:cNvPicPr preferRelativeResize="0"/>
          <p:nvPr/>
        </p:nvPicPr>
        <p:blipFill rotWithShape="1">
          <a:blip r:embed="rId6">
            <a:alphaModFix/>
          </a:blip>
          <a:srcRect b="51129" l="0" r="0" t="0"/>
          <a:stretch/>
        </p:blipFill>
        <p:spPr>
          <a:xfrm>
            <a:off x="851951" y="1443450"/>
            <a:ext cx="3776933" cy="220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57" name="Google Shape;55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877" y="179550"/>
            <a:ext cx="1531468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558" name="Google Shape;55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4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successfully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rebuilt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entire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Sky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Racing Website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optimised for SEO, and implemented a microservices-based architecture that is highly resilient and scalable, hosted on AWS.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addition to enhancing core digital properties,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streamlined content curation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a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custom-built CMS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auto and personalised playlists based on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user preferences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which significantly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operational efficiency.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platform features live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race streaming and VOD content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leveraging a comprehensive technology stack that includes Kotlin, Swift, Java, MongoDB, Spring Boot, and more.</a:t>
            </a:r>
            <a:endParaRPr b="1" i="0" sz="900" u="none" cap="none" strike="noStrike">
              <a:solidFill>
                <a:srgbClr val="D918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6" name="Google Shape;5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96" y="156319"/>
            <a:ext cx="612506" cy="5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5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8" name="Google Shape;5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5"/>
          <p:cNvPicPr preferRelativeResize="0"/>
          <p:nvPr/>
        </p:nvPicPr>
        <p:blipFill rotWithShape="1">
          <a:blip r:embed="rId6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72" name="Google Shape;572;p25"/>
          <p:cNvPicPr preferRelativeResize="0"/>
          <p:nvPr/>
        </p:nvPicPr>
        <p:blipFill rotWithShape="1">
          <a:blip r:embed="rId9">
            <a:alphaModFix/>
          </a:blip>
          <a:srcRect b="14288" l="0" r="0" t="0"/>
          <a:stretch/>
        </p:blipFill>
        <p:spPr>
          <a:xfrm>
            <a:off x="851951" y="1443450"/>
            <a:ext cx="3361367" cy="214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74" name="Google Shape;57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5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Tata Play partnered with us to reimagine their digital platforms - bringing innovation to both entertainment and customer self-service.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engineered a secure OTT solution featuring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Live TV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VoD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DRM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user-friendly tools like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remote recording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rich analytics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In parallel, we developed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Native-based Self-Care app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unified Android/iOS codebase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faster releases and seamless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CRM/payment gateway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Powered by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microservices architecture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the platforms are scalable, resilient, and experience-driven.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Achieved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70%+ mobile engagement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 ratings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higher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adoption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increased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recharge and upsell conversions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across digital channels.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India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3" name="Google Shape;5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6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87" name="Google Shape;587;p26" title="Screenshot (11).png"/>
          <p:cNvPicPr preferRelativeResize="0"/>
          <p:nvPr/>
        </p:nvPicPr>
        <p:blipFill rotWithShape="1">
          <a:blip r:embed="rId8">
            <a:alphaModFix/>
          </a:blip>
          <a:srcRect b="0" l="8089" r="8089" t="0"/>
          <a:stretch/>
        </p:blipFill>
        <p:spPr>
          <a:xfrm>
            <a:off x="851951" y="1443450"/>
            <a:ext cx="3361368" cy="21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6" title="Screenshot (12).png"/>
          <p:cNvPicPr preferRelativeResize="0"/>
          <p:nvPr/>
        </p:nvPicPr>
        <p:blipFill rotWithShape="1">
          <a:blip r:embed="rId9">
            <a:alphaModFix/>
          </a:blip>
          <a:srcRect b="1067" l="0" r="0" t="1057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89" name="Google Shape;58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1" name="Google Shape;591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2400" y="64450"/>
            <a:ext cx="516401" cy="5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6"/>
          <p:cNvPicPr preferRelativeResize="0"/>
          <p:nvPr/>
        </p:nvPicPr>
        <p:blipFill rotWithShape="1">
          <a:blip r:embed="rId12">
            <a:alphaModFix/>
          </a:blip>
          <a:srcRect b="21694" l="0" r="0" t="17945"/>
          <a:stretch/>
        </p:blipFill>
        <p:spPr>
          <a:xfrm>
            <a:off x="913800" y="64450"/>
            <a:ext cx="994426" cy="5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6"/>
          <p:cNvCxnSpPr/>
          <p:nvPr/>
        </p:nvCxnSpPr>
        <p:spPr>
          <a:xfrm>
            <a:off x="8191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94" name="Google Shape;594;p26" title="Screenshot 2025-05-29 at 10.49.36 AM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98075" y="1209175"/>
            <a:ext cx="1269475" cy="256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Quick Recap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601" name="Google Shape;601;p27"/>
          <p:cNvSpPr/>
          <p:nvPr/>
        </p:nvSpPr>
        <p:spPr>
          <a:xfrm>
            <a:off x="226950" y="921038"/>
            <a:ext cx="8690100" cy="32931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2" name="Google Shape;602;p27"/>
          <p:cNvCxnSpPr/>
          <p:nvPr/>
        </p:nvCxnSpPr>
        <p:spPr>
          <a:xfrm>
            <a:off x="249444" y="929365"/>
            <a:ext cx="0" cy="3293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/>
        </p:nvSpPr>
        <p:spPr>
          <a:xfrm>
            <a:off x="261425" y="987013"/>
            <a:ext cx="81279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D9177F"/>
              </a:buClr>
              <a:buSzPts val="1100"/>
              <a:buFont typeface="Century Gothic"/>
              <a:buChar char="●"/>
            </a:pP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9" name="Google Shape;609;p28"/>
          <p:cNvCxnSpPr/>
          <p:nvPr/>
        </p:nvCxnSpPr>
        <p:spPr>
          <a:xfrm>
            <a:off x="7475" y="3099589"/>
            <a:ext cx="3926700" cy="0"/>
          </a:xfrm>
          <a:prstGeom prst="straightConnector1">
            <a:avLst/>
          </a:prstGeom>
          <a:noFill/>
          <a:ln cap="flat" cmpd="sng" w="19050">
            <a:solidFill>
              <a:srgbClr val="D71B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