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 id="2147483653"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Lst>
  <p:sldSz cy="5143500" cx="9144000"/>
  <p:notesSz cx="6858000" cy="9144000"/>
  <p:embeddedFontLst>
    <p:embeddedFont>
      <p:font typeface="Montserrat SemiBold"/>
      <p:regular r:id="rId35"/>
      <p:bold r:id="rId36"/>
      <p:italic r:id="rId37"/>
      <p:boldItalic r:id="rId38"/>
    </p:embeddedFont>
    <p:embeddedFont>
      <p:font typeface="Montserrat"/>
      <p:regular r:id="rId39"/>
      <p:bold r:id="rId40"/>
      <p:italic r:id="rId41"/>
      <p:boldItalic r:id="rId42"/>
    </p:embeddedFont>
    <p:embeddedFont>
      <p:font typeface="Montserrat Medium"/>
      <p:regular r:id="rId43"/>
      <p:bold r:id="rId44"/>
      <p:italic r:id="rId45"/>
      <p:boldItalic r:id="rId46"/>
    </p:embeddedFont>
    <p:embeddedFont>
      <p:font typeface="Tahoma"/>
      <p:regular r:id="rId47"/>
      <p:bold r:id="rId48"/>
    </p:embeddedFont>
    <p:embeddedFont>
      <p:font typeface="Montserrat Light"/>
      <p:regular r:id="rId49"/>
      <p:bold r:id="rId50"/>
      <p:italic r:id="rId51"/>
      <p:boldItalic r:id="rId52"/>
    </p:embeddedFont>
    <p:embeddedFont>
      <p:font typeface="Century Gothic"/>
      <p:regular r:id="rId53"/>
      <p:bold r:id="rId54"/>
      <p:italic r:id="rId55"/>
      <p:boldItalic r:id="rId5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57" roundtripDataSignature="AMtx7mhnr0KCF43rrLErl1F5WiYmuSdp4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D94F6760-089B-47EB-8253-D5C54B6EC847}">
  <a:tblStyle styleId="{D94F6760-089B-47EB-8253-D5C54B6EC847}"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 styleId="{605CC296-D303-4CE0-970A-263B8180C0D9}" styleName="Table_1">
    <a:wholeTbl>
      <a:tcTxStyle b="off" i="off">
        <a:font>
          <a:latin typeface="Arial"/>
          <a:ea typeface="Arial"/>
          <a:cs typeface="Arial"/>
        </a:font>
        <a:srgbClr val="000000"/>
      </a:tcTxStyle>
      <a:tcStyle>
        <a:tcBdr>
          <a:left>
            <a:ln cap="flat" cmpd="sng" w="12700">
              <a:solidFill>
                <a:srgbClr val="FFFFFF"/>
              </a:solidFill>
              <a:prstDash val="solid"/>
              <a:round/>
              <a:headEnd len="sm" w="sm" type="none"/>
              <a:tailEnd len="sm" w="sm" type="none"/>
            </a:ln>
          </a:left>
          <a:right>
            <a:ln cap="flat" cmpd="sng" w="12700">
              <a:solidFill>
                <a:srgbClr val="FFFFFF"/>
              </a:solidFill>
              <a:prstDash val="solid"/>
              <a:round/>
              <a:headEnd len="sm" w="sm" type="none"/>
              <a:tailEnd len="sm" w="sm" type="none"/>
            </a:ln>
          </a:right>
          <a:top>
            <a:ln cap="flat" cmpd="sng" w="12700">
              <a:solidFill>
                <a:srgbClr val="FFFFFF"/>
              </a:solidFill>
              <a:prstDash val="solid"/>
              <a:round/>
              <a:headEnd len="sm" w="sm" type="none"/>
              <a:tailEnd len="sm" w="sm" type="none"/>
            </a:ln>
          </a:top>
          <a:bottom>
            <a:ln cap="flat" cmpd="sng" w="12700">
              <a:solidFill>
                <a:srgbClr val="FFFFFF"/>
              </a:solidFill>
              <a:prstDash val="solid"/>
              <a:round/>
              <a:headEnd len="sm" w="sm" type="none"/>
              <a:tailEnd len="sm" w="sm" type="none"/>
            </a:ln>
          </a:bottom>
          <a:insideH>
            <a:ln cap="flat" cmpd="sng" w="12700">
              <a:solidFill>
                <a:srgbClr val="FFFFFF"/>
              </a:solidFill>
              <a:prstDash val="solid"/>
              <a:round/>
              <a:headEnd len="sm" w="sm" type="none"/>
              <a:tailEnd len="sm" w="sm" type="none"/>
            </a:ln>
          </a:insideH>
          <a:insideV>
            <a:ln cap="flat" cmpd="sng" w="12700">
              <a:solidFill>
                <a:srgbClr val="FFFFFF"/>
              </a:solidFill>
              <a:prstDash val="solid"/>
              <a:round/>
              <a:headEnd len="sm" w="sm" type="none"/>
              <a:tailEnd len="sm" w="sm" type="none"/>
            </a:ln>
          </a:insideV>
        </a:tcBdr>
        <a:fill>
          <a:solidFill>
            <a:srgbClr val="E9EFF7"/>
          </a:solidFill>
        </a:fill>
      </a:tcStyle>
    </a:wholeTbl>
    <a:band1H>
      <a:tcTxStyle b="off" i="off"/>
      <a:tcStyle>
        <a:fill>
          <a:solidFill>
            <a:srgbClr val="D0DEEF"/>
          </a:solidFill>
        </a:fill>
      </a:tcStyle>
    </a:band1H>
    <a:band2H>
      <a:tcTxStyle b="off" i="off"/>
    </a:band2H>
    <a:band1V>
      <a:tcTxStyle b="off" i="off"/>
      <a:tcStyle>
        <a:fill>
          <a:solidFill>
            <a:srgbClr val="D0DEEF"/>
          </a:solidFill>
        </a:fill>
      </a:tcStyle>
    </a:band1V>
    <a:band2V>
      <a:tcTxStyle b="off" i="off"/>
    </a:band2V>
    <a:lastCol>
      <a:tcTxStyle b="on" i="off">
        <a:font>
          <a:latin typeface="Arial"/>
          <a:ea typeface="Arial"/>
          <a:cs typeface="Arial"/>
        </a:font>
        <a:srgbClr val="FFFFFF"/>
      </a:tcTxStyle>
      <a:tcStyle>
        <a:fill>
          <a:solidFill>
            <a:srgbClr val="D71B7F"/>
          </a:solidFill>
        </a:fill>
      </a:tcStyle>
    </a:lastCol>
    <a:firstCol>
      <a:tcTxStyle b="on" i="off">
        <a:font>
          <a:latin typeface="Arial"/>
          <a:ea typeface="Arial"/>
          <a:cs typeface="Arial"/>
        </a:font>
        <a:srgbClr val="FFFFFF"/>
      </a:tcTxStyle>
      <a:tcStyle>
        <a:fill>
          <a:solidFill>
            <a:srgbClr val="D71B7F"/>
          </a:solidFill>
        </a:fill>
      </a:tcStyle>
    </a:firstCol>
    <a:lastRow>
      <a:tcTxStyle b="on" i="off">
        <a:font>
          <a:latin typeface="Arial"/>
          <a:ea typeface="Arial"/>
          <a:cs typeface="Arial"/>
        </a:font>
        <a:srgbClr val="FFFFFF"/>
      </a:tcTxStyle>
      <a:tcStyle>
        <a:tcBdr>
          <a:top>
            <a:ln cap="flat" cmpd="sng" w="38100">
              <a:solidFill>
                <a:srgbClr val="FFFFFF"/>
              </a:solidFill>
              <a:prstDash val="solid"/>
              <a:round/>
              <a:headEnd len="sm" w="sm" type="none"/>
              <a:tailEnd len="sm" w="sm" type="none"/>
            </a:ln>
          </a:top>
        </a:tcBdr>
        <a:fill>
          <a:solidFill>
            <a:srgbClr val="D71B7F"/>
          </a:solidFill>
        </a:fill>
      </a:tcStyle>
    </a:lastRow>
    <a:seCell>
      <a:tcTxStyle b="off" i="off"/>
    </a:seCell>
    <a:swCell>
      <a:tcTxStyle b="off" i="off"/>
    </a:swCell>
    <a:firstRow>
      <a:tcTxStyle b="on" i="off">
        <a:font>
          <a:latin typeface="Arial"/>
          <a:ea typeface="Arial"/>
          <a:cs typeface="Arial"/>
        </a:font>
        <a:srgbClr val="FFFFFF"/>
      </a:tcTxStyle>
      <a:tcStyle>
        <a:tcBdr>
          <a:bottom>
            <a:ln cap="flat" cmpd="sng" w="38100">
              <a:solidFill>
                <a:srgbClr val="FFFFFF"/>
              </a:solidFill>
              <a:prstDash val="solid"/>
              <a:round/>
              <a:headEnd len="sm" w="sm" type="none"/>
              <a:tailEnd len="sm" w="sm" type="none"/>
            </a:ln>
          </a:bottom>
        </a:tcBdr>
        <a:fill>
          <a:solidFill>
            <a:srgbClr val="D71B7F"/>
          </a:solidFill>
        </a:fill>
      </a:tcStyle>
    </a:firstRow>
    <a:neCell>
      <a:tcTxStyle b="off" i="off"/>
    </a:neCell>
    <a:nwCell>
      <a:tcTxStyle b="off" i="off"/>
    </a:nwCell>
  </a:tblStyle>
  <a:tblStyle styleId="{2ED30D0B-F584-43FB-8283-64062CD711C6}" styleName="Table_2">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5" Type="http://schemas.openxmlformats.org/officeDocument/2006/relationships/font" Target="fonts/MontserratSemiBold-regular.fntdata"/><Relationship Id="rId36" Type="http://schemas.openxmlformats.org/officeDocument/2006/relationships/font" Target="fonts/MontserratSemiBold-bold.fntdata"/><Relationship Id="rId37" Type="http://schemas.openxmlformats.org/officeDocument/2006/relationships/font" Target="fonts/MontserratSemiBold-italic.fntdata"/><Relationship Id="rId38" Type="http://schemas.openxmlformats.org/officeDocument/2006/relationships/font" Target="fonts/MontserratSemiBold-boldItalic.fntdata"/><Relationship Id="rId39" Type="http://schemas.openxmlformats.org/officeDocument/2006/relationships/font" Target="fonts/Montserrat-regular.fntdata"/><Relationship Id="rId40" Type="http://schemas.openxmlformats.org/officeDocument/2006/relationships/font" Target="fonts/Montserrat-bold.fntdata"/><Relationship Id="rId41" Type="http://schemas.openxmlformats.org/officeDocument/2006/relationships/font" Target="fonts/Montserrat-italic.fntdata"/><Relationship Id="rId42" Type="http://schemas.openxmlformats.org/officeDocument/2006/relationships/font" Target="fonts/Montserrat-boldItalic.fntdata"/><Relationship Id="rId43" Type="http://schemas.openxmlformats.org/officeDocument/2006/relationships/font" Target="fonts/MontserratMedium-regular.fntdata"/><Relationship Id="rId44" Type="http://schemas.openxmlformats.org/officeDocument/2006/relationships/font" Target="fonts/MontserratMedium-bold.fntdata"/><Relationship Id="rId45" Type="http://schemas.openxmlformats.org/officeDocument/2006/relationships/font" Target="fonts/MontserratMedium-italic.fntdata"/><Relationship Id="rId46" Type="http://schemas.openxmlformats.org/officeDocument/2006/relationships/font" Target="fonts/MontserratMedium-boldItalic.fntdata"/><Relationship Id="rId47" Type="http://schemas.openxmlformats.org/officeDocument/2006/relationships/font" Target="fonts/Tahoma-regular.fntdata"/><Relationship Id="rId48" Type="http://schemas.openxmlformats.org/officeDocument/2006/relationships/font" Target="fonts/Tahoma-bold.fntdata"/><Relationship Id="rId49" Type="http://schemas.openxmlformats.org/officeDocument/2006/relationships/font" Target="fonts/MontserratLight-regular.fntdata"/><Relationship Id="rId50" Type="http://schemas.openxmlformats.org/officeDocument/2006/relationships/font" Target="fonts/MontserratLight-bold.fntdata"/><Relationship Id="rId51" Type="http://schemas.openxmlformats.org/officeDocument/2006/relationships/font" Target="fonts/MontserratLight-italic.fntdata"/><Relationship Id="rId52" Type="http://schemas.openxmlformats.org/officeDocument/2006/relationships/font" Target="fonts/MontserratLight-boldItalic.fntdata"/><Relationship Id="rId53" Type="http://schemas.openxmlformats.org/officeDocument/2006/relationships/font" Target="fonts/CenturyGothic-regular.fntdata"/><Relationship Id="rId54" Type="http://schemas.openxmlformats.org/officeDocument/2006/relationships/font" Target="fonts/CenturyGothic-bold.fntdata"/><Relationship Id="rId55" Type="http://schemas.openxmlformats.org/officeDocument/2006/relationships/font" Target="fonts/CenturyGothic-italic.fntdata"/><Relationship Id="rId56" Type="http://schemas.openxmlformats.org/officeDocument/2006/relationships/font" Target="fonts/CenturyGothic-boldItalic.fntdata"/><Relationship Id="rId57"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5" name="Google Shape;95;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 sz="800">
                <a:solidFill>
                  <a:srgbClr val="666666"/>
                </a:solidFill>
                <a:latin typeface="Montserrat"/>
                <a:ea typeface="Montserrat"/>
                <a:cs typeface="Montserrat"/>
                <a:sym typeface="Montserrat"/>
              </a:rPr>
              <a:t>ChatBot Development - Sales &amp; After Sales ( Text to sequel problem)</a:t>
            </a:r>
            <a:endParaRPr sz="800">
              <a:latin typeface="Montserrat"/>
              <a:ea typeface="Montserrat"/>
              <a:cs typeface="Montserrat"/>
              <a:sym typeface="Montserrat"/>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5" name="Google Shape;115;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457200" rtl="0" algn="l">
              <a:lnSpc>
                <a:spcPct val="115000"/>
              </a:lnSpc>
              <a:spcBef>
                <a:spcPts val="0"/>
              </a:spcBef>
              <a:spcAft>
                <a:spcPts val="0"/>
              </a:spcAft>
              <a:buClr>
                <a:schemeClr val="dk1"/>
              </a:buClr>
              <a:buSzPts val="1100"/>
              <a:buFont typeface="Arial"/>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7" name="Google Shape;137;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6" name="Google Shape;146;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7" name="Google Shape;157;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7" name="Google Shape;167;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5" name="Google Shape;185;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4" name="Google Shape;194;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3" name="Google Shape;203;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p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2" name="Google Shape;212;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p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5" name="Google Shape;225;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p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7" name="Google Shape;247;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6" name="Google Shape;256;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6" name="Google Shape;286;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p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3" name="Google Shape;293;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p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3" name="Google Shape;303;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p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5" name="Google Shape;325;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p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03" name="Google Shape;403;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6" name="Shape 466"/>
        <p:cNvGrpSpPr/>
        <p:nvPr/>
      </p:nvGrpSpPr>
      <p:grpSpPr>
        <a:xfrm>
          <a:off x="0" y="0"/>
          <a:ext cx="0" cy="0"/>
          <a:chOff x="0" y="0"/>
          <a:chExt cx="0" cy="0"/>
        </a:xfrm>
      </p:grpSpPr>
      <p:sp>
        <p:nvSpPr>
          <p:cNvPr id="467" name="Google Shape;467;p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68" name="Google Shape;468;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p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91" name="Google Shape;491;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1" name="Shape 511"/>
        <p:cNvGrpSpPr/>
        <p:nvPr/>
      </p:nvGrpSpPr>
      <p:grpSpPr>
        <a:xfrm>
          <a:off x="0" y="0"/>
          <a:ext cx="0" cy="0"/>
          <a:chOff x="0" y="0"/>
          <a:chExt cx="0" cy="0"/>
        </a:xfrm>
      </p:grpSpPr>
      <p:sp>
        <p:nvSpPr>
          <p:cNvPr id="512" name="Google Shape;512;p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13" name="Google Shape;513;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3" name="Shape 523"/>
        <p:cNvGrpSpPr/>
        <p:nvPr/>
      </p:nvGrpSpPr>
      <p:grpSpPr>
        <a:xfrm>
          <a:off x="0" y="0"/>
          <a:ext cx="0" cy="0"/>
          <a:chOff x="0" y="0"/>
          <a:chExt cx="0" cy="0"/>
        </a:xfrm>
      </p:grpSpPr>
      <p:sp>
        <p:nvSpPr>
          <p:cNvPr id="524" name="Google Shape;524;p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5" name="Google Shape;525;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5" name="Shape 545"/>
        <p:cNvGrpSpPr/>
        <p:nvPr/>
      </p:nvGrpSpPr>
      <p:grpSpPr>
        <a:xfrm>
          <a:off x="0" y="0"/>
          <a:ext cx="0" cy="0"/>
          <a:chOff x="0" y="0"/>
          <a:chExt cx="0" cy="0"/>
        </a:xfrm>
      </p:grpSpPr>
      <p:sp>
        <p:nvSpPr>
          <p:cNvPr id="546" name="Google Shape;546;p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47" name="Google Shape;547;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0" name="Shape 560"/>
        <p:cNvGrpSpPr/>
        <p:nvPr/>
      </p:nvGrpSpPr>
      <p:grpSpPr>
        <a:xfrm>
          <a:off x="0" y="0"/>
          <a:ext cx="0" cy="0"/>
          <a:chOff x="0" y="0"/>
          <a:chExt cx="0" cy="0"/>
        </a:xfrm>
      </p:grpSpPr>
      <p:sp>
        <p:nvSpPr>
          <p:cNvPr id="561" name="Google Shape;561;p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62" name="Google Shape;562;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6" name="Shape 576"/>
        <p:cNvGrpSpPr/>
        <p:nvPr/>
      </p:nvGrpSpPr>
      <p:grpSpPr>
        <a:xfrm>
          <a:off x="0" y="0"/>
          <a:ext cx="0" cy="0"/>
          <a:chOff x="0" y="0"/>
          <a:chExt cx="0" cy="0"/>
        </a:xfrm>
      </p:grpSpPr>
      <p:sp>
        <p:nvSpPr>
          <p:cNvPr id="577" name="Google Shape;577;p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78" name="Google Shape;578;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5" name="Shape 595"/>
        <p:cNvGrpSpPr/>
        <p:nvPr/>
      </p:nvGrpSpPr>
      <p:grpSpPr>
        <a:xfrm>
          <a:off x="0" y="0"/>
          <a:ext cx="0" cy="0"/>
          <a:chOff x="0" y="0"/>
          <a:chExt cx="0" cy="0"/>
        </a:xfrm>
      </p:grpSpPr>
      <p:sp>
        <p:nvSpPr>
          <p:cNvPr id="596" name="Google Shape;596;p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97" name="Google Shape;597;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1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png"/><Relationship Id="rId3"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8.png"/><Relationship Id="rId3" Type="http://schemas.openxmlformats.org/officeDocument/2006/relationships/image" Target="../media/image14.png"/><Relationship Id="rId4" Type="http://schemas.openxmlformats.org/officeDocument/2006/relationships/image" Target="../media/image12.png"/><Relationship Id="rId5" Type="http://schemas.openxmlformats.org/officeDocument/2006/relationships/image" Target="../media/image1.png"/><Relationship Id="rId6" Type="http://schemas.openxmlformats.org/officeDocument/2006/relationships/image" Target="../media/image5.png"/><Relationship Id="rId7" Type="http://schemas.openxmlformats.org/officeDocument/2006/relationships/image" Target="../media/image13.png"/><Relationship Id="rId8" Type="http://schemas.openxmlformats.org/officeDocument/2006/relationships/image" Target="../media/image4.png"/><Relationship Id="rId9" Type="http://schemas.openxmlformats.org/officeDocument/2006/relationships/image" Target="../media/image16.png"/><Relationship Id="rId10" Type="http://schemas.openxmlformats.org/officeDocument/2006/relationships/image" Target="../media/image9.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 Id="rId3"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8.png"/><Relationship Id="rId3" Type="http://schemas.openxmlformats.org/officeDocument/2006/relationships/image" Target="../media/image14.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png"/><Relationship Id="rId3"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2">
  <p:cSld name="TITLE_2">
    <p:spTree>
      <p:nvGrpSpPr>
        <p:cNvPr id="8" name="Shape 8"/>
        <p:cNvGrpSpPr/>
        <p:nvPr/>
      </p:nvGrpSpPr>
      <p:grpSpPr>
        <a:xfrm>
          <a:off x="0" y="0"/>
          <a:ext cx="0" cy="0"/>
          <a:chOff x="0" y="0"/>
          <a:chExt cx="0" cy="0"/>
        </a:xfrm>
      </p:grpSpPr>
      <p:pic>
        <p:nvPicPr>
          <p:cNvPr id="9" name="Google Shape;9;p30"/>
          <p:cNvPicPr preferRelativeResize="0"/>
          <p:nvPr/>
        </p:nvPicPr>
        <p:blipFill rotWithShape="1">
          <a:blip r:embed="rId2">
            <a:alphaModFix/>
          </a:blip>
          <a:srcRect b="0" l="0" r="0" t="0"/>
          <a:stretch/>
        </p:blipFill>
        <p:spPr>
          <a:xfrm>
            <a:off x="7465" y="0"/>
            <a:ext cx="9144008" cy="5143501"/>
          </a:xfrm>
          <a:prstGeom prst="rect">
            <a:avLst/>
          </a:prstGeom>
          <a:noFill/>
          <a:ln>
            <a:noFill/>
          </a:ln>
        </p:spPr>
      </p:pic>
      <p:sp>
        <p:nvSpPr>
          <p:cNvPr id="10" name="Google Shape;10;p30"/>
          <p:cNvSpPr txBox="1"/>
          <p:nvPr>
            <p:ph idx="12" type="sldNum"/>
          </p:nvPr>
        </p:nvSpPr>
        <p:spPr>
          <a:xfrm>
            <a:off x="8472458" y="4663217"/>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pic>
        <p:nvPicPr>
          <p:cNvPr id="11" name="Google Shape;11;p30"/>
          <p:cNvPicPr preferRelativeResize="0"/>
          <p:nvPr/>
        </p:nvPicPr>
        <p:blipFill rotWithShape="1">
          <a:blip r:embed="rId3">
            <a:alphaModFix/>
          </a:blip>
          <a:srcRect b="0" l="0" r="0" t="0"/>
          <a:stretch/>
        </p:blipFill>
        <p:spPr>
          <a:xfrm>
            <a:off x="-10" y="5071684"/>
            <a:ext cx="9151473" cy="80441"/>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Just Logo without Title 1">
  <p:cSld name="TITLE_AND_TWO_COLUMNS_2_1">
    <p:spTree>
      <p:nvGrpSpPr>
        <p:cNvPr id="12" name="Shape 12"/>
        <p:cNvGrpSpPr/>
        <p:nvPr/>
      </p:nvGrpSpPr>
      <p:grpSpPr>
        <a:xfrm>
          <a:off x="0" y="0"/>
          <a:ext cx="0" cy="0"/>
          <a:chOff x="0" y="0"/>
          <a:chExt cx="0" cy="0"/>
        </a:xfrm>
      </p:grpSpPr>
      <p:sp>
        <p:nvSpPr>
          <p:cNvPr id="13" name="Google Shape;13;p31"/>
          <p:cNvSpPr/>
          <p:nvPr/>
        </p:nvSpPr>
        <p:spPr>
          <a:xfrm>
            <a:off x="0" y="144000"/>
            <a:ext cx="47400" cy="3573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 name="Google Shape;14;p31"/>
          <p:cNvSpPr txBox="1"/>
          <p:nvPr>
            <p:ph type="title"/>
          </p:nvPr>
        </p:nvSpPr>
        <p:spPr>
          <a:xfrm>
            <a:off x="104500" y="141850"/>
            <a:ext cx="6703800" cy="357300"/>
          </a:xfrm>
          <a:prstGeom prst="rect">
            <a:avLst/>
          </a:prstGeom>
          <a:noFill/>
          <a:ln>
            <a:noFill/>
          </a:ln>
        </p:spPr>
        <p:txBody>
          <a:bodyPr anchorCtr="0" anchor="ctr" bIns="91425" lIns="91425" spcFirstLastPara="1" rIns="91425" wrap="square" tIns="91425">
            <a:noAutofit/>
          </a:bodyPr>
          <a:lstStyle>
            <a:lvl1pPr lvl="0" marR="0" rtl="0" algn="l">
              <a:lnSpc>
                <a:spcPct val="100000"/>
              </a:lnSpc>
              <a:spcBef>
                <a:spcPts val="0"/>
              </a:spcBef>
              <a:spcAft>
                <a:spcPts val="0"/>
              </a:spcAft>
              <a:buClr>
                <a:srgbClr val="000000"/>
              </a:buClr>
              <a:buSzPts val="2000"/>
              <a:buFont typeface="Montserrat"/>
              <a:buNone/>
              <a:defRPr b="1" i="0" sz="2000" u="none" cap="none" strike="noStrike">
                <a:solidFill>
                  <a:srgbClr val="000000"/>
                </a:solidFill>
                <a:latin typeface="Montserrat"/>
                <a:ea typeface="Montserrat"/>
                <a:cs typeface="Montserrat"/>
                <a:sym typeface="Montserrat"/>
              </a:defRPr>
            </a:lvl1pPr>
            <a:lvl2pPr lvl="1"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2pPr>
            <a:lvl3pPr lvl="2"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3pPr>
            <a:lvl4pPr lvl="3"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4pPr>
            <a:lvl5pPr lvl="4"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5pPr>
            <a:lvl6pPr lvl="5"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6pPr>
            <a:lvl7pPr lvl="6"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7pPr>
            <a:lvl8pPr lvl="7"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8pPr>
            <a:lvl9pPr lvl="8"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9pPr>
          </a:lstStyle>
          <a:p/>
        </p:txBody>
      </p:sp>
      <p:sp>
        <p:nvSpPr>
          <p:cNvPr id="15" name="Google Shape;15;p31"/>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9pPr>
          </a:lstStyle>
          <a:p>
            <a:pPr indent="0" lvl="0" marL="0" rtl="0" algn="r">
              <a:spcBef>
                <a:spcPts val="0"/>
              </a:spcBef>
              <a:spcAft>
                <a:spcPts val="0"/>
              </a:spcAft>
              <a:buNone/>
            </a:pPr>
            <a:fld id="{00000000-1234-1234-1234-123412341234}" type="slidenum">
              <a:rPr lang="en"/>
              <a:t>‹#›</a:t>
            </a:fld>
            <a:endParaRPr/>
          </a:p>
        </p:txBody>
      </p:sp>
      <p:pic>
        <p:nvPicPr>
          <p:cNvPr descr="TTN Logo.png" id="16" name="Google Shape;16;p31"/>
          <p:cNvPicPr preferRelativeResize="0"/>
          <p:nvPr/>
        </p:nvPicPr>
        <p:blipFill rotWithShape="1">
          <a:blip r:embed="rId2">
            <a:alphaModFix/>
          </a:blip>
          <a:srcRect b="0" l="0" r="0" t="0"/>
          <a:stretch/>
        </p:blipFill>
        <p:spPr>
          <a:xfrm>
            <a:off x="8414781" y="117828"/>
            <a:ext cx="625544" cy="349439"/>
          </a:xfrm>
          <a:prstGeom prst="rect">
            <a:avLst/>
          </a:prstGeom>
          <a:noFill/>
          <a:ln>
            <a:noFill/>
          </a:ln>
        </p:spPr>
      </p:pic>
      <p:cxnSp>
        <p:nvCxnSpPr>
          <p:cNvPr id="17" name="Google Shape;17;p31"/>
          <p:cNvCxnSpPr/>
          <p:nvPr/>
        </p:nvCxnSpPr>
        <p:spPr>
          <a:xfrm>
            <a:off x="8286793" y="153689"/>
            <a:ext cx="0" cy="324300"/>
          </a:xfrm>
          <a:prstGeom prst="straightConnector1">
            <a:avLst/>
          </a:prstGeom>
          <a:noFill/>
          <a:ln cap="flat" cmpd="sng" w="9525">
            <a:solidFill>
              <a:srgbClr val="595959"/>
            </a:solidFill>
            <a:prstDash val="solid"/>
            <a:round/>
            <a:headEnd len="sm" w="sm" type="none"/>
            <a:tailEnd len="sm" w="sm" type="none"/>
          </a:ln>
        </p:spPr>
      </p:cxn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p:cSld name="TITLE_1">
    <p:spTree>
      <p:nvGrpSpPr>
        <p:cNvPr id="18" name="Shape 18"/>
        <p:cNvGrpSpPr/>
        <p:nvPr/>
      </p:nvGrpSpPr>
      <p:grpSpPr>
        <a:xfrm>
          <a:off x="0" y="0"/>
          <a:ext cx="0" cy="0"/>
          <a:chOff x="0" y="0"/>
          <a:chExt cx="0" cy="0"/>
        </a:xfrm>
      </p:grpSpPr>
      <p:pic>
        <p:nvPicPr>
          <p:cNvPr id="19" name="Google Shape;19;p36"/>
          <p:cNvPicPr preferRelativeResize="0"/>
          <p:nvPr/>
        </p:nvPicPr>
        <p:blipFill rotWithShape="1">
          <a:blip r:embed="rId2">
            <a:alphaModFix/>
          </a:blip>
          <a:srcRect b="0" l="0" r="0" t="0"/>
          <a:stretch/>
        </p:blipFill>
        <p:spPr>
          <a:xfrm>
            <a:off x="7465" y="0"/>
            <a:ext cx="9144008" cy="5143501"/>
          </a:xfrm>
          <a:prstGeom prst="rect">
            <a:avLst/>
          </a:prstGeom>
          <a:noFill/>
          <a:ln>
            <a:noFill/>
          </a:ln>
        </p:spPr>
      </p:pic>
      <p:sp>
        <p:nvSpPr>
          <p:cNvPr id="20" name="Google Shape;20;p36"/>
          <p:cNvSpPr txBox="1"/>
          <p:nvPr>
            <p:ph idx="12" type="sldNum"/>
          </p:nvPr>
        </p:nvSpPr>
        <p:spPr>
          <a:xfrm>
            <a:off x="8472458" y="4663217"/>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pic>
        <p:nvPicPr>
          <p:cNvPr id="21" name="Google Shape;21;p36"/>
          <p:cNvPicPr preferRelativeResize="0"/>
          <p:nvPr/>
        </p:nvPicPr>
        <p:blipFill rotWithShape="1">
          <a:blip r:embed="rId3">
            <a:alphaModFix/>
          </a:blip>
          <a:srcRect b="0" l="0" r="0" t="0"/>
          <a:stretch/>
        </p:blipFill>
        <p:spPr>
          <a:xfrm>
            <a:off x="-10" y="5071684"/>
            <a:ext cx="9151473" cy="80441"/>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parator Slide">
  <p:cSld name="CUSTOM_6_1_1_1_1_1_1_1_2_1_2_1_1_1">
    <p:bg>
      <p:bgPr>
        <a:noFill/>
      </p:bgPr>
    </p:bg>
    <p:spTree>
      <p:nvGrpSpPr>
        <p:cNvPr id="22" name="Shape 22"/>
        <p:cNvGrpSpPr/>
        <p:nvPr/>
      </p:nvGrpSpPr>
      <p:grpSpPr>
        <a:xfrm>
          <a:off x="0" y="0"/>
          <a:ext cx="0" cy="0"/>
          <a:chOff x="0" y="0"/>
          <a:chExt cx="0" cy="0"/>
        </a:xfrm>
      </p:grpSpPr>
      <p:pic>
        <p:nvPicPr>
          <p:cNvPr id="23" name="Google Shape;23;p44"/>
          <p:cNvPicPr preferRelativeResize="0"/>
          <p:nvPr/>
        </p:nvPicPr>
        <p:blipFill rotWithShape="1">
          <a:blip r:embed="rId2">
            <a:alphaModFix/>
          </a:blip>
          <a:srcRect b="0" l="-10120" r="10120" t="0"/>
          <a:stretch/>
        </p:blipFill>
        <p:spPr>
          <a:xfrm>
            <a:off x="0" y="-7476"/>
            <a:ext cx="9143956" cy="5143501"/>
          </a:xfrm>
          <a:prstGeom prst="rect">
            <a:avLst/>
          </a:prstGeom>
          <a:noFill/>
          <a:ln>
            <a:noFill/>
          </a:ln>
        </p:spPr>
      </p:pic>
      <p:pic>
        <p:nvPicPr>
          <p:cNvPr descr="TTN Logo.png" id="24" name="Google Shape;24;p44"/>
          <p:cNvPicPr preferRelativeResize="0"/>
          <p:nvPr/>
        </p:nvPicPr>
        <p:blipFill rotWithShape="1">
          <a:blip r:embed="rId3">
            <a:alphaModFix/>
          </a:blip>
          <a:srcRect b="0" l="0" r="0" t="0"/>
          <a:stretch/>
        </p:blipFill>
        <p:spPr>
          <a:xfrm>
            <a:off x="8295649" y="178006"/>
            <a:ext cx="648924" cy="362494"/>
          </a:xfrm>
          <a:prstGeom prst="rect">
            <a:avLst/>
          </a:prstGeom>
          <a:noFill/>
          <a:ln>
            <a:noFill/>
          </a:ln>
        </p:spPr>
      </p:pic>
      <p:sp>
        <p:nvSpPr>
          <p:cNvPr id="25" name="Google Shape;25;p44"/>
          <p:cNvSpPr/>
          <p:nvPr/>
        </p:nvSpPr>
        <p:spPr>
          <a:xfrm>
            <a:off x="3929500" y="2179825"/>
            <a:ext cx="559800" cy="5598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Just Logo without Title">
  <p:cSld name="TITLE_AND_TWO_COLUMNS_2">
    <p:spTree>
      <p:nvGrpSpPr>
        <p:cNvPr id="30" name="Shape 30"/>
        <p:cNvGrpSpPr/>
        <p:nvPr/>
      </p:nvGrpSpPr>
      <p:grpSpPr>
        <a:xfrm>
          <a:off x="0" y="0"/>
          <a:ext cx="0" cy="0"/>
          <a:chOff x="0" y="0"/>
          <a:chExt cx="0" cy="0"/>
        </a:xfrm>
      </p:grpSpPr>
      <p:sp>
        <p:nvSpPr>
          <p:cNvPr id="31" name="Google Shape;31;p33"/>
          <p:cNvSpPr/>
          <p:nvPr/>
        </p:nvSpPr>
        <p:spPr>
          <a:xfrm>
            <a:off x="0" y="144000"/>
            <a:ext cx="47400" cy="3573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 name="Google Shape;32;p33"/>
          <p:cNvSpPr txBox="1"/>
          <p:nvPr>
            <p:ph type="title"/>
          </p:nvPr>
        </p:nvSpPr>
        <p:spPr>
          <a:xfrm>
            <a:off x="104500" y="141850"/>
            <a:ext cx="6703800" cy="357300"/>
          </a:xfrm>
          <a:prstGeom prst="rect">
            <a:avLst/>
          </a:prstGeom>
          <a:noFill/>
          <a:ln>
            <a:noFill/>
          </a:ln>
        </p:spPr>
        <p:txBody>
          <a:bodyPr anchorCtr="0" anchor="ctr" bIns="91425" lIns="91425" spcFirstLastPara="1" rIns="91425" wrap="square" tIns="91425">
            <a:noAutofit/>
          </a:bodyPr>
          <a:lstStyle>
            <a:lvl1pPr lvl="0" marR="0" rtl="0" algn="l">
              <a:lnSpc>
                <a:spcPct val="100000"/>
              </a:lnSpc>
              <a:spcBef>
                <a:spcPts val="0"/>
              </a:spcBef>
              <a:spcAft>
                <a:spcPts val="0"/>
              </a:spcAft>
              <a:buClr>
                <a:srgbClr val="000000"/>
              </a:buClr>
              <a:buSzPts val="2000"/>
              <a:buFont typeface="Montserrat"/>
              <a:buNone/>
              <a:defRPr b="1" i="0" sz="2000" u="none" cap="none" strike="noStrike">
                <a:solidFill>
                  <a:srgbClr val="000000"/>
                </a:solidFill>
                <a:latin typeface="Montserrat"/>
                <a:ea typeface="Montserrat"/>
                <a:cs typeface="Montserrat"/>
                <a:sym typeface="Montserrat"/>
              </a:defRPr>
            </a:lvl1pPr>
            <a:lvl2pPr lvl="1"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2pPr>
            <a:lvl3pPr lvl="2"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3pPr>
            <a:lvl4pPr lvl="3"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4pPr>
            <a:lvl5pPr lvl="4"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5pPr>
            <a:lvl6pPr lvl="5"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6pPr>
            <a:lvl7pPr lvl="6"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7pPr>
            <a:lvl8pPr lvl="7"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8pPr>
            <a:lvl9pPr lvl="8"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9pPr>
          </a:lstStyle>
          <a:p/>
        </p:txBody>
      </p:sp>
      <p:pic>
        <p:nvPicPr>
          <p:cNvPr descr="TTN Logo.png" id="33" name="Google Shape;33;p33"/>
          <p:cNvPicPr preferRelativeResize="0"/>
          <p:nvPr/>
        </p:nvPicPr>
        <p:blipFill rotWithShape="1">
          <a:blip r:embed="rId2">
            <a:alphaModFix/>
          </a:blip>
          <a:srcRect b="0" l="0" r="0" t="0"/>
          <a:stretch/>
        </p:blipFill>
        <p:spPr>
          <a:xfrm>
            <a:off x="8414781" y="117828"/>
            <a:ext cx="625544" cy="349439"/>
          </a:xfrm>
          <a:prstGeom prst="rect">
            <a:avLst/>
          </a:prstGeom>
          <a:noFill/>
          <a:ln>
            <a:noFill/>
          </a:ln>
        </p:spPr>
      </p:pic>
      <p:cxnSp>
        <p:nvCxnSpPr>
          <p:cNvPr id="34" name="Google Shape;34;p33"/>
          <p:cNvCxnSpPr/>
          <p:nvPr/>
        </p:nvCxnSpPr>
        <p:spPr>
          <a:xfrm>
            <a:off x="8286793" y="153689"/>
            <a:ext cx="0" cy="324300"/>
          </a:xfrm>
          <a:prstGeom prst="straightConnector1">
            <a:avLst/>
          </a:prstGeom>
          <a:noFill/>
          <a:ln cap="flat" cmpd="sng" w="9525">
            <a:solidFill>
              <a:srgbClr val="595959"/>
            </a:solidFill>
            <a:prstDash val="solid"/>
            <a:round/>
            <a:headEnd len="sm" w="sm" type="none"/>
            <a:tailEnd len="sm" w="sm" type="none"/>
          </a:ln>
        </p:spPr>
      </p:cxnSp>
      <p:sp>
        <p:nvSpPr>
          <p:cNvPr id="35" name="Google Shape;35;p33"/>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Just Logo without Title 1">
  <p:cSld name="TITLE_AND_TWO_COLUMNS_2_1">
    <p:spTree>
      <p:nvGrpSpPr>
        <p:cNvPr id="36" name="Shape 36"/>
        <p:cNvGrpSpPr/>
        <p:nvPr/>
      </p:nvGrpSpPr>
      <p:grpSpPr>
        <a:xfrm>
          <a:off x="0" y="0"/>
          <a:ext cx="0" cy="0"/>
          <a:chOff x="0" y="0"/>
          <a:chExt cx="0" cy="0"/>
        </a:xfrm>
      </p:grpSpPr>
      <p:pic>
        <p:nvPicPr>
          <p:cNvPr id="37" name="Google Shape;37;p34"/>
          <p:cNvPicPr preferRelativeResize="0"/>
          <p:nvPr/>
        </p:nvPicPr>
        <p:blipFill rotWithShape="1">
          <a:blip r:embed="rId2">
            <a:alphaModFix/>
          </a:blip>
          <a:srcRect b="0" l="0" r="0" t="0"/>
          <a:stretch/>
        </p:blipFill>
        <p:spPr>
          <a:xfrm rot="10800000">
            <a:off x="-12" y="0"/>
            <a:ext cx="3890275" cy="5143501"/>
          </a:xfrm>
          <a:prstGeom prst="rect">
            <a:avLst/>
          </a:prstGeom>
          <a:noFill/>
          <a:ln>
            <a:noFill/>
          </a:ln>
        </p:spPr>
      </p:pic>
      <p:sp>
        <p:nvSpPr>
          <p:cNvPr id="38" name="Google Shape;38;p34"/>
          <p:cNvSpPr/>
          <p:nvPr/>
        </p:nvSpPr>
        <p:spPr>
          <a:xfrm>
            <a:off x="0" y="144000"/>
            <a:ext cx="47400" cy="3573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 name="Google Shape;39;p34"/>
          <p:cNvSpPr txBox="1"/>
          <p:nvPr>
            <p:ph type="title"/>
          </p:nvPr>
        </p:nvSpPr>
        <p:spPr>
          <a:xfrm>
            <a:off x="104500" y="141850"/>
            <a:ext cx="6703800" cy="357300"/>
          </a:xfrm>
          <a:prstGeom prst="rect">
            <a:avLst/>
          </a:prstGeom>
          <a:noFill/>
          <a:ln>
            <a:noFill/>
          </a:ln>
        </p:spPr>
        <p:txBody>
          <a:bodyPr anchorCtr="0" anchor="ctr" bIns="91425" lIns="91425" spcFirstLastPara="1" rIns="91425" wrap="square" tIns="91425">
            <a:noAutofit/>
          </a:bodyPr>
          <a:lstStyle>
            <a:lvl1pPr lvl="0" marR="0" rtl="0" algn="l">
              <a:lnSpc>
                <a:spcPct val="100000"/>
              </a:lnSpc>
              <a:spcBef>
                <a:spcPts val="0"/>
              </a:spcBef>
              <a:spcAft>
                <a:spcPts val="0"/>
              </a:spcAft>
              <a:buClr>
                <a:srgbClr val="000000"/>
              </a:buClr>
              <a:buSzPts val="2000"/>
              <a:buFont typeface="Montserrat"/>
              <a:buNone/>
              <a:defRPr b="1" i="0" sz="2000" u="none" cap="none" strike="noStrike">
                <a:solidFill>
                  <a:srgbClr val="000000"/>
                </a:solidFill>
                <a:latin typeface="Montserrat"/>
                <a:ea typeface="Montserrat"/>
                <a:cs typeface="Montserrat"/>
                <a:sym typeface="Montserrat"/>
              </a:defRPr>
            </a:lvl1pPr>
            <a:lvl2pPr lvl="1"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2pPr>
            <a:lvl3pPr lvl="2"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3pPr>
            <a:lvl4pPr lvl="3"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4pPr>
            <a:lvl5pPr lvl="4"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5pPr>
            <a:lvl6pPr lvl="5"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6pPr>
            <a:lvl7pPr lvl="6"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7pPr>
            <a:lvl8pPr lvl="7"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8pPr>
            <a:lvl9pPr lvl="8"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9pPr>
          </a:lstStyle>
          <a:p/>
        </p:txBody>
      </p:sp>
      <p:pic>
        <p:nvPicPr>
          <p:cNvPr descr="TTN Logo.png" id="40" name="Google Shape;40;p34"/>
          <p:cNvPicPr preferRelativeResize="0"/>
          <p:nvPr/>
        </p:nvPicPr>
        <p:blipFill rotWithShape="1">
          <a:blip r:embed="rId3">
            <a:alphaModFix/>
          </a:blip>
          <a:srcRect b="0" l="0" r="0" t="0"/>
          <a:stretch/>
        </p:blipFill>
        <p:spPr>
          <a:xfrm>
            <a:off x="8414781" y="117828"/>
            <a:ext cx="625544" cy="349439"/>
          </a:xfrm>
          <a:prstGeom prst="rect">
            <a:avLst/>
          </a:prstGeom>
          <a:noFill/>
          <a:ln>
            <a:noFill/>
          </a:ln>
        </p:spPr>
      </p:pic>
      <p:cxnSp>
        <p:nvCxnSpPr>
          <p:cNvPr id="41" name="Google Shape;41;p34"/>
          <p:cNvCxnSpPr/>
          <p:nvPr/>
        </p:nvCxnSpPr>
        <p:spPr>
          <a:xfrm>
            <a:off x="8286793" y="153689"/>
            <a:ext cx="0" cy="324300"/>
          </a:xfrm>
          <a:prstGeom prst="straightConnector1">
            <a:avLst/>
          </a:prstGeom>
          <a:noFill/>
          <a:ln cap="flat" cmpd="sng" w="9525">
            <a:solidFill>
              <a:srgbClr val="595959"/>
            </a:solidFill>
            <a:prstDash val="solid"/>
            <a:round/>
            <a:headEnd len="sm" w="sm" type="none"/>
            <a:tailEnd len="sm" w="sm" type="none"/>
          </a:ln>
        </p:spPr>
      </p:cxn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5">
  <p:cSld name="TITLE_5">
    <p:spTree>
      <p:nvGrpSpPr>
        <p:cNvPr id="42" name="Shape 42"/>
        <p:cNvGrpSpPr/>
        <p:nvPr/>
      </p:nvGrpSpPr>
      <p:grpSpPr>
        <a:xfrm>
          <a:off x="0" y="0"/>
          <a:ext cx="0" cy="0"/>
          <a:chOff x="0" y="0"/>
          <a:chExt cx="0" cy="0"/>
        </a:xfrm>
      </p:grpSpPr>
      <p:sp>
        <p:nvSpPr>
          <p:cNvPr id="43" name="Google Shape;43;p35"/>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Autofit/>
          </a:bodyPr>
          <a:lstStyle>
            <a:lvl1pPr lvl="0"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1pPr>
            <a:lvl2pPr lvl="1"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2pPr>
            <a:lvl3pPr lvl="2"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3pPr>
            <a:lvl4pPr lvl="3"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4pPr>
            <a:lvl5pPr lvl="4"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5pPr>
            <a:lvl6pPr lvl="5"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6pPr>
            <a:lvl7pPr lvl="6"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7pPr>
            <a:lvl8pPr lvl="7"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8pPr>
            <a:lvl9pPr lvl="8"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9pPr>
          </a:lstStyle>
          <a:p/>
        </p:txBody>
      </p:sp>
      <p:sp>
        <p:nvSpPr>
          <p:cNvPr id="44" name="Google Shape;44;p35"/>
          <p:cNvSpPr txBox="1"/>
          <p:nvPr>
            <p:ph idx="1" type="subTitle"/>
          </p:nvPr>
        </p:nvSpPr>
        <p:spPr>
          <a:xfrm>
            <a:off x="311700" y="2834125"/>
            <a:ext cx="8520600" cy="792600"/>
          </a:xfrm>
          <a:prstGeom prst="rect">
            <a:avLst/>
          </a:prstGeom>
          <a:noFill/>
          <a:ln>
            <a:noFill/>
          </a:ln>
        </p:spPr>
        <p:txBody>
          <a:bodyPr anchorCtr="0" anchor="ctr" bIns="91425" lIns="91425" spcFirstLastPara="1" rIns="91425" wrap="square" tIns="91425">
            <a:noAutofit/>
          </a:bodyPr>
          <a:lstStyle>
            <a:lvl1pPr lvl="0" marR="0" rtl="0" algn="ctr">
              <a:lnSpc>
                <a:spcPct val="100000"/>
              </a:lnSpc>
              <a:spcBef>
                <a:spcPts val="0"/>
              </a:spcBef>
              <a:spcAft>
                <a:spcPts val="0"/>
              </a:spcAft>
              <a:buClr>
                <a:srgbClr val="000000"/>
              </a:buClr>
              <a:buSzPts val="2800"/>
              <a:buFont typeface="Arial"/>
              <a:buNone/>
              <a:defRPr b="0" i="0" sz="2800" u="none" cap="none" strike="noStrike">
                <a:solidFill>
                  <a:srgbClr val="000000"/>
                </a:solidFill>
                <a:latin typeface="Arial"/>
                <a:ea typeface="Arial"/>
                <a:cs typeface="Arial"/>
                <a:sym typeface="Arial"/>
              </a:defRPr>
            </a:lvl1pPr>
            <a:lvl2pPr lvl="1" marR="0" rtl="0" algn="ctr">
              <a:lnSpc>
                <a:spcPct val="100000"/>
              </a:lnSpc>
              <a:spcBef>
                <a:spcPts val="0"/>
              </a:spcBef>
              <a:spcAft>
                <a:spcPts val="0"/>
              </a:spcAft>
              <a:buClr>
                <a:srgbClr val="000000"/>
              </a:buClr>
              <a:buSzPts val="2800"/>
              <a:buFont typeface="Arial"/>
              <a:buNone/>
              <a:defRPr b="0" i="0" sz="2800" u="none" cap="none" strike="noStrike">
                <a:solidFill>
                  <a:srgbClr val="000000"/>
                </a:solidFill>
                <a:latin typeface="Arial"/>
                <a:ea typeface="Arial"/>
                <a:cs typeface="Arial"/>
                <a:sym typeface="Arial"/>
              </a:defRPr>
            </a:lvl2pPr>
            <a:lvl3pPr lvl="2" marR="0" rtl="0" algn="ctr">
              <a:lnSpc>
                <a:spcPct val="100000"/>
              </a:lnSpc>
              <a:spcBef>
                <a:spcPts val="0"/>
              </a:spcBef>
              <a:spcAft>
                <a:spcPts val="0"/>
              </a:spcAft>
              <a:buClr>
                <a:srgbClr val="000000"/>
              </a:buClr>
              <a:buSzPts val="2800"/>
              <a:buFont typeface="Arial"/>
              <a:buNone/>
              <a:defRPr b="0" i="0" sz="2800" u="none" cap="none" strike="noStrike">
                <a:solidFill>
                  <a:srgbClr val="000000"/>
                </a:solidFill>
                <a:latin typeface="Arial"/>
                <a:ea typeface="Arial"/>
                <a:cs typeface="Arial"/>
                <a:sym typeface="Arial"/>
              </a:defRPr>
            </a:lvl3pPr>
            <a:lvl4pPr lvl="3" marR="0" rtl="0" algn="ctr">
              <a:lnSpc>
                <a:spcPct val="100000"/>
              </a:lnSpc>
              <a:spcBef>
                <a:spcPts val="0"/>
              </a:spcBef>
              <a:spcAft>
                <a:spcPts val="0"/>
              </a:spcAft>
              <a:buClr>
                <a:srgbClr val="000000"/>
              </a:buClr>
              <a:buSzPts val="2800"/>
              <a:buFont typeface="Arial"/>
              <a:buNone/>
              <a:defRPr b="0" i="0" sz="2800" u="none" cap="none" strike="noStrike">
                <a:solidFill>
                  <a:srgbClr val="000000"/>
                </a:solidFill>
                <a:latin typeface="Arial"/>
                <a:ea typeface="Arial"/>
                <a:cs typeface="Arial"/>
                <a:sym typeface="Arial"/>
              </a:defRPr>
            </a:lvl4pPr>
            <a:lvl5pPr lvl="4" marR="0" rtl="0" algn="ctr">
              <a:lnSpc>
                <a:spcPct val="100000"/>
              </a:lnSpc>
              <a:spcBef>
                <a:spcPts val="0"/>
              </a:spcBef>
              <a:spcAft>
                <a:spcPts val="0"/>
              </a:spcAft>
              <a:buClr>
                <a:srgbClr val="000000"/>
              </a:buClr>
              <a:buSzPts val="2800"/>
              <a:buFont typeface="Arial"/>
              <a:buNone/>
              <a:defRPr b="0" i="0" sz="2800" u="none" cap="none" strike="noStrike">
                <a:solidFill>
                  <a:srgbClr val="000000"/>
                </a:solidFill>
                <a:latin typeface="Arial"/>
                <a:ea typeface="Arial"/>
                <a:cs typeface="Arial"/>
                <a:sym typeface="Arial"/>
              </a:defRPr>
            </a:lvl5pPr>
            <a:lvl6pPr lvl="5" marR="0" rtl="0" algn="ctr">
              <a:lnSpc>
                <a:spcPct val="100000"/>
              </a:lnSpc>
              <a:spcBef>
                <a:spcPts val="0"/>
              </a:spcBef>
              <a:spcAft>
                <a:spcPts val="0"/>
              </a:spcAft>
              <a:buClr>
                <a:srgbClr val="000000"/>
              </a:buClr>
              <a:buSzPts val="2800"/>
              <a:buFont typeface="Arial"/>
              <a:buNone/>
              <a:defRPr b="0" i="0" sz="2800" u="none" cap="none" strike="noStrike">
                <a:solidFill>
                  <a:srgbClr val="000000"/>
                </a:solidFill>
                <a:latin typeface="Arial"/>
                <a:ea typeface="Arial"/>
                <a:cs typeface="Arial"/>
                <a:sym typeface="Arial"/>
              </a:defRPr>
            </a:lvl6pPr>
            <a:lvl7pPr lvl="6" marR="0" rtl="0" algn="ctr">
              <a:lnSpc>
                <a:spcPct val="100000"/>
              </a:lnSpc>
              <a:spcBef>
                <a:spcPts val="0"/>
              </a:spcBef>
              <a:spcAft>
                <a:spcPts val="0"/>
              </a:spcAft>
              <a:buClr>
                <a:srgbClr val="000000"/>
              </a:buClr>
              <a:buSzPts val="2800"/>
              <a:buFont typeface="Arial"/>
              <a:buNone/>
              <a:defRPr b="0" i="0" sz="2800" u="none" cap="none" strike="noStrike">
                <a:solidFill>
                  <a:srgbClr val="000000"/>
                </a:solidFill>
                <a:latin typeface="Arial"/>
                <a:ea typeface="Arial"/>
                <a:cs typeface="Arial"/>
                <a:sym typeface="Arial"/>
              </a:defRPr>
            </a:lvl7pPr>
            <a:lvl8pPr lvl="7" marR="0" rtl="0" algn="ctr">
              <a:lnSpc>
                <a:spcPct val="100000"/>
              </a:lnSpc>
              <a:spcBef>
                <a:spcPts val="0"/>
              </a:spcBef>
              <a:spcAft>
                <a:spcPts val="0"/>
              </a:spcAft>
              <a:buClr>
                <a:srgbClr val="000000"/>
              </a:buClr>
              <a:buSzPts val="2800"/>
              <a:buFont typeface="Arial"/>
              <a:buNone/>
              <a:defRPr b="0" i="0" sz="2800" u="none" cap="none" strike="noStrike">
                <a:solidFill>
                  <a:srgbClr val="000000"/>
                </a:solidFill>
                <a:latin typeface="Arial"/>
                <a:ea typeface="Arial"/>
                <a:cs typeface="Arial"/>
                <a:sym typeface="Arial"/>
              </a:defRPr>
            </a:lvl8pPr>
            <a:lvl9pPr lvl="8" marR="0" rtl="0" algn="ctr">
              <a:lnSpc>
                <a:spcPct val="100000"/>
              </a:lnSpc>
              <a:spcBef>
                <a:spcPts val="0"/>
              </a:spcBef>
              <a:spcAft>
                <a:spcPts val="0"/>
              </a:spcAft>
              <a:buClr>
                <a:srgbClr val="000000"/>
              </a:buClr>
              <a:buSzPts val="2800"/>
              <a:buFont typeface="Arial"/>
              <a:buNone/>
              <a:defRPr b="0" i="0" sz="2800" u="none" cap="none" strike="noStrike">
                <a:solidFill>
                  <a:srgbClr val="000000"/>
                </a:solidFill>
                <a:latin typeface="Arial"/>
                <a:ea typeface="Arial"/>
                <a:cs typeface="Arial"/>
                <a:sym typeface="Arial"/>
              </a:defRPr>
            </a:lvl9pPr>
          </a:lstStyle>
          <a:p/>
        </p:txBody>
      </p:sp>
      <p:sp>
        <p:nvSpPr>
          <p:cNvPr id="45" name="Google Shape;45;p35"/>
          <p:cNvSpPr txBox="1"/>
          <p:nvPr>
            <p:ph idx="12" type="sldNum"/>
          </p:nvPr>
        </p:nvSpPr>
        <p:spPr>
          <a:xfrm>
            <a:off x="8472458" y="4663217"/>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Slide">
  <p:cSld name="CUSTOM_6_1_1_1_1_1_1_1_2_1_2_1">
    <p:bg>
      <p:bgPr>
        <a:noFill/>
      </p:bgPr>
    </p:bg>
    <p:spTree>
      <p:nvGrpSpPr>
        <p:cNvPr id="46" name="Shape 46"/>
        <p:cNvGrpSpPr/>
        <p:nvPr/>
      </p:nvGrpSpPr>
      <p:grpSpPr>
        <a:xfrm>
          <a:off x="0" y="0"/>
          <a:ext cx="0" cy="0"/>
          <a:chOff x="0" y="0"/>
          <a:chExt cx="0" cy="0"/>
        </a:xfrm>
      </p:grpSpPr>
      <p:pic>
        <p:nvPicPr>
          <p:cNvPr id="47" name="Google Shape;47;p37"/>
          <p:cNvPicPr preferRelativeResize="0"/>
          <p:nvPr/>
        </p:nvPicPr>
        <p:blipFill rotWithShape="1">
          <a:blip r:embed="rId2">
            <a:alphaModFix/>
          </a:blip>
          <a:srcRect b="2519" l="41915" r="12791" t="6877"/>
          <a:stretch/>
        </p:blipFill>
        <p:spPr>
          <a:xfrm>
            <a:off x="5286150" y="0"/>
            <a:ext cx="3857848" cy="5143501"/>
          </a:xfrm>
          <a:prstGeom prst="rect">
            <a:avLst/>
          </a:prstGeom>
          <a:noFill/>
          <a:ln>
            <a:noFill/>
          </a:ln>
        </p:spPr>
      </p:pic>
      <p:sp>
        <p:nvSpPr>
          <p:cNvPr id="48" name="Google Shape;48;p37"/>
          <p:cNvSpPr/>
          <p:nvPr/>
        </p:nvSpPr>
        <p:spPr>
          <a:xfrm>
            <a:off x="0" y="-25"/>
            <a:ext cx="6464700" cy="5143500"/>
          </a:xfrm>
          <a:prstGeom prst="snip1Rect">
            <a:avLst>
              <a:gd fmla="val 18290"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49" name="Google Shape;49;p37"/>
          <p:cNvCxnSpPr/>
          <p:nvPr/>
        </p:nvCxnSpPr>
        <p:spPr>
          <a:xfrm>
            <a:off x="6406775" y="3956400"/>
            <a:ext cx="0" cy="1187100"/>
          </a:xfrm>
          <a:prstGeom prst="straightConnector1">
            <a:avLst/>
          </a:prstGeom>
          <a:noFill/>
          <a:ln cap="flat" cmpd="sng" w="114300">
            <a:solidFill>
              <a:schemeClr val="accent3"/>
            </a:solidFill>
            <a:prstDash val="solid"/>
            <a:round/>
            <a:headEnd len="sm" w="sm" type="none"/>
            <a:tailEnd len="sm" w="sm" type="none"/>
          </a:ln>
        </p:spPr>
      </p:cxnSp>
      <p:pic>
        <p:nvPicPr>
          <p:cNvPr id="50" name="Google Shape;50;p37"/>
          <p:cNvPicPr preferRelativeResize="0"/>
          <p:nvPr/>
        </p:nvPicPr>
        <p:blipFill rotWithShape="1">
          <a:blip r:embed="rId3">
            <a:alphaModFix/>
          </a:blip>
          <a:srcRect b="56881" l="299" r="0" t="4"/>
          <a:stretch/>
        </p:blipFill>
        <p:spPr>
          <a:xfrm>
            <a:off x="-7475" y="5125600"/>
            <a:ext cx="9151474" cy="17899"/>
          </a:xfrm>
          <a:prstGeom prst="rect">
            <a:avLst/>
          </a:prstGeom>
          <a:noFill/>
          <a:ln>
            <a:noFill/>
          </a:ln>
        </p:spPr>
      </p:pic>
      <p:pic>
        <p:nvPicPr>
          <p:cNvPr id="51" name="Google Shape;51;p37"/>
          <p:cNvPicPr preferRelativeResize="0"/>
          <p:nvPr/>
        </p:nvPicPr>
        <p:blipFill rotWithShape="1">
          <a:blip r:embed="rId4">
            <a:alphaModFix/>
          </a:blip>
          <a:srcRect b="3747" l="0" r="0" t="3738"/>
          <a:stretch/>
        </p:blipFill>
        <p:spPr>
          <a:xfrm>
            <a:off x="5628871" y="4764214"/>
            <a:ext cx="527963" cy="207109"/>
          </a:xfrm>
          <a:prstGeom prst="rect">
            <a:avLst/>
          </a:prstGeom>
          <a:noFill/>
          <a:ln>
            <a:noFill/>
          </a:ln>
        </p:spPr>
      </p:pic>
      <p:pic>
        <p:nvPicPr>
          <p:cNvPr id="52" name="Google Shape;52;p37"/>
          <p:cNvPicPr preferRelativeResize="0"/>
          <p:nvPr/>
        </p:nvPicPr>
        <p:blipFill rotWithShape="1">
          <a:blip r:embed="rId5">
            <a:alphaModFix/>
          </a:blip>
          <a:srcRect b="0" l="0" r="0" t="0"/>
          <a:stretch/>
        </p:blipFill>
        <p:spPr>
          <a:xfrm>
            <a:off x="4492492" y="4767423"/>
            <a:ext cx="1005406" cy="200690"/>
          </a:xfrm>
          <a:prstGeom prst="rect">
            <a:avLst/>
          </a:prstGeom>
          <a:noFill/>
          <a:ln>
            <a:noFill/>
          </a:ln>
        </p:spPr>
      </p:pic>
      <p:sp>
        <p:nvSpPr>
          <p:cNvPr id="53" name="Google Shape;53;p37"/>
          <p:cNvSpPr txBox="1"/>
          <p:nvPr/>
        </p:nvSpPr>
        <p:spPr>
          <a:xfrm>
            <a:off x="160663" y="4752390"/>
            <a:ext cx="1432800" cy="2307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Montserrat"/>
                <a:ea typeface="Montserrat"/>
                <a:cs typeface="Montserrat"/>
                <a:sym typeface="Montserrat"/>
              </a:rPr>
              <a:t>Proudly recognised by</a:t>
            </a:r>
            <a:endParaRPr b="0" i="0" sz="800" u="none" cap="none" strike="noStrike">
              <a:solidFill>
                <a:srgbClr val="000000"/>
              </a:solidFill>
              <a:latin typeface="Montserrat"/>
              <a:ea typeface="Montserrat"/>
              <a:cs typeface="Montserrat"/>
              <a:sym typeface="Montserrat"/>
            </a:endParaRPr>
          </a:p>
        </p:txBody>
      </p:sp>
      <p:cxnSp>
        <p:nvCxnSpPr>
          <p:cNvPr id="54" name="Google Shape;54;p37"/>
          <p:cNvCxnSpPr/>
          <p:nvPr/>
        </p:nvCxnSpPr>
        <p:spPr>
          <a:xfrm>
            <a:off x="1434913" y="4877373"/>
            <a:ext cx="329100" cy="0"/>
          </a:xfrm>
          <a:prstGeom prst="straightConnector1">
            <a:avLst/>
          </a:prstGeom>
          <a:noFill/>
          <a:ln cap="flat" cmpd="sng" w="9525">
            <a:solidFill>
              <a:srgbClr val="D41883"/>
            </a:solidFill>
            <a:prstDash val="solid"/>
            <a:round/>
            <a:headEnd len="sm" w="sm" type="none"/>
            <a:tailEnd len="med" w="med" type="oval"/>
          </a:ln>
        </p:spPr>
      </p:cxnSp>
      <p:cxnSp>
        <p:nvCxnSpPr>
          <p:cNvPr id="55" name="Google Shape;55;p37"/>
          <p:cNvCxnSpPr/>
          <p:nvPr/>
        </p:nvCxnSpPr>
        <p:spPr>
          <a:xfrm>
            <a:off x="2619072" y="4811830"/>
            <a:ext cx="0" cy="158700"/>
          </a:xfrm>
          <a:prstGeom prst="straightConnector1">
            <a:avLst/>
          </a:prstGeom>
          <a:noFill/>
          <a:ln cap="flat" cmpd="sng" w="9525">
            <a:solidFill>
              <a:srgbClr val="999999"/>
            </a:solidFill>
            <a:prstDash val="dot"/>
            <a:round/>
            <a:headEnd len="sm" w="sm" type="none"/>
            <a:tailEnd len="sm" w="sm" type="none"/>
          </a:ln>
        </p:spPr>
      </p:cxnSp>
      <p:pic>
        <p:nvPicPr>
          <p:cNvPr id="56" name="Google Shape;56;p37"/>
          <p:cNvPicPr preferRelativeResize="0"/>
          <p:nvPr/>
        </p:nvPicPr>
        <p:blipFill rotWithShape="1">
          <a:blip r:embed="rId6">
            <a:alphaModFix/>
          </a:blip>
          <a:srcRect b="0" l="0" r="0" t="0"/>
          <a:stretch/>
        </p:blipFill>
        <p:spPr>
          <a:xfrm>
            <a:off x="3582794" y="4773820"/>
            <a:ext cx="772999" cy="207102"/>
          </a:xfrm>
          <a:prstGeom prst="rect">
            <a:avLst/>
          </a:prstGeom>
          <a:noFill/>
          <a:ln>
            <a:noFill/>
          </a:ln>
        </p:spPr>
      </p:pic>
      <p:cxnSp>
        <p:nvCxnSpPr>
          <p:cNvPr id="57" name="Google Shape;57;p37"/>
          <p:cNvCxnSpPr/>
          <p:nvPr/>
        </p:nvCxnSpPr>
        <p:spPr>
          <a:xfrm>
            <a:off x="3524628" y="4805984"/>
            <a:ext cx="0" cy="158700"/>
          </a:xfrm>
          <a:prstGeom prst="straightConnector1">
            <a:avLst/>
          </a:prstGeom>
          <a:noFill/>
          <a:ln cap="flat" cmpd="sng" w="9525">
            <a:solidFill>
              <a:srgbClr val="999999"/>
            </a:solidFill>
            <a:prstDash val="dot"/>
            <a:round/>
            <a:headEnd len="sm" w="sm" type="none"/>
            <a:tailEnd len="sm" w="sm" type="none"/>
          </a:ln>
        </p:spPr>
      </p:cxnSp>
      <p:cxnSp>
        <p:nvCxnSpPr>
          <p:cNvPr id="58" name="Google Shape;58;p37"/>
          <p:cNvCxnSpPr/>
          <p:nvPr/>
        </p:nvCxnSpPr>
        <p:spPr>
          <a:xfrm>
            <a:off x="4413966" y="4811830"/>
            <a:ext cx="0" cy="158700"/>
          </a:xfrm>
          <a:prstGeom prst="straightConnector1">
            <a:avLst/>
          </a:prstGeom>
          <a:noFill/>
          <a:ln cap="flat" cmpd="sng" w="9525">
            <a:solidFill>
              <a:srgbClr val="999999"/>
            </a:solidFill>
            <a:prstDash val="dot"/>
            <a:round/>
            <a:headEnd len="sm" w="sm" type="none"/>
            <a:tailEnd len="sm" w="sm" type="none"/>
          </a:ln>
        </p:spPr>
      </p:cxnSp>
      <p:cxnSp>
        <p:nvCxnSpPr>
          <p:cNvPr id="59" name="Google Shape;59;p37"/>
          <p:cNvCxnSpPr/>
          <p:nvPr/>
        </p:nvCxnSpPr>
        <p:spPr>
          <a:xfrm>
            <a:off x="5542956" y="4811830"/>
            <a:ext cx="0" cy="158700"/>
          </a:xfrm>
          <a:prstGeom prst="straightConnector1">
            <a:avLst/>
          </a:prstGeom>
          <a:noFill/>
          <a:ln cap="flat" cmpd="sng" w="9525">
            <a:solidFill>
              <a:srgbClr val="999999"/>
            </a:solidFill>
            <a:prstDash val="dot"/>
            <a:round/>
            <a:headEnd len="sm" w="sm" type="none"/>
            <a:tailEnd len="sm" w="sm" type="none"/>
          </a:ln>
        </p:spPr>
      </p:cxnSp>
      <p:pic>
        <p:nvPicPr>
          <p:cNvPr id="60" name="Google Shape;60;p37"/>
          <p:cNvPicPr preferRelativeResize="0"/>
          <p:nvPr/>
        </p:nvPicPr>
        <p:blipFill rotWithShape="1">
          <a:blip r:embed="rId7">
            <a:alphaModFix/>
          </a:blip>
          <a:srcRect b="0" l="0" r="0" t="0"/>
          <a:stretch/>
        </p:blipFill>
        <p:spPr>
          <a:xfrm>
            <a:off x="1835298" y="4767421"/>
            <a:ext cx="711135" cy="200693"/>
          </a:xfrm>
          <a:prstGeom prst="rect">
            <a:avLst/>
          </a:prstGeom>
          <a:noFill/>
          <a:ln>
            <a:noFill/>
          </a:ln>
        </p:spPr>
      </p:pic>
      <p:pic>
        <p:nvPicPr>
          <p:cNvPr id="61" name="Google Shape;61;p37"/>
          <p:cNvPicPr preferRelativeResize="0"/>
          <p:nvPr/>
        </p:nvPicPr>
        <p:blipFill rotWithShape="1">
          <a:blip r:embed="rId8">
            <a:alphaModFix/>
          </a:blip>
          <a:srcRect b="0" l="0" r="0" t="0"/>
          <a:stretch/>
        </p:blipFill>
        <p:spPr>
          <a:xfrm>
            <a:off x="2709573" y="4788445"/>
            <a:ext cx="730426" cy="158646"/>
          </a:xfrm>
          <a:prstGeom prst="rect">
            <a:avLst/>
          </a:prstGeom>
          <a:noFill/>
          <a:ln>
            <a:noFill/>
          </a:ln>
        </p:spPr>
      </p:pic>
      <p:pic>
        <p:nvPicPr>
          <p:cNvPr id="62" name="Google Shape;62;p37"/>
          <p:cNvPicPr preferRelativeResize="0"/>
          <p:nvPr/>
        </p:nvPicPr>
        <p:blipFill rotWithShape="1">
          <a:blip r:embed="rId9">
            <a:alphaModFix/>
          </a:blip>
          <a:srcRect b="0" l="0" r="0" t="0"/>
          <a:stretch/>
        </p:blipFill>
        <p:spPr>
          <a:xfrm>
            <a:off x="1238250" y="271780"/>
            <a:ext cx="1380825" cy="706105"/>
          </a:xfrm>
          <a:prstGeom prst="rect">
            <a:avLst/>
          </a:prstGeom>
          <a:noFill/>
          <a:ln>
            <a:noFill/>
          </a:ln>
        </p:spPr>
      </p:pic>
      <p:pic>
        <p:nvPicPr>
          <p:cNvPr id="63" name="Google Shape;63;p37"/>
          <p:cNvPicPr preferRelativeResize="0"/>
          <p:nvPr/>
        </p:nvPicPr>
        <p:blipFill rotWithShape="1">
          <a:blip r:embed="rId10">
            <a:alphaModFix/>
          </a:blip>
          <a:srcRect b="0" l="0" r="0" t="0"/>
          <a:stretch/>
        </p:blipFill>
        <p:spPr>
          <a:xfrm>
            <a:off x="190536" y="188515"/>
            <a:ext cx="941500" cy="1410499"/>
          </a:xfrm>
          <a:prstGeom prst="rect">
            <a:avLst/>
          </a:prstGeom>
          <a:noFill/>
          <a:ln>
            <a:noFill/>
          </a:ln>
        </p:spPr>
      </p:pic>
      <p:sp>
        <p:nvSpPr>
          <p:cNvPr id="64" name="Google Shape;64;p37"/>
          <p:cNvSpPr txBox="1"/>
          <p:nvPr>
            <p:ph type="title"/>
          </p:nvPr>
        </p:nvSpPr>
        <p:spPr>
          <a:xfrm>
            <a:off x="283675" y="2500825"/>
            <a:ext cx="5466600" cy="1134600"/>
          </a:xfrm>
          <a:prstGeom prst="rect">
            <a:avLst/>
          </a:prstGeom>
          <a:noFill/>
          <a:ln>
            <a:noFill/>
          </a:ln>
        </p:spPr>
        <p:txBody>
          <a:bodyPr anchorCtr="0" anchor="ctr" bIns="91425" lIns="91425" spcFirstLastPara="1" rIns="91425" wrap="square" tIns="91425">
            <a:noAutofit/>
          </a:bodyPr>
          <a:lstStyle>
            <a:lvl1pPr lvl="0" marR="0" rtl="0" algn="l">
              <a:lnSpc>
                <a:spcPct val="100000"/>
              </a:lnSpc>
              <a:spcBef>
                <a:spcPts val="0"/>
              </a:spcBef>
              <a:spcAft>
                <a:spcPts val="0"/>
              </a:spcAft>
              <a:buClr>
                <a:schemeClr val="accent1"/>
              </a:buClr>
              <a:buSzPts val="3700"/>
              <a:buFont typeface="Montserrat"/>
              <a:buNone/>
              <a:defRPr b="1" i="0" sz="3700" u="none" cap="none" strike="noStrike">
                <a:solidFill>
                  <a:schemeClr val="accent1"/>
                </a:solidFill>
                <a:latin typeface="Montserrat"/>
                <a:ea typeface="Montserrat"/>
                <a:cs typeface="Montserrat"/>
                <a:sym typeface="Montserrat"/>
              </a:defRPr>
            </a:lvl1pPr>
            <a:lvl2pPr lvl="1" marR="0" rtl="0" algn="l">
              <a:lnSpc>
                <a:spcPct val="100000"/>
              </a:lnSpc>
              <a:spcBef>
                <a:spcPts val="0"/>
              </a:spcBef>
              <a:spcAft>
                <a:spcPts val="0"/>
              </a:spcAft>
              <a:buClr>
                <a:schemeClr val="accent1"/>
              </a:buClr>
              <a:buSzPts val="3700"/>
              <a:buFont typeface="Montserrat"/>
              <a:buNone/>
              <a:defRPr b="1" i="0" sz="3700" u="none" cap="none" strike="noStrike">
                <a:solidFill>
                  <a:schemeClr val="accent1"/>
                </a:solidFill>
                <a:latin typeface="Montserrat"/>
                <a:ea typeface="Montserrat"/>
                <a:cs typeface="Montserrat"/>
                <a:sym typeface="Montserrat"/>
              </a:defRPr>
            </a:lvl2pPr>
            <a:lvl3pPr lvl="2" marR="0" rtl="0" algn="l">
              <a:lnSpc>
                <a:spcPct val="100000"/>
              </a:lnSpc>
              <a:spcBef>
                <a:spcPts val="0"/>
              </a:spcBef>
              <a:spcAft>
                <a:spcPts val="0"/>
              </a:spcAft>
              <a:buClr>
                <a:schemeClr val="accent1"/>
              </a:buClr>
              <a:buSzPts val="3700"/>
              <a:buFont typeface="Montserrat"/>
              <a:buNone/>
              <a:defRPr b="1" i="0" sz="3700" u="none" cap="none" strike="noStrike">
                <a:solidFill>
                  <a:schemeClr val="accent1"/>
                </a:solidFill>
                <a:latin typeface="Montserrat"/>
                <a:ea typeface="Montserrat"/>
                <a:cs typeface="Montserrat"/>
                <a:sym typeface="Montserrat"/>
              </a:defRPr>
            </a:lvl3pPr>
            <a:lvl4pPr lvl="3" marR="0" rtl="0" algn="l">
              <a:lnSpc>
                <a:spcPct val="100000"/>
              </a:lnSpc>
              <a:spcBef>
                <a:spcPts val="0"/>
              </a:spcBef>
              <a:spcAft>
                <a:spcPts val="0"/>
              </a:spcAft>
              <a:buClr>
                <a:schemeClr val="accent1"/>
              </a:buClr>
              <a:buSzPts val="3700"/>
              <a:buFont typeface="Montserrat"/>
              <a:buNone/>
              <a:defRPr b="1" i="0" sz="3700" u="none" cap="none" strike="noStrike">
                <a:solidFill>
                  <a:schemeClr val="accent1"/>
                </a:solidFill>
                <a:latin typeface="Montserrat"/>
                <a:ea typeface="Montserrat"/>
                <a:cs typeface="Montserrat"/>
                <a:sym typeface="Montserrat"/>
              </a:defRPr>
            </a:lvl4pPr>
            <a:lvl5pPr lvl="4" marR="0" rtl="0" algn="l">
              <a:lnSpc>
                <a:spcPct val="100000"/>
              </a:lnSpc>
              <a:spcBef>
                <a:spcPts val="0"/>
              </a:spcBef>
              <a:spcAft>
                <a:spcPts val="0"/>
              </a:spcAft>
              <a:buClr>
                <a:schemeClr val="accent1"/>
              </a:buClr>
              <a:buSzPts val="3700"/>
              <a:buFont typeface="Montserrat"/>
              <a:buNone/>
              <a:defRPr b="1" i="0" sz="3700" u="none" cap="none" strike="noStrike">
                <a:solidFill>
                  <a:schemeClr val="accent1"/>
                </a:solidFill>
                <a:latin typeface="Montserrat"/>
                <a:ea typeface="Montserrat"/>
                <a:cs typeface="Montserrat"/>
                <a:sym typeface="Montserrat"/>
              </a:defRPr>
            </a:lvl5pPr>
            <a:lvl6pPr lvl="5" marR="0" rtl="0" algn="l">
              <a:lnSpc>
                <a:spcPct val="100000"/>
              </a:lnSpc>
              <a:spcBef>
                <a:spcPts val="0"/>
              </a:spcBef>
              <a:spcAft>
                <a:spcPts val="0"/>
              </a:spcAft>
              <a:buClr>
                <a:schemeClr val="accent1"/>
              </a:buClr>
              <a:buSzPts val="3700"/>
              <a:buFont typeface="Montserrat"/>
              <a:buNone/>
              <a:defRPr b="1" i="0" sz="3700" u="none" cap="none" strike="noStrike">
                <a:solidFill>
                  <a:schemeClr val="accent1"/>
                </a:solidFill>
                <a:latin typeface="Montserrat"/>
                <a:ea typeface="Montserrat"/>
                <a:cs typeface="Montserrat"/>
                <a:sym typeface="Montserrat"/>
              </a:defRPr>
            </a:lvl6pPr>
            <a:lvl7pPr lvl="6" marR="0" rtl="0" algn="l">
              <a:lnSpc>
                <a:spcPct val="100000"/>
              </a:lnSpc>
              <a:spcBef>
                <a:spcPts val="0"/>
              </a:spcBef>
              <a:spcAft>
                <a:spcPts val="0"/>
              </a:spcAft>
              <a:buClr>
                <a:schemeClr val="accent1"/>
              </a:buClr>
              <a:buSzPts val="3700"/>
              <a:buFont typeface="Montserrat"/>
              <a:buNone/>
              <a:defRPr b="1" i="0" sz="3700" u="none" cap="none" strike="noStrike">
                <a:solidFill>
                  <a:schemeClr val="accent1"/>
                </a:solidFill>
                <a:latin typeface="Montserrat"/>
                <a:ea typeface="Montserrat"/>
                <a:cs typeface="Montserrat"/>
                <a:sym typeface="Montserrat"/>
              </a:defRPr>
            </a:lvl7pPr>
            <a:lvl8pPr lvl="7" marR="0" rtl="0" algn="l">
              <a:lnSpc>
                <a:spcPct val="100000"/>
              </a:lnSpc>
              <a:spcBef>
                <a:spcPts val="0"/>
              </a:spcBef>
              <a:spcAft>
                <a:spcPts val="0"/>
              </a:spcAft>
              <a:buClr>
                <a:schemeClr val="accent1"/>
              </a:buClr>
              <a:buSzPts val="3700"/>
              <a:buFont typeface="Montserrat"/>
              <a:buNone/>
              <a:defRPr b="1" i="0" sz="3700" u="none" cap="none" strike="noStrike">
                <a:solidFill>
                  <a:schemeClr val="accent1"/>
                </a:solidFill>
                <a:latin typeface="Montserrat"/>
                <a:ea typeface="Montserrat"/>
                <a:cs typeface="Montserrat"/>
                <a:sym typeface="Montserrat"/>
              </a:defRPr>
            </a:lvl8pPr>
            <a:lvl9pPr lvl="8" marR="0" rtl="0" algn="l">
              <a:lnSpc>
                <a:spcPct val="100000"/>
              </a:lnSpc>
              <a:spcBef>
                <a:spcPts val="0"/>
              </a:spcBef>
              <a:spcAft>
                <a:spcPts val="0"/>
              </a:spcAft>
              <a:buClr>
                <a:schemeClr val="accent1"/>
              </a:buClr>
              <a:buSzPts val="3700"/>
              <a:buFont typeface="Montserrat"/>
              <a:buNone/>
              <a:defRPr b="1" i="0" sz="3700" u="none" cap="none" strike="noStrike">
                <a:solidFill>
                  <a:schemeClr val="accent1"/>
                </a:solidFill>
                <a:latin typeface="Montserrat"/>
                <a:ea typeface="Montserrat"/>
                <a:cs typeface="Montserrat"/>
                <a:sym typeface="Montserrat"/>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parator Slide">
  <p:cSld name="CUSTOM_6_1_1_1_1_1_1_1_2_1_2_1_1_1">
    <p:bg>
      <p:bgPr>
        <a:noFill/>
      </p:bgPr>
    </p:bg>
    <p:spTree>
      <p:nvGrpSpPr>
        <p:cNvPr id="65" name="Shape 65"/>
        <p:cNvGrpSpPr/>
        <p:nvPr/>
      </p:nvGrpSpPr>
      <p:grpSpPr>
        <a:xfrm>
          <a:off x="0" y="0"/>
          <a:ext cx="0" cy="0"/>
          <a:chOff x="0" y="0"/>
          <a:chExt cx="0" cy="0"/>
        </a:xfrm>
      </p:grpSpPr>
      <p:pic>
        <p:nvPicPr>
          <p:cNvPr id="66" name="Google Shape;66;p38"/>
          <p:cNvPicPr preferRelativeResize="0"/>
          <p:nvPr/>
        </p:nvPicPr>
        <p:blipFill rotWithShape="1">
          <a:blip r:embed="rId2">
            <a:alphaModFix/>
          </a:blip>
          <a:srcRect b="0" l="-10120" r="10120" t="0"/>
          <a:stretch/>
        </p:blipFill>
        <p:spPr>
          <a:xfrm>
            <a:off x="0" y="-7476"/>
            <a:ext cx="9143956" cy="5143501"/>
          </a:xfrm>
          <a:prstGeom prst="rect">
            <a:avLst/>
          </a:prstGeom>
          <a:noFill/>
          <a:ln>
            <a:noFill/>
          </a:ln>
        </p:spPr>
      </p:pic>
      <p:pic>
        <p:nvPicPr>
          <p:cNvPr descr="TTN Logo.png" id="67" name="Google Shape;67;p38"/>
          <p:cNvPicPr preferRelativeResize="0"/>
          <p:nvPr/>
        </p:nvPicPr>
        <p:blipFill rotWithShape="1">
          <a:blip r:embed="rId3">
            <a:alphaModFix/>
          </a:blip>
          <a:srcRect b="0" l="0" r="0" t="0"/>
          <a:stretch/>
        </p:blipFill>
        <p:spPr>
          <a:xfrm>
            <a:off x="8295649" y="178006"/>
            <a:ext cx="648924" cy="362494"/>
          </a:xfrm>
          <a:prstGeom prst="rect">
            <a:avLst/>
          </a:prstGeom>
          <a:noFill/>
          <a:ln>
            <a:noFill/>
          </a:ln>
        </p:spPr>
      </p:pic>
      <p:sp>
        <p:nvSpPr>
          <p:cNvPr id="68" name="Google Shape;68;p38"/>
          <p:cNvSpPr/>
          <p:nvPr/>
        </p:nvSpPr>
        <p:spPr>
          <a:xfrm>
            <a:off x="3929500" y="2179825"/>
            <a:ext cx="559800" cy="5598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with Black logo 1 1 1 1 1 1 1 2 1 2 1">
  <p:cSld name="CUSTOM_6_1_1_1_1_1_1_1_2_1_2_1_1">
    <p:bg>
      <p:bgPr>
        <a:noFill/>
      </p:bgPr>
    </p:bg>
    <p:spTree>
      <p:nvGrpSpPr>
        <p:cNvPr id="69" name="Shape 69"/>
        <p:cNvGrpSpPr/>
        <p:nvPr/>
      </p:nvGrpSpPr>
      <p:grpSpPr>
        <a:xfrm>
          <a:off x="0" y="0"/>
          <a:ext cx="0" cy="0"/>
          <a:chOff x="0" y="0"/>
          <a:chExt cx="0" cy="0"/>
        </a:xfrm>
      </p:grpSpPr>
      <p:pic>
        <p:nvPicPr>
          <p:cNvPr id="70" name="Google Shape;70;p39"/>
          <p:cNvPicPr preferRelativeResize="0"/>
          <p:nvPr/>
        </p:nvPicPr>
        <p:blipFill rotWithShape="1">
          <a:blip r:embed="rId2">
            <a:alphaModFix/>
          </a:blip>
          <a:srcRect b="2519" l="41915" r="12791" t="6877"/>
          <a:stretch/>
        </p:blipFill>
        <p:spPr>
          <a:xfrm>
            <a:off x="5286150" y="0"/>
            <a:ext cx="3857848" cy="5143501"/>
          </a:xfrm>
          <a:prstGeom prst="rect">
            <a:avLst/>
          </a:prstGeom>
          <a:noFill/>
          <a:ln>
            <a:noFill/>
          </a:ln>
        </p:spPr>
      </p:pic>
      <p:sp>
        <p:nvSpPr>
          <p:cNvPr id="71" name="Google Shape;71;p39"/>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72" name="Google Shape;72;p39"/>
          <p:cNvSpPr/>
          <p:nvPr/>
        </p:nvSpPr>
        <p:spPr>
          <a:xfrm>
            <a:off x="0" y="-25"/>
            <a:ext cx="6464700" cy="5143500"/>
          </a:xfrm>
          <a:prstGeom prst="snip1Rect">
            <a:avLst>
              <a:gd fmla="val 18290"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73" name="Google Shape;73;p39"/>
          <p:cNvCxnSpPr/>
          <p:nvPr/>
        </p:nvCxnSpPr>
        <p:spPr>
          <a:xfrm>
            <a:off x="6406775" y="3956400"/>
            <a:ext cx="0" cy="1187100"/>
          </a:xfrm>
          <a:prstGeom prst="straightConnector1">
            <a:avLst/>
          </a:prstGeom>
          <a:noFill/>
          <a:ln cap="flat" cmpd="sng" w="114300">
            <a:solidFill>
              <a:schemeClr val="accent3"/>
            </a:solidFill>
            <a:prstDash val="solid"/>
            <a:round/>
            <a:headEnd len="sm" w="sm" type="none"/>
            <a:tailEnd len="sm" w="sm" type="none"/>
          </a:ln>
        </p:spPr>
      </p:cxnSp>
      <p:pic>
        <p:nvPicPr>
          <p:cNvPr id="74" name="Google Shape;74;p39"/>
          <p:cNvPicPr preferRelativeResize="0"/>
          <p:nvPr/>
        </p:nvPicPr>
        <p:blipFill rotWithShape="1">
          <a:blip r:embed="rId3">
            <a:alphaModFix/>
          </a:blip>
          <a:srcRect b="56881" l="299" r="0" t="4"/>
          <a:stretch/>
        </p:blipFill>
        <p:spPr>
          <a:xfrm>
            <a:off x="-7475" y="5125600"/>
            <a:ext cx="9151474" cy="17899"/>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Slide - with Title &amp; Logo  4">
  <p:cSld name="TITLE_AND_TWO_COLUMNS_1_2_7">
    <p:spTree>
      <p:nvGrpSpPr>
        <p:cNvPr id="75" name="Shape 75"/>
        <p:cNvGrpSpPr/>
        <p:nvPr/>
      </p:nvGrpSpPr>
      <p:grpSpPr>
        <a:xfrm>
          <a:off x="0" y="0"/>
          <a:ext cx="0" cy="0"/>
          <a:chOff x="0" y="0"/>
          <a:chExt cx="0" cy="0"/>
        </a:xfrm>
      </p:grpSpPr>
      <p:sp>
        <p:nvSpPr>
          <p:cNvPr id="76" name="Google Shape;76;p40"/>
          <p:cNvSpPr txBox="1"/>
          <p:nvPr>
            <p:ph type="ctrTitle"/>
          </p:nvPr>
        </p:nvSpPr>
        <p:spPr>
          <a:xfrm>
            <a:off x="264425" y="171950"/>
            <a:ext cx="6858000" cy="290100"/>
          </a:xfrm>
          <a:prstGeom prst="rect">
            <a:avLst/>
          </a:prstGeom>
          <a:noFill/>
          <a:ln>
            <a:noFill/>
          </a:ln>
        </p:spPr>
        <p:txBody>
          <a:bodyPr anchorCtr="0" anchor="t" bIns="91425" lIns="0" spcFirstLastPara="1" rIns="91425" wrap="square" tIns="0">
            <a:noAutofit/>
          </a:bodyPr>
          <a:lstStyle>
            <a:lvl1pPr lvl="0" marR="0" rtl="0" algn="l">
              <a:lnSpc>
                <a:spcPct val="90000"/>
              </a:lnSpc>
              <a:spcBef>
                <a:spcPts val="0"/>
              </a:spcBef>
              <a:spcAft>
                <a:spcPts val="0"/>
              </a:spcAft>
              <a:buClr>
                <a:schemeClr val="dk1"/>
              </a:buClr>
              <a:buSzPts val="2100"/>
              <a:buFont typeface="Tahoma"/>
              <a:buNone/>
              <a:defRPr b="1" i="0" sz="21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2pPr>
            <a:lvl3pPr lvl="2"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3pPr>
            <a:lvl4pPr lvl="3"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4pPr>
            <a:lvl5pPr lvl="4"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5pPr>
            <a:lvl6pPr lvl="5"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6pPr>
            <a:lvl7pPr lvl="6"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7pPr>
            <a:lvl8pPr lvl="7"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8pPr>
            <a:lvl9pPr lvl="8"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9pPr>
          </a:lstStyle>
          <a:p/>
        </p:txBody>
      </p:sp>
      <p:pic>
        <p:nvPicPr>
          <p:cNvPr descr="TTN Logo.png" id="77" name="Google Shape;77;p40"/>
          <p:cNvPicPr preferRelativeResize="0"/>
          <p:nvPr/>
        </p:nvPicPr>
        <p:blipFill rotWithShape="1">
          <a:blip r:embed="rId2">
            <a:alphaModFix/>
          </a:blip>
          <a:srcRect b="0" l="0" r="0" t="0"/>
          <a:stretch/>
        </p:blipFill>
        <p:spPr>
          <a:xfrm>
            <a:off x="8414781" y="117828"/>
            <a:ext cx="625544" cy="349439"/>
          </a:xfrm>
          <a:prstGeom prst="rect">
            <a:avLst/>
          </a:prstGeom>
          <a:noFill/>
          <a:ln>
            <a:noFill/>
          </a:ln>
        </p:spPr>
      </p:pic>
      <p:cxnSp>
        <p:nvCxnSpPr>
          <p:cNvPr id="78" name="Google Shape;78;p40"/>
          <p:cNvCxnSpPr/>
          <p:nvPr/>
        </p:nvCxnSpPr>
        <p:spPr>
          <a:xfrm>
            <a:off x="8286793" y="153689"/>
            <a:ext cx="0" cy="324300"/>
          </a:xfrm>
          <a:prstGeom prst="straightConnector1">
            <a:avLst/>
          </a:prstGeom>
          <a:noFill/>
          <a:ln cap="flat" cmpd="sng" w="9525">
            <a:solidFill>
              <a:srgbClr val="595959"/>
            </a:solidFill>
            <a:prstDash val="solid"/>
            <a:round/>
            <a:headEnd len="sm" w="sm" type="none"/>
            <a:tailEnd len="sm" w="sm" type="none"/>
          </a:ln>
        </p:spPr>
      </p:cxn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Slide - with Title &amp; Logo  2">
  <p:cSld name="TITLE_AND_TWO_COLUMNS_1_2_9">
    <p:spTree>
      <p:nvGrpSpPr>
        <p:cNvPr id="79" name="Shape 79"/>
        <p:cNvGrpSpPr/>
        <p:nvPr/>
      </p:nvGrpSpPr>
      <p:grpSpPr>
        <a:xfrm>
          <a:off x="0" y="0"/>
          <a:ext cx="0" cy="0"/>
          <a:chOff x="0" y="0"/>
          <a:chExt cx="0" cy="0"/>
        </a:xfrm>
      </p:grpSpPr>
      <p:sp>
        <p:nvSpPr>
          <p:cNvPr id="80" name="Google Shape;80;p41"/>
          <p:cNvSpPr txBox="1"/>
          <p:nvPr>
            <p:ph type="ctrTitle"/>
          </p:nvPr>
        </p:nvSpPr>
        <p:spPr>
          <a:xfrm>
            <a:off x="264425" y="171950"/>
            <a:ext cx="6858000" cy="290100"/>
          </a:xfrm>
          <a:prstGeom prst="rect">
            <a:avLst/>
          </a:prstGeom>
          <a:noFill/>
          <a:ln>
            <a:noFill/>
          </a:ln>
        </p:spPr>
        <p:txBody>
          <a:bodyPr anchorCtr="0" anchor="t" bIns="91425" lIns="0" spcFirstLastPara="1" rIns="91425" wrap="square" tIns="0">
            <a:noAutofit/>
          </a:bodyPr>
          <a:lstStyle>
            <a:lvl1pPr lvl="0" marR="0" rtl="0" algn="l">
              <a:lnSpc>
                <a:spcPct val="90000"/>
              </a:lnSpc>
              <a:spcBef>
                <a:spcPts val="0"/>
              </a:spcBef>
              <a:spcAft>
                <a:spcPts val="0"/>
              </a:spcAft>
              <a:buClr>
                <a:schemeClr val="dk1"/>
              </a:buClr>
              <a:buSzPts val="2100"/>
              <a:buFont typeface="Tahoma"/>
              <a:buNone/>
              <a:defRPr b="1" i="0" sz="21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2pPr>
            <a:lvl3pPr lvl="2"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3pPr>
            <a:lvl4pPr lvl="3"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4pPr>
            <a:lvl5pPr lvl="4"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5pPr>
            <a:lvl6pPr lvl="5"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6pPr>
            <a:lvl7pPr lvl="6"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7pPr>
            <a:lvl8pPr lvl="7"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8pPr>
            <a:lvl9pPr lvl="8"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9pPr>
          </a:lstStyle>
          <a:p/>
        </p:txBody>
      </p:sp>
      <p:pic>
        <p:nvPicPr>
          <p:cNvPr descr="TTN Logo.png" id="81" name="Google Shape;81;p41"/>
          <p:cNvPicPr preferRelativeResize="0"/>
          <p:nvPr/>
        </p:nvPicPr>
        <p:blipFill rotWithShape="1">
          <a:blip r:embed="rId2">
            <a:alphaModFix/>
          </a:blip>
          <a:srcRect b="0" l="0" r="0" t="0"/>
          <a:stretch/>
        </p:blipFill>
        <p:spPr>
          <a:xfrm>
            <a:off x="8414781" y="117828"/>
            <a:ext cx="625544" cy="349439"/>
          </a:xfrm>
          <a:prstGeom prst="rect">
            <a:avLst/>
          </a:prstGeom>
          <a:noFill/>
          <a:ln>
            <a:noFill/>
          </a:ln>
        </p:spPr>
      </p:pic>
      <p:cxnSp>
        <p:nvCxnSpPr>
          <p:cNvPr id="82" name="Google Shape;82;p41"/>
          <p:cNvCxnSpPr/>
          <p:nvPr/>
        </p:nvCxnSpPr>
        <p:spPr>
          <a:xfrm>
            <a:off x="8286793" y="153689"/>
            <a:ext cx="0" cy="324300"/>
          </a:xfrm>
          <a:prstGeom prst="straightConnector1">
            <a:avLst/>
          </a:prstGeom>
          <a:noFill/>
          <a:ln cap="flat" cmpd="sng" w="9525">
            <a:solidFill>
              <a:srgbClr val="595959"/>
            </a:solidFill>
            <a:prstDash val="solid"/>
            <a:round/>
            <a:headEnd len="sm" w="sm" type="none"/>
            <a:tailEnd len="sm" w="sm" type="none"/>
          </a:ln>
        </p:spPr>
      </p:cxn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Slide - with Title &amp; Logo  3">
  <p:cSld name="TITLE_AND_TWO_COLUMNS_1_2_10">
    <p:spTree>
      <p:nvGrpSpPr>
        <p:cNvPr id="83" name="Shape 83"/>
        <p:cNvGrpSpPr/>
        <p:nvPr/>
      </p:nvGrpSpPr>
      <p:grpSpPr>
        <a:xfrm>
          <a:off x="0" y="0"/>
          <a:ext cx="0" cy="0"/>
          <a:chOff x="0" y="0"/>
          <a:chExt cx="0" cy="0"/>
        </a:xfrm>
      </p:grpSpPr>
      <p:sp>
        <p:nvSpPr>
          <p:cNvPr id="84" name="Google Shape;84;p42"/>
          <p:cNvSpPr txBox="1"/>
          <p:nvPr>
            <p:ph type="ctrTitle"/>
          </p:nvPr>
        </p:nvSpPr>
        <p:spPr>
          <a:xfrm>
            <a:off x="264425" y="171950"/>
            <a:ext cx="6858000" cy="290100"/>
          </a:xfrm>
          <a:prstGeom prst="rect">
            <a:avLst/>
          </a:prstGeom>
          <a:noFill/>
          <a:ln>
            <a:noFill/>
          </a:ln>
        </p:spPr>
        <p:txBody>
          <a:bodyPr anchorCtr="0" anchor="t" bIns="91425" lIns="0" spcFirstLastPara="1" rIns="91425" wrap="square" tIns="0">
            <a:noAutofit/>
          </a:bodyPr>
          <a:lstStyle>
            <a:lvl1pPr lvl="0" marR="0" rtl="0" algn="l">
              <a:lnSpc>
                <a:spcPct val="90000"/>
              </a:lnSpc>
              <a:spcBef>
                <a:spcPts val="0"/>
              </a:spcBef>
              <a:spcAft>
                <a:spcPts val="0"/>
              </a:spcAft>
              <a:buClr>
                <a:schemeClr val="dk1"/>
              </a:buClr>
              <a:buSzPts val="2100"/>
              <a:buFont typeface="Tahoma"/>
              <a:buNone/>
              <a:defRPr b="1" i="0" sz="21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2pPr>
            <a:lvl3pPr lvl="2"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3pPr>
            <a:lvl4pPr lvl="3"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4pPr>
            <a:lvl5pPr lvl="4"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5pPr>
            <a:lvl6pPr lvl="5"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6pPr>
            <a:lvl7pPr lvl="6"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7pPr>
            <a:lvl8pPr lvl="7"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8pPr>
            <a:lvl9pPr lvl="8"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9pPr>
          </a:lstStyle>
          <a:p/>
        </p:txBody>
      </p:sp>
      <p:pic>
        <p:nvPicPr>
          <p:cNvPr descr="TTN Logo.png" id="85" name="Google Shape;85;p42"/>
          <p:cNvPicPr preferRelativeResize="0"/>
          <p:nvPr/>
        </p:nvPicPr>
        <p:blipFill rotWithShape="1">
          <a:blip r:embed="rId2">
            <a:alphaModFix/>
          </a:blip>
          <a:srcRect b="0" l="0" r="0" t="0"/>
          <a:stretch/>
        </p:blipFill>
        <p:spPr>
          <a:xfrm>
            <a:off x="8295649" y="178006"/>
            <a:ext cx="648924" cy="362494"/>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Just Logo without Title 1 1 1">
  <p:cSld name="TITLE_AND_TWO_COLUMNS_2_1_1_1">
    <p:spTree>
      <p:nvGrpSpPr>
        <p:cNvPr id="86" name="Shape 86"/>
        <p:cNvGrpSpPr/>
        <p:nvPr/>
      </p:nvGrpSpPr>
      <p:grpSpPr>
        <a:xfrm>
          <a:off x="0" y="0"/>
          <a:ext cx="0" cy="0"/>
          <a:chOff x="0" y="0"/>
          <a:chExt cx="0" cy="0"/>
        </a:xfrm>
      </p:grpSpPr>
      <p:pic>
        <p:nvPicPr>
          <p:cNvPr id="87" name="Google Shape;87;p43"/>
          <p:cNvPicPr preferRelativeResize="0"/>
          <p:nvPr/>
        </p:nvPicPr>
        <p:blipFill rotWithShape="1">
          <a:blip r:embed="rId2">
            <a:alphaModFix/>
          </a:blip>
          <a:srcRect b="0" l="0" r="0" t="0"/>
          <a:stretch/>
        </p:blipFill>
        <p:spPr>
          <a:xfrm rot="10800000">
            <a:off x="-12" y="0"/>
            <a:ext cx="3890275" cy="5143501"/>
          </a:xfrm>
          <a:prstGeom prst="rect">
            <a:avLst/>
          </a:prstGeom>
          <a:noFill/>
          <a:ln>
            <a:noFill/>
          </a:ln>
        </p:spPr>
      </p:pic>
      <p:sp>
        <p:nvSpPr>
          <p:cNvPr id="88" name="Google Shape;88;p43"/>
          <p:cNvSpPr/>
          <p:nvPr/>
        </p:nvSpPr>
        <p:spPr>
          <a:xfrm>
            <a:off x="0" y="144000"/>
            <a:ext cx="47400" cy="3573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 name="Google Shape;89;p43"/>
          <p:cNvSpPr txBox="1"/>
          <p:nvPr>
            <p:ph type="title"/>
          </p:nvPr>
        </p:nvSpPr>
        <p:spPr>
          <a:xfrm>
            <a:off x="104500" y="141850"/>
            <a:ext cx="6703800" cy="357300"/>
          </a:xfrm>
          <a:prstGeom prst="rect">
            <a:avLst/>
          </a:prstGeom>
          <a:noFill/>
          <a:ln>
            <a:noFill/>
          </a:ln>
        </p:spPr>
        <p:txBody>
          <a:bodyPr anchorCtr="0" anchor="ctr" bIns="91425" lIns="91425" spcFirstLastPara="1" rIns="91425" wrap="square" tIns="91425">
            <a:noAutofit/>
          </a:bodyPr>
          <a:lstStyle>
            <a:lvl1pPr lvl="0" marR="0" rtl="0" algn="l">
              <a:lnSpc>
                <a:spcPct val="100000"/>
              </a:lnSpc>
              <a:spcBef>
                <a:spcPts val="0"/>
              </a:spcBef>
              <a:spcAft>
                <a:spcPts val="0"/>
              </a:spcAft>
              <a:buClr>
                <a:srgbClr val="000000"/>
              </a:buClr>
              <a:buSzPts val="2000"/>
              <a:buFont typeface="Montserrat"/>
              <a:buNone/>
              <a:defRPr b="1" i="0" sz="2000" u="none" cap="none" strike="noStrike">
                <a:solidFill>
                  <a:srgbClr val="000000"/>
                </a:solidFill>
                <a:latin typeface="Montserrat"/>
                <a:ea typeface="Montserrat"/>
                <a:cs typeface="Montserrat"/>
                <a:sym typeface="Montserrat"/>
              </a:defRPr>
            </a:lvl1pPr>
            <a:lvl2pPr lvl="1"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2pPr>
            <a:lvl3pPr lvl="2"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3pPr>
            <a:lvl4pPr lvl="3"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4pPr>
            <a:lvl5pPr lvl="4"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5pPr>
            <a:lvl6pPr lvl="5"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6pPr>
            <a:lvl7pPr lvl="6"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7pPr>
            <a:lvl8pPr lvl="7"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8pPr>
            <a:lvl9pPr lvl="8"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9pPr>
          </a:lstStyle>
          <a:p/>
        </p:txBody>
      </p:sp>
      <p:sp>
        <p:nvSpPr>
          <p:cNvPr id="90" name="Google Shape;90;p43"/>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9pPr>
          </a:lstStyle>
          <a:p>
            <a:pPr indent="0" lvl="0" marL="0" rtl="0" algn="r">
              <a:spcBef>
                <a:spcPts val="0"/>
              </a:spcBef>
              <a:spcAft>
                <a:spcPts val="0"/>
              </a:spcAft>
              <a:buNone/>
            </a:pPr>
            <a:fld id="{00000000-1234-1234-1234-123412341234}" type="slidenum">
              <a:rPr lang="en"/>
              <a:t>‹#›</a:t>
            </a:fld>
            <a:endParaRPr/>
          </a:p>
        </p:txBody>
      </p:sp>
      <p:pic>
        <p:nvPicPr>
          <p:cNvPr descr="TTN Logo.png" id="91" name="Google Shape;91;p43"/>
          <p:cNvPicPr preferRelativeResize="0"/>
          <p:nvPr/>
        </p:nvPicPr>
        <p:blipFill rotWithShape="1">
          <a:blip r:embed="rId3">
            <a:alphaModFix/>
          </a:blip>
          <a:srcRect b="0" l="0" r="0" t="0"/>
          <a:stretch/>
        </p:blipFill>
        <p:spPr>
          <a:xfrm>
            <a:off x="8414781" y="117828"/>
            <a:ext cx="625544" cy="349439"/>
          </a:xfrm>
          <a:prstGeom prst="rect">
            <a:avLst/>
          </a:prstGeom>
          <a:noFill/>
          <a:ln>
            <a:noFill/>
          </a:ln>
        </p:spPr>
      </p:pic>
      <p:cxnSp>
        <p:nvCxnSpPr>
          <p:cNvPr id="92" name="Google Shape;92;p43"/>
          <p:cNvCxnSpPr/>
          <p:nvPr/>
        </p:nvCxnSpPr>
        <p:spPr>
          <a:xfrm>
            <a:off x="8286793" y="153689"/>
            <a:ext cx="0" cy="324300"/>
          </a:xfrm>
          <a:prstGeom prst="straightConnector1">
            <a:avLst/>
          </a:prstGeom>
          <a:noFill/>
          <a:ln cap="flat" cmpd="sng" w="9525">
            <a:solidFill>
              <a:srgbClr val="595959"/>
            </a:solidFill>
            <a:prstDash val="solid"/>
            <a:round/>
            <a:headEnd len="sm" w="sm" type="none"/>
            <a:tailEnd len="sm" w="sm" type="none"/>
          </a:ln>
        </p:spPr>
      </p:cxn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image" Target="../media/image14.png"/><Relationship Id="rId2" Type="http://schemas.openxmlformats.org/officeDocument/2006/relationships/image" Target="../media/image11.png"/><Relationship Id="rId3" Type="http://schemas.openxmlformats.org/officeDocument/2006/relationships/slideLayout" Target="../slideLayouts/slideLayout5.xml"/><Relationship Id="rId4" Type="http://schemas.openxmlformats.org/officeDocument/2006/relationships/slideLayout" Target="../slideLayouts/slideLayout6.xml"/><Relationship Id="rId5" Type="http://schemas.openxmlformats.org/officeDocument/2006/relationships/slideLayout" Target="../slideLayouts/slideLayout7.xml"/><Relationship Id="rId6" Type="http://schemas.openxmlformats.org/officeDocument/2006/relationships/slideLayout" Target="../slideLayouts/slideLayout8.xml"/><Relationship Id="rId7" Type="http://schemas.openxmlformats.org/officeDocument/2006/relationships/slideLayout" Target="../slideLayouts/slideLayout9.xml"/><Relationship Id="rId8" Type="http://schemas.openxmlformats.org/officeDocument/2006/relationships/slideLayout" Target="../slideLayouts/slideLayout10.xml"/><Relationship Id="rId9" Type="http://schemas.openxmlformats.org/officeDocument/2006/relationships/slideLayout" Target="../slideLayouts/slideLayout11.xml"/><Relationship Id="rId10" Type="http://schemas.openxmlformats.org/officeDocument/2006/relationships/slideLayout" Target="../slideLayouts/slideLayout12.xml"/><Relationship Id="rId11" Type="http://schemas.openxmlformats.org/officeDocument/2006/relationships/slideLayout" Target="../slideLayouts/slideLayout13.xml"/><Relationship Id="rId12" Type="http://schemas.openxmlformats.org/officeDocument/2006/relationships/slideLayout" Target="../slideLayouts/slideLayout14.xml"/><Relationship Id="rId13"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pic>
        <p:nvPicPr>
          <p:cNvPr id="6" name="Google Shape;6;p29"/>
          <p:cNvPicPr preferRelativeResize="0"/>
          <p:nvPr/>
        </p:nvPicPr>
        <p:blipFill rotWithShape="1">
          <a:blip r:embed="rId1">
            <a:alphaModFix/>
          </a:blip>
          <a:srcRect b="0" l="0" r="0" t="0"/>
          <a:stretch/>
        </p:blipFill>
        <p:spPr>
          <a:xfrm>
            <a:off x="-10" y="5071684"/>
            <a:ext cx="9151473" cy="80441"/>
          </a:xfrm>
          <a:prstGeom prst="rect">
            <a:avLst/>
          </a:prstGeom>
          <a:noFill/>
          <a:ln>
            <a:noFill/>
          </a:ln>
        </p:spPr>
      </p:pic>
      <p:sp>
        <p:nvSpPr>
          <p:cNvPr id="7" name="Google Shape;7;p29"/>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6" name="Shape 26"/>
        <p:cNvGrpSpPr/>
        <p:nvPr/>
      </p:nvGrpSpPr>
      <p:grpSpPr>
        <a:xfrm>
          <a:off x="0" y="0"/>
          <a:ext cx="0" cy="0"/>
          <a:chOff x="0" y="0"/>
          <a:chExt cx="0" cy="0"/>
        </a:xfrm>
      </p:grpSpPr>
      <p:pic>
        <p:nvPicPr>
          <p:cNvPr id="27" name="Google Shape;27;p32"/>
          <p:cNvPicPr preferRelativeResize="0"/>
          <p:nvPr/>
        </p:nvPicPr>
        <p:blipFill rotWithShape="1">
          <a:blip r:embed="rId1">
            <a:alphaModFix/>
          </a:blip>
          <a:srcRect b="56881" l="299" r="0" t="4"/>
          <a:stretch/>
        </p:blipFill>
        <p:spPr>
          <a:xfrm>
            <a:off x="-7475" y="5125600"/>
            <a:ext cx="9151474" cy="17899"/>
          </a:xfrm>
          <a:prstGeom prst="rect">
            <a:avLst/>
          </a:prstGeom>
          <a:noFill/>
          <a:ln>
            <a:noFill/>
          </a:ln>
        </p:spPr>
      </p:pic>
      <p:pic>
        <p:nvPicPr>
          <p:cNvPr id="28" name="Google Shape;28;p32"/>
          <p:cNvPicPr preferRelativeResize="0"/>
          <p:nvPr/>
        </p:nvPicPr>
        <p:blipFill rotWithShape="1">
          <a:blip r:embed="rId2">
            <a:alphaModFix/>
          </a:blip>
          <a:srcRect b="0" l="0" r="0" t="0"/>
          <a:stretch/>
        </p:blipFill>
        <p:spPr>
          <a:xfrm>
            <a:off x="-10" y="5071684"/>
            <a:ext cx="9151473" cy="80441"/>
          </a:xfrm>
          <a:prstGeom prst="rect">
            <a:avLst/>
          </a:prstGeom>
          <a:noFill/>
          <a:ln>
            <a:noFill/>
          </a:ln>
        </p:spPr>
      </p:pic>
      <p:sp>
        <p:nvSpPr>
          <p:cNvPr id="29" name="Google Shape;29;p32"/>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 id="2147483663"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2.png"/><Relationship Id="rId4" Type="http://schemas.openxmlformats.org/officeDocument/2006/relationships/image" Target="../media/image1.png"/><Relationship Id="rId5" Type="http://schemas.openxmlformats.org/officeDocument/2006/relationships/image" Target="../media/image5.png"/><Relationship Id="rId6" Type="http://schemas.openxmlformats.org/officeDocument/2006/relationships/image" Target="../media/image13.png"/><Relationship Id="rId7" Type="http://schemas.openxmlformats.org/officeDocument/2006/relationships/image" Target="../media/image4.png"/><Relationship Id="rId8" Type="http://schemas.openxmlformats.org/officeDocument/2006/relationships/image" Target="../media/image16.png"/><Relationship Id="rId9" Type="http://schemas.openxmlformats.org/officeDocument/2006/relationships/image" Target="../media/image10.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 Id="rId3" Type="http://schemas.openxmlformats.org/officeDocument/2006/relationships/image" Target="../media/image19.png"/><Relationship Id="rId4" Type="http://schemas.openxmlformats.org/officeDocument/2006/relationships/image" Target="../media/image1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 Id="rId3" Type="http://schemas.openxmlformats.org/officeDocument/2006/relationships/image" Target="../media/image26.png"/><Relationship Id="rId4" Type="http://schemas.openxmlformats.org/officeDocument/2006/relationships/image" Target="../media/image20.png"/><Relationship Id="rId5" Type="http://schemas.openxmlformats.org/officeDocument/2006/relationships/image" Target="../media/image25.png"/><Relationship Id="rId6" Type="http://schemas.openxmlformats.org/officeDocument/2006/relationships/image" Target="../media/image27.png"/><Relationship Id="rId7" Type="http://schemas.openxmlformats.org/officeDocument/2006/relationships/image" Target="../media/image2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 Id="rId3" Type="http://schemas.openxmlformats.org/officeDocument/2006/relationships/image" Target="../media/image15.png"/><Relationship Id="rId4" Type="http://schemas.openxmlformats.org/officeDocument/2006/relationships/image" Target="../media/image29.png"/><Relationship Id="rId5" Type="http://schemas.openxmlformats.org/officeDocument/2006/relationships/image" Target="../media/image17.png"/><Relationship Id="rId6" Type="http://schemas.openxmlformats.org/officeDocument/2006/relationships/image" Target="../media/image23.png"/><Relationship Id="rId7" Type="http://schemas.openxmlformats.org/officeDocument/2006/relationships/image" Target="../media/image21.png"/><Relationship Id="rId8" Type="http://schemas.openxmlformats.org/officeDocument/2006/relationships/image" Target="../media/image22.png"/><Relationship Id="rId9" Type="http://schemas.openxmlformats.org/officeDocument/2006/relationships/image" Target="../media/image31.png"/><Relationship Id="rId10" Type="http://schemas.openxmlformats.org/officeDocument/2006/relationships/image" Target="../media/image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 Id="rId3" Type="http://schemas.openxmlformats.org/officeDocument/2006/relationships/image" Target="../media/image33.png"/><Relationship Id="rId4" Type="http://schemas.openxmlformats.org/officeDocument/2006/relationships/image" Target="../media/image3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 Id="rId3" Type="http://schemas.openxmlformats.org/officeDocument/2006/relationships/image" Target="../media/image34.png"/><Relationship Id="rId4" Type="http://schemas.openxmlformats.org/officeDocument/2006/relationships/image" Target="../media/image39.png"/><Relationship Id="rId5" Type="http://schemas.openxmlformats.org/officeDocument/2006/relationships/image" Target="../media/image40.png"/><Relationship Id="rId6" Type="http://schemas.openxmlformats.org/officeDocument/2006/relationships/image" Target="../media/image36.png"/><Relationship Id="rId7" Type="http://schemas.openxmlformats.org/officeDocument/2006/relationships/image" Target="../media/image38.png"/><Relationship Id="rId8" Type="http://schemas.openxmlformats.org/officeDocument/2006/relationships/image" Target="../media/image35.png"/><Relationship Id="rId9" Type="http://schemas.openxmlformats.org/officeDocument/2006/relationships/image" Target="../media/image30.png"/><Relationship Id="rId10" Type="http://schemas.openxmlformats.org/officeDocument/2006/relationships/image" Target="../media/image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image" Target="../media/image34.png"/><Relationship Id="rId4" Type="http://schemas.openxmlformats.org/officeDocument/2006/relationships/image" Target="../media/image37.png"/><Relationship Id="rId5" Type="http://schemas.openxmlformats.org/officeDocument/2006/relationships/image" Target="../media/image39.png"/><Relationship Id="rId6" Type="http://schemas.openxmlformats.org/officeDocument/2006/relationships/image" Target="../media/image40.png"/><Relationship Id="rId7" Type="http://schemas.openxmlformats.org/officeDocument/2006/relationships/image" Target="../media/image38.png"/><Relationship Id="rId8" Type="http://schemas.openxmlformats.org/officeDocument/2006/relationships/image" Target="../media/image35.png"/><Relationship Id="rId9" Type="http://schemas.openxmlformats.org/officeDocument/2006/relationships/image" Target="../media/image41.png"/><Relationship Id="rId10" Type="http://schemas.openxmlformats.org/officeDocument/2006/relationships/image" Target="../media/image42.png"/><Relationship Id="rId11" Type="http://schemas.openxmlformats.org/officeDocument/2006/relationships/image" Target="../media/image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image" Target="../media/image34.png"/><Relationship Id="rId4" Type="http://schemas.openxmlformats.org/officeDocument/2006/relationships/image" Target="../media/image39.png"/><Relationship Id="rId5" Type="http://schemas.openxmlformats.org/officeDocument/2006/relationships/image" Target="../media/image40.png"/><Relationship Id="rId6" Type="http://schemas.openxmlformats.org/officeDocument/2006/relationships/image" Target="../media/image38.png"/><Relationship Id="rId7" Type="http://schemas.openxmlformats.org/officeDocument/2006/relationships/image" Target="../media/image35.png"/><Relationship Id="rId8" Type="http://schemas.openxmlformats.org/officeDocument/2006/relationships/image" Target="../media/image47.png"/><Relationship Id="rId9" Type="http://schemas.openxmlformats.org/officeDocument/2006/relationships/image" Target="../media/image44.png"/><Relationship Id="rId10" Type="http://schemas.openxmlformats.org/officeDocument/2006/relationships/image" Target="../media/image2.png"/><Relationship Id="rId11" Type="http://schemas.openxmlformats.org/officeDocument/2006/relationships/image" Target="../media/image43.png"/><Relationship Id="rId12" Type="http://schemas.openxmlformats.org/officeDocument/2006/relationships/image" Target="../media/image45.png"/><Relationship Id="rId13" Type="http://schemas.openxmlformats.org/officeDocument/2006/relationships/image" Target="../media/image46.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pic>
        <p:nvPicPr>
          <p:cNvPr id="97" name="Google Shape;97;p1"/>
          <p:cNvPicPr preferRelativeResize="0"/>
          <p:nvPr/>
        </p:nvPicPr>
        <p:blipFill rotWithShape="1">
          <a:blip r:embed="rId3">
            <a:alphaModFix/>
          </a:blip>
          <a:srcRect b="3747" l="0" r="0" t="3738"/>
          <a:stretch/>
        </p:blipFill>
        <p:spPr>
          <a:xfrm>
            <a:off x="5628871" y="4764214"/>
            <a:ext cx="527963" cy="207109"/>
          </a:xfrm>
          <a:prstGeom prst="rect">
            <a:avLst/>
          </a:prstGeom>
          <a:noFill/>
          <a:ln>
            <a:noFill/>
          </a:ln>
        </p:spPr>
      </p:pic>
      <p:pic>
        <p:nvPicPr>
          <p:cNvPr id="98" name="Google Shape;98;p1"/>
          <p:cNvPicPr preferRelativeResize="0"/>
          <p:nvPr/>
        </p:nvPicPr>
        <p:blipFill rotWithShape="1">
          <a:blip r:embed="rId4">
            <a:alphaModFix/>
          </a:blip>
          <a:srcRect b="0" l="0" r="0" t="0"/>
          <a:stretch/>
        </p:blipFill>
        <p:spPr>
          <a:xfrm>
            <a:off x="4492492" y="4767423"/>
            <a:ext cx="1005406" cy="200690"/>
          </a:xfrm>
          <a:prstGeom prst="rect">
            <a:avLst/>
          </a:prstGeom>
          <a:noFill/>
          <a:ln>
            <a:noFill/>
          </a:ln>
        </p:spPr>
      </p:pic>
      <p:sp>
        <p:nvSpPr>
          <p:cNvPr id="99" name="Google Shape;99;p1"/>
          <p:cNvSpPr txBox="1"/>
          <p:nvPr/>
        </p:nvSpPr>
        <p:spPr>
          <a:xfrm>
            <a:off x="160663" y="4752390"/>
            <a:ext cx="1432800" cy="2307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Montserrat"/>
                <a:ea typeface="Montserrat"/>
                <a:cs typeface="Montserrat"/>
                <a:sym typeface="Montserrat"/>
              </a:rPr>
              <a:t>Proudly recognised by</a:t>
            </a:r>
            <a:endParaRPr b="0" i="0" sz="800" u="none" cap="none" strike="noStrike">
              <a:solidFill>
                <a:srgbClr val="000000"/>
              </a:solidFill>
              <a:latin typeface="Montserrat"/>
              <a:ea typeface="Montserrat"/>
              <a:cs typeface="Montserrat"/>
              <a:sym typeface="Montserrat"/>
            </a:endParaRPr>
          </a:p>
        </p:txBody>
      </p:sp>
      <p:cxnSp>
        <p:nvCxnSpPr>
          <p:cNvPr id="100" name="Google Shape;100;p1"/>
          <p:cNvCxnSpPr/>
          <p:nvPr/>
        </p:nvCxnSpPr>
        <p:spPr>
          <a:xfrm>
            <a:off x="1434913" y="4877373"/>
            <a:ext cx="329100" cy="0"/>
          </a:xfrm>
          <a:prstGeom prst="straightConnector1">
            <a:avLst/>
          </a:prstGeom>
          <a:noFill/>
          <a:ln cap="flat" cmpd="sng" w="9525">
            <a:solidFill>
              <a:srgbClr val="D41883"/>
            </a:solidFill>
            <a:prstDash val="solid"/>
            <a:round/>
            <a:headEnd len="sm" w="sm" type="none"/>
            <a:tailEnd len="med" w="med" type="oval"/>
          </a:ln>
        </p:spPr>
      </p:cxnSp>
      <p:cxnSp>
        <p:nvCxnSpPr>
          <p:cNvPr id="101" name="Google Shape;101;p1"/>
          <p:cNvCxnSpPr/>
          <p:nvPr/>
        </p:nvCxnSpPr>
        <p:spPr>
          <a:xfrm>
            <a:off x="2619072" y="4811830"/>
            <a:ext cx="0" cy="158700"/>
          </a:xfrm>
          <a:prstGeom prst="straightConnector1">
            <a:avLst/>
          </a:prstGeom>
          <a:noFill/>
          <a:ln cap="flat" cmpd="sng" w="9525">
            <a:solidFill>
              <a:srgbClr val="999999"/>
            </a:solidFill>
            <a:prstDash val="dot"/>
            <a:round/>
            <a:headEnd len="sm" w="sm" type="none"/>
            <a:tailEnd len="sm" w="sm" type="none"/>
          </a:ln>
        </p:spPr>
      </p:cxnSp>
      <p:pic>
        <p:nvPicPr>
          <p:cNvPr id="102" name="Google Shape;102;p1"/>
          <p:cNvPicPr preferRelativeResize="0"/>
          <p:nvPr/>
        </p:nvPicPr>
        <p:blipFill rotWithShape="1">
          <a:blip r:embed="rId5">
            <a:alphaModFix/>
          </a:blip>
          <a:srcRect b="0" l="0" r="0" t="0"/>
          <a:stretch/>
        </p:blipFill>
        <p:spPr>
          <a:xfrm>
            <a:off x="3582794" y="4773820"/>
            <a:ext cx="772999" cy="207102"/>
          </a:xfrm>
          <a:prstGeom prst="rect">
            <a:avLst/>
          </a:prstGeom>
          <a:noFill/>
          <a:ln>
            <a:noFill/>
          </a:ln>
        </p:spPr>
      </p:pic>
      <p:cxnSp>
        <p:nvCxnSpPr>
          <p:cNvPr id="103" name="Google Shape;103;p1"/>
          <p:cNvCxnSpPr/>
          <p:nvPr/>
        </p:nvCxnSpPr>
        <p:spPr>
          <a:xfrm>
            <a:off x="3524628" y="4805984"/>
            <a:ext cx="0" cy="158700"/>
          </a:xfrm>
          <a:prstGeom prst="straightConnector1">
            <a:avLst/>
          </a:prstGeom>
          <a:noFill/>
          <a:ln cap="flat" cmpd="sng" w="9525">
            <a:solidFill>
              <a:srgbClr val="999999"/>
            </a:solidFill>
            <a:prstDash val="dot"/>
            <a:round/>
            <a:headEnd len="sm" w="sm" type="none"/>
            <a:tailEnd len="sm" w="sm" type="none"/>
          </a:ln>
        </p:spPr>
      </p:cxnSp>
      <p:cxnSp>
        <p:nvCxnSpPr>
          <p:cNvPr id="104" name="Google Shape;104;p1"/>
          <p:cNvCxnSpPr/>
          <p:nvPr/>
        </p:nvCxnSpPr>
        <p:spPr>
          <a:xfrm>
            <a:off x="4413966" y="4811830"/>
            <a:ext cx="0" cy="158700"/>
          </a:xfrm>
          <a:prstGeom prst="straightConnector1">
            <a:avLst/>
          </a:prstGeom>
          <a:noFill/>
          <a:ln cap="flat" cmpd="sng" w="9525">
            <a:solidFill>
              <a:srgbClr val="999999"/>
            </a:solidFill>
            <a:prstDash val="dot"/>
            <a:round/>
            <a:headEnd len="sm" w="sm" type="none"/>
            <a:tailEnd len="sm" w="sm" type="none"/>
          </a:ln>
        </p:spPr>
      </p:cxnSp>
      <p:cxnSp>
        <p:nvCxnSpPr>
          <p:cNvPr id="105" name="Google Shape;105;p1"/>
          <p:cNvCxnSpPr/>
          <p:nvPr/>
        </p:nvCxnSpPr>
        <p:spPr>
          <a:xfrm>
            <a:off x="5542956" y="4811830"/>
            <a:ext cx="0" cy="158700"/>
          </a:xfrm>
          <a:prstGeom prst="straightConnector1">
            <a:avLst/>
          </a:prstGeom>
          <a:noFill/>
          <a:ln cap="flat" cmpd="sng" w="9525">
            <a:solidFill>
              <a:srgbClr val="999999"/>
            </a:solidFill>
            <a:prstDash val="dot"/>
            <a:round/>
            <a:headEnd len="sm" w="sm" type="none"/>
            <a:tailEnd len="sm" w="sm" type="none"/>
          </a:ln>
        </p:spPr>
      </p:cxnSp>
      <p:pic>
        <p:nvPicPr>
          <p:cNvPr id="106" name="Google Shape;106;p1"/>
          <p:cNvPicPr preferRelativeResize="0"/>
          <p:nvPr/>
        </p:nvPicPr>
        <p:blipFill rotWithShape="1">
          <a:blip r:embed="rId6">
            <a:alphaModFix/>
          </a:blip>
          <a:srcRect b="0" l="0" r="0" t="0"/>
          <a:stretch/>
        </p:blipFill>
        <p:spPr>
          <a:xfrm>
            <a:off x="1835298" y="4767421"/>
            <a:ext cx="711135" cy="200693"/>
          </a:xfrm>
          <a:prstGeom prst="rect">
            <a:avLst/>
          </a:prstGeom>
          <a:noFill/>
          <a:ln>
            <a:noFill/>
          </a:ln>
        </p:spPr>
      </p:pic>
      <p:pic>
        <p:nvPicPr>
          <p:cNvPr id="107" name="Google Shape;107;p1"/>
          <p:cNvPicPr preferRelativeResize="0"/>
          <p:nvPr/>
        </p:nvPicPr>
        <p:blipFill rotWithShape="1">
          <a:blip r:embed="rId7">
            <a:alphaModFix/>
          </a:blip>
          <a:srcRect b="0" l="0" r="0" t="0"/>
          <a:stretch/>
        </p:blipFill>
        <p:spPr>
          <a:xfrm>
            <a:off x="2709573" y="4788445"/>
            <a:ext cx="730426" cy="158646"/>
          </a:xfrm>
          <a:prstGeom prst="rect">
            <a:avLst/>
          </a:prstGeom>
          <a:noFill/>
          <a:ln>
            <a:noFill/>
          </a:ln>
        </p:spPr>
      </p:pic>
      <p:pic>
        <p:nvPicPr>
          <p:cNvPr id="108" name="Google Shape;108;p1"/>
          <p:cNvPicPr preferRelativeResize="0"/>
          <p:nvPr/>
        </p:nvPicPr>
        <p:blipFill rotWithShape="1">
          <a:blip r:embed="rId8">
            <a:alphaModFix/>
          </a:blip>
          <a:srcRect b="0" l="0" r="0" t="0"/>
          <a:stretch/>
        </p:blipFill>
        <p:spPr>
          <a:xfrm>
            <a:off x="249975" y="246249"/>
            <a:ext cx="1145175" cy="585599"/>
          </a:xfrm>
          <a:prstGeom prst="rect">
            <a:avLst/>
          </a:prstGeom>
          <a:noFill/>
          <a:ln>
            <a:noFill/>
          </a:ln>
        </p:spPr>
      </p:pic>
      <p:sp>
        <p:nvSpPr>
          <p:cNvPr id="109" name="Google Shape;109;p1"/>
          <p:cNvSpPr txBox="1"/>
          <p:nvPr/>
        </p:nvSpPr>
        <p:spPr>
          <a:xfrm>
            <a:off x="452550" y="2096825"/>
            <a:ext cx="6849000" cy="2123700"/>
          </a:xfrm>
          <a:prstGeom prst="rect">
            <a:avLst/>
          </a:prstGeom>
          <a:noFill/>
          <a:ln>
            <a:noFill/>
          </a:ln>
        </p:spPr>
        <p:txBody>
          <a:bodyPr anchorCtr="0" anchor="t" bIns="91425" lIns="91425" spcFirstLastPara="1" rIns="91425" wrap="square" tIns="91425">
            <a:noAutofit/>
          </a:bodyPr>
          <a:lstStyle/>
          <a:p>
            <a:r>
              <a:t>TTN Proposal | Blogger</a:t>
            </a:r>
          </a:p>
          <a:p>
            <a:r>
              <a:t>Date : 18 Sep 2026</a:t>
            </a:r>
          </a:p>
          <a:p>
            <a:r>
              <a:t>Ref : 183a2fce-73f9-4a25-a72b-f520c568f76a</a:t>
            </a:r>
          </a:p>
        </p:txBody>
      </p:sp>
      <p:cxnSp>
        <p:nvCxnSpPr>
          <p:cNvPr id="110" name="Google Shape;110;p1"/>
          <p:cNvCxnSpPr/>
          <p:nvPr/>
        </p:nvCxnSpPr>
        <p:spPr>
          <a:xfrm>
            <a:off x="300149" y="2165563"/>
            <a:ext cx="0" cy="1057800"/>
          </a:xfrm>
          <a:prstGeom prst="straightConnector1">
            <a:avLst/>
          </a:prstGeom>
          <a:noFill/>
          <a:ln cap="flat" cmpd="sng" w="76200">
            <a:solidFill>
              <a:srgbClr val="5424A0"/>
            </a:solidFill>
            <a:prstDash val="solid"/>
            <a:round/>
            <a:headEnd len="sm" w="sm" type="none"/>
            <a:tailEnd len="sm" w="sm" type="none"/>
          </a:ln>
        </p:spPr>
      </p:cxnSp>
      <p:pic>
        <p:nvPicPr>
          <p:cNvPr id="111" name="Google Shape;111;p1"/>
          <p:cNvPicPr preferRelativeResize="0"/>
          <p:nvPr/>
        </p:nvPicPr>
        <p:blipFill rotWithShape="1">
          <a:blip r:embed="rId9">
            <a:alphaModFix/>
          </a:blip>
          <a:srcRect b="-10" l="-6921" r="-6910" t="10"/>
          <a:stretch/>
        </p:blipFill>
        <p:spPr>
          <a:xfrm>
            <a:off x="6287808" y="4668680"/>
            <a:ext cx="265774" cy="398125"/>
          </a:xfrm>
          <a:prstGeom prst="rect">
            <a:avLst/>
          </a:prstGeom>
          <a:noFill/>
          <a:ln>
            <a:noFill/>
          </a:ln>
        </p:spPr>
      </p:pic>
      <p:cxnSp>
        <p:nvCxnSpPr>
          <p:cNvPr id="112" name="Google Shape;112;p1"/>
          <p:cNvCxnSpPr/>
          <p:nvPr/>
        </p:nvCxnSpPr>
        <p:spPr>
          <a:xfrm>
            <a:off x="6204494" y="4811830"/>
            <a:ext cx="0" cy="158700"/>
          </a:xfrm>
          <a:prstGeom prst="straightConnector1">
            <a:avLst/>
          </a:prstGeom>
          <a:noFill/>
          <a:ln cap="flat" cmpd="sng" w="9525">
            <a:solidFill>
              <a:srgbClr val="999999"/>
            </a:solidFill>
            <a:prstDash val="dot"/>
            <a:round/>
            <a:headEnd len="sm" w="sm" type="none"/>
            <a:tailEnd len="sm" w="sm" type="none"/>
          </a:ln>
        </p:spPr>
      </p:cxn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2"/>
          <p:cNvSpPr/>
          <p:nvPr/>
        </p:nvSpPr>
        <p:spPr>
          <a:xfrm>
            <a:off x="0" y="144000"/>
            <a:ext cx="47400" cy="3573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 name="Google Shape;118;p2"/>
          <p:cNvSpPr txBox="1"/>
          <p:nvPr>
            <p:ph type="title"/>
          </p:nvPr>
        </p:nvSpPr>
        <p:spPr>
          <a:xfrm>
            <a:off x="104500" y="141850"/>
            <a:ext cx="6703800" cy="3573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000"/>
              <a:buNone/>
            </a:pPr>
            <a:r>
              <a:rPr lang="en"/>
              <a:t>Agenda</a:t>
            </a:r>
            <a:endParaRPr/>
          </a:p>
        </p:txBody>
      </p:sp>
      <p:sp>
        <p:nvSpPr>
          <p:cNvPr id="119" name="Google Shape;119;p2"/>
          <p:cNvSpPr/>
          <p:nvPr/>
        </p:nvSpPr>
        <p:spPr>
          <a:xfrm>
            <a:off x="1358763" y="1111025"/>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200"/>
              <a:buFont typeface="Arial"/>
              <a:buNone/>
            </a:pPr>
            <a:r>
              <a:rPr b="1" i="0" lang="en" sz="1200" u="none" cap="none" strike="noStrike">
                <a:solidFill>
                  <a:srgbClr val="D71B7F"/>
                </a:solidFill>
                <a:latin typeface="Montserrat"/>
                <a:ea typeface="Montserrat"/>
                <a:cs typeface="Montserrat"/>
                <a:sym typeface="Montserrat"/>
              </a:rPr>
              <a:t>Executive Summary and Our Understanding of Project Requirements</a:t>
            </a:r>
            <a:endParaRPr b="1" i="0" sz="1200" u="none" cap="none" strike="noStrike">
              <a:solidFill>
                <a:srgbClr val="D71B7F"/>
              </a:solidFill>
              <a:latin typeface="Montserrat"/>
              <a:ea typeface="Montserrat"/>
              <a:cs typeface="Montserrat"/>
              <a:sym typeface="Montserrat"/>
            </a:endParaRPr>
          </a:p>
        </p:txBody>
      </p:sp>
      <p:sp>
        <p:nvSpPr>
          <p:cNvPr id="120" name="Google Shape;120;p2"/>
          <p:cNvSpPr/>
          <p:nvPr/>
        </p:nvSpPr>
        <p:spPr>
          <a:xfrm>
            <a:off x="1358763" y="1678410"/>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100"/>
              <a:buFont typeface="Arial"/>
              <a:buNone/>
            </a:pPr>
            <a:r>
              <a:rPr b="0" i="0" lang="en" sz="1200" u="none" cap="none" strike="noStrike">
                <a:solidFill>
                  <a:srgbClr val="000000"/>
                </a:solidFill>
                <a:latin typeface="Montserrat"/>
                <a:ea typeface="Montserrat"/>
                <a:cs typeface="Montserrat"/>
                <a:sym typeface="Montserrat"/>
              </a:rPr>
              <a:t>Proposed Technical Solution Approach</a:t>
            </a:r>
            <a:endParaRPr b="0" i="0" sz="1200" u="none" cap="none" strike="noStrike">
              <a:solidFill>
                <a:srgbClr val="000000"/>
              </a:solidFill>
              <a:latin typeface="Montserrat"/>
              <a:ea typeface="Montserrat"/>
              <a:cs typeface="Montserrat"/>
              <a:sym typeface="Montserrat"/>
            </a:endParaRPr>
          </a:p>
        </p:txBody>
      </p:sp>
      <p:sp>
        <p:nvSpPr>
          <p:cNvPr id="121" name="Google Shape;121;p2"/>
          <p:cNvSpPr/>
          <p:nvPr/>
        </p:nvSpPr>
        <p:spPr>
          <a:xfrm>
            <a:off x="1358763" y="3289875"/>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100"/>
              <a:buFont typeface="Arial"/>
              <a:buNone/>
            </a:pPr>
            <a:r>
              <a:rPr b="0" i="0" lang="en" sz="1200" u="none" cap="none" strike="noStrike">
                <a:solidFill>
                  <a:srgbClr val="000000"/>
                </a:solidFill>
                <a:latin typeface="Montserrat"/>
                <a:ea typeface="Montserrat"/>
                <a:cs typeface="Montserrat"/>
                <a:sym typeface="Montserrat"/>
              </a:rPr>
              <a:t>Success Stories</a:t>
            </a:r>
            <a:endParaRPr b="0" i="0" sz="1200" u="none" cap="none" strike="noStrike">
              <a:solidFill>
                <a:srgbClr val="000000"/>
              </a:solidFill>
              <a:latin typeface="Montserrat"/>
              <a:ea typeface="Montserrat"/>
              <a:cs typeface="Montserrat"/>
              <a:sym typeface="Montserrat"/>
            </a:endParaRPr>
          </a:p>
        </p:txBody>
      </p:sp>
      <p:cxnSp>
        <p:nvCxnSpPr>
          <p:cNvPr id="122" name="Google Shape;122;p2"/>
          <p:cNvCxnSpPr/>
          <p:nvPr/>
        </p:nvCxnSpPr>
        <p:spPr>
          <a:xfrm>
            <a:off x="1367196" y="1108050"/>
            <a:ext cx="0" cy="382200"/>
          </a:xfrm>
          <a:prstGeom prst="straightConnector1">
            <a:avLst/>
          </a:prstGeom>
          <a:noFill/>
          <a:ln cap="flat" cmpd="sng" w="19050">
            <a:solidFill>
              <a:srgbClr val="12519C"/>
            </a:solidFill>
            <a:prstDash val="solid"/>
            <a:round/>
            <a:headEnd len="sm" w="sm" type="none"/>
            <a:tailEnd len="sm" w="sm" type="none"/>
          </a:ln>
        </p:spPr>
      </p:cxnSp>
      <p:cxnSp>
        <p:nvCxnSpPr>
          <p:cNvPr id="123" name="Google Shape;123;p2"/>
          <p:cNvCxnSpPr/>
          <p:nvPr/>
        </p:nvCxnSpPr>
        <p:spPr>
          <a:xfrm>
            <a:off x="1367196" y="1675436"/>
            <a:ext cx="0" cy="382200"/>
          </a:xfrm>
          <a:prstGeom prst="straightConnector1">
            <a:avLst/>
          </a:prstGeom>
          <a:noFill/>
          <a:ln cap="flat" cmpd="sng" w="19050">
            <a:solidFill>
              <a:srgbClr val="12519C"/>
            </a:solidFill>
            <a:prstDash val="solid"/>
            <a:round/>
            <a:headEnd len="sm" w="sm" type="none"/>
            <a:tailEnd len="sm" w="sm" type="none"/>
          </a:ln>
        </p:spPr>
      </p:cxnSp>
      <p:cxnSp>
        <p:nvCxnSpPr>
          <p:cNvPr id="124" name="Google Shape;124;p2"/>
          <p:cNvCxnSpPr/>
          <p:nvPr/>
        </p:nvCxnSpPr>
        <p:spPr>
          <a:xfrm>
            <a:off x="1367196" y="3288390"/>
            <a:ext cx="0" cy="382200"/>
          </a:xfrm>
          <a:prstGeom prst="straightConnector1">
            <a:avLst/>
          </a:prstGeom>
          <a:noFill/>
          <a:ln cap="flat" cmpd="sng" w="19050">
            <a:solidFill>
              <a:srgbClr val="12519C"/>
            </a:solidFill>
            <a:prstDash val="solid"/>
            <a:round/>
            <a:headEnd len="sm" w="sm" type="none"/>
            <a:tailEnd len="sm" w="sm" type="none"/>
          </a:ln>
        </p:spPr>
      </p:cxnSp>
      <p:sp>
        <p:nvSpPr>
          <p:cNvPr id="125" name="Google Shape;125;p2"/>
          <p:cNvSpPr/>
          <p:nvPr/>
        </p:nvSpPr>
        <p:spPr>
          <a:xfrm>
            <a:off x="1048238" y="1260478"/>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 name="Google Shape;126;p2"/>
          <p:cNvSpPr/>
          <p:nvPr/>
        </p:nvSpPr>
        <p:spPr>
          <a:xfrm>
            <a:off x="1048238" y="1827880"/>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 name="Google Shape;127;p2"/>
          <p:cNvSpPr/>
          <p:nvPr/>
        </p:nvSpPr>
        <p:spPr>
          <a:xfrm>
            <a:off x="1048238" y="3439362"/>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 name="Google Shape;128;p2"/>
          <p:cNvSpPr/>
          <p:nvPr/>
        </p:nvSpPr>
        <p:spPr>
          <a:xfrm>
            <a:off x="1358763" y="2245805"/>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100"/>
              <a:buFont typeface="Arial"/>
              <a:buNone/>
            </a:pPr>
            <a:r>
              <a:rPr b="0" i="0" lang="en" sz="1200" u="none" cap="none" strike="noStrike">
                <a:solidFill>
                  <a:srgbClr val="000000"/>
                </a:solidFill>
                <a:latin typeface="Montserrat"/>
                <a:ea typeface="Montserrat"/>
                <a:cs typeface="Montserrat"/>
                <a:sym typeface="Montserrat"/>
              </a:rPr>
              <a:t>Project Plan and Key Deliverables</a:t>
            </a:r>
            <a:endParaRPr b="0" i="0" sz="1200" u="none" cap="none" strike="noStrike">
              <a:solidFill>
                <a:srgbClr val="000000"/>
              </a:solidFill>
              <a:latin typeface="Montserrat"/>
              <a:ea typeface="Montserrat"/>
              <a:cs typeface="Montserrat"/>
              <a:sym typeface="Montserrat"/>
            </a:endParaRPr>
          </a:p>
        </p:txBody>
      </p:sp>
      <p:cxnSp>
        <p:nvCxnSpPr>
          <p:cNvPr id="129" name="Google Shape;129;p2"/>
          <p:cNvCxnSpPr/>
          <p:nvPr/>
        </p:nvCxnSpPr>
        <p:spPr>
          <a:xfrm>
            <a:off x="1367196" y="2242832"/>
            <a:ext cx="0" cy="382200"/>
          </a:xfrm>
          <a:prstGeom prst="straightConnector1">
            <a:avLst/>
          </a:prstGeom>
          <a:noFill/>
          <a:ln cap="flat" cmpd="sng" w="19050">
            <a:solidFill>
              <a:srgbClr val="12519C"/>
            </a:solidFill>
            <a:prstDash val="solid"/>
            <a:round/>
            <a:headEnd len="sm" w="sm" type="none"/>
            <a:tailEnd len="sm" w="sm" type="none"/>
          </a:ln>
        </p:spPr>
      </p:cxnSp>
      <p:sp>
        <p:nvSpPr>
          <p:cNvPr id="130" name="Google Shape;130;p2"/>
          <p:cNvSpPr/>
          <p:nvPr/>
        </p:nvSpPr>
        <p:spPr>
          <a:xfrm>
            <a:off x="1048238" y="2395275"/>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 name="Google Shape;131;p2"/>
          <p:cNvSpPr/>
          <p:nvPr/>
        </p:nvSpPr>
        <p:spPr>
          <a:xfrm>
            <a:off x="1358763" y="2755885"/>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100"/>
              <a:buFont typeface="Arial"/>
              <a:buNone/>
            </a:pPr>
            <a:r>
              <a:rPr b="0" i="0" lang="en" sz="1200" u="none" cap="none" strike="noStrike">
                <a:solidFill>
                  <a:srgbClr val="000000"/>
                </a:solidFill>
                <a:latin typeface="Montserrat"/>
                <a:ea typeface="Montserrat"/>
                <a:cs typeface="Montserrat"/>
                <a:sym typeface="Montserrat"/>
              </a:rPr>
              <a:t>Commercial Summary</a:t>
            </a:r>
            <a:endParaRPr b="0" i="0" sz="1200" u="none" cap="none" strike="noStrike">
              <a:solidFill>
                <a:srgbClr val="000000"/>
              </a:solidFill>
              <a:latin typeface="Montserrat"/>
              <a:ea typeface="Montserrat"/>
              <a:cs typeface="Montserrat"/>
              <a:sym typeface="Montserrat"/>
            </a:endParaRPr>
          </a:p>
        </p:txBody>
      </p:sp>
      <p:cxnSp>
        <p:nvCxnSpPr>
          <p:cNvPr id="132" name="Google Shape;132;p2"/>
          <p:cNvCxnSpPr/>
          <p:nvPr/>
        </p:nvCxnSpPr>
        <p:spPr>
          <a:xfrm>
            <a:off x="1367196" y="2752912"/>
            <a:ext cx="0" cy="382200"/>
          </a:xfrm>
          <a:prstGeom prst="straightConnector1">
            <a:avLst/>
          </a:prstGeom>
          <a:noFill/>
          <a:ln cap="flat" cmpd="sng" w="19050">
            <a:solidFill>
              <a:srgbClr val="12519C"/>
            </a:solidFill>
            <a:prstDash val="solid"/>
            <a:round/>
            <a:headEnd len="sm" w="sm" type="none"/>
            <a:tailEnd len="sm" w="sm" type="none"/>
          </a:ln>
        </p:spPr>
      </p:cxnSp>
      <p:sp>
        <p:nvSpPr>
          <p:cNvPr id="133" name="Google Shape;133;p2"/>
          <p:cNvSpPr/>
          <p:nvPr/>
        </p:nvSpPr>
        <p:spPr>
          <a:xfrm>
            <a:off x="1048238" y="2905355"/>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 name="Google Shape;134;p2"/>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3"/>
          <p:cNvSpPr/>
          <p:nvPr/>
        </p:nvSpPr>
        <p:spPr>
          <a:xfrm>
            <a:off x="0" y="144000"/>
            <a:ext cx="47400" cy="3573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 name="Google Shape;140;p3"/>
          <p:cNvSpPr txBox="1"/>
          <p:nvPr>
            <p:ph type="title"/>
          </p:nvPr>
        </p:nvSpPr>
        <p:spPr>
          <a:xfrm>
            <a:off x="104500" y="141850"/>
            <a:ext cx="5994900" cy="3573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000"/>
              <a:buNone/>
            </a:pPr>
            <a:r>
              <a:rPr lang="en">
                <a:solidFill>
                  <a:schemeClr val="dk1"/>
                </a:solidFill>
              </a:rPr>
              <a:t>Executive Summary</a:t>
            </a:r>
            <a:endParaRPr/>
          </a:p>
        </p:txBody>
      </p:sp>
      <p:sp>
        <p:nvSpPr>
          <p:cNvPr id="141" name="Google Shape;141;p3"/>
          <p:cNvSpPr/>
          <p:nvPr/>
        </p:nvSpPr>
        <p:spPr>
          <a:xfrm>
            <a:off x="223850" y="746325"/>
            <a:ext cx="8690100" cy="4099200"/>
          </a:xfrm>
          <a:prstGeom prst="snip1Rect">
            <a:avLst>
              <a:gd fmla="val 16333"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121875" lIns="121875" spcFirstLastPara="1" rIns="0" wrap="square" tIns="27425">
            <a:noAutofit/>
          </a:bodyPr>
          <a:lstStyle/>
          <a:p>
            <a:pPr>
              <a:spcAft>
                <a:spcPts val="200"/>
              </a:spcAft>
            </a:pPr>
            <a:r>
              <a:rPr sz="1000"/>
              <a:t>Blogger is a digital content and blogging platform that requires a comprehensive solution to meet its functional and technical requirements. The platform needs to support blog creation, publishing, and monetization, while also providing robust content policy management and user engagement features. The solution must be scalable, secure, and user-friendly to ensure a seamless experience for bloggers and their audiences.</a:t>
            </a:r>
          </a:p>
        </p:txBody>
      </p:sp>
      <p:cxnSp>
        <p:nvCxnSpPr>
          <p:cNvPr id="142" name="Google Shape;142;p3"/>
          <p:cNvCxnSpPr/>
          <p:nvPr/>
        </p:nvCxnSpPr>
        <p:spPr>
          <a:xfrm flipH="1">
            <a:off x="242444" y="754971"/>
            <a:ext cx="3900" cy="4102800"/>
          </a:xfrm>
          <a:prstGeom prst="straightConnector1">
            <a:avLst/>
          </a:prstGeom>
          <a:noFill/>
          <a:ln cap="flat" cmpd="sng" w="19050">
            <a:solidFill>
              <a:srgbClr val="12519C"/>
            </a:solidFill>
            <a:prstDash val="solid"/>
            <a:round/>
            <a:headEnd len="sm" w="sm" type="none"/>
            <a:tailEnd len="sm" w="sm" type="none"/>
          </a:ln>
        </p:spPr>
      </p:cxnSp>
      <p:sp>
        <p:nvSpPr>
          <p:cNvPr id="143" name="Google Shape;143;p3"/>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sz="1000"/>
              <a:t>‹#›</a:t>
            </a:fld>
            <a:endParaRPr sz="10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4"/>
          <p:cNvSpPr/>
          <p:nvPr/>
        </p:nvSpPr>
        <p:spPr>
          <a:xfrm>
            <a:off x="0" y="144000"/>
            <a:ext cx="47400" cy="3573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 name="Google Shape;149;p4"/>
          <p:cNvSpPr txBox="1"/>
          <p:nvPr>
            <p:ph type="title"/>
          </p:nvPr>
        </p:nvSpPr>
        <p:spPr>
          <a:xfrm>
            <a:off x="104500" y="141850"/>
            <a:ext cx="5994900" cy="3573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000"/>
              <a:buNone/>
            </a:pPr>
            <a:r>
              <a:rPr lang="en">
                <a:solidFill>
                  <a:schemeClr val="dk1"/>
                </a:solidFill>
              </a:rPr>
              <a:t>Why TTN?</a:t>
            </a:r>
            <a:endParaRPr/>
          </a:p>
        </p:txBody>
      </p:sp>
      <p:sp>
        <p:nvSpPr>
          <p:cNvPr id="150" name="Google Shape;150;p4"/>
          <p:cNvSpPr/>
          <p:nvPr/>
        </p:nvSpPr>
        <p:spPr>
          <a:xfrm>
            <a:off x="474900" y="910600"/>
            <a:ext cx="3914100" cy="1666500"/>
          </a:xfrm>
          <a:prstGeom prst="snip1Rect">
            <a:avLst>
              <a:gd fmla="val 16667" name="adj"/>
            </a:avLst>
          </a:prstGeom>
          <a:noFill/>
          <a:ln cap="flat" cmpd="sng" w="9525">
            <a:solidFill>
              <a:schemeClr val="accent2"/>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50000"/>
              </a:lnSpc>
              <a:spcBef>
                <a:spcPts val="0"/>
              </a:spcBef>
              <a:spcAft>
                <a:spcPts val="0"/>
              </a:spcAft>
              <a:buClr>
                <a:srgbClr val="000000"/>
              </a:buClr>
              <a:buSzPts val="1100"/>
              <a:buFont typeface="Arial"/>
              <a:buNone/>
            </a:pPr>
            <a:r>
              <a:rPr b="1" i="0" lang="en" sz="1100" u="none" cap="none" strike="noStrike">
                <a:solidFill>
                  <a:schemeClr val="dk1"/>
                </a:solidFill>
                <a:latin typeface="Montserrat"/>
                <a:ea typeface="Montserrat"/>
                <a:cs typeface="Montserrat"/>
                <a:sym typeface="Montserrat"/>
              </a:rPr>
              <a:t>Proven UX &amp; Mobile Expertise</a:t>
            </a:r>
            <a:r>
              <a:rPr b="0" i="0" lang="en" sz="1100" u="none" cap="none" strike="noStrike">
                <a:solidFill>
                  <a:schemeClr val="dk1"/>
                </a:solidFill>
                <a:latin typeface="Montserrat"/>
                <a:ea typeface="Montserrat"/>
                <a:cs typeface="Montserrat"/>
                <a:sym typeface="Montserrat"/>
              </a:rPr>
              <a:t> </a:t>
            </a:r>
            <a:endParaRPr b="0" i="0" sz="1100" u="none" cap="none" strike="noStrike">
              <a:solidFill>
                <a:schemeClr val="dk1"/>
              </a:solidFill>
              <a:latin typeface="Montserrat"/>
              <a:ea typeface="Montserrat"/>
              <a:cs typeface="Montserrat"/>
              <a:sym typeface="Montserrat"/>
            </a:endParaRPr>
          </a:p>
          <a:p>
            <a:pPr indent="0" lvl="0" marL="0" marR="0" rtl="0" algn="ctr">
              <a:lnSpc>
                <a:spcPct val="150000"/>
              </a:lnSpc>
              <a:spcBef>
                <a:spcPts val="1000"/>
              </a:spcBef>
              <a:spcAft>
                <a:spcPts val="1000"/>
              </a:spcAft>
              <a:buClr>
                <a:srgbClr val="000000"/>
              </a:buClr>
              <a:buSzPts val="1100"/>
              <a:buFont typeface="Arial"/>
              <a:buNone/>
            </a:pPr>
            <a:r>
              <a:rPr b="0" i="0" lang="en" sz="1100" u="none" cap="none" strike="noStrike">
                <a:solidFill>
                  <a:schemeClr val="dk1"/>
                </a:solidFill>
                <a:latin typeface="Montserrat"/>
                <a:ea typeface="Montserrat"/>
                <a:cs typeface="Montserrat"/>
                <a:sym typeface="Montserrat"/>
              </a:rPr>
              <a:t>We specialize in building intuitive, high-performance mobile applications with seamless user journeys - critical for customer engagement and retention.</a:t>
            </a:r>
            <a:endParaRPr b="0" i="0" sz="1100" u="none" cap="none" strike="noStrike">
              <a:solidFill>
                <a:schemeClr val="dk1"/>
              </a:solidFill>
              <a:latin typeface="Montserrat"/>
              <a:ea typeface="Montserrat"/>
              <a:cs typeface="Montserrat"/>
              <a:sym typeface="Montserrat"/>
            </a:endParaRPr>
          </a:p>
        </p:txBody>
      </p:sp>
      <p:sp>
        <p:nvSpPr>
          <p:cNvPr id="151" name="Google Shape;151;p4"/>
          <p:cNvSpPr/>
          <p:nvPr/>
        </p:nvSpPr>
        <p:spPr>
          <a:xfrm>
            <a:off x="4755004" y="910600"/>
            <a:ext cx="3914100" cy="1666500"/>
          </a:xfrm>
          <a:prstGeom prst="snip1Rect">
            <a:avLst>
              <a:gd fmla="val 16667" name="adj"/>
            </a:avLst>
          </a:prstGeom>
          <a:noFill/>
          <a:ln cap="flat" cmpd="sng" w="9525">
            <a:solidFill>
              <a:schemeClr val="accent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50000"/>
              </a:lnSpc>
              <a:spcBef>
                <a:spcPts val="0"/>
              </a:spcBef>
              <a:spcAft>
                <a:spcPts val="0"/>
              </a:spcAft>
              <a:buClr>
                <a:srgbClr val="000000"/>
              </a:buClr>
              <a:buSzPts val="1100"/>
              <a:buFont typeface="Arial"/>
              <a:buNone/>
            </a:pPr>
            <a:r>
              <a:rPr b="1" i="0" lang="en" sz="1100" u="none" cap="none" strike="noStrike">
                <a:solidFill>
                  <a:schemeClr val="dk1"/>
                </a:solidFill>
                <a:latin typeface="Montserrat"/>
                <a:ea typeface="Montserrat"/>
                <a:cs typeface="Montserrat"/>
                <a:sym typeface="Montserrat"/>
              </a:rPr>
              <a:t>Domain-Focused Delivery</a:t>
            </a:r>
            <a:endParaRPr b="1" i="0" sz="1100" u="none" cap="none" strike="noStrike">
              <a:solidFill>
                <a:schemeClr val="dk1"/>
              </a:solidFill>
              <a:latin typeface="Montserrat"/>
              <a:ea typeface="Montserrat"/>
              <a:cs typeface="Montserrat"/>
              <a:sym typeface="Montserrat"/>
            </a:endParaRPr>
          </a:p>
          <a:p>
            <a:pPr indent="0" lvl="0" marL="0" marR="0" rtl="0" algn="ctr">
              <a:lnSpc>
                <a:spcPct val="150000"/>
              </a:lnSpc>
              <a:spcBef>
                <a:spcPts val="1000"/>
              </a:spcBef>
              <a:spcAft>
                <a:spcPts val="1000"/>
              </a:spcAft>
              <a:buClr>
                <a:srgbClr val="000000"/>
              </a:buClr>
              <a:buSzPts val="1100"/>
              <a:buFont typeface="Arial"/>
              <a:buNone/>
            </a:pPr>
            <a:r>
              <a:rPr b="0" i="0" lang="en" sz="1100" u="none" cap="none" strike="noStrike">
                <a:solidFill>
                  <a:schemeClr val="dk1"/>
                </a:solidFill>
                <a:latin typeface="Montserrat"/>
                <a:ea typeface="Montserrat"/>
                <a:cs typeface="Montserrat"/>
                <a:sym typeface="Montserrat"/>
              </a:rPr>
              <a:t>Our extensive experience in iGaming with real-time data integration, media streaming, and interactive user features aligns perfectly with your racing platform requirements.</a:t>
            </a:r>
            <a:endParaRPr b="0" i="0" sz="1100" u="none" cap="none" strike="noStrike">
              <a:solidFill>
                <a:schemeClr val="dk1"/>
              </a:solidFill>
              <a:latin typeface="Montserrat"/>
              <a:ea typeface="Montserrat"/>
              <a:cs typeface="Montserrat"/>
              <a:sym typeface="Montserrat"/>
            </a:endParaRPr>
          </a:p>
        </p:txBody>
      </p:sp>
      <p:sp>
        <p:nvSpPr>
          <p:cNvPr id="152" name="Google Shape;152;p4"/>
          <p:cNvSpPr/>
          <p:nvPr/>
        </p:nvSpPr>
        <p:spPr>
          <a:xfrm>
            <a:off x="474900" y="2900036"/>
            <a:ext cx="3914100" cy="1666500"/>
          </a:xfrm>
          <a:prstGeom prst="snip1Rect">
            <a:avLst>
              <a:gd fmla="val 16667" name="adj"/>
            </a:avLst>
          </a:prstGeom>
          <a:noFill/>
          <a:ln cap="flat" cmpd="sng" w="9525">
            <a:solidFill>
              <a:schemeClr val="accent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50000"/>
              </a:lnSpc>
              <a:spcBef>
                <a:spcPts val="0"/>
              </a:spcBef>
              <a:spcAft>
                <a:spcPts val="0"/>
              </a:spcAft>
              <a:buClr>
                <a:srgbClr val="000000"/>
              </a:buClr>
              <a:buSzPts val="1100"/>
              <a:buFont typeface="Arial"/>
              <a:buNone/>
            </a:pPr>
            <a:r>
              <a:rPr b="1" i="0" lang="en" sz="1100" u="none" cap="none" strike="noStrike">
                <a:solidFill>
                  <a:schemeClr val="dk1"/>
                </a:solidFill>
                <a:latin typeface="Montserrat"/>
                <a:ea typeface="Montserrat"/>
                <a:cs typeface="Montserrat"/>
                <a:sym typeface="Montserrat"/>
              </a:rPr>
              <a:t>End-to-End Ownership</a:t>
            </a:r>
            <a:r>
              <a:rPr b="0" i="0" lang="en" sz="1100" u="none" cap="none" strike="noStrike">
                <a:solidFill>
                  <a:schemeClr val="dk1"/>
                </a:solidFill>
                <a:latin typeface="Montserrat"/>
                <a:ea typeface="Montserrat"/>
                <a:cs typeface="Montserrat"/>
                <a:sym typeface="Montserrat"/>
              </a:rPr>
              <a:t> </a:t>
            </a:r>
            <a:endParaRPr b="0" i="0" sz="1100" u="none" cap="none" strike="noStrike">
              <a:solidFill>
                <a:schemeClr val="dk1"/>
              </a:solidFill>
              <a:latin typeface="Montserrat"/>
              <a:ea typeface="Montserrat"/>
              <a:cs typeface="Montserrat"/>
              <a:sym typeface="Montserrat"/>
            </a:endParaRPr>
          </a:p>
          <a:p>
            <a:pPr indent="0" lvl="0" marL="0" marR="0" rtl="0" algn="ctr">
              <a:lnSpc>
                <a:spcPct val="150000"/>
              </a:lnSpc>
              <a:spcBef>
                <a:spcPts val="1000"/>
              </a:spcBef>
              <a:spcAft>
                <a:spcPts val="1000"/>
              </a:spcAft>
              <a:buClr>
                <a:srgbClr val="000000"/>
              </a:buClr>
              <a:buSzPts val="1100"/>
              <a:buFont typeface="Arial"/>
              <a:buNone/>
            </a:pPr>
            <a:r>
              <a:rPr b="0" i="0" lang="en" sz="1100" u="none" cap="none" strike="noStrike">
                <a:solidFill>
                  <a:schemeClr val="dk1"/>
                </a:solidFill>
                <a:latin typeface="Montserrat"/>
                <a:ea typeface="Montserrat"/>
                <a:cs typeface="Montserrat"/>
                <a:sym typeface="Montserrat"/>
              </a:rPr>
              <a:t>From design and development to deployment and support, we provide full-cycle mobile app services- ensuring speed, quality, and continuity.</a:t>
            </a:r>
            <a:endParaRPr b="0" i="0" sz="1100" u="none" cap="none" strike="noStrike">
              <a:solidFill>
                <a:schemeClr val="dk1"/>
              </a:solidFill>
              <a:latin typeface="Montserrat"/>
              <a:ea typeface="Montserrat"/>
              <a:cs typeface="Montserrat"/>
              <a:sym typeface="Montserrat"/>
            </a:endParaRPr>
          </a:p>
        </p:txBody>
      </p:sp>
      <p:sp>
        <p:nvSpPr>
          <p:cNvPr id="153" name="Google Shape;153;p4"/>
          <p:cNvSpPr/>
          <p:nvPr/>
        </p:nvSpPr>
        <p:spPr>
          <a:xfrm>
            <a:off x="4755004" y="2900036"/>
            <a:ext cx="3914100" cy="1666500"/>
          </a:xfrm>
          <a:prstGeom prst="snip1Rect">
            <a:avLst>
              <a:gd fmla="val 16667" name="adj"/>
            </a:avLst>
          </a:prstGeom>
          <a:noFill/>
          <a:ln cap="flat" cmpd="sng" w="9525">
            <a:solidFill>
              <a:schemeClr val="accent2"/>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50000"/>
              </a:lnSpc>
              <a:spcBef>
                <a:spcPts val="0"/>
              </a:spcBef>
              <a:spcAft>
                <a:spcPts val="0"/>
              </a:spcAft>
              <a:buClr>
                <a:srgbClr val="000000"/>
              </a:buClr>
              <a:buSzPts val="1100"/>
              <a:buFont typeface="Arial"/>
              <a:buNone/>
            </a:pPr>
            <a:r>
              <a:rPr b="1" i="0" lang="en" sz="1100" u="none" cap="none" strike="noStrike">
                <a:solidFill>
                  <a:schemeClr val="dk1"/>
                </a:solidFill>
                <a:latin typeface="Montserrat"/>
                <a:ea typeface="Montserrat"/>
                <a:cs typeface="Montserrat"/>
                <a:sym typeface="Montserrat"/>
              </a:rPr>
              <a:t>Scalable Architecture</a:t>
            </a:r>
            <a:endParaRPr b="1" i="0" sz="1100" u="none" cap="none" strike="noStrike">
              <a:solidFill>
                <a:schemeClr val="dk1"/>
              </a:solidFill>
              <a:latin typeface="Montserrat"/>
              <a:ea typeface="Montserrat"/>
              <a:cs typeface="Montserrat"/>
              <a:sym typeface="Montserrat"/>
            </a:endParaRPr>
          </a:p>
          <a:p>
            <a:pPr indent="0" lvl="0" marL="0" marR="0" rtl="0" algn="ctr">
              <a:lnSpc>
                <a:spcPct val="150000"/>
              </a:lnSpc>
              <a:spcBef>
                <a:spcPts val="1000"/>
              </a:spcBef>
              <a:spcAft>
                <a:spcPts val="1000"/>
              </a:spcAft>
              <a:buClr>
                <a:srgbClr val="000000"/>
              </a:buClr>
              <a:buSzPts val="1100"/>
              <a:buFont typeface="Arial"/>
              <a:buNone/>
            </a:pPr>
            <a:r>
              <a:rPr b="0" i="0" lang="en" sz="1100" u="none" cap="none" strike="noStrike">
                <a:solidFill>
                  <a:schemeClr val="dk1"/>
                </a:solidFill>
                <a:latin typeface="Montserrat"/>
                <a:ea typeface="Montserrat"/>
                <a:cs typeface="Montserrat"/>
                <a:sym typeface="Montserrat"/>
              </a:rPr>
              <a:t>Our solutions are designed to grow with your user base, ensuring performance and reliability under peak traffic conditions</a:t>
            </a:r>
            <a:endParaRPr b="0" i="0" sz="1100" u="none" cap="none" strike="noStrike">
              <a:solidFill>
                <a:schemeClr val="dk1"/>
              </a:solidFill>
              <a:latin typeface="Montserrat"/>
              <a:ea typeface="Montserrat"/>
              <a:cs typeface="Montserrat"/>
              <a:sym typeface="Montserrat"/>
            </a:endParaRPr>
          </a:p>
        </p:txBody>
      </p:sp>
      <p:sp>
        <p:nvSpPr>
          <p:cNvPr id="154" name="Google Shape;154;p4"/>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sz="1000"/>
              <a:t>‹#›</a:t>
            </a:fld>
            <a:endParaRPr sz="10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5"/>
          <p:cNvSpPr/>
          <p:nvPr/>
        </p:nvSpPr>
        <p:spPr>
          <a:xfrm>
            <a:off x="223850" y="640050"/>
            <a:ext cx="8690100" cy="4095600"/>
          </a:xfrm>
          <a:prstGeom prst="snip1Rect">
            <a:avLst>
              <a:gd fmla="val 16333"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t" bIns="0" lIns="121875" spcFirstLastPara="1" rIns="121875" wrap="square" tIns="0">
            <a:noAutofit/>
          </a:bodyPr>
          <a:lstStyle/>
          <a:p>
            <a:pPr>
              <a:spcAft>
                <a:spcPts val="200"/>
              </a:spcAft>
            </a:pPr>
            <a:r>
              <a:rPr sz="1000"/>
              <a:t>The requirements specify that the home page must display blog creation and publishing features, include language selection, and provide monetization through Google AdSense. The content policy page must support search functionality, language selection, and include detailed content guidelines and moderation policies. All requirements are marked as mandatory, indicating they are critical to the platform's functionality and user experience.</a:t>
            </a:r>
          </a:p>
        </p:txBody>
      </p:sp>
      <p:cxnSp>
        <p:nvCxnSpPr>
          <p:cNvPr id="160" name="Google Shape;160;p5"/>
          <p:cNvCxnSpPr/>
          <p:nvPr/>
        </p:nvCxnSpPr>
        <p:spPr>
          <a:xfrm>
            <a:off x="246344" y="650407"/>
            <a:ext cx="0" cy="4095600"/>
          </a:xfrm>
          <a:prstGeom prst="straightConnector1">
            <a:avLst/>
          </a:prstGeom>
          <a:noFill/>
          <a:ln cap="flat" cmpd="sng" w="19050">
            <a:solidFill>
              <a:srgbClr val="12519C"/>
            </a:solidFill>
            <a:prstDash val="solid"/>
            <a:round/>
            <a:headEnd len="sm" w="sm" type="none"/>
            <a:tailEnd len="sm" w="sm" type="none"/>
          </a:ln>
        </p:spPr>
      </p:cxnSp>
      <p:sp>
        <p:nvSpPr>
          <p:cNvPr id="161" name="Google Shape;161;p5"/>
          <p:cNvSpPr txBox="1"/>
          <p:nvPr>
            <p:ph type="title"/>
          </p:nvPr>
        </p:nvSpPr>
        <p:spPr>
          <a:xfrm>
            <a:off x="104500" y="141850"/>
            <a:ext cx="7723200" cy="3573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000"/>
              <a:buNone/>
            </a:pPr>
            <a:r>
              <a:rPr lang="en">
                <a:solidFill>
                  <a:schemeClr val="dk1"/>
                </a:solidFill>
              </a:rPr>
              <a:t>Our Understanding of Requirements</a:t>
            </a:r>
            <a:endParaRPr/>
          </a:p>
        </p:txBody>
      </p:sp>
      <p:sp>
        <p:nvSpPr>
          <p:cNvPr id="162" name="Google Shape;162;p5"/>
          <p:cNvSpPr txBox="1"/>
          <p:nvPr/>
        </p:nvSpPr>
        <p:spPr>
          <a:xfrm>
            <a:off x="258325" y="782225"/>
            <a:ext cx="8127900" cy="3924900"/>
          </a:xfrm>
          <a:prstGeom prst="rect">
            <a:avLst/>
          </a:prstGeom>
          <a:noFill/>
          <a:ln>
            <a:noFill/>
          </a:ln>
        </p:spPr>
        <p:txBody>
          <a:bodyPr anchorCtr="0" anchor="t" bIns="91425" lIns="91425" spcFirstLastPara="1" rIns="91425" wrap="square" tIns="91425">
            <a:spAutoFit/>
          </a:bodyPr>
          <a:lstStyle/>
          <a:p>
            <a:pPr indent="-285750" lvl="0" marL="457200" marR="0" rtl="0" algn="l">
              <a:lnSpc>
                <a:spcPct val="200000"/>
              </a:lnSpc>
              <a:spcBef>
                <a:spcPts val="0"/>
              </a:spcBef>
              <a:spcAft>
                <a:spcPts val="0"/>
              </a:spcAft>
              <a:buClr>
                <a:schemeClr val="accent1"/>
              </a:buClr>
              <a:buSzPts val="900"/>
              <a:buFont typeface="Montserrat"/>
              <a:buChar char="●"/>
            </a:pPr>
            <a:endParaRPr b="0" i="0" sz="900" u="none" cap="none" strike="noStrike">
              <a:solidFill>
                <a:schemeClr val="dk1"/>
              </a:solidFill>
              <a:latin typeface="Montserrat"/>
              <a:ea typeface="Montserrat"/>
              <a:cs typeface="Montserrat"/>
              <a:sym typeface="Montserrat"/>
            </a:endParaRPr>
          </a:p>
        </p:txBody>
      </p:sp>
      <p:sp>
        <p:nvSpPr>
          <p:cNvPr id="163" name="Google Shape;163;p5"/>
          <p:cNvSpPr txBox="1"/>
          <p:nvPr>
            <p:ph idx="12" type="sldNum"/>
          </p:nvPr>
        </p:nvSpPr>
        <p:spPr>
          <a:xfrm>
            <a:off x="8556784" y="6333134"/>
            <a:ext cx="548700" cy="5250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800"/>
              <a:buNone/>
            </a:pPr>
            <a:fld id="{00000000-1234-1234-1234-123412341234}" type="slidenum">
              <a:rPr lang="en" sz="800"/>
              <a:t>‹#›</a:t>
            </a:fld>
            <a:endParaRPr sz="800"/>
          </a:p>
        </p:txBody>
      </p:sp>
      <p:sp>
        <p:nvSpPr>
          <p:cNvPr id="164" name="Google Shape;164;p5"/>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sz="1000"/>
              <a:t>‹#›</a:t>
            </a:fld>
            <a:endParaRPr sz="10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6"/>
          <p:cNvSpPr txBox="1"/>
          <p:nvPr>
            <p:ph type="title"/>
          </p:nvPr>
        </p:nvSpPr>
        <p:spPr>
          <a:xfrm>
            <a:off x="104500" y="141850"/>
            <a:ext cx="7723200" cy="3573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000"/>
              <a:buNone/>
            </a:pPr>
            <a:r>
              <a:rPr lang="en">
                <a:solidFill>
                  <a:schemeClr val="dk1"/>
                </a:solidFill>
              </a:rPr>
              <a:t>Key Application Modules </a:t>
            </a:r>
            <a:endParaRPr>
              <a:solidFill>
                <a:schemeClr val="dk1"/>
              </a:solidFill>
            </a:endParaRPr>
          </a:p>
        </p:txBody>
      </p:sp>
      <p:sp>
        <p:nvSpPr>
          <p:cNvPr id="170" name="Google Shape;170;p6"/>
          <p:cNvSpPr/>
          <p:nvPr/>
        </p:nvSpPr>
        <p:spPr>
          <a:xfrm>
            <a:off x="3204902" y="706239"/>
            <a:ext cx="2734200" cy="2008800"/>
          </a:xfrm>
          <a:prstGeom prst="snip1Rect">
            <a:avLst>
              <a:gd fmla="val 12360"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t" bIns="91425" lIns="91425" spcFirstLastPara="1" rIns="91425" wrap="square" tIns="91425">
            <a:noAutofit/>
          </a:bodyPr>
          <a:lstStyle/>
          <a:p>
            <a:pPr>
              <a:spcAft>
                <a:spcPts val="200"/>
              </a:spcAft>
            </a:pPr>
            <a:r>
              <a:rPr sz="1000"/>
              <a:t>The content policy page will be designed with robust search functionality, clear guidelines, and moderation policies.</a:t>
            </a:r>
          </a:p>
        </p:txBody>
      </p:sp>
      <p:sp>
        <p:nvSpPr>
          <p:cNvPr id="171" name="Google Shape;171;p6"/>
          <p:cNvSpPr/>
          <p:nvPr/>
        </p:nvSpPr>
        <p:spPr>
          <a:xfrm>
            <a:off x="299125" y="706239"/>
            <a:ext cx="2734200" cy="2008800"/>
          </a:xfrm>
          <a:prstGeom prst="snip1Rect">
            <a:avLst>
              <a:gd fmla="val 12360"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t" bIns="91425" lIns="91425" spcFirstLastPara="1" rIns="91425" wrap="square" tIns="91425">
            <a:noAutofit/>
          </a:bodyPr>
          <a:lstStyle/>
          <a:p>
            <a:pPr>
              <a:spcAft>
                <a:spcPts val="200"/>
              </a:spcAft>
            </a:pPr>
            <a:r>
              <a:rPr sz="1000"/>
              <a:t>It will include a user-friendly interface with language selection and clear call-to-action elements.</a:t>
            </a:r>
          </a:p>
        </p:txBody>
      </p:sp>
      <p:cxnSp>
        <p:nvCxnSpPr>
          <p:cNvPr id="172" name="Google Shape;172;p6"/>
          <p:cNvCxnSpPr/>
          <p:nvPr/>
        </p:nvCxnSpPr>
        <p:spPr>
          <a:xfrm>
            <a:off x="299130" y="706238"/>
            <a:ext cx="0" cy="2007300"/>
          </a:xfrm>
          <a:prstGeom prst="straightConnector1">
            <a:avLst/>
          </a:prstGeom>
          <a:noFill/>
          <a:ln cap="flat" cmpd="sng" w="19050">
            <a:solidFill>
              <a:srgbClr val="12519C"/>
            </a:solidFill>
            <a:prstDash val="solid"/>
            <a:round/>
            <a:headEnd len="sm" w="sm" type="none"/>
            <a:tailEnd len="sm" w="sm" type="none"/>
          </a:ln>
        </p:spPr>
      </p:cxnSp>
      <p:cxnSp>
        <p:nvCxnSpPr>
          <p:cNvPr id="173" name="Google Shape;173;p6"/>
          <p:cNvCxnSpPr/>
          <p:nvPr/>
        </p:nvCxnSpPr>
        <p:spPr>
          <a:xfrm>
            <a:off x="3204907" y="706238"/>
            <a:ext cx="0" cy="2007300"/>
          </a:xfrm>
          <a:prstGeom prst="straightConnector1">
            <a:avLst/>
          </a:prstGeom>
          <a:noFill/>
          <a:ln cap="flat" cmpd="sng" w="19050">
            <a:solidFill>
              <a:srgbClr val="12519C"/>
            </a:solidFill>
            <a:prstDash val="solid"/>
            <a:round/>
            <a:headEnd len="sm" w="sm" type="none"/>
            <a:tailEnd len="sm" w="sm" type="none"/>
          </a:ln>
        </p:spPr>
      </p:cxnSp>
      <p:sp>
        <p:nvSpPr>
          <p:cNvPr id="174" name="Google Shape;174;p6"/>
          <p:cNvSpPr/>
          <p:nvPr/>
        </p:nvSpPr>
        <p:spPr>
          <a:xfrm>
            <a:off x="6110675" y="704926"/>
            <a:ext cx="2734200" cy="2008800"/>
          </a:xfrm>
          <a:prstGeom prst="snip1Rect">
            <a:avLst>
              <a:gd fmla="val 12360"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t" bIns="91425" lIns="91425" spcFirstLastPara="1" rIns="91425" wrap="square" tIns="91425">
            <a:noAutofit/>
          </a:bodyPr>
          <a:lstStyle/>
          <a:p>
            <a:pPr>
              <a:spcAft>
                <a:spcPts val="200"/>
              </a:spcAft>
            </a:pPr>
            <a:r>
              <a:rPr sz="1000"/>
              <a:t>The proposed solution will deliver a modern, scalable platform that supports blog creation, publishing, and monetization through Google AdSense.</a:t>
            </a:r>
          </a:p>
        </p:txBody>
      </p:sp>
      <p:cxnSp>
        <p:nvCxnSpPr>
          <p:cNvPr id="175" name="Google Shape;175;p6"/>
          <p:cNvCxnSpPr/>
          <p:nvPr/>
        </p:nvCxnSpPr>
        <p:spPr>
          <a:xfrm>
            <a:off x="6110681" y="704925"/>
            <a:ext cx="0" cy="2007300"/>
          </a:xfrm>
          <a:prstGeom prst="straightConnector1">
            <a:avLst/>
          </a:prstGeom>
          <a:noFill/>
          <a:ln cap="flat" cmpd="sng" w="19050">
            <a:solidFill>
              <a:srgbClr val="12519C"/>
            </a:solidFill>
            <a:prstDash val="solid"/>
            <a:round/>
            <a:headEnd len="sm" w="sm" type="none"/>
            <a:tailEnd len="sm" w="sm" type="none"/>
          </a:ln>
        </p:spPr>
      </p:cxnSp>
      <p:sp>
        <p:nvSpPr>
          <p:cNvPr id="176" name="Google Shape;176;p6"/>
          <p:cNvSpPr/>
          <p:nvPr/>
        </p:nvSpPr>
        <p:spPr>
          <a:xfrm>
            <a:off x="299125" y="2942679"/>
            <a:ext cx="2734200" cy="2008800"/>
          </a:xfrm>
          <a:prstGeom prst="snip1Rect">
            <a:avLst>
              <a:gd fmla="val 12360"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
              <a:buFont typeface="Arial"/>
              <a:buNone/>
            </a:pPr>
            <a:endParaRPr b="0" i="0" sz="1000" u="none" cap="none" strike="noStrike">
              <a:solidFill>
                <a:schemeClr val="accent3"/>
              </a:solidFill>
              <a:latin typeface="Montserrat SemiBold"/>
              <a:ea typeface="Montserrat SemiBold"/>
              <a:cs typeface="Montserrat SemiBold"/>
              <a:sym typeface="Montserrat SemiBold"/>
            </a:endParaRPr>
          </a:p>
        </p:txBody>
      </p:sp>
      <p:cxnSp>
        <p:nvCxnSpPr>
          <p:cNvPr id="177" name="Google Shape;177;p6"/>
          <p:cNvCxnSpPr/>
          <p:nvPr/>
        </p:nvCxnSpPr>
        <p:spPr>
          <a:xfrm>
            <a:off x="299130" y="2942678"/>
            <a:ext cx="0" cy="2007300"/>
          </a:xfrm>
          <a:prstGeom prst="straightConnector1">
            <a:avLst/>
          </a:prstGeom>
          <a:noFill/>
          <a:ln cap="flat" cmpd="sng" w="19050">
            <a:solidFill>
              <a:srgbClr val="12519C"/>
            </a:solidFill>
            <a:prstDash val="solid"/>
            <a:round/>
            <a:headEnd len="sm" w="sm" type="none"/>
            <a:tailEnd len="sm" w="sm" type="none"/>
          </a:ln>
        </p:spPr>
      </p:cxnSp>
      <p:sp>
        <p:nvSpPr>
          <p:cNvPr id="178" name="Google Shape;178;p6"/>
          <p:cNvSpPr/>
          <p:nvPr/>
        </p:nvSpPr>
        <p:spPr>
          <a:xfrm>
            <a:off x="3204902" y="2942679"/>
            <a:ext cx="2734200" cy="2008800"/>
          </a:xfrm>
          <a:prstGeom prst="snip1Rect">
            <a:avLst>
              <a:gd fmla="val 12360"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
              <a:buFont typeface="Arial"/>
              <a:buNone/>
            </a:pPr>
            <a:endParaRPr b="0" i="0" sz="1100" u="none" cap="none" strike="noStrike">
              <a:solidFill>
                <a:schemeClr val="accent3"/>
              </a:solidFill>
              <a:latin typeface="Montserrat SemiBold"/>
              <a:ea typeface="Montserrat SemiBold"/>
              <a:cs typeface="Montserrat SemiBold"/>
              <a:sym typeface="Montserrat SemiBold"/>
            </a:endParaRPr>
          </a:p>
        </p:txBody>
      </p:sp>
      <p:cxnSp>
        <p:nvCxnSpPr>
          <p:cNvPr id="179" name="Google Shape;179;p6"/>
          <p:cNvCxnSpPr/>
          <p:nvPr/>
        </p:nvCxnSpPr>
        <p:spPr>
          <a:xfrm>
            <a:off x="3204907" y="2942678"/>
            <a:ext cx="0" cy="2007300"/>
          </a:xfrm>
          <a:prstGeom prst="straightConnector1">
            <a:avLst/>
          </a:prstGeom>
          <a:noFill/>
          <a:ln cap="flat" cmpd="sng" w="19050">
            <a:solidFill>
              <a:srgbClr val="12519C"/>
            </a:solidFill>
            <a:prstDash val="solid"/>
            <a:round/>
            <a:headEnd len="sm" w="sm" type="none"/>
            <a:tailEnd len="sm" w="sm" type="none"/>
          </a:ln>
        </p:spPr>
      </p:cxnSp>
      <p:sp>
        <p:nvSpPr>
          <p:cNvPr id="180" name="Google Shape;180;p6"/>
          <p:cNvSpPr/>
          <p:nvPr/>
        </p:nvSpPr>
        <p:spPr>
          <a:xfrm>
            <a:off x="6110675" y="2941366"/>
            <a:ext cx="2734200" cy="2008800"/>
          </a:xfrm>
          <a:prstGeom prst="snip1Rect">
            <a:avLst>
              <a:gd fmla="val 12360"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t" bIns="91425" lIns="91425" spcFirstLastPara="1" rIns="91425" wrap="square" tIns="91425">
            <a:noAutofit/>
          </a:bodyPr>
          <a:lstStyle/>
          <a:p>
            <a:pPr>
              <a:spcAft>
                <a:spcPts val="200"/>
              </a:spcAft>
            </a:pPr>
            <a:r>
              <a:rPr sz="1000"/>
              <a:t>The solution will ensure compliance with all mandatory requirements while providing a secure and engaging user experience.</a:t>
            </a:r>
          </a:p>
        </p:txBody>
      </p:sp>
      <p:cxnSp>
        <p:nvCxnSpPr>
          <p:cNvPr id="181" name="Google Shape;181;p6"/>
          <p:cNvCxnSpPr/>
          <p:nvPr/>
        </p:nvCxnSpPr>
        <p:spPr>
          <a:xfrm>
            <a:off x="6110681" y="2941365"/>
            <a:ext cx="0" cy="2007300"/>
          </a:xfrm>
          <a:prstGeom prst="straightConnector1">
            <a:avLst/>
          </a:prstGeom>
          <a:noFill/>
          <a:ln cap="flat" cmpd="sng" w="19050">
            <a:solidFill>
              <a:srgbClr val="12519C"/>
            </a:solidFill>
            <a:prstDash val="solid"/>
            <a:round/>
            <a:headEnd len="sm" w="sm" type="none"/>
            <a:tailEnd len="sm" w="sm" type="none"/>
          </a:ln>
        </p:spPr>
      </p:cxnSp>
      <p:sp>
        <p:nvSpPr>
          <p:cNvPr id="182" name="Google Shape;182;p6"/>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sz="1000"/>
              <a:t>‹#›</a:t>
            </a:fld>
            <a:endParaRPr sz="10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7"/>
          <p:cNvSpPr txBox="1"/>
          <p:nvPr>
            <p:ph type="title"/>
          </p:nvPr>
        </p:nvSpPr>
        <p:spPr>
          <a:xfrm>
            <a:off x="104500" y="141850"/>
            <a:ext cx="7723200" cy="3573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000"/>
              <a:buNone/>
            </a:pPr>
            <a:r>
              <a:rPr lang="en">
                <a:solidFill>
                  <a:schemeClr val="dk1"/>
                </a:solidFill>
              </a:rPr>
              <a:t>Non Functional Requirements</a:t>
            </a:r>
            <a:endParaRPr>
              <a:solidFill>
                <a:schemeClr val="dk1"/>
              </a:solidFill>
            </a:endParaRPr>
          </a:p>
        </p:txBody>
      </p:sp>
      <p:sp>
        <p:nvSpPr>
          <p:cNvPr id="188" name="Google Shape;188;p7"/>
          <p:cNvSpPr txBox="1"/>
          <p:nvPr>
            <p:ph idx="12" type="sldNum"/>
          </p:nvPr>
        </p:nvSpPr>
        <p:spPr>
          <a:xfrm>
            <a:off x="8556784" y="6333134"/>
            <a:ext cx="548700" cy="5250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800"/>
              <a:buNone/>
            </a:pPr>
            <a:fld id="{00000000-1234-1234-1234-123412341234}" type="slidenum">
              <a:rPr lang="en" sz="800"/>
              <a:t>‹#›</a:t>
            </a:fld>
            <a:endParaRPr sz="800"/>
          </a:p>
        </p:txBody>
      </p:sp>
      <p:sp>
        <p:nvSpPr>
          <p:cNvPr id="189" name="Google Shape;189;p7"/>
          <p:cNvSpPr/>
          <p:nvPr/>
        </p:nvSpPr>
        <p:spPr>
          <a:xfrm>
            <a:off x="347850" y="904575"/>
            <a:ext cx="8442300" cy="3878700"/>
          </a:xfrm>
          <a:prstGeom prst="snip1Rect">
            <a:avLst>
              <a:gd fmla="val 12360"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t" bIns="0" lIns="91425" spcFirstLastPara="1" rIns="91425" wrap="square" tIns="0">
            <a:noAutofit/>
          </a:bodyPr>
          <a:lstStyle/>
          <a:p>
            <a:pPr>
              <a:spcAft>
                <a:spcPts val="200"/>
              </a:spcAft>
            </a:pPr>
            <a:r>
              <a:rPr sz="1000"/>
              <a:t>Compliance with GDPR and other data protection regulations will be ensured.</a:t>
            </a:r>
          </a:p>
          <a:p>
            <a:pPr>
              <a:spcAft>
                <a:spcPts val="200"/>
              </a:spcAft>
            </a:pPr>
            <a:r>
              <a:rPr sz="1000"/>
              <a:t>Regular security audits and penetration testing will be conducted.</a:t>
            </a:r>
          </a:p>
          <a:p>
            <a:pPr>
              <a:spcAft>
                <a:spcPts val="200"/>
              </a:spcAft>
            </a:pPr>
            <a:r>
              <a:rPr sz="1000"/>
              <a:t>Data encryption in transit and at rest will be implemented.</a:t>
            </a:r>
          </a:p>
        </p:txBody>
      </p:sp>
      <p:cxnSp>
        <p:nvCxnSpPr>
          <p:cNvPr id="190" name="Google Shape;190;p7"/>
          <p:cNvCxnSpPr/>
          <p:nvPr/>
        </p:nvCxnSpPr>
        <p:spPr>
          <a:xfrm>
            <a:off x="353817" y="911950"/>
            <a:ext cx="14400" cy="3842100"/>
          </a:xfrm>
          <a:prstGeom prst="straightConnector1">
            <a:avLst/>
          </a:prstGeom>
          <a:noFill/>
          <a:ln cap="flat" cmpd="sng" w="19050">
            <a:solidFill>
              <a:srgbClr val="12519C"/>
            </a:solidFill>
            <a:prstDash val="solid"/>
            <a:round/>
            <a:headEnd len="sm" w="sm" type="none"/>
            <a:tailEnd len="sm" w="sm" type="none"/>
          </a:ln>
        </p:spPr>
      </p:cxnSp>
      <p:sp>
        <p:nvSpPr>
          <p:cNvPr id="191" name="Google Shape;191;p7"/>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228600" lvl="0" marL="342900" marR="0" rtl="0" algn="l">
              <a:lnSpc>
                <a:spcPct val="200000"/>
              </a:lnSpc>
              <a:spcBef>
                <a:spcPts val="0"/>
              </a:spcBef>
              <a:spcAft>
                <a:spcPts val="0"/>
              </a:spcAft>
              <a:buClr>
                <a:srgbClr val="E7E6E6"/>
              </a:buClr>
              <a:buSzPts val="1000"/>
              <a:buFont typeface="Montserrat"/>
              <a:buChar char="●"/>
            </a:pPr>
            <a:fld id="{00000000-1234-1234-1234-123412341234}" type="slidenum">
              <a:rPr lang="en" sz="1000"/>
              <a:t>‹#›</a:t>
            </a:fld>
            <a:endParaRPr sz="10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8"/>
          <p:cNvSpPr txBox="1"/>
          <p:nvPr>
            <p:ph type="title"/>
          </p:nvPr>
        </p:nvSpPr>
        <p:spPr>
          <a:xfrm>
            <a:off x="104500" y="141850"/>
            <a:ext cx="7723200" cy="3573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000"/>
              <a:buNone/>
            </a:pPr>
            <a:r>
              <a:rPr lang="en">
                <a:solidFill>
                  <a:schemeClr val="dk1"/>
                </a:solidFill>
              </a:rPr>
              <a:t>Non Functional Requirements</a:t>
            </a:r>
            <a:endParaRPr>
              <a:solidFill>
                <a:schemeClr val="dk1"/>
              </a:solidFill>
            </a:endParaRPr>
          </a:p>
        </p:txBody>
      </p:sp>
      <p:sp>
        <p:nvSpPr>
          <p:cNvPr id="197" name="Google Shape;197;p8"/>
          <p:cNvSpPr txBox="1"/>
          <p:nvPr>
            <p:ph idx="12" type="sldNum"/>
          </p:nvPr>
        </p:nvSpPr>
        <p:spPr>
          <a:xfrm>
            <a:off x="8556784" y="6333134"/>
            <a:ext cx="548700" cy="5250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800"/>
              <a:buNone/>
            </a:pPr>
            <a:fld id="{00000000-1234-1234-1234-123412341234}" type="slidenum">
              <a:rPr lang="en" sz="800"/>
              <a:t>‹#›</a:t>
            </a:fld>
            <a:endParaRPr sz="800"/>
          </a:p>
        </p:txBody>
      </p:sp>
      <p:sp>
        <p:nvSpPr>
          <p:cNvPr id="198" name="Google Shape;198;p8"/>
          <p:cNvSpPr/>
          <p:nvPr/>
        </p:nvSpPr>
        <p:spPr>
          <a:xfrm>
            <a:off x="347850" y="904575"/>
            <a:ext cx="8442300" cy="3878700"/>
          </a:xfrm>
          <a:prstGeom prst="snip1Rect">
            <a:avLst>
              <a:gd fmla="val 12360"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t" bIns="0" lIns="91425" spcFirstLastPara="1" rIns="91425" wrap="square" tIns="0">
            <a:noAutofit/>
          </a:bodyPr>
          <a:lstStyle/>
          <a:p>
            <a:pPr>
              <a:spcAft>
                <a:spcPts val="200"/>
              </a:spcAft>
            </a:pPr>
            <a:r>
              <a:rPr sz="1000"/>
              <a:t>Component | Key consideration</a:t>
            </a:r>
          </a:p>
          <a:p>
            <a:pPr>
              <a:spcAft>
                <a:spcPts val="200"/>
              </a:spcAft>
            </a:pPr>
            <a:r>
              <a:rPr sz="1000"/>
              <a:t>Language Selection UI | Implement a dropdown or toggle menu for language selection</a:t>
            </a:r>
          </a:p>
          <a:p>
            <a:pPr>
              <a:spcAft>
                <a:spcPts val="200"/>
              </a:spcAft>
            </a:pPr>
            <a:r>
              <a:rPr sz="1000"/>
              <a:t>Search Functionality | Use backend search API with full-text search capabilities</a:t>
            </a:r>
          </a:p>
          <a:p>
            <a:pPr>
              <a:spcAft>
                <a:spcPts val="200"/>
              </a:spcAft>
            </a:pPr>
            <a:r>
              <a:rPr sz="1000"/>
              <a:t>Content Moderation | Integrate with third-party moderation tools for policy enforcement</a:t>
            </a:r>
          </a:p>
          <a:p>
            <a:pPr>
              <a:spcAft>
                <a:spcPts val="200"/>
              </a:spcAft>
            </a:pPr>
            <a:r>
              <a:rPr sz="1000"/>
              <a:t>Analytics Integration | Use Google Analytics API for real-time data tracking</a:t>
            </a:r>
          </a:p>
          <a:p>
            <a:pPr>
              <a:spcAft>
                <a:spcPts val="200"/>
              </a:spcAft>
            </a:pPr>
            <a:r>
              <a:rPr sz="1000"/>
              <a:t>Backup System | Implement cloud-based storage with automated backup schedules</a:t>
            </a:r>
          </a:p>
          <a:p>
            <a:pPr>
              <a:spcAft>
                <a:spcPts val="200"/>
              </a:spcAft>
            </a:pPr>
            <a:r>
              <a:rPr sz="1000"/>
              <a:t>Monetization Integration | Use AdSense API for ad placement and revenue tracking</a:t>
            </a:r>
          </a:p>
        </p:txBody>
      </p:sp>
      <p:cxnSp>
        <p:nvCxnSpPr>
          <p:cNvPr id="199" name="Google Shape;199;p8"/>
          <p:cNvCxnSpPr/>
          <p:nvPr/>
        </p:nvCxnSpPr>
        <p:spPr>
          <a:xfrm>
            <a:off x="353817" y="911950"/>
            <a:ext cx="14400" cy="3842100"/>
          </a:xfrm>
          <a:prstGeom prst="straightConnector1">
            <a:avLst/>
          </a:prstGeom>
          <a:noFill/>
          <a:ln cap="flat" cmpd="sng" w="19050">
            <a:solidFill>
              <a:srgbClr val="12519C"/>
            </a:solidFill>
            <a:prstDash val="solid"/>
            <a:round/>
            <a:headEnd len="sm" w="sm" type="none"/>
            <a:tailEnd len="sm" w="sm" type="none"/>
          </a:ln>
        </p:spPr>
      </p:cxnSp>
      <p:sp>
        <p:nvSpPr>
          <p:cNvPr id="200" name="Google Shape;200;p8"/>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228600" lvl="0" marL="342900" marR="0" rtl="0" algn="l">
              <a:lnSpc>
                <a:spcPct val="200000"/>
              </a:lnSpc>
              <a:spcBef>
                <a:spcPts val="0"/>
              </a:spcBef>
              <a:spcAft>
                <a:spcPts val="0"/>
              </a:spcAft>
              <a:buClr>
                <a:srgbClr val="E7E6E6"/>
              </a:buClr>
              <a:buSzPts val="1000"/>
              <a:buFont typeface="Montserrat"/>
              <a:buChar char="●"/>
            </a:pPr>
            <a:fld id="{00000000-1234-1234-1234-123412341234}" type="slidenum">
              <a:rPr lang="en" sz="1000"/>
              <a:t>‹#›</a:t>
            </a:fld>
            <a:endParaRPr sz="10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9"/>
          <p:cNvSpPr/>
          <p:nvPr/>
        </p:nvSpPr>
        <p:spPr>
          <a:xfrm>
            <a:off x="0" y="144000"/>
            <a:ext cx="47400" cy="3573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6" name="Google Shape;206;p9"/>
          <p:cNvSpPr txBox="1"/>
          <p:nvPr>
            <p:ph type="title"/>
          </p:nvPr>
        </p:nvSpPr>
        <p:spPr>
          <a:xfrm>
            <a:off x="104500" y="141850"/>
            <a:ext cx="7426200" cy="3573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000"/>
              <a:buNone/>
            </a:pPr>
            <a:r>
              <a:rPr lang="en">
                <a:solidFill>
                  <a:schemeClr val="dk1"/>
                </a:solidFill>
              </a:rPr>
              <a:t>Key Assumptions and Dependencies</a:t>
            </a:r>
            <a:endParaRPr/>
          </a:p>
        </p:txBody>
      </p:sp>
      <p:sp>
        <p:nvSpPr>
          <p:cNvPr id="207" name="Google Shape;207;p9"/>
          <p:cNvSpPr/>
          <p:nvPr/>
        </p:nvSpPr>
        <p:spPr>
          <a:xfrm>
            <a:off x="223850" y="746325"/>
            <a:ext cx="8690100" cy="4003500"/>
          </a:xfrm>
          <a:prstGeom prst="snip1Rect">
            <a:avLst>
              <a:gd fmla="val 16333"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t" bIns="121875" lIns="121875" spcFirstLastPara="1" rIns="121875" wrap="square" tIns="27425">
            <a:noAutofit/>
          </a:bodyPr>
          <a:lstStyle/>
          <a:p>
            <a:pPr>
              <a:spcAft>
                <a:spcPts val="200"/>
              </a:spcAft>
            </a:pPr>
            <a:r>
              <a:rPr sz="1000"/>
              <a:t>The customer will provide access to necessary systems and data for verification.</a:t>
            </a:r>
          </a:p>
          <a:p>
            <a:pPr>
              <a:spcAft>
                <a:spcPts val="200"/>
              </a:spcAft>
            </a:pPr>
            <a:r>
              <a:rPr sz="1000"/>
              <a:t>All requirements are based on the current state of the website and may change with future updates.</a:t>
            </a:r>
          </a:p>
          <a:p>
            <a:pPr>
              <a:spcAft>
                <a:spcPts val="200"/>
              </a:spcAft>
            </a:pPr>
            <a:r>
              <a:rPr sz="1000"/>
              <a:t>Language selection and search functionality will be implemented using standard web technologies.</a:t>
            </a:r>
          </a:p>
        </p:txBody>
      </p:sp>
      <p:cxnSp>
        <p:nvCxnSpPr>
          <p:cNvPr id="208" name="Google Shape;208;p9"/>
          <p:cNvCxnSpPr/>
          <p:nvPr/>
        </p:nvCxnSpPr>
        <p:spPr>
          <a:xfrm flipH="1">
            <a:off x="243425" y="736325"/>
            <a:ext cx="10200" cy="3997800"/>
          </a:xfrm>
          <a:prstGeom prst="straightConnector1">
            <a:avLst/>
          </a:prstGeom>
          <a:noFill/>
          <a:ln cap="flat" cmpd="sng" w="19050">
            <a:solidFill>
              <a:srgbClr val="12519C"/>
            </a:solidFill>
            <a:prstDash val="solid"/>
            <a:round/>
            <a:headEnd len="sm" w="sm" type="none"/>
            <a:tailEnd len="sm" w="sm" type="none"/>
          </a:ln>
        </p:spPr>
      </p:cxnSp>
      <p:sp>
        <p:nvSpPr>
          <p:cNvPr id="209" name="Google Shape;209;p9"/>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sz="1000"/>
              <a:t>‹#›</a:t>
            </a:fld>
            <a:endParaRPr sz="10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10"/>
          <p:cNvSpPr/>
          <p:nvPr/>
        </p:nvSpPr>
        <p:spPr>
          <a:xfrm>
            <a:off x="0" y="144000"/>
            <a:ext cx="47400" cy="3573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5" name="Google Shape;215;p10"/>
          <p:cNvSpPr txBox="1"/>
          <p:nvPr>
            <p:ph type="title"/>
          </p:nvPr>
        </p:nvSpPr>
        <p:spPr>
          <a:xfrm>
            <a:off x="104500" y="141850"/>
            <a:ext cx="7426200" cy="3573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000"/>
              <a:buNone/>
            </a:pPr>
            <a:r>
              <a:rPr lang="en">
                <a:solidFill>
                  <a:schemeClr val="dk1"/>
                </a:solidFill>
              </a:rPr>
              <a:t>In Scope and Out of Scope</a:t>
            </a:r>
            <a:endParaRPr/>
          </a:p>
        </p:txBody>
      </p:sp>
      <p:sp>
        <p:nvSpPr>
          <p:cNvPr id="216" name="Google Shape;216;p10"/>
          <p:cNvSpPr/>
          <p:nvPr/>
        </p:nvSpPr>
        <p:spPr>
          <a:xfrm>
            <a:off x="396575" y="1028850"/>
            <a:ext cx="4084800" cy="3675900"/>
          </a:xfrm>
          <a:prstGeom prst="snip1Rect">
            <a:avLst>
              <a:gd fmla="val 7022"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800"/>
              <a:buFont typeface="Arial"/>
              <a:buNone/>
            </a:pPr>
            <a:r>
              <a:t/>
            </a:r>
            <a:endParaRPr b="0" i="0" sz="800" u="none" cap="none" strike="noStrike">
              <a:solidFill>
                <a:srgbClr val="000000"/>
              </a:solidFill>
              <a:latin typeface="Montserrat"/>
              <a:ea typeface="Montserrat"/>
              <a:cs typeface="Montserrat"/>
              <a:sym typeface="Montserrat"/>
            </a:endParaRPr>
          </a:p>
        </p:txBody>
      </p:sp>
      <p:sp>
        <p:nvSpPr>
          <p:cNvPr id="217" name="Google Shape;217;p10"/>
          <p:cNvSpPr/>
          <p:nvPr/>
        </p:nvSpPr>
        <p:spPr>
          <a:xfrm>
            <a:off x="400818" y="898163"/>
            <a:ext cx="4084800" cy="476100"/>
          </a:xfrm>
          <a:prstGeom prst="snip1Rect">
            <a:avLst>
              <a:gd fmla="val 21756" name="adj"/>
            </a:avLst>
          </a:prstGeom>
          <a:solidFill>
            <a:srgbClr val="F0EFFF"/>
          </a:solid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en" sz="1100" u="none" cap="none" strike="noStrike">
                <a:solidFill>
                  <a:srgbClr val="6F3A93"/>
                </a:solidFill>
                <a:latin typeface="Montserrat"/>
                <a:ea typeface="Montserrat"/>
                <a:cs typeface="Montserrat"/>
                <a:sym typeface="Montserrat"/>
              </a:rPr>
              <a:t>In Scope</a:t>
            </a:r>
            <a:endParaRPr b="1" i="0" sz="1100" u="none" cap="none" strike="noStrike">
              <a:solidFill>
                <a:srgbClr val="6F3A93"/>
              </a:solidFill>
              <a:latin typeface="Montserrat"/>
              <a:ea typeface="Montserrat"/>
              <a:cs typeface="Montserrat"/>
              <a:sym typeface="Montserrat"/>
            </a:endParaRPr>
          </a:p>
        </p:txBody>
      </p:sp>
      <p:sp>
        <p:nvSpPr>
          <p:cNvPr id="218" name="Google Shape;218;p10"/>
          <p:cNvSpPr/>
          <p:nvPr/>
        </p:nvSpPr>
        <p:spPr>
          <a:xfrm>
            <a:off x="4658375" y="900350"/>
            <a:ext cx="4084800" cy="3804300"/>
          </a:xfrm>
          <a:prstGeom prst="snip1Rect">
            <a:avLst>
              <a:gd fmla="val 10616"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800"/>
              <a:buFont typeface="Arial"/>
              <a:buNone/>
            </a:pPr>
            <a:r>
              <a:t/>
            </a:r>
            <a:endParaRPr b="0" i="0" sz="800" u="none" cap="none" strike="noStrike">
              <a:solidFill>
                <a:srgbClr val="000000"/>
              </a:solidFill>
              <a:latin typeface="Montserrat"/>
              <a:ea typeface="Montserrat"/>
              <a:cs typeface="Montserrat"/>
              <a:sym typeface="Montserrat"/>
            </a:endParaRPr>
          </a:p>
        </p:txBody>
      </p:sp>
      <p:sp>
        <p:nvSpPr>
          <p:cNvPr id="219" name="Google Shape;219;p10"/>
          <p:cNvSpPr/>
          <p:nvPr/>
        </p:nvSpPr>
        <p:spPr>
          <a:xfrm>
            <a:off x="4662635" y="898172"/>
            <a:ext cx="4084800" cy="476100"/>
          </a:xfrm>
          <a:prstGeom prst="snip1Rect">
            <a:avLst>
              <a:gd fmla="val 21756" name="adj"/>
            </a:avLst>
          </a:prstGeom>
          <a:solidFill>
            <a:srgbClr val="F0EFFF"/>
          </a:solid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en" sz="1100" u="none" cap="none" strike="noStrike">
                <a:solidFill>
                  <a:srgbClr val="6F3A93"/>
                </a:solidFill>
                <a:latin typeface="Montserrat"/>
                <a:ea typeface="Montserrat"/>
                <a:cs typeface="Montserrat"/>
                <a:sym typeface="Montserrat"/>
              </a:rPr>
              <a:t>Not Estimated</a:t>
            </a:r>
            <a:endParaRPr b="1" i="0" sz="1100" u="none" cap="none" strike="noStrike">
              <a:solidFill>
                <a:srgbClr val="6F3A93"/>
              </a:solidFill>
              <a:latin typeface="Montserrat"/>
              <a:ea typeface="Montserrat"/>
              <a:cs typeface="Montserrat"/>
              <a:sym typeface="Montserrat"/>
            </a:endParaRPr>
          </a:p>
        </p:txBody>
      </p:sp>
      <p:sp>
        <p:nvSpPr>
          <p:cNvPr id="220" name="Google Shape;220;p10"/>
          <p:cNvSpPr txBox="1"/>
          <p:nvPr/>
        </p:nvSpPr>
        <p:spPr>
          <a:xfrm>
            <a:off x="4662575" y="1374275"/>
            <a:ext cx="4084800" cy="3274800"/>
          </a:xfrm>
          <a:prstGeom prst="rect">
            <a:avLst/>
          </a:prstGeom>
          <a:noFill/>
          <a:ln>
            <a:noFill/>
          </a:ln>
        </p:spPr>
        <p:txBody>
          <a:bodyPr anchorCtr="0" anchor="t" bIns="91425" lIns="91425" spcFirstLastPara="1" rIns="91425" wrap="square" tIns="91425">
            <a:spAutoFit/>
          </a:bodyPr>
          <a:lstStyle/>
          <a:p>
            <a:pPr>
              <a:spcAft>
                <a:spcPts val="200"/>
              </a:spcAft>
            </a:pPr>
            <a:r>
              <a:rPr sz="1000"/>
              <a:t>Verification of blog creation and publishing features due to lack of evidence.</a:t>
            </a:r>
          </a:p>
          <a:p>
            <a:pPr>
              <a:spcAft>
                <a:spcPts val="200"/>
              </a:spcAft>
            </a:pPr>
            <a:r>
              <a:rPr sz="1000"/>
              <a:t>Implementation of backup and storage features due to lack of evidence.</a:t>
            </a:r>
          </a:p>
          <a:p>
            <a:pPr>
              <a:spcAft>
                <a:spcPts val="200"/>
              </a:spcAft>
            </a:pPr>
            <a:r>
              <a:rPr sz="1000"/>
              <a:t>Development of analytics and Google Analytics integration due to lack of evidence.</a:t>
            </a:r>
          </a:p>
          <a:p>
            <a:pPr>
              <a:spcAft>
                <a:spcPts val="200"/>
              </a:spcAft>
            </a:pPr>
            <a:r>
              <a:rPr sz="1000"/>
              <a:t>Community guidelines and moderation policies due to lack of evidence.</a:t>
            </a:r>
          </a:p>
        </p:txBody>
      </p:sp>
      <p:sp>
        <p:nvSpPr>
          <p:cNvPr id="221" name="Google Shape;221;p10"/>
          <p:cNvSpPr txBox="1"/>
          <p:nvPr/>
        </p:nvSpPr>
        <p:spPr>
          <a:xfrm>
            <a:off x="400819" y="1406088"/>
            <a:ext cx="4084800" cy="1911600"/>
          </a:xfrm>
          <a:prstGeom prst="rect">
            <a:avLst/>
          </a:prstGeom>
          <a:noFill/>
          <a:ln>
            <a:noFill/>
          </a:ln>
        </p:spPr>
        <p:txBody>
          <a:bodyPr anchorCtr="0" anchor="t" bIns="91425" lIns="91425" spcFirstLastPara="1" rIns="91425" wrap="square" tIns="91425">
            <a:spAutoFit/>
          </a:bodyPr>
          <a:lstStyle/>
          <a:p>
            <a:pPr>
              <a:spcAft>
                <a:spcPts val="200"/>
              </a:spcAft>
            </a:pPr>
            <a:r>
              <a:rPr sz="1000"/>
              <a:t>Implementation of language selection UI control on the home page.</a:t>
            </a:r>
          </a:p>
          <a:p>
            <a:pPr>
              <a:spcAft>
                <a:spcPts val="200"/>
              </a:spcAft>
            </a:pPr>
            <a:r>
              <a:rPr sz="1000"/>
              <a:t>Development of search functionality on the content policy page.</a:t>
            </a:r>
          </a:p>
          <a:p>
            <a:pPr>
              <a:spcAft>
                <a:spcPts val="200"/>
              </a:spcAft>
            </a:pPr>
            <a:r>
              <a:rPr sz="1000"/>
              <a:t>Integration of Google AdSense for monetization.</a:t>
            </a:r>
          </a:p>
          <a:p>
            <a:pPr>
              <a:spcAft>
                <a:spcPts val="200"/>
              </a:spcAft>
            </a:pPr>
            <a:r>
              <a:rPr sz="1000"/>
              <a:t>Design of user engagement features on the home page.</a:t>
            </a:r>
          </a:p>
        </p:txBody>
      </p:sp>
      <p:sp>
        <p:nvSpPr>
          <p:cNvPr id="222" name="Google Shape;222;p10"/>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sz="1000"/>
              <a:t>‹#›</a:t>
            </a:fld>
            <a:endParaRPr sz="10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11"/>
          <p:cNvSpPr/>
          <p:nvPr/>
        </p:nvSpPr>
        <p:spPr>
          <a:xfrm>
            <a:off x="0" y="144000"/>
            <a:ext cx="47400" cy="3573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8" name="Google Shape;228;p11"/>
          <p:cNvSpPr txBox="1"/>
          <p:nvPr>
            <p:ph type="title"/>
          </p:nvPr>
        </p:nvSpPr>
        <p:spPr>
          <a:xfrm>
            <a:off x="104500" y="141850"/>
            <a:ext cx="6703800" cy="3573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000"/>
              <a:buNone/>
            </a:pPr>
            <a:r>
              <a:rPr lang="en"/>
              <a:t>Agenda</a:t>
            </a:r>
            <a:endParaRPr/>
          </a:p>
        </p:txBody>
      </p:sp>
      <p:sp>
        <p:nvSpPr>
          <p:cNvPr id="229" name="Google Shape;229;p11"/>
          <p:cNvSpPr/>
          <p:nvPr/>
        </p:nvSpPr>
        <p:spPr>
          <a:xfrm>
            <a:off x="1358763" y="1111025"/>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200"/>
              <a:buFont typeface="Arial"/>
              <a:buNone/>
            </a:pPr>
            <a:r>
              <a:rPr b="0" i="0" lang="en" sz="1200" u="none" cap="none" strike="noStrike">
                <a:solidFill>
                  <a:srgbClr val="000000"/>
                </a:solidFill>
                <a:latin typeface="Montserrat"/>
                <a:ea typeface="Montserrat"/>
                <a:cs typeface="Montserrat"/>
                <a:sym typeface="Montserrat"/>
              </a:rPr>
              <a:t>Executive Summary and Our Understanding of Project Requirements</a:t>
            </a:r>
            <a:endParaRPr b="0" i="0" sz="1200" u="none" cap="none" strike="noStrike">
              <a:solidFill>
                <a:srgbClr val="000000"/>
              </a:solidFill>
              <a:latin typeface="Montserrat"/>
              <a:ea typeface="Montserrat"/>
              <a:cs typeface="Montserrat"/>
              <a:sym typeface="Montserrat"/>
            </a:endParaRPr>
          </a:p>
        </p:txBody>
      </p:sp>
      <p:sp>
        <p:nvSpPr>
          <p:cNvPr id="230" name="Google Shape;230;p11"/>
          <p:cNvSpPr/>
          <p:nvPr/>
        </p:nvSpPr>
        <p:spPr>
          <a:xfrm>
            <a:off x="1358763" y="1678410"/>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200"/>
              <a:buFont typeface="Arial"/>
              <a:buNone/>
            </a:pPr>
            <a:r>
              <a:rPr b="1" i="0" lang="en" sz="1200" u="none" cap="none" strike="noStrike">
                <a:solidFill>
                  <a:srgbClr val="D71B7F"/>
                </a:solidFill>
                <a:latin typeface="Montserrat"/>
                <a:ea typeface="Montserrat"/>
                <a:cs typeface="Montserrat"/>
                <a:sym typeface="Montserrat"/>
              </a:rPr>
              <a:t>Proposed Technical Solution Approach</a:t>
            </a:r>
            <a:endParaRPr b="1" i="0" sz="1200" u="none" cap="none" strike="noStrike">
              <a:solidFill>
                <a:srgbClr val="D71B7F"/>
              </a:solidFill>
              <a:latin typeface="Montserrat"/>
              <a:ea typeface="Montserrat"/>
              <a:cs typeface="Montserrat"/>
              <a:sym typeface="Montserrat"/>
            </a:endParaRPr>
          </a:p>
        </p:txBody>
      </p:sp>
      <p:sp>
        <p:nvSpPr>
          <p:cNvPr id="231" name="Google Shape;231;p11"/>
          <p:cNvSpPr/>
          <p:nvPr/>
        </p:nvSpPr>
        <p:spPr>
          <a:xfrm>
            <a:off x="1358763" y="3289875"/>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100"/>
              <a:buFont typeface="Arial"/>
              <a:buNone/>
            </a:pPr>
            <a:r>
              <a:rPr b="0" i="0" lang="en" sz="1200" u="none" cap="none" strike="noStrike">
                <a:solidFill>
                  <a:srgbClr val="000000"/>
                </a:solidFill>
                <a:latin typeface="Montserrat"/>
                <a:ea typeface="Montserrat"/>
                <a:cs typeface="Montserrat"/>
                <a:sym typeface="Montserrat"/>
              </a:rPr>
              <a:t>Success Stories</a:t>
            </a:r>
            <a:endParaRPr b="0" i="0" sz="1200" u="none" cap="none" strike="noStrike">
              <a:solidFill>
                <a:srgbClr val="000000"/>
              </a:solidFill>
              <a:latin typeface="Montserrat"/>
              <a:ea typeface="Montserrat"/>
              <a:cs typeface="Montserrat"/>
              <a:sym typeface="Montserrat"/>
            </a:endParaRPr>
          </a:p>
        </p:txBody>
      </p:sp>
      <p:cxnSp>
        <p:nvCxnSpPr>
          <p:cNvPr id="232" name="Google Shape;232;p11"/>
          <p:cNvCxnSpPr/>
          <p:nvPr/>
        </p:nvCxnSpPr>
        <p:spPr>
          <a:xfrm>
            <a:off x="1367196" y="1108050"/>
            <a:ext cx="0" cy="382200"/>
          </a:xfrm>
          <a:prstGeom prst="straightConnector1">
            <a:avLst/>
          </a:prstGeom>
          <a:noFill/>
          <a:ln cap="flat" cmpd="sng" w="19050">
            <a:solidFill>
              <a:srgbClr val="12519C"/>
            </a:solidFill>
            <a:prstDash val="solid"/>
            <a:round/>
            <a:headEnd len="sm" w="sm" type="none"/>
            <a:tailEnd len="sm" w="sm" type="none"/>
          </a:ln>
        </p:spPr>
      </p:cxnSp>
      <p:cxnSp>
        <p:nvCxnSpPr>
          <p:cNvPr id="233" name="Google Shape;233;p11"/>
          <p:cNvCxnSpPr/>
          <p:nvPr/>
        </p:nvCxnSpPr>
        <p:spPr>
          <a:xfrm>
            <a:off x="1367196" y="1675436"/>
            <a:ext cx="0" cy="382200"/>
          </a:xfrm>
          <a:prstGeom prst="straightConnector1">
            <a:avLst/>
          </a:prstGeom>
          <a:noFill/>
          <a:ln cap="flat" cmpd="sng" w="19050">
            <a:solidFill>
              <a:srgbClr val="12519C"/>
            </a:solidFill>
            <a:prstDash val="solid"/>
            <a:round/>
            <a:headEnd len="sm" w="sm" type="none"/>
            <a:tailEnd len="sm" w="sm" type="none"/>
          </a:ln>
        </p:spPr>
      </p:cxnSp>
      <p:cxnSp>
        <p:nvCxnSpPr>
          <p:cNvPr id="234" name="Google Shape;234;p11"/>
          <p:cNvCxnSpPr/>
          <p:nvPr/>
        </p:nvCxnSpPr>
        <p:spPr>
          <a:xfrm>
            <a:off x="1367196" y="3288390"/>
            <a:ext cx="0" cy="382200"/>
          </a:xfrm>
          <a:prstGeom prst="straightConnector1">
            <a:avLst/>
          </a:prstGeom>
          <a:noFill/>
          <a:ln cap="flat" cmpd="sng" w="19050">
            <a:solidFill>
              <a:srgbClr val="12519C"/>
            </a:solidFill>
            <a:prstDash val="solid"/>
            <a:round/>
            <a:headEnd len="sm" w="sm" type="none"/>
            <a:tailEnd len="sm" w="sm" type="none"/>
          </a:ln>
        </p:spPr>
      </p:cxnSp>
      <p:sp>
        <p:nvSpPr>
          <p:cNvPr id="235" name="Google Shape;235;p11"/>
          <p:cNvSpPr/>
          <p:nvPr/>
        </p:nvSpPr>
        <p:spPr>
          <a:xfrm>
            <a:off x="1048238" y="1260478"/>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6" name="Google Shape;236;p11"/>
          <p:cNvSpPr/>
          <p:nvPr/>
        </p:nvSpPr>
        <p:spPr>
          <a:xfrm>
            <a:off x="1048238" y="1827880"/>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7" name="Google Shape;237;p11"/>
          <p:cNvSpPr/>
          <p:nvPr/>
        </p:nvSpPr>
        <p:spPr>
          <a:xfrm>
            <a:off x="1048238" y="3439362"/>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8" name="Google Shape;238;p11"/>
          <p:cNvSpPr/>
          <p:nvPr/>
        </p:nvSpPr>
        <p:spPr>
          <a:xfrm>
            <a:off x="1358763" y="2245805"/>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100"/>
              <a:buFont typeface="Arial"/>
              <a:buNone/>
            </a:pPr>
            <a:r>
              <a:rPr b="0" i="0" lang="en" sz="1200" u="none" cap="none" strike="noStrike">
                <a:solidFill>
                  <a:srgbClr val="000000"/>
                </a:solidFill>
                <a:latin typeface="Montserrat"/>
                <a:ea typeface="Montserrat"/>
                <a:cs typeface="Montserrat"/>
                <a:sym typeface="Montserrat"/>
              </a:rPr>
              <a:t>Project Plan and Key Deliverables</a:t>
            </a:r>
            <a:endParaRPr b="0" i="0" sz="1200" u="none" cap="none" strike="noStrike">
              <a:solidFill>
                <a:srgbClr val="000000"/>
              </a:solidFill>
              <a:latin typeface="Montserrat"/>
              <a:ea typeface="Montserrat"/>
              <a:cs typeface="Montserrat"/>
              <a:sym typeface="Montserrat"/>
            </a:endParaRPr>
          </a:p>
        </p:txBody>
      </p:sp>
      <p:cxnSp>
        <p:nvCxnSpPr>
          <p:cNvPr id="239" name="Google Shape;239;p11"/>
          <p:cNvCxnSpPr/>
          <p:nvPr/>
        </p:nvCxnSpPr>
        <p:spPr>
          <a:xfrm>
            <a:off x="1367196" y="2242832"/>
            <a:ext cx="0" cy="382200"/>
          </a:xfrm>
          <a:prstGeom prst="straightConnector1">
            <a:avLst/>
          </a:prstGeom>
          <a:noFill/>
          <a:ln cap="flat" cmpd="sng" w="19050">
            <a:solidFill>
              <a:srgbClr val="12519C"/>
            </a:solidFill>
            <a:prstDash val="solid"/>
            <a:round/>
            <a:headEnd len="sm" w="sm" type="none"/>
            <a:tailEnd len="sm" w="sm" type="none"/>
          </a:ln>
        </p:spPr>
      </p:cxnSp>
      <p:sp>
        <p:nvSpPr>
          <p:cNvPr id="240" name="Google Shape;240;p11"/>
          <p:cNvSpPr/>
          <p:nvPr/>
        </p:nvSpPr>
        <p:spPr>
          <a:xfrm>
            <a:off x="1048238" y="2395275"/>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1" name="Google Shape;241;p11"/>
          <p:cNvSpPr/>
          <p:nvPr/>
        </p:nvSpPr>
        <p:spPr>
          <a:xfrm>
            <a:off x="1358763" y="2755885"/>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100"/>
              <a:buFont typeface="Arial"/>
              <a:buNone/>
            </a:pPr>
            <a:r>
              <a:rPr b="0" i="0" lang="en" sz="1200" u="none" cap="none" strike="noStrike">
                <a:solidFill>
                  <a:srgbClr val="000000"/>
                </a:solidFill>
                <a:latin typeface="Montserrat"/>
                <a:ea typeface="Montserrat"/>
                <a:cs typeface="Montserrat"/>
                <a:sym typeface="Montserrat"/>
              </a:rPr>
              <a:t>Commercial Summary</a:t>
            </a:r>
            <a:endParaRPr b="0" i="0" sz="1200" u="none" cap="none" strike="noStrike">
              <a:solidFill>
                <a:srgbClr val="000000"/>
              </a:solidFill>
              <a:latin typeface="Montserrat"/>
              <a:ea typeface="Montserrat"/>
              <a:cs typeface="Montserrat"/>
              <a:sym typeface="Montserrat"/>
            </a:endParaRPr>
          </a:p>
        </p:txBody>
      </p:sp>
      <p:cxnSp>
        <p:nvCxnSpPr>
          <p:cNvPr id="242" name="Google Shape;242;p11"/>
          <p:cNvCxnSpPr/>
          <p:nvPr/>
        </p:nvCxnSpPr>
        <p:spPr>
          <a:xfrm>
            <a:off x="1367196" y="2752912"/>
            <a:ext cx="0" cy="382200"/>
          </a:xfrm>
          <a:prstGeom prst="straightConnector1">
            <a:avLst/>
          </a:prstGeom>
          <a:noFill/>
          <a:ln cap="flat" cmpd="sng" w="19050">
            <a:solidFill>
              <a:srgbClr val="12519C"/>
            </a:solidFill>
            <a:prstDash val="solid"/>
            <a:round/>
            <a:headEnd len="sm" w="sm" type="none"/>
            <a:tailEnd len="sm" w="sm" type="none"/>
          </a:ln>
        </p:spPr>
      </p:cxnSp>
      <p:sp>
        <p:nvSpPr>
          <p:cNvPr id="243" name="Google Shape;243;p11"/>
          <p:cNvSpPr/>
          <p:nvPr/>
        </p:nvSpPr>
        <p:spPr>
          <a:xfrm>
            <a:off x="1048238" y="2905355"/>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4" name="Google Shape;244;p11"/>
          <p:cNvSpPr txBox="1"/>
          <p:nvPr>
            <p:ph idx="4294967295"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sz="1000"/>
              <a:t>‹#›</a:t>
            </a:fld>
            <a:endParaRPr sz="10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12"/>
          <p:cNvSpPr/>
          <p:nvPr/>
        </p:nvSpPr>
        <p:spPr>
          <a:xfrm>
            <a:off x="226950" y="740900"/>
            <a:ext cx="8690100" cy="4113300"/>
          </a:xfrm>
          <a:prstGeom prst="snip1Rect">
            <a:avLst>
              <a:gd fmla="val 16333"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t" bIns="0" lIns="121875" spcFirstLastPara="1" rIns="121875" wrap="square" tIns="0">
            <a:noAutofit/>
          </a:bodyPr>
          <a:lstStyle/>
          <a:p>
            <a:pPr>
              <a:spcAft>
                <a:spcPts val="200"/>
              </a:spcAft>
            </a:pPr>
            <a:r>
              <a:rPr sz="1000"/>
              <a:t>The proposed solution will deliver a modern, scalable platform that supports blog creation, publishing, and monetization through Google AdSense. It will include a user-friendly interface with language selection and clear call-to-action elements. The content policy page will be designed with robust search functionality, clear guidelines, and moderation policies. The solution will ensure compliance with all mandatory requirements while providing a secure and engaging user experience.</a:t>
            </a:r>
          </a:p>
        </p:txBody>
      </p:sp>
      <p:cxnSp>
        <p:nvCxnSpPr>
          <p:cNvPr id="250" name="Google Shape;250;p12"/>
          <p:cNvCxnSpPr/>
          <p:nvPr/>
        </p:nvCxnSpPr>
        <p:spPr>
          <a:xfrm>
            <a:off x="249444" y="751302"/>
            <a:ext cx="0" cy="4113300"/>
          </a:xfrm>
          <a:prstGeom prst="straightConnector1">
            <a:avLst/>
          </a:prstGeom>
          <a:noFill/>
          <a:ln cap="flat" cmpd="sng" w="19050">
            <a:solidFill>
              <a:srgbClr val="12519C"/>
            </a:solidFill>
            <a:prstDash val="solid"/>
            <a:round/>
            <a:headEnd len="sm" w="sm" type="none"/>
            <a:tailEnd len="sm" w="sm" type="none"/>
          </a:ln>
        </p:spPr>
      </p:cxnSp>
      <p:sp>
        <p:nvSpPr>
          <p:cNvPr id="251" name="Google Shape;251;p12"/>
          <p:cNvSpPr txBox="1"/>
          <p:nvPr>
            <p:ph type="title"/>
          </p:nvPr>
        </p:nvSpPr>
        <p:spPr>
          <a:xfrm>
            <a:off x="104500" y="141850"/>
            <a:ext cx="7723200" cy="3573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000"/>
              <a:buNone/>
            </a:pPr>
            <a:r>
              <a:rPr lang="en">
                <a:solidFill>
                  <a:schemeClr val="dk1"/>
                </a:solidFill>
              </a:rPr>
              <a:t>Solutioning Highlights</a:t>
            </a:r>
            <a:endParaRPr/>
          </a:p>
        </p:txBody>
      </p:sp>
      <p:sp>
        <p:nvSpPr>
          <p:cNvPr id="252" name="Google Shape;252;p12"/>
          <p:cNvSpPr txBox="1"/>
          <p:nvPr/>
        </p:nvSpPr>
        <p:spPr>
          <a:xfrm>
            <a:off x="340550" y="993438"/>
            <a:ext cx="8196900" cy="40329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rgbClr val="000000"/>
              </a:buClr>
              <a:buSzPts val="1000"/>
              <a:buFont typeface="Arial"/>
              <a:buNone/>
            </a:pPr>
            <a:endParaRPr b="0" i="0" sz="1000" u="none" cap="none" strike="noStrike">
              <a:solidFill>
                <a:schemeClr val="dk1"/>
              </a:solidFill>
              <a:latin typeface="Montserrat"/>
              <a:ea typeface="Montserrat"/>
              <a:cs typeface="Montserrat"/>
              <a:sym typeface="Montserrat"/>
            </a:endParaRPr>
          </a:p>
        </p:txBody>
      </p:sp>
      <p:sp>
        <p:nvSpPr>
          <p:cNvPr id="253" name="Google Shape;253;p12"/>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sz="1000"/>
              <a:t>‹#›</a:t>
            </a:fld>
            <a:endParaRPr sz="10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13"/>
          <p:cNvSpPr txBox="1"/>
          <p:nvPr>
            <p:ph type="title"/>
          </p:nvPr>
        </p:nvSpPr>
        <p:spPr>
          <a:xfrm>
            <a:off x="104500" y="141850"/>
            <a:ext cx="7723200" cy="3573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000"/>
              <a:buNone/>
            </a:pPr>
            <a:r>
              <a:rPr lang="en">
                <a:solidFill>
                  <a:schemeClr val="dk1"/>
                </a:solidFill>
              </a:rPr>
              <a:t>Proposed High Level Architecture</a:t>
            </a:r>
            <a:endParaRPr/>
          </a:p>
        </p:txBody>
      </p:sp>
      <p:sp>
        <p:nvSpPr>
          <p:cNvPr id="259" name="Google Shape;259;p13"/>
          <p:cNvSpPr/>
          <p:nvPr/>
        </p:nvSpPr>
        <p:spPr>
          <a:xfrm>
            <a:off x="2397150" y="887625"/>
            <a:ext cx="3813600" cy="3699300"/>
          </a:xfrm>
          <a:prstGeom prst="snip1Rect">
            <a:avLst>
              <a:gd fmla="val 8329" name="adj"/>
            </a:avLst>
          </a:prstGeom>
          <a:noFill/>
          <a:ln cap="flat" cmpd="sng" w="9525">
            <a:solidFill>
              <a:srgbClr val="6F3A93"/>
            </a:solidFill>
            <a:prstDash val="solid"/>
            <a:round/>
            <a:headEnd len="sm" w="sm" type="none"/>
            <a:tailEnd len="sm" w="sm" type="none"/>
          </a:ln>
        </p:spPr>
        <p:txBody>
          <a:bodyPr anchorCtr="0" anchor="t" bIns="91425" lIns="0" spcFirstLastPara="1" rIns="0" wrap="square" tIns="0">
            <a:noAutofit/>
          </a:bodyPr>
          <a:lstStyle/>
          <a:p/>
        </p:txBody>
      </p:sp>
      <p:sp>
        <p:nvSpPr>
          <p:cNvPr id="260" name="Google Shape;260;p13"/>
          <p:cNvSpPr/>
          <p:nvPr/>
        </p:nvSpPr>
        <p:spPr>
          <a:xfrm>
            <a:off x="756125" y="2252475"/>
            <a:ext cx="922800" cy="969600"/>
          </a:xfrm>
          <a:prstGeom prst="snip1Rect">
            <a:avLst>
              <a:gd fmla="val 8329" name="adj"/>
            </a:avLst>
          </a:prstGeom>
          <a:noFill/>
          <a:ln cap="flat" cmpd="sng" w="9525">
            <a:solidFill>
              <a:srgbClr val="12519C"/>
            </a:solidFill>
            <a:prstDash val="solid"/>
            <a:round/>
            <a:headEnd len="sm" w="sm" type="none"/>
            <a:tailEnd len="sm" w="sm" type="none"/>
          </a:ln>
        </p:spPr>
        <p:txBody>
          <a:bodyPr anchorCtr="0" anchor="t" bIns="91425" lIns="0" spcFirstLastPara="1" rIns="0" wrap="square" tIns="91425">
            <a:noAutofit/>
          </a:bodyPr>
          <a:lstStyle/>
          <a:p>
            <a:pPr indent="0" lvl="0" marL="0" marR="0" rtl="0" algn="ctr">
              <a:lnSpc>
                <a:spcPct val="100000"/>
              </a:lnSpc>
              <a:spcBef>
                <a:spcPts val="0"/>
              </a:spcBef>
              <a:spcAft>
                <a:spcPts val="0"/>
              </a:spcAft>
              <a:buClr>
                <a:srgbClr val="000000"/>
              </a:buClr>
              <a:buSzPts val="900"/>
              <a:buFont typeface="Arial"/>
              <a:buNone/>
            </a:pPr>
            <a:r>
              <a:t/>
            </a:r>
            <a:endParaRPr b="1" i="0" sz="900" u="none" cap="none" strike="noStrike">
              <a:solidFill>
                <a:srgbClr val="D71B7F"/>
              </a:solidFill>
              <a:latin typeface="Montserrat"/>
              <a:ea typeface="Montserrat"/>
              <a:cs typeface="Montserrat"/>
              <a:sym typeface="Montserrat"/>
            </a:endParaRPr>
          </a:p>
        </p:txBody>
      </p:sp>
      <p:sp>
        <p:nvSpPr>
          <p:cNvPr id="261" name="Google Shape;261;p13"/>
          <p:cNvSpPr/>
          <p:nvPr/>
        </p:nvSpPr>
        <p:spPr>
          <a:xfrm>
            <a:off x="2549550" y="1316100"/>
            <a:ext cx="3508800" cy="305700"/>
          </a:xfrm>
          <a:prstGeom prst="snip1Rect">
            <a:avLst>
              <a:gd fmla="val 8329" name="adj"/>
            </a:avLst>
          </a:prstGeom>
          <a:solidFill>
            <a:srgbClr val="F6F6F6"/>
          </a:solidFill>
          <a:ln cap="flat" cmpd="sng" w="9525">
            <a:solidFill>
              <a:srgbClr val="E7E6E6"/>
            </a:solidFill>
            <a:prstDash val="solid"/>
            <a:round/>
            <a:headEnd len="sm" w="sm" type="none"/>
            <a:tailEnd len="sm" w="sm" type="none"/>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12519C"/>
                </a:solidFill>
                <a:latin typeface="Montserrat"/>
                <a:ea typeface="Montserrat"/>
                <a:cs typeface="Montserrat"/>
                <a:sym typeface="Montserrat"/>
              </a:rPr>
              <a:t>UI layer Screens</a:t>
            </a:r>
            <a:endParaRPr b="1" i="0" sz="900" u="none" cap="none" strike="noStrike">
              <a:solidFill>
                <a:srgbClr val="12519C"/>
              </a:solidFill>
              <a:latin typeface="Montserrat"/>
              <a:ea typeface="Montserrat"/>
              <a:cs typeface="Montserrat"/>
              <a:sym typeface="Montserrat"/>
            </a:endParaRPr>
          </a:p>
        </p:txBody>
      </p:sp>
      <p:sp>
        <p:nvSpPr>
          <p:cNvPr id="262" name="Google Shape;262;p13"/>
          <p:cNvSpPr txBox="1"/>
          <p:nvPr/>
        </p:nvSpPr>
        <p:spPr>
          <a:xfrm>
            <a:off x="744425" y="2826663"/>
            <a:ext cx="946200" cy="4311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12519C"/>
                </a:solidFill>
                <a:latin typeface="Montserrat"/>
                <a:ea typeface="Montserrat"/>
                <a:cs typeface="Montserrat"/>
                <a:sym typeface="Montserrat"/>
              </a:rPr>
              <a:t>Mobile </a:t>
            </a:r>
            <a:endParaRPr b="1" i="0" sz="800" u="none" cap="none" strike="noStrike">
              <a:solidFill>
                <a:srgbClr val="12519C"/>
              </a:solidFill>
              <a:latin typeface="Montserrat"/>
              <a:ea typeface="Montserrat"/>
              <a:cs typeface="Montserrat"/>
              <a:sym typeface="Montserrat"/>
            </a:endParaRPr>
          </a:p>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12519C"/>
                </a:solidFill>
                <a:latin typeface="Montserrat"/>
                <a:ea typeface="Montserrat"/>
                <a:cs typeface="Montserrat"/>
                <a:sym typeface="Montserrat"/>
              </a:rPr>
              <a:t>User</a:t>
            </a:r>
            <a:endParaRPr b="1" i="0" sz="800" u="none" cap="none" strike="noStrike">
              <a:solidFill>
                <a:srgbClr val="12519C"/>
              </a:solidFill>
              <a:latin typeface="Montserrat"/>
              <a:ea typeface="Montserrat"/>
              <a:cs typeface="Montserrat"/>
              <a:sym typeface="Montserrat"/>
            </a:endParaRPr>
          </a:p>
        </p:txBody>
      </p:sp>
      <p:sp>
        <p:nvSpPr>
          <p:cNvPr id="263" name="Google Shape;263;p13"/>
          <p:cNvSpPr/>
          <p:nvPr/>
        </p:nvSpPr>
        <p:spPr>
          <a:xfrm>
            <a:off x="7069675" y="1671550"/>
            <a:ext cx="1329900" cy="882000"/>
          </a:xfrm>
          <a:prstGeom prst="snip1Rect">
            <a:avLst>
              <a:gd fmla="val 16667" name="adj"/>
            </a:avLst>
          </a:prstGeom>
          <a:solidFill>
            <a:srgbClr val="D9D2E9"/>
          </a:solidFill>
          <a:ln cap="flat" cmpd="sng" w="9525">
            <a:solidFill>
              <a:srgbClr val="D9D9D9"/>
            </a:solidFill>
            <a:prstDash val="solid"/>
            <a:round/>
            <a:headEnd len="sm" w="sm" type="none"/>
            <a:tailEnd len="sm" w="sm" type="none"/>
          </a:ln>
        </p:spPr>
        <p:txBody>
          <a:bodyPr anchorCtr="0" anchor="b" bIns="91425" lIns="91425" spcFirstLastPara="1" rIns="91425" wrap="square" tIns="91425">
            <a:noAutofit/>
          </a:bodyPr>
          <a:lstStyle/>
          <a:p>
            <a:r>
              <a:t>API Layer | RESTful APIs for</a:t>
            </a:r>
          </a:p>
        </p:txBody>
      </p:sp>
      <p:sp>
        <p:nvSpPr>
          <p:cNvPr id="264" name="Google Shape;264;p13"/>
          <p:cNvSpPr/>
          <p:nvPr/>
        </p:nvSpPr>
        <p:spPr>
          <a:xfrm>
            <a:off x="7069675" y="2847049"/>
            <a:ext cx="1329900" cy="882000"/>
          </a:xfrm>
          <a:prstGeom prst="snip1Rect">
            <a:avLst>
              <a:gd fmla="val 16667" name="adj"/>
            </a:avLst>
          </a:prstGeom>
          <a:solidFill>
            <a:srgbClr val="D9D2E9"/>
          </a:solidFill>
          <a:ln cap="flat" cmpd="sng" w="9525">
            <a:solidFill>
              <a:srgbClr val="D9D9D9"/>
            </a:solidFill>
            <a:prstDash val="solid"/>
            <a:round/>
            <a:headEnd len="sm" w="sm" type="none"/>
            <a:tailEnd len="sm" w="sm" type="none"/>
          </a:ln>
        </p:spPr>
        <p:txBody>
          <a:bodyPr anchorCtr="0" anchor="b" bIns="91425" lIns="91425" spcFirstLastPara="1" rIns="91425" wrap="square" tIns="91425">
            <a:noAutofit/>
          </a:bodyPr>
          <a:lstStyle/>
          <a:p>
            <a:r>
              <a:t>Data Layer | Cloud-based database</a:t>
            </a:r>
          </a:p>
        </p:txBody>
      </p:sp>
      <p:pic>
        <p:nvPicPr>
          <p:cNvPr id="265" name="Google Shape;265;p13"/>
          <p:cNvPicPr preferRelativeResize="0"/>
          <p:nvPr/>
        </p:nvPicPr>
        <p:blipFill rotWithShape="1">
          <a:blip r:embed="rId3">
            <a:alphaModFix/>
          </a:blip>
          <a:srcRect b="0" l="0" r="0" t="0"/>
          <a:stretch/>
        </p:blipFill>
        <p:spPr>
          <a:xfrm>
            <a:off x="1016525" y="2379875"/>
            <a:ext cx="401999" cy="401999"/>
          </a:xfrm>
          <a:prstGeom prst="rect">
            <a:avLst/>
          </a:prstGeom>
          <a:noFill/>
          <a:ln>
            <a:noFill/>
          </a:ln>
        </p:spPr>
      </p:pic>
      <p:sp>
        <p:nvSpPr>
          <p:cNvPr id="266" name="Google Shape;266;p13"/>
          <p:cNvSpPr/>
          <p:nvPr/>
        </p:nvSpPr>
        <p:spPr>
          <a:xfrm>
            <a:off x="2549550" y="1959698"/>
            <a:ext cx="3508800" cy="305700"/>
          </a:xfrm>
          <a:prstGeom prst="snip1Rect">
            <a:avLst>
              <a:gd fmla="val 8329" name="adj"/>
            </a:avLst>
          </a:prstGeom>
          <a:solidFill>
            <a:srgbClr val="F6F6F6"/>
          </a:solidFill>
          <a:ln cap="flat" cmpd="sng" w="9525">
            <a:solidFill>
              <a:srgbClr val="E7E6E6"/>
            </a:solidFill>
            <a:prstDash val="solid"/>
            <a:round/>
            <a:headEnd len="sm" w="sm" type="none"/>
            <a:tailEnd len="sm" w="sm" type="none"/>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12519C"/>
                </a:solidFill>
                <a:latin typeface="Montserrat"/>
                <a:ea typeface="Montserrat"/>
                <a:cs typeface="Montserrat"/>
                <a:sym typeface="Montserrat"/>
              </a:rPr>
              <a:t>Business Logic Layer</a:t>
            </a:r>
            <a:endParaRPr b="1" i="0" sz="900" u="none" cap="none" strike="noStrike">
              <a:solidFill>
                <a:srgbClr val="12519C"/>
              </a:solidFill>
              <a:latin typeface="Montserrat"/>
              <a:ea typeface="Montserrat"/>
              <a:cs typeface="Montserrat"/>
              <a:sym typeface="Montserrat"/>
            </a:endParaRPr>
          </a:p>
        </p:txBody>
      </p:sp>
      <p:sp>
        <p:nvSpPr>
          <p:cNvPr id="267" name="Google Shape;267;p13"/>
          <p:cNvSpPr/>
          <p:nvPr/>
        </p:nvSpPr>
        <p:spPr>
          <a:xfrm>
            <a:off x="2549550" y="2603300"/>
            <a:ext cx="3508800" cy="612000"/>
          </a:xfrm>
          <a:prstGeom prst="snip1Rect">
            <a:avLst>
              <a:gd fmla="val 16667" name="adj"/>
            </a:avLst>
          </a:prstGeom>
          <a:solidFill>
            <a:srgbClr val="E7F2F8"/>
          </a:solidFill>
          <a:ln cap="flat" cmpd="sng" w="9525">
            <a:solidFill>
              <a:srgbClr val="D9D9D9"/>
            </a:solidFill>
            <a:prstDash val="solid"/>
            <a:round/>
            <a:headEnd len="sm" w="sm" type="none"/>
            <a:tailEnd len="sm" w="sm" type="none"/>
          </a:ln>
        </p:spPr>
        <p:txBody>
          <a:bodyPr anchorCtr="0" anchor="b" bIns="91425" lIns="91425" spcFirstLastPara="1" rIns="91425" wrap="square" tIns="91425">
            <a:noAutofit/>
          </a:bodyPr>
          <a:lstStyle/>
          <a:p>
            <a:pPr>
              <a:spcAft>
                <a:spcPts val="200"/>
              </a:spcAft>
            </a:pPr>
          </a:p>
        </p:txBody>
      </p:sp>
      <p:sp>
        <p:nvSpPr>
          <p:cNvPr id="268" name="Google Shape;268;p13"/>
          <p:cNvSpPr/>
          <p:nvPr/>
        </p:nvSpPr>
        <p:spPr>
          <a:xfrm>
            <a:off x="2975075" y="2890671"/>
            <a:ext cx="1231500" cy="253500"/>
          </a:xfrm>
          <a:prstGeom prst="roundRect">
            <a:avLst>
              <a:gd fmla="val 6288" name="adj"/>
            </a:avLst>
          </a:prstGeom>
          <a:solidFill>
            <a:srgbClr val="FFFFFF"/>
          </a:solidFill>
          <a:ln cap="flat" cmpd="sng" w="9525">
            <a:solidFill>
              <a:srgbClr val="D9D9D9"/>
            </a:solidFill>
            <a:prstDash val="dash"/>
            <a:round/>
            <a:headEnd len="sm" w="sm" type="none"/>
            <a:tailEnd len="sm" w="sm" type="none"/>
          </a:ln>
        </p:spPr>
        <p:txBody>
          <a:bodyPr anchorCtr="0" anchor="ctr" bIns="91425" lIns="9125" spcFirstLastPara="1" rIns="9125" wrap="square" tIns="91425">
            <a:no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12519C"/>
                </a:solidFill>
                <a:latin typeface="Montserrat"/>
                <a:ea typeface="Montserrat"/>
                <a:cs typeface="Montserrat"/>
                <a:sym typeface="Montserrat"/>
              </a:rPr>
              <a:t>Network Service</a:t>
            </a:r>
            <a:endParaRPr b="1" i="0" sz="800" u="none" cap="none" strike="noStrike">
              <a:solidFill>
                <a:srgbClr val="525252"/>
              </a:solidFill>
              <a:latin typeface="Montserrat"/>
              <a:ea typeface="Montserrat"/>
              <a:cs typeface="Montserrat"/>
              <a:sym typeface="Montserrat"/>
            </a:endParaRPr>
          </a:p>
        </p:txBody>
      </p:sp>
      <p:sp>
        <p:nvSpPr>
          <p:cNvPr id="269" name="Google Shape;269;p13"/>
          <p:cNvSpPr/>
          <p:nvPr/>
        </p:nvSpPr>
        <p:spPr>
          <a:xfrm>
            <a:off x="4481025" y="2890671"/>
            <a:ext cx="1231500" cy="253500"/>
          </a:xfrm>
          <a:prstGeom prst="roundRect">
            <a:avLst>
              <a:gd fmla="val 6288" name="adj"/>
            </a:avLst>
          </a:prstGeom>
          <a:solidFill>
            <a:srgbClr val="FFFFFF"/>
          </a:solidFill>
          <a:ln cap="flat" cmpd="sng" w="9525">
            <a:solidFill>
              <a:srgbClr val="D9D9D9"/>
            </a:solidFill>
            <a:prstDash val="dash"/>
            <a:round/>
            <a:headEnd len="sm" w="sm" type="none"/>
            <a:tailEnd len="sm" w="sm" type="none"/>
          </a:ln>
        </p:spPr>
        <p:txBody>
          <a:bodyPr anchorCtr="0" anchor="ctr" bIns="91425" lIns="9125" spcFirstLastPara="1" rIns="9125" wrap="square" tIns="91425">
            <a:no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12519C"/>
                </a:solidFill>
                <a:latin typeface="Montserrat"/>
                <a:ea typeface="Montserrat"/>
                <a:cs typeface="Montserrat"/>
                <a:sym typeface="Montserrat"/>
              </a:rPr>
              <a:t>Local Storage</a:t>
            </a:r>
            <a:endParaRPr b="1" i="0" sz="800" u="none" cap="none" strike="noStrike">
              <a:solidFill>
                <a:srgbClr val="525252"/>
              </a:solidFill>
              <a:latin typeface="Montserrat"/>
              <a:ea typeface="Montserrat"/>
              <a:cs typeface="Montserrat"/>
              <a:sym typeface="Montserrat"/>
            </a:endParaRPr>
          </a:p>
        </p:txBody>
      </p:sp>
      <p:sp>
        <p:nvSpPr>
          <p:cNvPr id="270" name="Google Shape;270;p13"/>
          <p:cNvSpPr/>
          <p:nvPr/>
        </p:nvSpPr>
        <p:spPr>
          <a:xfrm>
            <a:off x="2549550" y="3553200"/>
            <a:ext cx="3508800" cy="882000"/>
          </a:xfrm>
          <a:prstGeom prst="snip1Rect">
            <a:avLst>
              <a:gd fmla="val 16667" name="adj"/>
            </a:avLst>
          </a:prstGeom>
          <a:solidFill>
            <a:srgbClr val="E7F2F8"/>
          </a:solidFill>
          <a:ln cap="flat" cmpd="sng" w="9525">
            <a:solidFill>
              <a:srgbClr val="D9D9D9"/>
            </a:solidFill>
            <a:prstDash val="solid"/>
            <a:round/>
            <a:headEnd len="sm" w="sm" type="none"/>
            <a:tailEnd len="sm" w="sm" type="none"/>
          </a:ln>
        </p:spPr>
        <p:txBody>
          <a:bodyPr anchorCtr="0" anchor="b" bIns="91425" lIns="91425" spcFirstLastPara="1" rIns="91425" wrap="square" tIns="91425">
            <a:noAutofit/>
          </a:bodyPr>
          <a:lstStyle/>
          <a:p>
            <a:pPr>
              <a:spcAft>
                <a:spcPts val="200"/>
              </a:spcAft>
            </a:pPr>
          </a:p>
        </p:txBody>
      </p:sp>
      <p:sp>
        <p:nvSpPr>
          <p:cNvPr id="271" name="Google Shape;271;p13"/>
          <p:cNvSpPr/>
          <p:nvPr/>
        </p:nvSpPr>
        <p:spPr>
          <a:xfrm>
            <a:off x="2641000" y="3864854"/>
            <a:ext cx="1038000" cy="365400"/>
          </a:xfrm>
          <a:prstGeom prst="roundRect">
            <a:avLst>
              <a:gd fmla="val 6288" name="adj"/>
            </a:avLst>
          </a:prstGeom>
          <a:solidFill>
            <a:srgbClr val="FFFFFF"/>
          </a:solidFill>
          <a:ln cap="flat" cmpd="sng" w="9525">
            <a:solidFill>
              <a:srgbClr val="D9D9D9"/>
            </a:solidFill>
            <a:prstDash val="dash"/>
            <a:round/>
            <a:headEnd len="sm" w="sm" type="none"/>
            <a:tailEnd len="sm" w="sm" type="none"/>
          </a:ln>
        </p:spPr>
        <p:txBody>
          <a:bodyPr anchorCtr="0" anchor="ctr" bIns="91425" lIns="9125" spcFirstLastPara="1" rIns="9125" wrap="square" tIns="91425">
            <a:no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12519C"/>
                </a:solidFill>
                <a:latin typeface="Montserrat"/>
                <a:ea typeface="Montserrat"/>
                <a:cs typeface="Montserrat"/>
                <a:sym typeface="Montserrat"/>
              </a:rPr>
              <a:t>Analytics</a:t>
            </a:r>
            <a:endParaRPr b="1" i="0" sz="800" u="none" cap="none" strike="noStrike">
              <a:solidFill>
                <a:srgbClr val="525252"/>
              </a:solidFill>
              <a:latin typeface="Montserrat"/>
              <a:ea typeface="Montserrat"/>
              <a:cs typeface="Montserrat"/>
              <a:sym typeface="Montserrat"/>
            </a:endParaRPr>
          </a:p>
        </p:txBody>
      </p:sp>
      <p:sp>
        <p:nvSpPr>
          <p:cNvPr id="272" name="Google Shape;272;p13"/>
          <p:cNvSpPr/>
          <p:nvPr/>
        </p:nvSpPr>
        <p:spPr>
          <a:xfrm>
            <a:off x="3788308" y="3864854"/>
            <a:ext cx="1038000" cy="365400"/>
          </a:xfrm>
          <a:prstGeom prst="roundRect">
            <a:avLst>
              <a:gd fmla="val 6288" name="adj"/>
            </a:avLst>
          </a:prstGeom>
          <a:solidFill>
            <a:srgbClr val="FFFFFF"/>
          </a:solidFill>
          <a:ln cap="flat" cmpd="sng" w="9525">
            <a:solidFill>
              <a:srgbClr val="D9D9D9"/>
            </a:solidFill>
            <a:prstDash val="dash"/>
            <a:round/>
            <a:headEnd len="sm" w="sm" type="none"/>
            <a:tailEnd len="sm" w="sm" type="none"/>
          </a:ln>
        </p:spPr>
        <p:txBody>
          <a:bodyPr anchorCtr="0" anchor="ctr" bIns="91425" lIns="9125" spcFirstLastPara="1" rIns="9125" wrap="square" tIns="91425">
            <a:no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12519C"/>
                </a:solidFill>
                <a:latin typeface="Montserrat"/>
                <a:ea typeface="Montserrat"/>
                <a:cs typeface="Montserrat"/>
                <a:sym typeface="Montserrat"/>
              </a:rPr>
              <a:t>Push </a:t>
            </a:r>
            <a:endParaRPr b="1" i="0" sz="800" u="none" cap="none" strike="noStrike">
              <a:solidFill>
                <a:srgbClr val="12519C"/>
              </a:solidFill>
              <a:latin typeface="Montserrat"/>
              <a:ea typeface="Montserrat"/>
              <a:cs typeface="Montserrat"/>
              <a:sym typeface="Montserrat"/>
            </a:endParaRPr>
          </a:p>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12519C"/>
                </a:solidFill>
                <a:latin typeface="Montserrat"/>
                <a:ea typeface="Montserrat"/>
                <a:cs typeface="Montserrat"/>
                <a:sym typeface="Montserrat"/>
              </a:rPr>
              <a:t>Notifications</a:t>
            </a:r>
            <a:endParaRPr b="1" i="0" sz="800" u="none" cap="none" strike="noStrike">
              <a:solidFill>
                <a:srgbClr val="525252"/>
              </a:solidFill>
              <a:latin typeface="Montserrat"/>
              <a:ea typeface="Montserrat"/>
              <a:cs typeface="Montserrat"/>
              <a:sym typeface="Montserrat"/>
            </a:endParaRPr>
          </a:p>
        </p:txBody>
      </p:sp>
      <p:sp>
        <p:nvSpPr>
          <p:cNvPr id="273" name="Google Shape;273;p13"/>
          <p:cNvSpPr/>
          <p:nvPr/>
        </p:nvSpPr>
        <p:spPr>
          <a:xfrm>
            <a:off x="4935616" y="3864854"/>
            <a:ext cx="1038000" cy="365400"/>
          </a:xfrm>
          <a:prstGeom prst="roundRect">
            <a:avLst>
              <a:gd fmla="val 6288" name="adj"/>
            </a:avLst>
          </a:prstGeom>
          <a:solidFill>
            <a:srgbClr val="FFFFFF"/>
          </a:solidFill>
          <a:ln cap="flat" cmpd="sng" w="9525">
            <a:solidFill>
              <a:srgbClr val="D9D9D9"/>
            </a:solidFill>
            <a:prstDash val="dash"/>
            <a:round/>
            <a:headEnd len="sm" w="sm" type="none"/>
            <a:tailEnd len="sm" w="sm" type="none"/>
          </a:ln>
        </p:spPr>
        <p:txBody>
          <a:bodyPr anchorCtr="0" anchor="ctr" bIns="91425" lIns="9125" spcFirstLastPara="1" rIns="9125" wrap="square" tIns="91425">
            <a:no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12519C"/>
                </a:solidFill>
                <a:latin typeface="Montserrat"/>
                <a:ea typeface="Montserrat"/>
                <a:cs typeface="Montserrat"/>
                <a:sym typeface="Montserrat"/>
              </a:rPr>
              <a:t>Crash </a:t>
            </a:r>
            <a:endParaRPr b="1" i="0" sz="800" u="none" cap="none" strike="noStrike">
              <a:solidFill>
                <a:srgbClr val="12519C"/>
              </a:solidFill>
              <a:latin typeface="Montserrat"/>
              <a:ea typeface="Montserrat"/>
              <a:cs typeface="Montserrat"/>
              <a:sym typeface="Montserrat"/>
            </a:endParaRPr>
          </a:p>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12519C"/>
                </a:solidFill>
                <a:latin typeface="Montserrat"/>
                <a:ea typeface="Montserrat"/>
                <a:cs typeface="Montserrat"/>
                <a:sym typeface="Montserrat"/>
              </a:rPr>
              <a:t>Reporting</a:t>
            </a:r>
            <a:endParaRPr b="1" i="0" sz="800" u="none" cap="none" strike="noStrike">
              <a:solidFill>
                <a:srgbClr val="525252"/>
              </a:solidFill>
              <a:latin typeface="Montserrat"/>
              <a:ea typeface="Montserrat"/>
              <a:cs typeface="Montserrat"/>
              <a:sym typeface="Montserrat"/>
            </a:endParaRPr>
          </a:p>
        </p:txBody>
      </p:sp>
      <p:pic>
        <p:nvPicPr>
          <p:cNvPr id="274" name="Google Shape;274;p13"/>
          <p:cNvPicPr preferRelativeResize="0"/>
          <p:nvPr/>
        </p:nvPicPr>
        <p:blipFill rotWithShape="1">
          <a:blip r:embed="rId4">
            <a:alphaModFix/>
          </a:blip>
          <a:srcRect b="0" l="0" r="0" t="0"/>
          <a:stretch/>
        </p:blipFill>
        <p:spPr>
          <a:xfrm>
            <a:off x="7544462" y="3032873"/>
            <a:ext cx="283233" cy="357299"/>
          </a:xfrm>
          <a:prstGeom prst="rect">
            <a:avLst/>
          </a:prstGeom>
          <a:noFill/>
          <a:ln>
            <a:noFill/>
          </a:ln>
        </p:spPr>
      </p:pic>
      <p:cxnSp>
        <p:nvCxnSpPr>
          <p:cNvPr id="275" name="Google Shape;275;p13"/>
          <p:cNvCxnSpPr>
            <a:stCxn id="260" idx="0"/>
            <a:endCxn id="259" idx="2"/>
          </p:cNvCxnSpPr>
          <p:nvPr/>
        </p:nvCxnSpPr>
        <p:spPr>
          <a:xfrm>
            <a:off x="1678925" y="2737275"/>
            <a:ext cx="718200" cy="0"/>
          </a:xfrm>
          <a:prstGeom prst="straightConnector1">
            <a:avLst/>
          </a:prstGeom>
          <a:noFill/>
          <a:ln cap="flat" cmpd="sng" w="9525">
            <a:solidFill>
              <a:srgbClr val="D9D9D9"/>
            </a:solidFill>
            <a:prstDash val="solid"/>
            <a:round/>
            <a:headEnd len="sm" w="sm" type="none"/>
            <a:tailEnd len="med" w="med" type="triangle"/>
          </a:ln>
        </p:spPr>
      </p:cxnSp>
      <p:cxnSp>
        <p:nvCxnSpPr>
          <p:cNvPr id="276" name="Google Shape;276;p13"/>
          <p:cNvCxnSpPr>
            <a:stCxn id="261" idx="1"/>
            <a:endCxn id="266" idx="3"/>
          </p:cNvCxnSpPr>
          <p:nvPr/>
        </p:nvCxnSpPr>
        <p:spPr>
          <a:xfrm>
            <a:off x="4303950" y="1621800"/>
            <a:ext cx="0" cy="337800"/>
          </a:xfrm>
          <a:prstGeom prst="straightConnector1">
            <a:avLst/>
          </a:prstGeom>
          <a:noFill/>
          <a:ln cap="flat" cmpd="sng" w="9525">
            <a:solidFill>
              <a:srgbClr val="D9D9D9"/>
            </a:solidFill>
            <a:prstDash val="solid"/>
            <a:round/>
            <a:headEnd len="med" w="med" type="triangle"/>
            <a:tailEnd len="med" w="med" type="triangle"/>
          </a:ln>
        </p:spPr>
      </p:cxnSp>
      <p:cxnSp>
        <p:nvCxnSpPr>
          <p:cNvPr id="277" name="Google Shape;277;p13"/>
          <p:cNvCxnSpPr>
            <a:stCxn id="266" idx="1"/>
            <a:endCxn id="267" idx="3"/>
          </p:cNvCxnSpPr>
          <p:nvPr/>
        </p:nvCxnSpPr>
        <p:spPr>
          <a:xfrm>
            <a:off x="4303950" y="2265398"/>
            <a:ext cx="0" cy="337800"/>
          </a:xfrm>
          <a:prstGeom prst="straightConnector1">
            <a:avLst/>
          </a:prstGeom>
          <a:noFill/>
          <a:ln cap="flat" cmpd="sng" w="9525">
            <a:solidFill>
              <a:srgbClr val="D9D9D9"/>
            </a:solidFill>
            <a:prstDash val="solid"/>
            <a:round/>
            <a:headEnd len="med" w="med" type="triangle"/>
            <a:tailEnd len="med" w="med" type="triangle"/>
          </a:ln>
        </p:spPr>
      </p:cxnSp>
      <p:sp>
        <p:nvSpPr>
          <p:cNvPr id="278" name="Google Shape;278;p13"/>
          <p:cNvSpPr txBox="1"/>
          <p:nvPr/>
        </p:nvSpPr>
        <p:spPr>
          <a:xfrm>
            <a:off x="3872500" y="2603296"/>
            <a:ext cx="946200" cy="323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12519C"/>
                </a:solidFill>
                <a:latin typeface="Montserrat"/>
                <a:ea typeface="Montserrat"/>
                <a:cs typeface="Montserrat"/>
                <a:sym typeface="Montserrat"/>
              </a:rPr>
              <a:t>Data Layer</a:t>
            </a:r>
            <a:endParaRPr b="1" i="0" sz="900" u="none" cap="none" strike="noStrike">
              <a:solidFill>
                <a:srgbClr val="12519C"/>
              </a:solidFill>
              <a:latin typeface="Montserrat"/>
              <a:ea typeface="Montserrat"/>
              <a:cs typeface="Montserrat"/>
              <a:sym typeface="Montserrat"/>
            </a:endParaRPr>
          </a:p>
        </p:txBody>
      </p:sp>
      <p:cxnSp>
        <p:nvCxnSpPr>
          <p:cNvPr id="279" name="Google Shape;279;p13"/>
          <p:cNvCxnSpPr>
            <a:stCxn id="267" idx="1"/>
            <a:endCxn id="270" idx="3"/>
          </p:cNvCxnSpPr>
          <p:nvPr/>
        </p:nvCxnSpPr>
        <p:spPr>
          <a:xfrm>
            <a:off x="4303950" y="3215300"/>
            <a:ext cx="0" cy="337800"/>
          </a:xfrm>
          <a:prstGeom prst="straightConnector1">
            <a:avLst/>
          </a:prstGeom>
          <a:noFill/>
          <a:ln cap="flat" cmpd="sng" w="9525">
            <a:solidFill>
              <a:srgbClr val="D9D9D9"/>
            </a:solidFill>
            <a:prstDash val="solid"/>
            <a:round/>
            <a:headEnd len="med" w="med" type="triangle"/>
            <a:tailEnd len="med" w="med" type="triangle"/>
          </a:ln>
        </p:spPr>
      </p:cxnSp>
      <p:sp>
        <p:nvSpPr>
          <p:cNvPr id="280" name="Google Shape;280;p13"/>
          <p:cNvSpPr txBox="1"/>
          <p:nvPr/>
        </p:nvSpPr>
        <p:spPr>
          <a:xfrm>
            <a:off x="3925088" y="3553196"/>
            <a:ext cx="946200" cy="323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12519C"/>
                </a:solidFill>
                <a:latin typeface="Montserrat"/>
                <a:ea typeface="Montserrat"/>
                <a:cs typeface="Montserrat"/>
                <a:sym typeface="Montserrat"/>
              </a:rPr>
              <a:t>3rd Party</a:t>
            </a:r>
            <a:endParaRPr b="1" i="0" sz="900" u="none" cap="none" strike="noStrike">
              <a:solidFill>
                <a:srgbClr val="12519C"/>
              </a:solidFill>
              <a:latin typeface="Montserrat"/>
              <a:ea typeface="Montserrat"/>
              <a:cs typeface="Montserrat"/>
              <a:sym typeface="Montserrat"/>
            </a:endParaRPr>
          </a:p>
        </p:txBody>
      </p:sp>
      <p:cxnSp>
        <p:nvCxnSpPr>
          <p:cNvPr id="281" name="Google Shape;281;p13"/>
          <p:cNvCxnSpPr>
            <a:stCxn id="259" idx="0"/>
            <a:endCxn id="263" idx="2"/>
          </p:cNvCxnSpPr>
          <p:nvPr/>
        </p:nvCxnSpPr>
        <p:spPr>
          <a:xfrm flipH="1" rot="10800000">
            <a:off x="6210750" y="2112675"/>
            <a:ext cx="858900" cy="624600"/>
          </a:xfrm>
          <a:prstGeom prst="bentConnector3">
            <a:avLst>
              <a:gd fmla="val 50001" name="adj1"/>
            </a:avLst>
          </a:prstGeom>
          <a:noFill/>
          <a:ln cap="flat" cmpd="sng" w="9525">
            <a:solidFill>
              <a:srgbClr val="D9D9D9"/>
            </a:solidFill>
            <a:prstDash val="solid"/>
            <a:round/>
            <a:headEnd len="sm" w="sm" type="none"/>
            <a:tailEnd len="med" w="med" type="triangle"/>
          </a:ln>
        </p:spPr>
      </p:cxnSp>
      <p:cxnSp>
        <p:nvCxnSpPr>
          <p:cNvPr id="282" name="Google Shape;282;p13"/>
          <p:cNvCxnSpPr>
            <a:stCxn id="259" idx="0"/>
            <a:endCxn id="264" idx="2"/>
          </p:cNvCxnSpPr>
          <p:nvPr/>
        </p:nvCxnSpPr>
        <p:spPr>
          <a:xfrm>
            <a:off x="6210750" y="2737275"/>
            <a:ext cx="858900" cy="550800"/>
          </a:xfrm>
          <a:prstGeom prst="bentConnector3">
            <a:avLst>
              <a:gd fmla="val 50001" name="adj1"/>
            </a:avLst>
          </a:prstGeom>
          <a:noFill/>
          <a:ln cap="flat" cmpd="sng" w="9525">
            <a:solidFill>
              <a:srgbClr val="D9D9D9"/>
            </a:solidFill>
            <a:prstDash val="solid"/>
            <a:round/>
            <a:headEnd len="sm" w="sm" type="none"/>
            <a:tailEnd len="med" w="med" type="triangle"/>
          </a:ln>
        </p:spPr>
      </p:cxnSp>
      <p:sp>
        <p:nvSpPr>
          <p:cNvPr id="283" name="Google Shape;283;p13"/>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sz="1000"/>
              <a:t>‹#›</a:t>
            </a:fld>
            <a:endParaRPr sz="10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14"/>
          <p:cNvSpPr txBox="1"/>
          <p:nvPr>
            <p:ph type="title"/>
          </p:nvPr>
        </p:nvSpPr>
        <p:spPr>
          <a:xfrm>
            <a:off x="104500" y="141850"/>
            <a:ext cx="7723200" cy="3573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000"/>
              <a:buNone/>
            </a:pPr>
            <a:r>
              <a:rPr lang="en">
                <a:solidFill>
                  <a:schemeClr val="dk1"/>
                </a:solidFill>
              </a:rPr>
              <a:t>Architecture Considerations</a:t>
            </a:r>
            <a:endParaRPr/>
          </a:p>
        </p:txBody>
      </p:sp>
      <p:graphicFrame>
        <p:nvGraphicFramePr>
          <p:cNvPr id="289" name="Google Shape;289;p14"/>
          <p:cNvGraphicFramePr/>
          <p:nvPr/>
        </p:nvGraphicFramePr>
        <p:xfrm>
          <a:off x="264425" y="755775"/>
          <a:ext cx="3000000" cy="3000000"/>
        </p:xfrm>
        <a:graphic>
          <a:graphicData uri="http://schemas.openxmlformats.org/drawingml/2006/table">
            <a:tbl>
              <a:tblPr>
                <a:noFill/>
                <a:tableStyleId>{D94F6760-089B-47EB-8253-D5C54B6EC847}</a:tableStyleId>
              </a:tblPr>
              <a:tblGrid>
                <a:gridCol w="1855975"/>
                <a:gridCol w="6695125"/>
              </a:tblGrid>
              <a:tr h="288100">
                <a:tc>
                  <a:txBody>
                    <a:bodyPr/>
                    <a:lstStyle/>
                    <a:p>
                      <a:pPr indent="0" lvl="0" marL="0" marR="0" rtl="0" algn="l">
                        <a:lnSpc>
                          <a:spcPct val="100000"/>
                        </a:lnSpc>
                        <a:spcBef>
                          <a:spcPts val="0"/>
                        </a:spcBef>
                        <a:spcAft>
                          <a:spcPts val="0"/>
                        </a:spcAft>
                        <a:buClr>
                          <a:srgbClr val="000000"/>
                        </a:buClr>
                        <a:buSzPts val="1000"/>
                        <a:buFont typeface="Arial"/>
                        <a:buNone/>
                      </a:pPr>
                      <a:r>
                        <a:rPr b="1" lang="en" sz="1000" u="none" cap="none" strike="noStrike">
                          <a:solidFill>
                            <a:srgbClr val="FFFFFF"/>
                          </a:solidFill>
                          <a:latin typeface="Montserrat"/>
                          <a:ea typeface="Montserrat"/>
                          <a:cs typeface="Montserrat"/>
                          <a:sym typeface="Montserrat"/>
                        </a:rPr>
                        <a:t>Component</a:t>
                      </a:r>
                      <a:endParaRPr b="1" sz="1000" u="none" cap="none" strike="noStrike">
                        <a:solidFill>
                          <a:srgbClr val="FFFFFF"/>
                        </a:solidFill>
                        <a:latin typeface="Montserrat"/>
                        <a:ea typeface="Montserrat"/>
                        <a:cs typeface="Montserrat"/>
                        <a:sym typeface="Montserrat"/>
                      </a:endParaRPr>
                    </a:p>
                  </a:txBody>
                  <a:tcPr marT="91425" marB="91425" marR="91425" marL="91425"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rgbClr val="12519C"/>
                    </a:solidFill>
                  </a:tcPr>
                </a:tc>
                <a:tc>
                  <a:txBody>
                    <a:bodyPr/>
                    <a:lstStyle/>
                    <a:p>
                      <a:pPr indent="0" lvl="0" marL="0" marR="0" rtl="0" algn="l">
                        <a:lnSpc>
                          <a:spcPct val="100000"/>
                        </a:lnSpc>
                        <a:spcBef>
                          <a:spcPts val="0"/>
                        </a:spcBef>
                        <a:spcAft>
                          <a:spcPts val="0"/>
                        </a:spcAft>
                        <a:buClr>
                          <a:srgbClr val="000000"/>
                        </a:buClr>
                        <a:buSzPts val="1000"/>
                        <a:buFont typeface="Arial"/>
                        <a:buNone/>
                      </a:pPr>
                      <a:r>
                        <a:rPr b="1" lang="en" sz="1000" u="none" cap="none" strike="noStrike">
                          <a:solidFill>
                            <a:srgbClr val="FFFFFF"/>
                          </a:solidFill>
                          <a:latin typeface="Montserrat"/>
                          <a:ea typeface="Montserrat"/>
                          <a:cs typeface="Montserrat"/>
                          <a:sym typeface="Montserrat"/>
                        </a:rPr>
                        <a:t>Key Considerations</a:t>
                      </a:r>
                      <a:endParaRPr b="1" sz="1000" u="none" cap="none" strike="noStrike">
                        <a:solidFill>
                          <a:srgbClr val="FFFFFF"/>
                        </a:solidFill>
                        <a:latin typeface="Montserrat"/>
                        <a:ea typeface="Montserrat"/>
                        <a:cs typeface="Montserrat"/>
                        <a:sym typeface="Montserrat"/>
                      </a:endParaRPr>
                    </a:p>
                  </a:txBody>
                  <a:tcPr marT="91425" marB="91425" marR="91425" marL="91425">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rgbClr val="12519C"/>
                    </a:solidFill>
                  </a:tcPr>
                </a:tc>
              </a:tr>
              <a:tr h="670500">
                <a:tc>
                  <a:txBody>
                    <a:bodyPr/>
                    <a:lstStyle/>
                    <a:p>
                      <a:r>
                        <a:t>UI Layer</a:t>
                      </a:r>
                    </a:p>
                  </a:txBody>
                  <a:tcPr marT="91425" marB="91425" marR="91425" marL="91425">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r>
                        <a:t>Responsive web interface for blog creation and management</a:t>
                      </a:r>
                    </a:p>
                  </a:txBody>
                  <a:tcPr marT="91425" marB="91425" marR="91425" marL="91425">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r>
              <a:tr h="602400">
                <a:tc>
                  <a:txBody>
                    <a:bodyPr/>
                    <a:lstStyle/>
                    <a:p>
                      <a:r>
                        <a:t>API Layer</a:t>
                      </a:r>
                    </a:p>
                  </a:txBody>
                  <a:tcPr marT="91425" marB="91425" marR="91425" marL="91425">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r>
                        <a:t>RESTful APIs for content management and user interactions</a:t>
                      </a:r>
                    </a:p>
                  </a:txBody>
                  <a:tcPr marT="91425" marB="91425" marR="91425" marL="91425">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r>
              <a:tr h="419075">
                <a:tc>
                  <a:txBody>
                    <a:bodyPr/>
                    <a:lstStyle/>
                    <a:p>
                      <a:r>
                        <a:t>Data Layer</a:t>
                      </a:r>
                    </a:p>
                  </a:txBody>
                  <a:tcPr marT="91425" marB="91425" marR="91425" marL="91425">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r>
                        <a:t>Cloud-based database for storing blog content and user data</a:t>
                      </a:r>
                    </a:p>
                  </a:txBody>
                  <a:tcPr marT="91425" marB="91425" marR="91425" marL="91425">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r>
              <a:tr h="367200">
                <a:tc>
                  <a:txBody>
                    <a:bodyPr/>
                    <a:lstStyle/>
                    <a:p>
                      <a:r>
                        <a:t>Integration Layer</a:t>
                      </a:r>
                    </a:p>
                  </a:txBody>
                  <a:tcPr marT="91425" marB="91425" marR="91425" marL="91425">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r>
                        <a:t>Connects with Google Analytics, AdSense, and moderation tools</a:t>
                      </a:r>
                    </a:p>
                  </a:txBody>
                  <a:tcPr marT="91425" marB="91425" marR="91425" marL="91425">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r>
              <a:tr h="465250">
                <a:tc>
                  <a:txBody>
                    <a:bodyPr/>
                    <a:lstStyle/>
                    <a:p/>
                  </a:txBody>
                  <a:tcPr marT="91425" marB="91425" marR="91425" marL="91425">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txBody>
                  <a:tcPr marT="91425" marB="91425" marR="91425" marL="91425">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r>
              <a:tr h="465250">
                <a:tc>
                  <a:txBody>
                    <a:bodyPr/>
                    <a:lstStyle/>
                    <a:p/>
                  </a:txBody>
                  <a:tcPr marT="91425" marB="91425" marR="91425" marL="91425">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txBody>
                  <a:tcPr marT="91425" marB="91425" marR="91425" marL="91425">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r>
              <a:tr h="555075">
                <a:tc>
                  <a:txBody>
                    <a:bodyPr/>
                    <a:lstStyle/>
                    <a:p/>
                  </a:txBody>
                  <a:tcPr marT="91425" marB="91425" marR="91425" marL="91425">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txBody>
                  <a:tcPr marT="91425" marB="91425" marR="91425" marL="91425">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r>
            </a:tbl>
          </a:graphicData>
        </a:graphic>
      </p:graphicFrame>
      <p:sp>
        <p:nvSpPr>
          <p:cNvPr id="290" name="Google Shape;290;p14"/>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sz="1000"/>
              <a:t>‹#›</a:t>
            </a:fld>
            <a:endParaRPr sz="10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15"/>
          <p:cNvSpPr/>
          <p:nvPr/>
        </p:nvSpPr>
        <p:spPr>
          <a:xfrm>
            <a:off x="0" y="144000"/>
            <a:ext cx="47400" cy="3573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6" name="Google Shape;296;p15"/>
          <p:cNvSpPr txBox="1"/>
          <p:nvPr>
            <p:ph type="title"/>
          </p:nvPr>
        </p:nvSpPr>
        <p:spPr>
          <a:xfrm>
            <a:off x="104500" y="141850"/>
            <a:ext cx="7467900" cy="3573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000"/>
              <a:buNone/>
            </a:pPr>
            <a:r>
              <a:rPr lang="en">
                <a:solidFill>
                  <a:schemeClr val="dk1"/>
                </a:solidFill>
              </a:rPr>
              <a:t>Mobile Development Platform - Comparison</a:t>
            </a:r>
            <a:endParaRPr>
              <a:solidFill>
                <a:schemeClr val="dk1"/>
              </a:solidFill>
            </a:endParaRPr>
          </a:p>
        </p:txBody>
      </p:sp>
      <p:sp>
        <p:nvSpPr>
          <p:cNvPr id="297" name="Google Shape;297;p15"/>
          <p:cNvSpPr txBox="1"/>
          <p:nvPr>
            <p:ph idx="12" type="sldNum"/>
          </p:nvPr>
        </p:nvSpPr>
        <p:spPr>
          <a:xfrm>
            <a:off x="8556784" y="6333134"/>
            <a:ext cx="548700" cy="5250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sz="1000">
                <a:latin typeface="Montserrat"/>
                <a:ea typeface="Montserrat"/>
                <a:cs typeface="Montserrat"/>
                <a:sym typeface="Montserrat"/>
              </a:rPr>
              <a:t>‹#›</a:t>
            </a:fld>
            <a:endParaRPr sz="1000">
              <a:latin typeface="Montserrat"/>
              <a:ea typeface="Montserrat"/>
              <a:cs typeface="Montserrat"/>
              <a:sym typeface="Montserrat"/>
            </a:endParaRPr>
          </a:p>
        </p:txBody>
      </p:sp>
      <p:sp>
        <p:nvSpPr>
          <p:cNvPr id="298" name="Google Shape;298;p15"/>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sz="1000"/>
              <a:t>‹#›</a:t>
            </a:fld>
            <a:endParaRPr sz="1000"/>
          </a:p>
        </p:txBody>
      </p:sp>
      <p:graphicFrame>
        <p:nvGraphicFramePr>
          <p:cNvPr id="299" name="Google Shape;299;p15"/>
          <p:cNvGraphicFramePr/>
          <p:nvPr/>
        </p:nvGraphicFramePr>
        <p:xfrm>
          <a:off x="189880" y="722548"/>
          <a:ext cx="3000000" cy="3000000"/>
        </p:xfrm>
        <a:graphic>
          <a:graphicData uri="http://schemas.openxmlformats.org/drawingml/2006/table">
            <a:tbl>
              <a:tblPr bandRow="1" firstRow="1">
                <a:noFill/>
                <a:tableStyleId>{605CC296-D303-4CE0-970A-263B8180C0D9}</a:tableStyleId>
              </a:tblPr>
              <a:tblGrid>
                <a:gridCol w="4210000"/>
                <a:gridCol w="2933625"/>
                <a:gridCol w="1567950"/>
              </a:tblGrid>
              <a:tr h="260600">
                <a:tc>
                  <a:txBody>
                    <a:bodyPr/>
                    <a:lstStyle/>
                    <a:p>
                      <a:pPr indent="0" lvl="0" marL="63500" marR="0" rtl="0" algn="l">
                        <a:lnSpc>
                          <a:spcPct val="100000"/>
                        </a:lnSpc>
                        <a:spcBef>
                          <a:spcPts val="0"/>
                        </a:spcBef>
                        <a:spcAft>
                          <a:spcPts val="0"/>
                        </a:spcAft>
                        <a:buClr>
                          <a:srgbClr val="FFFFFF"/>
                        </a:buClr>
                        <a:buSzPts val="900"/>
                        <a:buFont typeface="Arial"/>
                        <a:buNone/>
                      </a:pPr>
                      <a:r>
                        <a:rPr lang="en" sz="1100" u="none" cap="none" strike="noStrike">
                          <a:latin typeface="Montserrat"/>
                          <a:ea typeface="Montserrat"/>
                          <a:cs typeface="Montserrat"/>
                          <a:sym typeface="Montserrat"/>
                        </a:rPr>
                        <a:t>Factors</a:t>
                      </a:r>
                      <a:endParaRPr sz="1100" u="none" cap="none" strike="noStrike">
                        <a:solidFill>
                          <a:srgbClr val="FFFFFF"/>
                        </a:solidFill>
                        <a:latin typeface="Montserrat"/>
                        <a:ea typeface="Montserrat"/>
                        <a:cs typeface="Montserrat"/>
                        <a:sym typeface="Montserrat"/>
                      </a:endParaRPr>
                    </a:p>
                  </a:txBody>
                  <a:tcPr marT="46050" marB="46050" marR="46050" marL="4605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accent2"/>
                    </a:solidFill>
                  </a:tcPr>
                </a:tc>
                <a:tc>
                  <a:txBody>
                    <a:bodyPr/>
                    <a:lstStyle/>
                    <a:p>
                      <a:pPr indent="0" lvl="0" marL="63500" marR="0" rtl="0" algn="ctr">
                        <a:lnSpc>
                          <a:spcPct val="100000"/>
                        </a:lnSpc>
                        <a:spcBef>
                          <a:spcPts val="0"/>
                        </a:spcBef>
                        <a:spcAft>
                          <a:spcPts val="0"/>
                        </a:spcAft>
                        <a:buClr>
                          <a:srgbClr val="FFFFFF"/>
                        </a:buClr>
                        <a:buSzPts val="900"/>
                        <a:buFont typeface="Arial"/>
                        <a:buNone/>
                      </a:pPr>
                      <a:r>
                        <a:rPr lang="en" sz="1100" u="none" cap="none" strike="noStrike">
                          <a:solidFill>
                            <a:srgbClr val="FFFFFF"/>
                          </a:solidFill>
                          <a:latin typeface="Montserrat"/>
                          <a:ea typeface="Montserrat"/>
                          <a:cs typeface="Montserrat"/>
                          <a:sym typeface="Montserrat"/>
                        </a:rPr>
                        <a:t>REACT NATIVE</a:t>
                      </a:r>
                      <a:endParaRPr sz="1100" u="none" cap="none" strike="noStrike">
                        <a:solidFill>
                          <a:srgbClr val="FFFFFF"/>
                        </a:solidFill>
                        <a:latin typeface="Montserrat"/>
                        <a:ea typeface="Montserrat"/>
                        <a:cs typeface="Montserrat"/>
                        <a:sym typeface="Montserrat"/>
                      </a:endParaRPr>
                    </a:p>
                  </a:txBody>
                  <a:tcPr marT="46050" marB="46050" marR="46050" marL="4605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accent2"/>
                    </a:solidFill>
                  </a:tcPr>
                </a:tc>
                <a:tc>
                  <a:txBody>
                    <a:bodyPr/>
                    <a:lstStyle/>
                    <a:p>
                      <a:pPr indent="0" lvl="0" marL="63500" marR="0" rtl="0" algn="ctr">
                        <a:lnSpc>
                          <a:spcPct val="100000"/>
                        </a:lnSpc>
                        <a:spcBef>
                          <a:spcPts val="0"/>
                        </a:spcBef>
                        <a:spcAft>
                          <a:spcPts val="0"/>
                        </a:spcAft>
                        <a:buClr>
                          <a:srgbClr val="FFFFFF"/>
                        </a:buClr>
                        <a:buSzPts val="900"/>
                        <a:buFont typeface="Arial"/>
                        <a:buNone/>
                      </a:pPr>
                      <a:r>
                        <a:rPr lang="en" sz="1100" u="none" cap="none" strike="noStrike">
                          <a:solidFill>
                            <a:srgbClr val="FFFFFF"/>
                          </a:solidFill>
                          <a:latin typeface="Montserrat"/>
                          <a:ea typeface="Montserrat"/>
                          <a:cs typeface="Montserrat"/>
                          <a:sym typeface="Montserrat"/>
                        </a:rPr>
                        <a:t>Flutter</a:t>
                      </a:r>
                      <a:endParaRPr sz="1100" u="none" cap="none" strike="noStrike">
                        <a:solidFill>
                          <a:srgbClr val="FFFFFF"/>
                        </a:solidFill>
                        <a:latin typeface="Montserrat"/>
                        <a:ea typeface="Montserrat"/>
                        <a:cs typeface="Montserrat"/>
                        <a:sym typeface="Montserrat"/>
                      </a:endParaRPr>
                    </a:p>
                  </a:txBody>
                  <a:tcPr marT="46050" marB="46050" marR="46050" marL="4605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accent2"/>
                    </a:solidFill>
                  </a:tcPr>
                </a:tc>
              </a:tr>
              <a:tr h="307700">
                <a:tc>
                  <a:txBody>
                    <a:bodyPr/>
                    <a:lstStyle/>
                    <a:p>
                      <a:r>
                        <a:t>Factor</a:t>
                      </a:r>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FF"/>
                    </a:solidFill>
                  </a:tcPr>
                </a:tc>
                <a:tc>
                  <a:txBody>
                    <a:bodyPr/>
                    <a:lstStyle/>
                    <a:p>
                      <a:r>
                        <a:t>Option A</a:t>
                      </a:r>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FF"/>
                    </a:solidFill>
                  </a:tcPr>
                </a:tc>
                <a:tc>
                  <a:txBody>
                    <a:bodyPr/>
                    <a:lstStyle/>
                    <a:p>
                      <a:r>
                        <a:t>Option B</a:t>
                      </a:r>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FF"/>
                    </a:solidFill>
                  </a:tcPr>
                </a:tc>
              </a:tr>
              <a:tr h="307700">
                <a:tc>
                  <a:txBody>
                    <a:bodyPr/>
                    <a:lstStyle/>
                    <a:p>
                      <a:r>
                        <a:t>Platform</a:t>
                      </a:r>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FF"/>
                    </a:solidFill>
                  </a:tcPr>
                </a:tc>
                <a:tc>
                  <a:txBody>
                    <a:bodyPr/>
                    <a:lstStyle/>
                    <a:p>
                      <a:r>
                        <a:t>Web-based</a:t>
                      </a:r>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FF"/>
                    </a:solidFill>
                  </a:tcPr>
                </a:tc>
                <a:tc>
                  <a:txBody>
                    <a:bodyPr/>
                    <a:lstStyle/>
                    <a:p>
                      <a:r>
                        <a:t>Native (iOS/Android)</a:t>
                      </a:r>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FF"/>
                    </a:solidFill>
                  </a:tcPr>
                </a:tc>
              </a:tr>
              <a:tr h="341775">
                <a:tc>
                  <a:txBody>
                    <a:bodyPr/>
                    <a:lstStyle/>
                    <a:p>
                      <a:r>
                        <a:t>Development</a:t>
                      </a:r>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FF"/>
                    </a:solidFill>
                  </a:tcPr>
                </a:tc>
                <a:tc>
                  <a:txBody>
                    <a:bodyPr/>
                    <a:lstStyle/>
                    <a:p>
                      <a:r>
                        <a:t>Single codebase</a:t>
                      </a:r>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FF"/>
                    </a:solidFill>
                  </a:tcPr>
                </a:tc>
                <a:tc>
                  <a:txBody>
                    <a:bodyPr/>
                    <a:lstStyle/>
                    <a:p>
                      <a:r>
                        <a:t>Separate codebases</a:t>
                      </a:r>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FF"/>
                    </a:solidFill>
                  </a:tcPr>
                </a:tc>
              </a:tr>
              <a:tr h="315350">
                <a:tc>
                  <a:txBody>
                    <a:bodyPr/>
                    <a:lstStyle/>
                    <a:p>
                      <a:r>
                        <a:t>Performance</a:t>
                      </a:r>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FF"/>
                    </a:solidFill>
                  </a:tcPr>
                </a:tc>
                <a:tc>
                  <a:txBody>
                    <a:bodyPr/>
                    <a:lstStyle/>
                    <a:p>
                      <a:r>
                        <a:t>Optimized for all devices</a:t>
                      </a:r>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FF"/>
                    </a:solidFill>
                  </a:tcPr>
                </a:tc>
                <a:tc>
                  <a:txBody>
                    <a:bodyPr/>
                    <a:lstStyle/>
                    <a:p>
                      <a:r>
                        <a:t>Device-specific optimizations</a:t>
                      </a:r>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FF"/>
                    </a:solidFill>
                  </a:tcPr>
                </a:tc>
              </a:tr>
              <a:tr h="315350">
                <a:tc>
                  <a:txBody>
                    <a:bodyPr/>
                    <a:lstStyle/>
                    <a:p>
                      <a:r>
                        <a:t>User Experience</a:t>
                      </a:r>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FF"/>
                    </a:solidFill>
                  </a:tcPr>
                </a:tc>
                <a:tc>
                  <a:txBody>
                    <a:bodyPr/>
                    <a:lstStyle/>
                    <a:p>
                      <a:r>
                        <a:t>Cross-platform consistency</a:t>
                      </a:r>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FF"/>
                    </a:solidFill>
                  </a:tcPr>
                </a:tc>
                <a:tc>
                  <a:txBody>
                    <a:bodyPr/>
                    <a:lstStyle/>
                    <a:p>
                      <a:r>
                        <a:t>Native app feel and features</a:t>
                      </a:r>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FF"/>
                    </a:solidFill>
                  </a:tcPr>
                </a:tc>
              </a:tr>
              <a:tr h="315350">
                <a:tc>
                  <a:txBody>
                    <a:bodyPr/>
                    <a:lstStyle/>
                    <a:p>
                      <a:r>
                        <a:t>Maintenance</a:t>
                      </a:r>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FF"/>
                    </a:solidFill>
                  </a:tcPr>
                </a:tc>
                <a:tc>
                  <a:txBody>
                    <a:bodyPr/>
                    <a:lstStyle/>
                    <a:p>
                      <a:r>
                        <a:t>Lower cost</a:t>
                      </a:r>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FF"/>
                    </a:solidFill>
                  </a:tcPr>
                </a:tc>
                <a:tc>
                  <a:txBody>
                    <a:bodyPr/>
                    <a:lstStyle/>
                    <a:p>
                      <a:r>
                        <a:t>Higher cost for two platforms</a:t>
                      </a:r>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FF"/>
                    </a:solidFill>
                  </a:tcPr>
                </a:tc>
              </a:tr>
              <a:tr h="307700">
                <a:tc>
                  <a:txBody>
                    <a:bodyPr/>
                    <a:lstStyle/>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FF"/>
                    </a:solidFill>
                  </a:tcPr>
                </a:tc>
                <a:tc>
                  <a:txBody>
                    <a:bodyPr/>
                    <a:lstStyle/>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FF"/>
                    </a:solidFill>
                  </a:tcPr>
                </a:tc>
                <a:tc>
                  <a:txBody>
                    <a:bodyPr/>
                    <a:lstStyle/>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FF"/>
                    </a:solidFill>
                  </a:tcPr>
                </a:tc>
              </a:tr>
              <a:tr h="307700">
                <a:tc>
                  <a:txBody>
                    <a:bodyPr/>
                    <a:lstStyle/>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307700">
                <a:tc>
                  <a:txBody>
                    <a:bodyPr/>
                    <a:lstStyle/>
                    <a:p/>
                  </a:txBody>
                  <a:tcPr marT="46050" marB="46050" marR="46050" marL="4605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txBody>
                  <a:tcPr marT="46050" marB="46050" marR="46050" marL="4605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txBody>
                  <a:tcPr marT="46050" marB="46050" marR="46050" marL="4605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307700">
                <a:tc>
                  <a:txBody>
                    <a:bodyPr/>
                    <a:lstStyle/>
                    <a:p/>
                  </a:txBody>
                  <a:tcPr marT="46050" marB="46050" marR="46050" marL="4605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txBody>
                  <a:tcPr marT="46050" marB="46050" marR="46050" marL="4605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txBody>
                  <a:tcPr marT="46050" marB="46050" marR="46050" marL="4605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307700">
                <a:tc>
                  <a:txBody>
                    <a:bodyPr/>
                    <a:lstStyle/>
                    <a:p/>
                  </a:txBody>
                  <a:tcPr marT="46050" marB="46050" marR="46050" marL="4605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txBody>
                  <a:tcPr marT="46050" marB="46050" marR="46050" marL="4605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txBody>
                  <a:tcPr marT="46050" marB="46050" marR="46050" marL="4605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bl>
          </a:graphicData>
        </a:graphic>
      </p:graphicFrame>
      <p:sp>
        <p:nvSpPr>
          <p:cNvPr id="300" name="Google Shape;300;p15"/>
          <p:cNvSpPr txBox="1"/>
          <p:nvPr/>
        </p:nvSpPr>
        <p:spPr>
          <a:xfrm>
            <a:off x="0" y="4485550"/>
            <a:ext cx="9144000" cy="495000"/>
          </a:xfrm>
          <a:prstGeom prst="rect">
            <a:avLst/>
          </a:prstGeom>
          <a:solidFill>
            <a:srgbClr val="FFFFFF"/>
          </a:solidFill>
          <a:ln>
            <a:noFill/>
          </a:ln>
        </p:spPr>
        <p:txBody>
          <a:bodyPr anchorCtr="0" anchor="t" bIns="91425" lIns="91425" spcFirstLastPara="1" rIns="91425" wrap="square" tIns="91425">
            <a:noAutofit/>
          </a:bodyPr>
          <a:lstStyle/>
          <a:p>
            <a:pPr>
              <a:spcAft>
                <a:spcPts val="200"/>
              </a:spcAft>
            </a:pPr>
            <a:r>
              <a:rPr sz="1000"/>
              <a:t>Maintenance | Lower cost | Higher cost for two platforms</a:t>
            </a: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p16"/>
          <p:cNvSpPr/>
          <p:nvPr/>
        </p:nvSpPr>
        <p:spPr>
          <a:xfrm>
            <a:off x="0" y="144000"/>
            <a:ext cx="47400" cy="3573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6" name="Google Shape;306;p16"/>
          <p:cNvSpPr txBox="1"/>
          <p:nvPr>
            <p:ph type="title"/>
          </p:nvPr>
        </p:nvSpPr>
        <p:spPr>
          <a:xfrm>
            <a:off x="104500" y="141850"/>
            <a:ext cx="6703800" cy="3573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000"/>
              <a:buNone/>
            </a:pPr>
            <a:r>
              <a:rPr lang="en"/>
              <a:t>Agenda</a:t>
            </a:r>
            <a:endParaRPr/>
          </a:p>
        </p:txBody>
      </p:sp>
      <p:sp>
        <p:nvSpPr>
          <p:cNvPr id="307" name="Google Shape;307;p16"/>
          <p:cNvSpPr/>
          <p:nvPr/>
        </p:nvSpPr>
        <p:spPr>
          <a:xfrm>
            <a:off x="1358763" y="1111025"/>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200"/>
              <a:buFont typeface="Arial"/>
              <a:buNone/>
            </a:pPr>
            <a:r>
              <a:rPr b="0" i="0" lang="en" sz="1200" u="none" cap="none" strike="noStrike">
                <a:solidFill>
                  <a:srgbClr val="000000"/>
                </a:solidFill>
                <a:latin typeface="Montserrat"/>
                <a:ea typeface="Montserrat"/>
                <a:cs typeface="Montserrat"/>
                <a:sym typeface="Montserrat"/>
              </a:rPr>
              <a:t>Executive Summary and Our Understanding of Project Requirements</a:t>
            </a:r>
            <a:endParaRPr b="0" i="0" sz="1200" u="none" cap="none" strike="noStrike">
              <a:solidFill>
                <a:srgbClr val="000000"/>
              </a:solidFill>
              <a:latin typeface="Montserrat"/>
              <a:ea typeface="Montserrat"/>
              <a:cs typeface="Montserrat"/>
              <a:sym typeface="Montserrat"/>
            </a:endParaRPr>
          </a:p>
        </p:txBody>
      </p:sp>
      <p:sp>
        <p:nvSpPr>
          <p:cNvPr id="308" name="Google Shape;308;p16"/>
          <p:cNvSpPr/>
          <p:nvPr/>
        </p:nvSpPr>
        <p:spPr>
          <a:xfrm>
            <a:off x="1358763" y="1678410"/>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200"/>
              <a:buFont typeface="Arial"/>
              <a:buNone/>
            </a:pPr>
            <a:r>
              <a:rPr b="0" i="0" lang="en" sz="1200" u="none" cap="none" strike="noStrike">
                <a:solidFill>
                  <a:srgbClr val="000000"/>
                </a:solidFill>
                <a:latin typeface="Montserrat"/>
                <a:ea typeface="Montserrat"/>
                <a:cs typeface="Montserrat"/>
                <a:sym typeface="Montserrat"/>
              </a:rPr>
              <a:t>Proposed Technical Solution Approach</a:t>
            </a:r>
            <a:endParaRPr b="0" i="0" sz="1200" u="none" cap="none" strike="noStrike">
              <a:solidFill>
                <a:srgbClr val="000000"/>
              </a:solidFill>
              <a:latin typeface="Montserrat"/>
              <a:ea typeface="Montserrat"/>
              <a:cs typeface="Montserrat"/>
              <a:sym typeface="Montserrat"/>
            </a:endParaRPr>
          </a:p>
        </p:txBody>
      </p:sp>
      <p:sp>
        <p:nvSpPr>
          <p:cNvPr id="309" name="Google Shape;309;p16"/>
          <p:cNvSpPr/>
          <p:nvPr/>
        </p:nvSpPr>
        <p:spPr>
          <a:xfrm>
            <a:off x="1358763" y="3289875"/>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100"/>
              <a:buFont typeface="Arial"/>
              <a:buNone/>
            </a:pPr>
            <a:r>
              <a:rPr b="0" i="0" lang="en" sz="1200" u="none" cap="none" strike="noStrike">
                <a:solidFill>
                  <a:srgbClr val="000000"/>
                </a:solidFill>
                <a:latin typeface="Montserrat"/>
                <a:ea typeface="Montserrat"/>
                <a:cs typeface="Montserrat"/>
                <a:sym typeface="Montserrat"/>
              </a:rPr>
              <a:t>Success Stories</a:t>
            </a:r>
            <a:endParaRPr b="0" i="0" sz="1200" u="none" cap="none" strike="noStrike">
              <a:solidFill>
                <a:srgbClr val="000000"/>
              </a:solidFill>
              <a:latin typeface="Montserrat"/>
              <a:ea typeface="Montserrat"/>
              <a:cs typeface="Montserrat"/>
              <a:sym typeface="Montserrat"/>
            </a:endParaRPr>
          </a:p>
        </p:txBody>
      </p:sp>
      <p:cxnSp>
        <p:nvCxnSpPr>
          <p:cNvPr id="310" name="Google Shape;310;p16"/>
          <p:cNvCxnSpPr/>
          <p:nvPr/>
        </p:nvCxnSpPr>
        <p:spPr>
          <a:xfrm>
            <a:off x="1367196" y="1108050"/>
            <a:ext cx="0" cy="382200"/>
          </a:xfrm>
          <a:prstGeom prst="straightConnector1">
            <a:avLst/>
          </a:prstGeom>
          <a:noFill/>
          <a:ln cap="flat" cmpd="sng" w="19050">
            <a:solidFill>
              <a:srgbClr val="12519C"/>
            </a:solidFill>
            <a:prstDash val="solid"/>
            <a:round/>
            <a:headEnd len="sm" w="sm" type="none"/>
            <a:tailEnd len="sm" w="sm" type="none"/>
          </a:ln>
        </p:spPr>
      </p:cxnSp>
      <p:cxnSp>
        <p:nvCxnSpPr>
          <p:cNvPr id="311" name="Google Shape;311;p16"/>
          <p:cNvCxnSpPr/>
          <p:nvPr/>
        </p:nvCxnSpPr>
        <p:spPr>
          <a:xfrm>
            <a:off x="1367196" y="1675436"/>
            <a:ext cx="0" cy="382200"/>
          </a:xfrm>
          <a:prstGeom prst="straightConnector1">
            <a:avLst/>
          </a:prstGeom>
          <a:noFill/>
          <a:ln cap="flat" cmpd="sng" w="19050">
            <a:solidFill>
              <a:srgbClr val="12519C"/>
            </a:solidFill>
            <a:prstDash val="solid"/>
            <a:round/>
            <a:headEnd len="sm" w="sm" type="none"/>
            <a:tailEnd len="sm" w="sm" type="none"/>
          </a:ln>
        </p:spPr>
      </p:cxnSp>
      <p:cxnSp>
        <p:nvCxnSpPr>
          <p:cNvPr id="312" name="Google Shape;312;p16"/>
          <p:cNvCxnSpPr/>
          <p:nvPr/>
        </p:nvCxnSpPr>
        <p:spPr>
          <a:xfrm>
            <a:off x="1367196" y="3288390"/>
            <a:ext cx="0" cy="382200"/>
          </a:xfrm>
          <a:prstGeom prst="straightConnector1">
            <a:avLst/>
          </a:prstGeom>
          <a:noFill/>
          <a:ln cap="flat" cmpd="sng" w="19050">
            <a:solidFill>
              <a:srgbClr val="12519C"/>
            </a:solidFill>
            <a:prstDash val="solid"/>
            <a:round/>
            <a:headEnd len="sm" w="sm" type="none"/>
            <a:tailEnd len="sm" w="sm" type="none"/>
          </a:ln>
        </p:spPr>
      </p:cxnSp>
      <p:sp>
        <p:nvSpPr>
          <p:cNvPr id="313" name="Google Shape;313;p16"/>
          <p:cNvSpPr/>
          <p:nvPr/>
        </p:nvSpPr>
        <p:spPr>
          <a:xfrm>
            <a:off x="1048238" y="1260478"/>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4" name="Google Shape;314;p16"/>
          <p:cNvSpPr/>
          <p:nvPr/>
        </p:nvSpPr>
        <p:spPr>
          <a:xfrm>
            <a:off x="1048238" y="1827880"/>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5" name="Google Shape;315;p16"/>
          <p:cNvSpPr/>
          <p:nvPr/>
        </p:nvSpPr>
        <p:spPr>
          <a:xfrm>
            <a:off x="1048238" y="3439362"/>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6" name="Google Shape;316;p16"/>
          <p:cNvSpPr/>
          <p:nvPr/>
        </p:nvSpPr>
        <p:spPr>
          <a:xfrm>
            <a:off x="1358763" y="2245805"/>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200"/>
              <a:buFont typeface="Arial"/>
              <a:buNone/>
            </a:pPr>
            <a:r>
              <a:rPr b="1" i="0" lang="en" sz="1200" u="none" cap="none" strike="noStrike">
                <a:solidFill>
                  <a:srgbClr val="D71B7F"/>
                </a:solidFill>
                <a:latin typeface="Montserrat"/>
                <a:ea typeface="Montserrat"/>
                <a:cs typeface="Montserrat"/>
                <a:sym typeface="Montserrat"/>
              </a:rPr>
              <a:t>Project Plan and Key Deliverables</a:t>
            </a:r>
            <a:endParaRPr b="1" i="0" sz="1200" u="none" cap="none" strike="noStrike">
              <a:solidFill>
                <a:srgbClr val="D71B7F"/>
              </a:solidFill>
              <a:latin typeface="Montserrat"/>
              <a:ea typeface="Montserrat"/>
              <a:cs typeface="Montserrat"/>
              <a:sym typeface="Montserrat"/>
            </a:endParaRPr>
          </a:p>
        </p:txBody>
      </p:sp>
      <p:cxnSp>
        <p:nvCxnSpPr>
          <p:cNvPr id="317" name="Google Shape;317;p16"/>
          <p:cNvCxnSpPr/>
          <p:nvPr/>
        </p:nvCxnSpPr>
        <p:spPr>
          <a:xfrm>
            <a:off x="1367196" y="2242832"/>
            <a:ext cx="0" cy="382200"/>
          </a:xfrm>
          <a:prstGeom prst="straightConnector1">
            <a:avLst/>
          </a:prstGeom>
          <a:noFill/>
          <a:ln cap="flat" cmpd="sng" w="19050">
            <a:solidFill>
              <a:srgbClr val="12519C"/>
            </a:solidFill>
            <a:prstDash val="solid"/>
            <a:round/>
            <a:headEnd len="sm" w="sm" type="none"/>
            <a:tailEnd len="sm" w="sm" type="none"/>
          </a:ln>
        </p:spPr>
      </p:cxnSp>
      <p:sp>
        <p:nvSpPr>
          <p:cNvPr id="318" name="Google Shape;318;p16"/>
          <p:cNvSpPr/>
          <p:nvPr/>
        </p:nvSpPr>
        <p:spPr>
          <a:xfrm>
            <a:off x="1048238" y="2395275"/>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9" name="Google Shape;319;p16"/>
          <p:cNvSpPr/>
          <p:nvPr/>
        </p:nvSpPr>
        <p:spPr>
          <a:xfrm>
            <a:off x="1358763" y="2755885"/>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100"/>
              <a:buFont typeface="Arial"/>
              <a:buNone/>
            </a:pPr>
            <a:r>
              <a:rPr b="0" i="0" lang="en" sz="1200" u="none" cap="none" strike="noStrike">
                <a:solidFill>
                  <a:srgbClr val="000000"/>
                </a:solidFill>
                <a:latin typeface="Montserrat"/>
                <a:ea typeface="Montserrat"/>
                <a:cs typeface="Montserrat"/>
                <a:sym typeface="Montserrat"/>
              </a:rPr>
              <a:t>Commercial Summary</a:t>
            </a:r>
            <a:endParaRPr b="0" i="0" sz="1200" u="none" cap="none" strike="noStrike">
              <a:solidFill>
                <a:srgbClr val="000000"/>
              </a:solidFill>
              <a:latin typeface="Montserrat"/>
              <a:ea typeface="Montserrat"/>
              <a:cs typeface="Montserrat"/>
              <a:sym typeface="Montserrat"/>
            </a:endParaRPr>
          </a:p>
        </p:txBody>
      </p:sp>
      <p:cxnSp>
        <p:nvCxnSpPr>
          <p:cNvPr id="320" name="Google Shape;320;p16"/>
          <p:cNvCxnSpPr/>
          <p:nvPr/>
        </p:nvCxnSpPr>
        <p:spPr>
          <a:xfrm>
            <a:off x="1367196" y="2752912"/>
            <a:ext cx="0" cy="382200"/>
          </a:xfrm>
          <a:prstGeom prst="straightConnector1">
            <a:avLst/>
          </a:prstGeom>
          <a:noFill/>
          <a:ln cap="flat" cmpd="sng" w="19050">
            <a:solidFill>
              <a:srgbClr val="12519C"/>
            </a:solidFill>
            <a:prstDash val="solid"/>
            <a:round/>
            <a:headEnd len="sm" w="sm" type="none"/>
            <a:tailEnd len="sm" w="sm" type="none"/>
          </a:ln>
        </p:spPr>
      </p:cxnSp>
      <p:sp>
        <p:nvSpPr>
          <p:cNvPr id="321" name="Google Shape;321;p16"/>
          <p:cNvSpPr/>
          <p:nvPr/>
        </p:nvSpPr>
        <p:spPr>
          <a:xfrm>
            <a:off x="1048238" y="2905355"/>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2" name="Google Shape;322;p16"/>
          <p:cNvSpPr txBox="1"/>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1000"/>
              <a:buFont typeface="Arial"/>
              <a:buNone/>
            </a:pPr>
            <a:fld id="{00000000-1234-1234-1234-123412341234}" type="slidenum">
              <a:rPr b="0" i="0" lang="en" sz="1000" u="none" cap="none" strike="noStrike">
                <a:solidFill>
                  <a:srgbClr val="000000"/>
                </a:solidFill>
                <a:latin typeface="Montserrat"/>
                <a:ea typeface="Montserrat"/>
                <a:cs typeface="Montserrat"/>
                <a:sym typeface="Montserrat"/>
              </a:rPr>
              <a:t>‹#›</a:t>
            </a:fld>
            <a:endParaRPr b="0" i="0" sz="1000" u="none" cap="none" strike="noStrike">
              <a:solidFill>
                <a:srgbClr val="000000"/>
              </a:solidFill>
              <a:latin typeface="Montserrat"/>
              <a:ea typeface="Montserrat"/>
              <a:cs typeface="Montserrat"/>
              <a:sym typeface="Montserrat"/>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sp>
        <p:nvSpPr>
          <p:cNvPr id="327" name="Google Shape;327;p17"/>
          <p:cNvSpPr/>
          <p:nvPr/>
        </p:nvSpPr>
        <p:spPr>
          <a:xfrm>
            <a:off x="1623100" y="934600"/>
            <a:ext cx="7355400" cy="3713100"/>
          </a:xfrm>
          <a:prstGeom prst="snip1Rect">
            <a:avLst>
              <a:gd fmla="val 8163" name="adj"/>
            </a:avLst>
          </a:prstGeom>
          <a:solidFill>
            <a:srgbClr val="FFFFFF"/>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200"/>
              <a:buFont typeface="Arial"/>
              <a:buNone/>
            </a:pPr>
            <a:r>
              <a:t/>
            </a:r>
            <a:endParaRPr b="0" i="0" sz="1200" u="none" cap="none" strike="noStrike">
              <a:solidFill>
                <a:schemeClr val="dk1"/>
              </a:solidFill>
              <a:latin typeface="Montserrat"/>
              <a:ea typeface="Montserrat"/>
              <a:cs typeface="Montserrat"/>
              <a:sym typeface="Montserrat"/>
            </a:endParaRPr>
          </a:p>
        </p:txBody>
      </p:sp>
      <p:sp>
        <p:nvSpPr>
          <p:cNvPr id="328" name="Google Shape;328;p17"/>
          <p:cNvSpPr/>
          <p:nvPr/>
        </p:nvSpPr>
        <p:spPr>
          <a:xfrm>
            <a:off x="236853" y="1505825"/>
            <a:ext cx="1877400" cy="2588100"/>
          </a:xfrm>
          <a:prstGeom prst="snip1Rect">
            <a:avLst>
              <a:gd fmla="val 8163" name="adj"/>
            </a:avLst>
          </a:prstGeom>
          <a:solidFill>
            <a:srgbClr val="FFFFFF"/>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200"/>
              <a:buFont typeface="Arial"/>
              <a:buNone/>
            </a:pPr>
            <a:r>
              <a:t/>
            </a:r>
            <a:endParaRPr b="0" i="0" sz="1200" u="none" cap="none" strike="noStrike">
              <a:solidFill>
                <a:schemeClr val="dk1"/>
              </a:solidFill>
              <a:latin typeface="Montserrat"/>
              <a:ea typeface="Montserrat"/>
              <a:cs typeface="Montserrat"/>
              <a:sym typeface="Montserrat"/>
            </a:endParaRPr>
          </a:p>
        </p:txBody>
      </p:sp>
      <p:sp>
        <p:nvSpPr>
          <p:cNvPr id="329" name="Google Shape;329;p17"/>
          <p:cNvSpPr txBox="1"/>
          <p:nvPr/>
        </p:nvSpPr>
        <p:spPr>
          <a:xfrm>
            <a:off x="105040" y="143994"/>
            <a:ext cx="6765900" cy="357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1" i="0" lang="en" sz="2000" u="none" cap="none" strike="noStrike">
                <a:solidFill>
                  <a:schemeClr val="dk1"/>
                </a:solidFill>
                <a:latin typeface="Montserrat"/>
                <a:ea typeface="Montserrat"/>
                <a:cs typeface="Montserrat"/>
                <a:sym typeface="Montserrat"/>
              </a:rPr>
              <a:t>Project Management Approach</a:t>
            </a:r>
            <a:endParaRPr b="1" i="0" sz="2000" u="none" cap="none" strike="noStrike">
              <a:solidFill>
                <a:schemeClr val="dk1"/>
              </a:solidFill>
              <a:latin typeface="Montserrat"/>
              <a:ea typeface="Montserrat"/>
              <a:cs typeface="Montserrat"/>
              <a:sym typeface="Montserrat"/>
            </a:endParaRPr>
          </a:p>
        </p:txBody>
      </p:sp>
      <p:sp>
        <p:nvSpPr>
          <p:cNvPr id="330" name="Google Shape;330;p17"/>
          <p:cNvSpPr/>
          <p:nvPr/>
        </p:nvSpPr>
        <p:spPr>
          <a:xfrm>
            <a:off x="2303501" y="2698629"/>
            <a:ext cx="1202100" cy="1327200"/>
          </a:xfrm>
          <a:prstGeom prst="rect">
            <a:avLst/>
          </a:prstGeom>
          <a:noFill/>
          <a:ln cap="flat" cmpd="sng" w="9525">
            <a:solidFill>
              <a:srgbClr val="D8D8D8"/>
            </a:solidFill>
            <a:prstDash val="solid"/>
            <a:miter lim="8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331" name="Google Shape;331;p17"/>
          <p:cNvSpPr/>
          <p:nvPr/>
        </p:nvSpPr>
        <p:spPr>
          <a:xfrm>
            <a:off x="3799228" y="2698629"/>
            <a:ext cx="1202100" cy="1366800"/>
          </a:xfrm>
          <a:prstGeom prst="rect">
            <a:avLst/>
          </a:prstGeom>
          <a:noFill/>
          <a:ln cap="flat" cmpd="sng" w="9525">
            <a:solidFill>
              <a:srgbClr val="D8D8D8"/>
            </a:solidFill>
            <a:prstDash val="solid"/>
            <a:miter lim="8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332" name="Google Shape;332;p17"/>
          <p:cNvSpPr/>
          <p:nvPr/>
        </p:nvSpPr>
        <p:spPr>
          <a:xfrm>
            <a:off x="2303500" y="1677712"/>
            <a:ext cx="1177200" cy="795000"/>
          </a:xfrm>
          <a:prstGeom prst="rect">
            <a:avLst/>
          </a:prstGeom>
          <a:solidFill>
            <a:srgbClr val="FFFFFF"/>
          </a:solidFill>
          <a:ln>
            <a:noFill/>
          </a:ln>
          <a:effectLst>
            <a:outerShdw blurRad="157163" rotWithShape="0" algn="bl" dir="9060000" dist="9525">
              <a:srgbClr val="000000">
                <a:alpha val="14118"/>
              </a:srgbClr>
            </a:outerShdw>
          </a:effectLst>
        </p:spPr>
        <p:txBody>
          <a:bodyPr anchorCtr="0" anchor="b"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616161"/>
                </a:solidFill>
                <a:latin typeface="Montserrat"/>
                <a:ea typeface="Montserrat"/>
                <a:cs typeface="Montserrat"/>
                <a:sym typeface="Montserrat"/>
              </a:rPr>
              <a:t>Engagement </a:t>
            </a:r>
            <a:endParaRPr b="1" i="0" sz="900" u="none" cap="none" strike="noStrike">
              <a:solidFill>
                <a:srgbClr val="616161"/>
              </a:solidFill>
              <a:latin typeface="Montserrat"/>
              <a:ea typeface="Montserrat"/>
              <a:cs typeface="Montserrat"/>
              <a:sym typeface="Montserrat"/>
            </a:endParaRPr>
          </a:p>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616161"/>
                </a:solidFill>
                <a:latin typeface="Montserrat"/>
                <a:ea typeface="Montserrat"/>
                <a:cs typeface="Montserrat"/>
                <a:sym typeface="Montserrat"/>
              </a:rPr>
              <a:t>Kick off &amp; Discovery</a:t>
            </a:r>
            <a:endParaRPr b="1" i="0" sz="900" u="none" cap="none" strike="noStrike">
              <a:solidFill>
                <a:srgbClr val="616161"/>
              </a:solidFill>
              <a:latin typeface="Montserrat"/>
              <a:ea typeface="Montserrat"/>
              <a:cs typeface="Montserrat"/>
              <a:sym typeface="Montserrat"/>
            </a:endParaRPr>
          </a:p>
        </p:txBody>
      </p:sp>
      <p:sp>
        <p:nvSpPr>
          <p:cNvPr id="333" name="Google Shape;333;p17"/>
          <p:cNvSpPr/>
          <p:nvPr/>
        </p:nvSpPr>
        <p:spPr>
          <a:xfrm>
            <a:off x="3814239" y="1677712"/>
            <a:ext cx="1177200" cy="795000"/>
          </a:xfrm>
          <a:prstGeom prst="rect">
            <a:avLst/>
          </a:prstGeom>
          <a:solidFill>
            <a:srgbClr val="FFFFFF"/>
          </a:solidFill>
          <a:ln>
            <a:noFill/>
          </a:ln>
          <a:effectLst>
            <a:outerShdw blurRad="157163" rotWithShape="0" algn="bl" dir="9060000" dist="9525">
              <a:srgbClr val="000000">
                <a:alpha val="14118"/>
              </a:srgbClr>
            </a:outerShdw>
          </a:effectLst>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616161"/>
                </a:solidFill>
                <a:latin typeface="Montserrat"/>
                <a:ea typeface="Montserrat"/>
                <a:cs typeface="Montserrat"/>
                <a:sym typeface="Montserrat"/>
              </a:rPr>
              <a:t>Iterative</a:t>
            </a:r>
            <a:br>
              <a:rPr b="1" i="0" lang="en" sz="900" u="none" cap="none" strike="noStrike">
                <a:solidFill>
                  <a:srgbClr val="616161"/>
                </a:solidFill>
                <a:latin typeface="Montserrat"/>
                <a:ea typeface="Montserrat"/>
                <a:cs typeface="Montserrat"/>
                <a:sym typeface="Montserrat"/>
              </a:rPr>
            </a:br>
            <a:r>
              <a:rPr b="1" i="0" lang="en" sz="900" u="none" cap="none" strike="noStrike">
                <a:solidFill>
                  <a:srgbClr val="616161"/>
                </a:solidFill>
                <a:latin typeface="Montserrat"/>
                <a:ea typeface="Montserrat"/>
                <a:cs typeface="Montserrat"/>
                <a:sym typeface="Montserrat"/>
              </a:rPr>
              <a:t>Development</a:t>
            </a:r>
            <a:endParaRPr b="1" i="0" sz="900" u="none" cap="none" strike="noStrike">
              <a:solidFill>
                <a:srgbClr val="616161"/>
              </a:solidFill>
              <a:latin typeface="Montserrat"/>
              <a:ea typeface="Montserrat"/>
              <a:cs typeface="Montserrat"/>
              <a:sym typeface="Montserrat"/>
            </a:endParaRPr>
          </a:p>
          <a:p>
            <a:pPr indent="0" lvl="0" marL="0" marR="0" rtl="0" algn="ctr">
              <a:lnSpc>
                <a:spcPct val="100000"/>
              </a:lnSpc>
              <a:spcBef>
                <a:spcPts val="0"/>
              </a:spcBef>
              <a:spcAft>
                <a:spcPts val="0"/>
              </a:spcAft>
              <a:buClr>
                <a:srgbClr val="000000"/>
              </a:buClr>
              <a:buSzPts val="900"/>
              <a:buFont typeface="Arial"/>
              <a:buNone/>
            </a:pPr>
            <a:br>
              <a:rPr b="1" i="0" lang="en" sz="900" u="none" cap="none" strike="noStrike">
                <a:solidFill>
                  <a:srgbClr val="616161"/>
                </a:solidFill>
                <a:latin typeface="Montserrat"/>
                <a:ea typeface="Montserrat"/>
                <a:cs typeface="Montserrat"/>
                <a:sym typeface="Montserrat"/>
              </a:rPr>
            </a:br>
            <a:r>
              <a:rPr b="1" i="0" lang="en" sz="900" u="none" cap="none" strike="noStrike">
                <a:solidFill>
                  <a:srgbClr val="616161"/>
                </a:solidFill>
                <a:latin typeface="Montserrat"/>
                <a:ea typeface="Montserrat"/>
                <a:cs typeface="Montserrat"/>
                <a:sym typeface="Montserrat"/>
              </a:rPr>
              <a:t>1     2    3    .   .</a:t>
            </a:r>
            <a:endParaRPr b="1" i="0" sz="900" u="none" cap="none" strike="noStrike">
              <a:solidFill>
                <a:srgbClr val="616161"/>
              </a:solidFill>
              <a:latin typeface="Montserrat"/>
              <a:ea typeface="Montserrat"/>
              <a:cs typeface="Montserrat"/>
              <a:sym typeface="Montserrat"/>
            </a:endParaRPr>
          </a:p>
        </p:txBody>
      </p:sp>
      <p:grpSp>
        <p:nvGrpSpPr>
          <p:cNvPr id="334" name="Google Shape;334;p17"/>
          <p:cNvGrpSpPr/>
          <p:nvPr/>
        </p:nvGrpSpPr>
        <p:grpSpPr>
          <a:xfrm>
            <a:off x="3934107" y="2120825"/>
            <a:ext cx="817618" cy="72728"/>
            <a:chOff x="3198956" y="2429934"/>
            <a:chExt cx="1353000" cy="149400"/>
          </a:xfrm>
        </p:grpSpPr>
        <p:sp>
          <p:nvSpPr>
            <p:cNvPr id="335" name="Google Shape;335;p17"/>
            <p:cNvSpPr/>
            <p:nvPr/>
          </p:nvSpPr>
          <p:spPr>
            <a:xfrm flipH="1">
              <a:off x="3198956" y="2429934"/>
              <a:ext cx="133800" cy="149400"/>
            </a:xfrm>
            <a:prstGeom prst="star5">
              <a:avLst>
                <a:gd fmla="val 19098" name="adj"/>
                <a:gd fmla="val 105146" name="hf"/>
                <a:gd fmla="val 110557" name="vf"/>
              </a:avLst>
            </a:prstGeom>
            <a:solidFill>
              <a:srgbClr val="C55A11"/>
            </a:solidFill>
            <a:ln cap="flat" cmpd="sng" w="9525">
              <a:solidFill>
                <a:srgbClr val="C55A11"/>
              </a:solidFill>
              <a:prstDash val="solid"/>
              <a:miter lim="8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500"/>
                <a:buFont typeface="Arial"/>
                <a:buNone/>
              </a:pPr>
              <a:r>
                <a:t/>
              </a:r>
              <a:endParaRPr b="0" i="0" sz="1500" u="none" cap="none" strike="noStrike">
                <a:solidFill>
                  <a:srgbClr val="FFFFFF"/>
                </a:solidFill>
                <a:latin typeface="Century Gothic"/>
                <a:ea typeface="Century Gothic"/>
                <a:cs typeface="Century Gothic"/>
                <a:sym typeface="Century Gothic"/>
              </a:endParaRPr>
            </a:p>
          </p:txBody>
        </p:sp>
        <p:sp>
          <p:nvSpPr>
            <p:cNvPr id="336" name="Google Shape;336;p17"/>
            <p:cNvSpPr/>
            <p:nvPr/>
          </p:nvSpPr>
          <p:spPr>
            <a:xfrm flipH="1">
              <a:off x="3503756" y="2429934"/>
              <a:ext cx="133800" cy="149400"/>
            </a:xfrm>
            <a:prstGeom prst="star5">
              <a:avLst>
                <a:gd fmla="val 19098" name="adj"/>
                <a:gd fmla="val 105146" name="hf"/>
                <a:gd fmla="val 110557" name="vf"/>
              </a:avLst>
            </a:prstGeom>
            <a:solidFill>
              <a:srgbClr val="C55A11"/>
            </a:solidFill>
            <a:ln cap="flat" cmpd="sng" w="9525">
              <a:solidFill>
                <a:srgbClr val="C55A11"/>
              </a:solidFill>
              <a:prstDash val="solid"/>
              <a:miter lim="8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500"/>
                <a:buFont typeface="Arial"/>
                <a:buNone/>
              </a:pPr>
              <a:r>
                <a:t/>
              </a:r>
              <a:endParaRPr b="0" i="0" sz="1500" u="none" cap="none" strike="noStrike">
                <a:solidFill>
                  <a:srgbClr val="FFFFFF"/>
                </a:solidFill>
                <a:latin typeface="Century Gothic"/>
                <a:ea typeface="Century Gothic"/>
                <a:cs typeface="Century Gothic"/>
                <a:sym typeface="Century Gothic"/>
              </a:endParaRPr>
            </a:p>
          </p:txBody>
        </p:sp>
        <p:sp>
          <p:nvSpPr>
            <p:cNvPr id="337" name="Google Shape;337;p17"/>
            <p:cNvSpPr/>
            <p:nvPr/>
          </p:nvSpPr>
          <p:spPr>
            <a:xfrm flipH="1">
              <a:off x="3808556" y="2429934"/>
              <a:ext cx="133800" cy="149400"/>
            </a:xfrm>
            <a:prstGeom prst="star5">
              <a:avLst>
                <a:gd fmla="val 19098" name="adj"/>
                <a:gd fmla="val 105146" name="hf"/>
                <a:gd fmla="val 110557" name="vf"/>
              </a:avLst>
            </a:prstGeom>
            <a:solidFill>
              <a:srgbClr val="C55A11"/>
            </a:solidFill>
            <a:ln cap="flat" cmpd="sng" w="9525">
              <a:solidFill>
                <a:srgbClr val="C55A11"/>
              </a:solidFill>
              <a:prstDash val="solid"/>
              <a:miter lim="8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500"/>
                <a:buFont typeface="Arial"/>
                <a:buNone/>
              </a:pPr>
              <a:r>
                <a:t/>
              </a:r>
              <a:endParaRPr b="0" i="0" sz="1500" u="none" cap="none" strike="noStrike">
                <a:solidFill>
                  <a:srgbClr val="FFFFFF"/>
                </a:solidFill>
                <a:latin typeface="Century Gothic"/>
                <a:ea typeface="Century Gothic"/>
                <a:cs typeface="Century Gothic"/>
                <a:sym typeface="Century Gothic"/>
              </a:endParaRPr>
            </a:p>
          </p:txBody>
        </p:sp>
        <p:sp>
          <p:nvSpPr>
            <p:cNvPr id="338" name="Google Shape;338;p17"/>
            <p:cNvSpPr/>
            <p:nvPr/>
          </p:nvSpPr>
          <p:spPr>
            <a:xfrm flipH="1">
              <a:off x="4113356" y="2429934"/>
              <a:ext cx="133800" cy="149400"/>
            </a:xfrm>
            <a:prstGeom prst="star5">
              <a:avLst>
                <a:gd fmla="val 19098" name="adj"/>
                <a:gd fmla="val 105146" name="hf"/>
                <a:gd fmla="val 110557" name="vf"/>
              </a:avLst>
            </a:prstGeom>
            <a:solidFill>
              <a:srgbClr val="C55A11"/>
            </a:solidFill>
            <a:ln cap="flat" cmpd="sng" w="9525">
              <a:solidFill>
                <a:srgbClr val="C55A11"/>
              </a:solidFill>
              <a:prstDash val="solid"/>
              <a:miter lim="8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500"/>
                <a:buFont typeface="Arial"/>
                <a:buNone/>
              </a:pPr>
              <a:r>
                <a:t/>
              </a:r>
              <a:endParaRPr b="0" i="0" sz="1500" u="none" cap="none" strike="noStrike">
                <a:solidFill>
                  <a:srgbClr val="FFFFFF"/>
                </a:solidFill>
                <a:latin typeface="Century Gothic"/>
                <a:ea typeface="Century Gothic"/>
                <a:cs typeface="Century Gothic"/>
                <a:sym typeface="Century Gothic"/>
              </a:endParaRPr>
            </a:p>
          </p:txBody>
        </p:sp>
        <p:sp>
          <p:nvSpPr>
            <p:cNvPr id="339" name="Google Shape;339;p17"/>
            <p:cNvSpPr/>
            <p:nvPr/>
          </p:nvSpPr>
          <p:spPr>
            <a:xfrm flipH="1">
              <a:off x="4418156" y="2429934"/>
              <a:ext cx="133800" cy="149400"/>
            </a:xfrm>
            <a:prstGeom prst="star5">
              <a:avLst>
                <a:gd fmla="val 19098" name="adj"/>
                <a:gd fmla="val 105146" name="hf"/>
                <a:gd fmla="val 110557" name="vf"/>
              </a:avLst>
            </a:prstGeom>
            <a:solidFill>
              <a:srgbClr val="C55A11"/>
            </a:solidFill>
            <a:ln cap="flat" cmpd="sng" w="9525">
              <a:solidFill>
                <a:srgbClr val="C55A11"/>
              </a:solidFill>
              <a:prstDash val="solid"/>
              <a:miter lim="8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500"/>
                <a:buFont typeface="Arial"/>
                <a:buNone/>
              </a:pPr>
              <a:r>
                <a:t/>
              </a:r>
              <a:endParaRPr b="0" i="0" sz="1500" u="none" cap="none" strike="noStrike">
                <a:solidFill>
                  <a:srgbClr val="FFFFFF"/>
                </a:solidFill>
                <a:latin typeface="Century Gothic"/>
                <a:ea typeface="Century Gothic"/>
                <a:cs typeface="Century Gothic"/>
                <a:sym typeface="Century Gothic"/>
              </a:endParaRPr>
            </a:p>
          </p:txBody>
        </p:sp>
      </p:grpSp>
      <p:cxnSp>
        <p:nvCxnSpPr>
          <p:cNvPr id="340" name="Google Shape;340;p17"/>
          <p:cNvCxnSpPr>
            <a:stCxn id="332" idx="3"/>
            <a:endCxn id="333" idx="1"/>
          </p:cNvCxnSpPr>
          <p:nvPr/>
        </p:nvCxnSpPr>
        <p:spPr>
          <a:xfrm>
            <a:off x="3480700" y="2075212"/>
            <a:ext cx="333600" cy="0"/>
          </a:xfrm>
          <a:prstGeom prst="straightConnector1">
            <a:avLst/>
          </a:prstGeom>
          <a:noFill/>
          <a:ln cap="flat" cmpd="sng" w="9525">
            <a:solidFill>
              <a:srgbClr val="44546A"/>
            </a:solidFill>
            <a:prstDash val="solid"/>
            <a:round/>
            <a:headEnd len="sm" w="sm" type="none"/>
            <a:tailEnd len="med" w="med" type="triangle"/>
          </a:ln>
        </p:spPr>
      </p:cxnSp>
      <p:sp>
        <p:nvSpPr>
          <p:cNvPr id="341" name="Google Shape;341;p17"/>
          <p:cNvSpPr/>
          <p:nvPr/>
        </p:nvSpPr>
        <p:spPr>
          <a:xfrm>
            <a:off x="3721678" y="1352950"/>
            <a:ext cx="1306500" cy="262800"/>
          </a:xfrm>
          <a:prstGeom prst="rect">
            <a:avLst/>
          </a:prstGeom>
          <a:noFill/>
          <a:ln>
            <a:noFill/>
          </a:ln>
        </p:spPr>
        <p:txBody>
          <a:bodyPr anchorCtr="0" anchor="t" bIns="34275" lIns="68575" spcFirstLastPara="1" rIns="68575" wrap="square" tIns="34275">
            <a:noAutofit/>
          </a:bodyPr>
          <a:lstStyle/>
          <a:p>
            <a:pPr indent="0" lvl="0" marL="0" marR="0" rtl="0" algn="ctr">
              <a:lnSpc>
                <a:spcPct val="115000"/>
              </a:lnSpc>
              <a:spcBef>
                <a:spcPts val="0"/>
              </a:spcBef>
              <a:spcAft>
                <a:spcPts val="0"/>
              </a:spcAft>
              <a:buClr>
                <a:srgbClr val="000000"/>
              </a:buClr>
              <a:buSzPts val="700"/>
              <a:buFont typeface="Arial"/>
              <a:buNone/>
            </a:pPr>
            <a:r>
              <a:rPr b="0" i="0" lang="en" sz="700" u="none" cap="none" strike="noStrike">
                <a:solidFill>
                  <a:srgbClr val="000000"/>
                </a:solidFill>
                <a:latin typeface="Montserrat"/>
                <a:ea typeface="Montserrat"/>
                <a:cs typeface="Montserrat"/>
                <a:sym typeface="Montserrat"/>
              </a:rPr>
              <a:t>Continuous Evolution of Working Software</a:t>
            </a:r>
            <a:endParaRPr b="0" i="0" sz="700" u="none" cap="none" strike="noStrike">
              <a:solidFill>
                <a:srgbClr val="000000"/>
              </a:solidFill>
              <a:latin typeface="Montserrat"/>
              <a:ea typeface="Montserrat"/>
              <a:cs typeface="Montserrat"/>
              <a:sym typeface="Montserrat"/>
            </a:endParaRPr>
          </a:p>
        </p:txBody>
      </p:sp>
      <p:sp>
        <p:nvSpPr>
          <p:cNvPr id="342" name="Google Shape;342;p17"/>
          <p:cNvSpPr/>
          <p:nvPr/>
        </p:nvSpPr>
        <p:spPr>
          <a:xfrm>
            <a:off x="5324975" y="1677700"/>
            <a:ext cx="789300" cy="795000"/>
          </a:xfrm>
          <a:prstGeom prst="rect">
            <a:avLst/>
          </a:prstGeom>
          <a:solidFill>
            <a:srgbClr val="FFFFFF"/>
          </a:solidFill>
          <a:ln>
            <a:noFill/>
          </a:ln>
          <a:effectLst>
            <a:outerShdw blurRad="157163" rotWithShape="0" algn="bl" dir="9060000" dist="9525">
              <a:srgbClr val="000000">
                <a:alpha val="14118"/>
              </a:srgbClr>
            </a:outerShdw>
          </a:effectLst>
        </p:spPr>
        <p:txBody>
          <a:bodyPr anchorCtr="0" anchor="b" bIns="68575" lIns="68575" spcFirstLastPara="1" rIns="68575" wrap="square" tIns="68575">
            <a:noAutofit/>
          </a:bodyPr>
          <a:lstStyle/>
          <a:p>
            <a:pPr indent="0" lvl="0" marL="0" marR="0" rtl="0" algn="ctr">
              <a:lnSpc>
                <a:spcPct val="115000"/>
              </a:lnSpc>
              <a:spcBef>
                <a:spcPts val="0"/>
              </a:spcBef>
              <a:spcAft>
                <a:spcPts val="0"/>
              </a:spcAft>
              <a:buClr>
                <a:srgbClr val="000000"/>
              </a:buClr>
              <a:buSzPts val="900"/>
              <a:buFont typeface="Arial"/>
              <a:buNone/>
            </a:pPr>
            <a:r>
              <a:rPr b="1" i="0" lang="en" sz="900" u="none" cap="none" strike="noStrike">
                <a:solidFill>
                  <a:srgbClr val="616161"/>
                </a:solidFill>
                <a:latin typeface="Montserrat"/>
                <a:ea typeface="Montserrat"/>
                <a:cs typeface="Montserrat"/>
                <a:sym typeface="Montserrat"/>
              </a:rPr>
              <a:t>UAT</a:t>
            </a:r>
            <a:endParaRPr b="1" i="0" sz="900" u="none" cap="none" strike="noStrike">
              <a:solidFill>
                <a:srgbClr val="616161"/>
              </a:solidFill>
              <a:latin typeface="Montserrat"/>
              <a:ea typeface="Montserrat"/>
              <a:cs typeface="Montserrat"/>
              <a:sym typeface="Montserrat"/>
            </a:endParaRPr>
          </a:p>
        </p:txBody>
      </p:sp>
      <p:cxnSp>
        <p:nvCxnSpPr>
          <p:cNvPr id="343" name="Google Shape;343;p17"/>
          <p:cNvCxnSpPr>
            <a:stCxn id="333" idx="3"/>
            <a:endCxn id="342" idx="1"/>
          </p:cNvCxnSpPr>
          <p:nvPr/>
        </p:nvCxnSpPr>
        <p:spPr>
          <a:xfrm>
            <a:off x="4991439" y="2075212"/>
            <a:ext cx="333600" cy="0"/>
          </a:xfrm>
          <a:prstGeom prst="straightConnector1">
            <a:avLst/>
          </a:prstGeom>
          <a:noFill/>
          <a:ln cap="flat" cmpd="sng" w="9525">
            <a:solidFill>
              <a:srgbClr val="44546A"/>
            </a:solidFill>
            <a:prstDash val="solid"/>
            <a:round/>
            <a:headEnd len="sm" w="sm" type="none"/>
            <a:tailEnd len="med" w="med" type="triangle"/>
          </a:ln>
        </p:spPr>
      </p:cxnSp>
      <p:sp>
        <p:nvSpPr>
          <p:cNvPr id="344" name="Google Shape;344;p17"/>
          <p:cNvSpPr/>
          <p:nvPr/>
        </p:nvSpPr>
        <p:spPr>
          <a:xfrm>
            <a:off x="6447800" y="1694125"/>
            <a:ext cx="789300" cy="756900"/>
          </a:xfrm>
          <a:prstGeom prst="rect">
            <a:avLst/>
          </a:prstGeom>
          <a:solidFill>
            <a:srgbClr val="FFFFFF"/>
          </a:solidFill>
          <a:ln>
            <a:noFill/>
          </a:ln>
          <a:effectLst>
            <a:outerShdw blurRad="157163" rotWithShape="0" algn="bl" dir="9060000" dist="9525">
              <a:srgbClr val="000000">
                <a:alpha val="14118"/>
              </a:srgbClr>
            </a:outerShdw>
          </a:effectLst>
        </p:spPr>
        <p:txBody>
          <a:bodyPr anchorCtr="0" anchor="b" bIns="68575" lIns="68575" spcFirstLastPara="1" rIns="68575" wrap="square" tIns="68575">
            <a:noAutofit/>
          </a:bodyPr>
          <a:lstStyle/>
          <a:p>
            <a:pPr indent="0" lvl="0" marL="0" marR="0" rtl="0" algn="ctr">
              <a:lnSpc>
                <a:spcPct val="115000"/>
              </a:lnSpc>
              <a:spcBef>
                <a:spcPts val="0"/>
              </a:spcBef>
              <a:spcAft>
                <a:spcPts val="0"/>
              </a:spcAft>
              <a:buClr>
                <a:srgbClr val="000000"/>
              </a:buClr>
              <a:buSzPts val="900"/>
              <a:buFont typeface="Arial"/>
              <a:buNone/>
            </a:pPr>
            <a:r>
              <a:rPr b="1" i="0" lang="en" sz="900" u="none" cap="none" strike="noStrike">
                <a:solidFill>
                  <a:srgbClr val="616161"/>
                </a:solidFill>
                <a:latin typeface="Montserrat"/>
                <a:ea typeface="Montserrat"/>
                <a:cs typeface="Montserrat"/>
                <a:sym typeface="Montserrat"/>
              </a:rPr>
              <a:t>Go-Live</a:t>
            </a:r>
            <a:endParaRPr b="1" i="0" sz="900" u="none" cap="none" strike="noStrike">
              <a:solidFill>
                <a:srgbClr val="616161"/>
              </a:solidFill>
              <a:latin typeface="Montserrat"/>
              <a:ea typeface="Montserrat"/>
              <a:cs typeface="Montserrat"/>
              <a:sym typeface="Montserrat"/>
            </a:endParaRPr>
          </a:p>
        </p:txBody>
      </p:sp>
      <p:cxnSp>
        <p:nvCxnSpPr>
          <p:cNvPr id="345" name="Google Shape;345;p17"/>
          <p:cNvCxnSpPr>
            <a:stCxn id="342" idx="3"/>
            <a:endCxn id="344" idx="1"/>
          </p:cNvCxnSpPr>
          <p:nvPr/>
        </p:nvCxnSpPr>
        <p:spPr>
          <a:xfrm flipH="1" rot="10800000">
            <a:off x="6114275" y="2072500"/>
            <a:ext cx="333600" cy="2700"/>
          </a:xfrm>
          <a:prstGeom prst="straightConnector1">
            <a:avLst/>
          </a:prstGeom>
          <a:noFill/>
          <a:ln cap="flat" cmpd="sng" w="9525">
            <a:solidFill>
              <a:srgbClr val="44546A"/>
            </a:solidFill>
            <a:prstDash val="solid"/>
            <a:round/>
            <a:headEnd len="sm" w="sm" type="none"/>
            <a:tailEnd len="med" w="med" type="triangle"/>
          </a:ln>
        </p:spPr>
      </p:cxnSp>
      <p:sp>
        <p:nvSpPr>
          <p:cNvPr id="346" name="Google Shape;346;p17"/>
          <p:cNvSpPr/>
          <p:nvPr/>
        </p:nvSpPr>
        <p:spPr>
          <a:xfrm>
            <a:off x="7633975" y="1683488"/>
            <a:ext cx="1197000" cy="795000"/>
          </a:xfrm>
          <a:prstGeom prst="rect">
            <a:avLst/>
          </a:prstGeom>
          <a:solidFill>
            <a:srgbClr val="FFFFFF"/>
          </a:solidFill>
          <a:ln>
            <a:noFill/>
          </a:ln>
          <a:effectLst>
            <a:outerShdw blurRad="157163" rotWithShape="0" algn="bl" dir="9060000" dist="9525">
              <a:srgbClr val="000000">
                <a:alpha val="14118"/>
              </a:srgbClr>
            </a:outerShdw>
          </a:effectLst>
        </p:spPr>
        <p:txBody>
          <a:bodyPr anchorCtr="0" anchor="b"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616161"/>
                </a:solidFill>
                <a:latin typeface="Montserrat"/>
                <a:ea typeface="Montserrat"/>
                <a:cs typeface="Montserrat"/>
                <a:sym typeface="Montserrat"/>
              </a:rPr>
              <a:t>Hypercare</a:t>
            </a:r>
            <a:endParaRPr b="1" i="0" sz="900" u="none" cap="none" strike="noStrike">
              <a:solidFill>
                <a:srgbClr val="616161"/>
              </a:solidFill>
              <a:latin typeface="Montserrat"/>
              <a:ea typeface="Montserrat"/>
              <a:cs typeface="Montserrat"/>
              <a:sym typeface="Montserrat"/>
            </a:endParaRPr>
          </a:p>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616161"/>
                </a:solidFill>
                <a:latin typeface="Montserrat"/>
                <a:ea typeface="Montserrat"/>
                <a:cs typeface="Montserrat"/>
                <a:sym typeface="Montserrat"/>
              </a:rPr>
              <a:t>Support</a:t>
            </a:r>
            <a:endParaRPr b="1" i="0" sz="900" u="none" cap="none" strike="noStrike">
              <a:solidFill>
                <a:srgbClr val="616161"/>
              </a:solidFill>
              <a:latin typeface="Montserrat"/>
              <a:ea typeface="Montserrat"/>
              <a:cs typeface="Montserrat"/>
              <a:sym typeface="Montserrat"/>
            </a:endParaRPr>
          </a:p>
        </p:txBody>
      </p:sp>
      <p:cxnSp>
        <p:nvCxnSpPr>
          <p:cNvPr id="347" name="Google Shape;347;p17"/>
          <p:cNvCxnSpPr/>
          <p:nvPr/>
        </p:nvCxnSpPr>
        <p:spPr>
          <a:xfrm>
            <a:off x="7237088" y="2071309"/>
            <a:ext cx="365700" cy="7800"/>
          </a:xfrm>
          <a:prstGeom prst="straightConnector1">
            <a:avLst/>
          </a:prstGeom>
          <a:noFill/>
          <a:ln cap="flat" cmpd="sng" w="9525">
            <a:solidFill>
              <a:srgbClr val="44546A"/>
            </a:solidFill>
            <a:prstDash val="solid"/>
            <a:round/>
            <a:headEnd len="sm" w="sm" type="none"/>
            <a:tailEnd len="med" w="med" type="triangle"/>
          </a:ln>
        </p:spPr>
      </p:cxnSp>
      <p:sp>
        <p:nvSpPr>
          <p:cNvPr id="348" name="Google Shape;348;p17"/>
          <p:cNvSpPr/>
          <p:nvPr/>
        </p:nvSpPr>
        <p:spPr>
          <a:xfrm>
            <a:off x="2374525" y="2817019"/>
            <a:ext cx="1054200" cy="320400"/>
          </a:xfrm>
          <a:prstGeom prst="rect">
            <a:avLst/>
          </a:prstGeom>
          <a:solidFill>
            <a:srgbClr val="F2F2F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349" name="Google Shape;349;p17"/>
          <p:cNvSpPr/>
          <p:nvPr/>
        </p:nvSpPr>
        <p:spPr>
          <a:xfrm>
            <a:off x="2374517" y="3276841"/>
            <a:ext cx="1054200" cy="320400"/>
          </a:xfrm>
          <a:prstGeom prst="rect">
            <a:avLst/>
          </a:prstGeom>
          <a:solidFill>
            <a:srgbClr val="F2F2F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350" name="Google Shape;350;p17"/>
          <p:cNvSpPr/>
          <p:nvPr/>
        </p:nvSpPr>
        <p:spPr>
          <a:xfrm>
            <a:off x="2374517" y="3727228"/>
            <a:ext cx="1054200" cy="204000"/>
          </a:xfrm>
          <a:prstGeom prst="rect">
            <a:avLst/>
          </a:prstGeom>
          <a:solidFill>
            <a:srgbClr val="F2F2F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351" name="Google Shape;351;p17"/>
          <p:cNvSpPr/>
          <p:nvPr/>
        </p:nvSpPr>
        <p:spPr>
          <a:xfrm>
            <a:off x="4131026" y="3035164"/>
            <a:ext cx="620700" cy="161400"/>
          </a:xfrm>
          <a:prstGeom prst="rect">
            <a:avLst/>
          </a:prstGeom>
          <a:solidFill>
            <a:srgbClr val="F2F2F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352" name="Google Shape;352;p17"/>
          <p:cNvSpPr/>
          <p:nvPr/>
        </p:nvSpPr>
        <p:spPr>
          <a:xfrm>
            <a:off x="4131026" y="3299908"/>
            <a:ext cx="620700" cy="161400"/>
          </a:xfrm>
          <a:prstGeom prst="rect">
            <a:avLst/>
          </a:prstGeom>
          <a:solidFill>
            <a:srgbClr val="F2F2F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353" name="Google Shape;353;p17"/>
          <p:cNvSpPr/>
          <p:nvPr/>
        </p:nvSpPr>
        <p:spPr>
          <a:xfrm>
            <a:off x="4131026" y="3560703"/>
            <a:ext cx="620700" cy="161400"/>
          </a:xfrm>
          <a:prstGeom prst="rect">
            <a:avLst/>
          </a:prstGeom>
          <a:solidFill>
            <a:srgbClr val="F2F2F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354" name="Google Shape;354;p17"/>
          <p:cNvSpPr/>
          <p:nvPr/>
        </p:nvSpPr>
        <p:spPr>
          <a:xfrm>
            <a:off x="4131026" y="3813593"/>
            <a:ext cx="620700" cy="161400"/>
          </a:xfrm>
          <a:prstGeom prst="rect">
            <a:avLst/>
          </a:prstGeom>
          <a:solidFill>
            <a:srgbClr val="F2F2F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355" name="Google Shape;355;p17"/>
          <p:cNvSpPr/>
          <p:nvPr/>
        </p:nvSpPr>
        <p:spPr>
          <a:xfrm>
            <a:off x="4131026" y="2766471"/>
            <a:ext cx="620700" cy="161400"/>
          </a:xfrm>
          <a:prstGeom prst="rect">
            <a:avLst/>
          </a:prstGeom>
          <a:solidFill>
            <a:srgbClr val="F2F2F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cxnSp>
        <p:nvCxnSpPr>
          <p:cNvPr id="356" name="Google Shape;356;p17"/>
          <p:cNvCxnSpPr/>
          <p:nvPr/>
        </p:nvCxnSpPr>
        <p:spPr>
          <a:xfrm>
            <a:off x="3992919" y="2867471"/>
            <a:ext cx="0" cy="1011600"/>
          </a:xfrm>
          <a:prstGeom prst="straightConnector1">
            <a:avLst/>
          </a:prstGeom>
          <a:noFill/>
          <a:ln cap="flat" cmpd="sng" w="12700">
            <a:solidFill>
              <a:srgbClr val="7F7F7F"/>
            </a:solidFill>
            <a:prstDash val="solid"/>
            <a:miter lim="80"/>
            <a:headEnd len="sm" w="sm" type="none"/>
            <a:tailEnd len="sm" w="sm" type="none"/>
          </a:ln>
        </p:spPr>
      </p:cxnSp>
      <p:sp>
        <p:nvSpPr>
          <p:cNvPr id="357" name="Google Shape;357;p17"/>
          <p:cNvSpPr/>
          <p:nvPr/>
        </p:nvSpPr>
        <p:spPr>
          <a:xfrm>
            <a:off x="3804525" y="4077663"/>
            <a:ext cx="1202100" cy="433800"/>
          </a:xfrm>
          <a:prstGeom prst="rect">
            <a:avLst/>
          </a:prstGeom>
          <a:solidFill>
            <a:srgbClr val="F2F2F2"/>
          </a:solidFill>
          <a:ln cap="flat" cmpd="sng" w="9525">
            <a:solidFill>
              <a:srgbClr val="D8D8D8"/>
            </a:solidFill>
            <a:prstDash val="solid"/>
            <a:miter lim="8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Montserrat"/>
                <a:ea typeface="Montserrat"/>
                <a:cs typeface="Montserrat"/>
                <a:sym typeface="Montserrat"/>
              </a:rPr>
              <a:t>Iterative &amp; Incremental </a:t>
            </a:r>
            <a:endParaRPr b="0" i="0" sz="700" u="none" cap="none" strike="noStrike">
              <a:solidFill>
                <a:srgbClr val="000000"/>
              </a:solidFill>
              <a:latin typeface="Montserrat"/>
              <a:ea typeface="Montserrat"/>
              <a:cs typeface="Montserrat"/>
              <a:sym typeface="Montserrat"/>
            </a:endParaRPr>
          </a:p>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Montserrat"/>
                <a:ea typeface="Montserrat"/>
                <a:cs typeface="Montserrat"/>
                <a:sym typeface="Montserrat"/>
              </a:rPr>
              <a:t>Collaboration</a:t>
            </a:r>
            <a:endParaRPr b="0" i="0" sz="700" u="none" cap="none" strike="noStrike">
              <a:solidFill>
                <a:srgbClr val="FFFFFF"/>
              </a:solidFill>
              <a:latin typeface="Montserrat"/>
              <a:ea typeface="Montserrat"/>
              <a:cs typeface="Montserrat"/>
              <a:sym typeface="Montserrat"/>
            </a:endParaRPr>
          </a:p>
        </p:txBody>
      </p:sp>
      <p:sp>
        <p:nvSpPr>
          <p:cNvPr id="358" name="Google Shape;358;p17"/>
          <p:cNvSpPr/>
          <p:nvPr/>
        </p:nvSpPr>
        <p:spPr>
          <a:xfrm>
            <a:off x="2304491" y="3293825"/>
            <a:ext cx="1054200" cy="297900"/>
          </a:xfrm>
          <a:prstGeom prst="rect">
            <a:avLst/>
          </a:prstGeom>
          <a:noFill/>
          <a:ln>
            <a:noFill/>
          </a:ln>
        </p:spPr>
        <p:txBody>
          <a:bodyPr anchorCtr="0" anchor="t"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Montserrat"/>
                <a:ea typeface="Montserrat"/>
                <a:cs typeface="Montserrat"/>
                <a:sym typeface="Montserrat"/>
              </a:rPr>
              <a:t>Test Framework Setup</a:t>
            </a:r>
            <a:endParaRPr b="0" i="0" sz="700" u="none" cap="none" strike="noStrike">
              <a:solidFill>
                <a:srgbClr val="000000"/>
              </a:solidFill>
              <a:latin typeface="Montserrat"/>
              <a:ea typeface="Montserrat"/>
              <a:cs typeface="Montserrat"/>
              <a:sym typeface="Montserrat"/>
            </a:endParaRPr>
          </a:p>
        </p:txBody>
      </p:sp>
      <p:sp>
        <p:nvSpPr>
          <p:cNvPr id="359" name="Google Shape;359;p17"/>
          <p:cNvSpPr/>
          <p:nvPr/>
        </p:nvSpPr>
        <p:spPr>
          <a:xfrm>
            <a:off x="2463228" y="3738183"/>
            <a:ext cx="897300" cy="175200"/>
          </a:xfrm>
          <a:prstGeom prst="rect">
            <a:avLst/>
          </a:prstGeom>
          <a:noFill/>
          <a:ln>
            <a:noFill/>
          </a:ln>
        </p:spPr>
        <p:txBody>
          <a:bodyPr anchorCtr="0" anchor="t"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Montserrat"/>
                <a:ea typeface="Montserrat"/>
                <a:cs typeface="Montserrat"/>
                <a:sym typeface="Montserrat"/>
              </a:rPr>
              <a:t>Dev &amp; CI Setup</a:t>
            </a:r>
            <a:endParaRPr b="0" i="0" sz="700" u="none" cap="none" strike="noStrike">
              <a:solidFill>
                <a:srgbClr val="000000"/>
              </a:solidFill>
              <a:latin typeface="Montserrat"/>
              <a:ea typeface="Montserrat"/>
              <a:cs typeface="Montserrat"/>
              <a:sym typeface="Montserrat"/>
            </a:endParaRPr>
          </a:p>
        </p:txBody>
      </p:sp>
      <p:sp>
        <p:nvSpPr>
          <p:cNvPr id="360" name="Google Shape;360;p17"/>
          <p:cNvSpPr/>
          <p:nvPr/>
        </p:nvSpPr>
        <p:spPr>
          <a:xfrm>
            <a:off x="2308793" y="4041178"/>
            <a:ext cx="1202100" cy="433800"/>
          </a:xfrm>
          <a:prstGeom prst="rect">
            <a:avLst/>
          </a:prstGeom>
          <a:solidFill>
            <a:srgbClr val="F2F2F2"/>
          </a:solidFill>
          <a:ln cap="flat" cmpd="sng" w="9525">
            <a:solidFill>
              <a:srgbClr val="D8D8D8"/>
            </a:solidFill>
            <a:prstDash val="solid"/>
            <a:miter lim="8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Montserrat"/>
                <a:ea typeface="Montserrat"/>
                <a:cs typeface="Montserrat"/>
                <a:sym typeface="Montserrat"/>
              </a:rPr>
              <a:t>Project Setup &amp; Preparation</a:t>
            </a:r>
            <a:endParaRPr b="0" i="0" sz="700" u="none" cap="none" strike="noStrike">
              <a:solidFill>
                <a:srgbClr val="FFFFFF"/>
              </a:solidFill>
              <a:latin typeface="Montserrat"/>
              <a:ea typeface="Montserrat"/>
              <a:cs typeface="Montserrat"/>
              <a:sym typeface="Montserrat"/>
            </a:endParaRPr>
          </a:p>
        </p:txBody>
      </p:sp>
      <p:sp>
        <p:nvSpPr>
          <p:cNvPr id="361" name="Google Shape;361;p17"/>
          <p:cNvSpPr/>
          <p:nvPr/>
        </p:nvSpPr>
        <p:spPr>
          <a:xfrm>
            <a:off x="4155819" y="2755171"/>
            <a:ext cx="576900" cy="175200"/>
          </a:xfrm>
          <a:prstGeom prst="rect">
            <a:avLst/>
          </a:prstGeom>
          <a:noFill/>
          <a:ln>
            <a:noFill/>
          </a:ln>
        </p:spPr>
        <p:txBody>
          <a:bodyPr anchorCtr="0" anchor="t"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Montserrat"/>
                <a:ea typeface="Montserrat"/>
                <a:cs typeface="Montserrat"/>
                <a:sym typeface="Montserrat"/>
              </a:rPr>
              <a:t>Analyse</a:t>
            </a:r>
            <a:endParaRPr b="0" i="0" sz="700" u="none" cap="none" strike="noStrike">
              <a:solidFill>
                <a:srgbClr val="000000"/>
              </a:solidFill>
              <a:latin typeface="Montserrat"/>
              <a:ea typeface="Montserrat"/>
              <a:cs typeface="Montserrat"/>
              <a:sym typeface="Montserrat"/>
            </a:endParaRPr>
          </a:p>
        </p:txBody>
      </p:sp>
      <p:sp>
        <p:nvSpPr>
          <p:cNvPr id="362" name="Google Shape;362;p17"/>
          <p:cNvSpPr/>
          <p:nvPr/>
        </p:nvSpPr>
        <p:spPr>
          <a:xfrm>
            <a:off x="4190073" y="3018350"/>
            <a:ext cx="508500" cy="175200"/>
          </a:xfrm>
          <a:prstGeom prst="rect">
            <a:avLst/>
          </a:prstGeom>
          <a:noFill/>
          <a:ln>
            <a:noFill/>
          </a:ln>
        </p:spPr>
        <p:txBody>
          <a:bodyPr anchorCtr="0" anchor="t"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Montserrat"/>
                <a:ea typeface="Montserrat"/>
                <a:cs typeface="Montserrat"/>
                <a:sym typeface="Montserrat"/>
              </a:rPr>
              <a:t>Design</a:t>
            </a:r>
            <a:endParaRPr b="0" i="0" sz="700" u="none" cap="none" strike="noStrike">
              <a:solidFill>
                <a:srgbClr val="000000"/>
              </a:solidFill>
              <a:latin typeface="Montserrat"/>
              <a:ea typeface="Montserrat"/>
              <a:cs typeface="Montserrat"/>
              <a:sym typeface="Montserrat"/>
            </a:endParaRPr>
          </a:p>
        </p:txBody>
      </p:sp>
      <p:sp>
        <p:nvSpPr>
          <p:cNvPr id="363" name="Google Shape;363;p17"/>
          <p:cNvSpPr/>
          <p:nvPr/>
        </p:nvSpPr>
        <p:spPr>
          <a:xfrm>
            <a:off x="4125640" y="3285549"/>
            <a:ext cx="648000" cy="175200"/>
          </a:xfrm>
          <a:prstGeom prst="rect">
            <a:avLst/>
          </a:prstGeom>
          <a:noFill/>
          <a:ln>
            <a:noFill/>
          </a:ln>
        </p:spPr>
        <p:txBody>
          <a:bodyPr anchorCtr="0" anchor="t"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Montserrat"/>
                <a:ea typeface="Montserrat"/>
                <a:cs typeface="Montserrat"/>
                <a:sym typeface="Montserrat"/>
              </a:rPr>
              <a:t>Code</a:t>
            </a:r>
            <a:endParaRPr b="0" i="0" sz="700" u="none" cap="none" strike="noStrike">
              <a:solidFill>
                <a:srgbClr val="000000"/>
              </a:solidFill>
              <a:latin typeface="Montserrat"/>
              <a:ea typeface="Montserrat"/>
              <a:cs typeface="Montserrat"/>
              <a:sym typeface="Montserrat"/>
            </a:endParaRPr>
          </a:p>
        </p:txBody>
      </p:sp>
      <p:sp>
        <p:nvSpPr>
          <p:cNvPr id="364" name="Google Shape;364;p17"/>
          <p:cNvSpPr/>
          <p:nvPr/>
        </p:nvSpPr>
        <p:spPr>
          <a:xfrm>
            <a:off x="4279537" y="3537980"/>
            <a:ext cx="329400" cy="175200"/>
          </a:xfrm>
          <a:prstGeom prst="rect">
            <a:avLst/>
          </a:prstGeom>
          <a:noFill/>
          <a:ln>
            <a:noFill/>
          </a:ln>
        </p:spPr>
        <p:txBody>
          <a:bodyPr anchorCtr="0" anchor="t"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Montserrat"/>
                <a:ea typeface="Montserrat"/>
                <a:cs typeface="Montserrat"/>
                <a:sym typeface="Montserrat"/>
              </a:rPr>
              <a:t>Test</a:t>
            </a:r>
            <a:endParaRPr b="0" i="0" sz="700" u="none" cap="none" strike="noStrike">
              <a:solidFill>
                <a:srgbClr val="000000"/>
              </a:solidFill>
              <a:latin typeface="Montserrat"/>
              <a:ea typeface="Montserrat"/>
              <a:cs typeface="Montserrat"/>
              <a:sym typeface="Montserrat"/>
            </a:endParaRPr>
          </a:p>
        </p:txBody>
      </p:sp>
      <p:sp>
        <p:nvSpPr>
          <p:cNvPr id="365" name="Google Shape;365;p17"/>
          <p:cNvSpPr/>
          <p:nvPr/>
        </p:nvSpPr>
        <p:spPr>
          <a:xfrm>
            <a:off x="4156461" y="3790409"/>
            <a:ext cx="536100" cy="175200"/>
          </a:xfrm>
          <a:prstGeom prst="rect">
            <a:avLst/>
          </a:prstGeom>
          <a:noFill/>
          <a:ln>
            <a:noFill/>
          </a:ln>
        </p:spPr>
        <p:txBody>
          <a:bodyPr anchorCtr="0" anchor="t"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Montserrat"/>
                <a:ea typeface="Montserrat"/>
                <a:cs typeface="Montserrat"/>
                <a:sym typeface="Montserrat"/>
              </a:rPr>
              <a:t>Deploy</a:t>
            </a:r>
            <a:endParaRPr b="0" i="0" sz="700" u="none" cap="none" strike="noStrike">
              <a:solidFill>
                <a:srgbClr val="000000"/>
              </a:solidFill>
              <a:latin typeface="Montserrat"/>
              <a:ea typeface="Montserrat"/>
              <a:cs typeface="Montserrat"/>
              <a:sym typeface="Montserrat"/>
            </a:endParaRPr>
          </a:p>
        </p:txBody>
      </p:sp>
      <p:cxnSp>
        <p:nvCxnSpPr>
          <p:cNvPr id="366" name="Google Shape;366;p17"/>
          <p:cNvCxnSpPr/>
          <p:nvPr/>
        </p:nvCxnSpPr>
        <p:spPr>
          <a:xfrm flipH="1">
            <a:off x="4443986" y="2927883"/>
            <a:ext cx="1200" cy="105000"/>
          </a:xfrm>
          <a:prstGeom prst="straightConnector1">
            <a:avLst/>
          </a:prstGeom>
          <a:noFill/>
          <a:ln cap="flat" cmpd="sng" w="9525">
            <a:solidFill>
              <a:srgbClr val="616161"/>
            </a:solidFill>
            <a:prstDash val="solid"/>
            <a:miter lim="80"/>
            <a:headEnd len="sm" w="sm" type="none"/>
            <a:tailEnd len="med" w="med" type="triangle"/>
          </a:ln>
        </p:spPr>
      </p:cxnSp>
      <p:cxnSp>
        <p:nvCxnSpPr>
          <p:cNvPr id="367" name="Google Shape;367;p17"/>
          <p:cNvCxnSpPr/>
          <p:nvPr/>
        </p:nvCxnSpPr>
        <p:spPr>
          <a:xfrm>
            <a:off x="3995621" y="2867471"/>
            <a:ext cx="147900" cy="0"/>
          </a:xfrm>
          <a:prstGeom prst="straightConnector1">
            <a:avLst/>
          </a:prstGeom>
          <a:noFill/>
          <a:ln cap="flat" cmpd="sng" w="9525">
            <a:solidFill>
              <a:srgbClr val="616161"/>
            </a:solidFill>
            <a:prstDash val="solid"/>
            <a:miter lim="80"/>
            <a:headEnd len="sm" w="sm" type="none"/>
            <a:tailEnd len="med" w="med" type="triangle"/>
          </a:ln>
        </p:spPr>
      </p:cxnSp>
      <p:cxnSp>
        <p:nvCxnSpPr>
          <p:cNvPr id="368" name="Google Shape;368;p17"/>
          <p:cNvCxnSpPr/>
          <p:nvPr/>
        </p:nvCxnSpPr>
        <p:spPr>
          <a:xfrm>
            <a:off x="3992919" y="3881063"/>
            <a:ext cx="150900" cy="0"/>
          </a:xfrm>
          <a:prstGeom prst="straightConnector1">
            <a:avLst/>
          </a:prstGeom>
          <a:noFill/>
          <a:ln cap="flat" cmpd="sng" w="12700">
            <a:solidFill>
              <a:srgbClr val="7F7F7F"/>
            </a:solidFill>
            <a:prstDash val="solid"/>
            <a:miter lim="80"/>
            <a:headEnd len="sm" w="sm" type="none"/>
            <a:tailEnd len="sm" w="sm" type="none"/>
          </a:ln>
        </p:spPr>
      </p:cxnSp>
      <p:sp>
        <p:nvSpPr>
          <p:cNvPr id="369" name="Google Shape;369;p17"/>
          <p:cNvSpPr/>
          <p:nvPr/>
        </p:nvSpPr>
        <p:spPr>
          <a:xfrm rot="-5400000">
            <a:off x="3694246" y="3254831"/>
            <a:ext cx="452400" cy="162600"/>
          </a:xfrm>
          <a:prstGeom prst="rect">
            <a:avLst/>
          </a:prstGeom>
          <a:noFill/>
          <a:ln>
            <a:noFill/>
          </a:ln>
        </p:spPr>
        <p:txBody>
          <a:bodyPr anchorCtr="0" anchor="t"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600"/>
              <a:buFont typeface="Arial"/>
              <a:buNone/>
            </a:pPr>
            <a:r>
              <a:rPr b="0" i="0" lang="en" sz="600" u="none" cap="none" strike="noStrike">
                <a:solidFill>
                  <a:srgbClr val="000000"/>
                </a:solidFill>
                <a:latin typeface="Century Gothic"/>
                <a:ea typeface="Century Gothic"/>
                <a:cs typeface="Century Gothic"/>
                <a:sym typeface="Century Gothic"/>
              </a:rPr>
              <a:t>Repeat</a:t>
            </a:r>
            <a:endParaRPr b="0" i="0" sz="600" u="none" cap="none" strike="noStrike">
              <a:solidFill>
                <a:srgbClr val="000000"/>
              </a:solidFill>
              <a:latin typeface="Century Gothic"/>
              <a:ea typeface="Century Gothic"/>
              <a:cs typeface="Century Gothic"/>
              <a:sym typeface="Century Gothic"/>
            </a:endParaRPr>
          </a:p>
        </p:txBody>
      </p:sp>
      <p:cxnSp>
        <p:nvCxnSpPr>
          <p:cNvPr id="370" name="Google Shape;370;p17"/>
          <p:cNvCxnSpPr/>
          <p:nvPr/>
        </p:nvCxnSpPr>
        <p:spPr>
          <a:xfrm flipH="1">
            <a:off x="4443986" y="3192628"/>
            <a:ext cx="1200" cy="105000"/>
          </a:xfrm>
          <a:prstGeom prst="straightConnector1">
            <a:avLst/>
          </a:prstGeom>
          <a:noFill/>
          <a:ln cap="flat" cmpd="sng" w="9525">
            <a:solidFill>
              <a:srgbClr val="616161"/>
            </a:solidFill>
            <a:prstDash val="solid"/>
            <a:miter lim="80"/>
            <a:headEnd len="sm" w="sm" type="none"/>
            <a:tailEnd len="med" w="med" type="triangle"/>
          </a:ln>
        </p:spPr>
      </p:cxnSp>
      <p:cxnSp>
        <p:nvCxnSpPr>
          <p:cNvPr id="371" name="Google Shape;371;p17"/>
          <p:cNvCxnSpPr/>
          <p:nvPr/>
        </p:nvCxnSpPr>
        <p:spPr>
          <a:xfrm flipH="1">
            <a:off x="4443986" y="3457373"/>
            <a:ext cx="1200" cy="105000"/>
          </a:xfrm>
          <a:prstGeom prst="straightConnector1">
            <a:avLst/>
          </a:prstGeom>
          <a:noFill/>
          <a:ln cap="flat" cmpd="sng" w="9525">
            <a:solidFill>
              <a:srgbClr val="616161"/>
            </a:solidFill>
            <a:prstDash val="solid"/>
            <a:miter lim="80"/>
            <a:headEnd len="sm" w="sm" type="none"/>
            <a:tailEnd len="med" w="med" type="triangle"/>
          </a:ln>
        </p:spPr>
      </p:cxnSp>
      <p:cxnSp>
        <p:nvCxnSpPr>
          <p:cNvPr id="372" name="Google Shape;372;p17"/>
          <p:cNvCxnSpPr/>
          <p:nvPr/>
        </p:nvCxnSpPr>
        <p:spPr>
          <a:xfrm flipH="1">
            <a:off x="4443986" y="3714215"/>
            <a:ext cx="1200" cy="105000"/>
          </a:xfrm>
          <a:prstGeom prst="straightConnector1">
            <a:avLst/>
          </a:prstGeom>
          <a:noFill/>
          <a:ln cap="flat" cmpd="sng" w="9525">
            <a:solidFill>
              <a:srgbClr val="616161"/>
            </a:solidFill>
            <a:prstDash val="solid"/>
            <a:miter lim="80"/>
            <a:headEnd len="sm" w="sm" type="none"/>
            <a:tailEnd len="med" w="med" type="triangle"/>
          </a:ln>
        </p:spPr>
      </p:cxnSp>
      <p:pic>
        <p:nvPicPr>
          <p:cNvPr id="373" name="Google Shape;373;p17"/>
          <p:cNvPicPr preferRelativeResize="0"/>
          <p:nvPr/>
        </p:nvPicPr>
        <p:blipFill rotWithShape="1">
          <a:blip r:embed="rId3">
            <a:alphaModFix/>
          </a:blip>
          <a:srcRect b="20805" l="17274" r="12333" t="17276"/>
          <a:stretch/>
        </p:blipFill>
        <p:spPr>
          <a:xfrm>
            <a:off x="2755125" y="1771113"/>
            <a:ext cx="228668" cy="211275"/>
          </a:xfrm>
          <a:prstGeom prst="rect">
            <a:avLst/>
          </a:prstGeom>
          <a:noFill/>
          <a:ln>
            <a:noFill/>
          </a:ln>
        </p:spPr>
      </p:pic>
      <p:pic>
        <p:nvPicPr>
          <p:cNvPr id="374" name="Google Shape;374;p17"/>
          <p:cNvPicPr preferRelativeResize="0"/>
          <p:nvPr/>
        </p:nvPicPr>
        <p:blipFill rotWithShape="1">
          <a:blip r:embed="rId4">
            <a:alphaModFix/>
          </a:blip>
          <a:srcRect b="0" l="0" r="0" t="0"/>
          <a:stretch/>
        </p:blipFill>
        <p:spPr>
          <a:xfrm>
            <a:off x="5605313" y="1880725"/>
            <a:ext cx="228675" cy="228675"/>
          </a:xfrm>
          <a:prstGeom prst="rect">
            <a:avLst/>
          </a:prstGeom>
          <a:noFill/>
          <a:ln>
            <a:noFill/>
          </a:ln>
        </p:spPr>
      </p:pic>
      <p:pic>
        <p:nvPicPr>
          <p:cNvPr id="375" name="Google Shape;375;p17"/>
          <p:cNvPicPr preferRelativeResize="0"/>
          <p:nvPr/>
        </p:nvPicPr>
        <p:blipFill rotWithShape="1">
          <a:blip r:embed="rId5">
            <a:alphaModFix/>
          </a:blip>
          <a:srcRect b="0" l="0" r="0" t="0"/>
          <a:stretch/>
        </p:blipFill>
        <p:spPr>
          <a:xfrm>
            <a:off x="6691264" y="1886352"/>
            <a:ext cx="365700" cy="217409"/>
          </a:xfrm>
          <a:prstGeom prst="rect">
            <a:avLst/>
          </a:prstGeom>
          <a:noFill/>
          <a:ln>
            <a:noFill/>
          </a:ln>
        </p:spPr>
      </p:pic>
      <p:pic>
        <p:nvPicPr>
          <p:cNvPr id="376" name="Google Shape;376;p17"/>
          <p:cNvPicPr preferRelativeResize="0"/>
          <p:nvPr/>
        </p:nvPicPr>
        <p:blipFill rotWithShape="1">
          <a:blip r:embed="rId6">
            <a:alphaModFix/>
          </a:blip>
          <a:srcRect b="0" l="0" r="0" t="0"/>
          <a:stretch/>
        </p:blipFill>
        <p:spPr>
          <a:xfrm>
            <a:off x="8118138" y="1785736"/>
            <a:ext cx="228675" cy="228675"/>
          </a:xfrm>
          <a:prstGeom prst="rect">
            <a:avLst/>
          </a:prstGeom>
          <a:noFill/>
          <a:ln>
            <a:noFill/>
          </a:ln>
        </p:spPr>
      </p:pic>
      <p:grpSp>
        <p:nvGrpSpPr>
          <p:cNvPr id="377" name="Google Shape;377;p17"/>
          <p:cNvGrpSpPr/>
          <p:nvPr/>
        </p:nvGrpSpPr>
        <p:grpSpPr>
          <a:xfrm>
            <a:off x="308754" y="1982358"/>
            <a:ext cx="1734192" cy="256660"/>
            <a:chOff x="530597" y="1659894"/>
            <a:chExt cx="1541778" cy="210931"/>
          </a:xfrm>
        </p:grpSpPr>
        <p:sp>
          <p:nvSpPr>
            <p:cNvPr id="378" name="Google Shape;378;p17"/>
            <p:cNvSpPr txBox="1"/>
            <p:nvPr/>
          </p:nvSpPr>
          <p:spPr>
            <a:xfrm>
              <a:off x="765875" y="1666825"/>
              <a:ext cx="1306500" cy="204000"/>
            </a:xfrm>
            <a:prstGeom prst="rect">
              <a:avLst/>
            </a:prstGeom>
            <a:solidFill>
              <a:srgbClr val="F3F3F3"/>
            </a:solidFill>
            <a:ln cap="flat" cmpd="sng" w="9525">
              <a:solidFill>
                <a:srgbClr val="EFEFE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Montserrat"/>
                  <a:ea typeface="Montserrat"/>
                  <a:cs typeface="Montserrat"/>
                  <a:sym typeface="Montserrat"/>
                </a:rPr>
                <a:t>Project Manager/Business Analyst</a:t>
              </a:r>
              <a:endParaRPr b="0" i="0" sz="800" u="none" cap="none" strike="noStrike">
                <a:solidFill>
                  <a:srgbClr val="000000"/>
                </a:solidFill>
                <a:latin typeface="Montserrat"/>
                <a:ea typeface="Montserrat"/>
                <a:cs typeface="Montserrat"/>
                <a:sym typeface="Montserrat"/>
              </a:endParaRPr>
            </a:p>
          </p:txBody>
        </p:sp>
        <p:pic>
          <p:nvPicPr>
            <p:cNvPr id="379" name="Google Shape;379;p17"/>
            <p:cNvPicPr preferRelativeResize="0"/>
            <p:nvPr/>
          </p:nvPicPr>
          <p:blipFill rotWithShape="1">
            <a:blip r:embed="rId7">
              <a:alphaModFix/>
            </a:blip>
            <a:srcRect b="0" l="0" r="0" t="0"/>
            <a:stretch/>
          </p:blipFill>
          <p:spPr>
            <a:xfrm>
              <a:off x="530597" y="1659894"/>
              <a:ext cx="156625" cy="197711"/>
            </a:xfrm>
            <a:prstGeom prst="rect">
              <a:avLst/>
            </a:prstGeom>
            <a:noFill/>
            <a:ln>
              <a:noFill/>
            </a:ln>
          </p:spPr>
        </p:pic>
      </p:grpSp>
      <p:sp>
        <p:nvSpPr>
          <p:cNvPr id="380" name="Google Shape;380;p17"/>
          <p:cNvSpPr txBox="1"/>
          <p:nvPr/>
        </p:nvSpPr>
        <p:spPr>
          <a:xfrm>
            <a:off x="2538875" y="980525"/>
            <a:ext cx="4908300" cy="3387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000"/>
              <a:buFont typeface="Arial"/>
              <a:buNone/>
            </a:pPr>
            <a:endParaRPr b="1" i="0" sz="1000" u="none" cap="none" strike="noStrike">
              <a:solidFill>
                <a:schemeClr val="accent2"/>
              </a:solidFill>
              <a:latin typeface="Montserrat"/>
              <a:ea typeface="Montserrat"/>
              <a:cs typeface="Montserrat"/>
              <a:sym typeface="Montserrat"/>
            </a:endParaRPr>
          </a:p>
        </p:txBody>
      </p:sp>
      <p:sp>
        <p:nvSpPr>
          <p:cNvPr id="381" name="Google Shape;381;p17"/>
          <p:cNvSpPr txBox="1"/>
          <p:nvPr/>
        </p:nvSpPr>
        <p:spPr>
          <a:xfrm>
            <a:off x="-241825" y="1505825"/>
            <a:ext cx="3000000" cy="3231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chemeClr val="accent2"/>
                </a:solidFill>
                <a:latin typeface="Montserrat"/>
                <a:ea typeface="Montserrat"/>
                <a:cs typeface="Montserrat"/>
                <a:sym typeface="Montserrat"/>
              </a:rPr>
              <a:t>TTN Engineering Team</a:t>
            </a:r>
            <a:endParaRPr b="1" i="0" sz="900" u="none" cap="none" strike="noStrike">
              <a:solidFill>
                <a:schemeClr val="accent2"/>
              </a:solidFill>
              <a:latin typeface="Montserrat"/>
              <a:ea typeface="Montserrat"/>
              <a:cs typeface="Montserrat"/>
              <a:sym typeface="Montserrat"/>
            </a:endParaRPr>
          </a:p>
        </p:txBody>
      </p:sp>
      <p:sp>
        <p:nvSpPr>
          <p:cNvPr id="382" name="Google Shape;382;p17"/>
          <p:cNvSpPr/>
          <p:nvPr/>
        </p:nvSpPr>
        <p:spPr>
          <a:xfrm>
            <a:off x="2344200" y="2880388"/>
            <a:ext cx="1013700" cy="262800"/>
          </a:xfrm>
          <a:prstGeom prst="rect">
            <a:avLst/>
          </a:prstGeom>
          <a:noFill/>
          <a:ln>
            <a:noFill/>
          </a:ln>
        </p:spPr>
        <p:txBody>
          <a:bodyPr anchorCtr="0" anchor="t"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Montserrat"/>
                <a:ea typeface="Montserrat"/>
                <a:cs typeface="Montserrat"/>
                <a:sym typeface="Montserrat"/>
              </a:rPr>
              <a:t>Tech &amp; Functional Discovery</a:t>
            </a:r>
            <a:endParaRPr b="0" i="0" sz="700" u="none" cap="none" strike="noStrike">
              <a:solidFill>
                <a:srgbClr val="000000"/>
              </a:solidFill>
              <a:latin typeface="Montserrat"/>
              <a:ea typeface="Montserrat"/>
              <a:cs typeface="Montserrat"/>
              <a:sym typeface="Montserrat"/>
            </a:endParaRPr>
          </a:p>
        </p:txBody>
      </p:sp>
      <p:grpSp>
        <p:nvGrpSpPr>
          <p:cNvPr id="383" name="Google Shape;383;p17"/>
          <p:cNvGrpSpPr/>
          <p:nvPr/>
        </p:nvGrpSpPr>
        <p:grpSpPr>
          <a:xfrm>
            <a:off x="298800" y="2292174"/>
            <a:ext cx="1734192" cy="256660"/>
            <a:chOff x="530597" y="1659894"/>
            <a:chExt cx="1541778" cy="210931"/>
          </a:xfrm>
        </p:grpSpPr>
        <p:sp>
          <p:nvSpPr>
            <p:cNvPr id="384" name="Google Shape;384;p17"/>
            <p:cNvSpPr txBox="1"/>
            <p:nvPr/>
          </p:nvSpPr>
          <p:spPr>
            <a:xfrm>
              <a:off x="765875" y="1666825"/>
              <a:ext cx="1306500" cy="204000"/>
            </a:xfrm>
            <a:prstGeom prst="rect">
              <a:avLst/>
            </a:prstGeom>
            <a:solidFill>
              <a:srgbClr val="F3F3F3"/>
            </a:solidFill>
            <a:ln cap="flat" cmpd="sng" w="9525">
              <a:solidFill>
                <a:srgbClr val="EFEFE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Montserrat"/>
                  <a:ea typeface="Montserrat"/>
                  <a:cs typeface="Montserrat"/>
                  <a:sym typeface="Montserrat"/>
                </a:rPr>
                <a:t>Technical lead</a:t>
              </a:r>
              <a:endParaRPr b="0" i="0" sz="800" u="none" cap="none" strike="noStrike">
                <a:solidFill>
                  <a:srgbClr val="000000"/>
                </a:solidFill>
                <a:latin typeface="Montserrat"/>
                <a:ea typeface="Montserrat"/>
                <a:cs typeface="Montserrat"/>
                <a:sym typeface="Montserrat"/>
              </a:endParaRPr>
            </a:p>
          </p:txBody>
        </p:sp>
        <p:pic>
          <p:nvPicPr>
            <p:cNvPr id="385" name="Google Shape;385;p17"/>
            <p:cNvPicPr preferRelativeResize="0"/>
            <p:nvPr/>
          </p:nvPicPr>
          <p:blipFill rotWithShape="1">
            <a:blip r:embed="rId7">
              <a:alphaModFix/>
            </a:blip>
            <a:srcRect b="0" l="0" r="0" t="0"/>
            <a:stretch/>
          </p:blipFill>
          <p:spPr>
            <a:xfrm>
              <a:off x="530597" y="1659894"/>
              <a:ext cx="156625" cy="197711"/>
            </a:xfrm>
            <a:prstGeom prst="rect">
              <a:avLst/>
            </a:prstGeom>
            <a:noFill/>
            <a:ln>
              <a:noFill/>
            </a:ln>
          </p:spPr>
        </p:pic>
      </p:grpSp>
      <p:grpSp>
        <p:nvGrpSpPr>
          <p:cNvPr id="386" name="Google Shape;386;p17"/>
          <p:cNvGrpSpPr/>
          <p:nvPr/>
        </p:nvGrpSpPr>
        <p:grpSpPr>
          <a:xfrm>
            <a:off x="308757" y="2617640"/>
            <a:ext cx="1734192" cy="256660"/>
            <a:chOff x="530597" y="1659894"/>
            <a:chExt cx="1541778" cy="210931"/>
          </a:xfrm>
        </p:grpSpPr>
        <p:sp>
          <p:nvSpPr>
            <p:cNvPr id="387" name="Google Shape;387;p17"/>
            <p:cNvSpPr txBox="1"/>
            <p:nvPr/>
          </p:nvSpPr>
          <p:spPr>
            <a:xfrm>
              <a:off x="765875" y="1666825"/>
              <a:ext cx="1306500" cy="204000"/>
            </a:xfrm>
            <a:prstGeom prst="rect">
              <a:avLst/>
            </a:prstGeom>
            <a:solidFill>
              <a:srgbClr val="F3F3F3"/>
            </a:solidFill>
            <a:ln cap="flat" cmpd="sng" w="9525">
              <a:solidFill>
                <a:srgbClr val="EFEFE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Montserrat"/>
                  <a:ea typeface="Montserrat"/>
                  <a:cs typeface="Montserrat"/>
                  <a:sym typeface="Montserrat"/>
                </a:rPr>
                <a:t>DevOps Experts</a:t>
              </a:r>
              <a:endParaRPr b="0" i="0" sz="800" u="none" cap="none" strike="noStrike">
                <a:solidFill>
                  <a:srgbClr val="000000"/>
                </a:solidFill>
                <a:latin typeface="Montserrat"/>
                <a:ea typeface="Montserrat"/>
                <a:cs typeface="Montserrat"/>
                <a:sym typeface="Montserrat"/>
              </a:endParaRPr>
            </a:p>
          </p:txBody>
        </p:sp>
        <p:pic>
          <p:nvPicPr>
            <p:cNvPr id="388" name="Google Shape;388;p17"/>
            <p:cNvPicPr preferRelativeResize="0"/>
            <p:nvPr/>
          </p:nvPicPr>
          <p:blipFill rotWithShape="1">
            <a:blip r:embed="rId7">
              <a:alphaModFix/>
            </a:blip>
            <a:srcRect b="0" l="0" r="0" t="0"/>
            <a:stretch/>
          </p:blipFill>
          <p:spPr>
            <a:xfrm>
              <a:off x="530597" y="1659894"/>
              <a:ext cx="156625" cy="197711"/>
            </a:xfrm>
            <a:prstGeom prst="rect">
              <a:avLst/>
            </a:prstGeom>
            <a:noFill/>
            <a:ln>
              <a:noFill/>
            </a:ln>
          </p:spPr>
        </p:pic>
      </p:grpSp>
      <p:grpSp>
        <p:nvGrpSpPr>
          <p:cNvPr id="389" name="Google Shape;389;p17"/>
          <p:cNvGrpSpPr/>
          <p:nvPr/>
        </p:nvGrpSpPr>
        <p:grpSpPr>
          <a:xfrm>
            <a:off x="298803" y="2943091"/>
            <a:ext cx="1734192" cy="256660"/>
            <a:chOff x="530597" y="1659894"/>
            <a:chExt cx="1541778" cy="210931"/>
          </a:xfrm>
        </p:grpSpPr>
        <p:sp>
          <p:nvSpPr>
            <p:cNvPr id="390" name="Google Shape;390;p17"/>
            <p:cNvSpPr txBox="1"/>
            <p:nvPr/>
          </p:nvSpPr>
          <p:spPr>
            <a:xfrm>
              <a:off x="765875" y="1666825"/>
              <a:ext cx="1306500" cy="204000"/>
            </a:xfrm>
            <a:prstGeom prst="rect">
              <a:avLst/>
            </a:prstGeom>
            <a:solidFill>
              <a:srgbClr val="F3F3F3"/>
            </a:solidFill>
            <a:ln cap="flat" cmpd="sng" w="9525">
              <a:solidFill>
                <a:srgbClr val="EFEFE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Montserrat"/>
                  <a:ea typeface="Montserrat"/>
                  <a:cs typeface="Montserrat"/>
                  <a:sym typeface="Montserrat"/>
                </a:rPr>
                <a:t>Ui/UX Expert</a:t>
              </a:r>
              <a:endParaRPr b="0" i="0" sz="800" u="none" cap="none" strike="noStrike">
                <a:solidFill>
                  <a:srgbClr val="000000"/>
                </a:solidFill>
                <a:latin typeface="Montserrat"/>
                <a:ea typeface="Montserrat"/>
                <a:cs typeface="Montserrat"/>
                <a:sym typeface="Montserrat"/>
              </a:endParaRPr>
            </a:p>
          </p:txBody>
        </p:sp>
        <p:pic>
          <p:nvPicPr>
            <p:cNvPr id="391" name="Google Shape;391;p17"/>
            <p:cNvPicPr preferRelativeResize="0"/>
            <p:nvPr/>
          </p:nvPicPr>
          <p:blipFill rotWithShape="1">
            <a:blip r:embed="rId7">
              <a:alphaModFix/>
            </a:blip>
            <a:srcRect b="0" l="0" r="0" t="0"/>
            <a:stretch/>
          </p:blipFill>
          <p:spPr>
            <a:xfrm>
              <a:off x="530597" y="1659894"/>
              <a:ext cx="156625" cy="197711"/>
            </a:xfrm>
            <a:prstGeom prst="rect">
              <a:avLst/>
            </a:prstGeom>
            <a:noFill/>
            <a:ln>
              <a:noFill/>
            </a:ln>
          </p:spPr>
        </p:pic>
      </p:grpSp>
      <p:grpSp>
        <p:nvGrpSpPr>
          <p:cNvPr id="392" name="Google Shape;392;p17"/>
          <p:cNvGrpSpPr/>
          <p:nvPr/>
        </p:nvGrpSpPr>
        <p:grpSpPr>
          <a:xfrm>
            <a:off x="298803" y="3281643"/>
            <a:ext cx="1734192" cy="256660"/>
            <a:chOff x="530597" y="1659894"/>
            <a:chExt cx="1541778" cy="210931"/>
          </a:xfrm>
        </p:grpSpPr>
        <p:sp>
          <p:nvSpPr>
            <p:cNvPr id="393" name="Google Shape;393;p17"/>
            <p:cNvSpPr txBox="1"/>
            <p:nvPr/>
          </p:nvSpPr>
          <p:spPr>
            <a:xfrm>
              <a:off x="765875" y="1666825"/>
              <a:ext cx="1306500" cy="204000"/>
            </a:xfrm>
            <a:prstGeom prst="rect">
              <a:avLst/>
            </a:prstGeom>
            <a:solidFill>
              <a:srgbClr val="F3F3F3"/>
            </a:solidFill>
            <a:ln cap="flat" cmpd="sng" w="9525">
              <a:solidFill>
                <a:srgbClr val="EFEFE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Montserrat"/>
                  <a:ea typeface="Montserrat"/>
                  <a:cs typeface="Montserrat"/>
                  <a:sym typeface="Montserrat"/>
                </a:rPr>
                <a:t>Mobility Developer</a:t>
              </a:r>
              <a:endParaRPr b="0" i="0" sz="800" u="none" cap="none" strike="noStrike">
                <a:solidFill>
                  <a:srgbClr val="000000"/>
                </a:solidFill>
                <a:latin typeface="Montserrat"/>
                <a:ea typeface="Montserrat"/>
                <a:cs typeface="Montserrat"/>
                <a:sym typeface="Montserrat"/>
              </a:endParaRPr>
            </a:p>
          </p:txBody>
        </p:sp>
        <p:pic>
          <p:nvPicPr>
            <p:cNvPr id="394" name="Google Shape;394;p17"/>
            <p:cNvPicPr preferRelativeResize="0"/>
            <p:nvPr/>
          </p:nvPicPr>
          <p:blipFill rotWithShape="1">
            <a:blip r:embed="rId7">
              <a:alphaModFix/>
            </a:blip>
            <a:srcRect b="0" l="0" r="0" t="0"/>
            <a:stretch/>
          </p:blipFill>
          <p:spPr>
            <a:xfrm>
              <a:off x="530597" y="1659894"/>
              <a:ext cx="156625" cy="197711"/>
            </a:xfrm>
            <a:prstGeom prst="rect">
              <a:avLst/>
            </a:prstGeom>
            <a:noFill/>
            <a:ln>
              <a:noFill/>
            </a:ln>
          </p:spPr>
        </p:pic>
      </p:grpSp>
      <p:grpSp>
        <p:nvGrpSpPr>
          <p:cNvPr id="395" name="Google Shape;395;p17"/>
          <p:cNvGrpSpPr/>
          <p:nvPr/>
        </p:nvGrpSpPr>
        <p:grpSpPr>
          <a:xfrm>
            <a:off x="298803" y="3624423"/>
            <a:ext cx="1734192" cy="256660"/>
            <a:chOff x="530597" y="1659894"/>
            <a:chExt cx="1541778" cy="210931"/>
          </a:xfrm>
        </p:grpSpPr>
        <p:sp>
          <p:nvSpPr>
            <p:cNvPr id="396" name="Google Shape;396;p17"/>
            <p:cNvSpPr txBox="1"/>
            <p:nvPr/>
          </p:nvSpPr>
          <p:spPr>
            <a:xfrm>
              <a:off x="765875" y="1666825"/>
              <a:ext cx="1306500" cy="204000"/>
            </a:xfrm>
            <a:prstGeom prst="rect">
              <a:avLst/>
            </a:prstGeom>
            <a:solidFill>
              <a:srgbClr val="F3F3F3"/>
            </a:solidFill>
            <a:ln cap="flat" cmpd="sng" w="9525">
              <a:solidFill>
                <a:srgbClr val="EFEFE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Montserrat"/>
                  <a:ea typeface="Montserrat"/>
                  <a:cs typeface="Montserrat"/>
                  <a:sym typeface="Montserrat"/>
                </a:rPr>
                <a:t>Quality Analyst</a:t>
              </a:r>
              <a:endParaRPr b="0" i="0" sz="800" u="none" cap="none" strike="noStrike">
                <a:solidFill>
                  <a:srgbClr val="000000"/>
                </a:solidFill>
                <a:latin typeface="Montserrat"/>
                <a:ea typeface="Montserrat"/>
                <a:cs typeface="Montserrat"/>
                <a:sym typeface="Montserrat"/>
              </a:endParaRPr>
            </a:p>
          </p:txBody>
        </p:sp>
        <p:pic>
          <p:nvPicPr>
            <p:cNvPr id="397" name="Google Shape;397;p17"/>
            <p:cNvPicPr preferRelativeResize="0"/>
            <p:nvPr/>
          </p:nvPicPr>
          <p:blipFill rotWithShape="1">
            <a:blip r:embed="rId7">
              <a:alphaModFix/>
            </a:blip>
            <a:srcRect b="0" l="0" r="0" t="0"/>
            <a:stretch/>
          </p:blipFill>
          <p:spPr>
            <a:xfrm>
              <a:off x="530597" y="1659894"/>
              <a:ext cx="156625" cy="197711"/>
            </a:xfrm>
            <a:prstGeom prst="rect">
              <a:avLst/>
            </a:prstGeom>
            <a:noFill/>
            <a:ln>
              <a:noFill/>
            </a:ln>
          </p:spPr>
        </p:pic>
      </p:grpSp>
      <p:sp>
        <p:nvSpPr>
          <p:cNvPr id="398" name="Google Shape;398;p17"/>
          <p:cNvSpPr txBox="1"/>
          <p:nvPr/>
        </p:nvSpPr>
        <p:spPr>
          <a:xfrm>
            <a:off x="5325050" y="2625250"/>
            <a:ext cx="3480300" cy="1313700"/>
          </a:xfrm>
          <a:prstGeom prst="rect">
            <a:avLst/>
          </a:prstGeom>
          <a:solidFill>
            <a:srgbClr val="FFFFFF"/>
          </a:solidFill>
          <a:ln cap="flat" cmpd="sng" w="9525">
            <a:solidFill>
              <a:srgbClr val="EFEFEF"/>
            </a:solidFill>
            <a:prstDash val="solid"/>
            <a:round/>
            <a:headEnd len="sm" w="sm" type="none"/>
            <a:tailEnd len="sm" w="sm" type="none"/>
          </a:ln>
          <a:effectLst>
            <a:outerShdw blurRad="157163" rotWithShape="0" algn="bl" dir="9060000" dist="9525">
              <a:srgbClr val="000000">
                <a:alpha val="14118"/>
              </a:srgbClr>
            </a:outerShdw>
          </a:effectLst>
        </p:spPr>
        <p:txBody>
          <a:bodyPr anchorCtr="0" anchor="t" bIns="91425" lIns="91425" spcFirstLastPara="1" rIns="91425" wrap="square" tIns="91425">
            <a:spAutoFit/>
          </a:bodyPr>
          <a:lstStyle/>
          <a:p>
            <a:pPr>
              <a:spcAft>
                <a:spcPts val="200"/>
              </a:spcAft>
            </a:pPr>
            <a:r>
              <a:rPr sz="1000"/>
              <a:t>Agile methodology with sprints for iterative development</a:t>
            </a:r>
          </a:p>
          <a:p>
            <a:pPr>
              <a:spcAft>
                <a:spcPts val="200"/>
              </a:spcAft>
            </a:pPr>
            <a:r>
              <a:rPr sz="1000"/>
              <a:t>User stories and acceptance criteria for each requirement</a:t>
            </a:r>
          </a:p>
          <a:p>
            <a:pPr>
              <a:spcAft>
                <a:spcPts val="200"/>
              </a:spcAft>
            </a:pPr>
            <a:r>
              <a:rPr sz="1000"/>
              <a:t>Daily standups and sprint reviews for progress tracking</a:t>
            </a:r>
          </a:p>
          <a:p>
            <a:pPr>
              <a:spcAft>
                <a:spcPts val="200"/>
              </a:spcAft>
            </a:pPr>
            <a:r>
              <a:rPr sz="1000"/>
              <a:t>Continuous integration and delivery for rapid deployment</a:t>
            </a:r>
          </a:p>
        </p:txBody>
      </p:sp>
      <p:sp>
        <p:nvSpPr>
          <p:cNvPr id="399" name="Google Shape;399;p17"/>
          <p:cNvSpPr txBox="1"/>
          <p:nvPr>
            <p:ph idx="12" type="sldNum"/>
          </p:nvPr>
        </p:nvSpPr>
        <p:spPr>
          <a:xfrm>
            <a:off x="8556784" y="6333134"/>
            <a:ext cx="548700" cy="5250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sz="1000">
                <a:latin typeface="Montserrat"/>
                <a:ea typeface="Montserrat"/>
                <a:cs typeface="Montserrat"/>
                <a:sym typeface="Montserrat"/>
              </a:rPr>
              <a:t>‹#›</a:t>
            </a:fld>
            <a:endParaRPr sz="1000">
              <a:latin typeface="Montserrat"/>
              <a:ea typeface="Montserrat"/>
              <a:cs typeface="Montserrat"/>
              <a:sym typeface="Montserrat"/>
            </a:endParaRPr>
          </a:p>
        </p:txBody>
      </p:sp>
      <p:sp>
        <p:nvSpPr>
          <p:cNvPr id="400" name="Google Shape;400;p17"/>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sz="1000"/>
              <a:t>‹#›</a:t>
            </a:fld>
            <a:endParaRPr sz="1000"/>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4" name="Shape 404"/>
        <p:cNvGrpSpPr/>
        <p:nvPr/>
      </p:nvGrpSpPr>
      <p:grpSpPr>
        <a:xfrm>
          <a:off x="0" y="0"/>
          <a:ext cx="0" cy="0"/>
          <a:chOff x="0" y="0"/>
          <a:chExt cx="0" cy="0"/>
        </a:xfrm>
      </p:grpSpPr>
      <p:sp>
        <p:nvSpPr>
          <p:cNvPr id="405" name="Google Shape;405;p18"/>
          <p:cNvSpPr txBox="1"/>
          <p:nvPr/>
        </p:nvSpPr>
        <p:spPr>
          <a:xfrm>
            <a:off x="105040" y="143994"/>
            <a:ext cx="6765900" cy="357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1" i="0" lang="en" sz="2000" u="none" cap="none" strike="noStrike">
                <a:solidFill>
                  <a:schemeClr val="dk1"/>
                </a:solidFill>
                <a:latin typeface="Montserrat"/>
                <a:ea typeface="Montserrat"/>
                <a:cs typeface="Montserrat"/>
                <a:sym typeface="Montserrat"/>
              </a:rPr>
              <a:t>Project Governance Model</a:t>
            </a:r>
            <a:endParaRPr b="1" i="0" sz="2000" u="none" cap="none" strike="noStrike">
              <a:solidFill>
                <a:schemeClr val="dk1"/>
              </a:solidFill>
              <a:latin typeface="Montserrat"/>
              <a:ea typeface="Montserrat"/>
              <a:cs typeface="Montserrat"/>
              <a:sym typeface="Montserrat"/>
            </a:endParaRPr>
          </a:p>
        </p:txBody>
      </p:sp>
      <p:sp>
        <p:nvSpPr>
          <p:cNvPr id="406" name="Google Shape;406;p18"/>
          <p:cNvSpPr/>
          <p:nvPr/>
        </p:nvSpPr>
        <p:spPr>
          <a:xfrm>
            <a:off x="406550" y="2890925"/>
            <a:ext cx="8032800" cy="2023500"/>
          </a:xfrm>
          <a:prstGeom prst="snip1Rect">
            <a:avLst>
              <a:gd fmla="val 8163" name="adj"/>
            </a:avLst>
          </a:prstGeom>
          <a:solidFill>
            <a:srgbClr val="FFFFFF"/>
          </a:solidFill>
          <a:ln cap="flat" cmpd="sng" w="9525">
            <a:solidFill>
              <a:srgbClr val="6F3A93"/>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200"/>
              <a:buFont typeface="Arial"/>
              <a:buNone/>
            </a:pPr>
            <a:endParaRPr b="0" i="0" sz="1200" u="none" cap="none" strike="noStrike">
              <a:solidFill>
                <a:srgbClr val="000000"/>
              </a:solidFill>
              <a:latin typeface="Montserrat"/>
              <a:ea typeface="Montserrat"/>
              <a:cs typeface="Montserrat"/>
              <a:sym typeface="Montserrat"/>
            </a:endParaRPr>
          </a:p>
        </p:txBody>
      </p:sp>
      <p:sp>
        <p:nvSpPr>
          <p:cNvPr id="407" name="Google Shape;407;p18"/>
          <p:cNvSpPr/>
          <p:nvPr/>
        </p:nvSpPr>
        <p:spPr>
          <a:xfrm>
            <a:off x="6340857" y="3106350"/>
            <a:ext cx="1684800" cy="1701600"/>
          </a:xfrm>
          <a:prstGeom prst="snip1Rect">
            <a:avLst>
              <a:gd fmla="val 8163"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200"/>
              <a:buFont typeface="Arial"/>
              <a:buNone/>
            </a:pPr>
            <a:r>
              <a:t/>
            </a:r>
            <a:endParaRPr b="0" i="0" sz="1200" u="none" cap="none" strike="noStrike">
              <a:solidFill>
                <a:srgbClr val="000000"/>
              </a:solidFill>
              <a:latin typeface="Montserrat"/>
              <a:ea typeface="Montserrat"/>
              <a:cs typeface="Montserrat"/>
              <a:sym typeface="Montserrat"/>
            </a:endParaRPr>
          </a:p>
        </p:txBody>
      </p:sp>
      <p:sp>
        <p:nvSpPr>
          <p:cNvPr id="408" name="Google Shape;408;p18"/>
          <p:cNvSpPr/>
          <p:nvPr/>
        </p:nvSpPr>
        <p:spPr>
          <a:xfrm>
            <a:off x="6822582" y="1602888"/>
            <a:ext cx="2121000" cy="801000"/>
          </a:xfrm>
          <a:prstGeom prst="snip1Rect">
            <a:avLst>
              <a:gd fmla="val 8163"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200"/>
              <a:buFont typeface="Arial"/>
              <a:buNone/>
            </a:pPr>
            <a:r>
              <a:t/>
            </a:r>
            <a:endParaRPr b="0" i="0" sz="1200" u="none" cap="none" strike="noStrike">
              <a:solidFill>
                <a:srgbClr val="000000"/>
              </a:solidFill>
              <a:latin typeface="Montserrat"/>
              <a:ea typeface="Montserrat"/>
              <a:cs typeface="Montserrat"/>
              <a:sym typeface="Montserrat"/>
            </a:endParaRPr>
          </a:p>
        </p:txBody>
      </p:sp>
      <p:sp>
        <p:nvSpPr>
          <p:cNvPr id="409" name="Google Shape;409;p18"/>
          <p:cNvSpPr/>
          <p:nvPr/>
        </p:nvSpPr>
        <p:spPr>
          <a:xfrm>
            <a:off x="330332" y="2029610"/>
            <a:ext cx="6291000" cy="497400"/>
          </a:xfrm>
          <a:prstGeom prst="snip1Rect">
            <a:avLst>
              <a:gd fmla="val 8163"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200"/>
              <a:buFont typeface="Arial"/>
              <a:buNone/>
            </a:pPr>
            <a:endParaRPr b="0" i="0" sz="1200" u="none" cap="none" strike="noStrike">
              <a:solidFill>
                <a:srgbClr val="000000"/>
              </a:solidFill>
              <a:latin typeface="Montserrat"/>
              <a:ea typeface="Montserrat"/>
              <a:cs typeface="Montserrat"/>
              <a:sym typeface="Montserrat"/>
            </a:endParaRPr>
          </a:p>
        </p:txBody>
      </p:sp>
      <p:sp>
        <p:nvSpPr>
          <p:cNvPr id="410" name="Google Shape;410;p18"/>
          <p:cNvSpPr/>
          <p:nvPr/>
        </p:nvSpPr>
        <p:spPr>
          <a:xfrm>
            <a:off x="317407" y="1296319"/>
            <a:ext cx="6291000" cy="444300"/>
          </a:xfrm>
          <a:prstGeom prst="snip1Rect">
            <a:avLst>
              <a:gd fmla="val 8163"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200"/>
              <a:buFont typeface="Arial"/>
              <a:buNone/>
            </a:pPr>
            <a:r>
              <a:t/>
            </a:r>
            <a:endParaRPr b="0" i="0" sz="1200" u="none" cap="none" strike="noStrike">
              <a:solidFill>
                <a:srgbClr val="000000"/>
              </a:solidFill>
              <a:latin typeface="Montserrat"/>
              <a:ea typeface="Montserrat"/>
              <a:cs typeface="Montserrat"/>
              <a:sym typeface="Montserrat"/>
            </a:endParaRPr>
          </a:p>
        </p:txBody>
      </p:sp>
      <p:cxnSp>
        <p:nvCxnSpPr>
          <p:cNvPr id="411" name="Google Shape;411;p18"/>
          <p:cNvCxnSpPr/>
          <p:nvPr/>
        </p:nvCxnSpPr>
        <p:spPr>
          <a:xfrm rot="10800000">
            <a:off x="6694101" y="1402153"/>
            <a:ext cx="1177500" cy="211500"/>
          </a:xfrm>
          <a:prstGeom prst="bentConnector3">
            <a:avLst>
              <a:gd fmla="val -748" name="adj1"/>
            </a:avLst>
          </a:prstGeom>
          <a:noFill/>
          <a:ln cap="flat" cmpd="sng" w="9525">
            <a:solidFill>
              <a:srgbClr val="B7B7B7"/>
            </a:solidFill>
            <a:prstDash val="solid"/>
            <a:round/>
            <a:headEnd len="med" w="med" type="oval"/>
            <a:tailEnd len="med" w="med" type="oval"/>
          </a:ln>
        </p:spPr>
      </p:cxnSp>
      <p:sp>
        <p:nvSpPr>
          <p:cNvPr id="412" name="Google Shape;412;p18"/>
          <p:cNvSpPr/>
          <p:nvPr/>
        </p:nvSpPr>
        <p:spPr>
          <a:xfrm>
            <a:off x="1641650" y="3353226"/>
            <a:ext cx="4595100" cy="1180800"/>
          </a:xfrm>
          <a:prstGeom prst="roundRect">
            <a:avLst>
              <a:gd fmla="val 5116" name="adj"/>
            </a:avLst>
          </a:prstGeom>
          <a:solidFill>
            <a:srgbClr val="F3F3F3"/>
          </a:solidFill>
          <a:ln cap="flat" cmpd="sng" w="9525">
            <a:solidFill>
              <a:srgbClr val="F3F3F3"/>
            </a:solidFill>
            <a:prstDash val="solid"/>
            <a:round/>
            <a:headEnd len="sm" w="sm" type="none"/>
            <a:tailEnd len="sm" w="sm" type="none"/>
          </a:ln>
        </p:spPr>
        <p:txBody>
          <a:bodyPr anchorCtr="0" anchor="ctr" bIns="91425" lIns="91425" spcFirstLastPara="1" rIns="91425" wrap="square" tIns="91425">
            <a:noAutofit/>
          </a:bodyPr>
          <a:lstStyle/>
          <a:p>
            <a:pPr>
              <a:spcAft>
                <a:spcPts val="200"/>
              </a:spcAft>
            </a:pPr>
            <a:r>
              <a:rPr sz="1000"/>
              <a:t>Cadence | Bi-weekly sprint reviews and stakeholder meetings</a:t>
            </a:r>
          </a:p>
          <a:p>
            <a:pPr>
              <a:spcAft>
                <a:spcPts val="200"/>
              </a:spcAft>
            </a:pPr>
            <a:r>
              <a:rPr sz="1000"/>
              <a:t>Steering | Project manager and product owner lead decision-making</a:t>
            </a:r>
          </a:p>
          <a:p>
            <a:pPr>
              <a:spcAft>
                <a:spcPts val="200"/>
              </a:spcAft>
            </a:pPr>
            <a:r>
              <a:rPr sz="1000"/>
              <a:t>Escalation | Issues escalated to the steering committee within 24 hours</a:t>
            </a:r>
          </a:p>
        </p:txBody>
      </p:sp>
      <p:sp>
        <p:nvSpPr>
          <p:cNvPr id="413" name="Google Shape;413;p18"/>
          <p:cNvSpPr/>
          <p:nvPr/>
        </p:nvSpPr>
        <p:spPr>
          <a:xfrm>
            <a:off x="1988934" y="3446717"/>
            <a:ext cx="1334100" cy="1014300"/>
          </a:xfrm>
          <a:prstGeom prst="roundRect">
            <a:avLst>
              <a:gd fmla="val 5116" name="adj"/>
            </a:avLst>
          </a:prstGeom>
          <a:solidFill>
            <a:srgbClr val="FFFFFF"/>
          </a:solidFill>
          <a:ln cap="flat" cmpd="sng" w="9525">
            <a:solidFill>
              <a:srgbClr val="CC006C"/>
            </a:solidFill>
            <a:prstDash val="dot"/>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4" name="Google Shape;414;p18"/>
          <p:cNvSpPr txBox="1"/>
          <p:nvPr/>
        </p:nvSpPr>
        <p:spPr>
          <a:xfrm>
            <a:off x="1988925" y="3507010"/>
            <a:ext cx="1334100" cy="431100"/>
          </a:xfrm>
          <a:prstGeom prst="rect">
            <a:avLst/>
          </a:prstGeom>
          <a:noFill/>
          <a:ln>
            <a:noFill/>
          </a:ln>
        </p:spPr>
        <p:txBody>
          <a:bodyPr anchorCtr="0" anchor="t" bIns="91425" lIns="91425" spcFirstLastPara="1" rIns="91425" wrap="square" tIns="91425">
            <a:spAutoFit/>
          </a:bodyPr>
          <a:lstStyle/>
          <a:p>
            <a:r>
              <a:t>Blogger Stakeholders</a:t>
            </a:r>
          </a:p>
        </p:txBody>
      </p:sp>
      <p:pic>
        <p:nvPicPr>
          <p:cNvPr id="415" name="Google Shape;415;p18"/>
          <p:cNvPicPr preferRelativeResize="0"/>
          <p:nvPr/>
        </p:nvPicPr>
        <p:blipFill rotWithShape="1">
          <a:blip r:embed="rId3">
            <a:alphaModFix/>
          </a:blip>
          <a:srcRect b="0" l="0" r="0" t="0"/>
          <a:stretch/>
        </p:blipFill>
        <p:spPr>
          <a:xfrm>
            <a:off x="2396311" y="3951547"/>
            <a:ext cx="519140" cy="306875"/>
          </a:xfrm>
          <a:prstGeom prst="rect">
            <a:avLst/>
          </a:prstGeom>
          <a:noFill/>
          <a:ln>
            <a:noFill/>
          </a:ln>
        </p:spPr>
      </p:pic>
      <p:pic>
        <p:nvPicPr>
          <p:cNvPr id="416" name="Google Shape;416;p18"/>
          <p:cNvPicPr preferRelativeResize="0"/>
          <p:nvPr/>
        </p:nvPicPr>
        <p:blipFill rotWithShape="1">
          <a:blip r:embed="rId4">
            <a:alphaModFix/>
          </a:blip>
          <a:srcRect b="0" l="0" r="0" t="0"/>
          <a:stretch/>
        </p:blipFill>
        <p:spPr>
          <a:xfrm>
            <a:off x="3599434" y="3917769"/>
            <a:ext cx="252974" cy="257791"/>
          </a:xfrm>
          <a:prstGeom prst="rect">
            <a:avLst/>
          </a:prstGeom>
          <a:noFill/>
          <a:ln>
            <a:noFill/>
          </a:ln>
        </p:spPr>
      </p:pic>
      <p:cxnSp>
        <p:nvCxnSpPr>
          <p:cNvPr id="417" name="Google Shape;417;p18"/>
          <p:cNvCxnSpPr/>
          <p:nvPr/>
        </p:nvCxnSpPr>
        <p:spPr>
          <a:xfrm rot="10800000">
            <a:off x="3852626" y="4030223"/>
            <a:ext cx="276600" cy="0"/>
          </a:xfrm>
          <a:prstGeom prst="straightConnector1">
            <a:avLst/>
          </a:prstGeom>
          <a:noFill/>
          <a:ln cap="flat" cmpd="sng" w="9525">
            <a:solidFill>
              <a:srgbClr val="999999"/>
            </a:solidFill>
            <a:prstDash val="solid"/>
            <a:round/>
            <a:headEnd len="sm" w="sm" type="none"/>
            <a:tailEnd len="sm" w="sm" type="none"/>
          </a:ln>
        </p:spPr>
      </p:cxnSp>
      <p:sp>
        <p:nvSpPr>
          <p:cNvPr id="418" name="Google Shape;418;p18"/>
          <p:cNvSpPr/>
          <p:nvPr/>
        </p:nvSpPr>
        <p:spPr>
          <a:xfrm>
            <a:off x="7325193" y="3938946"/>
            <a:ext cx="291000" cy="222900"/>
          </a:xfrm>
          <a:custGeom>
            <a:rect b="b" l="l" r="r" t="t"/>
            <a:pathLst>
              <a:path extrusionOk="0" h="120000" w="120000">
                <a:moveTo>
                  <a:pt x="102419" y="17574"/>
                </a:moveTo>
                <a:cubicBezTo>
                  <a:pt x="125853" y="41002"/>
                  <a:pt x="125853" y="78991"/>
                  <a:pt x="102419" y="102419"/>
                </a:cubicBezTo>
                <a:cubicBezTo>
                  <a:pt x="78991" y="125853"/>
                  <a:pt x="41002" y="125853"/>
                  <a:pt x="17574" y="102419"/>
                </a:cubicBezTo>
                <a:cubicBezTo>
                  <a:pt x="-5860" y="78991"/>
                  <a:pt x="-5860" y="41002"/>
                  <a:pt x="17574" y="17574"/>
                </a:cubicBezTo>
                <a:cubicBezTo>
                  <a:pt x="41002" y="-5860"/>
                  <a:pt x="78991" y="-5860"/>
                  <a:pt x="102419" y="17574"/>
                </a:cubicBezTo>
                <a:close/>
              </a:path>
            </a:pathLst>
          </a:custGeom>
          <a:solidFill>
            <a:srgbClr val="99BDEA"/>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t/>
            </a:r>
            <a:endParaRPr b="0" i="0" sz="1300" u="none" cap="none" strike="noStrike">
              <a:solidFill>
                <a:srgbClr val="000000"/>
              </a:solidFill>
              <a:latin typeface="Calibri"/>
              <a:ea typeface="Calibri"/>
              <a:cs typeface="Calibri"/>
              <a:sym typeface="Calibri"/>
            </a:endParaRPr>
          </a:p>
        </p:txBody>
      </p:sp>
      <p:sp>
        <p:nvSpPr>
          <p:cNvPr id="419" name="Google Shape;419;p18"/>
          <p:cNvSpPr/>
          <p:nvPr/>
        </p:nvSpPr>
        <p:spPr>
          <a:xfrm>
            <a:off x="7182882" y="4191775"/>
            <a:ext cx="660900" cy="90300"/>
          </a:xfrm>
          <a:prstGeom prst="rect">
            <a:avLst/>
          </a:prstGeom>
          <a:noFill/>
          <a:ln>
            <a:noFill/>
          </a:ln>
        </p:spPr>
        <p:txBody>
          <a:bodyPr anchorCtr="0" anchor="t" bIns="33475" lIns="33475" spcFirstLastPara="1" rIns="33475" wrap="square" tIns="33475">
            <a:noAutofit/>
          </a:bodyPr>
          <a:lstStyle/>
          <a:p>
            <a:pPr indent="0" lvl="0" marL="0" marR="0" rtl="0" algn="ctr">
              <a:lnSpc>
                <a:spcPct val="100000"/>
              </a:lnSpc>
              <a:spcBef>
                <a:spcPts val="0"/>
              </a:spcBef>
              <a:spcAft>
                <a:spcPts val="0"/>
              </a:spcAft>
              <a:buClr>
                <a:srgbClr val="000000"/>
              </a:buClr>
              <a:buSzPts val="700"/>
              <a:buFont typeface="Arial"/>
              <a:buNone/>
            </a:pPr>
            <a:r>
              <a:rPr b="1" i="0" lang="en" sz="700" u="none" cap="none" strike="noStrike">
                <a:solidFill>
                  <a:srgbClr val="000000"/>
                </a:solidFill>
                <a:latin typeface="Montserrat"/>
                <a:ea typeface="Montserrat"/>
                <a:cs typeface="Montserrat"/>
                <a:sym typeface="Montserrat"/>
              </a:rPr>
              <a:t>Month Demo</a:t>
            </a:r>
            <a:endParaRPr b="1" i="0" sz="700" u="none" cap="none" strike="noStrike">
              <a:solidFill>
                <a:srgbClr val="000000"/>
              </a:solidFill>
              <a:latin typeface="Montserrat"/>
              <a:ea typeface="Montserrat"/>
              <a:cs typeface="Montserrat"/>
              <a:sym typeface="Montserrat"/>
            </a:endParaRPr>
          </a:p>
        </p:txBody>
      </p:sp>
      <p:sp>
        <p:nvSpPr>
          <p:cNvPr id="420" name="Google Shape;420;p18"/>
          <p:cNvSpPr/>
          <p:nvPr/>
        </p:nvSpPr>
        <p:spPr>
          <a:xfrm>
            <a:off x="7325208" y="3356749"/>
            <a:ext cx="291000" cy="222900"/>
          </a:xfrm>
          <a:custGeom>
            <a:rect b="b" l="l" r="r" t="t"/>
            <a:pathLst>
              <a:path extrusionOk="0" h="120000" w="120000">
                <a:moveTo>
                  <a:pt x="102419" y="17574"/>
                </a:moveTo>
                <a:cubicBezTo>
                  <a:pt x="125853" y="41002"/>
                  <a:pt x="125853" y="78991"/>
                  <a:pt x="102419" y="102419"/>
                </a:cubicBezTo>
                <a:cubicBezTo>
                  <a:pt x="78991" y="125853"/>
                  <a:pt x="41002" y="125853"/>
                  <a:pt x="17574" y="102419"/>
                </a:cubicBezTo>
                <a:cubicBezTo>
                  <a:pt x="-5860" y="78991"/>
                  <a:pt x="-5860" y="41002"/>
                  <a:pt x="17574" y="17574"/>
                </a:cubicBezTo>
                <a:cubicBezTo>
                  <a:pt x="41002" y="-5860"/>
                  <a:pt x="78991" y="-5860"/>
                  <a:pt x="102419" y="17574"/>
                </a:cubicBezTo>
                <a:close/>
              </a:path>
            </a:pathLst>
          </a:custGeom>
          <a:solidFill>
            <a:srgbClr val="99BDEA"/>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t/>
            </a:r>
            <a:endParaRPr b="0" i="0" sz="1300" u="none" cap="none" strike="noStrike">
              <a:solidFill>
                <a:srgbClr val="000000"/>
              </a:solidFill>
              <a:latin typeface="Calibri"/>
              <a:ea typeface="Calibri"/>
              <a:cs typeface="Calibri"/>
              <a:sym typeface="Calibri"/>
            </a:endParaRPr>
          </a:p>
        </p:txBody>
      </p:sp>
      <p:sp>
        <p:nvSpPr>
          <p:cNvPr id="421" name="Google Shape;421;p18"/>
          <p:cNvSpPr/>
          <p:nvPr/>
        </p:nvSpPr>
        <p:spPr>
          <a:xfrm>
            <a:off x="7182897" y="3586774"/>
            <a:ext cx="575400" cy="147000"/>
          </a:xfrm>
          <a:prstGeom prst="rect">
            <a:avLst/>
          </a:prstGeom>
          <a:noFill/>
          <a:ln>
            <a:noFill/>
          </a:ln>
        </p:spPr>
        <p:txBody>
          <a:bodyPr anchorCtr="0" anchor="t" bIns="33475" lIns="33475" spcFirstLastPara="1" rIns="33475" wrap="square" tIns="33475">
            <a:noAutofit/>
          </a:bodyPr>
          <a:lstStyle/>
          <a:p>
            <a:pPr indent="0" lvl="0" marL="0" marR="0" rtl="0" algn="ctr">
              <a:lnSpc>
                <a:spcPct val="100000"/>
              </a:lnSpc>
              <a:spcBef>
                <a:spcPts val="0"/>
              </a:spcBef>
              <a:spcAft>
                <a:spcPts val="0"/>
              </a:spcAft>
              <a:buClr>
                <a:srgbClr val="000000"/>
              </a:buClr>
              <a:buSzPts val="700"/>
              <a:buFont typeface="Arial"/>
              <a:buNone/>
            </a:pPr>
            <a:r>
              <a:rPr b="1" i="0" lang="en" sz="700" u="none" cap="none" strike="noStrike">
                <a:solidFill>
                  <a:srgbClr val="000000"/>
                </a:solidFill>
                <a:latin typeface="Montserrat"/>
                <a:ea typeface="Montserrat"/>
                <a:cs typeface="Montserrat"/>
                <a:sym typeface="Montserrat"/>
              </a:rPr>
              <a:t>Month Planning </a:t>
            </a:r>
            <a:endParaRPr b="0" i="0" sz="700" u="none" cap="none" strike="noStrike">
              <a:solidFill>
                <a:srgbClr val="000000"/>
              </a:solidFill>
              <a:latin typeface="Montserrat"/>
              <a:ea typeface="Montserrat"/>
              <a:cs typeface="Montserrat"/>
              <a:sym typeface="Montserrat"/>
            </a:endParaRPr>
          </a:p>
        </p:txBody>
      </p:sp>
      <p:pic>
        <p:nvPicPr>
          <p:cNvPr id="422" name="Google Shape;422;p18"/>
          <p:cNvPicPr preferRelativeResize="0"/>
          <p:nvPr/>
        </p:nvPicPr>
        <p:blipFill rotWithShape="1">
          <a:blip r:embed="rId5">
            <a:alphaModFix/>
          </a:blip>
          <a:srcRect b="0" l="0" r="0" t="0"/>
          <a:stretch/>
        </p:blipFill>
        <p:spPr>
          <a:xfrm>
            <a:off x="7386594" y="3407623"/>
            <a:ext cx="168328" cy="121270"/>
          </a:xfrm>
          <a:prstGeom prst="rect">
            <a:avLst/>
          </a:prstGeom>
          <a:noFill/>
          <a:ln>
            <a:noFill/>
          </a:ln>
        </p:spPr>
      </p:pic>
      <p:sp>
        <p:nvSpPr>
          <p:cNvPr id="423" name="Google Shape;423;p18"/>
          <p:cNvSpPr/>
          <p:nvPr/>
        </p:nvSpPr>
        <p:spPr>
          <a:xfrm>
            <a:off x="6635482" y="3359668"/>
            <a:ext cx="291000" cy="222900"/>
          </a:xfrm>
          <a:custGeom>
            <a:rect b="b" l="l" r="r" t="t"/>
            <a:pathLst>
              <a:path extrusionOk="0" h="120000" w="120000">
                <a:moveTo>
                  <a:pt x="102419" y="17574"/>
                </a:moveTo>
                <a:cubicBezTo>
                  <a:pt x="125853" y="41002"/>
                  <a:pt x="125853" y="78991"/>
                  <a:pt x="102419" y="102419"/>
                </a:cubicBezTo>
                <a:cubicBezTo>
                  <a:pt x="78991" y="125853"/>
                  <a:pt x="41002" y="125853"/>
                  <a:pt x="17574" y="102419"/>
                </a:cubicBezTo>
                <a:cubicBezTo>
                  <a:pt x="-5860" y="78991"/>
                  <a:pt x="-5860" y="41002"/>
                  <a:pt x="17574" y="17574"/>
                </a:cubicBezTo>
                <a:cubicBezTo>
                  <a:pt x="41002" y="-5860"/>
                  <a:pt x="78991" y="-5860"/>
                  <a:pt x="102419" y="17574"/>
                </a:cubicBezTo>
                <a:close/>
              </a:path>
            </a:pathLst>
          </a:custGeom>
          <a:solidFill>
            <a:srgbClr val="99BDEA"/>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t/>
            </a:r>
            <a:endParaRPr b="0" i="0" sz="1300" u="none" cap="none" strike="noStrike">
              <a:solidFill>
                <a:srgbClr val="000000"/>
              </a:solidFill>
              <a:latin typeface="Calibri"/>
              <a:ea typeface="Calibri"/>
              <a:cs typeface="Calibri"/>
              <a:sym typeface="Calibri"/>
            </a:endParaRPr>
          </a:p>
        </p:txBody>
      </p:sp>
      <p:sp>
        <p:nvSpPr>
          <p:cNvPr id="424" name="Google Shape;424;p18"/>
          <p:cNvSpPr/>
          <p:nvPr/>
        </p:nvSpPr>
        <p:spPr>
          <a:xfrm>
            <a:off x="6493150" y="3584986"/>
            <a:ext cx="575400" cy="153000"/>
          </a:xfrm>
          <a:prstGeom prst="rect">
            <a:avLst/>
          </a:prstGeom>
          <a:noFill/>
          <a:ln>
            <a:noFill/>
          </a:ln>
        </p:spPr>
        <p:txBody>
          <a:bodyPr anchorCtr="0" anchor="t" bIns="33475" lIns="33475" spcFirstLastPara="1" rIns="33475" wrap="square" tIns="33475">
            <a:noAutofit/>
          </a:bodyPr>
          <a:lstStyle/>
          <a:p>
            <a:pPr indent="0" lvl="0" marL="0" marR="0" rtl="0" algn="ctr">
              <a:lnSpc>
                <a:spcPct val="100000"/>
              </a:lnSpc>
              <a:spcBef>
                <a:spcPts val="0"/>
              </a:spcBef>
              <a:spcAft>
                <a:spcPts val="0"/>
              </a:spcAft>
              <a:buClr>
                <a:srgbClr val="000000"/>
              </a:buClr>
              <a:buSzPts val="700"/>
              <a:buFont typeface="Arial"/>
              <a:buNone/>
            </a:pPr>
            <a:r>
              <a:rPr b="1" i="0" lang="en" sz="700" u="none" cap="none" strike="noStrike">
                <a:solidFill>
                  <a:srgbClr val="000000"/>
                </a:solidFill>
                <a:latin typeface="Montserrat"/>
                <a:ea typeface="Montserrat"/>
                <a:cs typeface="Montserrat"/>
                <a:sym typeface="Montserrat"/>
              </a:rPr>
              <a:t>Daily Stand-ups</a:t>
            </a:r>
            <a:endParaRPr b="0" i="0" sz="700" u="none" cap="none" strike="noStrike">
              <a:solidFill>
                <a:srgbClr val="000000"/>
              </a:solidFill>
              <a:latin typeface="Montserrat"/>
              <a:ea typeface="Montserrat"/>
              <a:cs typeface="Montserrat"/>
              <a:sym typeface="Montserrat"/>
            </a:endParaRPr>
          </a:p>
        </p:txBody>
      </p:sp>
      <p:pic>
        <p:nvPicPr>
          <p:cNvPr id="425" name="Google Shape;425;p18"/>
          <p:cNvPicPr preferRelativeResize="0"/>
          <p:nvPr/>
        </p:nvPicPr>
        <p:blipFill rotWithShape="1">
          <a:blip r:embed="rId6">
            <a:alphaModFix/>
          </a:blip>
          <a:srcRect b="0" l="0" r="0" t="0"/>
          <a:stretch/>
        </p:blipFill>
        <p:spPr>
          <a:xfrm>
            <a:off x="6687109" y="3399220"/>
            <a:ext cx="187848" cy="143913"/>
          </a:xfrm>
          <a:prstGeom prst="rect">
            <a:avLst/>
          </a:prstGeom>
          <a:noFill/>
          <a:ln>
            <a:noFill/>
          </a:ln>
        </p:spPr>
      </p:pic>
      <p:pic>
        <p:nvPicPr>
          <p:cNvPr id="426" name="Google Shape;426;p18"/>
          <p:cNvPicPr preferRelativeResize="0"/>
          <p:nvPr/>
        </p:nvPicPr>
        <p:blipFill rotWithShape="1">
          <a:blip r:embed="rId7">
            <a:alphaModFix/>
          </a:blip>
          <a:srcRect b="0" l="0" r="0" t="0"/>
          <a:stretch/>
        </p:blipFill>
        <p:spPr>
          <a:xfrm>
            <a:off x="7378788" y="3981126"/>
            <a:ext cx="183912" cy="138659"/>
          </a:xfrm>
          <a:prstGeom prst="rect">
            <a:avLst/>
          </a:prstGeom>
          <a:noFill/>
          <a:ln>
            <a:noFill/>
          </a:ln>
        </p:spPr>
      </p:pic>
      <p:cxnSp>
        <p:nvCxnSpPr>
          <p:cNvPr id="427" name="Google Shape;427;p18"/>
          <p:cNvCxnSpPr/>
          <p:nvPr/>
        </p:nvCxnSpPr>
        <p:spPr>
          <a:xfrm rot="10800000">
            <a:off x="6608487" y="3903739"/>
            <a:ext cx="1217400" cy="5100"/>
          </a:xfrm>
          <a:prstGeom prst="straightConnector1">
            <a:avLst/>
          </a:prstGeom>
          <a:noFill/>
          <a:ln cap="flat" cmpd="sng" w="19050">
            <a:solidFill>
              <a:srgbClr val="999999"/>
            </a:solidFill>
            <a:prstDash val="dot"/>
            <a:miter lim="0"/>
            <a:headEnd len="sm" w="sm" type="oval"/>
            <a:tailEnd len="sm" w="sm" type="oval"/>
          </a:ln>
        </p:spPr>
      </p:cxnSp>
      <p:cxnSp>
        <p:nvCxnSpPr>
          <p:cNvPr id="428" name="Google Shape;428;p18"/>
          <p:cNvCxnSpPr/>
          <p:nvPr/>
        </p:nvCxnSpPr>
        <p:spPr>
          <a:xfrm>
            <a:off x="7149754" y="3492278"/>
            <a:ext cx="900" cy="902700"/>
          </a:xfrm>
          <a:prstGeom prst="straightConnector1">
            <a:avLst/>
          </a:prstGeom>
          <a:noFill/>
          <a:ln cap="flat" cmpd="sng" w="19050">
            <a:solidFill>
              <a:srgbClr val="999999"/>
            </a:solidFill>
            <a:prstDash val="dot"/>
            <a:miter lim="0"/>
            <a:headEnd len="sm" w="sm" type="oval"/>
            <a:tailEnd len="sm" w="sm" type="oval"/>
          </a:ln>
        </p:spPr>
      </p:cxnSp>
      <p:sp>
        <p:nvSpPr>
          <p:cNvPr id="429" name="Google Shape;429;p18"/>
          <p:cNvSpPr/>
          <p:nvPr/>
        </p:nvSpPr>
        <p:spPr>
          <a:xfrm>
            <a:off x="6635482" y="3941925"/>
            <a:ext cx="291000" cy="222900"/>
          </a:xfrm>
          <a:custGeom>
            <a:rect b="b" l="l" r="r" t="t"/>
            <a:pathLst>
              <a:path extrusionOk="0" h="120000" w="120000">
                <a:moveTo>
                  <a:pt x="102419" y="17574"/>
                </a:moveTo>
                <a:cubicBezTo>
                  <a:pt x="125853" y="41002"/>
                  <a:pt x="125853" y="78991"/>
                  <a:pt x="102419" y="102419"/>
                </a:cubicBezTo>
                <a:cubicBezTo>
                  <a:pt x="78991" y="125853"/>
                  <a:pt x="41002" y="125853"/>
                  <a:pt x="17574" y="102419"/>
                </a:cubicBezTo>
                <a:cubicBezTo>
                  <a:pt x="-5860" y="78991"/>
                  <a:pt x="-5860" y="41002"/>
                  <a:pt x="17574" y="17574"/>
                </a:cubicBezTo>
                <a:cubicBezTo>
                  <a:pt x="41002" y="-5860"/>
                  <a:pt x="78991" y="-5860"/>
                  <a:pt x="102419" y="17574"/>
                </a:cubicBezTo>
                <a:close/>
              </a:path>
            </a:pathLst>
          </a:custGeom>
          <a:solidFill>
            <a:srgbClr val="99BDEA"/>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t/>
            </a:r>
            <a:endParaRPr b="0" i="0" sz="1300" u="none" cap="none" strike="noStrike">
              <a:solidFill>
                <a:srgbClr val="000000"/>
              </a:solidFill>
              <a:latin typeface="Calibri"/>
              <a:ea typeface="Calibri"/>
              <a:cs typeface="Calibri"/>
              <a:sym typeface="Calibri"/>
            </a:endParaRPr>
          </a:p>
        </p:txBody>
      </p:sp>
      <p:sp>
        <p:nvSpPr>
          <p:cNvPr id="430" name="Google Shape;430;p18"/>
          <p:cNvSpPr/>
          <p:nvPr/>
        </p:nvSpPr>
        <p:spPr>
          <a:xfrm>
            <a:off x="6493929" y="4191765"/>
            <a:ext cx="575400" cy="90300"/>
          </a:xfrm>
          <a:prstGeom prst="rect">
            <a:avLst/>
          </a:prstGeom>
          <a:noFill/>
          <a:ln>
            <a:noFill/>
          </a:ln>
        </p:spPr>
        <p:txBody>
          <a:bodyPr anchorCtr="0" anchor="t" bIns="33475" lIns="33475" spcFirstLastPara="1" rIns="33475" wrap="square" tIns="33475">
            <a:noAutofit/>
          </a:bodyPr>
          <a:lstStyle/>
          <a:p>
            <a:pPr indent="0" lvl="0" marL="0" marR="0" rtl="0" algn="ctr">
              <a:lnSpc>
                <a:spcPct val="100000"/>
              </a:lnSpc>
              <a:spcBef>
                <a:spcPts val="0"/>
              </a:spcBef>
              <a:spcAft>
                <a:spcPts val="0"/>
              </a:spcAft>
              <a:buClr>
                <a:srgbClr val="000000"/>
              </a:buClr>
              <a:buSzPts val="700"/>
              <a:buFont typeface="Arial"/>
              <a:buNone/>
            </a:pPr>
            <a:r>
              <a:rPr b="1" i="0" lang="en" sz="700" u="none" cap="none" strike="noStrike">
                <a:solidFill>
                  <a:srgbClr val="000000"/>
                </a:solidFill>
                <a:latin typeface="Montserrat"/>
                <a:ea typeface="Montserrat"/>
                <a:cs typeface="Montserrat"/>
                <a:sym typeface="Montserrat"/>
              </a:rPr>
              <a:t>Joint Retrospective</a:t>
            </a:r>
            <a:endParaRPr b="0" i="0" sz="700" u="none" cap="none" strike="noStrike">
              <a:solidFill>
                <a:srgbClr val="000000"/>
              </a:solidFill>
              <a:latin typeface="Montserrat"/>
              <a:ea typeface="Montserrat"/>
              <a:cs typeface="Montserrat"/>
              <a:sym typeface="Montserrat"/>
            </a:endParaRPr>
          </a:p>
        </p:txBody>
      </p:sp>
      <p:sp>
        <p:nvSpPr>
          <p:cNvPr id="431" name="Google Shape;431;p18"/>
          <p:cNvSpPr txBox="1"/>
          <p:nvPr/>
        </p:nvSpPr>
        <p:spPr>
          <a:xfrm>
            <a:off x="6281307" y="3099123"/>
            <a:ext cx="1684800" cy="3078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000000"/>
                </a:solidFill>
                <a:latin typeface="Montserrat"/>
                <a:ea typeface="Montserrat"/>
                <a:cs typeface="Montserrat"/>
                <a:sym typeface="Montserrat"/>
              </a:rPr>
              <a:t>Engagement Highlights </a:t>
            </a:r>
            <a:endParaRPr b="1" i="0" sz="800" u="none" cap="none" strike="noStrike">
              <a:solidFill>
                <a:srgbClr val="000000"/>
              </a:solidFill>
              <a:latin typeface="Montserrat"/>
              <a:ea typeface="Montserrat"/>
              <a:cs typeface="Montserrat"/>
              <a:sym typeface="Montserrat"/>
            </a:endParaRPr>
          </a:p>
        </p:txBody>
      </p:sp>
      <p:sp>
        <p:nvSpPr>
          <p:cNvPr id="432" name="Google Shape;432;p18"/>
          <p:cNvSpPr txBox="1"/>
          <p:nvPr/>
        </p:nvSpPr>
        <p:spPr>
          <a:xfrm>
            <a:off x="4479247" y="1409956"/>
            <a:ext cx="1809900" cy="278100"/>
          </a:xfrm>
          <a:prstGeom prst="rect">
            <a:avLst/>
          </a:prstGeom>
          <a:solidFill>
            <a:srgbClr val="1251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FFFFFF"/>
                </a:solidFill>
                <a:latin typeface="Montserrat"/>
                <a:ea typeface="Montserrat"/>
                <a:cs typeface="Montserrat"/>
                <a:sym typeface="Montserrat"/>
              </a:rPr>
              <a:t>TTN Executive Leadership and Business Unit Head </a:t>
            </a:r>
            <a:endParaRPr b="1" i="0" sz="800" u="none" cap="none" strike="noStrike">
              <a:solidFill>
                <a:srgbClr val="336666"/>
              </a:solidFill>
              <a:latin typeface="Montserrat"/>
              <a:ea typeface="Montserrat"/>
              <a:cs typeface="Montserrat"/>
              <a:sym typeface="Montserrat"/>
            </a:endParaRPr>
          </a:p>
        </p:txBody>
      </p:sp>
      <p:sp>
        <p:nvSpPr>
          <p:cNvPr id="433" name="Google Shape;433;p18"/>
          <p:cNvSpPr txBox="1"/>
          <p:nvPr/>
        </p:nvSpPr>
        <p:spPr>
          <a:xfrm>
            <a:off x="1629325" y="1419354"/>
            <a:ext cx="2121000" cy="259800"/>
          </a:xfrm>
          <a:prstGeom prst="rect">
            <a:avLst/>
          </a:prstGeom>
          <a:solidFill>
            <a:srgbClr val="B7B7B7"/>
          </a:solidFill>
          <a:ln>
            <a:noFill/>
          </a:ln>
        </p:spPr>
        <p:txBody>
          <a:bodyPr anchorCtr="0" anchor="ctr" bIns="0" lIns="0" spcFirstLastPara="1" rIns="0" wrap="square" tIns="0">
            <a:noAutofit/>
          </a:bodyPr>
          <a:lstStyle/>
          <a:p>
            <a:r>
              <a:t>Blogger  Executive</a:t>
            </a:r>
          </a:p>
          <a:p>
            <a:r>
              <a:t>Leadership</a:t>
            </a:r>
          </a:p>
        </p:txBody>
      </p:sp>
      <p:sp>
        <p:nvSpPr>
          <p:cNvPr id="434" name="Google Shape;434;p18"/>
          <p:cNvSpPr txBox="1"/>
          <p:nvPr/>
        </p:nvSpPr>
        <p:spPr>
          <a:xfrm>
            <a:off x="4479247" y="2090204"/>
            <a:ext cx="1809900" cy="278100"/>
          </a:xfrm>
          <a:prstGeom prst="rect">
            <a:avLst/>
          </a:prstGeom>
          <a:solidFill>
            <a:srgbClr val="1251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FFFFFF"/>
                </a:solidFill>
                <a:latin typeface="Montserrat"/>
                <a:ea typeface="Montserrat"/>
                <a:cs typeface="Montserrat"/>
                <a:sym typeface="Montserrat"/>
              </a:rPr>
              <a:t>TTN Delivery Director /</a:t>
            </a:r>
            <a:endParaRPr b="1" i="0" sz="800" u="none" cap="none" strike="noStrike">
              <a:solidFill>
                <a:srgbClr val="FFFFFF"/>
              </a:solidFill>
              <a:latin typeface="Montserrat"/>
              <a:ea typeface="Montserrat"/>
              <a:cs typeface="Montserrat"/>
              <a:sym typeface="Montserrat"/>
            </a:endParaRPr>
          </a:p>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FFFFFF"/>
                </a:solidFill>
                <a:latin typeface="Montserrat"/>
                <a:ea typeface="Montserrat"/>
                <a:cs typeface="Montserrat"/>
                <a:sym typeface="Montserrat"/>
              </a:rPr>
              <a:t> Project Manager</a:t>
            </a:r>
            <a:endParaRPr b="1" i="0" sz="800" u="none" cap="none" strike="noStrike">
              <a:solidFill>
                <a:srgbClr val="336666"/>
              </a:solidFill>
              <a:latin typeface="Montserrat"/>
              <a:ea typeface="Montserrat"/>
              <a:cs typeface="Montserrat"/>
              <a:sym typeface="Montserrat"/>
            </a:endParaRPr>
          </a:p>
        </p:txBody>
      </p:sp>
      <p:sp>
        <p:nvSpPr>
          <p:cNvPr id="435" name="Google Shape;435;p18"/>
          <p:cNvSpPr/>
          <p:nvPr/>
        </p:nvSpPr>
        <p:spPr>
          <a:xfrm>
            <a:off x="2548207" y="1079370"/>
            <a:ext cx="205500" cy="240900"/>
          </a:xfrm>
          <a:prstGeom prst="downArrow">
            <a:avLst>
              <a:gd fmla="val 50000" name="adj1"/>
              <a:gd fmla="val 50000" name="adj2"/>
            </a:avLst>
          </a:prstGeom>
          <a:solidFill>
            <a:srgbClr val="B7B7B7"/>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Century Gothic"/>
              <a:ea typeface="Century Gothic"/>
              <a:cs typeface="Century Gothic"/>
              <a:sym typeface="Century Gothic"/>
            </a:endParaRPr>
          </a:p>
        </p:txBody>
      </p:sp>
      <p:sp>
        <p:nvSpPr>
          <p:cNvPr id="436" name="Google Shape;436;p18"/>
          <p:cNvSpPr/>
          <p:nvPr/>
        </p:nvSpPr>
        <p:spPr>
          <a:xfrm>
            <a:off x="5320907" y="1073100"/>
            <a:ext cx="205500" cy="240900"/>
          </a:xfrm>
          <a:prstGeom prst="downArrow">
            <a:avLst>
              <a:gd fmla="val 50000" name="adj1"/>
              <a:gd fmla="val 50000" name="adj2"/>
            </a:avLst>
          </a:prstGeom>
          <a:solidFill>
            <a:srgbClr val="12519C"/>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Century Gothic"/>
              <a:ea typeface="Century Gothic"/>
              <a:cs typeface="Century Gothic"/>
              <a:sym typeface="Century Gothic"/>
            </a:endParaRPr>
          </a:p>
        </p:txBody>
      </p:sp>
      <p:cxnSp>
        <p:nvCxnSpPr>
          <p:cNvPr id="437" name="Google Shape;437;p18"/>
          <p:cNvCxnSpPr/>
          <p:nvPr/>
        </p:nvCxnSpPr>
        <p:spPr>
          <a:xfrm rot="10800000">
            <a:off x="2632112" y="1752704"/>
            <a:ext cx="0" cy="231900"/>
          </a:xfrm>
          <a:prstGeom prst="straightConnector1">
            <a:avLst/>
          </a:prstGeom>
          <a:noFill/>
          <a:ln cap="flat" cmpd="sng" w="25400">
            <a:solidFill>
              <a:srgbClr val="B7B7B7"/>
            </a:solidFill>
            <a:prstDash val="solid"/>
            <a:miter lim="80"/>
            <a:headEnd len="sm" w="sm" type="none"/>
            <a:tailEnd len="med" w="med" type="triangle"/>
          </a:ln>
        </p:spPr>
      </p:cxnSp>
      <p:sp>
        <p:nvSpPr>
          <p:cNvPr id="438" name="Google Shape;438;p18"/>
          <p:cNvSpPr txBox="1"/>
          <p:nvPr/>
        </p:nvSpPr>
        <p:spPr>
          <a:xfrm>
            <a:off x="4374390" y="1777945"/>
            <a:ext cx="955500" cy="1881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Montserrat"/>
                <a:ea typeface="Montserrat"/>
                <a:cs typeface="Montserrat"/>
                <a:sym typeface="Montserrat"/>
              </a:rPr>
              <a:t>Direction &amp; Program Updates</a:t>
            </a:r>
            <a:endParaRPr b="0" i="0" sz="700" u="none" cap="none" strike="noStrike">
              <a:solidFill>
                <a:srgbClr val="336666"/>
              </a:solidFill>
              <a:latin typeface="Montserrat"/>
              <a:ea typeface="Montserrat"/>
              <a:cs typeface="Montserrat"/>
              <a:sym typeface="Montserrat"/>
            </a:endParaRPr>
          </a:p>
        </p:txBody>
      </p:sp>
      <p:cxnSp>
        <p:nvCxnSpPr>
          <p:cNvPr id="439" name="Google Shape;439;p18"/>
          <p:cNvCxnSpPr/>
          <p:nvPr/>
        </p:nvCxnSpPr>
        <p:spPr>
          <a:xfrm>
            <a:off x="5423642" y="1772254"/>
            <a:ext cx="0" cy="231900"/>
          </a:xfrm>
          <a:prstGeom prst="straightConnector1">
            <a:avLst/>
          </a:prstGeom>
          <a:noFill/>
          <a:ln cap="flat" cmpd="sng" w="25400">
            <a:solidFill>
              <a:srgbClr val="B7B7B7"/>
            </a:solidFill>
            <a:prstDash val="solid"/>
            <a:miter lim="80"/>
            <a:headEnd len="sm" w="sm" type="none"/>
            <a:tailEnd len="med" w="med" type="triangle"/>
          </a:ln>
        </p:spPr>
      </p:cxnSp>
      <p:sp>
        <p:nvSpPr>
          <p:cNvPr id="440" name="Google Shape;440;p18"/>
          <p:cNvSpPr txBox="1"/>
          <p:nvPr/>
        </p:nvSpPr>
        <p:spPr>
          <a:xfrm>
            <a:off x="4336415" y="2517264"/>
            <a:ext cx="981600" cy="151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Montserrat"/>
                <a:ea typeface="Montserrat"/>
                <a:cs typeface="Montserrat"/>
                <a:sym typeface="Montserrat"/>
              </a:rPr>
              <a:t>Direction &amp; Program Updates</a:t>
            </a:r>
            <a:endParaRPr b="0" i="0" sz="700" u="none" cap="none" strike="noStrike">
              <a:solidFill>
                <a:srgbClr val="336666"/>
              </a:solidFill>
              <a:latin typeface="Montserrat"/>
              <a:ea typeface="Montserrat"/>
              <a:cs typeface="Montserrat"/>
              <a:sym typeface="Montserrat"/>
            </a:endParaRPr>
          </a:p>
        </p:txBody>
      </p:sp>
      <p:cxnSp>
        <p:nvCxnSpPr>
          <p:cNvPr id="441" name="Google Shape;441;p18"/>
          <p:cNvCxnSpPr/>
          <p:nvPr/>
        </p:nvCxnSpPr>
        <p:spPr>
          <a:xfrm>
            <a:off x="5423650" y="2504893"/>
            <a:ext cx="0" cy="332700"/>
          </a:xfrm>
          <a:prstGeom prst="straightConnector1">
            <a:avLst/>
          </a:prstGeom>
          <a:noFill/>
          <a:ln cap="flat" cmpd="sng" w="25400">
            <a:solidFill>
              <a:srgbClr val="B7B7B7"/>
            </a:solidFill>
            <a:prstDash val="solid"/>
            <a:miter lim="80"/>
            <a:headEnd len="sm" w="sm" type="none"/>
            <a:tailEnd len="med" w="med" type="triangle"/>
          </a:ln>
        </p:spPr>
      </p:cxnSp>
      <p:cxnSp>
        <p:nvCxnSpPr>
          <p:cNvPr id="442" name="Google Shape;442;p18"/>
          <p:cNvCxnSpPr>
            <a:stCxn id="433" idx="3"/>
            <a:endCxn id="432" idx="1"/>
          </p:cNvCxnSpPr>
          <p:nvPr/>
        </p:nvCxnSpPr>
        <p:spPr>
          <a:xfrm flipH="1" rot="10800000">
            <a:off x="3750325" y="1548954"/>
            <a:ext cx="729000" cy="300"/>
          </a:xfrm>
          <a:prstGeom prst="straightConnector1">
            <a:avLst/>
          </a:prstGeom>
          <a:noFill/>
          <a:ln cap="flat" cmpd="sng" w="9525">
            <a:solidFill>
              <a:srgbClr val="B7B7B7"/>
            </a:solidFill>
            <a:prstDash val="solid"/>
            <a:miter lim="80"/>
            <a:headEnd len="med" w="med" type="triangle"/>
            <a:tailEnd len="med" w="med" type="triangle"/>
          </a:ln>
        </p:spPr>
      </p:cxnSp>
      <p:cxnSp>
        <p:nvCxnSpPr>
          <p:cNvPr id="443" name="Google Shape;443;p18"/>
          <p:cNvCxnSpPr>
            <a:stCxn id="444" idx="3"/>
            <a:endCxn id="434" idx="1"/>
          </p:cNvCxnSpPr>
          <p:nvPr/>
        </p:nvCxnSpPr>
        <p:spPr>
          <a:xfrm>
            <a:off x="3750325" y="2229258"/>
            <a:ext cx="729000" cy="0"/>
          </a:xfrm>
          <a:prstGeom prst="straightConnector1">
            <a:avLst/>
          </a:prstGeom>
          <a:noFill/>
          <a:ln cap="flat" cmpd="sng" w="9525">
            <a:solidFill>
              <a:srgbClr val="B7B7B7"/>
            </a:solidFill>
            <a:prstDash val="solid"/>
            <a:miter lim="80"/>
            <a:headEnd len="med" w="med" type="triangle"/>
            <a:tailEnd len="med" w="med" type="triangle"/>
          </a:ln>
        </p:spPr>
      </p:cxnSp>
      <p:sp>
        <p:nvSpPr>
          <p:cNvPr id="444" name="Google Shape;444;p18"/>
          <p:cNvSpPr txBox="1"/>
          <p:nvPr/>
        </p:nvSpPr>
        <p:spPr>
          <a:xfrm>
            <a:off x="1629325" y="2090208"/>
            <a:ext cx="2121000" cy="278100"/>
          </a:xfrm>
          <a:prstGeom prst="rect">
            <a:avLst/>
          </a:prstGeom>
          <a:solidFill>
            <a:srgbClr val="B7B7B7"/>
          </a:solidFill>
          <a:ln>
            <a:noFill/>
          </a:ln>
        </p:spPr>
        <p:txBody>
          <a:bodyPr anchorCtr="0" anchor="ctr" bIns="0" lIns="0" spcFirstLastPara="1" rIns="0" wrap="square" tIns="0">
            <a:noAutofit/>
          </a:bodyPr>
          <a:lstStyle/>
          <a:p>
            <a:r>
              <a:t>Product Manager, Blogger </a:t>
            </a:r>
          </a:p>
        </p:txBody>
      </p:sp>
      <p:sp>
        <p:nvSpPr>
          <p:cNvPr id="445" name="Google Shape;445;p18"/>
          <p:cNvSpPr txBox="1"/>
          <p:nvPr/>
        </p:nvSpPr>
        <p:spPr>
          <a:xfrm>
            <a:off x="2864276" y="2533538"/>
            <a:ext cx="660900" cy="151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Montserrat"/>
                <a:ea typeface="Montserrat"/>
                <a:cs typeface="Montserrat"/>
                <a:sym typeface="Montserrat"/>
              </a:rPr>
              <a:t>Escalate Risks &amp; Issues</a:t>
            </a:r>
            <a:endParaRPr b="0" i="0" sz="700" u="none" cap="none" strike="noStrike">
              <a:solidFill>
                <a:srgbClr val="336666"/>
              </a:solidFill>
              <a:latin typeface="Montserrat"/>
              <a:ea typeface="Montserrat"/>
              <a:cs typeface="Montserrat"/>
              <a:sym typeface="Montserrat"/>
            </a:endParaRPr>
          </a:p>
        </p:txBody>
      </p:sp>
      <p:cxnSp>
        <p:nvCxnSpPr>
          <p:cNvPr id="446" name="Google Shape;446;p18"/>
          <p:cNvCxnSpPr/>
          <p:nvPr/>
        </p:nvCxnSpPr>
        <p:spPr>
          <a:xfrm rot="10800000">
            <a:off x="2632100" y="2507218"/>
            <a:ext cx="0" cy="365700"/>
          </a:xfrm>
          <a:prstGeom prst="straightConnector1">
            <a:avLst/>
          </a:prstGeom>
          <a:noFill/>
          <a:ln cap="flat" cmpd="sng" w="25400">
            <a:solidFill>
              <a:srgbClr val="B7B7B7"/>
            </a:solidFill>
            <a:prstDash val="solid"/>
            <a:miter lim="80"/>
            <a:headEnd len="sm" w="sm" type="none"/>
            <a:tailEnd len="med" w="med" type="triangle"/>
          </a:ln>
        </p:spPr>
      </p:cxnSp>
      <p:cxnSp>
        <p:nvCxnSpPr>
          <p:cNvPr id="447" name="Google Shape;447;p18"/>
          <p:cNvCxnSpPr>
            <a:stCxn id="431" idx="0"/>
            <a:endCxn id="412" idx="0"/>
          </p:cNvCxnSpPr>
          <p:nvPr/>
        </p:nvCxnSpPr>
        <p:spPr>
          <a:xfrm rot="5400000">
            <a:off x="5404407" y="1633923"/>
            <a:ext cx="254100" cy="3184500"/>
          </a:xfrm>
          <a:prstGeom prst="bentConnector3">
            <a:avLst>
              <a:gd fmla="val -93713" name="adj1"/>
            </a:avLst>
          </a:prstGeom>
          <a:noFill/>
          <a:ln cap="flat" cmpd="sng" w="9525">
            <a:solidFill>
              <a:srgbClr val="B7B7B7"/>
            </a:solidFill>
            <a:prstDash val="solid"/>
            <a:round/>
            <a:headEnd len="med" w="med" type="oval"/>
            <a:tailEnd len="med" w="med" type="oval"/>
          </a:ln>
        </p:spPr>
      </p:cxnSp>
      <p:sp>
        <p:nvSpPr>
          <p:cNvPr id="448" name="Google Shape;448;p18"/>
          <p:cNvSpPr/>
          <p:nvPr/>
        </p:nvSpPr>
        <p:spPr>
          <a:xfrm>
            <a:off x="7182432" y="1935141"/>
            <a:ext cx="1401300" cy="444300"/>
          </a:xfrm>
          <a:prstGeom prst="rect">
            <a:avLst/>
          </a:prstGeom>
          <a:noFill/>
          <a:ln>
            <a:noFill/>
          </a:ln>
        </p:spPr>
        <p:txBody>
          <a:bodyPr anchorCtr="0" anchor="ctr" bIns="121900" lIns="60925" spcFirstLastPara="1" rIns="60925" wrap="square" tIns="121900">
            <a:noAutofit/>
          </a:bodyPr>
          <a:lstStyle/>
          <a:p>
            <a:pPr indent="0" lvl="0" marL="0" marR="0" rtl="0" algn="ctr">
              <a:lnSpc>
                <a:spcPct val="100000"/>
              </a:lnSpc>
              <a:spcBef>
                <a:spcPts val="0"/>
              </a:spcBef>
              <a:spcAft>
                <a:spcPts val="0"/>
              </a:spcAft>
              <a:buClr>
                <a:srgbClr val="000000"/>
              </a:buClr>
              <a:buSzPts val="1300"/>
              <a:buFont typeface="Arial"/>
              <a:buNone/>
            </a:pPr>
            <a:r>
              <a:rPr b="1" i="0" lang="en" sz="700" u="none" cap="none" strike="noStrike">
                <a:solidFill>
                  <a:srgbClr val="191919"/>
                </a:solidFill>
                <a:latin typeface="Montserrat"/>
                <a:ea typeface="Montserrat"/>
                <a:cs typeface="Montserrat"/>
                <a:sym typeface="Montserrat"/>
              </a:rPr>
              <a:t>Monthly Governance Checkpoints (SteerCo)</a:t>
            </a:r>
            <a:endParaRPr b="1" i="0" sz="700" u="none" cap="none" strike="noStrike">
              <a:solidFill>
                <a:srgbClr val="191919"/>
              </a:solidFill>
              <a:latin typeface="Montserrat"/>
              <a:ea typeface="Montserrat"/>
              <a:cs typeface="Montserrat"/>
              <a:sym typeface="Montserrat"/>
            </a:endParaRPr>
          </a:p>
        </p:txBody>
      </p:sp>
      <p:sp>
        <p:nvSpPr>
          <p:cNvPr id="449" name="Google Shape;449;p18"/>
          <p:cNvSpPr/>
          <p:nvPr/>
        </p:nvSpPr>
        <p:spPr>
          <a:xfrm>
            <a:off x="7712458" y="1639644"/>
            <a:ext cx="318300" cy="311700"/>
          </a:xfrm>
          <a:custGeom>
            <a:rect b="b" l="l" r="r" t="t"/>
            <a:pathLst>
              <a:path extrusionOk="0" h="120000" w="120000">
                <a:moveTo>
                  <a:pt x="102419" y="17574"/>
                </a:moveTo>
                <a:cubicBezTo>
                  <a:pt x="125853" y="41002"/>
                  <a:pt x="125853" y="78991"/>
                  <a:pt x="102419" y="102419"/>
                </a:cubicBezTo>
                <a:cubicBezTo>
                  <a:pt x="78991" y="125853"/>
                  <a:pt x="41002" y="125853"/>
                  <a:pt x="17574" y="102419"/>
                </a:cubicBezTo>
                <a:cubicBezTo>
                  <a:pt x="-5860" y="78991"/>
                  <a:pt x="-5860" y="41002"/>
                  <a:pt x="17574" y="17574"/>
                </a:cubicBezTo>
                <a:cubicBezTo>
                  <a:pt x="41002" y="-5860"/>
                  <a:pt x="78991" y="-5860"/>
                  <a:pt x="102419" y="17574"/>
                </a:cubicBezTo>
                <a:close/>
              </a:path>
            </a:pathLst>
          </a:custGeom>
          <a:solidFill>
            <a:srgbClr val="99BDEA"/>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t/>
            </a:r>
            <a:endParaRPr b="0" i="0" sz="1300" u="none" cap="none" strike="noStrike">
              <a:solidFill>
                <a:srgbClr val="000000"/>
              </a:solidFill>
              <a:latin typeface="Calibri"/>
              <a:ea typeface="Calibri"/>
              <a:cs typeface="Calibri"/>
              <a:sym typeface="Calibri"/>
            </a:endParaRPr>
          </a:p>
        </p:txBody>
      </p:sp>
      <p:sp>
        <p:nvSpPr>
          <p:cNvPr id="450" name="Google Shape;450;p18"/>
          <p:cNvSpPr/>
          <p:nvPr/>
        </p:nvSpPr>
        <p:spPr>
          <a:xfrm>
            <a:off x="4196599" y="3403869"/>
            <a:ext cx="1334100" cy="941700"/>
          </a:xfrm>
          <a:prstGeom prst="roundRect">
            <a:avLst>
              <a:gd fmla="val 5116" name="adj"/>
            </a:avLst>
          </a:prstGeom>
          <a:solidFill>
            <a:srgbClr val="FFFFFF"/>
          </a:solidFill>
          <a:ln cap="flat" cmpd="sng" w="9525">
            <a:solidFill>
              <a:srgbClr val="CC006C"/>
            </a:solidFill>
            <a:prstDash val="dot"/>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451" name="Google Shape;451;p18"/>
          <p:cNvPicPr preferRelativeResize="0"/>
          <p:nvPr/>
        </p:nvPicPr>
        <p:blipFill rotWithShape="1">
          <a:blip r:embed="rId8">
            <a:alphaModFix/>
          </a:blip>
          <a:srcRect b="0" l="0" r="0" t="0"/>
          <a:stretch/>
        </p:blipFill>
        <p:spPr>
          <a:xfrm>
            <a:off x="7756651" y="1712375"/>
            <a:ext cx="229899" cy="166176"/>
          </a:xfrm>
          <a:prstGeom prst="rect">
            <a:avLst/>
          </a:prstGeom>
          <a:noFill/>
          <a:ln>
            <a:noFill/>
          </a:ln>
        </p:spPr>
      </p:pic>
      <p:sp>
        <p:nvSpPr>
          <p:cNvPr id="452" name="Google Shape;452;p18"/>
          <p:cNvSpPr/>
          <p:nvPr/>
        </p:nvSpPr>
        <p:spPr>
          <a:xfrm>
            <a:off x="4128891" y="3446717"/>
            <a:ext cx="1334100" cy="1014300"/>
          </a:xfrm>
          <a:prstGeom prst="roundRect">
            <a:avLst>
              <a:gd fmla="val 5116" name="adj"/>
            </a:avLst>
          </a:prstGeom>
          <a:solidFill>
            <a:srgbClr val="FFFFFF"/>
          </a:solidFill>
          <a:ln cap="flat" cmpd="sng" w="9525">
            <a:solidFill>
              <a:srgbClr val="CC006C"/>
            </a:solidFill>
            <a:prstDash val="dot"/>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453" name="Google Shape;453;p18"/>
          <p:cNvPicPr preferRelativeResize="0"/>
          <p:nvPr/>
        </p:nvPicPr>
        <p:blipFill rotWithShape="1">
          <a:blip r:embed="rId9">
            <a:alphaModFix/>
          </a:blip>
          <a:srcRect b="18198" l="21766" r="23601" t="16993"/>
          <a:stretch/>
        </p:blipFill>
        <p:spPr>
          <a:xfrm>
            <a:off x="4259212" y="4081790"/>
            <a:ext cx="193693" cy="181710"/>
          </a:xfrm>
          <a:prstGeom prst="rect">
            <a:avLst/>
          </a:prstGeom>
          <a:noFill/>
          <a:ln>
            <a:noFill/>
          </a:ln>
        </p:spPr>
      </p:pic>
      <p:sp>
        <p:nvSpPr>
          <p:cNvPr id="454" name="Google Shape;454;p18"/>
          <p:cNvSpPr txBox="1"/>
          <p:nvPr/>
        </p:nvSpPr>
        <p:spPr>
          <a:xfrm>
            <a:off x="4380925" y="3505629"/>
            <a:ext cx="830100" cy="3078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000000"/>
                </a:solidFill>
                <a:latin typeface="Montserrat"/>
                <a:ea typeface="Montserrat"/>
                <a:cs typeface="Montserrat"/>
                <a:sym typeface="Montserrat"/>
              </a:rPr>
              <a:t>TTN Team</a:t>
            </a:r>
            <a:endParaRPr b="1" i="0" sz="800" u="none" cap="none" strike="noStrike">
              <a:solidFill>
                <a:srgbClr val="000000"/>
              </a:solidFill>
              <a:latin typeface="Montserrat"/>
              <a:ea typeface="Montserrat"/>
              <a:cs typeface="Montserrat"/>
              <a:sym typeface="Montserrat"/>
            </a:endParaRPr>
          </a:p>
        </p:txBody>
      </p:sp>
      <p:sp>
        <p:nvSpPr>
          <p:cNvPr id="455" name="Google Shape;455;p18"/>
          <p:cNvSpPr txBox="1"/>
          <p:nvPr/>
        </p:nvSpPr>
        <p:spPr>
          <a:xfrm>
            <a:off x="4232743" y="3979995"/>
            <a:ext cx="1261800" cy="400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700"/>
              <a:buFont typeface="Arial"/>
              <a:buNone/>
            </a:pPr>
            <a:r>
              <a:rPr b="1" i="0" lang="en" sz="700" u="none" cap="none" strike="noStrike">
                <a:solidFill>
                  <a:srgbClr val="000000"/>
                </a:solidFill>
                <a:latin typeface="Century Gothic"/>
                <a:ea typeface="Century Gothic"/>
                <a:cs typeface="Century Gothic"/>
                <a:sym typeface="Century Gothic"/>
              </a:rPr>
              <a:t>TTN Engineering </a:t>
            </a:r>
            <a:endParaRPr b="1" i="0" sz="700" u="none" cap="none" strike="noStrike">
              <a:solidFill>
                <a:srgbClr val="000000"/>
              </a:solidFill>
              <a:latin typeface="Century Gothic"/>
              <a:ea typeface="Century Gothic"/>
              <a:cs typeface="Century Gothic"/>
              <a:sym typeface="Century Gothic"/>
            </a:endParaRPr>
          </a:p>
          <a:p>
            <a:pPr indent="0" lvl="0" marL="0" marR="0" rtl="0" algn="ctr">
              <a:lnSpc>
                <a:spcPct val="100000"/>
              </a:lnSpc>
              <a:spcBef>
                <a:spcPts val="0"/>
              </a:spcBef>
              <a:spcAft>
                <a:spcPts val="0"/>
              </a:spcAft>
              <a:buClr>
                <a:srgbClr val="000000"/>
              </a:buClr>
              <a:buSzPts val="700"/>
              <a:buFont typeface="Arial"/>
              <a:buNone/>
            </a:pPr>
            <a:r>
              <a:rPr b="1" i="0" lang="en" sz="700" u="none" cap="none" strike="noStrike">
                <a:solidFill>
                  <a:srgbClr val="000000"/>
                </a:solidFill>
                <a:latin typeface="Century Gothic"/>
                <a:ea typeface="Century Gothic"/>
                <a:cs typeface="Century Gothic"/>
                <a:sym typeface="Century Gothic"/>
              </a:rPr>
              <a:t>Team</a:t>
            </a:r>
            <a:endParaRPr b="1" i="0" sz="700" u="none" cap="none" strike="noStrike">
              <a:solidFill>
                <a:srgbClr val="000000"/>
              </a:solidFill>
              <a:latin typeface="Century Gothic"/>
              <a:ea typeface="Century Gothic"/>
              <a:cs typeface="Century Gothic"/>
              <a:sym typeface="Century Gothic"/>
            </a:endParaRPr>
          </a:p>
        </p:txBody>
      </p:sp>
      <p:pic>
        <p:nvPicPr>
          <p:cNvPr id="456" name="Google Shape;456;p18"/>
          <p:cNvPicPr preferRelativeResize="0"/>
          <p:nvPr/>
        </p:nvPicPr>
        <p:blipFill rotWithShape="1">
          <a:blip r:embed="rId9">
            <a:alphaModFix/>
          </a:blip>
          <a:srcRect b="18198" l="21766" r="23601" t="16993"/>
          <a:stretch/>
        </p:blipFill>
        <p:spPr>
          <a:xfrm>
            <a:off x="4271897" y="3802253"/>
            <a:ext cx="168324" cy="180046"/>
          </a:xfrm>
          <a:prstGeom prst="rect">
            <a:avLst/>
          </a:prstGeom>
          <a:noFill/>
          <a:ln>
            <a:noFill/>
          </a:ln>
        </p:spPr>
      </p:pic>
      <p:sp>
        <p:nvSpPr>
          <p:cNvPr id="457" name="Google Shape;457;p18"/>
          <p:cNvSpPr txBox="1"/>
          <p:nvPr/>
        </p:nvSpPr>
        <p:spPr>
          <a:xfrm>
            <a:off x="4388911" y="3821314"/>
            <a:ext cx="981600" cy="290700"/>
          </a:xfrm>
          <a:prstGeom prst="rect">
            <a:avLst/>
          </a:prstGeom>
          <a:noFill/>
          <a:ln>
            <a:noFill/>
          </a:ln>
        </p:spPr>
        <p:txBody>
          <a:bodyPr anchorCtr="0" anchor="b" bIns="91425" lIns="91425" spcFirstLastPara="1" rIns="91425" wrap="square" tIns="91425">
            <a:noAutofit/>
          </a:bodyPr>
          <a:lstStyle/>
          <a:p>
            <a:pPr indent="0" lvl="0" marL="0" marR="0" rtl="0" algn="ctr">
              <a:lnSpc>
                <a:spcPct val="80000"/>
              </a:lnSpc>
              <a:spcBef>
                <a:spcPts val="0"/>
              </a:spcBef>
              <a:spcAft>
                <a:spcPts val="0"/>
              </a:spcAft>
              <a:buClr>
                <a:srgbClr val="000000"/>
              </a:buClr>
              <a:buSzPts val="700"/>
              <a:buFont typeface="Arial"/>
              <a:buNone/>
            </a:pPr>
            <a:r>
              <a:rPr b="1" i="0" lang="en" sz="700" u="none" cap="none" strike="noStrike">
                <a:solidFill>
                  <a:srgbClr val="000000"/>
                </a:solidFill>
                <a:latin typeface="Century Gothic"/>
                <a:ea typeface="Century Gothic"/>
                <a:cs typeface="Century Gothic"/>
                <a:sym typeface="Century Gothic"/>
              </a:rPr>
              <a:t>Project Manager</a:t>
            </a:r>
            <a:endParaRPr b="1" i="0" sz="700" u="none" cap="none" strike="noStrike">
              <a:solidFill>
                <a:srgbClr val="000000"/>
              </a:solidFill>
              <a:latin typeface="Century Gothic"/>
              <a:ea typeface="Century Gothic"/>
              <a:cs typeface="Century Gothic"/>
              <a:sym typeface="Century Gothic"/>
            </a:endParaRPr>
          </a:p>
        </p:txBody>
      </p:sp>
      <p:cxnSp>
        <p:nvCxnSpPr>
          <p:cNvPr id="458" name="Google Shape;458;p18"/>
          <p:cNvCxnSpPr/>
          <p:nvPr/>
        </p:nvCxnSpPr>
        <p:spPr>
          <a:xfrm rot="10800000">
            <a:off x="3316313" y="4030223"/>
            <a:ext cx="276600" cy="0"/>
          </a:xfrm>
          <a:prstGeom prst="straightConnector1">
            <a:avLst/>
          </a:prstGeom>
          <a:noFill/>
          <a:ln cap="flat" cmpd="sng" w="9525">
            <a:solidFill>
              <a:srgbClr val="999999"/>
            </a:solidFill>
            <a:prstDash val="solid"/>
            <a:round/>
            <a:headEnd len="sm" w="sm" type="none"/>
            <a:tailEnd len="sm" w="sm" type="none"/>
          </a:ln>
        </p:spPr>
      </p:cxnSp>
      <p:pic>
        <p:nvPicPr>
          <p:cNvPr id="459" name="Google Shape;459;p18"/>
          <p:cNvPicPr preferRelativeResize="0"/>
          <p:nvPr/>
        </p:nvPicPr>
        <p:blipFill rotWithShape="1">
          <a:blip r:embed="rId8">
            <a:alphaModFix/>
          </a:blip>
          <a:srcRect b="0" l="0" r="0" t="0"/>
          <a:stretch/>
        </p:blipFill>
        <p:spPr>
          <a:xfrm>
            <a:off x="6699607" y="3982434"/>
            <a:ext cx="183925" cy="135766"/>
          </a:xfrm>
          <a:prstGeom prst="rect">
            <a:avLst/>
          </a:prstGeom>
          <a:noFill/>
          <a:ln>
            <a:noFill/>
          </a:ln>
        </p:spPr>
      </p:pic>
      <p:sp>
        <p:nvSpPr>
          <p:cNvPr id="460" name="Google Shape;460;p18"/>
          <p:cNvSpPr txBox="1"/>
          <p:nvPr/>
        </p:nvSpPr>
        <p:spPr>
          <a:xfrm>
            <a:off x="359857" y="1281370"/>
            <a:ext cx="11757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800"/>
              <a:buFont typeface="Arial"/>
              <a:buNone/>
            </a:pPr>
            <a:r>
              <a:rPr b="1" i="0" lang="en" sz="800" u="none" cap="none" strike="noStrike">
                <a:solidFill>
                  <a:srgbClr val="12519C"/>
                </a:solidFill>
                <a:latin typeface="Montserrat"/>
                <a:ea typeface="Montserrat"/>
                <a:cs typeface="Montserrat"/>
                <a:sym typeface="Montserrat"/>
              </a:rPr>
              <a:t>Steering</a:t>
            </a:r>
            <a:endParaRPr b="0" i="0" sz="800" u="none" cap="none" strike="noStrike">
              <a:solidFill>
                <a:srgbClr val="12519C"/>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800"/>
              <a:buFont typeface="Arial"/>
              <a:buNone/>
            </a:pPr>
            <a:r>
              <a:rPr b="1" i="0" lang="en" sz="800" u="none" cap="none" strike="noStrike">
                <a:solidFill>
                  <a:srgbClr val="12519C"/>
                </a:solidFill>
                <a:latin typeface="Montserrat"/>
                <a:ea typeface="Montserrat"/>
                <a:cs typeface="Montserrat"/>
                <a:sym typeface="Montserrat"/>
              </a:rPr>
              <a:t>Committee</a:t>
            </a:r>
            <a:endParaRPr b="0" i="0" sz="800" u="none" cap="none" strike="noStrike">
              <a:solidFill>
                <a:srgbClr val="12519C"/>
              </a:solidFill>
              <a:latin typeface="Montserrat"/>
              <a:ea typeface="Montserrat"/>
              <a:cs typeface="Montserrat"/>
              <a:sym typeface="Montserrat"/>
            </a:endParaRPr>
          </a:p>
        </p:txBody>
      </p:sp>
      <p:sp>
        <p:nvSpPr>
          <p:cNvPr id="461" name="Google Shape;461;p18"/>
          <p:cNvSpPr txBox="1"/>
          <p:nvPr/>
        </p:nvSpPr>
        <p:spPr>
          <a:xfrm>
            <a:off x="409932" y="2011328"/>
            <a:ext cx="981600" cy="554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800"/>
              <a:buFont typeface="Arial"/>
              <a:buNone/>
            </a:pPr>
            <a:r>
              <a:rPr b="1" i="0" lang="en" sz="800" u="none" cap="none" strike="noStrike">
                <a:solidFill>
                  <a:srgbClr val="12519C"/>
                </a:solidFill>
                <a:latin typeface="Montserrat"/>
                <a:ea typeface="Montserrat"/>
                <a:cs typeface="Montserrat"/>
                <a:sym typeface="Montserrat"/>
              </a:rPr>
              <a:t>Program</a:t>
            </a:r>
            <a:endParaRPr b="0" i="0" sz="800" u="none" cap="none" strike="noStrike">
              <a:solidFill>
                <a:srgbClr val="12519C"/>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800"/>
              <a:buFont typeface="Arial"/>
              <a:buNone/>
            </a:pPr>
            <a:r>
              <a:rPr b="1" i="0" lang="en" sz="800" u="none" cap="none" strike="noStrike">
                <a:solidFill>
                  <a:srgbClr val="12519C"/>
                </a:solidFill>
                <a:latin typeface="Montserrat"/>
                <a:ea typeface="Montserrat"/>
                <a:cs typeface="Montserrat"/>
                <a:sym typeface="Montserrat"/>
              </a:rPr>
              <a:t>Management</a:t>
            </a:r>
            <a:endParaRPr b="0" i="0" sz="800" u="none" cap="none" strike="noStrike">
              <a:solidFill>
                <a:srgbClr val="12519C"/>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800"/>
              <a:buFont typeface="Arial"/>
              <a:buNone/>
            </a:pPr>
            <a:r>
              <a:rPr b="1" i="0" lang="en" sz="800" u="none" cap="none" strike="noStrike">
                <a:solidFill>
                  <a:srgbClr val="12519C"/>
                </a:solidFill>
                <a:latin typeface="Montserrat"/>
                <a:ea typeface="Montserrat"/>
                <a:cs typeface="Montserrat"/>
                <a:sym typeface="Montserrat"/>
              </a:rPr>
              <a:t>Committee</a:t>
            </a:r>
            <a:endParaRPr b="0" i="0" sz="800" u="none" cap="none" strike="noStrike">
              <a:solidFill>
                <a:srgbClr val="12519C"/>
              </a:solidFill>
              <a:latin typeface="Montserrat"/>
              <a:ea typeface="Montserrat"/>
              <a:cs typeface="Montserrat"/>
              <a:sym typeface="Montserrat"/>
            </a:endParaRPr>
          </a:p>
        </p:txBody>
      </p:sp>
      <p:cxnSp>
        <p:nvCxnSpPr>
          <p:cNvPr id="462" name="Google Shape;462;p18"/>
          <p:cNvCxnSpPr>
            <a:stCxn id="448" idx="2"/>
          </p:cNvCxnSpPr>
          <p:nvPr/>
        </p:nvCxnSpPr>
        <p:spPr>
          <a:xfrm flipH="1" rot="5400000">
            <a:off x="7211532" y="1707891"/>
            <a:ext cx="81300" cy="1261800"/>
          </a:xfrm>
          <a:prstGeom prst="bentConnector4">
            <a:avLst>
              <a:gd fmla="val -292897" name="adj1"/>
              <a:gd fmla="val 77764" name="adj2"/>
            </a:avLst>
          </a:prstGeom>
          <a:noFill/>
          <a:ln cap="flat" cmpd="sng" w="9525">
            <a:solidFill>
              <a:srgbClr val="B7B7B7"/>
            </a:solidFill>
            <a:prstDash val="solid"/>
            <a:round/>
            <a:headEnd len="med" w="med" type="oval"/>
            <a:tailEnd len="med" w="med" type="oval"/>
          </a:ln>
        </p:spPr>
      </p:cxnSp>
      <p:sp>
        <p:nvSpPr>
          <p:cNvPr id="463" name="Google Shape;463;p18"/>
          <p:cNvSpPr txBox="1"/>
          <p:nvPr/>
        </p:nvSpPr>
        <p:spPr>
          <a:xfrm>
            <a:off x="428857" y="3563900"/>
            <a:ext cx="3000000" cy="554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800"/>
              <a:buFont typeface="Arial"/>
              <a:buNone/>
            </a:pPr>
            <a:r>
              <a:rPr b="1" i="0" lang="en" sz="800" u="none" cap="none" strike="noStrike">
                <a:solidFill>
                  <a:srgbClr val="12519C"/>
                </a:solidFill>
                <a:latin typeface="Montserrat"/>
                <a:ea typeface="Montserrat"/>
                <a:cs typeface="Montserrat"/>
                <a:sym typeface="Montserrat"/>
              </a:rPr>
              <a:t>Program </a:t>
            </a:r>
            <a:endParaRPr b="0" i="0" sz="800" u="none" cap="none" strike="noStrike">
              <a:solidFill>
                <a:srgbClr val="12519C"/>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800"/>
              <a:buFont typeface="Arial"/>
              <a:buNone/>
            </a:pPr>
            <a:r>
              <a:rPr b="1" i="0" lang="en" sz="800" u="none" cap="none" strike="noStrike">
                <a:solidFill>
                  <a:srgbClr val="12519C"/>
                </a:solidFill>
                <a:latin typeface="Montserrat"/>
                <a:ea typeface="Montserrat"/>
                <a:cs typeface="Montserrat"/>
                <a:sym typeface="Montserrat"/>
              </a:rPr>
              <a:t>Execution </a:t>
            </a:r>
            <a:endParaRPr b="0" i="0" sz="800" u="none" cap="none" strike="noStrike">
              <a:solidFill>
                <a:srgbClr val="12519C"/>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800"/>
              <a:buFont typeface="Arial"/>
              <a:buNone/>
            </a:pPr>
            <a:r>
              <a:rPr b="1" i="0" lang="en" sz="800" u="none" cap="none" strike="noStrike">
                <a:solidFill>
                  <a:srgbClr val="12519C"/>
                </a:solidFill>
                <a:latin typeface="Montserrat"/>
                <a:ea typeface="Montserrat"/>
                <a:cs typeface="Montserrat"/>
                <a:sym typeface="Montserrat"/>
              </a:rPr>
              <a:t>Team</a:t>
            </a:r>
            <a:endParaRPr b="0" i="0" sz="800" u="none" cap="none" strike="noStrike">
              <a:solidFill>
                <a:srgbClr val="12519C"/>
              </a:solidFill>
              <a:latin typeface="Montserrat"/>
              <a:ea typeface="Montserrat"/>
              <a:cs typeface="Montserrat"/>
              <a:sym typeface="Montserrat"/>
            </a:endParaRPr>
          </a:p>
        </p:txBody>
      </p:sp>
      <p:pic>
        <p:nvPicPr>
          <p:cNvPr descr="TTN Logo.png" id="464" name="Google Shape;464;p18"/>
          <p:cNvPicPr preferRelativeResize="0"/>
          <p:nvPr/>
        </p:nvPicPr>
        <p:blipFill rotWithShape="1">
          <a:blip r:embed="rId10">
            <a:alphaModFix/>
          </a:blip>
          <a:srcRect b="0" l="0" r="0" t="0"/>
          <a:stretch/>
        </p:blipFill>
        <p:spPr>
          <a:xfrm>
            <a:off x="5110881" y="612478"/>
            <a:ext cx="625544" cy="349439"/>
          </a:xfrm>
          <a:prstGeom prst="rect">
            <a:avLst/>
          </a:prstGeom>
          <a:noFill/>
          <a:ln>
            <a:noFill/>
          </a:ln>
        </p:spPr>
      </p:pic>
      <p:sp>
        <p:nvSpPr>
          <p:cNvPr id="465" name="Google Shape;465;p18"/>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sz="1000"/>
              <a:t>‹#›</a:t>
            </a:fld>
            <a:endParaRPr sz="1000"/>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9" name="Shape 469"/>
        <p:cNvGrpSpPr/>
        <p:nvPr/>
      </p:nvGrpSpPr>
      <p:grpSpPr>
        <a:xfrm>
          <a:off x="0" y="0"/>
          <a:ext cx="0" cy="0"/>
          <a:chOff x="0" y="0"/>
          <a:chExt cx="0" cy="0"/>
        </a:xfrm>
      </p:grpSpPr>
      <p:sp>
        <p:nvSpPr>
          <p:cNvPr id="470" name="Google Shape;470;p19"/>
          <p:cNvSpPr txBox="1"/>
          <p:nvPr/>
        </p:nvSpPr>
        <p:spPr>
          <a:xfrm>
            <a:off x="105040" y="143994"/>
            <a:ext cx="6765900" cy="357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1" i="0" lang="en" sz="2000" u="none" cap="none" strike="noStrike">
                <a:solidFill>
                  <a:schemeClr val="dk1"/>
                </a:solidFill>
                <a:latin typeface="Montserrat"/>
                <a:ea typeface="Montserrat"/>
                <a:cs typeface="Montserrat"/>
                <a:sym typeface="Montserrat"/>
              </a:rPr>
              <a:t>Project Plan</a:t>
            </a:r>
            <a:endParaRPr b="1" i="0" sz="2000" u="none" cap="none" strike="noStrike">
              <a:solidFill>
                <a:schemeClr val="dk1"/>
              </a:solidFill>
              <a:latin typeface="Montserrat"/>
              <a:ea typeface="Montserrat"/>
              <a:cs typeface="Montserrat"/>
              <a:sym typeface="Montserrat"/>
            </a:endParaRPr>
          </a:p>
        </p:txBody>
      </p:sp>
      <p:graphicFrame>
        <p:nvGraphicFramePr>
          <p:cNvPr id="471" name="Google Shape;471;p19"/>
          <p:cNvGraphicFramePr/>
          <p:nvPr/>
        </p:nvGraphicFramePr>
        <p:xfrm>
          <a:off x="232325" y="700950"/>
          <a:ext cx="3000000" cy="3000000"/>
        </p:xfrm>
        <a:graphic>
          <a:graphicData uri="http://schemas.openxmlformats.org/drawingml/2006/table">
            <a:tbl>
              <a:tblPr>
                <a:noFill/>
                <a:tableStyleId>{2ED30D0B-F584-43FB-8283-64062CD711C6}</a:tableStyleId>
              </a:tblPr>
              <a:tblGrid>
                <a:gridCol w="1256925"/>
                <a:gridCol w="461550"/>
                <a:gridCol w="476475"/>
                <a:gridCol w="453325"/>
                <a:gridCol w="498275"/>
                <a:gridCol w="464450"/>
                <a:gridCol w="457375"/>
                <a:gridCol w="517625"/>
                <a:gridCol w="517625"/>
                <a:gridCol w="517625"/>
                <a:gridCol w="517625"/>
                <a:gridCol w="517625"/>
                <a:gridCol w="517625"/>
                <a:gridCol w="517625"/>
                <a:gridCol w="517625"/>
                <a:gridCol w="517625"/>
              </a:tblGrid>
              <a:tr h="320750">
                <a:tc>
                  <a:txBody>
                    <a:bodyPr/>
                    <a:lstStyle/>
                    <a:p>
                      <a:pPr indent="0" lvl="0" marL="0" marR="0" rtl="0" algn="ctr">
                        <a:lnSpc>
                          <a:spcPct val="100000"/>
                        </a:lnSpc>
                        <a:spcBef>
                          <a:spcPts val="0"/>
                        </a:spcBef>
                        <a:spcAft>
                          <a:spcPts val="0"/>
                        </a:spcAft>
                        <a:buClr>
                          <a:srgbClr val="000000"/>
                        </a:buClr>
                        <a:buSzPts val="900"/>
                        <a:buFont typeface="Arial"/>
                        <a:buNone/>
                      </a:pPr>
                      <a:r>
                        <a:rPr b="1" lang="en" sz="900" u="none" cap="none" strike="noStrike">
                          <a:solidFill>
                            <a:srgbClr val="FFFFFF"/>
                          </a:solidFill>
                          <a:latin typeface="Montserrat"/>
                          <a:ea typeface="Montserrat"/>
                          <a:cs typeface="Montserrat"/>
                          <a:sym typeface="Montserrat"/>
                        </a:rPr>
                        <a:t>Activities /Timelines</a:t>
                      </a:r>
                      <a:endParaRPr b="1" sz="900" u="none" cap="none" strike="noStrike">
                        <a:solidFill>
                          <a:srgbClr val="FFFFFF"/>
                        </a:solidFill>
                        <a:latin typeface="Montserrat"/>
                        <a:ea typeface="Montserrat"/>
                        <a:cs typeface="Montserrat"/>
                        <a:sym typeface="Montserrat"/>
                      </a:endParaRPr>
                    </a:p>
                  </a:txBody>
                  <a:tcPr marT="0" marB="0" marR="0" marL="0"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2519C"/>
                    </a:solidFill>
                  </a:tcPr>
                </a:tc>
                <a:tc>
                  <a:txBody>
                    <a:bodyPr/>
                    <a:lstStyle/>
                    <a:p>
                      <a:pPr indent="0" lvl="0" marL="0" marR="0" rtl="0" algn="ctr">
                        <a:lnSpc>
                          <a:spcPct val="115000"/>
                        </a:lnSpc>
                        <a:spcBef>
                          <a:spcPts val="0"/>
                        </a:spcBef>
                        <a:spcAft>
                          <a:spcPts val="0"/>
                        </a:spcAft>
                        <a:buClr>
                          <a:srgbClr val="000000"/>
                        </a:buClr>
                        <a:buSzPts val="900"/>
                        <a:buFont typeface="Arial"/>
                        <a:buNone/>
                      </a:pPr>
                      <a:r>
                        <a:rPr b="1" lang="en" sz="900" u="none" cap="none" strike="noStrike">
                          <a:solidFill>
                            <a:srgbClr val="FFFFFF"/>
                          </a:solidFill>
                          <a:latin typeface="Montserrat"/>
                          <a:ea typeface="Montserrat"/>
                          <a:cs typeface="Montserrat"/>
                          <a:sym typeface="Montserrat"/>
                        </a:rPr>
                        <a:t>Week 1</a:t>
                      </a:r>
                      <a:endParaRPr b="1" sz="900" u="none" cap="none" strike="noStrike">
                        <a:solidFill>
                          <a:srgbClr val="FFFFFF"/>
                        </a:solidFill>
                        <a:latin typeface="Montserrat"/>
                        <a:ea typeface="Montserrat"/>
                        <a:cs typeface="Montserrat"/>
                        <a:sym typeface="Montserrat"/>
                      </a:endParaRPr>
                    </a:p>
                  </a:txBody>
                  <a:tcPr marT="0" marB="0" marR="0" marL="0"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2519C"/>
                    </a:solidFill>
                  </a:tcPr>
                </a:tc>
                <a:tc>
                  <a:txBody>
                    <a:bodyPr/>
                    <a:lstStyle/>
                    <a:p>
                      <a:pPr indent="0" lvl="0" marL="0" marR="0" rtl="0" algn="ctr">
                        <a:lnSpc>
                          <a:spcPct val="115000"/>
                        </a:lnSpc>
                        <a:spcBef>
                          <a:spcPts val="0"/>
                        </a:spcBef>
                        <a:spcAft>
                          <a:spcPts val="0"/>
                        </a:spcAft>
                        <a:buClr>
                          <a:srgbClr val="000000"/>
                        </a:buClr>
                        <a:buSzPts val="900"/>
                        <a:buFont typeface="Arial"/>
                        <a:buNone/>
                      </a:pPr>
                      <a:r>
                        <a:rPr b="1" lang="en" sz="900" u="none" cap="none" strike="noStrike">
                          <a:solidFill>
                            <a:srgbClr val="FFFFFF"/>
                          </a:solidFill>
                          <a:latin typeface="Montserrat"/>
                          <a:ea typeface="Montserrat"/>
                          <a:cs typeface="Montserrat"/>
                          <a:sym typeface="Montserrat"/>
                        </a:rPr>
                        <a:t>Week 2</a:t>
                      </a:r>
                      <a:endParaRPr sz="900" u="none" cap="none" strike="noStrike">
                        <a:solidFill>
                          <a:srgbClr val="FFFFFF"/>
                        </a:solidFill>
                        <a:latin typeface="Montserrat"/>
                        <a:ea typeface="Montserrat"/>
                        <a:cs typeface="Montserrat"/>
                        <a:sym typeface="Montserrat"/>
                      </a:endParaRPr>
                    </a:p>
                  </a:txBody>
                  <a:tcPr marT="0" marB="0" marR="0" marL="0"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2519C"/>
                    </a:solidFill>
                  </a:tcPr>
                </a:tc>
                <a:tc>
                  <a:txBody>
                    <a:bodyPr/>
                    <a:lstStyle/>
                    <a:p>
                      <a:pPr indent="0" lvl="0" marL="0" marR="0" rtl="0" algn="ctr">
                        <a:lnSpc>
                          <a:spcPct val="115000"/>
                        </a:lnSpc>
                        <a:spcBef>
                          <a:spcPts val="0"/>
                        </a:spcBef>
                        <a:spcAft>
                          <a:spcPts val="0"/>
                        </a:spcAft>
                        <a:buClr>
                          <a:srgbClr val="000000"/>
                        </a:buClr>
                        <a:buSzPts val="900"/>
                        <a:buFont typeface="Arial"/>
                        <a:buNone/>
                      </a:pPr>
                      <a:r>
                        <a:rPr b="1" lang="en" sz="900" u="none" cap="none" strike="noStrike">
                          <a:solidFill>
                            <a:srgbClr val="FFFFFF"/>
                          </a:solidFill>
                          <a:latin typeface="Montserrat"/>
                          <a:ea typeface="Montserrat"/>
                          <a:cs typeface="Montserrat"/>
                          <a:sym typeface="Montserrat"/>
                        </a:rPr>
                        <a:t>Week 3</a:t>
                      </a:r>
                      <a:endParaRPr sz="900" u="none" cap="none" strike="noStrike">
                        <a:solidFill>
                          <a:srgbClr val="FFFFFF"/>
                        </a:solidFill>
                        <a:latin typeface="Montserrat"/>
                        <a:ea typeface="Montserrat"/>
                        <a:cs typeface="Montserrat"/>
                        <a:sym typeface="Montserrat"/>
                      </a:endParaRPr>
                    </a:p>
                  </a:txBody>
                  <a:tcPr marT="0" marB="0" marR="0" marL="0"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2519C"/>
                    </a:solidFill>
                  </a:tcPr>
                </a:tc>
                <a:tc>
                  <a:txBody>
                    <a:bodyPr/>
                    <a:lstStyle/>
                    <a:p>
                      <a:pPr indent="0" lvl="0" marL="0" marR="0" rtl="0" algn="ctr">
                        <a:lnSpc>
                          <a:spcPct val="115000"/>
                        </a:lnSpc>
                        <a:spcBef>
                          <a:spcPts val="0"/>
                        </a:spcBef>
                        <a:spcAft>
                          <a:spcPts val="0"/>
                        </a:spcAft>
                        <a:buClr>
                          <a:srgbClr val="000000"/>
                        </a:buClr>
                        <a:buSzPts val="900"/>
                        <a:buFont typeface="Arial"/>
                        <a:buNone/>
                      </a:pPr>
                      <a:r>
                        <a:rPr b="1" lang="en" sz="900" u="none" cap="none" strike="noStrike">
                          <a:solidFill>
                            <a:srgbClr val="FFFFFF"/>
                          </a:solidFill>
                          <a:latin typeface="Montserrat"/>
                          <a:ea typeface="Montserrat"/>
                          <a:cs typeface="Montserrat"/>
                          <a:sym typeface="Montserrat"/>
                        </a:rPr>
                        <a:t>Week 4</a:t>
                      </a:r>
                      <a:endParaRPr sz="900" u="none" cap="none" strike="noStrike">
                        <a:solidFill>
                          <a:srgbClr val="FFFFFF"/>
                        </a:solidFill>
                        <a:latin typeface="Montserrat"/>
                        <a:ea typeface="Montserrat"/>
                        <a:cs typeface="Montserrat"/>
                        <a:sym typeface="Montserrat"/>
                      </a:endParaRPr>
                    </a:p>
                  </a:txBody>
                  <a:tcPr marT="0" marB="0" marR="0" marL="0"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2519C"/>
                    </a:solidFill>
                  </a:tcPr>
                </a:tc>
                <a:tc>
                  <a:txBody>
                    <a:bodyPr/>
                    <a:lstStyle/>
                    <a:p>
                      <a:pPr indent="0" lvl="0" marL="0" marR="0" rtl="0" algn="ctr">
                        <a:lnSpc>
                          <a:spcPct val="115000"/>
                        </a:lnSpc>
                        <a:spcBef>
                          <a:spcPts val="0"/>
                        </a:spcBef>
                        <a:spcAft>
                          <a:spcPts val="0"/>
                        </a:spcAft>
                        <a:buClr>
                          <a:srgbClr val="000000"/>
                        </a:buClr>
                        <a:buSzPts val="900"/>
                        <a:buFont typeface="Arial"/>
                        <a:buNone/>
                      </a:pPr>
                      <a:r>
                        <a:rPr b="1" lang="en" sz="900" u="none" cap="none" strike="noStrike">
                          <a:solidFill>
                            <a:srgbClr val="FFFFFF"/>
                          </a:solidFill>
                          <a:latin typeface="Montserrat"/>
                          <a:ea typeface="Montserrat"/>
                          <a:cs typeface="Montserrat"/>
                          <a:sym typeface="Montserrat"/>
                        </a:rPr>
                        <a:t>Week 5</a:t>
                      </a:r>
                      <a:endParaRPr sz="900" u="none" cap="none" strike="noStrike">
                        <a:solidFill>
                          <a:srgbClr val="FFFFFF"/>
                        </a:solidFill>
                        <a:latin typeface="Montserrat"/>
                        <a:ea typeface="Montserrat"/>
                        <a:cs typeface="Montserrat"/>
                        <a:sym typeface="Montserrat"/>
                      </a:endParaRPr>
                    </a:p>
                  </a:txBody>
                  <a:tcPr marT="0" marB="0" marR="0" marL="0"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2519C"/>
                    </a:solidFill>
                  </a:tcPr>
                </a:tc>
                <a:tc>
                  <a:txBody>
                    <a:bodyPr/>
                    <a:lstStyle/>
                    <a:p>
                      <a:pPr indent="0" lvl="0" marL="0" marR="0" rtl="0" algn="ctr">
                        <a:lnSpc>
                          <a:spcPct val="115000"/>
                        </a:lnSpc>
                        <a:spcBef>
                          <a:spcPts val="0"/>
                        </a:spcBef>
                        <a:spcAft>
                          <a:spcPts val="0"/>
                        </a:spcAft>
                        <a:buClr>
                          <a:srgbClr val="000000"/>
                        </a:buClr>
                        <a:buSzPts val="900"/>
                        <a:buFont typeface="Arial"/>
                        <a:buNone/>
                      </a:pPr>
                      <a:r>
                        <a:rPr b="1" lang="en" sz="900" u="none" cap="none" strike="noStrike">
                          <a:solidFill>
                            <a:srgbClr val="FFFFFF"/>
                          </a:solidFill>
                          <a:latin typeface="Montserrat"/>
                          <a:ea typeface="Montserrat"/>
                          <a:cs typeface="Montserrat"/>
                          <a:sym typeface="Montserrat"/>
                        </a:rPr>
                        <a:t>Week 6</a:t>
                      </a:r>
                      <a:endParaRPr sz="900" u="none" cap="none" strike="noStrike">
                        <a:solidFill>
                          <a:srgbClr val="FFFFFF"/>
                        </a:solidFill>
                        <a:latin typeface="Montserrat"/>
                        <a:ea typeface="Montserrat"/>
                        <a:cs typeface="Montserrat"/>
                        <a:sym typeface="Montserrat"/>
                      </a:endParaRPr>
                    </a:p>
                  </a:txBody>
                  <a:tcPr marT="0" marB="0" marR="0" marL="0"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2519C"/>
                    </a:solidFill>
                  </a:tcPr>
                </a:tc>
                <a:tc>
                  <a:txBody>
                    <a:bodyPr/>
                    <a:lstStyle/>
                    <a:p>
                      <a:pPr indent="0" lvl="0" marL="0" marR="0" rtl="0" algn="ctr">
                        <a:lnSpc>
                          <a:spcPct val="115000"/>
                        </a:lnSpc>
                        <a:spcBef>
                          <a:spcPts val="0"/>
                        </a:spcBef>
                        <a:spcAft>
                          <a:spcPts val="0"/>
                        </a:spcAft>
                        <a:buClr>
                          <a:srgbClr val="000000"/>
                        </a:buClr>
                        <a:buSzPts val="900"/>
                        <a:buFont typeface="Arial"/>
                        <a:buNone/>
                      </a:pPr>
                      <a:r>
                        <a:rPr b="1" lang="en" sz="900" u="none" cap="none" strike="noStrike">
                          <a:solidFill>
                            <a:srgbClr val="FFFFFF"/>
                          </a:solidFill>
                          <a:latin typeface="Montserrat"/>
                          <a:ea typeface="Montserrat"/>
                          <a:cs typeface="Montserrat"/>
                          <a:sym typeface="Montserrat"/>
                        </a:rPr>
                        <a:t>Week 7</a:t>
                      </a:r>
                      <a:endParaRPr sz="900" u="none" cap="none" strike="noStrike">
                        <a:solidFill>
                          <a:srgbClr val="FFFFFF"/>
                        </a:solidFill>
                        <a:latin typeface="Montserrat"/>
                        <a:ea typeface="Montserrat"/>
                        <a:cs typeface="Montserrat"/>
                        <a:sym typeface="Montserrat"/>
                      </a:endParaRPr>
                    </a:p>
                  </a:txBody>
                  <a:tcPr marT="0" marB="0" marR="0" marL="0"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2519C"/>
                    </a:solidFill>
                  </a:tcPr>
                </a:tc>
                <a:tc>
                  <a:txBody>
                    <a:bodyPr/>
                    <a:lstStyle/>
                    <a:p>
                      <a:pPr indent="0" lvl="0" marL="0" marR="0" rtl="0" algn="ctr">
                        <a:lnSpc>
                          <a:spcPct val="115000"/>
                        </a:lnSpc>
                        <a:spcBef>
                          <a:spcPts val="0"/>
                        </a:spcBef>
                        <a:spcAft>
                          <a:spcPts val="0"/>
                        </a:spcAft>
                        <a:buClr>
                          <a:srgbClr val="000000"/>
                        </a:buClr>
                        <a:buSzPts val="900"/>
                        <a:buFont typeface="Arial"/>
                        <a:buNone/>
                      </a:pPr>
                      <a:r>
                        <a:rPr b="1" lang="en" sz="900" u="none" cap="none" strike="noStrike">
                          <a:solidFill>
                            <a:srgbClr val="FFFFFF"/>
                          </a:solidFill>
                          <a:latin typeface="Montserrat"/>
                          <a:ea typeface="Montserrat"/>
                          <a:cs typeface="Montserrat"/>
                          <a:sym typeface="Montserrat"/>
                        </a:rPr>
                        <a:t>Week 8</a:t>
                      </a:r>
                      <a:endParaRPr b="1" sz="900" u="none" cap="none" strike="noStrike">
                        <a:solidFill>
                          <a:srgbClr val="FFFFFF"/>
                        </a:solidFill>
                        <a:latin typeface="Montserrat"/>
                        <a:ea typeface="Montserrat"/>
                        <a:cs typeface="Montserrat"/>
                        <a:sym typeface="Montserrat"/>
                      </a:endParaRPr>
                    </a:p>
                  </a:txBody>
                  <a:tcPr marT="0" marB="0" marR="0" marL="0"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2519C"/>
                    </a:solidFill>
                  </a:tcPr>
                </a:tc>
                <a:tc>
                  <a:txBody>
                    <a:bodyPr/>
                    <a:lstStyle/>
                    <a:p>
                      <a:pPr indent="0" lvl="0" marL="0" marR="0" rtl="0" algn="ctr">
                        <a:lnSpc>
                          <a:spcPct val="115000"/>
                        </a:lnSpc>
                        <a:spcBef>
                          <a:spcPts val="0"/>
                        </a:spcBef>
                        <a:spcAft>
                          <a:spcPts val="0"/>
                        </a:spcAft>
                        <a:buClr>
                          <a:srgbClr val="000000"/>
                        </a:buClr>
                        <a:buSzPts val="900"/>
                        <a:buFont typeface="Arial"/>
                        <a:buNone/>
                      </a:pPr>
                      <a:r>
                        <a:rPr b="1" lang="en" sz="900" u="none" cap="none" strike="noStrike">
                          <a:solidFill>
                            <a:srgbClr val="FFFFFF"/>
                          </a:solidFill>
                          <a:latin typeface="Montserrat"/>
                          <a:ea typeface="Montserrat"/>
                          <a:cs typeface="Montserrat"/>
                          <a:sym typeface="Montserrat"/>
                        </a:rPr>
                        <a:t>Week 9</a:t>
                      </a:r>
                      <a:endParaRPr b="1" sz="900" u="none" cap="none" strike="noStrike">
                        <a:solidFill>
                          <a:srgbClr val="FFFFFF"/>
                        </a:solidFill>
                        <a:latin typeface="Montserrat"/>
                        <a:ea typeface="Montserrat"/>
                        <a:cs typeface="Montserrat"/>
                        <a:sym typeface="Montserrat"/>
                      </a:endParaRPr>
                    </a:p>
                  </a:txBody>
                  <a:tcPr marT="0" marB="0" marR="0" marL="0"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2519C"/>
                    </a:solidFill>
                  </a:tcPr>
                </a:tc>
                <a:tc>
                  <a:txBody>
                    <a:bodyPr/>
                    <a:lstStyle/>
                    <a:p>
                      <a:pPr indent="0" lvl="0" marL="0" marR="0" rtl="0" algn="ctr">
                        <a:lnSpc>
                          <a:spcPct val="115000"/>
                        </a:lnSpc>
                        <a:spcBef>
                          <a:spcPts val="0"/>
                        </a:spcBef>
                        <a:spcAft>
                          <a:spcPts val="0"/>
                        </a:spcAft>
                        <a:buClr>
                          <a:srgbClr val="000000"/>
                        </a:buClr>
                        <a:buSzPts val="1100"/>
                        <a:buFont typeface="Arial"/>
                        <a:buNone/>
                      </a:pPr>
                      <a:r>
                        <a:rPr b="1" lang="en" sz="900" u="none" cap="none" strike="noStrike">
                          <a:solidFill>
                            <a:srgbClr val="FFFFFF"/>
                          </a:solidFill>
                          <a:latin typeface="Montserrat"/>
                          <a:ea typeface="Montserrat"/>
                          <a:cs typeface="Montserrat"/>
                          <a:sym typeface="Montserrat"/>
                        </a:rPr>
                        <a:t>Week 10</a:t>
                      </a:r>
                      <a:endParaRPr b="1" sz="900" u="none" cap="none" strike="noStrike">
                        <a:solidFill>
                          <a:srgbClr val="FFFFFF"/>
                        </a:solidFill>
                        <a:latin typeface="Montserrat"/>
                        <a:ea typeface="Montserrat"/>
                        <a:cs typeface="Montserrat"/>
                        <a:sym typeface="Montserrat"/>
                      </a:endParaRPr>
                    </a:p>
                  </a:txBody>
                  <a:tcPr marT="0" marB="0" marR="0" marL="0"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2519C"/>
                    </a:solidFill>
                  </a:tcPr>
                </a:tc>
                <a:tc>
                  <a:txBody>
                    <a:bodyPr/>
                    <a:lstStyle/>
                    <a:p>
                      <a:pPr indent="0" lvl="0" marL="0" marR="0" rtl="0" algn="ctr">
                        <a:lnSpc>
                          <a:spcPct val="115000"/>
                        </a:lnSpc>
                        <a:spcBef>
                          <a:spcPts val="0"/>
                        </a:spcBef>
                        <a:spcAft>
                          <a:spcPts val="0"/>
                        </a:spcAft>
                        <a:buClr>
                          <a:srgbClr val="000000"/>
                        </a:buClr>
                        <a:buSzPts val="1100"/>
                        <a:buFont typeface="Arial"/>
                        <a:buNone/>
                      </a:pPr>
                      <a:r>
                        <a:rPr b="1" lang="en" sz="900" u="none" cap="none" strike="noStrike">
                          <a:solidFill>
                            <a:srgbClr val="FFFFFF"/>
                          </a:solidFill>
                          <a:latin typeface="Montserrat"/>
                          <a:ea typeface="Montserrat"/>
                          <a:cs typeface="Montserrat"/>
                          <a:sym typeface="Montserrat"/>
                        </a:rPr>
                        <a:t>Week 11</a:t>
                      </a:r>
                      <a:endParaRPr b="1" sz="900" u="none" cap="none" strike="noStrike">
                        <a:solidFill>
                          <a:srgbClr val="FFFFFF"/>
                        </a:solidFill>
                        <a:latin typeface="Montserrat"/>
                        <a:ea typeface="Montserrat"/>
                        <a:cs typeface="Montserrat"/>
                        <a:sym typeface="Montserrat"/>
                      </a:endParaRPr>
                    </a:p>
                  </a:txBody>
                  <a:tcPr marT="0" marB="0" marR="0" marL="0"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2519C"/>
                    </a:solidFill>
                  </a:tcPr>
                </a:tc>
                <a:tc>
                  <a:txBody>
                    <a:bodyPr/>
                    <a:lstStyle/>
                    <a:p>
                      <a:pPr indent="0" lvl="0" marL="0" marR="0" rtl="0" algn="ctr">
                        <a:lnSpc>
                          <a:spcPct val="115000"/>
                        </a:lnSpc>
                        <a:spcBef>
                          <a:spcPts val="0"/>
                        </a:spcBef>
                        <a:spcAft>
                          <a:spcPts val="0"/>
                        </a:spcAft>
                        <a:buClr>
                          <a:srgbClr val="000000"/>
                        </a:buClr>
                        <a:buSzPts val="1100"/>
                        <a:buFont typeface="Arial"/>
                        <a:buNone/>
                      </a:pPr>
                      <a:r>
                        <a:rPr b="1" lang="en" sz="900" u="none" cap="none" strike="noStrike">
                          <a:solidFill>
                            <a:srgbClr val="FFFFFF"/>
                          </a:solidFill>
                          <a:latin typeface="Montserrat"/>
                          <a:ea typeface="Montserrat"/>
                          <a:cs typeface="Montserrat"/>
                          <a:sym typeface="Montserrat"/>
                        </a:rPr>
                        <a:t>Week 12</a:t>
                      </a:r>
                      <a:endParaRPr b="1" sz="900" u="none" cap="none" strike="noStrike">
                        <a:solidFill>
                          <a:srgbClr val="FFFFFF"/>
                        </a:solidFill>
                        <a:latin typeface="Montserrat"/>
                        <a:ea typeface="Montserrat"/>
                        <a:cs typeface="Montserrat"/>
                        <a:sym typeface="Montserrat"/>
                      </a:endParaRPr>
                    </a:p>
                  </a:txBody>
                  <a:tcPr marT="0" marB="0" marR="0" marL="0"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2519C"/>
                    </a:solidFill>
                  </a:tcPr>
                </a:tc>
                <a:tc>
                  <a:txBody>
                    <a:bodyPr/>
                    <a:lstStyle/>
                    <a:p>
                      <a:pPr indent="0" lvl="0" marL="0" marR="0" rtl="0" algn="ctr">
                        <a:lnSpc>
                          <a:spcPct val="115000"/>
                        </a:lnSpc>
                        <a:spcBef>
                          <a:spcPts val="0"/>
                        </a:spcBef>
                        <a:spcAft>
                          <a:spcPts val="0"/>
                        </a:spcAft>
                        <a:buClr>
                          <a:srgbClr val="000000"/>
                        </a:buClr>
                        <a:buSzPts val="900"/>
                        <a:buFont typeface="Arial"/>
                        <a:buNone/>
                      </a:pPr>
                      <a:r>
                        <a:rPr b="1" lang="en" sz="900" u="none" cap="none" strike="noStrike">
                          <a:solidFill>
                            <a:srgbClr val="FFFFFF"/>
                          </a:solidFill>
                          <a:latin typeface="Montserrat"/>
                          <a:ea typeface="Montserrat"/>
                          <a:cs typeface="Montserrat"/>
                          <a:sym typeface="Montserrat"/>
                        </a:rPr>
                        <a:t>Week 13</a:t>
                      </a:r>
                      <a:endParaRPr b="1" sz="900" u="none" cap="none" strike="noStrike">
                        <a:solidFill>
                          <a:srgbClr val="FFFFFF"/>
                        </a:solidFill>
                        <a:latin typeface="Montserrat"/>
                        <a:ea typeface="Montserrat"/>
                        <a:cs typeface="Montserrat"/>
                        <a:sym typeface="Montserrat"/>
                      </a:endParaRPr>
                    </a:p>
                  </a:txBody>
                  <a:tcPr marT="0" marB="0" marR="0" marL="0"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2519C"/>
                    </a:solidFill>
                  </a:tcPr>
                </a:tc>
                <a:tc>
                  <a:txBody>
                    <a:bodyPr/>
                    <a:lstStyle/>
                    <a:p>
                      <a:pPr indent="0" lvl="0" marL="0" marR="0" rtl="0" algn="ctr">
                        <a:lnSpc>
                          <a:spcPct val="115000"/>
                        </a:lnSpc>
                        <a:spcBef>
                          <a:spcPts val="0"/>
                        </a:spcBef>
                        <a:spcAft>
                          <a:spcPts val="0"/>
                        </a:spcAft>
                        <a:buClr>
                          <a:srgbClr val="000000"/>
                        </a:buClr>
                        <a:buSzPts val="1100"/>
                        <a:buFont typeface="Arial"/>
                        <a:buNone/>
                      </a:pPr>
                      <a:r>
                        <a:rPr b="1" lang="en" sz="900" u="none" cap="none" strike="noStrike">
                          <a:solidFill>
                            <a:srgbClr val="FFFFFF"/>
                          </a:solidFill>
                          <a:latin typeface="Montserrat"/>
                          <a:ea typeface="Montserrat"/>
                          <a:cs typeface="Montserrat"/>
                          <a:sym typeface="Montserrat"/>
                        </a:rPr>
                        <a:t>Week 14</a:t>
                      </a:r>
                      <a:endParaRPr b="1" sz="900" u="none" cap="none" strike="noStrike">
                        <a:solidFill>
                          <a:srgbClr val="FFFFFF"/>
                        </a:solidFill>
                        <a:latin typeface="Montserrat"/>
                        <a:ea typeface="Montserrat"/>
                        <a:cs typeface="Montserrat"/>
                        <a:sym typeface="Montserrat"/>
                      </a:endParaRPr>
                    </a:p>
                  </a:txBody>
                  <a:tcPr marT="0" marB="0" marR="0" marL="0"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2519C"/>
                    </a:solidFill>
                  </a:tcPr>
                </a:tc>
                <a:tc>
                  <a:txBody>
                    <a:bodyPr/>
                    <a:lstStyle/>
                    <a:p>
                      <a:pPr indent="0" lvl="0" marL="0" marR="0" rtl="0" algn="ctr">
                        <a:lnSpc>
                          <a:spcPct val="115000"/>
                        </a:lnSpc>
                        <a:spcBef>
                          <a:spcPts val="0"/>
                        </a:spcBef>
                        <a:spcAft>
                          <a:spcPts val="0"/>
                        </a:spcAft>
                        <a:buClr>
                          <a:srgbClr val="000000"/>
                        </a:buClr>
                        <a:buSzPts val="1100"/>
                        <a:buFont typeface="Arial"/>
                        <a:buNone/>
                      </a:pPr>
                      <a:r>
                        <a:rPr b="1" lang="en" sz="900" u="none" cap="none" strike="noStrike">
                          <a:solidFill>
                            <a:srgbClr val="FFFFFF"/>
                          </a:solidFill>
                          <a:latin typeface="Montserrat"/>
                          <a:ea typeface="Montserrat"/>
                          <a:cs typeface="Montserrat"/>
                          <a:sym typeface="Montserrat"/>
                        </a:rPr>
                        <a:t>Week 15</a:t>
                      </a:r>
                      <a:endParaRPr b="1" sz="900" u="none" cap="none" strike="noStrike">
                        <a:solidFill>
                          <a:srgbClr val="FFFFFF"/>
                        </a:solidFill>
                        <a:latin typeface="Montserrat"/>
                        <a:ea typeface="Montserrat"/>
                        <a:cs typeface="Montserrat"/>
                        <a:sym typeface="Montserrat"/>
                      </a:endParaRPr>
                    </a:p>
                  </a:txBody>
                  <a:tcPr marT="0" marB="0" marR="0" marL="0"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2519C"/>
                    </a:solidFill>
                  </a:tcPr>
                </a:tc>
              </a:tr>
              <a:tr h="654150">
                <a:tc>
                  <a:txBody>
                    <a:bodyPr/>
                    <a:lstStyle/>
                    <a:p>
                      <a:r>
                        <a:t>Phase name</a:t>
                      </a:r>
                    </a:p>
                  </a:txBody>
                  <a:tcPr marT="19050" marB="19050" marR="0"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r>
                        <a:t>●</a:t>
                      </a: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r>
                        <a:t>●</a:t>
                      </a: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r>
                        <a:t>●</a:t>
                      </a: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740700">
                <a:tc>
                  <a:txBody>
                    <a:bodyPr/>
                    <a:lstStyle/>
                    <a:p>
                      <a:r>
                        <a:t>Requirements Gathering and Analysis</a:t>
                      </a:r>
                    </a:p>
                  </a:txBody>
                  <a:tcPr marT="19050" marB="19050" marR="0"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r>
                        <a:t>●</a:t>
                      </a: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r>
                        <a:t>●</a:t>
                      </a: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r>
                        <a:t>●</a:t>
                      </a: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550375">
                <a:tc>
                  <a:txBody>
                    <a:bodyPr/>
                    <a:lstStyle/>
                    <a:p>
                      <a:r>
                        <a:t>Design and Prototyping</a:t>
                      </a:r>
                    </a:p>
                  </a:txBody>
                  <a:tcPr marT="19050" marB="19050" marR="0"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r>
                        <a:t>●</a:t>
                      </a: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r>
                        <a:t>●</a:t>
                      </a: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r>
                        <a:t>●</a:t>
                      </a: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598850">
                <a:tc>
                  <a:txBody>
                    <a:bodyPr/>
                    <a:lstStyle/>
                    <a:p>
                      <a:r>
                        <a:t>Development and Testing</a:t>
                      </a:r>
                    </a:p>
                  </a:txBody>
                  <a:tcPr marT="19050" marB="19050" marR="0"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r>
                        <a:t>●</a:t>
                      </a: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r>
                        <a:t>●</a:t>
                      </a: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r>
                        <a:t>●</a:t>
                      </a: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r>
                        <a:t>●</a:t>
                      </a: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r>
                        <a:t>●</a:t>
                      </a: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r>
                        <a:t>●</a:t>
                      </a: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bl>
          </a:graphicData>
        </a:graphic>
      </p:graphicFrame>
      <p:sp>
        <p:nvSpPr>
          <p:cNvPr id="472" name="Google Shape;472;p19"/>
          <p:cNvSpPr/>
          <p:nvPr/>
        </p:nvSpPr>
        <p:spPr>
          <a:xfrm>
            <a:off x="1489250" y="1136263"/>
            <a:ext cx="938100" cy="164700"/>
          </a:xfrm>
          <a:prstGeom prst="homePlate">
            <a:avLst>
              <a:gd fmla="val 50000" name="adj"/>
            </a:avLst>
          </a:prstGeom>
          <a:solidFill>
            <a:srgbClr val="F5B6D7"/>
          </a:solidFill>
          <a:ln cap="flat" cmpd="sng" w="9525">
            <a:solidFill>
              <a:srgbClr val="F5B6D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000000"/>
                </a:solidFill>
                <a:latin typeface="Montserrat"/>
                <a:ea typeface="Montserrat"/>
                <a:cs typeface="Montserrat"/>
                <a:sym typeface="Montserrat"/>
              </a:rPr>
              <a:t>Discovery</a:t>
            </a:r>
            <a:endParaRPr b="1" i="0" sz="800" u="none" cap="none" strike="noStrike">
              <a:solidFill>
                <a:srgbClr val="000000"/>
              </a:solidFill>
              <a:latin typeface="Montserrat"/>
              <a:ea typeface="Montserrat"/>
              <a:cs typeface="Montserrat"/>
              <a:sym typeface="Montserrat"/>
            </a:endParaRPr>
          </a:p>
        </p:txBody>
      </p:sp>
      <p:sp>
        <p:nvSpPr>
          <p:cNvPr id="473" name="Google Shape;473;p19"/>
          <p:cNvSpPr/>
          <p:nvPr/>
        </p:nvSpPr>
        <p:spPr>
          <a:xfrm>
            <a:off x="2427275" y="1935925"/>
            <a:ext cx="4443600" cy="307800"/>
          </a:xfrm>
          <a:prstGeom prst="homePlate">
            <a:avLst>
              <a:gd fmla="val 50000" name="adj"/>
            </a:avLst>
          </a:prstGeom>
          <a:solidFill>
            <a:srgbClr val="D71B7F"/>
          </a:solidFill>
          <a:ln cap="flat" cmpd="sng" w="9525">
            <a:solidFill>
              <a:srgbClr val="F5B6D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4" name="Google Shape;474;p19"/>
          <p:cNvSpPr/>
          <p:nvPr/>
        </p:nvSpPr>
        <p:spPr>
          <a:xfrm>
            <a:off x="6888825" y="2711775"/>
            <a:ext cx="1035300" cy="307800"/>
          </a:xfrm>
          <a:prstGeom prst="homePlate">
            <a:avLst>
              <a:gd fmla="val 50000" name="adj"/>
            </a:avLst>
          </a:prstGeom>
          <a:solidFill>
            <a:srgbClr val="6AA84F"/>
          </a:solidFill>
          <a:ln cap="flat" cmpd="sng" w="9525">
            <a:solidFill>
              <a:srgbClr val="6AA84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475" name="Google Shape;475;p19"/>
          <p:cNvPicPr preferRelativeResize="0"/>
          <p:nvPr/>
        </p:nvPicPr>
        <p:blipFill rotWithShape="1">
          <a:blip r:embed="rId3">
            <a:alphaModFix/>
          </a:blip>
          <a:srcRect b="0" l="0" r="0" t="0"/>
          <a:stretch/>
        </p:blipFill>
        <p:spPr>
          <a:xfrm>
            <a:off x="6818825" y="2550325"/>
            <a:ext cx="240600" cy="240600"/>
          </a:xfrm>
          <a:prstGeom prst="rect">
            <a:avLst/>
          </a:prstGeom>
          <a:noFill/>
          <a:ln>
            <a:noFill/>
          </a:ln>
        </p:spPr>
      </p:pic>
      <p:sp>
        <p:nvSpPr>
          <p:cNvPr id="476" name="Google Shape;476;p19"/>
          <p:cNvSpPr/>
          <p:nvPr/>
        </p:nvSpPr>
        <p:spPr>
          <a:xfrm>
            <a:off x="7924075" y="3444925"/>
            <a:ext cx="1035300" cy="307800"/>
          </a:xfrm>
          <a:prstGeom prst="homePlate">
            <a:avLst>
              <a:gd fmla="val 50000" name="adj"/>
            </a:avLst>
          </a:prstGeom>
          <a:solidFill>
            <a:srgbClr val="FF9900"/>
          </a:solidFill>
          <a:ln cap="flat" cmpd="sng" w="9525">
            <a:solidFill>
              <a:srgbClr val="F5B6D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477" name="Google Shape;477;p19"/>
          <p:cNvPicPr preferRelativeResize="0"/>
          <p:nvPr/>
        </p:nvPicPr>
        <p:blipFill rotWithShape="1">
          <a:blip r:embed="rId3">
            <a:alphaModFix/>
          </a:blip>
          <a:srcRect b="0" l="0" r="0" t="0"/>
          <a:stretch/>
        </p:blipFill>
        <p:spPr>
          <a:xfrm>
            <a:off x="7877075" y="3184775"/>
            <a:ext cx="240600" cy="240600"/>
          </a:xfrm>
          <a:prstGeom prst="rect">
            <a:avLst/>
          </a:prstGeom>
          <a:noFill/>
          <a:ln>
            <a:noFill/>
          </a:ln>
        </p:spPr>
      </p:pic>
      <p:sp>
        <p:nvSpPr>
          <p:cNvPr id="478" name="Google Shape;478;p19"/>
          <p:cNvSpPr txBox="1"/>
          <p:nvPr/>
        </p:nvSpPr>
        <p:spPr>
          <a:xfrm>
            <a:off x="266700" y="4399275"/>
            <a:ext cx="8596200" cy="646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chemeClr val="dk1"/>
                </a:solidFill>
                <a:latin typeface="Montserrat"/>
                <a:ea typeface="Montserrat"/>
                <a:cs typeface="Montserrat"/>
                <a:sym typeface="Montserrat"/>
              </a:rPr>
              <a:t>*Notes: </a:t>
            </a:r>
            <a:endParaRPr b="0" i="0" sz="1000" u="none" cap="none" strike="noStrike">
              <a:solidFill>
                <a:schemeClr val="dk1"/>
              </a:solidFill>
              <a:latin typeface="Montserrat"/>
              <a:ea typeface="Montserrat"/>
              <a:cs typeface="Montserrat"/>
              <a:sym typeface="Montserrat"/>
            </a:endParaRPr>
          </a:p>
          <a:p>
            <a:pPr indent="-292100" lvl="0" marL="457200" marR="0" rtl="0" algn="l">
              <a:lnSpc>
                <a:spcPct val="100000"/>
              </a:lnSpc>
              <a:spcBef>
                <a:spcPts val="0"/>
              </a:spcBef>
              <a:spcAft>
                <a:spcPts val="0"/>
              </a:spcAft>
              <a:buClr>
                <a:schemeClr val="dk1"/>
              </a:buClr>
              <a:buSzPts val="1000"/>
              <a:buFont typeface="Montserrat"/>
              <a:buChar char="●"/>
            </a:pPr>
            <a:r>
              <a:rPr b="0" i="0" lang="en" sz="1000" u="none" cap="none" strike="noStrike">
                <a:solidFill>
                  <a:schemeClr val="dk1"/>
                </a:solidFill>
                <a:latin typeface="Montserrat"/>
                <a:ea typeface="Montserrat"/>
                <a:cs typeface="Montserrat"/>
                <a:sym typeface="Montserrat"/>
              </a:rPr>
              <a:t>2 Weeks of Hypercare support post go-live will be provided at no additional cost.</a:t>
            </a:r>
            <a:endParaRPr b="0" i="0" sz="1000" u="none" cap="none" strike="noStrike">
              <a:solidFill>
                <a:schemeClr val="dk1"/>
              </a:solidFill>
              <a:latin typeface="Montserrat"/>
              <a:ea typeface="Montserrat"/>
              <a:cs typeface="Montserrat"/>
              <a:sym typeface="Montserrat"/>
            </a:endParaRPr>
          </a:p>
          <a:p>
            <a:pPr indent="-292100" lvl="0" marL="457200" marR="0" rtl="0" algn="l">
              <a:lnSpc>
                <a:spcPct val="100000"/>
              </a:lnSpc>
              <a:spcBef>
                <a:spcPts val="0"/>
              </a:spcBef>
              <a:spcAft>
                <a:spcPts val="0"/>
              </a:spcAft>
              <a:buClr>
                <a:schemeClr val="dk1"/>
              </a:buClr>
              <a:buSzPts val="1000"/>
              <a:buFont typeface="Montserrat"/>
              <a:buChar char="●"/>
            </a:pPr>
            <a:r>
              <a:rPr b="0" i="0" lang="en" sz="1000" u="none" cap="none" strike="noStrike">
                <a:solidFill>
                  <a:schemeClr val="dk1"/>
                </a:solidFill>
                <a:latin typeface="Montserrat"/>
                <a:ea typeface="Montserrat"/>
                <a:cs typeface="Montserrat"/>
                <a:sym typeface="Montserrat"/>
              </a:rPr>
              <a:t>Project  Timelines could be revised after discovery with expected variation upto +/-10%</a:t>
            </a:r>
            <a:endParaRPr b="0" i="0" sz="1000" u="none" cap="none" strike="noStrike">
              <a:solidFill>
                <a:schemeClr val="dk1"/>
              </a:solidFill>
              <a:latin typeface="Montserrat"/>
              <a:ea typeface="Montserrat"/>
              <a:cs typeface="Montserrat"/>
              <a:sym typeface="Montserrat"/>
            </a:endParaRPr>
          </a:p>
        </p:txBody>
      </p:sp>
      <p:sp>
        <p:nvSpPr>
          <p:cNvPr id="479" name="Google Shape;479;p19"/>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sz="1000"/>
              <a:t>‹#›</a:t>
            </a:fld>
            <a:endParaRPr sz="1000"/>
          </a:p>
        </p:txBody>
      </p:sp>
      <p:pic>
        <p:nvPicPr>
          <p:cNvPr id="480" name="Google Shape;480;p19"/>
          <p:cNvPicPr preferRelativeResize="0"/>
          <p:nvPr/>
        </p:nvPicPr>
        <p:blipFill rotWithShape="1">
          <a:blip r:embed="rId4">
            <a:alphaModFix/>
          </a:blip>
          <a:srcRect b="0" l="0" r="0" t="0"/>
          <a:stretch/>
        </p:blipFill>
        <p:spPr>
          <a:xfrm>
            <a:off x="3326050" y="1736975"/>
            <a:ext cx="240600" cy="240600"/>
          </a:xfrm>
          <a:prstGeom prst="rect">
            <a:avLst/>
          </a:prstGeom>
          <a:noFill/>
          <a:ln>
            <a:noFill/>
          </a:ln>
        </p:spPr>
      </p:pic>
      <p:pic>
        <p:nvPicPr>
          <p:cNvPr id="481" name="Google Shape;481;p19"/>
          <p:cNvPicPr preferRelativeResize="0"/>
          <p:nvPr/>
        </p:nvPicPr>
        <p:blipFill rotWithShape="1">
          <a:blip r:embed="rId4">
            <a:alphaModFix/>
          </a:blip>
          <a:srcRect b="0" l="0" r="0" t="0"/>
          <a:stretch/>
        </p:blipFill>
        <p:spPr>
          <a:xfrm>
            <a:off x="4238225" y="1736975"/>
            <a:ext cx="240600" cy="240600"/>
          </a:xfrm>
          <a:prstGeom prst="rect">
            <a:avLst/>
          </a:prstGeom>
          <a:noFill/>
          <a:ln>
            <a:noFill/>
          </a:ln>
        </p:spPr>
      </p:pic>
      <p:pic>
        <p:nvPicPr>
          <p:cNvPr id="482" name="Google Shape;482;p19"/>
          <p:cNvPicPr preferRelativeResize="0"/>
          <p:nvPr/>
        </p:nvPicPr>
        <p:blipFill rotWithShape="1">
          <a:blip r:embed="rId4">
            <a:alphaModFix/>
          </a:blip>
          <a:srcRect b="0" l="0" r="0" t="0"/>
          <a:stretch/>
        </p:blipFill>
        <p:spPr>
          <a:xfrm>
            <a:off x="5275350" y="1736975"/>
            <a:ext cx="240600" cy="240600"/>
          </a:xfrm>
          <a:prstGeom prst="rect">
            <a:avLst/>
          </a:prstGeom>
          <a:noFill/>
          <a:ln>
            <a:noFill/>
          </a:ln>
        </p:spPr>
      </p:pic>
      <p:pic>
        <p:nvPicPr>
          <p:cNvPr id="483" name="Google Shape;483;p19"/>
          <p:cNvPicPr preferRelativeResize="0"/>
          <p:nvPr/>
        </p:nvPicPr>
        <p:blipFill rotWithShape="1">
          <a:blip r:embed="rId4">
            <a:alphaModFix/>
          </a:blip>
          <a:srcRect b="0" l="0" r="0" t="0"/>
          <a:stretch/>
        </p:blipFill>
        <p:spPr>
          <a:xfrm>
            <a:off x="6312475" y="1736975"/>
            <a:ext cx="240600" cy="240600"/>
          </a:xfrm>
          <a:prstGeom prst="rect">
            <a:avLst/>
          </a:prstGeom>
          <a:noFill/>
          <a:ln>
            <a:noFill/>
          </a:ln>
        </p:spPr>
      </p:pic>
      <p:pic>
        <p:nvPicPr>
          <p:cNvPr id="484" name="Google Shape;484;p19"/>
          <p:cNvPicPr preferRelativeResize="0"/>
          <p:nvPr/>
        </p:nvPicPr>
        <p:blipFill rotWithShape="1">
          <a:blip r:embed="rId4">
            <a:alphaModFix/>
          </a:blip>
          <a:srcRect b="0" l="0" r="0" t="0"/>
          <a:stretch/>
        </p:blipFill>
        <p:spPr>
          <a:xfrm>
            <a:off x="594350" y="3950950"/>
            <a:ext cx="240600" cy="240600"/>
          </a:xfrm>
          <a:prstGeom prst="rect">
            <a:avLst/>
          </a:prstGeom>
          <a:noFill/>
          <a:ln>
            <a:noFill/>
          </a:ln>
        </p:spPr>
      </p:pic>
      <p:sp>
        <p:nvSpPr>
          <p:cNvPr id="485" name="Google Shape;485;p19"/>
          <p:cNvSpPr txBox="1"/>
          <p:nvPr/>
        </p:nvSpPr>
        <p:spPr>
          <a:xfrm>
            <a:off x="758750" y="3909700"/>
            <a:ext cx="2000100" cy="323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000000"/>
                </a:solidFill>
                <a:latin typeface="Montserrat"/>
                <a:ea typeface="Montserrat"/>
                <a:cs typeface="Montserrat"/>
                <a:sym typeface="Montserrat"/>
              </a:rPr>
              <a:t>Product Increment Review</a:t>
            </a:r>
            <a:endParaRPr b="0" i="0" sz="900" u="none" cap="none" strike="noStrike">
              <a:solidFill>
                <a:srgbClr val="000000"/>
              </a:solidFill>
              <a:latin typeface="Montserrat"/>
              <a:ea typeface="Montserrat"/>
              <a:cs typeface="Montserrat"/>
              <a:sym typeface="Montserrat"/>
            </a:endParaRPr>
          </a:p>
        </p:txBody>
      </p:sp>
      <p:pic>
        <p:nvPicPr>
          <p:cNvPr id="486" name="Google Shape;486;p19"/>
          <p:cNvPicPr preferRelativeResize="0"/>
          <p:nvPr/>
        </p:nvPicPr>
        <p:blipFill rotWithShape="1">
          <a:blip r:embed="rId3">
            <a:alphaModFix/>
          </a:blip>
          <a:srcRect b="0" l="0" r="0" t="0"/>
          <a:stretch/>
        </p:blipFill>
        <p:spPr>
          <a:xfrm>
            <a:off x="2973050" y="3950950"/>
            <a:ext cx="240600" cy="240600"/>
          </a:xfrm>
          <a:prstGeom prst="rect">
            <a:avLst/>
          </a:prstGeom>
          <a:noFill/>
          <a:ln>
            <a:noFill/>
          </a:ln>
        </p:spPr>
      </p:pic>
      <p:sp>
        <p:nvSpPr>
          <p:cNvPr id="487" name="Google Shape;487;p19"/>
          <p:cNvSpPr txBox="1"/>
          <p:nvPr/>
        </p:nvSpPr>
        <p:spPr>
          <a:xfrm>
            <a:off x="3120950" y="3909700"/>
            <a:ext cx="2000100" cy="323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000000"/>
                </a:solidFill>
                <a:latin typeface="Montserrat"/>
                <a:ea typeface="Montserrat"/>
                <a:cs typeface="Montserrat"/>
                <a:sym typeface="Montserrat"/>
              </a:rPr>
              <a:t>UAT and Go-Live</a:t>
            </a:r>
            <a:endParaRPr b="0" i="0" sz="900" u="none" cap="none" strike="noStrike">
              <a:solidFill>
                <a:srgbClr val="000000"/>
              </a:solidFill>
              <a:latin typeface="Montserrat"/>
              <a:ea typeface="Montserrat"/>
              <a:cs typeface="Montserrat"/>
              <a:sym typeface="Montserrat"/>
            </a:endParaRPr>
          </a:p>
        </p:txBody>
      </p:sp>
      <p:sp>
        <p:nvSpPr>
          <p:cNvPr id="488" name="Google Shape;488;p19"/>
          <p:cNvSpPr/>
          <p:nvPr/>
        </p:nvSpPr>
        <p:spPr>
          <a:xfrm>
            <a:off x="1489250" y="1392800"/>
            <a:ext cx="2811600" cy="164700"/>
          </a:xfrm>
          <a:prstGeom prst="homePlate">
            <a:avLst>
              <a:gd fmla="val 50000" name="adj"/>
            </a:avLst>
          </a:prstGeom>
          <a:solidFill>
            <a:srgbClr val="F5B6D7"/>
          </a:solidFill>
          <a:ln cap="flat" cmpd="sng" w="9525">
            <a:solidFill>
              <a:srgbClr val="F5B6D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000000"/>
                </a:solidFill>
                <a:latin typeface="Montserrat"/>
                <a:ea typeface="Montserrat"/>
                <a:cs typeface="Montserrat"/>
                <a:sym typeface="Montserrat"/>
              </a:rPr>
              <a:t>Design Phase</a:t>
            </a:r>
            <a:endParaRPr b="1" i="0" sz="800" u="none" cap="none" strike="noStrike">
              <a:solidFill>
                <a:srgbClr val="000000"/>
              </a:solidFill>
              <a:latin typeface="Montserrat"/>
              <a:ea typeface="Montserrat"/>
              <a:cs typeface="Montserrat"/>
              <a:sym typeface="Montserrat"/>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2" name="Shape 492"/>
        <p:cNvGrpSpPr/>
        <p:nvPr/>
      </p:nvGrpSpPr>
      <p:grpSpPr>
        <a:xfrm>
          <a:off x="0" y="0"/>
          <a:ext cx="0" cy="0"/>
          <a:chOff x="0" y="0"/>
          <a:chExt cx="0" cy="0"/>
        </a:xfrm>
      </p:grpSpPr>
      <p:sp>
        <p:nvSpPr>
          <p:cNvPr id="493" name="Google Shape;493;p20"/>
          <p:cNvSpPr/>
          <p:nvPr/>
        </p:nvSpPr>
        <p:spPr>
          <a:xfrm>
            <a:off x="0" y="144000"/>
            <a:ext cx="47400" cy="3573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4" name="Google Shape;494;p20"/>
          <p:cNvSpPr txBox="1"/>
          <p:nvPr>
            <p:ph type="title"/>
          </p:nvPr>
        </p:nvSpPr>
        <p:spPr>
          <a:xfrm>
            <a:off x="104500" y="141850"/>
            <a:ext cx="6703800" cy="3573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000"/>
              <a:buNone/>
            </a:pPr>
            <a:r>
              <a:rPr lang="en"/>
              <a:t>Agenda</a:t>
            </a:r>
            <a:endParaRPr/>
          </a:p>
        </p:txBody>
      </p:sp>
      <p:sp>
        <p:nvSpPr>
          <p:cNvPr id="495" name="Google Shape;495;p20"/>
          <p:cNvSpPr/>
          <p:nvPr/>
        </p:nvSpPr>
        <p:spPr>
          <a:xfrm>
            <a:off x="1358763" y="1111025"/>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200"/>
              <a:buFont typeface="Arial"/>
              <a:buNone/>
            </a:pPr>
            <a:r>
              <a:rPr b="0" i="0" lang="en" sz="1200" u="none" cap="none" strike="noStrike">
                <a:solidFill>
                  <a:srgbClr val="000000"/>
                </a:solidFill>
                <a:latin typeface="Montserrat"/>
                <a:ea typeface="Montserrat"/>
                <a:cs typeface="Montserrat"/>
                <a:sym typeface="Montserrat"/>
              </a:rPr>
              <a:t>Executive Summary and Our Understanding of Project Requirements</a:t>
            </a:r>
            <a:endParaRPr b="0" i="0" sz="1200" u="none" cap="none" strike="noStrike">
              <a:solidFill>
                <a:srgbClr val="000000"/>
              </a:solidFill>
              <a:latin typeface="Montserrat"/>
              <a:ea typeface="Montserrat"/>
              <a:cs typeface="Montserrat"/>
              <a:sym typeface="Montserrat"/>
            </a:endParaRPr>
          </a:p>
        </p:txBody>
      </p:sp>
      <p:sp>
        <p:nvSpPr>
          <p:cNvPr id="496" name="Google Shape;496;p20"/>
          <p:cNvSpPr/>
          <p:nvPr/>
        </p:nvSpPr>
        <p:spPr>
          <a:xfrm>
            <a:off x="1358763" y="1678410"/>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200"/>
              <a:buFont typeface="Arial"/>
              <a:buNone/>
            </a:pPr>
            <a:r>
              <a:rPr b="0" i="0" lang="en" sz="1200" u="none" cap="none" strike="noStrike">
                <a:solidFill>
                  <a:srgbClr val="000000"/>
                </a:solidFill>
                <a:latin typeface="Montserrat"/>
                <a:ea typeface="Montserrat"/>
                <a:cs typeface="Montserrat"/>
                <a:sym typeface="Montserrat"/>
              </a:rPr>
              <a:t>Proposed Technical Solution Approach</a:t>
            </a:r>
            <a:endParaRPr b="0" i="0" sz="1200" u="none" cap="none" strike="noStrike">
              <a:solidFill>
                <a:srgbClr val="000000"/>
              </a:solidFill>
              <a:latin typeface="Montserrat"/>
              <a:ea typeface="Montserrat"/>
              <a:cs typeface="Montserrat"/>
              <a:sym typeface="Montserrat"/>
            </a:endParaRPr>
          </a:p>
        </p:txBody>
      </p:sp>
      <p:sp>
        <p:nvSpPr>
          <p:cNvPr id="497" name="Google Shape;497;p20"/>
          <p:cNvSpPr/>
          <p:nvPr/>
        </p:nvSpPr>
        <p:spPr>
          <a:xfrm>
            <a:off x="1358763" y="3289875"/>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100"/>
              <a:buFont typeface="Arial"/>
              <a:buNone/>
            </a:pPr>
            <a:r>
              <a:rPr b="0" i="0" lang="en" sz="1200" u="none" cap="none" strike="noStrike">
                <a:solidFill>
                  <a:srgbClr val="000000"/>
                </a:solidFill>
                <a:latin typeface="Montserrat"/>
                <a:ea typeface="Montserrat"/>
                <a:cs typeface="Montserrat"/>
                <a:sym typeface="Montserrat"/>
              </a:rPr>
              <a:t>Success Stories</a:t>
            </a:r>
            <a:endParaRPr b="0" i="0" sz="1200" u="none" cap="none" strike="noStrike">
              <a:solidFill>
                <a:srgbClr val="000000"/>
              </a:solidFill>
              <a:latin typeface="Montserrat"/>
              <a:ea typeface="Montserrat"/>
              <a:cs typeface="Montserrat"/>
              <a:sym typeface="Montserrat"/>
            </a:endParaRPr>
          </a:p>
        </p:txBody>
      </p:sp>
      <p:cxnSp>
        <p:nvCxnSpPr>
          <p:cNvPr id="498" name="Google Shape;498;p20"/>
          <p:cNvCxnSpPr/>
          <p:nvPr/>
        </p:nvCxnSpPr>
        <p:spPr>
          <a:xfrm>
            <a:off x="1367196" y="1108050"/>
            <a:ext cx="0" cy="382200"/>
          </a:xfrm>
          <a:prstGeom prst="straightConnector1">
            <a:avLst/>
          </a:prstGeom>
          <a:noFill/>
          <a:ln cap="flat" cmpd="sng" w="19050">
            <a:solidFill>
              <a:srgbClr val="12519C"/>
            </a:solidFill>
            <a:prstDash val="solid"/>
            <a:round/>
            <a:headEnd len="sm" w="sm" type="none"/>
            <a:tailEnd len="sm" w="sm" type="none"/>
          </a:ln>
        </p:spPr>
      </p:cxnSp>
      <p:cxnSp>
        <p:nvCxnSpPr>
          <p:cNvPr id="499" name="Google Shape;499;p20"/>
          <p:cNvCxnSpPr/>
          <p:nvPr/>
        </p:nvCxnSpPr>
        <p:spPr>
          <a:xfrm>
            <a:off x="1367196" y="1675436"/>
            <a:ext cx="0" cy="382200"/>
          </a:xfrm>
          <a:prstGeom prst="straightConnector1">
            <a:avLst/>
          </a:prstGeom>
          <a:noFill/>
          <a:ln cap="flat" cmpd="sng" w="19050">
            <a:solidFill>
              <a:srgbClr val="12519C"/>
            </a:solidFill>
            <a:prstDash val="solid"/>
            <a:round/>
            <a:headEnd len="sm" w="sm" type="none"/>
            <a:tailEnd len="sm" w="sm" type="none"/>
          </a:ln>
        </p:spPr>
      </p:cxnSp>
      <p:cxnSp>
        <p:nvCxnSpPr>
          <p:cNvPr id="500" name="Google Shape;500;p20"/>
          <p:cNvCxnSpPr/>
          <p:nvPr/>
        </p:nvCxnSpPr>
        <p:spPr>
          <a:xfrm>
            <a:off x="1367196" y="3288390"/>
            <a:ext cx="0" cy="382200"/>
          </a:xfrm>
          <a:prstGeom prst="straightConnector1">
            <a:avLst/>
          </a:prstGeom>
          <a:noFill/>
          <a:ln cap="flat" cmpd="sng" w="19050">
            <a:solidFill>
              <a:srgbClr val="12519C"/>
            </a:solidFill>
            <a:prstDash val="solid"/>
            <a:round/>
            <a:headEnd len="sm" w="sm" type="none"/>
            <a:tailEnd len="sm" w="sm" type="none"/>
          </a:ln>
        </p:spPr>
      </p:cxnSp>
      <p:sp>
        <p:nvSpPr>
          <p:cNvPr id="501" name="Google Shape;501;p20"/>
          <p:cNvSpPr/>
          <p:nvPr/>
        </p:nvSpPr>
        <p:spPr>
          <a:xfrm>
            <a:off x="1048238" y="1260478"/>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2" name="Google Shape;502;p20"/>
          <p:cNvSpPr/>
          <p:nvPr/>
        </p:nvSpPr>
        <p:spPr>
          <a:xfrm>
            <a:off x="1048238" y="1827880"/>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3" name="Google Shape;503;p20"/>
          <p:cNvSpPr/>
          <p:nvPr/>
        </p:nvSpPr>
        <p:spPr>
          <a:xfrm>
            <a:off x="1048238" y="3439362"/>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4" name="Google Shape;504;p20"/>
          <p:cNvSpPr/>
          <p:nvPr/>
        </p:nvSpPr>
        <p:spPr>
          <a:xfrm>
            <a:off x="1358763" y="2245805"/>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200"/>
              <a:buFont typeface="Arial"/>
              <a:buNone/>
            </a:pPr>
            <a:r>
              <a:rPr b="0" i="0" lang="en" sz="1200" u="none" cap="none" strike="noStrike">
                <a:solidFill>
                  <a:srgbClr val="000000"/>
                </a:solidFill>
                <a:latin typeface="Montserrat"/>
                <a:ea typeface="Montserrat"/>
                <a:cs typeface="Montserrat"/>
                <a:sym typeface="Montserrat"/>
              </a:rPr>
              <a:t>Project Plan and Key Deliverables</a:t>
            </a:r>
            <a:endParaRPr b="0" i="0" sz="1200" u="none" cap="none" strike="noStrike">
              <a:solidFill>
                <a:srgbClr val="000000"/>
              </a:solidFill>
              <a:latin typeface="Montserrat"/>
              <a:ea typeface="Montserrat"/>
              <a:cs typeface="Montserrat"/>
              <a:sym typeface="Montserrat"/>
            </a:endParaRPr>
          </a:p>
        </p:txBody>
      </p:sp>
      <p:cxnSp>
        <p:nvCxnSpPr>
          <p:cNvPr id="505" name="Google Shape;505;p20"/>
          <p:cNvCxnSpPr/>
          <p:nvPr/>
        </p:nvCxnSpPr>
        <p:spPr>
          <a:xfrm>
            <a:off x="1367196" y="2242832"/>
            <a:ext cx="0" cy="382200"/>
          </a:xfrm>
          <a:prstGeom prst="straightConnector1">
            <a:avLst/>
          </a:prstGeom>
          <a:noFill/>
          <a:ln cap="flat" cmpd="sng" w="19050">
            <a:solidFill>
              <a:srgbClr val="12519C"/>
            </a:solidFill>
            <a:prstDash val="solid"/>
            <a:round/>
            <a:headEnd len="sm" w="sm" type="none"/>
            <a:tailEnd len="sm" w="sm" type="none"/>
          </a:ln>
        </p:spPr>
      </p:cxnSp>
      <p:sp>
        <p:nvSpPr>
          <p:cNvPr id="506" name="Google Shape;506;p20"/>
          <p:cNvSpPr/>
          <p:nvPr/>
        </p:nvSpPr>
        <p:spPr>
          <a:xfrm>
            <a:off x="1048238" y="2395275"/>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7" name="Google Shape;507;p20"/>
          <p:cNvSpPr/>
          <p:nvPr/>
        </p:nvSpPr>
        <p:spPr>
          <a:xfrm>
            <a:off x="1358763" y="2755885"/>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200"/>
              <a:buFont typeface="Arial"/>
              <a:buNone/>
            </a:pPr>
            <a:r>
              <a:rPr b="1" i="0" lang="en" sz="1200" u="none" cap="none" strike="noStrike">
                <a:solidFill>
                  <a:srgbClr val="D71B7F"/>
                </a:solidFill>
                <a:latin typeface="Montserrat"/>
                <a:ea typeface="Montserrat"/>
                <a:cs typeface="Montserrat"/>
                <a:sym typeface="Montserrat"/>
              </a:rPr>
              <a:t>Commercial Summary</a:t>
            </a:r>
            <a:endParaRPr b="1" i="0" sz="1200" u="none" cap="none" strike="noStrike">
              <a:solidFill>
                <a:srgbClr val="D71B7F"/>
              </a:solidFill>
              <a:latin typeface="Montserrat"/>
              <a:ea typeface="Montserrat"/>
              <a:cs typeface="Montserrat"/>
              <a:sym typeface="Montserrat"/>
            </a:endParaRPr>
          </a:p>
        </p:txBody>
      </p:sp>
      <p:cxnSp>
        <p:nvCxnSpPr>
          <p:cNvPr id="508" name="Google Shape;508;p20"/>
          <p:cNvCxnSpPr/>
          <p:nvPr/>
        </p:nvCxnSpPr>
        <p:spPr>
          <a:xfrm>
            <a:off x="1367196" y="2752912"/>
            <a:ext cx="0" cy="382200"/>
          </a:xfrm>
          <a:prstGeom prst="straightConnector1">
            <a:avLst/>
          </a:prstGeom>
          <a:noFill/>
          <a:ln cap="flat" cmpd="sng" w="19050">
            <a:solidFill>
              <a:srgbClr val="12519C"/>
            </a:solidFill>
            <a:prstDash val="solid"/>
            <a:round/>
            <a:headEnd len="sm" w="sm" type="none"/>
            <a:tailEnd len="sm" w="sm" type="none"/>
          </a:ln>
        </p:spPr>
      </p:cxnSp>
      <p:sp>
        <p:nvSpPr>
          <p:cNvPr id="509" name="Google Shape;509;p20"/>
          <p:cNvSpPr/>
          <p:nvPr/>
        </p:nvSpPr>
        <p:spPr>
          <a:xfrm>
            <a:off x="1048238" y="2905355"/>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0" name="Google Shape;510;p20"/>
          <p:cNvSpPr txBox="1"/>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1000"/>
              <a:buFont typeface="Arial"/>
              <a:buNone/>
            </a:pPr>
            <a:fld id="{00000000-1234-1234-1234-123412341234}" type="slidenum">
              <a:rPr b="0" i="0" lang="en" sz="1000" u="none" cap="none" strike="noStrike">
                <a:solidFill>
                  <a:srgbClr val="000000"/>
                </a:solidFill>
                <a:latin typeface="Montserrat"/>
                <a:ea typeface="Montserrat"/>
                <a:cs typeface="Montserrat"/>
                <a:sym typeface="Montserrat"/>
              </a:rPr>
              <a:t>‹#›</a:t>
            </a:fld>
            <a:endParaRPr b="0" i="0" sz="1000" u="none" cap="none" strike="noStrike">
              <a:solidFill>
                <a:srgbClr val="000000"/>
              </a:solidFill>
              <a:latin typeface="Montserrat"/>
              <a:ea typeface="Montserrat"/>
              <a:cs typeface="Montserrat"/>
              <a:sym typeface="Montserrat"/>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4" name="Shape 514"/>
        <p:cNvGrpSpPr/>
        <p:nvPr/>
      </p:nvGrpSpPr>
      <p:grpSpPr>
        <a:xfrm>
          <a:off x="0" y="0"/>
          <a:ext cx="0" cy="0"/>
          <a:chOff x="0" y="0"/>
          <a:chExt cx="0" cy="0"/>
        </a:xfrm>
      </p:grpSpPr>
      <p:sp>
        <p:nvSpPr>
          <p:cNvPr id="515" name="Google Shape;515;p21"/>
          <p:cNvSpPr txBox="1"/>
          <p:nvPr/>
        </p:nvSpPr>
        <p:spPr>
          <a:xfrm>
            <a:off x="105040" y="143994"/>
            <a:ext cx="6765900" cy="357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1" i="0" lang="en" sz="2000" u="none" cap="none" strike="noStrike">
                <a:solidFill>
                  <a:schemeClr val="dk1"/>
                </a:solidFill>
                <a:latin typeface="Montserrat"/>
                <a:ea typeface="Montserrat"/>
                <a:cs typeface="Montserrat"/>
                <a:sym typeface="Montserrat"/>
              </a:rPr>
              <a:t>Proposed Engagement Model</a:t>
            </a:r>
            <a:endParaRPr b="1" i="0" sz="2000" u="none" cap="none" strike="noStrike">
              <a:solidFill>
                <a:schemeClr val="dk1"/>
              </a:solidFill>
              <a:latin typeface="Montserrat"/>
              <a:ea typeface="Montserrat"/>
              <a:cs typeface="Montserrat"/>
              <a:sym typeface="Montserrat"/>
            </a:endParaRPr>
          </a:p>
        </p:txBody>
      </p:sp>
      <p:sp>
        <p:nvSpPr>
          <p:cNvPr id="516" name="Google Shape;516;p21"/>
          <p:cNvSpPr/>
          <p:nvPr/>
        </p:nvSpPr>
        <p:spPr>
          <a:xfrm>
            <a:off x="268738" y="861370"/>
            <a:ext cx="4201500" cy="3718200"/>
          </a:xfrm>
          <a:prstGeom prst="snip1Rect">
            <a:avLst>
              <a:gd fmla="val 14134"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t" bIns="91425" lIns="91425" spcFirstLastPara="1" rIns="0" wrap="square" tIns="91425">
            <a:noAutofit/>
          </a:bodyPr>
          <a:lstStyle/>
          <a:p>
            <a:pPr>
              <a:spcAft>
                <a:spcPts val="200"/>
              </a:spcAft>
            </a:pPr>
            <a:r>
              <a:rPr sz="1000"/>
              <a:t>Weekly status updates and progress reviews.</a:t>
            </a:r>
          </a:p>
          <a:p>
            <a:pPr>
              <a:spcAft>
                <a:spcPts val="200"/>
              </a:spcAft>
            </a:pPr>
            <a:r>
              <a:rPr sz="1000"/>
              <a:t>Bi-weekly stakeholder meetings to align on requirements and deliverables.</a:t>
            </a:r>
          </a:p>
          <a:p>
            <a:pPr>
              <a:spcAft>
                <a:spcPts val="200"/>
              </a:spcAft>
            </a:pPr>
            <a:r>
              <a:rPr sz="1000"/>
              <a:t>Escalation process for critical issues within 24 hours.</a:t>
            </a:r>
          </a:p>
          <a:p>
            <a:pPr>
              <a:spcAft>
                <a:spcPts val="200"/>
              </a:spcAft>
            </a:pPr>
            <a:r>
              <a:rPr sz="1000"/>
              <a:t>Final review and sign-off upon completion of all deliverables.</a:t>
            </a:r>
          </a:p>
        </p:txBody>
      </p:sp>
      <p:cxnSp>
        <p:nvCxnSpPr>
          <p:cNvPr id="517" name="Google Shape;517;p21"/>
          <p:cNvCxnSpPr/>
          <p:nvPr/>
        </p:nvCxnSpPr>
        <p:spPr>
          <a:xfrm>
            <a:off x="272290" y="855475"/>
            <a:ext cx="0" cy="3710400"/>
          </a:xfrm>
          <a:prstGeom prst="straightConnector1">
            <a:avLst/>
          </a:prstGeom>
          <a:noFill/>
          <a:ln cap="flat" cmpd="sng" w="19050">
            <a:solidFill>
              <a:srgbClr val="12519C"/>
            </a:solidFill>
            <a:prstDash val="solid"/>
            <a:round/>
            <a:headEnd len="sm" w="sm" type="none"/>
            <a:tailEnd len="sm" w="sm" type="none"/>
          </a:ln>
        </p:spPr>
      </p:cxnSp>
      <p:sp>
        <p:nvSpPr>
          <p:cNvPr id="518" name="Google Shape;518;p21"/>
          <p:cNvSpPr/>
          <p:nvPr/>
        </p:nvSpPr>
        <p:spPr>
          <a:xfrm>
            <a:off x="4673772" y="863998"/>
            <a:ext cx="4201500" cy="3704400"/>
          </a:xfrm>
          <a:prstGeom prst="snip1Rect">
            <a:avLst>
              <a:gd fmla="val 14134"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t" bIns="91425" lIns="91425" spcFirstLastPara="1" rIns="0" wrap="square" tIns="91425">
            <a:noAutofit/>
          </a:bodyPr>
          <a:lstStyle/>
          <a:p>
            <a:pPr>
              <a:spcAft>
                <a:spcPts val="200"/>
              </a:spcAft>
            </a:pPr>
            <a:r>
              <a:rPr sz="1000"/>
              <a:t>Commercial pricing and payment terms will be agreed based on final scope, milestones, and contract.</a:t>
            </a:r>
          </a:p>
        </p:txBody>
      </p:sp>
      <p:cxnSp>
        <p:nvCxnSpPr>
          <p:cNvPr id="519" name="Google Shape;519;p21"/>
          <p:cNvCxnSpPr/>
          <p:nvPr/>
        </p:nvCxnSpPr>
        <p:spPr>
          <a:xfrm>
            <a:off x="4677324" y="858123"/>
            <a:ext cx="0" cy="3697500"/>
          </a:xfrm>
          <a:prstGeom prst="straightConnector1">
            <a:avLst/>
          </a:prstGeom>
          <a:noFill/>
          <a:ln cap="flat" cmpd="sng" w="19050">
            <a:solidFill>
              <a:srgbClr val="D41883"/>
            </a:solidFill>
            <a:prstDash val="solid"/>
            <a:round/>
            <a:headEnd len="sm" w="sm" type="none"/>
            <a:tailEnd len="sm" w="sm" type="none"/>
          </a:ln>
        </p:spPr>
      </p:cxnSp>
      <p:sp>
        <p:nvSpPr>
          <p:cNvPr id="520" name="Google Shape;520;p21"/>
          <p:cNvSpPr txBox="1"/>
          <p:nvPr/>
        </p:nvSpPr>
        <p:spPr>
          <a:xfrm>
            <a:off x="554448" y="989025"/>
            <a:ext cx="3423000" cy="3540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100"/>
              <a:buFont typeface="Arial"/>
              <a:buNone/>
            </a:pPr>
            <a:r>
              <a:rPr b="1" i="0" lang="en" sz="1100" u="none" cap="none" strike="noStrike">
                <a:solidFill>
                  <a:srgbClr val="12519C"/>
                </a:solidFill>
                <a:latin typeface="Montserrat"/>
                <a:ea typeface="Montserrat"/>
                <a:cs typeface="Montserrat"/>
                <a:sym typeface="Montserrat"/>
              </a:rPr>
              <a:t>Fixed Price Fixed Scope Engagement</a:t>
            </a:r>
            <a:endParaRPr b="0" i="0" sz="1100" u="none" cap="none" strike="noStrike">
              <a:solidFill>
                <a:srgbClr val="12519C"/>
              </a:solidFill>
              <a:latin typeface="Montserrat"/>
              <a:ea typeface="Montserrat"/>
              <a:cs typeface="Montserrat"/>
              <a:sym typeface="Montserrat"/>
            </a:endParaRPr>
          </a:p>
        </p:txBody>
      </p:sp>
      <p:sp>
        <p:nvSpPr>
          <p:cNvPr id="521" name="Google Shape;521;p21"/>
          <p:cNvSpPr txBox="1"/>
          <p:nvPr/>
        </p:nvSpPr>
        <p:spPr>
          <a:xfrm>
            <a:off x="5322463" y="989017"/>
            <a:ext cx="2638200" cy="3540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100"/>
              <a:buFont typeface="Arial"/>
              <a:buNone/>
            </a:pPr>
            <a:r>
              <a:rPr b="1" i="0" lang="en" sz="1100" u="none" cap="none" strike="noStrike">
                <a:solidFill>
                  <a:srgbClr val="12519C"/>
                </a:solidFill>
                <a:latin typeface="Montserrat"/>
                <a:ea typeface="Montserrat"/>
                <a:cs typeface="Montserrat"/>
                <a:sym typeface="Montserrat"/>
              </a:rPr>
              <a:t>Commercial Summary</a:t>
            </a:r>
            <a:endParaRPr b="0" i="0" sz="1100" u="none" cap="none" strike="noStrike">
              <a:solidFill>
                <a:srgbClr val="12519C"/>
              </a:solidFill>
              <a:latin typeface="Montserrat"/>
              <a:ea typeface="Montserrat"/>
              <a:cs typeface="Montserrat"/>
              <a:sym typeface="Montserrat"/>
            </a:endParaRPr>
          </a:p>
        </p:txBody>
      </p:sp>
      <p:sp>
        <p:nvSpPr>
          <p:cNvPr id="522" name="Google Shape;522;p21"/>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sz="1000"/>
              <a:t>‹#›</a:t>
            </a:fld>
            <a:endParaRPr sz="1000"/>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6" name="Shape 526"/>
        <p:cNvGrpSpPr/>
        <p:nvPr/>
      </p:nvGrpSpPr>
      <p:grpSpPr>
        <a:xfrm>
          <a:off x="0" y="0"/>
          <a:ext cx="0" cy="0"/>
          <a:chOff x="0" y="0"/>
          <a:chExt cx="0" cy="0"/>
        </a:xfrm>
      </p:grpSpPr>
      <p:sp>
        <p:nvSpPr>
          <p:cNvPr id="527" name="Google Shape;527;p23"/>
          <p:cNvSpPr/>
          <p:nvPr/>
        </p:nvSpPr>
        <p:spPr>
          <a:xfrm>
            <a:off x="0" y="144000"/>
            <a:ext cx="47400" cy="3573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8" name="Google Shape;528;p23"/>
          <p:cNvSpPr txBox="1"/>
          <p:nvPr>
            <p:ph type="title"/>
          </p:nvPr>
        </p:nvSpPr>
        <p:spPr>
          <a:xfrm>
            <a:off x="104500" y="141850"/>
            <a:ext cx="6703800" cy="3573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000"/>
              <a:buNone/>
            </a:pPr>
            <a:r>
              <a:rPr lang="en"/>
              <a:t>Agenda</a:t>
            </a:r>
            <a:endParaRPr/>
          </a:p>
        </p:txBody>
      </p:sp>
      <p:sp>
        <p:nvSpPr>
          <p:cNvPr id="529" name="Google Shape;529;p23"/>
          <p:cNvSpPr/>
          <p:nvPr/>
        </p:nvSpPr>
        <p:spPr>
          <a:xfrm>
            <a:off x="1358763" y="1111025"/>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200"/>
              <a:buFont typeface="Arial"/>
              <a:buNone/>
            </a:pPr>
            <a:r>
              <a:rPr b="0" i="0" lang="en" sz="1200" u="none" cap="none" strike="noStrike">
                <a:solidFill>
                  <a:srgbClr val="000000"/>
                </a:solidFill>
                <a:latin typeface="Montserrat"/>
                <a:ea typeface="Montserrat"/>
                <a:cs typeface="Montserrat"/>
                <a:sym typeface="Montserrat"/>
              </a:rPr>
              <a:t>Executive Summary and Our Understanding of Project Requirements</a:t>
            </a:r>
            <a:endParaRPr b="0" i="0" sz="1200" u="none" cap="none" strike="noStrike">
              <a:solidFill>
                <a:srgbClr val="000000"/>
              </a:solidFill>
              <a:latin typeface="Montserrat"/>
              <a:ea typeface="Montserrat"/>
              <a:cs typeface="Montserrat"/>
              <a:sym typeface="Montserrat"/>
            </a:endParaRPr>
          </a:p>
        </p:txBody>
      </p:sp>
      <p:sp>
        <p:nvSpPr>
          <p:cNvPr id="530" name="Google Shape;530;p23"/>
          <p:cNvSpPr/>
          <p:nvPr/>
        </p:nvSpPr>
        <p:spPr>
          <a:xfrm>
            <a:off x="1358763" y="1678410"/>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200"/>
              <a:buFont typeface="Arial"/>
              <a:buNone/>
            </a:pPr>
            <a:r>
              <a:rPr b="0" i="0" lang="en" sz="1200" u="none" cap="none" strike="noStrike">
                <a:solidFill>
                  <a:srgbClr val="000000"/>
                </a:solidFill>
                <a:latin typeface="Montserrat"/>
                <a:ea typeface="Montserrat"/>
                <a:cs typeface="Montserrat"/>
                <a:sym typeface="Montserrat"/>
              </a:rPr>
              <a:t>Proposed Technical Solution Approach</a:t>
            </a:r>
            <a:endParaRPr b="0" i="0" sz="1200" u="none" cap="none" strike="noStrike">
              <a:solidFill>
                <a:srgbClr val="000000"/>
              </a:solidFill>
              <a:latin typeface="Montserrat"/>
              <a:ea typeface="Montserrat"/>
              <a:cs typeface="Montserrat"/>
              <a:sym typeface="Montserrat"/>
            </a:endParaRPr>
          </a:p>
        </p:txBody>
      </p:sp>
      <p:sp>
        <p:nvSpPr>
          <p:cNvPr id="531" name="Google Shape;531;p23"/>
          <p:cNvSpPr/>
          <p:nvPr/>
        </p:nvSpPr>
        <p:spPr>
          <a:xfrm>
            <a:off x="1358763" y="3289875"/>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200"/>
              <a:buFont typeface="Arial"/>
              <a:buNone/>
            </a:pPr>
            <a:r>
              <a:rPr b="1" i="0" lang="en" sz="1200" u="none" cap="none" strike="noStrike">
                <a:solidFill>
                  <a:srgbClr val="D71B7F"/>
                </a:solidFill>
                <a:latin typeface="Montserrat"/>
                <a:ea typeface="Montserrat"/>
                <a:cs typeface="Montserrat"/>
                <a:sym typeface="Montserrat"/>
              </a:rPr>
              <a:t>Success Stories</a:t>
            </a:r>
            <a:endParaRPr b="1" i="0" sz="1200" u="none" cap="none" strike="noStrike">
              <a:solidFill>
                <a:srgbClr val="D71B7F"/>
              </a:solidFill>
              <a:latin typeface="Montserrat"/>
              <a:ea typeface="Montserrat"/>
              <a:cs typeface="Montserrat"/>
              <a:sym typeface="Montserrat"/>
            </a:endParaRPr>
          </a:p>
        </p:txBody>
      </p:sp>
      <p:cxnSp>
        <p:nvCxnSpPr>
          <p:cNvPr id="532" name="Google Shape;532;p23"/>
          <p:cNvCxnSpPr/>
          <p:nvPr/>
        </p:nvCxnSpPr>
        <p:spPr>
          <a:xfrm>
            <a:off x="1367196" y="1108050"/>
            <a:ext cx="0" cy="382200"/>
          </a:xfrm>
          <a:prstGeom prst="straightConnector1">
            <a:avLst/>
          </a:prstGeom>
          <a:noFill/>
          <a:ln cap="flat" cmpd="sng" w="19050">
            <a:solidFill>
              <a:srgbClr val="12519C"/>
            </a:solidFill>
            <a:prstDash val="solid"/>
            <a:round/>
            <a:headEnd len="sm" w="sm" type="none"/>
            <a:tailEnd len="sm" w="sm" type="none"/>
          </a:ln>
        </p:spPr>
      </p:cxnSp>
      <p:cxnSp>
        <p:nvCxnSpPr>
          <p:cNvPr id="533" name="Google Shape;533;p23"/>
          <p:cNvCxnSpPr/>
          <p:nvPr/>
        </p:nvCxnSpPr>
        <p:spPr>
          <a:xfrm>
            <a:off x="1367196" y="1675436"/>
            <a:ext cx="0" cy="382200"/>
          </a:xfrm>
          <a:prstGeom prst="straightConnector1">
            <a:avLst/>
          </a:prstGeom>
          <a:noFill/>
          <a:ln cap="flat" cmpd="sng" w="19050">
            <a:solidFill>
              <a:srgbClr val="12519C"/>
            </a:solidFill>
            <a:prstDash val="solid"/>
            <a:round/>
            <a:headEnd len="sm" w="sm" type="none"/>
            <a:tailEnd len="sm" w="sm" type="none"/>
          </a:ln>
        </p:spPr>
      </p:cxnSp>
      <p:cxnSp>
        <p:nvCxnSpPr>
          <p:cNvPr id="534" name="Google Shape;534;p23"/>
          <p:cNvCxnSpPr/>
          <p:nvPr/>
        </p:nvCxnSpPr>
        <p:spPr>
          <a:xfrm>
            <a:off x="1367196" y="3288390"/>
            <a:ext cx="0" cy="382200"/>
          </a:xfrm>
          <a:prstGeom prst="straightConnector1">
            <a:avLst/>
          </a:prstGeom>
          <a:noFill/>
          <a:ln cap="flat" cmpd="sng" w="19050">
            <a:solidFill>
              <a:srgbClr val="12519C"/>
            </a:solidFill>
            <a:prstDash val="solid"/>
            <a:round/>
            <a:headEnd len="sm" w="sm" type="none"/>
            <a:tailEnd len="sm" w="sm" type="none"/>
          </a:ln>
        </p:spPr>
      </p:cxnSp>
      <p:sp>
        <p:nvSpPr>
          <p:cNvPr id="535" name="Google Shape;535;p23"/>
          <p:cNvSpPr/>
          <p:nvPr/>
        </p:nvSpPr>
        <p:spPr>
          <a:xfrm>
            <a:off x="1048238" y="1260478"/>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6" name="Google Shape;536;p23"/>
          <p:cNvSpPr/>
          <p:nvPr/>
        </p:nvSpPr>
        <p:spPr>
          <a:xfrm>
            <a:off x="1048238" y="1827880"/>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7" name="Google Shape;537;p23"/>
          <p:cNvSpPr/>
          <p:nvPr/>
        </p:nvSpPr>
        <p:spPr>
          <a:xfrm>
            <a:off x="1048238" y="3439362"/>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8" name="Google Shape;538;p23"/>
          <p:cNvSpPr/>
          <p:nvPr/>
        </p:nvSpPr>
        <p:spPr>
          <a:xfrm>
            <a:off x="1358763" y="2245805"/>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200"/>
              <a:buFont typeface="Arial"/>
              <a:buNone/>
            </a:pPr>
            <a:r>
              <a:rPr b="0" i="0" lang="en" sz="1200" u="none" cap="none" strike="noStrike">
                <a:solidFill>
                  <a:srgbClr val="000000"/>
                </a:solidFill>
                <a:latin typeface="Montserrat"/>
                <a:ea typeface="Montserrat"/>
                <a:cs typeface="Montserrat"/>
                <a:sym typeface="Montserrat"/>
              </a:rPr>
              <a:t>Project Plan and Key Deliverables</a:t>
            </a:r>
            <a:endParaRPr b="0" i="0" sz="1200" u="none" cap="none" strike="noStrike">
              <a:solidFill>
                <a:srgbClr val="000000"/>
              </a:solidFill>
              <a:latin typeface="Montserrat"/>
              <a:ea typeface="Montserrat"/>
              <a:cs typeface="Montserrat"/>
              <a:sym typeface="Montserrat"/>
            </a:endParaRPr>
          </a:p>
        </p:txBody>
      </p:sp>
      <p:cxnSp>
        <p:nvCxnSpPr>
          <p:cNvPr id="539" name="Google Shape;539;p23"/>
          <p:cNvCxnSpPr/>
          <p:nvPr/>
        </p:nvCxnSpPr>
        <p:spPr>
          <a:xfrm>
            <a:off x="1367196" y="2242832"/>
            <a:ext cx="0" cy="382200"/>
          </a:xfrm>
          <a:prstGeom prst="straightConnector1">
            <a:avLst/>
          </a:prstGeom>
          <a:noFill/>
          <a:ln cap="flat" cmpd="sng" w="19050">
            <a:solidFill>
              <a:srgbClr val="12519C"/>
            </a:solidFill>
            <a:prstDash val="solid"/>
            <a:round/>
            <a:headEnd len="sm" w="sm" type="none"/>
            <a:tailEnd len="sm" w="sm" type="none"/>
          </a:ln>
        </p:spPr>
      </p:cxnSp>
      <p:sp>
        <p:nvSpPr>
          <p:cNvPr id="540" name="Google Shape;540;p23"/>
          <p:cNvSpPr/>
          <p:nvPr/>
        </p:nvSpPr>
        <p:spPr>
          <a:xfrm>
            <a:off x="1048238" y="2395275"/>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1" name="Google Shape;541;p23"/>
          <p:cNvSpPr/>
          <p:nvPr/>
        </p:nvSpPr>
        <p:spPr>
          <a:xfrm>
            <a:off x="1358763" y="2755885"/>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200"/>
              <a:buFont typeface="Arial"/>
              <a:buNone/>
            </a:pPr>
            <a:r>
              <a:rPr b="0" i="0" lang="en" sz="1200" u="none" cap="none" strike="noStrike">
                <a:solidFill>
                  <a:srgbClr val="000000"/>
                </a:solidFill>
                <a:latin typeface="Montserrat"/>
                <a:ea typeface="Montserrat"/>
                <a:cs typeface="Montserrat"/>
                <a:sym typeface="Montserrat"/>
              </a:rPr>
              <a:t>Commercial Summary</a:t>
            </a:r>
            <a:endParaRPr b="0" i="0" sz="1200" u="none" cap="none" strike="noStrike">
              <a:solidFill>
                <a:srgbClr val="000000"/>
              </a:solidFill>
              <a:latin typeface="Montserrat"/>
              <a:ea typeface="Montserrat"/>
              <a:cs typeface="Montserrat"/>
              <a:sym typeface="Montserrat"/>
            </a:endParaRPr>
          </a:p>
        </p:txBody>
      </p:sp>
      <p:cxnSp>
        <p:nvCxnSpPr>
          <p:cNvPr id="542" name="Google Shape;542;p23"/>
          <p:cNvCxnSpPr/>
          <p:nvPr/>
        </p:nvCxnSpPr>
        <p:spPr>
          <a:xfrm>
            <a:off x="1367196" y="2752912"/>
            <a:ext cx="0" cy="382200"/>
          </a:xfrm>
          <a:prstGeom prst="straightConnector1">
            <a:avLst/>
          </a:prstGeom>
          <a:noFill/>
          <a:ln cap="flat" cmpd="sng" w="19050">
            <a:solidFill>
              <a:srgbClr val="12519C"/>
            </a:solidFill>
            <a:prstDash val="solid"/>
            <a:round/>
            <a:headEnd len="sm" w="sm" type="none"/>
            <a:tailEnd len="sm" w="sm" type="none"/>
          </a:ln>
        </p:spPr>
      </p:cxnSp>
      <p:sp>
        <p:nvSpPr>
          <p:cNvPr id="543" name="Google Shape;543;p23"/>
          <p:cNvSpPr/>
          <p:nvPr/>
        </p:nvSpPr>
        <p:spPr>
          <a:xfrm>
            <a:off x="1048238" y="2905355"/>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4" name="Google Shape;544;p23"/>
          <p:cNvSpPr txBox="1"/>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1000"/>
              <a:buFont typeface="Arial"/>
              <a:buNone/>
            </a:pPr>
            <a:fld id="{00000000-1234-1234-1234-123412341234}" type="slidenum">
              <a:rPr b="0" i="0" lang="en" sz="1000" u="none" cap="none" strike="noStrike">
                <a:solidFill>
                  <a:srgbClr val="000000"/>
                </a:solidFill>
                <a:latin typeface="Montserrat"/>
                <a:ea typeface="Montserrat"/>
                <a:cs typeface="Montserrat"/>
                <a:sym typeface="Montserrat"/>
              </a:rPr>
              <a:t>‹#›</a:t>
            </a:fld>
            <a:endParaRPr b="0" i="0" sz="1000" u="none" cap="none" strike="noStrike">
              <a:solidFill>
                <a:srgbClr val="000000"/>
              </a:solidFill>
              <a:latin typeface="Montserrat"/>
              <a:ea typeface="Montserrat"/>
              <a:cs typeface="Montserrat"/>
              <a:sym typeface="Montserrat"/>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48" name="Shape 548"/>
        <p:cNvGrpSpPr/>
        <p:nvPr/>
      </p:nvGrpSpPr>
      <p:grpSpPr>
        <a:xfrm>
          <a:off x="0" y="0"/>
          <a:ext cx="0" cy="0"/>
          <a:chOff x="0" y="0"/>
          <a:chExt cx="0" cy="0"/>
        </a:xfrm>
      </p:grpSpPr>
      <p:sp>
        <p:nvSpPr>
          <p:cNvPr id="549" name="Google Shape;549;p24"/>
          <p:cNvSpPr/>
          <p:nvPr/>
        </p:nvSpPr>
        <p:spPr>
          <a:xfrm>
            <a:off x="0" y="144000"/>
            <a:ext cx="47400" cy="357300"/>
          </a:xfrm>
          <a:prstGeom prst="rect">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0" name="Google Shape;550;p24"/>
          <p:cNvSpPr txBox="1"/>
          <p:nvPr/>
        </p:nvSpPr>
        <p:spPr>
          <a:xfrm>
            <a:off x="6222488" y="959944"/>
            <a:ext cx="2693100" cy="2014200"/>
          </a:xfrm>
          <a:prstGeom prst="rect">
            <a:avLst/>
          </a:prstGeom>
          <a:noFill/>
          <a:ln>
            <a:noFill/>
          </a:ln>
          <a:effectLst>
            <a:outerShdw blurRad="228600" rotWithShape="0" algn="bl" dir="5400000" dist="57150">
              <a:srgbClr val="000000">
                <a:alpha val="10980"/>
              </a:srgbClr>
            </a:outerShdw>
          </a:effectLst>
        </p:spPr>
        <p:txBody>
          <a:bodyPr anchorCtr="0" anchor="t" bIns="91425" lIns="91425" spcFirstLastPara="1" rIns="91425" wrap="square" tIns="91425">
            <a:noAutofit/>
          </a:bodyPr>
          <a:lstStyle/>
          <a:p>
            <a:pPr indent="0" lvl="0" marL="0" marR="0" rtl="0" algn="l">
              <a:lnSpc>
                <a:spcPct val="150000"/>
              </a:lnSpc>
              <a:spcBef>
                <a:spcPts val="900"/>
              </a:spcBef>
              <a:spcAft>
                <a:spcPts val="0"/>
              </a:spcAft>
              <a:buClr>
                <a:schemeClr val="dk1"/>
              </a:buClr>
              <a:buSzPts val="800"/>
              <a:buFont typeface="Arial"/>
              <a:buNone/>
            </a:pPr>
            <a:r>
              <a:rPr b="0" i="0" lang="en" sz="700" u="none" cap="none" strike="noStrike">
                <a:solidFill>
                  <a:schemeClr val="dk1"/>
                </a:solidFill>
                <a:latin typeface="Montserrat"/>
                <a:ea typeface="Montserrat"/>
                <a:cs typeface="Montserrat"/>
                <a:sym typeface="Montserrat"/>
              </a:rPr>
              <a:t>Since 2018, TTN has been a strategic partner in Tabcorp’s transformation, evolving from supporting its digital arm to over 150 people enabling </a:t>
            </a:r>
            <a:r>
              <a:rPr b="1" i="0" lang="en" sz="700" u="none" cap="none" strike="noStrike">
                <a:solidFill>
                  <a:schemeClr val="dk1"/>
                </a:solidFill>
                <a:latin typeface="Montserrat"/>
                <a:ea typeface="Montserrat"/>
                <a:cs typeface="Montserrat"/>
                <a:sym typeface="Montserrat"/>
              </a:rPr>
              <a:t>digital, gaming, data, trackside, retail, </a:t>
            </a:r>
            <a:r>
              <a:rPr b="0" i="0" lang="en" sz="700" u="none" cap="none" strike="noStrike">
                <a:solidFill>
                  <a:schemeClr val="dk1"/>
                </a:solidFill>
                <a:latin typeface="Montserrat"/>
                <a:ea typeface="Montserrat"/>
                <a:cs typeface="Montserrat"/>
                <a:sym typeface="Montserrat"/>
              </a:rPr>
              <a:t>and</a:t>
            </a:r>
            <a:r>
              <a:rPr b="1" i="0" lang="en" sz="700" u="none" cap="none" strike="noStrike">
                <a:solidFill>
                  <a:schemeClr val="dk1"/>
                </a:solidFill>
                <a:latin typeface="Montserrat"/>
                <a:ea typeface="Montserrat"/>
                <a:cs typeface="Montserrat"/>
                <a:sym typeface="Montserrat"/>
              </a:rPr>
              <a:t> cybersecurity</a:t>
            </a:r>
            <a:r>
              <a:rPr b="0" i="0" lang="en" sz="700" u="none" cap="none" strike="noStrike">
                <a:solidFill>
                  <a:schemeClr val="dk1"/>
                </a:solidFill>
                <a:latin typeface="Montserrat"/>
                <a:ea typeface="Montserrat"/>
                <a:cs typeface="Montserrat"/>
                <a:sym typeface="Montserrat"/>
              </a:rPr>
              <a:t>. Together, we have delivered groundbreaking solutions at scale.</a:t>
            </a:r>
            <a:endParaRPr b="0" i="0" sz="700" u="none" cap="none" strike="noStrike">
              <a:solidFill>
                <a:schemeClr val="dk1"/>
              </a:solidFill>
              <a:latin typeface="Montserrat"/>
              <a:ea typeface="Montserrat"/>
              <a:cs typeface="Montserrat"/>
              <a:sym typeface="Montserrat"/>
            </a:endParaRPr>
          </a:p>
          <a:p>
            <a:pPr indent="0" lvl="0" marL="0" marR="0" rtl="0" algn="l">
              <a:lnSpc>
                <a:spcPct val="150000"/>
              </a:lnSpc>
              <a:spcBef>
                <a:spcPts val="900"/>
              </a:spcBef>
              <a:spcAft>
                <a:spcPts val="0"/>
              </a:spcAft>
              <a:buClr>
                <a:schemeClr val="dk1"/>
              </a:buClr>
              <a:buSzPts val="800"/>
              <a:buFont typeface="Arial"/>
              <a:buNone/>
            </a:pPr>
            <a:r>
              <a:rPr b="0" i="0" lang="en" sz="700" u="none" cap="none" strike="noStrike">
                <a:solidFill>
                  <a:schemeClr val="dk1"/>
                </a:solidFill>
                <a:latin typeface="Montserrat"/>
                <a:ea typeface="Montserrat"/>
                <a:cs typeface="Montserrat"/>
                <a:sym typeface="Montserrat"/>
              </a:rPr>
              <a:t>From omni-channel innovations like a </a:t>
            </a:r>
            <a:r>
              <a:rPr b="1" i="0" lang="en" sz="700" u="none" cap="none" strike="noStrike">
                <a:solidFill>
                  <a:schemeClr val="dk1"/>
                </a:solidFill>
                <a:latin typeface="Montserrat"/>
                <a:ea typeface="Montserrat"/>
                <a:cs typeface="Montserrat"/>
                <a:sym typeface="Montserrat"/>
              </a:rPr>
              <a:t>cross-platform betting app</a:t>
            </a:r>
            <a:r>
              <a:rPr b="0" i="0" lang="en" sz="700" u="none" cap="none" strike="noStrike">
                <a:solidFill>
                  <a:schemeClr val="dk1"/>
                </a:solidFill>
                <a:latin typeface="Montserrat"/>
                <a:ea typeface="Montserrat"/>
                <a:cs typeface="Montserrat"/>
                <a:sym typeface="Montserrat"/>
              </a:rPr>
              <a:t>, integrating </a:t>
            </a:r>
            <a:r>
              <a:rPr b="1" i="0" lang="en" sz="700" u="none" cap="none" strike="noStrike">
                <a:solidFill>
                  <a:schemeClr val="dk1"/>
                </a:solidFill>
                <a:latin typeface="Montserrat"/>
                <a:ea typeface="Montserrat"/>
                <a:cs typeface="Montserrat"/>
                <a:sym typeface="Montserrat"/>
              </a:rPr>
              <a:t>web</a:t>
            </a:r>
            <a:r>
              <a:rPr b="0" i="0" lang="en" sz="700" u="none" cap="none" strike="noStrike">
                <a:solidFill>
                  <a:schemeClr val="dk1"/>
                </a:solidFill>
                <a:latin typeface="Montserrat"/>
                <a:ea typeface="Montserrat"/>
                <a:cs typeface="Montserrat"/>
                <a:sym typeface="Montserrat"/>
              </a:rPr>
              <a:t> and mobile experiences, customer engagement and </a:t>
            </a:r>
            <a:r>
              <a:rPr b="1" i="0" lang="en" sz="700" u="none" cap="none" strike="noStrike">
                <a:solidFill>
                  <a:schemeClr val="dk1"/>
                </a:solidFill>
                <a:latin typeface="Montserrat"/>
                <a:ea typeface="Montserrat"/>
                <a:cs typeface="Montserrat"/>
                <a:sym typeface="Montserrat"/>
              </a:rPr>
              <a:t>personalisation</a:t>
            </a:r>
            <a:r>
              <a:rPr b="0" i="0" lang="en" sz="700" u="none" cap="none" strike="noStrike">
                <a:solidFill>
                  <a:schemeClr val="dk1"/>
                </a:solidFill>
                <a:latin typeface="Montserrat"/>
                <a:ea typeface="Montserrat"/>
                <a:cs typeface="Montserrat"/>
                <a:sym typeface="Montserrat"/>
              </a:rPr>
              <a:t> through </a:t>
            </a:r>
            <a:r>
              <a:rPr b="1" i="0" lang="en" sz="700" u="none" cap="none" strike="noStrike">
                <a:solidFill>
                  <a:schemeClr val="dk1"/>
                </a:solidFill>
                <a:latin typeface="Montserrat"/>
                <a:ea typeface="Montserrat"/>
                <a:cs typeface="Montserrat"/>
                <a:sym typeface="Montserrat"/>
              </a:rPr>
              <a:t>Adobe Target, Analytics, and AEM</a:t>
            </a:r>
            <a:r>
              <a:rPr b="0" i="0" lang="en" sz="700" u="none" cap="none" strike="noStrike">
                <a:solidFill>
                  <a:schemeClr val="dk1"/>
                </a:solidFill>
                <a:latin typeface="Montserrat"/>
                <a:ea typeface="Montserrat"/>
                <a:cs typeface="Montserrat"/>
                <a:sym typeface="Montserrat"/>
              </a:rPr>
              <a:t>, to infrastructure modernisation with</a:t>
            </a:r>
            <a:r>
              <a:rPr b="1" i="0" lang="en" sz="700" u="none" cap="none" strike="noStrike">
                <a:solidFill>
                  <a:schemeClr val="dk1"/>
                </a:solidFill>
                <a:latin typeface="Montserrat"/>
                <a:ea typeface="Montserrat"/>
                <a:cs typeface="Montserrat"/>
                <a:sym typeface="Montserrat"/>
              </a:rPr>
              <a:t> Infra as Code</a:t>
            </a:r>
            <a:r>
              <a:rPr b="0" i="0" lang="en" sz="700" u="none" cap="none" strike="noStrike">
                <a:solidFill>
                  <a:schemeClr val="dk1"/>
                </a:solidFill>
                <a:latin typeface="Montserrat"/>
                <a:ea typeface="Montserrat"/>
                <a:cs typeface="Montserrat"/>
                <a:sym typeface="Montserrat"/>
              </a:rPr>
              <a:t>, AWS Cloud optimisation, and </a:t>
            </a:r>
            <a:r>
              <a:rPr b="1" i="0" lang="en" sz="700" u="none" cap="none" strike="noStrike">
                <a:solidFill>
                  <a:schemeClr val="dk1"/>
                </a:solidFill>
                <a:latin typeface="Montserrat"/>
                <a:ea typeface="Montserrat"/>
                <a:cs typeface="Montserrat"/>
                <a:sym typeface="Montserrat"/>
              </a:rPr>
              <a:t>Graviton</a:t>
            </a:r>
            <a:r>
              <a:rPr b="0" i="0" lang="en" sz="700" u="none" cap="none" strike="noStrike">
                <a:solidFill>
                  <a:schemeClr val="dk1"/>
                </a:solidFill>
                <a:latin typeface="Montserrat"/>
                <a:ea typeface="Montserrat"/>
                <a:cs typeface="Montserrat"/>
                <a:sym typeface="Montserrat"/>
              </a:rPr>
              <a:t> migration, to reducing manual testing by 45% through </a:t>
            </a:r>
            <a:r>
              <a:rPr b="1" i="0" lang="en" sz="700" u="none" cap="none" strike="noStrike">
                <a:solidFill>
                  <a:schemeClr val="dk1"/>
                </a:solidFill>
                <a:latin typeface="Montserrat"/>
                <a:ea typeface="Montserrat"/>
                <a:cs typeface="Montserrat"/>
                <a:sym typeface="Montserrat"/>
              </a:rPr>
              <a:t>automation</a:t>
            </a:r>
            <a:r>
              <a:rPr b="0" i="0" lang="en" sz="700" u="none" cap="none" strike="noStrike">
                <a:solidFill>
                  <a:schemeClr val="dk1"/>
                </a:solidFill>
                <a:latin typeface="Montserrat"/>
                <a:ea typeface="Montserrat"/>
                <a:cs typeface="Montserrat"/>
                <a:sym typeface="Montserrat"/>
              </a:rPr>
              <a:t>.</a:t>
            </a:r>
            <a:endParaRPr b="0" i="0" sz="700" u="none" cap="none" strike="noStrike">
              <a:solidFill>
                <a:schemeClr val="dk1"/>
              </a:solidFill>
              <a:latin typeface="Montserrat"/>
              <a:ea typeface="Montserrat"/>
              <a:cs typeface="Montserrat"/>
              <a:sym typeface="Montserrat"/>
            </a:endParaRPr>
          </a:p>
          <a:p>
            <a:pPr indent="0" lvl="0" marL="0" marR="0" rtl="0" algn="l">
              <a:lnSpc>
                <a:spcPct val="150000"/>
              </a:lnSpc>
              <a:spcBef>
                <a:spcPts val="900"/>
              </a:spcBef>
              <a:spcAft>
                <a:spcPts val="0"/>
              </a:spcAft>
              <a:buClr>
                <a:schemeClr val="dk1"/>
              </a:buClr>
              <a:buSzPts val="800"/>
              <a:buFont typeface="Arial"/>
              <a:buNone/>
            </a:pPr>
            <a:r>
              <a:rPr b="0" i="0" lang="en" sz="700" u="none" cap="none" strike="noStrike">
                <a:solidFill>
                  <a:schemeClr val="dk1"/>
                </a:solidFill>
                <a:latin typeface="Montserrat"/>
                <a:ea typeface="Montserrat"/>
                <a:cs typeface="Montserrat"/>
                <a:sym typeface="Montserrat"/>
              </a:rPr>
              <a:t>We have enabled compliance adherence through </a:t>
            </a:r>
            <a:r>
              <a:rPr b="1" i="0" lang="en" sz="700" u="none" cap="none" strike="noStrike">
                <a:solidFill>
                  <a:schemeClr val="dk1"/>
                </a:solidFill>
                <a:latin typeface="Montserrat"/>
                <a:ea typeface="Montserrat"/>
                <a:cs typeface="Montserrat"/>
                <a:sym typeface="Montserrat"/>
              </a:rPr>
              <a:t>AML/CTF tools </a:t>
            </a:r>
            <a:r>
              <a:rPr b="0" i="0" lang="en" sz="700" u="none" cap="none" strike="noStrike">
                <a:solidFill>
                  <a:schemeClr val="dk1"/>
                </a:solidFill>
                <a:latin typeface="Montserrat"/>
                <a:ea typeface="Montserrat"/>
                <a:cs typeface="Montserrat"/>
                <a:sym typeface="Montserrat"/>
              </a:rPr>
              <a:t>for</a:t>
            </a:r>
            <a:r>
              <a:rPr b="1" i="0" lang="en" sz="700" u="none" cap="none" strike="noStrike">
                <a:solidFill>
                  <a:schemeClr val="dk1"/>
                </a:solidFill>
                <a:latin typeface="Montserrat"/>
                <a:ea typeface="Montserrat"/>
                <a:cs typeface="Montserrat"/>
                <a:sym typeface="Montserrat"/>
              </a:rPr>
              <a:t> Enhanced Customer Due Diligence</a:t>
            </a:r>
            <a:r>
              <a:rPr b="0" i="0" lang="en" sz="700" u="none" cap="none" strike="noStrike">
                <a:solidFill>
                  <a:schemeClr val="dk1"/>
                </a:solidFill>
                <a:latin typeface="Montserrat"/>
                <a:ea typeface="Montserrat"/>
                <a:cs typeface="Montserrat"/>
                <a:sym typeface="Montserrat"/>
              </a:rPr>
              <a:t> and </a:t>
            </a:r>
            <a:r>
              <a:rPr b="1" i="0" lang="en" sz="700" u="none" cap="none" strike="noStrike">
                <a:solidFill>
                  <a:schemeClr val="dk1"/>
                </a:solidFill>
                <a:latin typeface="Montserrat"/>
                <a:ea typeface="Montserrat"/>
                <a:cs typeface="Montserrat"/>
                <a:sym typeface="Montserrat"/>
              </a:rPr>
              <a:t>suppression</a:t>
            </a:r>
            <a:r>
              <a:rPr b="0" i="0" lang="en" sz="700" u="none" cap="none" strike="noStrike">
                <a:solidFill>
                  <a:schemeClr val="dk1"/>
                </a:solidFill>
                <a:latin typeface="Montserrat"/>
                <a:ea typeface="Montserrat"/>
                <a:cs typeface="Montserrat"/>
                <a:sym typeface="Montserrat"/>
              </a:rPr>
              <a:t> management.</a:t>
            </a:r>
            <a:endParaRPr b="0" i="0" sz="700" u="none" cap="none" strike="noStrike">
              <a:solidFill>
                <a:schemeClr val="dk1"/>
              </a:solidFill>
              <a:latin typeface="Montserrat"/>
              <a:ea typeface="Montserrat"/>
              <a:cs typeface="Montserrat"/>
              <a:sym typeface="Montserrat"/>
            </a:endParaRPr>
          </a:p>
          <a:p>
            <a:pPr indent="0" lvl="0" marL="0" marR="0" rtl="0" algn="l">
              <a:lnSpc>
                <a:spcPct val="150000"/>
              </a:lnSpc>
              <a:spcBef>
                <a:spcPts val="900"/>
              </a:spcBef>
              <a:spcAft>
                <a:spcPts val="0"/>
              </a:spcAft>
              <a:buClr>
                <a:schemeClr val="dk1"/>
              </a:buClr>
              <a:buSzPts val="800"/>
              <a:buFont typeface="Arial"/>
              <a:buNone/>
            </a:pPr>
            <a:r>
              <a:rPr b="0" i="0" lang="en" sz="700" u="none" cap="none" strike="noStrike">
                <a:solidFill>
                  <a:schemeClr val="dk1"/>
                </a:solidFill>
                <a:latin typeface="Montserrat"/>
                <a:ea typeface="Montserrat"/>
                <a:cs typeface="Montserrat"/>
                <a:sym typeface="Montserrat"/>
              </a:rPr>
              <a:t>Our work includes cutting-edge betting features like </a:t>
            </a:r>
            <a:r>
              <a:rPr b="1" i="0" lang="en" sz="700" u="none" cap="none" strike="noStrike">
                <a:solidFill>
                  <a:schemeClr val="dk1"/>
                </a:solidFill>
                <a:latin typeface="Montserrat"/>
                <a:ea typeface="Montserrat"/>
                <a:cs typeface="Montserrat"/>
                <a:sym typeface="Montserrat"/>
              </a:rPr>
              <a:t>Same Game Multi</a:t>
            </a:r>
            <a:r>
              <a:rPr b="0" i="0" lang="en" sz="700" u="none" cap="none" strike="noStrike">
                <a:solidFill>
                  <a:schemeClr val="dk1"/>
                </a:solidFill>
                <a:latin typeface="Montserrat"/>
                <a:ea typeface="Montserrat"/>
                <a:cs typeface="Montserrat"/>
                <a:sym typeface="Montserrat"/>
              </a:rPr>
              <a:t> for sports, </a:t>
            </a:r>
            <a:r>
              <a:rPr b="1" i="0" lang="en" sz="700" u="none" cap="none" strike="noStrike">
                <a:solidFill>
                  <a:schemeClr val="dk1"/>
                </a:solidFill>
                <a:latin typeface="Montserrat"/>
                <a:ea typeface="Montserrat"/>
                <a:cs typeface="Montserrat"/>
                <a:sym typeface="Montserrat"/>
              </a:rPr>
              <a:t>Blackbook</a:t>
            </a:r>
            <a:r>
              <a:rPr b="0" i="0" lang="en" sz="700" u="none" cap="none" strike="noStrike">
                <a:solidFill>
                  <a:schemeClr val="dk1"/>
                </a:solidFill>
                <a:latin typeface="Montserrat"/>
                <a:ea typeface="Montserrat"/>
                <a:cs typeface="Montserrat"/>
                <a:sym typeface="Montserrat"/>
              </a:rPr>
              <a:t> for racing, and </a:t>
            </a:r>
            <a:r>
              <a:rPr b="1" i="0" lang="en" sz="700" u="none" cap="none" strike="noStrike">
                <a:solidFill>
                  <a:schemeClr val="dk1"/>
                </a:solidFill>
                <a:latin typeface="Montserrat"/>
                <a:ea typeface="Montserrat"/>
                <a:cs typeface="Montserrat"/>
                <a:sym typeface="Montserrat"/>
              </a:rPr>
              <a:t>Retail in-play</a:t>
            </a:r>
            <a:r>
              <a:rPr b="0" i="0" lang="en" sz="700" u="none" cap="none" strike="noStrike">
                <a:solidFill>
                  <a:schemeClr val="dk1"/>
                </a:solidFill>
                <a:latin typeface="Montserrat"/>
                <a:ea typeface="Montserrat"/>
                <a:cs typeface="Montserrat"/>
                <a:sym typeface="Montserrat"/>
              </a:rPr>
              <a:t> initiatives to boost engagement and custom experiences.</a:t>
            </a:r>
            <a:endParaRPr b="0" i="0" sz="700" u="none" cap="none" strike="noStrike">
              <a:solidFill>
                <a:schemeClr val="dk1"/>
              </a:solidFill>
              <a:latin typeface="Montserrat"/>
              <a:ea typeface="Montserrat"/>
              <a:cs typeface="Montserrat"/>
              <a:sym typeface="Montserrat"/>
            </a:endParaRPr>
          </a:p>
          <a:p>
            <a:pPr indent="0" lvl="0" marL="0" marR="0" rtl="0" algn="l">
              <a:lnSpc>
                <a:spcPct val="150000"/>
              </a:lnSpc>
              <a:spcBef>
                <a:spcPts val="900"/>
              </a:spcBef>
              <a:spcAft>
                <a:spcPts val="0"/>
              </a:spcAft>
              <a:buClr>
                <a:schemeClr val="dk1"/>
              </a:buClr>
              <a:buSzPts val="800"/>
              <a:buFont typeface="Arial"/>
              <a:buNone/>
            </a:pPr>
            <a:r>
              <a:t/>
            </a:r>
            <a:endParaRPr b="0" i="0" sz="700" u="none" cap="none" strike="noStrike">
              <a:solidFill>
                <a:schemeClr val="dk1"/>
              </a:solidFill>
              <a:latin typeface="Montserrat"/>
              <a:ea typeface="Montserrat"/>
              <a:cs typeface="Montserrat"/>
              <a:sym typeface="Montserrat"/>
            </a:endParaRPr>
          </a:p>
          <a:p>
            <a:pPr indent="0" lvl="0" marL="0" marR="0" rtl="0" algn="l">
              <a:lnSpc>
                <a:spcPct val="150000"/>
              </a:lnSpc>
              <a:spcBef>
                <a:spcPts val="0"/>
              </a:spcBef>
              <a:spcAft>
                <a:spcPts val="0"/>
              </a:spcAft>
              <a:buClr>
                <a:schemeClr val="dk1"/>
              </a:buClr>
              <a:buSzPts val="1100"/>
              <a:buFont typeface="Arial"/>
              <a:buNone/>
            </a:pPr>
            <a:r>
              <a:t/>
            </a:r>
            <a:endParaRPr b="0" i="0" sz="700" u="none" cap="none" strike="noStrike">
              <a:solidFill>
                <a:srgbClr val="434343"/>
              </a:solidFill>
              <a:latin typeface="Montserrat"/>
              <a:ea typeface="Montserrat"/>
              <a:cs typeface="Montserrat"/>
              <a:sym typeface="Montserrat"/>
            </a:endParaRPr>
          </a:p>
        </p:txBody>
      </p:sp>
      <p:sp>
        <p:nvSpPr>
          <p:cNvPr id="551" name="Google Shape;551;p24"/>
          <p:cNvSpPr/>
          <p:nvPr/>
        </p:nvSpPr>
        <p:spPr>
          <a:xfrm>
            <a:off x="6123225" y="763069"/>
            <a:ext cx="2232300" cy="267900"/>
          </a:xfrm>
          <a:prstGeom prst="rect">
            <a:avLst/>
          </a:prstGeom>
          <a:solidFill>
            <a:srgbClr val="5C72B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chemeClr val="lt1"/>
                </a:solidFill>
                <a:latin typeface="Montserrat"/>
                <a:ea typeface="Montserrat"/>
                <a:cs typeface="Montserrat"/>
                <a:sym typeface="Montserrat"/>
              </a:rPr>
              <a:t>   Australia </a:t>
            </a:r>
            <a:endParaRPr b="0" i="0" sz="1000" u="none" cap="none" strike="noStrike">
              <a:solidFill>
                <a:schemeClr val="lt1"/>
              </a:solidFill>
              <a:latin typeface="Montserrat"/>
              <a:ea typeface="Montserrat"/>
              <a:cs typeface="Montserrat"/>
              <a:sym typeface="Montserrat"/>
            </a:endParaRPr>
          </a:p>
        </p:txBody>
      </p:sp>
      <p:pic>
        <p:nvPicPr>
          <p:cNvPr id="552" name="Google Shape;552;p24"/>
          <p:cNvPicPr preferRelativeResize="0"/>
          <p:nvPr/>
        </p:nvPicPr>
        <p:blipFill rotWithShape="1">
          <a:blip r:embed="rId4">
            <a:alphaModFix/>
          </a:blip>
          <a:srcRect b="0" l="0" r="0" t="0"/>
          <a:stretch/>
        </p:blipFill>
        <p:spPr>
          <a:xfrm>
            <a:off x="309115" y="1314638"/>
            <a:ext cx="4862602" cy="2662069"/>
          </a:xfrm>
          <a:prstGeom prst="rect">
            <a:avLst/>
          </a:prstGeom>
          <a:noFill/>
          <a:ln>
            <a:noFill/>
          </a:ln>
        </p:spPr>
      </p:pic>
      <p:pic>
        <p:nvPicPr>
          <p:cNvPr id="553" name="Google Shape;553;p24"/>
          <p:cNvPicPr preferRelativeResize="0"/>
          <p:nvPr/>
        </p:nvPicPr>
        <p:blipFill rotWithShape="1">
          <a:blip r:embed="rId5">
            <a:alphaModFix/>
          </a:blip>
          <a:srcRect b="10521" l="6650" r="11154" t="4633"/>
          <a:stretch/>
        </p:blipFill>
        <p:spPr>
          <a:xfrm>
            <a:off x="851944" y="1443453"/>
            <a:ext cx="3776945" cy="1955583"/>
          </a:xfrm>
          <a:prstGeom prst="rect">
            <a:avLst/>
          </a:prstGeom>
          <a:noFill/>
          <a:ln>
            <a:noFill/>
          </a:ln>
        </p:spPr>
      </p:pic>
      <p:pic>
        <p:nvPicPr>
          <p:cNvPr id="554" name="Google Shape;554;p24"/>
          <p:cNvPicPr preferRelativeResize="0"/>
          <p:nvPr/>
        </p:nvPicPr>
        <p:blipFill rotWithShape="1">
          <a:blip r:embed="rId6">
            <a:alphaModFix/>
          </a:blip>
          <a:srcRect b="51129" l="0" r="0" t="0"/>
          <a:stretch/>
        </p:blipFill>
        <p:spPr>
          <a:xfrm>
            <a:off x="851951" y="1443450"/>
            <a:ext cx="3776933" cy="2202435"/>
          </a:xfrm>
          <a:prstGeom prst="rect">
            <a:avLst/>
          </a:prstGeom>
          <a:noFill/>
          <a:ln>
            <a:noFill/>
          </a:ln>
        </p:spPr>
      </p:pic>
      <p:pic>
        <p:nvPicPr>
          <p:cNvPr id="555" name="Google Shape;555;p24"/>
          <p:cNvPicPr preferRelativeResize="0"/>
          <p:nvPr/>
        </p:nvPicPr>
        <p:blipFill rotWithShape="1">
          <a:blip r:embed="rId7">
            <a:alphaModFix/>
          </a:blip>
          <a:srcRect b="0" l="0" r="0" t="0"/>
          <a:stretch/>
        </p:blipFill>
        <p:spPr>
          <a:xfrm>
            <a:off x="4213317" y="1131394"/>
            <a:ext cx="1400655" cy="2780532"/>
          </a:xfrm>
          <a:prstGeom prst="rect">
            <a:avLst/>
          </a:prstGeom>
          <a:noFill/>
          <a:ln>
            <a:noFill/>
          </a:ln>
        </p:spPr>
      </p:pic>
      <p:pic>
        <p:nvPicPr>
          <p:cNvPr id="556" name="Google Shape;556;p24"/>
          <p:cNvPicPr preferRelativeResize="0"/>
          <p:nvPr/>
        </p:nvPicPr>
        <p:blipFill rotWithShape="1">
          <a:blip r:embed="rId8">
            <a:alphaModFix/>
          </a:blip>
          <a:srcRect b="0" l="0" r="0" t="0"/>
          <a:stretch/>
        </p:blipFill>
        <p:spPr>
          <a:xfrm>
            <a:off x="4298073" y="1209199"/>
            <a:ext cx="1236900" cy="2565600"/>
          </a:xfrm>
          <a:prstGeom prst="round2SameRect">
            <a:avLst>
              <a:gd fmla="val 10615" name="adj1"/>
              <a:gd fmla="val 0" name="adj2"/>
            </a:avLst>
          </a:prstGeom>
          <a:noFill/>
          <a:ln>
            <a:noFill/>
          </a:ln>
        </p:spPr>
      </p:pic>
      <p:pic>
        <p:nvPicPr>
          <p:cNvPr id="557" name="Google Shape;557;p24"/>
          <p:cNvPicPr preferRelativeResize="0"/>
          <p:nvPr/>
        </p:nvPicPr>
        <p:blipFill rotWithShape="1">
          <a:blip r:embed="rId9">
            <a:alphaModFix/>
          </a:blip>
          <a:srcRect b="0" l="0" r="0" t="0"/>
          <a:stretch/>
        </p:blipFill>
        <p:spPr>
          <a:xfrm>
            <a:off x="207877" y="179550"/>
            <a:ext cx="1531468" cy="286200"/>
          </a:xfrm>
          <a:prstGeom prst="rect">
            <a:avLst/>
          </a:prstGeom>
          <a:noFill/>
          <a:ln>
            <a:noFill/>
          </a:ln>
        </p:spPr>
      </p:pic>
      <p:pic>
        <p:nvPicPr>
          <p:cNvPr descr="TTN Logo.png" id="558" name="Google Shape;558;p24"/>
          <p:cNvPicPr preferRelativeResize="0"/>
          <p:nvPr/>
        </p:nvPicPr>
        <p:blipFill rotWithShape="1">
          <a:blip r:embed="rId10">
            <a:alphaModFix/>
          </a:blip>
          <a:srcRect b="0" l="0" r="0" t="0"/>
          <a:stretch/>
        </p:blipFill>
        <p:spPr>
          <a:xfrm>
            <a:off x="8414781" y="117828"/>
            <a:ext cx="625544" cy="349439"/>
          </a:xfrm>
          <a:prstGeom prst="rect">
            <a:avLst/>
          </a:prstGeom>
          <a:noFill/>
          <a:ln>
            <a:noFill/>
          </a:ln>
        </p:spPr>
      </p:pic>
      <p:sp>
        <p:nvSpPr>
          <p:cNvPr id="559" name="Google Shape;559;p24"/>
          <p:cNvSpPr txBox="1"/>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800"/>
              <a:buFont typeface="Arial"/>
              <a:buNone/>
            </a:pPr>
            <a:fld id="{00000000-1234-1234-1234-123412341234}" type="slidenum">
              <a:rPr b="0" i="0" lang="en" sz="800" u="none" cap="none" strike="noStrike">
                <a:solidFill>
                  <a:srgbClr val="000000"/>
                </a:solidFill>
                <a:latin typeface="Montserrat"/>
                <a:ea typeface="Montserrat"/>
                <a:cs typeface="Montserrat"/>
                <a:sym typeface="Montserrat"/>
              </a:rPr>
              <a:t>‹#›</a:t>
            </a:fld>
            <a:endParaRPr b="0" i="0" sz="800" u="none" cap="none" strike="noStrike">
              <a:solidFill>
                <a:srgbClr val="000000"/>
              </a:solidFill>
              <a:latin typeface="Montserrat"/>
              <a:ea typeface="Montserrat"/>
              <a:cs typeface="Montserrat"/>
              <a:sym typeface="Montserrat"/>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63" name="Shape 563"/>
        <p:cNvGrpSpPr/>
        <p:nvPr/>
      </p:nvGrpSpPr>
      <p:grpSpPr>
        <a:xfrm>
          <a:off x="0" y="0"/>
          <a:ext cx="0" cy="0"/>
          <a:chOff x="0" y="0"/>
          <a:chExt cx="0" cy="0"/>
        </a:xfrm>
      </p:grpSpPr>
      <p:sp>
        <p:nvSpPr>
          <p:cNvPr id="564" name="Google Shape;564;p25"/>
          <p:cNvSpPr/>
          <p:nvPr/>
        </p:nvSpPr>
        <p:spPr>
          <a:xfrm>
            <a:off x="0" y="144000"/>
            <a:ext cx="47400" cy="357300"/>
          </a:xfrm>
          <a:prstGeom prst="rect">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5" name="Google Shape;565;p25"/>
          <p:cNvSpPr txBox="1"/>
          <p:nvPr/>
        </p:nvSpPr>
        <p:spPr>
          <a:xfrm>
            <a:off x="6221063" y="1127906"/>
            <a:ext cx="2846400" cy="2014200"/>
          </a:xfrm>
          <a:prstGeom prst="rect">
            <a:avLst/>
          </a:prstGeom>
          <a:noFill/>
          <a:ln>
            <a:noFill/>
          </a:ln>
          <a:effectLst>
            <a:outerShdw blurRad="228600" rotWithShape="0" algn="bl" dir="5400000" dist="57150">
              <a:srgbClr val="000000">
                <a:alpha val="10980"/>
              </a:srgbClr>
            </a:outerShdw>
          </a:effectLst>
        </p:spPr>
        <p:txBody>
          <a:bodyPr anchorCtr="0" anchor="t" bIns="91425" lIns="91425" spcFirstLastPara="1" rIns="91425" wrap="square" tIns="91425">
            <a:noAutofit/>
          </a:bodyPr>
          <a:lstStyle/>
          <a:p>
            <a:pPr indent="0" lvl="0" marL="0" marR="0" rtl="0" algn="l">
              <a:lnSpc>
                <a:spcPct val="150000"/>
              </a:lnSpc>
              <a:spcBef>
                <a:spcPts val="0"/>
              </a:spcBef>
              <a:spcAft>
                <a:spcPts val="0"/>
              </a:spcAft>
              <a:buClr>
                <a:schemeClr val="dk1"/>
              </a:buClr>
              <a:buSzPts val="1100"/>
              <a:buFont typeface="Arial"/>
              <a:buNone/>
            </a:pPr>
            <a:r>
              <a:rPr b="0" i="0" lang="en" sz="900" u="none" cap="none" strike="noStrike">
                <a:solidFill>
                  <a:schemeClr val="dk1"/>
                </a:solidFill>
                <a:latin typeface="Montserrat"/>
                <a:ea typeface="Montserrat"/>
                <a:cs typeface="Montserrat"/>
                <a:sym typeface="Montserrat"/>
              </a:rPr>
              <a:t>TTN successfully </a:t>
            </a:r>
            <a:r>
              <a:rPr b="1" i="0" lang="en" sz="900" u="none" cap="none" strike="noStrike">
                <a:solidFill>
                  <a:schemeClr val="dk1"/>
                </a:solidFill>
                <a:latin typeface="Montserrat"/>
                <a:ea typeface="Montserrat"/>
                <a:cs typeface="Montserrat"/>
                <a:sym typeface="Montserrat"/>
              </a:rPr>
              <a:t>rebuilt</a:t>
            </a:r>
            <a:r>
              <a:rPr b="0" i="0" lang="en" sz="900" u="none" cap="none" strike="noStrike">
                <a:solidFill>
                  <a:schemeClr val="dk1"/>
                </a:solidFill>
                <a:latin typeface="Montserrat"/>
                <a:ea typeface="Montserrat"/>
                <a:cs typeface="Montserrat"/>
                <a:sym typeface="Montserrat"/>
              </a:rPr>
              <a:t> the entire </a:t>
            </a:r>
            <a:r>
              <a:rPr b="1" i="0" lang="en" sz="900" u="none" cap="none" strike="noStrike">
                <a:solidFill>
                  <a:schemeClr val="dk1"/>
                </a:solidFill>
                <a:latin typeface="Montserrat"/>
                <a:ea typeface="Montserrat"/>
                <a:cs typeface="Montserrat"/>
                <a:sym typeface="Montserrat"/>
              </a:rPr>
              <a:t>Sky</a:t>
            </a:r>
            <a:r>
              <a:rPr b="0" i="0" lang="en" sz="900" u="none" cap="none" strike="noStrike">
                <a:solidFill>
                  <a:schemeClr val="dk1"/>
                </a:solidFill>
                <a:latin typeface="Montserrat"/>
                <a:ea typeface="Montserrat"/>
                <a:cs typeface="Montserrat"/>
                <a:sym typeface="Montserrat"/>
              </a:rPr>
              <a:t> </a:t>
            </a:r>
            <a:r>
              <a:rPr b="1" i="0" lang="en" sz="900" u="none" cap="none" strike="noStrike">
                <a:solidFill>
                  <a:schemeClr val="dk1"/>
                </a:solidFill>
                <a:latin typeface="Montserrat"/>
                <a:ea typeface="Montserrat"/>
                <a:cs typeface="Montserrat"/>
                <a:sym typeface="Montserrat"/>
              </a:rPr>
              <a:t>Racing Website</a:t>
            </a:r>
            <a:r>
              <a:rPr b="0" i="0" lang="en" sz="900" u="none" cap="none" strike="noStrike">
                <a:solidFill>
                  <a:schemeClr val="dk1"/>
                </a:solidFill>
                <a:latin typeface="Montserrat"/>
                <a:ea typeface="Montserrat"/>
                <a:cs typeface="Montserrat"/>
                <a:sym typeface="Montserrat"/>
              </a:rPr>
              <a:t>, optimised for SEO, and implemented a microservices-based architecture that is highly resilient and scalable, hosted on AWS. </a:t>
            </a:r>
            <a:br>
              <a:rPr b="0" i="0" lang="en" sz="900" u="none" cap="none" strike="noStrike">
                <a:solidFill>
                  <a:schemeClr val="dk1"/>
                </a:solidFill>
                <a:latin typeface="Montserrat"/>
                <a:ea typeface="Montserrat"/>
                <a:cs typeface="Montserrat"/>
                <a:sym typeface="Montserrat"/>
              </a:rPr>
            </a:br>
            <a:br>
              <a:rPr b="0" i="0" lang="en" sz="900" u="none" cap="none" strike="noStrike">
                <a:solidFill>
                  <a:schemeClr val="dk1"/>
                </a:solidFill>
                <a:latin typeface="Montserrat"/>
                <a:ea typeface="Montserrat"/>
                <a:cs typeface="Montserrat"/>
                <a:sym typeface="Montserrat"/>
              </a:rPr>
            </a:br>
            <a:r>
              <a:rPr b="0" i="0" lang="en" sz="900" u="none" cap="none" strike="noStrike">
                <a:solidFill>
                  <a:schemeClr val="dk1"/>
                </a:solidFill>
                <a:latin typeface="Montserrat"/>
                <a:ea typeface="Montserrat"/>
                <a:cs typeface="Montserrat"/>
                <a:sym typeface="Montserrat"/>
              </a:rPr>
              <a:t>In addition to enhancing core digital properties, </a:t>
            </a:r>
            <a:r>
              <a:rPr b="1" i="0" lang="en" sz="900" u="none" cap="none" strike="noStrike">
                <a:solidFill>
                  <a:schemeClr val="dk1"/>
                </a:solidFill>
                <a:latin typeface="Montserrat"/>
                <a:ea typeface="Montserrat"/>
                <a:cs typeface="Montserrat"/>
                <a:sym typeface="Montserrat"/>
              </a:rPr>
              <a:t>TTN streamlined content curation</a:t>
            </a:r>
            <a:r>
              <a:rPr b="0" i="0" lang="en" sz="900" u="none" cap="none" strike="noStrike">
                <a:solidFill>
                  <a:schemeClr val="dk1"/>
                </a:solidFill>
                <a:latin typeface="Montserrat"/>
                <a:ea typeface="Montserrat"/>
                <a:cs typeface="Montserrat"/>
                <a:sym typeface="Montserrat"/>
              </a:rPr>
              <a:t> through a</a:t>
            </a:r>
            <a:r>
              <a:rPr b="1" i="0" lang="en" sz="900" u="none" cap="none" strike="noStrike">
                <a:solidFill>
                  <a:schemeClr val="dk1"/>
                </a:solidFill>
                <a:latin typeface="Montserrat"/>
                <a:ea typeface="Montserrat"/>
                <a:cs typeface="Montserrat"/>
                <a:sym typeface="Montserrat"/>
              </a:rPr>
              <a:t> custom-built CMS</a:t>
            </a:r>
            <a:r>
              <a:rPr b="0" i="0" lang="en" sz="900" u="none" cap="none" strike="noStrike">
                <a:solidFill>
                  <a:schemeClr val="dk1"/>
                </a:solidFill>
                <a:latin typeface="Montserrat"/>
                <a:ea typeface="Montserrat"/>
                <a:cs typeface="Montserrat"/>
                <a:sym typeface="Montserrat"/>
              </a:rPr>
              <a:t>, enabling auto and personalised playlists based on</a:t>
            </a:r>
            <a:r>
              <a:rPr b="1" i="0" lang="en" sz="900" u="none" cap="none" strike="noStrike">
                <a:solidFill>
                  <a:schemeClr val="dk1"/>
                </a:solidFill>
                <a:latin typeface="Montserrat"/>
                <a:ea typeface="Montserrat"/>
                <a:cs typeface="Montserrat"/>
                <a:sym typeface="Montserrat"/>
              </a:rPr>
              <a:t> user preferences</a:t>
            </a:r>
            <a:r>
              <a:rPr b="0" i="0" lang="en" sz="900" u="none" cap="none" strike="noStrike">
                <a:solidFill>
                  <a:schemeClr val="dk1"/>
                </a:solidFill>
                <a:latin typeface="Montserrat"/>
                <a:ea typeface="Montserrat"/>
                <a:cs typeface="Montserrat"/>
                <a:sym typeface="Montserrat"/>
              </a:rPr>
              <a:t>, which significantly improved </a:t>
            </a:r>
            <a:r>
              <a:rPr b="1" i="0" lang="en" sz="900" u="none" cap="none" strike="noStrike">
                <a:solidFill>
                  <a:schemeClr val="dk1"/>
                </a:solidFill>
                <a:latin typeface="Montserrat"/>
                <a:ea typeface="Montserrat"/>
                <a:cs typeface="Montserrat"/>
                <a:sym typeface="Montserrat"/>
              </a:rPr>
              <a:t>operational efficiency.</a:t>
            </a:r>
            <a:r>
              <a:rPr b="0" i="0" lang="en" sz="900" u="none" cap="none" strike="noStrike">
                <a:solidFill>
                  <a:schemeClr val="dk1"/>
                </a:solidFill>
                <a:latin typeface="Montserrat"/>
                <a:ea typeface="Montserrat"/>
                <a:cs typeface="Montserrat"/>
                <a:sym typeface="Montserrat"/>
              </a:rPr>
              <a:t> </a:t>
            </a:r>
            <a:br>
              <a:rPr b="0" i="0" lang="en" sz="900" u="none" cap="none" strike="noStrike">
                <a:solidFill>
                  <a:schemeClr val="dk1"/>
                </a:solidFill>
                <a:latin typeface="Montserrat"/>
                <a:ea typeface="Montserrat"/>
                <a:cs typeface="Montserrat"/>
                <a:sym typeface="Montserrat"/>
              </a:rPr>
            </a:br>
            <a:br>
              <a:rPr b="0" i="0" lang="en" sz="900" u="none" cap="none" strike="noStrike">
                <a:solidFill>
                  <a:schemeClr val="dk1"/>
                </a:solidFill>
                <a:latin typeface="Montserrat"/>
                <a:ea typeface="Montserrat"/>
                <a:cs typeface="Montserrat"/>
                <a:sym typeface="Montserrat"/>
              </a:rPr>
            </a:br>
            <a:r>
              <a:rPr b="0" i="0" lang="en" sz="900" u="none" cap="none" strike="noStrike">
                <a:solidFill>
                  <a:schemeClr val="dk1"/>
                </a:solidFill>
                <a:latin typeface="Montserrat"/>
                <a:ea typeface="Montserrat"/>
                <a:cs typeface="Montserrat"/>
                <a:sym typeface="Montserrat"/>
              </a:rPr>
              <a:t>The platform features live </a:t>
            </a:r>
            <a:r>
              <a:rPr b="1" i="0" lang="en" sz="900" u="none" cap="none" strike="noStrike">
                <a:solidFill>
                  <a:schemeClr val="dk1"/>
                </a:solidFill>
                <a:latin typeface="Montserrat"/>
                <a:ea typeface="Montserrat"/>
                <a:cs typeface="Montserrat"/>
                <a:sym typeface="Montserrat"/>
              </a:rPr>
              <a:t>race streaming and VOD content</a:t>
            </a:r>
            <a:r>
              <a:rPr b="0" i="0" lang="en" sz="900" u="none" cap="none" strike="noStrike">
                <a:solidFill>
                  <a:schemeClr val="dk1"/>
                </a:solidFill>
                <a:latin typeface="Montserrat"/>
                <a:ea typeface="Montserrat"/>
                <a:cs typeface="Montserrat"/>
                <a:sym typeface="Montserrat"/>
              </a:rPr>
              <a:t>, leveraging a comprehensive technology stack that includes Kotlin, Swift, Java, MongoDB, Spring Boot, and more.</a:t>
            </a:r>
            <a:endParaRPr b="1" i="0" sz="900" u="none" cap="none" strike="noStrike">
              <a:solidFill>
                <a:srgbClr val="D9187F"/>
              </a:solidFill>
              <a:latin typeface="Montserrat"/>
              <a:ea typeface="Montserrat"/>
              <a:cs typeface="Montserrat"/>
              <a:sym typeface="Montserrat"/>
            </a:endParaRPr>
          </a:p>
        </p:txBody>
      </p:sp>
      <p:pic>
        <p:nvPicPr>
          <p:cNvPr id="566" name="Google Shape;566;p25"/>
          <p:cNvPicPr preferRelativeResize="0"/>
          <p:nvPr/>
        </p:nvPicPr>
        <p:blipFill rotWithShape="1">
          <a:blip r:embed="rId4">
            <a:alphaModFix/>
          </a:blip>
          <a:srcRect b="0" l="0" r="0" t="0"/>
          <a:stretch/>
        </p:blipFill>
        <p:spPr>
          <a:xfrm>
            <a:off x="182896" y="156319"/>
            <a:ext cx="612506" cy="510431"/>
          </a:xfrm>
          <a:prstGeom prst="rect">
            <a:avLst/>
          </a:prstGeom>
          <a:noFill/>
          <a:ln>
            <a:noFill/>
          </a:ln>
        </p:spPr>
      </p:pic>
      <p:sp>
        <p:nvSpPr>
          <p:cNvPr id="567" name="Google Shape;567;p25"/>
          <p:cNvSpPr/>
          <p:nvPr/>
        </p:nvSpPr>
        <p:spPr>
          <a:xfrm>
            <a:off x="6123225" y="763069"/>
            <a:ext cx="2232300" cy="267900"/>
          </a:xfrm>
          <a:prstGeom prst="rect">
            <a:avLst/>
          </a:prstGeom>
          <a:solidFill>
            <a:srgbClr val="5C72B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chemeClr val="lt1"/>
                </a:solidFill>
                <a:latin typeface="Montserrat"/>
                <a:ea typeface="Montserrat"/>
                <a:cs typeface="Montserrat"/>
                <a:sym typeface="Montserrat"/>
              </a:rPr>
              <a:t>   Australia </a:t>
            </a:r>
            <a:endParaRPr b="0" i="0" sz="1000" u="none" cap="none" strike="noStrike">
              <a:solidFill>
                <a:schemeClr val="lt1"/>
              </a:solidFill>
              <a:latin typeface="Montserrat"/>
              <a:ea typeface="Montserrat"/>
              <a:cs typeface="Montserrat"/>
              <a:sym typeface="Montserrat"/>
            </a:endParaRPr>
          </a:p>
        </p:txBody>
      </p:sp>
      <p:pic>
        <p:nvPicPr>
          <p:cNvPr id="568" name="Google Shape;568;p25"/>
          <p:cNvPicPr preferRelativeResize="0"/>
          <p:nvPr/>
        </p:nvPicPr>
        <p:blipFill rotWithShape="1">
          <a:blip r:embed="rId5">
            <a:alphaModFix/>
          </a:blip>
          <a:srcRect b="0" l="0" r="0" t="0"/>
          <a:stretch/>
        </p:blipFill>
        <p:spPr>
          <a:xfrm>
            <a:off x="309115" y="1314638"/>
            <a:ext cx="4862602" cy="2662069"/>
          </a:xfrm>
          <a:prstGeom prst="rect">
            <a:avLst/>
          </a:prstGeom>
          <a:noFill/>
          <a:ln>
            <a:noFill/>
          </a:ln>
        </p:spPr>
      </p:pic>
      <p:pic>
        <p:nvPicPr>
          <p:cNvPr id="569" name="Google Shape;569;p25"/>
          <p:cNvPicPr preferRelativeResize="0"/>
          <p:nvPr/>
        </p:nvPicPr>
        <p:blipFill rotWithShape="1">
          <a:blip r:embed="rId6">
            <a:alphaModFix/>
          </a:blip>
          <a:srcRect b="10521" l="6650" r="11154" t="4633"/>
          <a:stretch/>
        </p:blipFill>
        <p:spPr>
          <a:xfrm>
            <a:off x="851944" y="1443453"/>
            <a:ext cx="3776945" cy="1955583"/>
          </a:xfrm>
          <a:prstGeom prst="rect">
            <a:avLst/>
          </a:prstGeom>
          <a:noFill/>
          <a:ln>
            <a:noFill/>
          </a:ln>
        </p:spPr>
      </p:pic>
      <p:pic>
        <p:nvPicPr>
          <p:cNvPr id="570" name="Google Shape;570;p25"/>
          <p:cNvPicPr preferRelativeResize="0"/>
          <p:nvPr/>
        </p:nvPicPr>
        <p:blipFill rotWithShape="1">
          <a:blip r:embed="rId7">
            <a:alphaModFix/>
          </a:blip>
          <a:srcRect b="0" l="0" r="0" t="0"/>
          <a:stretch/>
        </p:blipFill>
        <p:spPr>
          <a:xfrm>
            <a:off x="4213317" y="1131394"/>
            <a:ext cx="1400655" cy="2780532"/>
          </a:xfrm>
          <a:prstGeom prst="rect">
            <a:avLst/>
          </a:prstGeom>
          <a:noFill/>
          <a:ln>
            <a:noFill/>
          </a:ln>
        </p:spPr>
      </p:pic>
      <p:pic>
        <p:nvPicPr>
          <p:cNvPr id="571" name="Google Shape;571;p25"/>
          <p:cNvPicPr preferRelativeResize="0"/>
          <p:nvPr/>
        </p:nvPicPr>
        <p:blipFill rotWithShape="1">
          <a:blip r:embed="rId8">
            <a:alphaModFix/>
          </a:blip>
          <a:srcRect b="0" l="0" r="0" t="0"/>
          <a:stretch/>
        </p:blipFill>
        <p:spPr>
          <a:xfrm>
            <a:off x="4298073" y="1209199"/>
            <a:ext cx="1236900" cy="2565600"/>
          </a:xfrm>
          <a:prstGeom prst="round2SameRect">
            <a:avLst>
              <a:gd fmla="val 10615" name="adj1"/>
              <a:gd fmla="val 0" name="adj2"/>
            </a:avLst>
          </a:prstGeom>
          <a:noFill/>
          <a:ln>
            <a:noFill/>
          </a:ln>
        </p:spPr>
      </p:pic>
      <p:pic>
        <p:nvPicPr>
          <p:cNvPr id="572" name="Google Shape;572;p25"/>
          <p:cNvPicPr preferRelativeResize="0"/>
          <p:nvPr/>
        </p:nvPicPr>
        <p:blipFill rotWithShape="1">
          <a:blip r:embed="rId9">
            <a:alphaModFix/>
          </a:blip>
          <a:srcRect b="14288" l="0" r="0" t="0"/>
          <a:stretch/>
        </p:blipFill>
        <p:spPr>
          <a:xfrm>
            <a:off x="851951" y="1443450"/>
            <a:ext cx="3361367" cy="2148149"/>
          </a:xfrm>
          <a:prstGeom prst="rect">
            <a:avLst/>
          </a:prstGeom>
          <a:noFill/>
          <a:ln>
            <a:noFill/>
          </a:ln>
        </p:spPr>
      </p:pic>
      <p:pic>
        <p:nvPicPr>
          <p:cNvPr id="573" name="Google Shape;573;p25"/>
          <p:cNvPicPr preferRelativeResize="0"/>
          <p:nvPr/>
        </p:nvPicPr>
        <p:blipFill rotWithShape="1">
          <a:blip r:embed="rId10">
            <a:alphaModFix/>
          </a:blip>
          <a:srcRect b="0" l="0" r="0" t="0"/>
          <a:stretch/>
        </p:blipFill>
        <p:spPr>
          <a:xfrm>
            <a:off x="4298069" y="1177687"/>
            <a:ext cx="1236900" cy="2597100"/>
          </a:xfrm>
          <a:prstGeom prst="round2SameRect">
            <a:avLst>
              <a:gd fmla="val 13849" name="adj1"/>
              <a:gd fmla="val 0" name="adj2"/>
            </a:avLst>
          </a:prstGeom>
          <a:noFill/>
          <a:ln>
            <a:noFill/>
          </a:ln>
        </p:spPr>
      </p:pic>
      <p:pic>
        <p:nvPicPr>
          <p:cNvPr descr="TTN Logo.png" id="574" name="Google Shape;574;p25"/>
          <p:cNvPicPr preferRelativeResize="0"/>
          <p:nvPr/>
        </p:nvPicPr>
        <p:blipFill rotWithShape="1">
          <a:blip r:embed="rId11">
            <a:alphaModFix/>
          </a:blip>
          <a:srcRect b="0" l="0" r="0" t="0"/>
          <a:stretch/>
        </p:blipFill>
        <p:spPr>
          <a:xfrm>
            <a:off x="8414781" y="117828"/>
            <a:ext cx="625544" cy="349439"/>
          </a:xfrm>
          <a:prstGeom prst="rect">
            <a:avLst/>
          </a:prstGeom>
          <a:noFill/>
          <a:ln>
            <a:noFill/>
          </a:ln>
        </p:spPr>
      </p:pic>
      <p:sp>
        <p:nvSpPr>
          <p:cNvPr id="575" name="Google Shape;575;p25"/>
          <p:cNvSpPr txBox="1"/>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800"/>
              <a:buFont typeface="Arial"/>
              <a:buNone/>
            </a:pPr>
            <a:fld id="{00000000-1234-1234-1234-123412341234}" type="slidenum">
              <a:rPr b="0" i="0" lang="en" sz="800" u="none" cap="none" strike="noStrike">
                <a:solidFill>
                  <a:srgbClr val="000000"/>
                </a:solidFill>
                <a:latin typeface="Montserrat"/>
                <a:ea typeface="Montserrat"/>
                <a:cs typeface="Montserrat"/>
                <a:sym typeface="Montserrat"/>
              </a:rPr>
              <a:t>‹#›</a:t>
            </a:fld>
            <a:endParaRPr b="0" i="0" sz="800" u="none" cap="none" strike="noStrike">
              <a:solidFill>
                <a:srgbClr val="000000"/>
              </a:solidFill>
              <a:latin typeface="Montserrat"/>
              <a:ea typeface="Montserrat"/>
              <a:cs typeface="Montserrat"/>
              <a:sym typeface="Montserrat"/>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79" name="Shape 579"/>
        <p:cNvGrpSpPr/>
        <p:nvPr/>
      </p:nvGrpSpPr>
      <p:grpSpPr>
        <a:xfrm>
          <a:off x="0" y="0"/>
          <a:ext cx="0" cy="0"/>
          <a:chOff x="0" y="0"/>
          <a:chExt cx="0" cy="0"/>
        </a:xfrm>
      </p:grpSpPr>
      <p:sp>
        <p:nvSpPr>
          <p:cNvPr id="580" name="Google Shape;580;p26"/>
          <p:cNvSpPr/>
          <p:nvPr/>
        </p:nvSpPr>
        <p:spPr>
          <a:xfrm>
            <a:off x="0" y="144000"/>
            <a:ext cx="47400" cy="357300"/>
          </a:xfrm>
          <a:prstGeom prst="rect">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1" name="Google Shape;581;p26"/>
          <p:cNvSpPr txBox="1"/>
          <p:nvPr/>
        </p:nvSpPr>
        <p:spPr>
          <a:xfrm>
            <a:off x="6221063" y="1127906"/>
            <a:ext cx="2846400" cy="2014200"/>
          </a:xfrm>
          <a:prstGeom prst="rect">
            <a:avLst/>
          </a:prstGeom>
          <a:noFill/>
          <a:ln>
            <a:noFill/>
          </a:ln>
          <a:effectLst>
            <a:outerShdw blurRad="228600" rotWithShape="0" algn="bl" dir="5400000" dist="57150">
              <a:srgbClr val="000000">
                <a:alpha val="10980"/>
              </a:srgbClr>
            </a:outerShdw>
          </a:effectLst>
        </p:spPr>
        <p:txBody>
          <a:bodyPr anchorCtr="0" anchor="t" bIns="91425" lIns="91425" spcFirstLastPara="1" rIns="91425" wrap="square" tIns="91425">
            <a:noAutofit/>
          </a:bodyPr>
          <a:lstStyle/>
          <a:p>
            <a:pPr indent="0" lvl="0" marL="0" marR="0" rtl="0" algn="l">
              <a:lnSpc>
                <a:spcPct val="115000"/>
              </a:lnSpc>
              <a:spcBef>
                <a:spcPts val="1200"/>
              </a:spcBef>
              <a:spcAft>
                <a:spcPts val="0"/>
              </a:spcAft>
              <a:buClr>
                <a:schemeClr val="dk1"/>
              </a:buClr>
              <a:buSzPts val="1100"/>
              <a:buFont typeface="Arial"/>
              <a:buNone/>
            </a:pPr>
            <a:r>
              <a:rPr b="0" i="0" lang="en" sz="900" u="none" cap="none" strike="noStrike">
                <a:solidFill>
                  <a:schemeClr val="dk1"/>
                </a:solidFill>
                <a:latin typeface="Montserrat"/>
                <a:ea typeface="Montserrat"/>
                <a:cs typeface="Montserrat"/>
                <a:sym typeface="Montserrat"/>
              </a:rPr>
              <a:t>Tata Play partnered with us to reimagine their digital platforms - bringing innovation to both entertainment and customer self-service.</a:t>
            </a:r>
            <a:endParaRPr b="0" i="0" sz="900" u="none" cap="none" strike="noStrike">
              <a:solidFill>
                <a:schemeClr val="dk1"/>
              </a:solidFill>
              <a:latin typeface="Montserrat"/>
              <a:ea typeface="Montserrat"/>
              <a:cs typeface="Montserrat"/>
              <a:sym typeface="Montserrat"/>
            </a:endParaRPr>
          </a:p>
          <a:p>
            <a:pPr indent="0" lvl="0" marL="0" marR="0" rtl="0" algn="l">
              <a:lnSpc>
                <a:spcPct val="115000"/>
              </a:lnSpc>
              <a:spcBef>
                <a:spcPts val="1200"/>
              </a:spcBef>
              <a:spcAft>
                <a:spcPts val="0"/>
              </a:spcAft>
              <a:buClr>
                <a:schemeClr val="dk1"/>
              </a:buClr>
              <a:buSzPts val="1100"/>
              <a:buFont typeface="Arial"/>
              <a:buNone/>
            </a:pPr>
            <a:r>
              <a:rPr b="0" i="0" lang="en" sz="900" u="none" cap="none" strike="noStrike">
                <a:solidFill>
                  <a:schemeClr val="dk1"/>
                </a:solidFill>
                <a:latin typeface="Montserrat"/>
                <a:ea typeface="Montserrat"/>
                <a:cs typeface="Montserrat"/>
                <a:sym typeface="Montserrat"/>
              </a:rPr>
              <a:t>We engineered a secure OTT solution featuring </a:t>
            </a:r>
            <a:r>
              <a:rPr b="1" i="0" lang="en" sz="900" u="none" cap="none" strike="noStrike">
                <a:solidFill>
                  <a:schemeClr val="dk1"/>
                </a:solidFill>
                <a:latin typeface="Montserrat"/>
                <a:ea typeface="Montserrat"/>
                <a:cs typeface="Montserrat"/>
                <a:sym typeface="Montserrat"/>
              </a:rPr>
              <a:t>Live TV</a:t>
            </a:r>
            <a:r>
              <a:rPr b="0" i="0" lang="en" sz="900" u="none" cap="none" strike="noStrike">
                <a:solidFill>
                  <a:schemeClr val="dk1"/>
                </a:solidFill>
                <a:latin typeface="Montserrat"/>
                <a:ea typeface="Montserrat"/>
                <a:cs typeface="Montserrat"/>
                <a:sym typeface="Montserrat"/>
              </a:rPr>
              <a:t>, </a:t>
            </a:r>
            <a:r>
              <a:rPr b="1" i="0" lang="en" sz="900" u="none" cap="none" strike="noStrike">
                <a:solidFill>
                  <a:schemeClr val="dk1"/>
                </a:solidFill>
                <a:latin typeface="Montserrat"/>
                <a:ea typeface="Montserrat"/>
                <a:cs typeface="Montserrat"/>
                <a:sym typeface="Montserrat"/>
              </a:rPr>
              <a:t>VoD</a:t>
            </a:r>
            <a:r>
              <a:rPr b="0" i="0" lang="en" sz="900" u="none" cap="none" strike="noStrike">
                <a:solidFill>
                  <a:schemeClr val="dk1"/>
                </a:solidFill>
                <a:latin typeface="Montserrat"/>
                <a:ea typeface="Montserrat"/>
                <a:cs typeface="Montserrat"/>
                <a:sym typeface="Montserrat"/>
              </a:rPr>
              <a:t>, </a:t>
            </a:r>
            <a:r>
              <a:rPr b="1" i="0" lang="en" sz="900" u="none" cap="none" strike="noStrike">
                <a:solidFill>
                  <a:schemeClr val="dk1"/>
                </a:solidFill>
                <a:latin typeface="Montserrat"/>
                <a:ea typeface="Montserrat"/>
                <a:cs typeface="Montserrat"/>
                <a:sym typeface="Montserrat"/>
              </a:rPr>
              <a:t>DRM integration</a:t>
            </a:r>
            <a:r>
              <a:rPr b="0" i="0" lang="en" sz="900" u="none" cap="none" strike="noStrike">
                <a:solidFill>
                  <a:schemeClr val="dk1"/>
                </a:solidFill>
                <a:latin typeface="Montserrat"/>
                <a:ea typeface="Montserrat"/>
                <a:cs typeface="Montserrat"/>
                <a:sym typeface="Montserrat"/>
              </a:rPr>
              <a:t>, and user-friendly tools like </a:t>
            </a:r>
            <a:r>
              <a:rPr b="1" i="0" lang="en" sz="900" u="none" cap="none" strike="noStrike">
                <a:solidFill>
                  <a:schemeClr val="dk1"/>
                </a:solidFill>
                <a:latin typeface="Montserrat"/>
                <a:ea typeface="Montserrat"/>
                <a:cs typeface="Montserrat"/>
                <a:sym typeface="Montserrat"/>
              </a:rPr>
              <a:t>remote recording</a:t>
            </a:r>
            <a:r>
              <a:rPr b="0" i="0" lang="en" sz="900" u="none" cap="none" strike="noStrike">
                <a:solidFill>
                  <a:schemeClr val="dk1"/>
                </a:solidFill>
                <a:latin typeface="Montserrat"/>
                <a:ea typeface="Montserrat"/>
                <a:cs typeface="Montserrat"/>
                <a:sym typeface="Montserrat"/>
              </a:rPr>
              <a:t> and </a:t>
            </a:r>
            <a:r>
              <a:rPr b="1" i="0" lang="en" sz="900" u="none" cap="none" strike="noStrike">
                <a:solidFill>
                  <a:schemeClr val="dk1"/>
                </a:solidFill>
                <a:latin typeface="Montserrat"/>
                <a:ea typeface="Montserrat"/>
                <a:cs typeface="Montserrat"/>
                <a:sym typeface="Montserrat"/>
              </a:rPr>
              <a:t>rich analytics</a:t>
            </a:r>
            <a:r>
              <a:rPr b="0" i="0" lang="en" sz="900" u="none" cap="none" strike="noStrike">
                <a:solidFill>
                  <a:schemeClr val="dk1"/>
                </a:solidFill>
                <a:latin typeface="Montserrat"/>
                <a:ea typeface="Montserrat"/>
                <a:cs typeface="Montserrat"/>
                <a:sym typeface="Montserrat"/>
              </a:rPr>
              <a:t>. In parallel, we developed a </a:t>
            </a:r>
            <a:r>
              <a:rPr b="1" i="0" lang="en" sz="900" u="none" cap="none" strike="noStrike">
                <a:solidFill>
                  <a:schemeClr val="dk1"/>
                </a:solidFill>
                <a:latin typeface="Montserrat"/>
                <a:ea typeface="Montserrat"/>
                <a:cs typeface="Montserrat"/>
                <a:sym typeface="Montserrat"/>
              </a:rPr>
              <a:t>React Native-based Self-Care app</a:t>
            </a:r>
            <a:r>
              <a:rPr b="0" i="0" lang="en" sz="900" u="none" cap="none" strike="noStrike">
                <a:solidFill>
                  <a:schemeClr val="dk1"/>
                </a:solidFill>
                <a:latin typeface="Montserrat"/>
                <a:ea typeface="Montserrat"/>
                <a:cs typeface="Montserrat"/>
                <a:sym typeface="Montserrat"/>
              </a:rPr>
              <a:t> with a </a:t>
            </a:r>
            <a:r>
              <a:rPr b="1" i="0" lang="en" sz="900" u="none" cap="none" strike="noStrike">
                <a:solidFill>
                  <a:schemeClr val="dk1"/>
                </a:solidFill>
                <a:latin typeface="Montserrat"/>
                <a:ea typeface="Montserrat"/>
                <a:cs typeface="Montserrat"/>
                <a:sym typeface="Montserrat"/>
              </a:rPr>
              <a:t>unified Android/iOS codebase</a:t>
            </a:r>
            <a:r>
              <a:rPr b="0" i="0" lang="en" sz="900" u="none" cap="none" strike="noStrike">
                <a:solidFill>
                  <a:schemeClr val="dk1"/>
                </a:solidFill>
                <a:latin typeface="Montserrat"/>
                <a:ea typeface="Montserrat"/>
                <a:cs typeface="Montserrat"/>
                <a:sym typeface="Montserrat"/>
              </a:rPr>
              <a:t>, enabling faster releases and seamless </a:t>
            </a:r>
            <a:r>
              <a:rPr b="1" i="0" lang="en" sz="900" u="none" cap="none" strike="noStrike">
                <a:solidFill>
                  <a:schemeClr val="dk1"/>
                </a:solidFill>
                <a:latin typeface="Montserrat"/>
                <a:ea typeface="Montserrat"/>
                <a:cs typeface="Montserrat"/>
                <a:sym typeface="Montserrat"/>
              </a:rPr>
              <a:t>CRM/payment gateway integration</a:t>
            </a:r>
            <a:r>
              <a:rPr b="0" i="0" lang="en" sz="900" u="none" cap="none" strike="noStrike">
                <a:solidFill>
                  <a:schemeClr val="dk1"/>
                </a:solidFill>
                <a:latin typeface="Montserrat"/>
                <a:ea typeface="Montserrat"/>
                <a:cs typeface="Montserrat"/>
                <a:sym typeface="Montserrat"/>
              </a:rPr>
              <a:t>.</a:t>
            </a:r>
            <a:endParaRPr b="0" i="0" sz="900" u="none" cap="none" strike="noStrike">
              <a:solidFill>
                <a:schemeClr val="dk1"/>
              </a:solidFill>
              <a:latin typeface="Montserrat"/>
              <a:ea typeface="Montserrat"/>
              <a:cs typeface="Montserrat"/>
              <a:sym typeface="Montserrat"/>
            </a:endParaRPr>
          </a:p>
          <a:p>
            <a:pPr indent="0" lvl="0" marL="0" marR="0" rtl="0" algn="l">
              <a:lnSpc>
                <a:spcPct val="115000"/>
              </a:lnSpc>
              <a:spcBef>
                <a:spcPts val="1200"/>
              </a:spcBef>
              <a:spcAft>
                <a:spcPts val="0"/>
              </a:spcAft>
              <a:buClr>
                <a:schemeClr val="dk1"/>
              </a:buClr>
              <a:buSzPts val="1100"/>
              <a:buFont typeface="Arial"/>
              <a:buNone/>
            </a:pPr>
            <a:r>
              <a:rPr b="0" i="0" lang="en" sz="900" u="none" cap="none" strike="noStrike">
                <a:solidFill>
                  <a:schemeClr val="dk1"/>
                </a:solidFill>
                <a:latin typeface="Montserrat"/>
                <a:ea typeface="Montserrat"/>
                <a:cs typeface="Montserrat"/>
                <a:sym typeface="Montserrat"/>
              </a:rPr>
              <a:t>Powered by a </a:t>
            </a:r>
            <a:r>
              <a:rPr b="1" i="0" lang="en" sz="900" u="none" cap="none" strike="noStrike">
                <a:solidFill>
                  <a:schemeClr val="dk1"/>
                </a:solidFill>
                <a:latin typeface="Montserrat"/>
                <a:ea typeface="Montserrat"/>
                <a:cs typeface="Montserrat"/>
                <a:sym typeface="Montserrat"/>
              </a:rPr>
              <a:t>microservices architecture</a:t>
            </a:r>
            <a:r>
              <a:rPr b="0" i="0" lang="en" sz="900" u="none" cap="none" strike="noStrike">
                <a:solidFill>
                  <a:schemeClr val="dk1"/>
                </a:solidFill>
                <a:latin typeface="Montserrat"/>
                <a:ea typeface="Montserrat"/>
                <a:cs typeface="Montserrat"/>
                <a:sym typeface="Montserrat"/>
              </a:rPr>
              <a:t>, the platforms are scalable, resilient, and experience-driven.</a:t>
            </a:r>
            <a:endParaRPr b="0" i="0" sz="900" u="none" cap="none" strike="noStrike">
              <a:solidFill>
                <a:schemeClr val="dk1"/>
              </a:solidFill>
              <a:latin typeface="Montserrat"/>
              <a:ea typeface="Montserrat"/>
              <a:cs typeface="Montserrat"/>
              <a:sym typeface="Montserrat"/>
            </a:endParaRPr>
          </a:p>
          <a:p>
            <a:pPr indent="0" lvl="0" marL="0" marR="0" rtl="0" algn="l">
              <a:lnSpc>
                <a:spcPct val="115000"/>
              </a:lnSpc>
              <a:spcBef>
                <a:spcPts val="1200"/>
              </a:spcBef>
              <a:spcAft>
                <a:spcPts val="0"/>
              </a:spcAft>
              <a:buClr>
                <a:schemeClr val="dk1"/>
              </a:buClr>
              <a:buSzPts val="1100"/>
              <a:buFont typeface="Arial"/>
              <a:buNone/>
            </a:pPr>
            <a:r>
              <a:rPr b="0" i="0" lang="en" sz="900" u="none" cap="none" strike="noStrike">
                <a:solidFill>
                  <a:schemeClr val="dk1"/>
                </a:solidFill>
                <a:latin typeface="Montserrat"/>
                <a:ea typeface="Montserrat"/>
                <a:cs typeface="Montserrat"/>
                <a:sym typeface="Montserrat"/>
              </a:rPr>
              <a:t>Achieved </a:t>
            </a:r>
            <a:r>
              <a:rPr b="1" i="0" lang="en" sz="900" u="none" cap="none" strike="noStrike">
                <a:solidFill>
                  <a:schemeClr val="dk1"/>
                </a:solidFill>
                <a:latin typeface="Montserrat"/>
                <a:ea typeface="Montserrat"/>
                <a:cs typeface="Montserrat"/>
                <a:sym typeface="Montserrat"/>
              </a:rPr>
              <a:t>70%+ mobile engagement</a:t>
            </a:r>
            <a:r>
              <a:rPr b="0" i="0" lang="en" sz="900" u="none" cap="none" strike="noStrike">
                <a:solidFill>
                  <a:schemeClr val="dk1"/>
                </a:solidFill>
                <a:latin typeface="Montserrat"/>
                <a:ea typeface="Montserrat"/>
                <a:cs typeface="Montserrat"/>
                <a:sym typeface="Montserrat"/>
              </a:rPr>
              <a:t>, improved </a:t>
            </a:r>
            <a:r>
              <a:rPr b="1" i="0" lang="en" sz="900" u="none" cap="none" strike="noStrike">
                <a:solidFill>
                  <a:schemeClr val="dk1"/>
                </a:solidFill>
                <a:latin typeface="Montserrat"/>
                <a:ea typeface="Montserrat"/>
                <a:cs typeface="Montserrat"/>
                <a:sym typeface="Montserrat"/>
              </a:rPr>
              <a:t>app ratings</a:t>
            </a:r>
            <a:r>
              <a:rPr b="0" i="0" lang="en" sz="900" u="none" cap="none" strike="noStrike">
                <a:solidFill>
                  <a:schemeClr val="dk1"/>
                </a:solidFill>
                <a:latin typeface="Montserrat"/>
                <a:ea typeface="Montserrat"/>
                <a:cs typeface="Montserrat"/>
                <a:sym typeface="Montserrat"/>
              </a:rPr>
              <a:t>, higher </a:t>
            </a:r>
            <a:r>
              <a:rPr b="1" i="0" lang="en" sz="900" u="none" cap="none" strike="noStrike">
                <a:solidFill>
                  <a:schemeClr val="dk1"/>
                </a:solidFill>
                <a:latin typeface="Montserrat"/>
                <a:ea typeface="Montserrat"/>
                <a:cs typeface="Montserrat"/>
                <a:sym typeface="Montserrat"/>
              </a:rPr>
              <a:t>user adoption</a:t>
            </a:r>
            <a:r>
              <a:rPr b="0" i="0" lang="en" sz="900" u="none" cap="none" strike="noStrike">
                <a:solidFill>
                  <a:schemeClr val="dk1"/>
                </a:solidFill>
                <a:latin typeface="Montserrat"/>
                <a:ea typeface="Montserrat"/>
                <a:cs typeface="Montserrat"/>
                <a:sym typeface="Montserrat"/>
              </a:rPr>
              <a:t>, and increased </a:t>
            </a:r>
            <a:r>
              <a:rPr b="1" i="0" lang="en" sz="900" u="none" cap="none" strike="noStrike">
                <a:solidFill>
                  <a:schemeClr val="dk1"/>
                </a:solidFill>
                <a:latin typeface="Montserrat"/>
                <a:ea typeface="Montserrat"/>
                <a:cs typeface="Montserrat"/>
                <a:sym typeface="Montserrat"/>
              </a:rPr>
              <a:t>recharge and upsell conversions</a:t>
            </a:r>
            <a:r>
              <a:rPr b="0" i="0" lang="en" sz="900" u="none" cap="none" strike="noStrike">
                <a:solidFill>
                  <a:schemeClr val="dk1"/>
                </a:solidFill>
                <a:latin typeface="Montserrat"/>
                <a:ea typeface="Montserrat"/>
                <a:cs typeface="Montserrat"/>
                <a:sym typeface="Montserrat"/>
              </a:rPr>
              <a:t> across digital channels.</a:t>
            </a:r>
            <a:endParaRPr b="0" i="0" sz="900" u="none" cap="none" strike="noStrike">
              <a:solidFill>
                <a:schemeClr val="dk1"/>
              </a:solidFill>
              <a:latin typeface="Montserrat"/>
              <a:ea typeface="Montserrat"/>
              <a:cs typeface="Montserrat"/>
              <a:sym typeface="Montserrat"/>
            </a:endParaRPr>
          </a:p>
          <a:p>
            <a:pPr indent="0" lvl="0" marL="0" marR="0" rtl="0" algn="l">
              <a:lnSpc>
                <a:spcPct val="150000"/>
              </a:lnSpc>
              <a:spcBef>
                <a:spcPts val="1200"/>
              </a:spcBef>
              <a:spcAft>
                <a:spcPts val="0"/>
              </a:spcAft>
              <a:buClr>
                <a:schemeClr val="dk1"/>
              </a:buClr>
              <a:buSzPts val="1100"/>
              <a:buFont typeface="Arial"/>
              <a:buNone/>
            </a:pPr>
            <a:r>
              <a:t/>
            </a:r>
            <a:endParaRPr b="1" i="0" sz="900" u="none" cap="none" strike="noStrike">
              <a:solidFill>
                <a:schemeClr val="dk1"/>
              </a:solidFill>
              <a:latin typeface="Montserrat"/>
              <a:ea typeface="Montserrat"/>
              <a:cs typeface="Montserrat"/>
              <a:sym typeface="Montserrat"/>
            </a:endParaRPr>
          </a:p>
        </p:txBody>
      </p:sp>
      <p:sp>
        <p:nvSpPr>
          <p:cNvPr id="582" name="Google Shape;582;p26"/>
          <p:cNvSpPr/>
          <p:nvPr/>
        </p:nvSpPr>
        <p:spPr>
          <a:xfrm>
            <a:off x="6123225" y="763069"/>
            <a:ext cx="2232300" cy="267900"/>
          </a:xfrm>
          <a:prstGeom prst="rect">
            <a:avLst/>
          </a:prstGeom>
          <a:solidFill>
            <a:srgbClr val="5C72B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chemeClr val="lt1"/>
                </a:solidFill>
                <a:latin typeface="Montserrat"/>
                <a:ea typeface="Montserrat"/>
                <a:cs typeface="Montserrat"/>
                <a:sym typeface="Montserrat"/>
              </a:rPr>
              <a:t>   India</a:t>
            </a:r>
            <a:endParaRPr b="0" i="0" sz="1000" u="none" cap="none" strike="noStrike">
              <a:solidFill>
                <a:schemeClr val="lt1"/>
              </a:solidFill>
              <a:latin typeface="Montserrat"/>
              <a:ea typeface="Montserrat"/>
              <a:cs typeface="Montserrat"/>
              <a:sym typeface="Montserrat"/>
            </a:endParaRPr>
          </a:p>
        </p:txBody>
      </p:sp>
      <p:pic>
        <p:nvPicPr>
          <p:cNvPr id="583" name="Google Shape;583;p26"/>
          <p:cNvPicPr preferRelativeResize="0"/>
          <p:nvPr/>
        </p:nvPicPr>
        <p:blipFill rotWithShape="1">
          <a:blip r:embed="rId4">
            <a:alphaModFix/>
          </a:blip>
          <a:srcRect b="0" l="0" r="0" t="0"/>
          <a:stretch/>
        </p:blipFill>
        <p:spPr>
          <a:xfrm>
            <a:off x="309115" y="1314638"/>
            <a:ext cx="4862602" cy="2662069"/>
          </a:xfrm>
          <a:prstGeom prst="rect">
            <a:avLst/>
          </a:prstGeom>
          <a:noFill/>
          <a:ln>
            <a:noFill/>
          </a:ln>
        </p:spPr>
      </p:pic>
      <p:pic>
        <p:nvPicPr>
          <p:cNvPr id="584" name="Google Shape;584;p26"/>
          <p:cNvPicPr preferRelativeResize="0"/>
          <p:nvPr/>
        </p:nvPicPr>
        <p:blipFill rotWithShape="1">
          <a:blip r:embed="rId5">
            <a:alphaModFix/>
          </a:blip>
          <a:srcRect b="10521" l="6650" r="11154" t="4633"/>
          <a:stretch/>
        </p:blipFill>
        <p:spPr>
          <a:xfrm>
            <a:off x="851944" y="1443453"/>
            <a:ext cx="3776945" cy="1955583"/>
          </a:xfrm>
          <a:prstGeom prst="rect">
            <a:avLst/>
          </a:prstGeom>
          <a:noFill/>
          <a:ln>
            <a:noFill/>
          </a:ln>
        </p:spPr>
      </p:pic>
      <p:pic>
        <p:nvPicPr>
          <p:cNvPr id="585" name="Google Shape;585;p26"/>
          <p:cNvPicPr preferRelativeResize="0"/>
          <p:nvPr/>
        </p:nvPicPr>
        <p:blipFill rotWithShape="1">
          <a:blip r:embed="rId6">
            <a:alphaModFix/>
          </a:blip>
          <a:srcRect b="0" l="0" r="0" t="0"/>
          <a:stretch/>
        </p:blipFill>
        <p:spPr>
          <a:xfrm>
            <a:off x="4213317" y="1131394"/>
            <a:ext cx="1400655" cy="2780532"/>
          </a:xfrm>
          <a:prstGeom prst="rect">
            <a:avLst/>
          </a:prstGeom>
          <a:noFill/>
          <a:ln>
            <a:noFill/>
          </a:ln>
        </p:spPr>
      </p:pic>
      <p:pic>
        <p:nvPicPr>
          <p:cNvPr id="586" name="Google Shape;586;p26"/>
          <p:cNvPicPr preferRelativeResize="0"/>
          <p:nvPr/>
        </p:nvPicPr>
        <p:blipFill rotWithShape="1">
          <a:blip r:embed="rId7">
            <a:alphaModFix/>
          </a:blip>
          <a:srcRect b="0" l="0" r="0" t="0"/>
          <a:stretch/>
        </p:blipFill>
        <p:spPr>
          <a:xfrm>
            <a:off x="4298073" y="1209199"/>
            <a:ext cx="1236900" cy="2565600"/>
          </a:xfrm>
          <a:prstGeom prst="round2SameRect">
            <a:avLst>
              <a:gd fmla="val 10615" name="adj1"/>
              <a:gd fmla="val 0" name="adj2"/>
            </a:avLst>
          </a:prstGeom>
          <a:noFill/>
          <a:ln>
            <a:noFill/>
          </a:ln>
        </p:spPr>
      </p:pic>
      <p:pic>
        <p:nvPicPr>
          <p:cNvPr id="587" name="Google Shape;587;p26" title="Screenshot (11).png"/>
          <p:cNvPicPr preferRelativeResize="0"/>
          <p:nvPr/>
        </p:nvPicPr>
        <p:blipFill rotWithShape="1">
          <a:blip r:embed="rId8">
            <a:alphaModFix/>
          </a:blip>
          <a:srcRect b="0" l="8089" r="8089" t="0"/>
          <a:stretch/>
        </p:blipFill>
        <p:spPr>
          <a:xfrm>
            <a:off x="851951" y="1443450"/>
            <a:ext cx="3361368" cy="2148150"/>
          </a:xfrm>
          <a:prstGeom prst="rect">
            <a:avLst/>
          </a:prstGeom>
          <a:noFill/>
          <a:ln>
            <a:noFill/>
          </a:ln>
        </p:spPr>
      </p:pic>
      <p:pic>
        <p:nvPicPr>
          <p:cNvPr id="588" name="Google Shape;588;p26" title="Screenshot (12).png"/>
          <p:cNvPicPr preferRelativeResize="0"/>
          <p:nvPr/>
        </p:nvPicPr>
        <p:blipFill rotWithShape="1">
          <a:blip r:embed="rId9">
            <a:alphaModFix/>
          </a:blip>
          <a:srcRect b="1067" l="0" r="0" t="1057"/>
          <a:stretch/>
        </p:blipFill>
        <p:spPr>
          <a:xfrm>
            <a:off x="4298069" y="1177687"/>
            <a:ext cx="1236900" cy="2597100"/>
          </a:xfrm>
          <a:prstGeom prst="round2SameRect">
            <a:avLst>
              <a:gd fmla="val 13849" name="adj1"/>
              <a:gd fmla="val 0" name="adj2"/>
            </a:avLst>
          </a:prstGeom>
          <a:noFill/>
          <a:ln>
            <a:noFill/>
          </a:ln>
        </p:spPr>
      </p:pic>
      <p:pic>
        <p:nvPicPr>
          <p:cNvPr descr="TTN Logo.png" id="589" name="Google Shape;589;p26"/>
          <p:cNvPicPr preferRelativeResize="0"/>
          <p:nvPr/>
        </p:nvPicPr>
        <p:blipFill rotWithShape="1">
          <a:blip r:embed="rId10">
            <a:alphaModFix/>
          </a:blip>
          <a:srcRect b="0" l="0" r="0" t="0"/>
          <a:stretch/>
        </p:blipFill>
        <p:spPr>
          <a:xfrm>
            <a:off x="8414781" y="117828"/>
            <a:ext cx="625544" cy="349439"/>
          </a:xfrm>
          <a:prstGeom prst="rect">
            <a:avLst/>
          </a:prstGeom>
          <a:noFill/>
          <a:ln>
            <a:noFill/>
          </a:ln>
        </p:spPr>
      </p:pic>
      <p:sp>
        <p:nvSpPr>
          <p:cNvPr id="590" name="Google Shape;590;p26"/>
          <p:cNvSpPr txBox="1"/>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800"/>
              <a:buFont typeface="Arial"/>
              <a:buNone/>
            </a:pPr>
            <a:fld id="{00000000-1234-1234-1234-123412341234}" type="slidenum">
              <a:rPr b="0" i="0" lang="en" sz="800" u="none" cap="none" strike="noStrike">
                <a:solidFill>
                  <a:srgbClr val="000000"/>
                </a:solidFill>
                <a:latin typeface="Montserrat"/>
                <a:ea typeface="Montserrat"/>
                <a:cs typeface="Montserrat"/>
                <a:sym typeface="Montserrat"/>
              </a:rPr>
              <a:t>‹#›</a:t>
            </a:fld>
            <a:endParaRPr b="0" i="0" sz="800" u="none" cap="none" strike="noStrike">
              <a:solidFill>
                <a:srgbClr val="000000"/>
              </a:solidFill>
              <a:latin typeface="Montserrat"/>
              <a:ea typeface="Montserrat"/>
              <a:cs typeface="Montserrat"/>
              <a:sym typeface="Montserrat"/>
            </a:endParaRPr>
          </a:p>
        </p:txBody>
      </p:sp>
      <p:pic>
        <p:nvPicPr>
          <p:cNvPr id="591" name="Google Shape;591;p26"/>
          <p:cNvPicPr preferRelativeResize="0"/>
          <p:nvPr/>
        </p:nvPicPr>
        <p:blipFill rotWithShape="1">
          <a:blip r:embed="rId11">
            <a:alphaModFix/>
          </a:blip>
          <a:srcRect b="0" l="0" r="0" t="0"/>
          <a:stretch/>
        </p:blipFill>
        <p:spPr>
          <a:xfrm>
            <a:off x="222400" y="64450"/>
            <a:ext cx="516401" cy="516401"/>
          </a:xfrm>
          <a:prstGeom prst="rect">
            <a:avLst/>
          </a:prstGeom>
          <a:noFill/>
          <a:ln>
            <a:noFill/>
          </a:ln>
        </p:spPr>
      </p:pic>
      <p:pic>
        <p:nvPicPr>
          <p:cNvPr id="592" name="Google Shape;592;p26"/>
          <p:cNvPicPr preferRelativeResize="0"/>
          <p:nvPr/>
        </p:nvPicPr>
        <p:blipFill rotWithShape="1">
          <a:blip r:embed="rId12">
            <a:alphaModFix/>
          </a:blip>
          <a:srcRect b="21694" l="0" r="0" t="17945"/>
          <a:stretch/>
        </p:blipFill>
        <p:spPr>
          <a:xfrm>
            <a:off x="913800" y="64450"/>
            <a:ext cx="994426" cy="516401"/>
          </a:xfrm>
          <a:prstGeom prst="rect">
            <a:avLst/>
          </a:prstGeom>
          <a:noFill/>
          <a:ln>
            <a:noFill/>
          </a:ln>
        </p:spPr>
      </p:pic>
      <p:cxnSp>
        <p:nvCxnSpPr>
          <p:cNvPr id="593" name="Google Shape;593;p26"/>
          <p:cNvCxnSpPr/>
          <p:nvPr/>
        </p:nvCxnSpPr>
        <p:spPr>
          <a:xfrm>
            <a:off x="819193" y="153689"/>
            <a:ext cx="0" cy="324300"/>
          </a:xfrm>
          <a:prstGeom prst="straightConnector1">
            <a:avLst/>
          </a:prstGeom>
          <a:noFill/>
          <a:ln cap="flat" cmpd="sng" w="9525">
            <a:solidFill>
              <a:srgbClr val="595959"/>
            </a:solidFill>
            <a:prstDash val="solid"/>
            <a:round/>
            <a:headEnd len="sm" w="sm" type="none"/>
            <a:tailEnd len="sm" w="sm" type="none"/>
          </a:ln>
        </p:spPr>
      </p:cxnSp>
      <p:pic>
        <p:nvPicPr>
          <p:cNvPr id="594" name="Google Shape;594;p26" title="Screenshot 2025-05-29 at 10.49.36 AM.png"/>
          <p:cNvPicPr preferRelativeResize="0"/>
          <p:nvPr/>
        </p:nvPicPr>
        <p:blipFill rotWithShape="1">
          <a:blip r:embed="rId13">
            <a:alphaModFix/>
          </a:blip>
          <a:srcRect b="0" l="0" r="0" t="0"/>
          <a:stretch/>
        </p:blipFill>
        <p:spPr>
          <a:xfrm>
            <a:off x="4298075" y="1209175"/>
            <a:ext cx="1269475" cy="2565601"/>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8" name="Shape 598"/>
        <p:cNvGrpSpPr/>
        <p:nvPr/>
      </p:nvGrpSpPr>
      <p:grpSpPr>
        <a:xfrm>
          <a:off x="0" y="0"/>
          <a:ext cx="0" cy="0"/>
          <a:chOff x="0" y="0"/>
          <a:chExt cx="0" cy="0"/>
        </a:xfrm>
      </p:grpSpPr>
      <p:sp>
        <p:nvSpPr>
          <p:cNvPr id="599" name="Google Shape;599;p27"/>
          <p:cNvSpPr txBox="1"/>
          <p:nvPr/>
        </p:nvSpPr>
        <p:spPr>
          <a:xfrm>
            <a:off x="105040" y="143994"/>
            <a:ext cx="6765900" cy="357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1" i="0" lang="en" sz="2000" u="none" cap="none" strike="noStrike">
                <a:solidFill>
                  <a:schemeClr val="dk1"/>
                </a:solidFill>
                <a:latin typeface="Montserrat"/>
                <a:ea typeface="Montserrat"/>
                <a:cs typeface="Montserrat"/>
                <a:sym typeface="Montserrat"/>
              </a:rPr>
              <a:t>Quick Recap</a:t>
            </a:r>
            <a:endParaRPr b="1" i="0" sz="2000" u="none" cap="none" strike="noStrike">
              <a:solidFill>
                <a:schemeClr val="dk1"/>
              </a:solidFill>
              <a:latin typeface="Montserrat"/>
              <a:ea typeface="Montserrat"/>
              <a:cs typeface="Montserrat"/>
              <a:sym typeface="Montserrat"/>
            </a:endParaRPr>
          </a:p>
        </p:txBody>
      </p:sp>
      <p:sp>
        <p:nvSpPr>
          <p:cNvPr id="600" name="Google Shape;600;p27"/>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sz="1000"/>
              <a:t>‹#›</a:t>
            </a:fld>
            <a:endParaRPr sz="1000"/>
          </a:p>
        </p:txBody>
      </p:sp>
      <p:sp>
        <p:nvSpPr>
          <p:cNvPr id="601" name="Google Shape;601;p27"/>
          <p:cNvSpPr/>
          <p:nvPr/>
        </p:nvSpPr>
        <p:spPr>
          <a:xfrm>
            <a:off x="226950" y="921038"/>
            <a:ext cx="8690100" cy="3293100"/>
          </a:xfrm>
          <a:prstGeom prst="snip1Rect">
            <a:avLst>
              <a:gd fmla="val 16333"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t" bIns="0" lIns="121875" spcFirstLastPara="1" rIns="121875" wrap="square" tIns="0">
            <a:noAutofit/>
          </a:bodyPr>
          <a:lstStyle/>
          <a:p>
            <a:pPr>
              <a:spcAft>
                <a:spcPts val="200"/>
              </a:spcAft>
            </a:pPr>
            <a:r>
              <a:rPr sz="1000"/>
              <a:t>Blogger is a digital content and blogging platform that requires a comprehensive solution to meet its functional and technical requirements. The platform needs to support blog creation, publishing, and monetization, while also providing robust content policy management and user engagement features. The solution must be scalable, secure, and user-friendly to ensure a seamless experience for bloggers and their audiences.</a:t>
            </a:r>
          </a:p>
        </p:txBody>
      </p:sp>
      <p:cxnSp>
        <p:nvCxnSpPr>
          <p:cNvPr id="602" name="Google Shape;602;p27"/>
          <p:cNvCxnSpPr/>
          <p:nvPr/>
        </p:nvCxnSpPr>
        <p:spPr>
          <a:xfrm>
            <a:off x="249444" y="929365"/>
            <a:ext cx="0" cy="3293100"/>
          </a:xfrm>
          <a:prstGeom prst="straightConnector1">
            <a:avLst/>
          </a:prstGeom>
          <a:noFill/>
          <a:ln cap="flat" cmpd="sng" w="19050">
            <a:solidFill>
              <a:srgbClr val="12519C"/>
            </a:solidFill>
            <a:prstDash val="solid"/>
            <a:round/>
            <a:headEnd len="sm" w="sm" type="none"/>
            <a:tailEnd len="sm" w="sm" type="none"/>
          </a:ln>
        </p:spPr>
      </p:cxnSp>
      <p:sp>
        <p:nvSpPr>
          <p:cNvPr id="603" name="Google Shape;603;p27"/>
          <p:cNvSpPr txBox="1"/>
          <p:nvPr/>
        </p:nvSpPr>
        <p:spPr>
          <a:xfrm>
            <a:off x="261425" y="987013"/>
            <a:ext cx="8127900" cy="3124500"/>
          </a:xfrm>
          <a:prstGeom prst="rect">
            <a:avLst/>
          </a:prstGeom>
          <a:noFill/>
          <a:ln>
            <a:noFill/>
          </a:ln>
        </p:spPr>
        <p:txBody>
          <a:bodyPr anchorCtr="0" anchor="t" bIns="91425" lIns="91425" spcFirstLastPara="1" rIns="91425" wrap="square" tIns="91425">
            <a:spAutoFit/>
          </a:bodyPr>
          <a:lstStyle/>
          <a:p>
            <a:pPr indent="-298450" lvl="0" marL="457200" marR="0" rtl="0" algn="l">
              <a:lnSpc>
                <a:spcPct val="150000"/>
              </a:lnSpc>
              <a:spcBef>
                <a:spcPts val="300"/>
              </a:spcBef>
              <a:spcAft>
                <a:spcPts val="0"/>
              </a:spcAft>
              <a:buClr>
                <a:srgbClr val="D9177F"/>
              </a:buClr>
              <a:buSzPts val="1100"/>
              <a:buFont typeface="Century Gothic"/>
              <a:buChar char="●"/>
            </a:pPr>
            <a:endParaRPr b="0" i="0" sz="1100" u="none" cap="none" strike="noStrike">
              <a:solidFill>
                <a:schemeClr val="dk1"/>
              </a:solidFill>
              <a:latin typeface="Montserrat"/>
              <a:ea typeface="Montserrat"/>
              <a:cs typeface="Montserrat"/>
              <a:sym typeface="Montserrat"/>
            </a:endParaRPr>
          </a:p>
        </p:txBody>
      </p:sp>
    </p:spTree>
  </p:cSld>
  <p:clrMapOvr>
    <a:masterClrMapping/>
  </p:clrMapOvr>
</p:sld>
</file>

<file path=ppt/theme/theme1.xml><?xml version="1.0" encoding="utf-8"?>
<a:theme xmlns:a="http://schemas.openxmlformats.org/drawingml/2006/main" xmlns:r="http://schemas.openxmlformats.org/officeDocument/2006/relationships" name="Master">
  <a:themeElements>
    <a:clrScheme name="Custom 9">
      <a:dk1>
        <a:srgbClr val="000000"/>
      </a:dk1>
      <a:lt1>
        <a:srgbClr val="FFFFFF"/>
      </a:lt1>
      <a:dk2>
        <a:srgbClr val="44546A"/>
      </a:dk2>
      <a:lt2>
        <a:srgbClr val="E7E6E6"/>
      </a:lt2>
      <a:accent1>
        <a:srgbClr val="D71B7F"/>
      </a:accent1>
      <a:accent2>
        <a:srgbClr val="12519C"/>
      </a:accent2>
      <a:accent3>
        <a:srgbClr val="6F3A93"/>
      </a:accent3>
      <a:accent4>
        <a:srgbClr val="F5B6D7"/>
      </a:accent4>
      <a:accent5>
        <a:srgbClr val="99BDEA"/>
      </a:accent5>
      <a:accent6>
        <a:srgbClr val="70AD47"/>
      </a:accent6>
      <a:hlink>
        <a:srgbClr val="FFFFFF"/>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Master">
  <a:themeElements>
    <a:clrScheme name="Custom 9">
      <a:dk1>
        <a:srgbClr val="000000"/>
      </a:dk1>
      <a:lt1>
        <a:srgbClr val="FFFFFF"/>
      </a:lt1>
      <a:dk2>
        <a:srgbClr val="44546A"/>
      </a:dk2>
      <a:lt2>
        <a:srgbClr val="E7E6E6"/>
      </a:lt2>
      <a:accent1>
        <a:srgbClr val="D71B7F"/>
      </a:accent1>
      <a:accent2>
        <a:srgbClr val="12519C"/>
      </a:accent2>
      <a:accent3>
        <a:srgbClr val="6F3A93"/>
      </a:accent3>
      <a:accent4>
        <a:srgbClr val="F5B6D7"/>
      </a:accent4>
      <a:accent5>
        <a:srgbClr val="99BDEA"/>
      </a:accent5>
      <a:accent6>
        <a:srgbClr val="70AD47"/>
      </a:accent6>
      <a:hlink>
        <a:srgbClr val="FFFFFF"/>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