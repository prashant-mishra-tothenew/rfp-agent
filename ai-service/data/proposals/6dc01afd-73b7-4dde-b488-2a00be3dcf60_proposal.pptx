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g+XVHHZtUgQyD+yhX5zsEimkFh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1BC328-F04A-43E0-85B5-ED5C37AF30D6}">
  <a:tblStyle styleId="{0D1BC328-F04A-43E0-85B5-ED5C37AF30D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4DFB4FF-8893-4974-80CE-CFFE3B34FB83}"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8E411067-61D8-4564-84A8-C3C864F6D0E8}"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3CB79B0-8641-4349-AAA0-2024F650DA97}"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7.png"/><Relationship Id="rId9" Type="http://schemas.openxmlformats.org/officeDocument/2006/relationships/image" Target="../media/image9.png"/><Relationship Id="rId10"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9.png"/><Relationship Id="rId9" Type="http://schemas.openxmlformats.org/officeDocument/2006/relationships/image" Target="../media/image15.png"/><Relationship Id="rId10"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23.png"/><Relationship Id="rId8" Type="http://schemas.openxmlformats.org/officeDocument/2006/relationships/image" Target="../media/image21.png"/><Relationship Id="rId9" Type="http://schemas.openxmlformats.org/officeDocument/2006/relationships/image" Target="../media/image35.png"/><Relationship Id="rId10" Type="http://schemas.openxmlformats.org/officeDocument/2006/relationships/image" Target="../media/image13.png"/><Relationship Id="rId1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34.png"/><Relationship Id="rId6" Type="http://schemas.openxmlformats.org/officeDocument/2006/relationships/image" Target="../media/image44.png"/><Relationship Id="rId7" Type="http://schemas.openxmlformats.org/officeDocument/2006/relationships/image" Target="../media/image33.png"/><Relationship Id="rId8" Type="http://schemas.openxmlformats.org/officeDocument/2006/relationships/image" Target="../media/image41.png"/><Relationship Id="rId9" Type="http://schemas.openxmlformats.org/officeDocument/2006/relationships/image" Target="../media/image40.png"/><Relationship Id="rId10"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42.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39.png"/><Relationship Id="rId11"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41.png"/><Relationship Id="rId8" Type="http://schemas.openxmlformats.org/officeDocument/2006/relationships/image" Target="../media/image48.png"/><Relationship Id="rId9" Type="http://schemas.openxmlformats.org/officeDocument/2006/relationships/image" Target="../media/image45.png"/><Relationship Id="rId10" Type="http://schemas.openxmlformats.org/officeDocument/2006/relationships/image" Target="../media/image13.png"/><Relationship Id="rId11" Type="http://schemas.openxmlformats.org/officeDocument/2006/relationships/image" Target="../media/image47.png"/><Relationship Id="rId12" Type="http://schemas.openxmlformats.org/officeDocument/2006/relationships/image" Target="../media/image46.png"/><Relationship Id="rId13"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Apex Retail Solutions</a:t>
            </a:r>
          </a:p>
          <a:p>
            <a:r>
              <a:t>Date : 11 Sep 2026</a:t>
            </a:r>
          </a:p>
          <a:p>
            <a:r>
              <a:t>Ref : 6dc01afd-73b7-4dde-b488-2a00be3dcf60</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1" name="Google Shape;171;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2" name="Google Shape;172;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3" name="Google Shape;173;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4" name="Google Shape;174;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5" name="Google Shape;175;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7" name="Google Shape;177;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1" name="Google Shape;181;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2" name="Google Shape;182;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4" name="Google Shape;184;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5" name="Google Shape;185;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3" name="Google Shape;193;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Apex Retail Solutions seeks a scalable, secure, and user-centric retail platform to enhance their omnichannel operations. Our solution offers a robust foundation for managing a vast product catalog, supporting multi-currency transactions, and enabling seamless customer experiences. With a focus on integration, security, and accessibility, we aim to deliver a modern, flexible platform that aligns with their business goals and regulatory requirements.</a:t>
            </a:r>
          </a:p>
        </p:txBody>
      </p:sp>
      <p:cxnSp>
        <p:nvCxnSpPr>
          <p:cNvPr id="194" name="Google Shape;194;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5" name="Google Shape;195;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2" name="Google Shape;202;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3" name="Google Shape;203;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4" name="Google Shape;204;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2" name="Google Shape;212;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3" name="Google Shape;213;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4" name="Google Shape;214;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The requirements emphasize scalability, payment flexibility, and integration capabilities. Our solution supports faceted search and instant filtering for large SKUs, integrates with Stripe, PayPal, and Afterpay for multi-currency checkout, and offers headless CMS integration for dynamic content management. While some requirements are partially supported, we have the capability to address them through custom development and existing frameworks. Security, accessibility, and compliance with PCI-DSS, GDPR, and CCPA are fully supported, ensuring a secure and inclusive platform.</a:t>
            </a:r>
          </a:p>
        </p:txBody>
      </p:sp>
      <p:sp>
        <p:nvSpPr>
          <p:cNvPr id="215" name="Google Shape;215;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6" name="Google Shape;216;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2" name="Google Shape;222;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3" name="Google Shape;223;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4" name="Google Shape;224;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5" name="Google Shape;225;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6" name="Google Shape;226;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7" name="Google Shape;227;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Our proposed solution is built on a microservices architecture with a decoupled frontend and backend, enabling scalability and flexibility. It includes secure payment gateways, a React Native-based Self-Care app for customer engagement, and integration with SAP for real-time inventory and order management. We will also implement a headless CMS for marketing teams and ensure full compliance with accessibility and data protection standards. The solution is designed to be extensible, allowing for future growth and integration with additional platforms as needed.</a:t>
            </a:r>
          </a:p>
        </p:txBody>
      </p:sp>
      <p:cxnSp>
        <p:nvCxnSpPr>
          <p:cNvPr id="231" name="Google Shape;231;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3" name="Google Shape;233;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0" name="Google Shape;240;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1" name="Google Shape;241;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Our technical approach leverages a microservices architecture to support scalable faceted search and instant filtering for up to 50,000+ SKUs. The solution decouples the frontend (Next.js/React) from backend services via REST/GraphQL APIs, ensuring flexibility and maintainability. We integrate headless CMS platforms like Sanity or Strapi to empower marketing teams with real-time updates to business awareness pages, while also supporting secure, password-protected portals with custom price tiers and bulk ordering workflows.</a:t>
            </a:r>
          </a:p>
        </p:txBody>
      </p:sp>
      <p:cxnSp>
        <p:nvCxnSpPr>
          <p:cNvPr id="242" name="Google Shape;242;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3" name="Google Shape;243;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9" name="Google Shape;249;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0" name="Google Shape;250;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The solution is fully compliant with PCI-DSS Level 1 through tokenized card data flows via Stripe and secure payment processing. GDPR and CCPA compliance are also ensured through data encryption and user consent management. The solution is built to meet WCAG 2.1 AA accessibility guidelines, ensuring compatibility with assistive technologies and inclusive design.</a:t>
            </a:r>
          </a:p>
        </p:txBody>
      </p:sp>
      <p:cxnSp>
        <p:nvCxnSpPr>
          <p:cNvPr id="251" name="Google Shape;251;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2" name="Google Shape;252;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59" name="Google Shape;259;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The solution assumes that the integration with SAP and headless CMS platforms will be supported by existing APIs and system access. It also assumes that the payment gateways and CRM platforms will provide necessary authentication and data flow mechanisms. The solution assumes that the marketing team will have the required training and resources to manage content through the headless CMS.</a:t>
            </a:r>
          </a:p>
        </p:txBody>
      </p:sp>
      <p:cxnSp>
        <p:nvCxnSpPr>
          <p:cNvPr id="260" name="Google Shape;260;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1" name="Google Shape;261;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68" name="Google Shape;268;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69" name="Google Shape;269;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0" name="Google Shape;270;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The solution assumes that the integration with SAP and headless CMS platforms will be supported by existing APIs and system access. It also assumes that the payment gateways and CRM platforms will provide necessary authentication and data flow mechanisms. The solution assumes that the marketing team will have the required training and resources to manage content through the headless CMS.</a:t>
            </a:r>
          </a:p>
        </p:txBody>
      </p:sp>
      <p:sp>
        <p:nvSpPr>
          <p:cNvPr id="273" name="Google Shape;273;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4" name="Google Shape;274;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1" name="Google Shape;281;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2" name="Google Shape;282;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3" name="Google Shape;283;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4" name="Google Shape;284;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5" name="Google Shape;285;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6" name="Google Shape;286;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7" name="Google Shape;287;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1" name="Google Shape;291;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2" name="Google Shape;292;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2" name="Google Shape;302;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3" name="Google Shape;303;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4" name="Google Shape;304;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Our proposed solution is built on a microservices architecture with a decoupled frontend and backend, enabling scalability and flexibility. It includes secure payment gateways, a React Native-based Self-Care app for customer engagement, and integration with SAP for real-time inventory and order management. We will also implement a headless CMS for marketing teams and ensure full compliance with accessibility and data protection standards. The solution is designed to be extensible, allowing for future growth and integration with additional platforms as needed.</a:t>
            </a:r>
          </a:p>
        </p:txBody>
      </p:sp>
      <p:sp>
        <p:nvSpPr>
          <p:cNvPr id="305" name="Google Shape;305;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1" name="Google Shape;311;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2" name="Google Shape;312;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3" name="Google Shape;313;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4" name="Google Shape;314;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5" name="Google Shape;315;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Backend APIs</a:t>
            </a:r>
            <a:endParaRPr b="1" i="0" sz="800" u="none" cap="none" strike="noStrike">
              <a:solidFill>
                <a:srgbClr val="525252"/>
              </a:solidFill>
              <a:latin typeface="Montserrat"/>
              <a:ea typeface="Montserrat"/>
              <a:cs typeface="Montserrat"/>
              <a:sym typeface="Montserrat"/>
            </a:endParaRPr>
          </a:p>
        </p:txBody>
      </p:sp>
      <p:sp>
        <p:nvSpPr>
          <p:cNvPr id="316" name="Google Shape;316;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17" name="Google Shape;317;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18" name="Google Shape;318;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19" name="Google Shape;319;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0" name="Google Shape;320;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1" name="Google Shape;321;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2" name="Google Shape;322;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6" name="Google Shape;326;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327" name="Google Shape;327;p13"/>
          <p:cNvCxnSpPr>
            <a:stCxn id="312" idx="0"/>
            <a:endCxn id="311"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28" name="Google Shape;328;p13"/>
          <p:cNvCxnSpPr>
            <a:stCxn id="313" idx="1"/>
            <a:endCxn id="318"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29" name="Google Shape;329;p13"/>
          <p:cNvCxnSpPr>
            <a:stCxn id="318" idx="1"/>
            <a:endCxn id="319"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0" name="Google Shape;330;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1" name="Google Shape;331;p13"/>
          <p:cNvCxnSpPr>
            <a:stCxn id="319" idx="1"/>
            <a:endCxn id="322"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2" name="Google Shape;332;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3" name="Google Shape;333;p13"/>
          <p:cNvCxnSpPr>
            <a:stCxn id="311" idx="0"/>
            <a:endCxn id="315"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4" name="Google Shape;334;p13"/>
          <p:cNvCxnSpPr>
            <a:stCxn id="311" idx="0"/>
            <a:endCxn id="316"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5" name="Google Shape;335;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1" name="Google Shape;341;p14"/>
          <p:cNvGraphicFramePr/>
          <p:nvPr/>
        </p:nvGraphicFramePr>
        <p:xfrm>
          <a:off x="264425" y="755775"/>
          <a:ext cx="3000000" cy="3000000"/>
        </p:xfrm>
        <a:graphic>
          <a:graphicData uri="http://schemas.openxmlformats.org/drawingml/2006/table">
            <a:tbl>
              <a:tblPr>
                <a:noFill/>
                <a:tableStyleId>{0D1BC328-F04A-43E0-85B5-ED5C37AF30D6}</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2" name="Google Shape;342;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49" name="Google Shape;349;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0" name="Google Shape;350;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1" name="Google Shape;351;p15"/>
          <p:cNvGraphicFramePr/>
          <p:nvPr/>
        </p:nvGraphicFramePr>
        <p:xfrm>
          <a:off x="189880" y="722548"/>
          <a:ext cx="3000000" cy="3000000"/>
        </p:xfrm>
        <a:graphic>
          <a:graphicData uri="http://schemas.openxmlformats.org/drawingml/2006/table">
            <a:tbl>
              <a:tblPr bandRow="1" firstRow="1">
                <a:noFill/>
                <a:tableStyleId>{E4DFB4FF-8893-4974-80CE-CFFE3B34FB83}</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2" name="Google Shape;352;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Our technical approach leverages a microservices architecture to support scalable faceted search and instant filtering for up to 50,000+ SKUs. The solution decouples the frontend (Next.js/React) from backend services via REST/GraphQL APIs, ensuring flexibility and maintainability. We integrate headless CMS platforms like Sanity or Strapi to empower marketing teams with real-time updates to business awareness pages, while also supporting secure, password-protected portals with custom price tiers and bulk ordering workflows.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59" name="Google Shape;359;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0" name="Google Shape;360;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1" name="Google Shape;361;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2" name="Google Shape;362;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3" name="Google Shape;363;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4" name="Google Shape;364;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5" name="Google Shape;365;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69" name="Google Shape;369;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0" name="Google Shape;370;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2" name="Google Shape;372;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3" name="Google Shape;373;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0" name="Google Shape;380;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1" name="Google Shape;381;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2" name="Google Shape;382;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3" name="Google Shape;383;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4" name="Google Shape;384;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85" name="Google Shape;385;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86" name="Google Shape;386;p17"/>
          <p:cNvGrpSpPr/>
          <p:nvPr/>
        </p:nvGrpSpPr>
        <p:grpSpPr>
          <a:xfrm>
            <a:off x="3934107" y="2120825"/>
            <a:ext cx="817618" cy="72728"/>
            <a:chOff x="3198956" y="2429934"/>
            <a:chExt cx="1353000" cy="149400"/>
          </a:xfrm>
        </p:grpSpPr>
        <p:sp>
          <p:nvSpPr>
            <p:cNvPr id="387" name="Google Shape;387;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8" name="Google Shape;388;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9" name="Google Shape;389;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0" name="Google Shape;390;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1" name="Google Shape;391;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2" name="Google Shape;392;p17"/>
          <p:cNvCxnSpPr>
            <a:stCxn id="384" idx="3"/>
            <a:endCxn id="385"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3" name="Google Shape;393;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4" name="Google Shape;394;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95" name="Google Shape;395;p17"/>
          <p:cNvCxnSpPr>
            <a:stCxn id="385" idx="3"/>
            <a:endCxn id="394"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6" name="Google Shape;396;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97" name="Google Shape;397;p17"/>
          <p:cNvCxnSpPr>
            <a:stCxn id="394" idx="3"/>
            <a:endCxn id="396"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99" name="Google Shape;399;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0" name="Google Shape;400;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2" name="Google Shape;402;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 name="Google Shape;403;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4" name="Google Shape;404;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5" name="Google Shape;405;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08" name="Google Shape;408;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09" name="Google Shape;409;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0" name="Google Shape;410;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1" name="Google Shape;411;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2" name="Google Shape;412;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3" name="Google Shape;413;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4" name="Google Shape;414;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15" name="Google Shape;415;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18" name="Google Shape;418;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19" name="Google Shape;419;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0" name="Google Shape;420;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1" name="Google Shape;421;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2" name="Google Shape;422;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3" name="Google Shape;423;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25" name="Google Shape;425;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26" name="Google Shape;426;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27" name="Google Shape;427;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28" name="Google Shape;428;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29" name="Google Shape;429;p17"/>
          <p:cNvGrpSpPr/>
          <p:nvPr/>
        </p:nvGrpSpPr>
        <p:grpSpPr>
          <a:xfrm>
            <a:off x="308754" y="1982358"/>
            <a:ext cx="1734192" cy="256660"/>
            <a:chOff x="530597" y="1659894"/>
            <a:chExt cx="1541778" cy="210931"/>
          </a:xfrm>
        </p:grpSpPr>
        <p:sp>
          <p:nvSpPr>
            <p:cNvPr id="430" name="Google Shape;43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1" name="Google Shape;43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2" name="Google Shape;432;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3" name="Google Shape;433;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4" name="Google Shape;434;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35" name="Google Shape;435;p17"/>
          <p:cNvGrpSpPr/>
          <p:nvPr/>
        </p:nvGrpSpPr>
        <p:grpSpPr>
          <a:xfrm>
            <a:off x="298800" y="2292174"/>
            <a:ext cx="1734192" cy="256660"/>
            <a:chOff x="530597" y="1659894"/>
            <a:chExt cx="1541778" cy="210931"/>
          </a:xfrm>
        </p:grpSpPr>
        <p:sp>
          <p:nvSpPr>
            <p:cNvPr id="436" name="Google Shape;43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37" name="Google Shape;43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38" name="Google Shape;438;p17"/>
          <p:cNvGrpSpPr/>
          <p:nvPr/>
        </p:nvGrpSpPr>
        <p:grpSpPr>
          <a:xfrm>
            <a:off x="308757" y="2617640"/>
            <a:ext cx="1734192" cy="256660"/>
            <a:chOff x="530597" y="1659894"/>
            <a:chExt cx="1541778" cy="210931"/>
          </a:xfrm>
        </p:grpSpPr>
        <p:sp>
          <p:nvSpPr>
            <p:cNvPr id="439" name="Google Shape;439;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0" name="Google Shape;440;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1" name="Google Shape;441;p17"/>
          <p:cNvGrpSpPr/>
          <p:nvPr/>
        </p:nvGrpSpPr>
        <p:grpSpPr>
          <a:xfrm>
            <a:off x="298803" y="2943091"/>
            <a:ext cx="1734192" cy="256660"/>
            <a:chOff x="530597" y="1659894"/>
            <a:chExt cx="1541778" cy="210931"/>
          </a:xfrm>
        </p:grpSpPr>
        <p:sp>
          <p:nvSpPr>
            <p:cNvPr id="442" name="Google Shape;442;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3" name="Google Shape;443;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4" name="Google Shape;444;p17"/>
          <p:cNvGrpSpPr/>
          <p:nvPr/>
        </p:nvGrpSpPr>
        <p:grpSpPr>
          <a:xfrm>
            <a:off x="298803" y="3281643"/>
            <a:ext cx="1734192" cy="256660"/>
            <a:chOff x="530597" y="1659894"/>
            <a:chExt cx="1541778" cy="210931"/>
          </a:xfrm>
        </p:grpSpPr>
        <p:sp>
          <p:nvSpPr>
            <p:cNvPr id="445" name="Google Shape;44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46" name="Google Shape;44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7" name="Google Shape;447;p17"/>
          <p:cNvGrpSpPr/>
          <p:nvPr/>
        </p:nvGrpSpPr>
        <p:grpSpPr>
          <a:xfrm>
            <a:off x="298803" y="3624423"/>
            <a:ext cx="1734192" cy="256660"/>
            <a:chOff x="530597" y="1659894"/>
            <a:chExt cx="1541778" cy="210931"/>
          </a:xfrm>
        </p:grpSpPr>
        <p:sp>
          <p:nvSpPr>
            <p:cNvPr id="448" name="Google Shape;44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49" name="Google Shape;44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0" name="Google Shape;450;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We follow an API-first design to ensure seamless integration with systems like SAP for inventory and order management, as well as CRM and email platforms such as HubSpot and Klaviyo. Our React Native-based Self-Care app includes features like order tracking and saved payment methods, while our payment processing is fully compliant with PCI-DSS Level 1 through tokenized card data flows via Stripe. The solution is built to meet WCAG 2.1 AA accessibility guidelines, ensuring compatibility with assistive technologies.</a:t>
            </a:r>
          </a:p>
        </p:txBody>
      </p:sp>
      <p:sp>
        <p:nvSpPr>
          <p:cNvPr id="451" name="Google Shape;451;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2" name="Google Shape;452;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58" name="Google Shape;458;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59" name="Google Shape;459;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0" name="Google Shape;460;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1" name="Google Shape;461;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2" name="Google Shape;462;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3" name="Google Shape;463;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4" name="Google Shape;464;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67" name="Google Shape;467;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68" name="Google Shape;468;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69" name="Google Shape;469;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0" name="Google Shape;470;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1" name="Google Shape;471;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2" name="Google Shape;472;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3" name="Google Shape;473;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4" name="Google Shape;474;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75" name="Google Shape;475;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77" name="Google Shape;477;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78" name="Google Shape;478;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79" name="Google Shape;479;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0" name="Google Shape;480;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1" name="Google Shape;481;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2" name="Google Shape;482;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3" name="Google Shape;483;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4" name="Google Shape;484;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85" name="Google Shape;485;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86" name="Google Shape;486;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87" name="Google Shape;487;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88" name="Google Shape;488;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89" name="Google Shape;489;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0" name="Google Shape;490;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1" name="Google Shape;491;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2" name="Google Shape;492;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3" name="Google Shape;493;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4" name="Google Shape;494;p18"/>
          <p:cNvCxnSpPr>
            <a:stCxn id="485" idx="3"/>
            <a:endCxn id="484"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495" name="Google Shape;495;p18"/>
          <p:cNvCxnSpPr>
            <a:stCxn id="496" idx="3"/>
            <a:endCxn id="486"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496" name="Google Shape;496;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497" name="Google Shape;497;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83" idx="0"/>
            <a:endCxn id="464"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0" name="Google Shape;500;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1" name="Google Shape;501;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2" name="Google Shape;502;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3" name="Google Shape;503;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4" name="Google Shape;504;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5" name="Google Shape;505;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06" name="Google Shape;506;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07" name="Google Shape;507;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08" name="Google Shape;508;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09" name="Google Shape;509;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0" name="Google Shape;510;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1" name="Google Shape;511;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2" name="Google Shape;512;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3" name="Google Shape;513;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4" name="Google Shape;514;p18"/>
          <p:cNvCxnSpPr>
            <a:stCxn id="500"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15" name="Google Shape;515;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16" name="Google Shape;516;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sp>
        <p:nvSpPr>
          <p:cNvPr id="518" name="Google Shape;518;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4" name="Google Shape;524;p19"/>
          <p:cNvGraphicFramePr/>
          <p:nvPr/>
        </p:nvGraphicFramePr>
        <p:xfrm>
          <a:off x="232325" y="700950"/>
          <a:ext cx="3000000" cy="3000000"/>
        </p:xfrm>
        <a:graphic>
          <a:graphicData uri="http://schemas.openxmlformats.org/drawingml/2006/table">
            <a:tbl>
              <a:tblPr>
                <a:noFill/>
                <a:tableStyleId>{8E411067-61D8-4564-84A8-C3C864F6D0E8}</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25" name="Google Shape;525;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26" name="Google Shape;526;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8" name="Google Shape;528;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29" name="Google Shape;529;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0" name="Google Shape;530;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1" name="Google Shape;531;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We follow an API-first design to ensure seamless integration with systems like SAP for inventory and order management, as well as CRM and email platforms such as HubSpot and Klaviyo. Our React Native-based Self-Care app includes features like order tracking and saved payment methods, while our payment processing is fully compliant with PCI-DSS Level 1 through tokenized card data flows via Stripe. The solution is built to meet WCAG 2.1 AA accessibility guidelines, ensuring compatibility with assistive technologies.</a:t>
            </a:r>
          </a:p>
        </p:txBody>
      </p:sp>
      <p:sp>
        <p:nvSpPr>
          <p:cNvPr id="532" name="Google Shape;532;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3" name="Google Shape;533;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4" name="Google Shape;534;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35" name="Google Shape;535;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36" name="Google Shape;536;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37" name="Google Shape;537;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38" name="Google Shape;538;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39" name="Google Shape;539;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0" name="Google Shape;540;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1" name="Google Shape;541;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48" name="Google Shape;548;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49" name="Google Shape;549;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0" name="Google Shape;550;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1" name="Google Shape;551;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2" name="Google Shape;552;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3" name="Google Shape;553;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4" name="Google Shape;554;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58" name="Google Shape;558;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1" name="Google Shape;561;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2" name="Google Shape;562;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69" name="Google Shape;569;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0" name="Google Shape;570;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1" name="Google Shape;571;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2" name="Google Shape;572;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3" name="Google Shape;573;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74" name="Google Shape;574;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75" name="Google Shape;575;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1" name="Google Shape;581;p22"/>
          <p:cNvGraphicFramePr/>
          <p:nvPr/>
        </p:nvGraphicFramePr>
        <p:xfrm>
          <a:off x="450100" y="877425"/>
          <a:ext cx="3000000" cy="3000000"/>
        </p:xfrm>
        <a:graphic>
          <a:graphicData uri="http://schemas.openxmlformats.org/drawingml/2006/table">
            <a:tbl>
              <a:tblPr>
                <a:noFill/>
                <a:tableStyleId>{D3CB79B0-8641-4349-AAA0-2024F650DA97}</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2" name="Google Shape;582;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89" name="Google Shape;58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0" name="Google Shape;59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1" name="Google Shape;59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2" name="Google Shape;59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3" name="Google Shape;59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94" name="Google Shape;59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95" name="Google Shape;59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99" name="Google Shape;59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0" name="Google Shape;60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2" name="Google Shape;60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8" name="Shape 608"/>
        <p:cNvGrpSpPr/>
        <p:nvPr/>
      </p:nvGrpSpPr>
      <p:grpSpPr>
        <a:xfrm>
          <a:off x="0" y="0"/>
          <a:ext cx="0" cy="0"/>
          <a:chOff x="0" y="0"/>
          <a:chExt cx="0" cy="0"/>
        </a:xfrm>
      </p:grpSpPr>
      <p:sp>
        <p:nvSpPr>
          <p:cNvPr id="609" name="Google Shape;60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1" name="Google Shape;61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2" name="Google Shape;61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13" name="Google Shape;61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14" name="Google Shape;61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15" name="Google Shape;61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16" name="Google Shape;61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17" name="Google Shape;61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18" name="Google Shape;61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19" name="Google Shape;61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3" name="Shape 623"/>
        <p:cNvGrpSpPr/>
        <p:nvPr/>
      </p:nvGrpSpPr>
      <p:grpSpPr>
        <a:xfrm>
          <a:off x="0" y="0"/>
          <a:ext cx="0" cy="0"/>
          <a:chOff x="0" y="0"/>
          <a:chExt cx="0" cy="0"/>
        </a:xfrm>
      </p:grpSpPr>
      <p:sp>
        <p:nvSpPr>
          <p:cNvPr id="624" name="Google Shape;62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26" name="Google Shape;62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27" name="Google Shape;62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28" name="Google Shape;62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29" name="Google Shape;62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0" name="Google Shape;63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1" name="Google Shape;63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2" name="Google Shape;63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33" name="Google Shape;63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34" name="Google Shape;63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35" name="Google Shape;63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9" name="Shape 639"/>
        <p:cNvGrpSpPr/>
        <p:nvPr/>
      </p:nvGrpSpPr>
      <p:grpSpPr>
        <a:xfrm>
          <a:off x="0" y="0"/>
          <a:ext cx="0" cy="0"/>
          <a:chOff x="0" y="0"/>
          <a:chExt cx="0" cy="0"/>
        </a:xfrm>
      </p:grpSpPr>
      <p:sp>
        <p:nvSpPr>
          <p:cNvPr id="640" name="Google Shape;64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2" name="Google Shape;64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43" name="Google Shape;64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44" name="Google Shape;64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45" name="Google Shape;64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46" name="Google Shape;64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47" name="Google Shape;64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48" name="Google Shape;64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49" name="Google Shape;64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0" name="Google Shape;65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1" name="Google Shape;65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2" name="Google Shape;65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53" name="Google Shape;65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54" name="Google Shape;65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0" name="Google Shape;66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1" name="Google Shape;66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2" name="Google Shape;66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63" name="Google Shape;66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Apex Retail Solutions seeks a scalable, secure, and user-centric retail platform to enhance their omnichannel operations. Our solution offers a robust foundation for managing a vast product catalog, supporting multi-currency transactions, and enabling seamless customer experiences. With a focus on integration, security, and accessibility, we aim to deliver a modern, flexible platform that aligns with their business goals and regulatory requirements.</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cxnSp>
        <p:nvCxnSpPr>
          <p:cNvPr id="670" name="Google Shape;670;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