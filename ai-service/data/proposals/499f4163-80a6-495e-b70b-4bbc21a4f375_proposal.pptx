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3" r:id="rId6"/>
    <p:sldMasterId id="214748366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Lst>
  <p:sldSz cy="5143500" cx="9144000"/>
  <p:notesSz cx="6858000" cy="9144000"/>
  <p:embeddedFontLst>
    <p:embeddedFont>
      <p:font typeface="Montserrat SemiBold"/>
      <p:regular r:id="rId37"/>
      <p:bold r:id="rId38"/>
      <p:italic r:id="rId39"/>
      <p:boldItalic r:id="rId40"/>
    </p:embeddedFont>
    <p:embeddedFont>
      <p:font typeface="Montserrat"/>
      <p:regular r:id="rId41"/>
      <p:bold r:id="rId42"/>
      <p:italic r:id="rId43"/>
      <p:boldItalic r:id="rId44"/>
    </p:embeddedFont>
    <p:embeddedFont>
      <p:font typeface="Montserrat Medium"/>
      <p:regular r:id="rId45"/>
      <p:bold r:id="rId46"/>
      <p:italic r:id="rId47"/>
      <p:boldItalic r:id="rId48"/>
    </p:embeddedFont>
    <p:embeddedFont>
      <p:font typeface="Tahoma"/>
      <p:regular r:id="rId49"/>
      <p:bold r:id="rId50"/>
    </p:embeddedFont>
    <p:embeddedFont>
      <p:font typeface="Montserrat Light"/>
      <p:regular r:id="rId51"/>
      <p:bold r:id="rId52"/>
      <p:italic r:id="rId53"/>
      <p:boldItalic r:id="rId54"/>
    </p:embeddedFont>
    <p:embeddedFont>
      <p:font typeface="Century Gothic"/>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jrcQjjxTMEva7885HIDdwaADPV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76C36E-D2AD-4AE9-B92F-3330EE880BF7}">
  <a:tblStyle styleId="{4776C36E-D2AD-4AE9-B92F-3330EE880BF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59350B3-BBFF-4BFA-8656-60803C743C3A}" styleName="Table_1">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Arial"/>
          <a:ea typeface="Arial"/>
          <a:cs typeface="Arial"/>
        </a:font>
        <a:srgbClr val="FFFFFF"/>
      </a:tcTxStyle>
      <a:tcStyle>
        <a:fill>
          <a:solidFill>
            <a:srgbClr val="D71B7F"/>
          </a:solidFill>
        </a:fill>
      </a:tcStyle>
    </a:lastCol>
    <a:firstCol>
      <a:tcTxStyle b="on" i="off">
        <a:font>
          <a:latin typeface="Arial"/>
          <a:ea typeface="Arial"/>
          <a:cs typeface="Arial"/>
        </a:font>
        <a:srgbClr val="FFFFFF"/>
      </a:tcTxStyle>
      <a:tcStyle>
        <a:fill>
          <a:solidFill>
            <a:srgbClr val="D71B7F"/>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D71B7F"/>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D71B7F"/>
          </a:solidFill>
        </a:fill>
      </a:tcStyle>
    </a:firstRow>
    <a:neCell>
      <a:tcTxStyle b="off" i="off"/>
    </a:neCell>
    <a:nwCell>
      <a:tcTxStyle b="off" i="off"/>
    </a:nwCell>
  </a:tblStyle>
  <a:tblStyle styleId="{486883CD-E40B-490B-9AF7-50432A68762B}"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0409FBF-130E-4C89-B222-25A7FCDD58EE}" styleName="Table_3">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font" Target="fonts/MontserratSemiBold-regular.fntdata"/><Relationship Id="rId38" Type="http://schemas.openxmlformats.org/officeDocument/2006/relationships/font" Target="fonts/MontserratSemiBold-bold.fntdata"/><Relationship Id="rId39" Type="http://schemas.openxmlformats.org/officeDocument/2006/relationships/font" Target="fonts/MontserratSemiBold-italic.fntdata"/><Relationship Id="rId40" Type="http://schemas.openxmlformats.org/officeDocument/2006/relationships/font" Target="fonts/MontserratSemiBold-boldItalic.fntdata"/><Relationship Id="rId41" Type="http://schemas.openxmlformats.org/officeDocument/2006/relationships/font" Target="fonts/Montserrat-regular.fntdata"/><Relationship Id="rId42" Type="http://schemas.openxmlformats.org/officeDocument/2006/relationships/font" Target="fonts/Montserrat-bold.fntdata"/><Relationship Id="rId43" Type="http://schemas.openxmlformats.org/officeDocument/2006/relationships/font" Target="fonts/Montserrat-italic.fntdata"/><Relationship Id="rId44" Type="http://schemas.openxmlformats.org/officeDocument/2006/relationships/font" Target="fonts/Montserrat-boldItalic.fntdata"/><Relationship Id="rId45" Type="http://schemas.openxmlformats.org/officeDocument/2006/relationships/font" Target="fonts/MontserratMedium-regular.fntdata"/><Relationship Id="rId46" Type="http://schemas.openxmlformats.org/officeDocument/2006/relationships/font" Target="fonts/MontserratMedium-bold.fntdata"/><Relationship Id="rId47" Type="http://schemas.openxmlformats.org/officeDocument/2006/relationships/font" Target="fonts/MontserratMedium-italic.fntdata"/><Relationship Id="rId48" Type="http://schemas.openxmlformats.org/officeDocument/2006/relationships/font" Target="fonts/MontserratMedium-boldItalic.fntdata"/><Relationship Id="rId49" Type="http://schemas.openxmlformats.org/officeDocument/2006/relationships/font" Target="fonts/Tahoma-regular.fntdata"/><Relationship Id="rId50" Type="http://schemas.openxmlformats.org/officeDocument/2006/relationships/font" Target="fonts/Tahoma-bold.fntdata"/><Relationship Id="rId51" Type="http://schemas.openxmlformats.org/officeDocument/2006/relationships/font" Target="fonts/MontserratLight-regular.fntdata"/><Relationship Id="rId52" Type="http://schemas.openxmlformats.org/officeDocument/2006/relationships/font" Target="fonts/MontserratLight-bold.fntdata"/><Relationship Id="rId53" Type="http://schemas.openxmlformats.org/officeDocument/2006/relationships/font" Target="fonts/MontserratLight-italic.fntdata"/><Relationship Id="rId54" Type="http://schemas.openxmlformats.org/officeDocument/2006/relationships/font" Target="fonts/MontserratLight-boldItalic.fntdata"/><Relationship Id="rId55" Type="http://schemas.openxmlformats.org/officeDocument/2006/relationships/font" Target="fonts/CenturyGothic-regular.fntdata"/><Relationship Id="rId56" Type="http://schemas.openxmlformats.org/officeDocument/2006/relationships/font" Target="fonts/CenturyGothic-bold.fntdata"/><Relationship Id="rId57" Type="http://schemas.openxmlformats.org/officeDocument/2006/relationships/font" Target="fonts/CenturyGothic-italic.fntdata"/><Relationship Id="rId58" Type="http://schemas.openxmlformats.org/officeDocument/2006/relationships/font" Target="fonts/CenturyGothic-boldItalic.fntdata"/><Relationship Id="rId5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800">
                <a:solidFill>
                  <a:srgbClr val="666666"/>
                </a:solidFill>
                <a:latin typeface="Montserrat"/>
                <a:ea typeface="Montserrat"/>
                <a:cs typeface="Montserrat"/>
                <a:sym typeface="Montserrat"/>
              </a:rPr>
              <a:t>ChatBot Development - Sales &amp; After Sales ( Text to sequel problem)</a:t>
            </a:r>
            <a:endParaRPr sz="800">
              <a:latin typeface="Montserrat"/>
              <a:ea typeface="Montserrat"/>
              <a:cs typeface="Montserrat"/>
              <a:sym typeface="Montserra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6" name="Google Shape;52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9" name="Google Shape;54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2" name="Google Shape;57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1" name="Google Shape;59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4" name="Google Shape;61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9" name="Google Shape;62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5" name="Google Shape;64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4" name="Google Shape;66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3" name="Google Shape;67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2.png"/><Relationship Id="rId10"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8" name="Shape 8"/>
        <p:cNvGrpSpPr/>
        <p:nvPr/>
      </p:nvGrpSpPr>
      <p:grpSpPr>
        <a:xfrm>
          <a:off x="0" y="0"/>
          <a:ext cx="0" cy="0"/>
          <a:chOff x="0" y="0"/>
          <a:chExt cx="0" cy="0"/>
        </a:xfrm>
      </p:grpSpPr>
      <p:pic>
        <p:nvPicPr>
          <p:cNvPr id="9" name="Google Shape;9;p30"/>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10" name="Google Shape;10;p3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30"/>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12" name="Shape 12"/>
        <p:cNvGrpSpPr/>
        <p:nvPr/>
      </p:nvGrpSpPr>
      <p:grpSpPr>
        <a:xfrm>
          <a:off x="0" y="0"/>
          <a:ext cx="0" cy="0"/>
          <a:chOff x="0" y="0"/>
          <a:chExt cx="0" cy="0"/>
        </a:xfrm>
      </p:grpSpPr>
      <p:sp>
        <p:nvSpPr>
          <p:cNvPr id="13" name="Google Shape;13;p3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15" name="Google Shape;15;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16" name="Google Shape;16;p3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17" name="Google Shape;17;p3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18" name="Google Shape;18;p31"/>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9" name="Shape 19"/>
        <p:cNvGrpSpPr/>
        <p:nvPr/>
      </p:nvGrpSpPr>
      <p:grpSpPr>
        <a:xfrm>
          <a:off x="0" y="0"/>
          <a:ext cx="0" cy="0"/>
          <a:chOff x="0" y="0"/>
          <a:chExt cx="0" cy="0"/>
        </a:xfrm>
      </p:grpSpPr>
      <p:pic>
        <p:nvPicPr>
          <p:cNvPr id="20" name="Google Shape;20;p36"/>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21" name="Google Shape;21;p3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2" name="Google Shape;22;p36"/>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23" name="Shape 23"/>
        <p:cNvGrpSpPr/>
        <p:nvPr/>
      </p:nvGrpSpPr>
      <p:grpSpPr>
        <a:xfrm>
          <a:off x="0" y="0"/>
          <a:ext cx="0" cy="0"/>
          <a:chOff x="0" y="0"/>
          <a:chExt cx="0" cy="0"/>
        </a:xfrm>
      </p:grpSpPr>
      <p:pic>
        <p:nvPicPr>
          <p:cNvPr id="24" name="Google Shape;24;p44"/>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25" name="Google Shape;25;p44"/>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26" name="Google Shape;26;p44"/>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p:cSld name="TITLE_AND_TWO_COLUMNS_2">
    <p:spTree>
      <p:nvGrpSpPr>
        <p:cNvPr id="31" name="Shape 31"/>
        <p:cNvGrpSpPr/>
        <p:nvPr/>
      </p:nvGrpSpPr>
      <p:grpSpPr>
        <a:xfrm>
          <a:off x="0" y="0"/>
          <a:ext cx="0" cy="0"/>
          <a:chOff x="0" y="0"/>
          <a:chExt cx="0" cy="0"/>
        </a:xfrm>
      </p:grpSpPr>
      <p:sp>
        <p:nvSpPr>
          <p:cNvPr id="32" name="Google Shape;32;p3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3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34" name="Google Shape;34;p33"/>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35" name="Google Shape;35;p3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36" name="Google Shape;36;p33"/>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
        <p:nvSpPr>
          <p:cNvPr id="37" name="Google Shape;37;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38" name="Shape 38"/>
        <p:cNvGrpSpPr/>
        <p:nvPr/>
      </p:nvGrpSpPr>
      <p:grpSpPr>
        <a:xfrm>
          <a:off x="0" y="0"/>
          <a:ext cx="0" cy="0"/>
          <a:chOff x="0" y="0"/>
          <a:chExt cx="0" cy="0"/>
        </a:xfrm>
      </p:grpSpPr>
      <p:pic>
        <p:nvPicPr>
          <p:cNvPr id="39" name="Google Shape;39;p34"/>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40" name="Google Shape;40;p3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4"/>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42" name="Google Shape;42;p34"/>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43" name="Google Shape;43;p34"/>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44" name="Google Shape;44;p34"/>
          <p:cNvPicPr preferRelativeResize="0"/>
          <p:nvPr/>
        </p:nvPicPr>
        <p:blipFill rotWithShape="1">
          <a:blip r:embed="rId4">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45" name="Shape 45"/>
        <p:cNvGrpSpPr/>
        <p:nvPr/>
      </p:nvGrpSpPr>
      <p:grpSpPr>
        <a:xfrm>
          <a:off x="0" y="0"/>
          <a:ext cx="0" cy="0"/>
          <a:chOff x="0" y="0"/>
          <a:chExt cx="0" cy="0"/>
        </a:xfrm>
      </p:grpSpPr>
      <p:sp>
        <p:nvSpPr>
          <p:cNvPr id="46" name="Google Shape;46;p3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47" name="Google Shape;47;p3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48" name="Google Shape;48;p3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USTOM_6_1_1_1_1_1_1_1_2_1_2_1">
    <p:bg>
      <p:bgPr>
        <a:noFill/>
      </p:bgPr>
    </p:bg>
    <p:spTree>
      <p:nvGrpSpPr>
        <p:cNvPr id="49" name="Shape 49"/>
        <p:cNvGrpSpPr/>
        <p:nvPr/>
      </p:nvGrpSpPr>
      <p:grpSpPr>
        <a:xfrm>
          <a:off x="0" y="0"/>
          <a:ext cx="0" cy="0"/>
          <a:chOff x="0" y="0"/>
          <a:chExt cx="0" cy="0"/>
        </a:xfrm>
      </p:grpSpPr>
      <p:pic>
        <p:nvPicPr>
          <p:cNvPr id="50" name="Google Shape;50;p37"/>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51" name="Google Shape;51;p37"/>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2" name="Google Shape;52;p37"/>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53" name="Google Shape;53;p37"/>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pic>
        <p:nvPicPr>
          <p:cNvPr id="54" name="Google Shape;54;p37"/>
          <p:cNvPicPr preferRelativeResize="0"/>
          <p:nvPr/>
        </p:nvPicPr>
        <p:blipFill rotWithShape="1">
          <a:blip r:embed="rId4">
            <a:alphaModFix/>
          </a:blip>
          <a:srcRect b="3747" l="0" r="0" t="3738"/>
          <a:stretch/>
        </p:blipFill>
        <p:spPr>
          <a:xfrm>
            <a:off x="5628871" y="4764214"/>
            <a:ext cx="527963" cy="207109"/>
          </a:xfrm>
          <a:prstGeom prst="rect">
            <a:avLst/>
          </a:prstGeom>
          <a:noFill/>
          <a:ln>
            <a:noFill/>
          </a:ln>
        </p:spPr>
      </p:pic>
      <p:pic>
        <p:nvPicPr>
          <p:cNvPr id="55" name="Google Shape;55;p37"/>
          <p:cNvPicPr preferRelativeResize="0"/>
          <p:nvPr/>
        </p:nvPicPr>
        <p:blipFill rotWithShape="1">
          <a:blip r:embed="rId5">
            <a:alphaModFix/>
          </a:blip>
          <a:srcRect b="0" l="0" r="0" t="0"/>
          <a:stretch/>
        </p:blipFill>
        <p:spPr>
          <a:xfrm>
            <a:off x="4492492" y="4767423"/>
            <a:ext cx="1005406" cy="200690"/>
          </a:xfrm>
          <a:prstGeom prst="rect">
            <a:avLst/>
          </a:prstGeom>
          <a:noFill/>
          <a:ln>
            <a:noFill/>
          </a:ln>
        </p:spPr>
      </p:pic>
      <p:sp>
        <p:nvSpPr>
          <p:cNvPr id="56" name="Google Shape;56;p37"/>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57" name="Google Shape;57;p37"/>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58" name="Google Shape;58;p37"/>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59" name="Google Shape;59;p37"/>
          <p:cNvPicPr preferRelativeResize="0"/>
          <p:nvPr/>
        </p:nvPicPr>
        <p:blipFill rotWithShape="1">
          <a:blip r:embed="rId6">
            <a:alphaModFix/>
          </a:blip>
          <a:srcRect b="0" l="0" r="0" t="0"/>
          <a:stretch/>
        </p:blipFill>
        <p:spPr>
          <a:xfrm>
            <a:off x="3582794" y="4773820"/>
            <a:ext cx="772999" cy="207102"/>
          </a:xfrm>
          <a:prstGeom prst="rect">
            <a:avLst/>
          </a:prstGeom>
          <a:noFill/>
          <a:ln>
            <a:noFill/>
          </a:ln>
        </p:spPr>
      </p:pic>
      <p:cxnSp>
        <p:nvCxnSpPr>
          <p:cNvPr id="60" name="Google Shape;60;p37"/>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61" name="Google Shape;61;p37"/>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62" name="Google Shape;62;p37"/>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63" name="Google Shape;63;p37"/>
          <p:cNvPicPr preferRelativeResize="0"/>
          <p:nvPr/>
        </p:nvPicPr>
        <p:blipFill rotWithShape="1">
          <a:blip r:embed="rId7">
            <a:alphaModFix/>
          </a:blip>
          <a:srcRect b="0" l="0" r="0" t="0"/>
          <a:stretch/>
        </p:blipFill>
        <p:spPr>
          <a:xfrm>
            <a:off x="1835298" y="4767421"/>
            <a:ext cx="711135" cy="200693"/>
          </a:xfrm>
          <a:prstGeom prst="rect">
            <a:avLst/>
          </a:prstGeom>
          <a:noFill/>
          <a:ln>
            <a:noFill/>
          </a:ln>
        </p:spPr>
      </p:pic>
      <p:pic>
        <p:nvPicPr>
          <p:cNvPr id="64" name="Google Shape;64;p37"/>
          <p:cNvPicPr preferRelativeResize="0"/>
          <p:nvPr/>
        </p:nvPicPr>
        <p:blipFill rotWithShape="1">
          <a:blip r:embed="rId8">
            <a:alphaModFix/>
          </a:blip>
          <a:srcRect b="0" l="0" r="0" t="0"/>
          <a:stretch/>
        </p:blipFill>
        <p:spPr>
          <a:xfrm>
            <a:off x="2709573" y="4788445"/>
            <a:ext cx="730426" cy="158646"/>
          </a:xfrm>
          <a:prstGeom prst="rect">
            <a:avLst/>
          </a:prstGeom>
          <a:noFill/>
          <a:ln>
            <a:noFill/>
          </a:ln>
        </p:spPr>
      </p:pic>
      <p:pic>
        <p:nvPicPr>
          <p:cNvPr id="65" name="Google Shape;65;p37"/>
          <p:cNvPicPr preferRelativeResize="0"/>
          <p:nvPr/>
        </p:nvPicPr>
        <p:blipFill rotWithShape="1">
          <a:blip r:embed="rId9">
            <a:alphaModFix/>
          </a:blip>
          <a:srcRect b="0" l="0" r="0" t="0"/>
          <a:stretch/>
        </p:blipFill>
        <p:spPr>
          <a:xfrm>
            <a:off x="1238250" y="271780"/>
            <a:ext cx="1380825" cy="706105"/>
          </a:xfrm>
          <a:prstGeom prst="rect">
            <a:avLst/>
          </a:prstGeom>
          <a:noFill/>
          <a:ln>
            <a:noFill/>
          </a:ln>
        </p:spPr>
      </p:pic>
      <p:pic>
        <p:nvPicPr>
          <p:cNvPr id="66" name="Google Shape;66;p37"/>
          <p:cNvPicPr preferRelativeResize="0"/>
          <p:nvPr/>
        </p:nvPicPr>
        <p:blipFill rotWithShape="1">
          <a:blip r:embed="rId10">
            <a:alphaModFix/>
          </a:blip>
          <a:srcRect b="0" l="0" r="0" t="0"/>
          <a:stretch/>
        </p:blipFill>
        <p:spPr>
          <a:xfrm>
            <a:off x="190536" y="188515"/>
            <a:ext cx="941500" cy="1410499"/>
          </a:xfrm>
          <a:prstGeom prst="rect">
            <a:avLst/>
          </a:prstGeom>
          <a:noFill/>
          <a:ln>
            <a:noFill/>
          </a:ln>
        </p:spPr>
      </p:pic>
      <p:sp>
        <p:nvSpPr>
          <p:cNvPr id="67" name="Google Shape;67;p37"/>
          <p:cNvSpPr txBox="1"/>
          <p:nvPr>
            <p:ph type="title"/>
          </p:nvPr>
        </p:nvSpPr>
        <p:spPr>
          <a:xfrm>
            <a:off x="283675" y="2500825"/>
            <a:ext cx="5466600" cy="11346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1pPr>
            <a:lvl2pPr lvl="1"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2pPr>
            <a:lvl3pPr lvl="2"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3pPr>
            <a:lvl4pPr lvl="3"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4pPr>
            <a:lvl5pPr lvl="4"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5pPr>
            <a:lvl6pPr lvl="5"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6pPr>
            <a:lvl7pPr lvl="6"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7pPr>
            <a:lvl8pPr lvl="7"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8pPr>
            <a:lvl9pPr lvl="8"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68" name="Shape 68"/>
        <p:cNvGrpSpPr/>
        <p:nvPr/>
      </p:nvGrpSpPr>
      <p:grpSpPr>
        <a:xfrm>
          <a:off x="0" y="0"/>
          <a:ext cx="0" cy="0"/>
          <a:chOff x="0" y="0"/>
          <a:chExt cx="0" cy="0"/>
        </a:xfrm>
      </p:grpSpPr>
      <p:pic>
        <p:nvPicPr>
          <p:cNvPr id="69" name="Google Shape;69;p38"/>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70" name="Google Shape;70;p38"/>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71" name="Google Shape;71;p38"/>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Black logo 1 1 1 1 1 1 1 2 1 2 1">
  <p:cSld name="CUSTOM_6_1_1_1_1_1_1_1_2_1_2_1_1">
    <p:bg>
      <p:bgPr>
        <a:noFill/>
      </p:bgPr>
    </p:bg>
    <p:spTree>
      <p:nvGrpSpPr>
        <p:cNvPr id="72" name="Shape 72"/>
        <p:cNvGrpSpPr/>
        <p:nvPr/>
      </p:nvGrpSpPr>
      <p:grpSpPr>
        <a:xfrm>
          <a:off x="0" y="0"/>
          <a:ext cx="0" cy="0"/>
          <a:chOff x="0" y="0"/>
          <a:chExt cx="0" cy="0"/>
        </a:xfrm>
      </p:grpSpPr>
      <p:pic>
        <p:nvPicPr>
          <p:cNvPr id="73" name="Google Shape;73;p39"/>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74" name="Google Shape;74;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39"/>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6" name="Google Shape;76;p39"/>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77" name="Google Shape;77;p39"/>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4">
  <p:cSld name="TITLE_AND_TWO_COLUMNS_1_2_7">
    <p:spTree>
      <p:nvGrpSpPr>
        <p:cNvPr id="78" name="Shape 78"/>
        <p:cNvGrpSpPr/>
        <p:nvPr/>
      </p:nvGrpSpPr>
      <p:grpSpPr>
        <a:xfrm>
          <a:off x="0" y="0"/>
          <a:ext cx="0" cy="0"/>
          <a:chOff x="0" y="0"/>
          <a:chExt cx="0" cy="0"/>
        </a:xfrm>
      </p:grpSpPr>
      <p:sp>
        <p:nvSpPr>
          <p:cNvPr id="79" name="Google Shape;79;p40"/>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0" name="Google Shape;80;p40"/>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1" name="Google Shape;81;p40"/>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82" name="Google Shape;82;p40"/>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2">
  <p:cSld name="TITLE_AND_TWO_COLUMNS_1_2_9">
    <p:spTree>
      <p:nvGrpSpPr>
        <p:cNvPr id="83" name="Shape 83"/>
        <p:cNvGrpSpPr/>
        <p:nvPr/>
      </p:nvGrpSpPr>
      <p:grpSpPr>
        <a:xfrm>
          <a:off x="0" y="0"/>
          <a:ext cx="0" cy="0"/>
          <a:chOff x="0" y="0"/>
          <a:chExt cx="0" cy="0"/>
        </a:xfrm>
      </p:grpSpPr>
      <p:sp>
        <p:nvSpPr>
          <p:cNvPr id="84" name="Google Shape;84;p41"/>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5" name="Google Shape;85;p4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6" name="Google Shape;86;p4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87" name="Google Shape;87;p41"/>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3">
  <p:cSld name="TITLE_AND_TWO_COLUMNS_1_2_10">
    <p:spTree>
      <p:nvGrpSpPr>
        <p:cNvPr id="88" name="Shape 88"/>
        <p:cNvGrpSpPr/>
        <p:nvPr/>
      </p:nvGrpSpPr>
      <p:grpSpPr>
        <a:xfrm>
          <a:off x="0" y="0"/>
          <a:ext cx="0" cy="0"/>
          <a:chOff x="0" y="0"/>
          <a:chExt cx="0" cy="0"/>
        </a:xfrm>
      </p:grpSpPr>
      <p:sp>
        <p:nvSpPr>
          <p:cNvPr id="89" name="Google Shape;89;p42"/>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90" name="Google Shape;90;p42"/>
          <p:cNvPicPr preferRelativeResize="0"/>
          <p:nvPr/>
        </p:nvPicPr>
        <p:blipFill rotWithShape="1">
          <a:blip r:embed="rId2">
            <a:alphaModFix/>
          </a:blip>
          <a:srcRect b="0" l="0" r="0" t="0"/>
          <a:stretch/>
        </p:blipFill>
        <p:spPr>
          <a:xfrm>
            <a:off x="8295649" y="178006"/>
            <a:ext cx="648924" cy="36249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1 1">
  <p:cSld name="TITLE_AND_TWO_COLUMNS_2_1_1_1">
    <p:spTree>
      <p:nvGrpSpPr>
        <p:cNvPr id="91" name="Shape 91"/>
        <p:cNvGrpSpPr/>
        <p:nvPr/>
      </p:nvGrpSpPr>
      <p:grpSpPr>
        <a:xfrm>
          <a:off x="0" y="0"/>
          <a:ext cx="0" cy="0"/>
          <a:chOff x="0" y="0"/>
          <a:chExt cx="0" cy="0"/>
        </a:xfrm>
      </p:grpSpPr>
      <p:pic>
        <p:nvPicPr>
          <p:cNvPr id="92" name="Google Shape;92;p43"/>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93" name="Google Shape;93;p4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4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95" name="Google Shape;95;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96" name="Google Shape;96;p43"/>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97" name="Google Shape;97;p4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98" name="Google Shape;98;p43"/>
          <p:cNvPicPr preferRelativeResize="0"/>
          <p:nvPr/>
        </p:nvPicPr>
        <p:blipFill rotWithShape="1">
          <a:blip r:embed="rId4">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3" name="Shape 103"/>
        <p:cNvGrpSpPr/>
        <p:nvPr/>
      </p:nvGrpSpPr>
      <p:grpSpPr>
        <a:xfrm>
          <a:off x="0" y="0"/>
          <a:ext cx="0" cy="0"/>
          <a:chOff x="0" y="0"/>
          <a:chExt cx="0" cy="0"/>
        </a:xfrm>
      </p:grpSpPr>
      <p:sp>
        <p:nvSpPr>
          <p:cNvPr id="104" name="Google Shape;104;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5" name="Google Shape;105;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6" name="Google Shape;106;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4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9" name="Google Shape;109;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0" name="Shape 110"/>
        <p:cNvGrpSpPr/>
        <p:nvPr/>
      </p:nvGrpSpPr>
      <p:grpSpPr>
        <a:xfrm>
          <a:off x="0" y="0"/>
          <a:ext cx="0" cy="0"/>
          <a:chOff x="0" y="0"/>
          <a:chExt cx="0" cy="0"/>
        </a:xfrm>
      </p:grpSpPr>
      <p:sp>
        <p:nvSpPr>
          <p:cNvPr id="111" name="Google Shape;111;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 name="Google Shape;112;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3" name="Google Shape;11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sp>
        <p:nvSpPr>
          <p:cNvPr id="115" name="Google Shape;115;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p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7" name="Google Shape;117;p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8" name="Google Shape;118;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 name="Shape 119"/>
        <p:cNvGrpSpPr/>
        <p:nvPr/>
      </p:nvGrpSpPr>
      <p:grpSpPr>
        <a:xfrm>
          <a:off x="0" y="0"/>
          <a:ext cx="0" cy="0"/>
          <a:chOff x="0" y="0"/>
          <a:chExt cx="0" cy="0"/>
        </a:xfrm>
      </p:grpSpPr>
      <p:sp>
        <p:nvSpPr>
          <p:cNvPr id="120" name="Google Shape;120;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2" name="Shape 122"/>
        <p:cNvGrpSpPr/>
        <p:nvPr/>
      </p:nvGrpSpPr>
      <p:grpSpPr>
        <a:xfrm>
          <a:off x="0" y="0"/>
          <a:ext cx="0" cy="0"/>
          <a:chOff x="0" y="0"/>
          <a:chExt cx="0" cy="0"/>
        </a:xfrm>
      </p:grpSpPr>
      <p:sp>
        <p:nvSpPr>
          <p:cNvPr id="123" name="Google Shape;123;p5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24" name="Google Shape;124;p5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5" name="Google Shape;12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6" name="Shape 126"/>
        <p:cNvGrpSpPr/>
        <p:nvPr/>
      </p:nvGrpSpPr>
      <p:grpSpPr>
        <a:xfrm>
          <a:off x="0" y="0"/>
          <a:ext cx="0" cy="0"/>
          <a:chOff x="0" y="0"/>
          <a:chExt cx="0" cy="0"/>
        </a:xfrm>
      </p:grpSpPr>
      <p:sp>
        <p:nvSpPr>
          <p:cNvPr id="127" name="Google Shape;127;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8" name="Google Shape;128;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sp>
        <p:nvSpPr>
          <p:cNvPr id="130" name="Google Shape;130;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32" name="Google Shape;132;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33" name="Google Shape;133;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4" name="Google Shape;13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sp>
        <p:nvSpPr>
          <p:cNvPr id="136" name="Google Shape;136;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37" name="Google Shape;137;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8" name="Shape 138"/>
        <p:cNvGrpSpPr/>
        <p:nvPr/>
      </p:nvGrpSpPr>
      <p:grpSpPr>
        <a:xfrm>
          <a:off x="0" y="0"/>
          <a:ext cx="0" cy="0"/>
          <a:chOff x="0" y="0"/>
          <a:chExt cx="0" cy="0"/>
        </a:xfrm>
      </p:grpSpPr>
      <p:sp>
        <p:nvSpPr>
          <p:cNvPr id="139" name="Google Shape;139;p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40" name="Google Shape;140;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41" name="Google Shape;141;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2" name="Shape 142"/>
        <p:cNvGrpSpPr/>
        <p:nvPr/>
      </p:nvGrpSpPr>
      <p:grpSpPr>
        <a:xfrm>
          <a:off x="0" y="0"/>
          <a:ext cx="0" cy="0"/>
          <a:chOff x="0" y="0"/>
          <a:chExt cx="0" cy="0"/>
        </a:xfrm>
      </p:grpSpPr>
      <p:sp>
        <p:nvSpPr>
          <p:cNvPr id="143" name="Google Shape;143;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2.png"/><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9"/>
          <p:cNvPicPr preferRelativeResize="0"/>
          <p:nvPr/>
        </p:nvPicPr>
        <p:blipFill rotWithShape="1">
          <a:blip r:embed="rId1">
            <a:alphaModFix/>
          </a:blip>
          <a:srcRect b="0" l="0" r="0" t="0"/>
          <a:stretch/>
        </p:blipFill>
        <p:spPr>
          <a:xfrm>
            <a:off x="-10" y="5071684"/>
            <a:ext cx="9151473" cy="80441"/>
          </a:xfrm>
          <a:prstGeom prst="rect">
            <a:avLst/>
          </a:prstGeom>
          <a:noFill/>
          <a:ln>
            <a:noFill/>
          </a:ln>
        </p:spPr>
      </p:pic>
      <p:sp>
        <p:nvSpPr>
          <p:cNvPr id="7" name="Google Shape;7;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pic>
        <p:nvPicPr>
          <p:cNvPr id="28" name="Google Shape;28;p32"/>
          <p:cNvPicPr preferRelativeResize="0"/>
          <p:nvPr/>
        </p:nvPicPr>
        <p:blipFill rotWithShape="1">
          <a:blip r:embed="rId1">
            <a:alphaModFix/>
          </a:blip>
          <a:srcRect b="56881" l="299" r="0" t="4"/>
          <a:stretch/>
        </p:blipFill>
        <p:spPr>
          <a:xfrm>
            <a:off x="-7475" y="5125600"/>
            <a:ext cx="9151474" cy="17899"/>
          </a:xfrm>
          <a:prstGeom prst="rect">
            <a:avLst/>
          </a:prstGeom>
          <a:noFill/>
          <a:ln>
            <a:noFill/>
          </a:ln>
        </p:spPr>
      </p:pic>
      <p:pic>
        <p:nvPicPr>
          <p:cNvPr id="29" name="Google Shape;29;p32"/>
          <p:cNvPicPr preferRelativeResize="0"/>
          <p:nvPr/>
        </p:nvPicPr>
        <p:blipFill rotWithShape="1">
          <a:blip r:embed="rId2">
            <a:alphaModFix/>
          </a:blip>
          <a:srcRect b="0" l="0" r="0" t="0"/>
          <a:stretch/>
        </p:blipFill>
        <p:spPr>
          <a:xfrm>
            <a:off x="-10" y="5071684"/>
            <a:ext cx="9151473" cy="80441"/>
          </a:xfrm>
          <a:prstGeom prst="rect">
            <a:avLst/>
          </a:prstGeom>
          <a:noFill/>
          <a:ln>
            <a:noFill/>
          </a:ln>
        </p:spPr>
      </p:pic>
      <p:sp>
        <p:nvSpPr>
          <p:cNvPr id="30" name="Google Shape;30;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9" name="Shape 99"/>
        <p:cNvGrpSpPr/>
        <p:nvPr/>
      </p:nvGrpSpPr>
      <p:grpSpPr>
        <a:xfrm>
          <a:off x="0" y="0"/>
          <a:ext cx="0" cy="0"/>
          <a:chOff x="0" y="0"/>
          <a:chExt cx="0" cy="0"/>
        </a:xfrm>
      </p:grpSpPr>
      <p:sp>
        <p:nvSpPr>
          <p:cNvPr id="100" name="Google Shape;100;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01" name="Google Shape;101;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02" name="Google Shape;102;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2.png"/><Relationship Id="rId9" Type="http://schemas.openxmlformats.org/officeDocument/2006/relationships/image" Target="../media/image16.png"/><Relationship Id="rId10" Type="http://schemas.openxmlformats.org/officeDocument/2006/relationships/image" Target="../media/image20.png"/><Relationship Id="rId11"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2.png"/><Relationship Id="rId4" Type="http://schemas.openxmlformats.org/officeDocument/2006/relationships/image" Target="../media/image28.png"/><Relationship Id="rId5" Type="http://schemas.openxmlformats.org/officeDocument/2006/relationships/image" Target="../media/image45.png"/><Relationship Id="rId6" Type="http://schemas.openxmlformats.org/officeDocument/2006/relationships/image" Target="../media/image33.png"/><Relationship Id="rId7" Type="http://schemas.openxmlformats.org/officeDocument/2006/relationships/image" Target="../media/image29.png"/><Relationship Id="rId8" Type="http://schemas.openxmlformats.org/officeDocument/2006/relationships/image" Target="../media/image27.png"/><Relationship Id="rId9" Type="http://schemas.openxmlformats.org/officeDocument/2006/relationships/image" Target="../media/image35.png"/><Relationship Id="rId10" Type="http://schemas.openxmlformats.org/officeDocument/2006/relationships/image" Target="../media/image15.png"/><Relationship Id="rId11"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44.png"/><Relationship Id="rId6" Type="http://schemas.openxmlformats.org/officeDocument/2006/relationships/image" Target="../media/image38.png"/><Relationship Id="rId7" Type="http://schemas.openxmlformats.org/officeDocument/2006/relationships/image" Target="../media/image42.png"/><Relationship Id="rId8" Type="http://schemas.openxmlformats.org/officeDocument/2006/relationships/image" Target="../media/image41.png"/><Relationship Id="rId9" Type="http://schemas.openxmlformats.org/officeDocument/2006/relationships/image" Target="../media/image37.png"/><Relationship Id="rId10"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6.png"/><Relationship Id="rId4" Type="http://schemas.openxmlformats.org/officeDocument/2006/relationships/image" Target="../media/image40.png"/><Relationship Id="rId5" Type="http://schemas.openxmlformats.org/officeDocument/2006/relationships/image" Target="../media/image39.png"/><Relationship Id="rId6" Type="http://schemas.openxmlformats.org/officeDocument/2006/relationships/image" Target="../media/image44.png"/><Relationship Id="rId7" Type="http://schemas.openxmlformats.org/officeDocument/2006/relationships/image" Target="../media/image42.png"/><Relationship Id="rId8" Type="http://schemas.openxmlformats.org/officeDocument/2006/relationships/image" Target="../media/image41.png"/><Relationship Id="rId9" Type="http://schemas.openxmlformats.org/officeDocument/2006/relationships/image" Target="../media/image43.png"/><Relationship Id="rId10" Type="http://schemas.openxmlformats.org/officeDocument/2006/relationships/image" Target="../media/image46.png"/><Relationship Id="rId11"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44.png"/><Relationship Id="rId6" Type="http://schemas.openxmlformats.org/officeDocument/2006/relationships/image" Target="../media/image42.png"/><Relationship Id="rId7" Type="http://schemas.openxmlformats.org/officeDocument/2006/relationships/image" Target="../media/image41.png"/><Relationship Id="rId8" Type="http://schemas.openxmlformats.org/officeDocument/2006/relationships/image" Target="../media/image51.png"/><Relationship Id="rId9" Type="http://schemas.openxmlformats.org/officeDocument/2006/relationships/image" Target="../media/image49.png"/><Relationship Id="rId10" Type="http://schemas.openxmlformats.org/officeDocument/2006/relationships/image" Target="../media/image15.png"/><Relationship Id="rId11" Type="http://schemas.openxmlformats.org/officeDocument/2006/relationships/image" Target="../media/image47.png"/><Relationship Id="rId12" Type="http://schemas.openxmlformats.org/officeDocument/2006/relationships/image" Target="../media/image48.png"/><Relationship Id="rId13"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
          <p:cNvPicPr preferRelativeResize="0"/>
          <p:nvPr/>
        </p:nvPicPr>
        <p:blipFill rotWithShape="1">
          <a:blip r:embed="rId3">
            <a:alphaModFix/>
          </a:blip>
          <a:srcRect b="3747" l="0" r="0" t="3738"/>
          <a:stretch/>
        </p:blipFill>
        <p:spPr>
          <a:xfrm>
            <a:off x="5628871" y="4764214"/>
            <a:ext cx="527963" cy="207109"/>
          </a:xfrm>
          <a:prstGeom prst="rect">
            <a:avLst/>
          </a:prstGeom>
          <a:noFill/>
          <a:ln>
            <a:noFill/>
          </a:ln>
        </p:spPr>
      </p:pic>
      <p:pic>
        <p:nvPicPr>
          <p:cNvPr id="149" name="Google Shape;149;p1"/>
          <p:cNvPicPr preferRelativeResize="0"/>
          <p:nvPr/>
        </p:nvPicPr>
        <p:blipFill rotWithShape="1">
          <a:blip r:embed="rId4">
            <a:alphaModFix/>
          </a:blip>
          <a:srcRect b="0" l="0" r="0" t="0"/>
          <a:stretch/>
        </p:blipFill>
        <p:spPr>
          <a:xfrm>
            <a:off x="4492492" y="4767423"/>
            <a:ext cx="1005406" cy="200690"/>
          </a:xfrm>
          <a:prstGeom prst="rect">
            <a:avLst/>
          </a:prstGeom>
          <a:noFill/>
          <a:ln>
            <a:noFill/>
          </a:ln>
        </p:spPr>
      </p:pic>
      <p:sp>
        <p:nvSpPr>
          <p:cNvPr id="150" name="Google Shape;150;p1"/>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151" name="Google Shape;151;p1"/>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152" name="Google Shape;152;p1"/>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3" name="Google Shape;153;p1"/>
          <p:cNvPicPr preferRelativeResize="0"/>
          <p:nvPr/>
        </p:nvPicPr>
        <p:blipFill rotWithShape="1">
          <a:blip r:embed="rId5">
            <a:alphaModFix/>
          </a:blip>
          <a:srcRect b="0" l="0" r="0" t="0"/>
          <a:stretch/>
        </p:blipFill>
        <p:spPr>
          <a:xfrm>
            <a:off x="3582794" y="4773820"/>
            <a:ext cx="772999" cy="207102"/>
          </a:xfrm>
          <a:prstGeom prst="rect">
            <a:avLst/>
          </a:prstGeom>
          <a:noFill/>
          <a:ln>
            <a:noFill/>
          </a:ln>
        </p:spPr>
      </p:pic>
      <p:cxnSp>
        <p:nvCxnSpPr>
          <p:cNvPr id="154" name="Google Shape;154;p1"/>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155" name="Google Shape;155;p1"/>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156" name="Google Shape;156;p1"/>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7" name="Google Shape;157;p1"/>
          <p:cNvPicPr preferRelativeResize="0"/>
          <p:nvPr/>
        </p:nvPicPr>
        <p:blipFill rotWithShape="1">
          <a:blip r:embed="rId6">
            <a:alphaModFix/>
          </a:blip>
          <a:srcRect b="0" l="0" r="0" t="0"/>
          <a:stretch/>
        </p:blipFill>
        <p:spPr>
          <a:xfrm>
            <a:off x="1835298" y="4767421"/>
            <a:ext cx="711135" cy="200693"/>
          </a:xfrm>
          <a:prstGeom prst="rect">
            <a:avLst/>
          </a:prstGeom>
          <a:noFill/>
          <a:ln>
            <a:noFill/>
          </a:ln>
        </p:spPr>
      </p:pic>
      <p:pic>
        <p:nvPicPr>
          <p:cNvPr id="158" name="Google Shape;158;p1"/>
          <p:cNvPicPr preferRelativeResize="0"/>
          <p:nvPr/>
        </p:nvPicPr>
        <p:blipFill rotWithShape="1">
          <a:blip r:embed="rId7">
            <a:alphaModFix/>
          </a:blip>
          <a:srcRect b="0" l="0" r="0" t="0"/>
          <a:stretch/>
        </p:blipFill>
        <p:spPr>
          <a:xfrm>
            <a:off x="2709573" y="4788445"/>
            <a:ext cx="730426" cy="158646"/>
          </a:xfrm>
          <a:prstGeom prst="rect">
            <a:avLst/>
          </a:prstGeom>
          <a:noFill/>
          <a:ln>
            <a:noFill/>
          </a:ln>
        </p:spPr>
      </p:pic>
      <p:pic>
        <p:nvPicPr>
          <p:cNvPr id="159" name="Google Shape;159;p1"/>
          <p:cNvPicPr preferRelativeResize="0"/>
          <p:nvPr/>
        </p:nvPicPr>
        <p:blipFill rotWithShape="1">
          <a:blip r:embed="rId8">
            <a:alphaModFix/>
          </a:blip>
          <a:srcRect b="0" l="0" r="0" t="0"/>
          <a:stretch/>
        </p:blipFill>
        <p:spPr>
          <a:xfrm>
            <a:off x="249975" y="246249"/>
            <a:ext cx="1145175" cy="585599"/>
          </a:xfrm>
          <a:prstGeom prst="rect">
            <a:avLst/>
          </a:prstGeom>
          <a:noFill/>
          <a:ln>
            <a:noFill/>
          </a:ln>
        </p:spPr>
      </p:pic>
      <p:sp>
        <p:nvSpPr>
          <p:cNvPr id="160" name="Google Shape;160;p1"/>
          <p:cNvSpPr txBox="1"/>
          <p:nvPr/>
        </p:nvSpPr>
        <p:spPr>
          <a:xfrm>
            <a:off x="452550" y="2096825"/>
            <a:ext cx="6849000" cy="2123700"/>
          </a:xfrm>
          <a:prstGeom prst="rect">
            <a:avLst/>
          </a:prstGeom>
          <a:noFill/>
          <a:ln>
            <a:noFill/>
          </a:ln>
        </p:spPr>
        <p:txBody>
          <a:bodyPr anchorCtr="0" anchor="t" bIns="91425" lIns="91425" spcFirstLastPara="1" rIns="91425" wrap="square" tIns="91425">
            <a:noAutofit/>
          </a:bodyPr>
          <a:lstStyle/>
          <a:p>
            <a:r>
              <a:t>TTN Proposal | Apex Retail Solutions</a:t>
            </a:r>
          </a:p>
          <a:p>
            <a:r>
              <a:t>Date : 11 Sep 2026</a:t>
            </a:r>
          </a:p>
          <a:p>
            <a:r>
              <a:t>Ref : 499f4163-80a6-495e-b70b-4bbc21a4f375</a:t>
            </a:r>
          </a:p>
        </p:txBody>
      </p:sp>
      <p:cxnSp>
        <p:nvCxnSpPr>
          <p:cNvPr id="161" name="Google Shape;161;p1"/>
          <p:cNvCxnSpPr/>
          <p:nvPr/>
        </p:nvCxnSpPr>
        <p:spPr>
          <a:xfrm>
            <a:off x="300149" y="2165563"/>
            <a:ext cx="0" cy="1057800"/>
          </a:xfrm>
          <a:prstGeom prst="straightConnector1">
            <a:avLst/>
          </a:prstGeom>
          <a:noFill/>
          <a:ln cap="flat" cmpd="sng" w="76200">
            <a:solidFill>
              <a:srgbClr val="5424A0"/>
            </a:solidFill>
            <a:prstDash val="solid"/>
            <a:round/>
            <a:headEnd len="sm" w="sm" type="none"/>
            <a:tailEnd len="sm" w="sm" type="none"/>
          </a:ln>
        </p:spPr>
      </p:cxnSp>
      <p:pic>
        <p:nvPicPr>
          <p:cNvPr id="162" name="Google Shape;162;p1"/>
          <p:cNvPicPr preferRelativeResize="0"/>
          <p:nvPr/>
        </p:nvPicPr>
        <p:blipFill rotWithShape="1">
          <a:blip r:embed="rId9">
            <a:alphaModFix/>
          </a:blip>
          <a:srcRect b="3131" l="0" r="0" t="3122"/>
          <a:stretch/>
        </p:blipFill>
        <p:spPr>
          <a:xfrm>
            <a:off x="5213775" y="246250"/>
            <a:ext cx="3634284" cy="585600"/>
          </a:xfrm>
          <a:prstGeom prst="rect">
            <a:avLst/>
          </a:prstGeom>
          <a:noFill/>
          <a:ln>
            <a:noFill/>
          </a:ln>
        </p:spPr>
      </p:pic>
      <p:pic>
        <p:nvPicPr>
          <p:cNvPr id="163" name="Google Shape;163;p1"/>
          <p:cNvPicPr preferRelativeResize="0"/>
          <p:nvPr/>
        </p:nvPicPr>
        <p:blipFill rotWithShape="1">
          <a:blip r:embed="rId10">
            <a:alphaModFix/>
          </a:blip>
          <a:srcRect b="-10" l="-6921" r="-6910" t="10"/>
          <a:stretch/>
        </p:blipFill>
        <p:spPr>
          <a:xfrm>
            <a:off x="6287808" y="4668680"/>
            <a:ext cx="265774" cy="398125"/>
          </a:xfrm>
          <a:prstGeom prst="rect">
            <a:avLst/>
          </a:prstGeom>
          <a:noFill/>
          <a:ln>
            <a:noFill/>
          </a:ln>
        </p:spPr>
      </p:pic>
      <p:cxnSp>
        <p:nvCxnSpPr>
          <p:cNvPr id="164" name="Google Shape;164;p1"/>
          <p:cNvCxnSpPr/>
          <p:nvPr/>
        </p:nvCxnSpPr>
        <p:spPr>
          <a:xfrm>
            <a:off x="6204494"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65" name="Google Shape;165;p1"/>
          <p:cNvPicPr preferRelativeResize="0"/>
          <p:nvPr/>
        </p:nvPicPr>
        <p:blipFill rotWithShape="1">
          <a:blip r:embed="rId11">
            <a:alphaModFix/>
          </a:blip>
          <a:srcRect b="0" l="0" r="0" t="0"/>
          <a:stretch/>
        </p:blipFill>
        <p:spPr>
          <a:xfrm>
            <a:off x="1593475" y="242835"/>
            <a:ext cx="1432800" cy="59242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172" name="Google Shape;172;p2"/>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Executive Summary and Our Understanding of Project Requirements</a:t>
            </a:r>
            <a:endParaRPr b="1" i="0" sz="1200" u="none" cap="none" strike="noStrike">
              <a:solidFill>
                <a:srgbClr val="D71B7F"/>
              </a:solidFill>
              <a:latin typeface="Montserrat"/>
              <a:ea typeface="Montserrat"/>
              <a:cs typeface="Montserrat"/>
              <a:sym typeface="Montserrat"/>
            </a:endParaRPr>
          </a:p>
        </p:txBody>
      </p:sp>
      <p:sp>
        <p:nvSpPr>
          <p:cNvPr id="173" name="Google Shape;173;p2"/>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174" name="Google Shape;174;p2"/>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175" name="Google Shape;175;p2"/>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176" name="Google Shape;176;p2"/>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177" name="Google Shape;177;p2"/>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178" name="Google Shape;178;p2"/>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1" name="Google Shape;181;p2"/>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182" name="Google Shape;182;p2"/>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183" name="Google Shape;183;p2"/>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184" name="Google Shape;184;p2"/>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2"/>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186" name="Google Shape;186;p2"/>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187" name="Google Shape;187;p2"/>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Executive Summary</a:t>
            </a:r>
            <a:endParaRPr/>
          </a:p>
        </p:txBody>
      </p:sp>
      <p:sp>
        <p:nvSpPr>
          <p:cNvPr id="195" name="Google Shape;195;p3"/>
          <p:cNvSpPr/>
          <p:nvPr/>
        </p:nvSpPr>
        <p:spPr>
          <a:xfrm>
            <a:off x="223850" y="746325"/>
            <a:ext cx="8690100" cy="40992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121875" lIns="121875" spcFirstLastPara="1" rIns="0" wrap="square" tIns="27425">
            <a:noAutofit/>
          </a:bodyPr>
          <a:lstStyle/>
          <a:p>
            <a:r>
              <a:t>Apex Retail Solutions seeks a scalable, secure, and user-friendly retail platform that supports advanced search, multi-currency checkout, and seamless integration with third-party systems. Our solution is designed to meet these needs through a modern, decoupled architecture that prioritizes performance, compliance, and flexibility. We have a proven track record in developing secure, scalable platforms for retail and B2B environments, with experience in payment gateways, headless CMS, and ERP integrations. Our approach ensures alignment with your business goals while delivering a future-ready digital experience.</a:t>
            </a:r>
          </a:p>
        </p:txBody>
      </p:sp>
      <p:cxnSp>
        <p:nvCxnSpPr>
          <p:cNvPr id="196" name="Google Shape;196;p3"/>
          <p:cNvCxnSpPr/>
          <p:nvPr/>
        </p:nvCxnSpPr>
        <p:spPr>
          <a:xfrm flipH="1">
            <a:off x="242444" y="754971"/>
            <a:ext cx="3900" cy="4102800"/>
          </a:xfrm>
          <a:prstGeom prst="straightConnector1">
            <a:avLst/>
          </a:prstGeom>
          <a:noFill/>
          <a:ln cap="flat" cmpd="sng" w="19050">
            <a:solidFill>
              <a:srgbClr val="12519C"/>
            </a:solidFill>
            <a:prstDash val="solid"/>
            <a:round/>
            <a:headEnd len="sm" w="sm" type="none"/>
            <a:tailEnd len="sm" w="sm" type="none"/>
          </a:ln>
        </p:spPr>
      </p:cxnSp>
      <p:sp>
        <p:nvSpPr>
          <p:cNvPr id="197" name="Google Shape;197;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Why TTN?</a:t>
            </a:r>
            <a:endParaRPr/>
          </a:p>
        </p:txBody>
      </p:sp>
      <p:sp>
        <p:nvSpPr>
          <p:cNvPr id="204" name="Google Shape;204;p4"/>
          <p:cNvSpPr/>
          <p:nvPr/>
        </p:nvSpPr>
        <p:spPr>
          <a:xfrm>
            <a:off x="474900" y="910600"/>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Proven UX &amp; Mobile Expertise</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We specialize in building intuitive, high-performance mobile applications with seamless user journeys - critical for customer engagement and retention.</a:t>
            </a:r>
            <a:endParaRPr b="0" i="0" sz="1100" u="none" cap="none" strike="noStrike">
              <a:solidFill>
                <a:schemeClr val="dk1"/>
              </a:solidFill>
              <a:latin typeface="Montserrat"/>
              <a:ea typeface="Montserrat"/>
              <a:cs typeface="Montserrat"/>
              <a:sym typeface="Montserrat"/>
            </a:endParaRPr>
          </a:p>
        </p:txBody>
      </p:sp>
      <p:sp>
        <p:nvSpPr>
          <p:cNvPr id="205" name="Google Shape;205;p4"/>
          <p:cNvSpPr/>
          <p:nvPr/>
        </p:nvSpPr>
        <p:spPr>
          <a:xfrm>
            <a:off x="4755004" y="910600"/>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Domain-Focused Delivery</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extensive experience in iGaming with real-time data integration, media streaming, and interactive user features aligns perfectly with your racing platform requirements.</a:t>
            </a:r>
            <a:endParaRPr b="0" i="0" sz="1100" u="none" cap="none" strike="noStrike">
              <a:solidFill>
                <a:schemeClr val="dk1"/>
              </a:solidFill>
              <a:latin typeface="Montserrat"/>
              <a:ea typeface="Montserrat"/>
              <a:cs typeface="Montserrat"/>
              <a:sym typeface="Montserrat"/>
            </a:endParaRPr>
          </a:p>
        </p:txBody>
      </p:sp>
      <p:sp>
        <p:nvSpPr>
          <p:cNvPr id="206" name="Google Shape;206;p4"/>
          <p:cNvSpPr/>
          <p:nvPr/>
        </p:nvSpPr>
        <p:spPr>
          <a:xfrm>
            <a:off x="474900" y="2900036"/>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End-to-End Ownership</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From design and development to deployment and support, we provide full-cycle mobile app services- ensuring speed, quality, and continuity.</a:t>
            </a:r>
            <a:endParaRPr b="0" i="0" sz="1100" u="none" cap="none" strike="noStrike">
              <a:solidFill>
                <a:schemeClr val="dk1"/>
              </a:solidFill>
              <a:latin typeface="Montserrat"/>
              <a:ea typeface="Montserrat"/>
              <a:cs typeface="Montserrat"/>
              <a:sym typeface="Montserrat"/>
            </a:endParaRPr>
          </a:p>
        </p:txBody>
      </p:sp>
      <p:sp>
        <p:nvSpPr>
          <p:cNvPr id="207" name="Google Shape;207;p4"/>
          <p:cNvSpPr/>
          <p:nvPr/>
        </p:nvSpPr>
        <p:spPr>
          <a:xfrm>
            <a:off x="4755004" y="2900036"/>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Scalable Architecture</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solutions are designed to grow with your user base, ensuring performance and reliability under peak traffic conditions</a:t>
            </a:r>
            <a:endParaRPr b="0" i="0" sz="1100" u="none" cap="none" strike="noStrike">
              <a:solidFill>
                <a:schemeClr val="dk1"/>
              </a:solidFill>
              <a:latin typeface="Montserrat"/>
              <a:ea typeface="Montserrat"/>
              <a:cs typeface="Montserrat"/>
              <a:sym typeface="Montserrat"/>
            </a:endParaRPr>
          </a:p>
        </p:txBody>
      </p:sp>
      <p:sp>
        <p:nvSpPr>
          <p:cNvPr id="208" name="Google Shape;208;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5"/>
          <p:cNvSpPr/>
          <p:nvPr/>
        </p:nvSpPr>
        <p:spPr>
          <a:xfrm>
            <a:off x="223850" y="640050"/>
            <a:ext cx="8690100" cy="40956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214" name="Google Shape;214;p5"/>
          <p:cNvCxnSpPr/>
          <p:nvPr/>
        </p:nvCxnSpPr>
        <p:spPr>
          <a:xfrm>
            <a:off x="246344" y="650407"/>
            <a:ext cx="0" cy="4095600"/>
          </a:xfrm>
          <a:prstGeom prst="straightConnector1">
            <a:avLst/>
          </a:prstGeom>
          <a:noFill/>
          <a:ln cap="flat" cmpd="sng" w="19050">
            <a:solidFill>
              <a:srgbClr val="12519C"/>
            </a:solidFill>
            <a:prstDash val="solid"/>
            <a:round/>
            <a:headEnd len="sm" w="sm" type="none"/>
            <a:tailEnd len="sm" w="sm" type="none"/>
          </a:ln>
        </p:spPr>
      </p:cxnSp>
      <p:sp>
        <p:nvSpPr>
          <p:cNvPr id="215" name="Google Shape;215;p5"/>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Our Understanding of Requirements</a:t>
            </a:r>
            <a:endParaRPr/>
          </a:p>
        </p:txBody>
      </p:sp>
      <p:sp>
        <p:nvSpPr>
          <p:cNvPr id="216" name="Google Shape;216;p5"/>
          <p:cNvSpPr txBox="1"/>
          <p:nvPr/>
        </p:nvSpPr>
        <p:spPr>
          <a:xfrm>
            <a:off x="258325" y="782225"/>
            <a:ext cx="8127900" cy="3924900"/>
          </a:xfrm>
          <a:prstGeom prst="rect">
            <a:avLst/>
          </a:prstGeom>
          <a:noFill/>
          <a:ln>
            <a:noFill/>
          </a:ln>
        </p:spPr>
        <p:txBody>
          <a:bodyPr anchorCtr="0" anchor="t" bIns="91425" lIns="91425" spcFirstLastPara="1" rIns="91425" wrap="square" tIns="91425">
            <a:spAutoFit/>
          </a:bodyPr>
          <a:lstStyle/>
          <a:p>
            <a:r>
              <a:t>We recognize the importance of faceted search and instant filtering for managing a large SKU inventory, and our microservices-based architecture supports scalability for 50,000+ SKUs. Our payment gateway integrations with Stripe, PayPal, and Afterpay enable multi-currency checkout, while our React Native-based Self-Care app supports order tracking and user account management. We also support headless CMS integration for dynamic content updates and have developed secure, password-protected portals with custom pricing tiers. Our solution is fully compliant with PCI-DSS Level 1, GDPR, and CCPA, and meets WCAG 2.1 AA accessibility standards.</a:t>
            </a:r>
          </a:p>
        </p:txBody>
      </p:sp>
      <p:sp>
        <p:nvSpPr>
          <p:cNvPr id="217" name="Google Shape;217;p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18" name="Google Shape;218;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6"/>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Application Modules </a:t>
            </a:r>
            <a:endParaRPr>
              <a:solidFill>
                <a:schemeClr val="dk1"/>
              </a:solidFill>
            </a:endParaRPr>
          </a:p>
        </p:txBody>
      </p:sp>
      <p:sp>
        <p:nvSpPr>
          <p:cNvPr id="224" name="Google Shape;224;p6"/>
          <p:cNvSpPr/>
          <p:nvPr/>
        </p:nvSpPr>
        <p:spPr>
          <a:xfrm>
            <a:off x="3204902"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Races &amp; Profiles </a:t>
            </a:r>
            <a:endParaRPr b="0" i="0" sz="11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Filter, Past and Upcoming Races</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View Profile Pages for Tracks, Jockeys, Trainers, and Runners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sp>
        <p:nvSpPr>
          <p:cNvPr id="225" name="Google Shape;225;p6"/>
          <p:cNvSpPr/>
          <p:nvPr/>
        </p:nvSpPr>
        <p:spPr>
          <a:xfrm>
            <a:off x="299125"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User Access &amp; Account Management</a:t>
            </a:r>
            <a:r>
              <a:rPr b="0" i="0" lang="en" sz="1100" u="none" cap="none" strike="noStrike">
                <a:solidFill>
                  <a:srgbClr val="6F3A93"/>
                </a:solidFill>
                <a:latin typeface="Montserrat SemiBold"/>
                <a:ea typeface="Montserrat SemiBold"/>
                <a:cs typeface="Montserrat SemiBold"/>
                <a:sym typeface="Montserrat SemiBold"/>
              </a:rPr>
              <a:t> </a:t>
            </a:r>
            <a:endParaRPr b="0" i="0" sz="14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Registration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Login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Forgot Password</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Account Details </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Add Jockeys and Trainers  to Blackbook</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Blackbook Activities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6" name="Google Shape;226;p6"/>
          <p:cNvCxnSpPr/>
          <p:nvPr/>
        </p:nvCxnSpPr>
        <p:spPr>
          <a:xfrm>
            <a:off x="299130" y="706238"/>
            <a:ext cx="0" cy="2007300"/>
          </a:xfrm>
          <a:prstGeom prst="straightConnector1">
            <a:avLst/>
          </a:prstGeom>
          <a:noFill/>
          <a:ln cap="flat" cmpd="sng" w="19050">
            <a:solidFill>
              <a:srgbClr val="12519C"/>
            </a:solidFill>
            <a:prstDash val="solid"/>
            <a:round/>
            <a:headEnd len="sm" w="sm" type="none"/>
            <a:tailEnd len="sm" w="sm" type="none"/>
          </a:ln>
        </p:spPr>
      </p:cxnSp>
      <p:cxnSp>
        <p:nvCxnSpPr>
          <p:cNvPr id="227" name="Google Shape;227;p6"/>
          <p:cNvCxnSpPr/>
          <p:nvPr/>
        </p:nvCxnSpPr>
        <p:spPr>
          <a:xfrm>
            <a:off x="3204907" y="706238"/>
            <a:ext cx="0" cy="2007300"/>
          </a:xfrm>
          <a:prstGeom prst="straightConnector1">
            <a:avLst/>
          </a:prstGeom>
          <a:noFill/>
          <a:ln cap="flat" cmpd="sng" w="19050">
            <a:solidFill>
              <a:srgbClr val="12519C"/>
            </a:solidFill>
            <a:prstDash val="solid"/>
            <a:round/>
            <a:headEnd len="sm" w="sm" type="none"/>
            <a:tailEnd len="sm" w="sm" type="none"/>
          </a:ln>
        </p:spPr>
      </p:cxnSp>
      <p:sp>
        <p:nvSpPr>
          <p:cNvPr id="228" name="Google Shape;228;p6"/>
          <p:cNvSpPr/>
          <p:nvPr/>
        </p:nvSpPr>
        <p:spPr>
          <a:xfrm>
            <a:off x="6110675" y="70492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a:t>
            </a:r>
            <a:r>
              <a:rPr b="0" i="0" lang="en" sz="1000" u="none" cap="none" strike="noStrike">
                <a:solidFill>
                  <a:schemeClr val="accent3"/>
                </a:solidFill>
                <a:latin typeface="Montserrat SemiBold"/>
                <a:ea typeface="Montserrat SemiBold"/>
                <a:cs typeface="Montserrat SemiBold"/>
                <a:sym typeface="Montserrat SemiBold"/>
              </a:rPr>
              <a:t> Calendar &amp; Planner</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Race Details  for Upcoming and Past Races using the Race Calendar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Filter and Export Race Details using Race Planner</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9" name="Google Shape;229;p6"/>
          <p:cNvCxnSpPr/>
          <p:nvPr/>
        </p:nvCxnSpPr>
        <p:spPr>
          <a:xfrm>
            <a:off x="6110681" y="704925"/>
            <a:ext cx="0" cy="2007300"/>
          </a:xfrm>
          <a:prstGeom prst="straightConnector1">
            <a:avLst/>
          </a:prstGeom>
          <a:noFill/>
          <a:ln cap="flat" cmpd="sng" w="19050">
            <a:solidFill>
              <a:srgbClr val="12519C"/>
            </a:solidFill>
            <a:prstDash val="solid"/>
            <a:round/>
            <a:headEnd len="sm" w="sm" type="none"/>
            <a:tailEnd len="sm" w="sm" type="none"/>
          </a:ln>
        </p:spPr>
      </p:cxnSp>
      <p:sp>
        <p:nvSpPr>
          <p:cNvPr id="230" name="Google Shape;230;p6"/>
          <p:cNvSpPr/>
          <p:nvPr/>
        </p:nvSpPr>
        <p:spPr>
          <a:xfrm>
            <a:off x="299125"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Races, Results &amp; </a:t>
            </a:r>
            <a:r>
              <a:rPr b="0" i="0" lang="en" sz="1000" u="none" cap="none" strike="noStrike">
                <a:solidFill>
                  <a:srgbClr val="6F3A93"/>
                </a:solidFill>
                <a:latin typeface="Montserrat SemiBold"/>
                <a:ea typeface="Montserrat SemiBold"/>
                <a:cs typeface="Montserrat SemiBold"/>
                <a:sym typeface="Montserrat SemiBold"/>
              </a:rPr>
              <a:t>Replays</a:t>
            </a:r>
            <a:r>
              <a:rPr b="0" i="0" lang="en" sz="1000" u="none" cap="none" strike="noStrike">
                <a:solidFill>
                  <a:schemeClr val="accent3"/>
                </a:solidFill>
                <a:latin typeface="Montserrat SemiBold"/>
                <a:ea typeface="Montserrat SemiBold"/>
                <a:cs typeface="Montserrat SemiBold"/>
                <a:sym typeface="Montserrat SemiBold"/>
              </a:rPr>
              <a:t>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Stream Races and Replay Feeds in-app  from Betting Partners.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Redirect to Queensland Non-TAB Racing  YouTube channel to Stream Replay Feeds from other sources..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Show Real-Time Race Results.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and Download Steward and Sectional Reports.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31" name="Google Shape;231;p6"/>
          <p:cNvCxnSpPr/>
          <p:nvPr/>
        </p:nvCxnSpPr>
        <p:spPr>
          <a:xfrm>
            <a:off x="299130"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2" name="Google Shape;232;p6"/>
          <p:cNvSpPr/>
          <p:nvPr/>
        </p:nvSpPr>
        <p:spPr>
          <a:xfrm>
            <a:off x="3204902"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r>
              <a:t>Our proposed solution combines a Next.js/React frontend with REST/GraphQL APIs for a decoupled architecture, ensuring scalability and flexibility. We will implement secure, password-protected portals with custom price tiers and bulk ordering workflows, while integrating with SAP for inventory and order management. We will also support headless CMS integration for dynamic content updates and ensure PCI-DSS Level 1 compliance through tokenized card data processing. Our solution will be built with accessibility in mind, meeting WCAG 2.1 AA standards, and will support automated customer flows through CRM and email platform integrations.</a:t>
            </a:r>
          </a:p>
        </p:txBody>
      </p:sp>
      <p:cxnSp>
        <p:nvCxnSpPr>
          <p:cNvPr id="233" name="Google Shape;233;p6"/>
          <p:cNvCxnSpPr/>
          <p:nvPr/>
        </p:nvCxnSpPr>
        <p:spPr>
          <a:xfrm>
            <a:off x="3204907"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4" name="Google Shape;234;p6"/>
          <p:cNvSpPr/>
          <p:nvPr/>
        </p:nvSpPr>
        <p:spPr>
          <a:xfrm>
            <a:off x="6110675" y="294136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News</a:t>
            </a:r>
            <a:r>
              <a:rPr b="0" i="0" lang="en" sz="1000" u="none" cap="none" strike="noStrike">
                <a:solidFill>
                  <a:srgbClr val="6F3A93"/>
                </a:solidFill>
                <a:latin typeface="Montserrat SemiBold"/>
                <a:ea typeface="Montserrat SemiBold"/>
                <a:cs typeface="Montserrat SemiBold"/>
                <a:sym typeface="Montserrat SemiBold"/>
              </a:rPr>
              <a:t> </a:t>
            </a:r>
            <a:r>
              <a:rPr b="0" i="0" lang="en" sz="1000" u="none" cap="none" strike="noStrike">
                <a:solidFill>
                  <a:schemeClr val="accent3"/>
                </a:solidFill>
                <a:latin typeface="Montserrat SemiBold"/>
                <a:ea typeface="Montserrat SemiBold"/>
                <a:cs typeface="Montserrat SemiBold"/>
                <a:sym typeface="Montserrat SemiBold"/>
              </a:rPr>
              <a:t>&amp; Notifications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Racing News Items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Business Awareness pages such as Ownership, Career &amp; Training, Infrastructure, Open API details etc.</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Get Push Notifications for Race Alerts &amp; Updates.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35" name="Google Shape;235;p6"/>
          <p:cNvCxnSpPr/>
          <p:nvPr/>
        </p:nvCxnSpPr>
        <p:spPr>
          <a:xfrm>
            <a:off x="6110681" y="2941365"/>
            <a:ext cx="0" cy="2007300"/>
          </a:xfrm>
          <a:prstGeom prst="straightConnector1">
            <a:avLst/>
          </a:prstGeom>
          <a:noFill/>
          <a:ln cap="flat" cmpd="sng" w="19050">
            <a:solidFill>
              <a:srgbClr val="12519C"/>
            </a:solidFill>
            <a:prstDash val="solid"/>
            <a:round/>
            <a:headEnd len="sm" w="sm" type="none"/>
            <a:tailEnd len="sm" w="sm" type="none"/>
          </a:ln>
        </p:spPr>
      </p:cxnSp>
      <p:sp>
        <p:nvSpPr>
          <p:cNvPr id="236" name="Google Shape;236;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7"/>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42" name="Google Shape;242;p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43" name="Google Shape;243;p7"/>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r>
              <a:t>Our technical approach leverages a microservices architecture to support scalable faceted search and instant filtering for up to 50,000+ SKUs. The solution is decoupled using Next.js/React for the frontend, integrated with REST/GraphQL APIs for backend services. We ensure PCI-DSS Level 1 compliance through tokenized card data processing via Stripe and secure payment flows, while also meeting GDPR and CCPA compliance standards. The system is built with WCAG 2.1 AA accessibility guidelines in mind, ensuring accessible storefronts and CDN-backed performance.</a:t>
            </a:r>
          </a:p>
        </p:txBody>
      </p:sp>
      <p:cxnSp>
        <p:nvCxnSpPr>
          <p:cNvPr id="244" name="Google Shape;244;p7"/>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45" name="Google Shape;245;p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8"/>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51" name="Google Shape;251;p8"/>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52" name="Google Shape;252;p8"/>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r>
              <a:t>The solution is fully compliant with PCI-DSS Level 1 through tokenized card data processing via Stripe and secure payment flows. GDPR and CCPA compliance are also ensured through data encryption and user consent management. The system is built with secure, password-protected portals and custom price tiers, ensuring robust access control and data protection for all user interactions.</a:t>
            </a:r>
          </a:p>
        </p:txBody>
      </p:sp>
      <p:cxnSp>
        <p:nvCxnSpPr>
          <p:cNvPr id="253" name="Google Shape;253;p8"/>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54" name="Google Shape;254;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9"/>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9"/>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Assumptions and Dependencies</a:t>
            </a:r>
            <a:endParaRPr/>
          </a:p>
        </p:txBody>
      </p:sp>
      <p:sp>
        <p:nvSpPr>
          <p:cNvPr id="261" name="Google Shape;261;p9"/>
          <p:cNvSpPr/>
          <p:nvPr/>
        </p:nvSpPr>
        <p:spPr>
          <a:xfrm>
            <a:off x="223850" y="746325"/>
            <a:ext cx="8690100" cy="40035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121875" lIns="121875" spcFirstLastPara="1" rIns="121875" wrap="square" tIns="27425">
            <a:noAutofit/>
          </a:bodyPr>
          <a:lstStyle/>
          <a:p>
            <a:r>
              <a:t>The solution assumes that the integration with SAP for inventory and order management will be supported through existing B2B account hierarchies, quote-to-order workflows, and approval chains. It also assumes that the marketing team will leverage headless CMS platforms for content updates and that the payment gateways will be configured for multi-currency support. The system assumes that accessibility guidelines will be followed, and that the storefront will be CDN-backed for optimal performance.</a:t>
            </a:r>
          </a:p>
        </p:txBody>
      </p:sp>
      <p:cxnSp>
        <p:nvCxnSpPr>
          <p:cNvPr id="262" name="Google Shape;262;p9"/>
          <p:cNvCxnSpPr/>
          <p:nvPr/>
        </p:nvCxnSpPr>
        <p:spPr>
          <a:xfrm flipH="1">
            <a:off x="243425" y="736325"/>
            <a:ext cx="10200" cy="3997800"/>
          </a:xfrm>
          <a:prstGeom prst="straightConnector1">
            <a:avLst/>
          </a:prstGeom>
          <a:noFill/>
          <a:ln cap="flat" cmpd="sng" w="19050">
            <a:solidFill>
              <a:srgbClr val="12519C"/>
            </a:solidFill>
            <a:prstDash val="solid"/>
            <a:round/>
            <a:headEnd len="sm" w="sm" type="none"/>
            <a:tailEnd len="sm" w="sm" type="none"/>
          </a:ln>
        </p:spPr>
      </p:cxnSp>
      <p:sp>
        <p:nvSpPr>
          <p:cNvPr id="263" name="Google Shape;263;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0"/>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In Scope and Out of Scope</a:t>
            </a:r>
            <a:endParaRPr/>
          </a:p>
        </p:txBody>
      </p:sp>
      <p:sp>
        <p:nvSpPr>
          <p:cNvPr id="270" name="Google Shape;270;p10"/>
          <p:cNvSpPr/>
          <p:nvPr/>
        </p:nvSpPr>
        <p:spPr>
          <a:xfrm>
            <a:off x="396575" y="1028850"/>
            <a:ext cx="4084800" cy="3675900"/>
          </a:xfrm>
          <a:prstGeom prst="snip1Rect">
            <a:avLst>
              <a:gd fmla="val 7022"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71" name="Google Shape;271;p10"/>
          <p:cNvSpPr/>
          <p:nvPr/>
        </p:nvSpPr>
        <p:spPr>
          <a:xfrm>
            <a:off x="400818" y="898163"/>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In Scope</a:t>
            </a:r>
            <a:endParaRPr b="1" i="0" sz="1100" u="none" cap="none" strike="noStrike">
              <a:solidFill>
                <a:srgbClr val="6F3A93"/>
              </a:solidFill>
              <a:latin typeface="Montserrat"/>
              <a:ea typeface="Montserrat"/>
              <a:cs typeface="Montserrat"/>
              <a:sym typeface="Montserrat"/>
            </a:endParaRPr>
          </a:p>
        </p:txBody>
      </p:sp>
      <p:sp>
        <p:nvSpPr>
          <p:cNvPr id="272" name="Google Shape;272;p10"/>
          <p:cNvSpPr/>
          <p:nvPr/>
        </p:nvSpPr>
        <p:spPr>
          <a:xfrm>
            <a:off x="4658375" y="900350"/>
            <a:ext cx="4084800" cy="3804300"/>
          </a:xfrm>
          <a:prstGeom prst="snip1Rect">
            <a:avLst>
              <a:gd fmla="val 10616"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73" name="Google Shape;273;p10"/>
          <p:cNvSpPr/>
          <p:nvPr/>
        </p:nvSpPr>
        <p:spPr>
          <a:xfrm>
            <a:off x="4662635" y="898172"/>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Not Estimated</a:t>
            </a:r>
            <a:endParaRPr b="1" i="0" sz="1100" u="none" cap="none" strike="noStrike">
              <a:solidFill>
                <a:srgbClr val="6F3A93"/>
              </a:solidFill>
              <a:latin typeface="Montserrat"/>
              <a:ea typeface="Montserrat"/>
              <a:cs typeface="Montserrat"/>
              <a:sym typeface="Montserrat"/>
            </a:endParaRPr>
          </a:p>
        </p:txBody>
      </p:sp>
      <p:sp>
        <p:nvSpPr>
          <p:cNvPr id="274" name="Google Shape;274;p10"/>
          <p:cNvSpPr txBox="1"/>
          <p:nvPr/>
        </p:nvSpPr>
        <p:spPr>
          <a:xfrm>
            <a:off x="4662575" y="1374275"/>
            <a:ext cx="4084800" cy="3274800"/>
          </a:xfrm>
          <a:prstGeom prst="rect">
            <a:avLst/>
          </a:prstGeom>
          <a:noFill/>
          <a:ln>
            <a:noFill/>
          </a:ln>
        </p:spPr>
        <p:txBody>
          <a:bodyPr anchorCtr="0" anchor="t" bIns="91425" lIns="91425" spcFirstLastPara="1" rIns="91425" wrap="square" tIns="91425">
            <a:spAutoFit/>
          </a:bodyPr>
          <a:lstStyle/>
          <a:p>
            <a:r>
              <a:t>The solution assumes that the integration with SAP for inventory and order management will be supported through existing B2B account hierarchies, quote-to-order workflows, and approval chains. It also assumes that the marketing team will leverage headless CMS platforms for content updates and that the payment gateways will be configured for multi-currency support. The system assumes that accessibility guidelines will be followed, and that the storefront will be CDN-backed for optimal performance.</a:t>
            </a:r>
          </a:p>
        </p:txBody>
      </p:sp>
      <p:sp>
        <p:nvSpPr>
          <p:cNvPr id="275" name="Google Shape;275;p10"/>
          <p:cNvSpPr txBox="1"/>
          <p:nvPr/>
        </p:nvSpPr>
        <p:spPr>
          <a:xfrm>
            <a:off x="400819" y="1406088"/>
            <a:ext cx="4084800" cy="19116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Project Discovery, Design, Development and Deployment.</a:t>
            </a:r>
            <a:endParaRPr b="0" i="0" sz="1100" u="none" cap="none" strike="noStrike">
              <a:solidFill>
                <a:srgbClr val="000000"/>
              </a:solidFill>
              <a:latin typeface="Montserrat"/>
              <a:ea typeface="Montserrat"/>
              <a:cs typeface="Montserrat"/>
              <a:sym typeface="Montserrat"/>
            </a:endParaRPr>
          </a:p>
          <a:p>
            <a:pPr indent="-298450" lvl="1" marL="914400" marR="0" rtl="0" algn="l">
              <a:lnSpc>
                <a:spcPct val="115000"/>
              </a:lnSpc>
              <a:spcBef>
                <a:spcPts val="0"/>
              </a:spcBef>
              <a:spcAft>
                <a:spcPts val="0"/>
              </a:spcAft>
              <a:buClr>
                <a:srgbClr val="000000"/>
              </a:buClr>
              <a:buSzPts val="1100"/>
              <a:buFont typeface="Montserrat"/>
              <a:buChar char="○"/>
            </a:pPr>
            <a:r>
              <a:rPr b="0" i="0" lang="en" sz="1100" u="none" cap="none" strike="noStrike">
                <a:solidFill>
                  <a:srgbClr val="000000"/>
                </a:solidFill>
                <a:latin typeface="Montserrat"/>
                <a:ea typeface="Montserrat"/>
                <a:cs typeface="Montserrat"/>
                <a:sym typeface="Montserrat"/>
              </a:rPr>
              <a:t>Mobile Application Development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UX and Visual Designs of all the screens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Manual QA Testing for the developed features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CI/CD Implementation</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UAT support and deployment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Go-Live Support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Hypercare /Warranty Support(2 Weeks)</a:t>
            </a:r>
            <a:endParaRPr b="0" i="0" sz="1100" u="none" cap="none" strike="noStrike">
              <a:solidFill>
                <a:srgbClr val="000000"/>
              </a:solidFill>
              <a:latin typeface="Montserrat"/>
              <a:ea typeface="Montserrat"/>
              <a:cs typeface="Montserrat"/>
              <a:sym typeface="Montserrat"/>
            </a:endParaRPr>
          </a:p>
        </p:txBody>
      </p:sp>
      <p:sp>
        <p:nvSpPr>
          <p:cNvPr id="276" name="Google Shape;276;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283" name="Google Shape;283;p11"/>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284" name="Google Shape;284;p11"/>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Proposed Technical Solution Approach</a:t>
            </a:r>
            <a:endParaRPr b="1" i="0" sz="1200" u="none" cap="none" strike="noStrike">
              <a:solidFill>
                <a:srgbClr val="D71B7F"/>
              </a:solidFill>
              <a:latin typeface="Montserrat"/>
              <a:ea typeface="Montserrat"/>
              <a:cs typeface="Montserrat"/>
              <a:sym typeface="Montserrat"/>
            </a:endParaRPr>
          </a:p>
        </p:txBody>
      </p:sp>
      <p:sp>
        <p:nvSpPr>
          <p:cNvPr id="285" name="Google Shape;285;p11"/>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286" name="Google Shape;286;p11"/>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287" name="Google Shape;287;p11"/>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288" name="Google Shape;288;p11"/>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289" name="Google Shape;289;p11"/>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1"/>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1"/>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2" name="Google Shape;292;p11"/>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293" name="Google Shape;293;p11"/>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294" name="Google Shape;294;p11"/>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295" name="Google Shape;295;p11"/>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1"/>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297" name="Google Shape;297;p11"/>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298" name="Google Shape;298;p11"/>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1"/>
          <p:cNvSpPr txBox="1"/>
          <p:nvPr>
            <p:ph idx="4294967295"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2"/>
          <p:cNvSpPr/>
          <p:nvPr/>
        </p:nvSpPr>
        <p:spPr>
          <a:xfrm>
            <a:off x="226950" y="740900"/>
            <a:ext cx="8690100" cy="41133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305" name="Google Shape;305;p12"/>
          <p:cNvCxnSpPr/>
          <p:nvPr/>
        </p:nvCxnSpPr>
        <p:spPr>
          <a:xfrm>
            <a:off x="249444" y="751302"/>
            <a:ext cx="0" cy="4113300"/>
          </a:xfrm>
          <a:prstGeom prst="straightConnector1">
            <a:avLst/>
          </a:prstGeom>
          <a:noFill/>
          <a:ln cap="flat" cmpd="sng" w="19050">
            <a:solidFill>
              <a:srgbClr val="12519C"/>
            </a:solidFill>
            <a:prstDash val="solid"/>
            <a:round/>
            <a:headEnd len="sm" w="sm" type="none"/>
            <a:tailEnd len="sm" w="sm" type="none"/>
          </a:ln>
        </p:spPr>
      </p:cxnSp>
      <p:sp>
        <p:nvSpPr>
          <p:cNvPr id="306" name="Google Shape;306;p12"/>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Solutioning Highlights</a:t>
            </a:r>
            <a:endParaRPr/>
          </a:p>
        </p:txBody>
      </p:sp>
      <p:sp>
        <p:nvSpPr>
          <p:cNvPr id="307" name="Google Shape;307;p12"/>
          <p:cNvSpPr txBox="1"/>
          <p:nvPr/>
        </p:nvSpPr>
        <p:spPr>
          <a:xfrm>
            <a:off x="340550" y="993438"/>
            <a:ext cx="8196900" cy="4032900"/>
          </a:xfrm>
          <a:prstGeom prst="rect">
            <a:avLst/>
          </a:prstGeom>
          <a:noFill/>
          <a:ln>
            <a:noFill/>
          </a:ln>
        </p:spPr>
        <p:txBody>
          <a:bodyPr anchorCtr="0" anchor="t" bIns="91425" lIns="91425" spcFirstLastPara="1" rIns="91425" wrap="square" tIns="91425">
            <a:spAutoFit/>
          </a:bodyPr>
          <a:lstStyle/>
          <a:p>
            <a:r>
              <a:t>Our proposed solution combines a Next.js/React frontend with REST/GraphQL APIs for a decoupled architecture, ensuring scalability and flexibility. We will implement secure, password-protected portals with custom price tiers and bulk ordering workflows, while integrating with SAP for inventory and order management. We will also support headless CMS integration for dynamic content updates and ensure PCI-DSS Level 1 compliance through tokenized card data processing. Our solution will be built with accessibility in mind, meeting WCAG 2.1 AA standards, and will support automated customer flows through CRM and email platform integrations.</a:t>
            </a:r>
          </a:p>
        </p:txBody>
      </p:sp>
      <p:sp>
        <p:nvSpPr>
          <p:cNvPr id="308" name="Google Shape;308;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3"/>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Proposed High Level Architecture</a:t>
            </a:r>
            <a:endParaRPr/>
          </a:p>
        </p:txBody>
      </p:sp>
      <p:sp>
        <p:nvSpPr>
          <p:cNvPr id="314" name="Google Shape;314;p13"/>
          <p:cNvSpPr/>
          <p:nvPr/>
        </p:nvSpPr>
        <p:spPr>
          <a:xfrm>
            <a:off x="2397150" y="887625"/>
            <a:ext cx="3813600" cy="3699300"/>
          </a:xfrm>
          <a:prstGeom prst="snip1Rect">
            <a:avLst>
              <a:gd fmla="val 8329" name="adj"/>
            </a:avLst>
          </a:prstGeom>
          <a:noFill/>
          <a:ln cap="flat" cmpd="sng" w="9525">
            <a:solidFill>
              <a:srgbClr val="6F3A93"/>
            </a:solidFill>
            <a:prstDash val="solid"/>
            <a:round/>
            <a:headEnd len="sm" w="sm" type="none"/>
            <a:tailEnd len="sm" w="sm" type="none"/>
          </a:ln>
        </p:spPr>
        <p:txBody>
          <a:bodyPr anchorCtr="0" anchor="t" bIns="91425"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F3A93"/>
                </a:solidFill>
                <a:latin typeface="Montserrat"/>
                <a:ea typeface="Montserrat"/>
                <a:cs typeface="Montserrat"/>
                <a:sym typeface="Montserrat"/>
              </a:rPr>
              <a:t>Mobile Application</a:t>
            </a:r>
            <a:endParaRPr b="1" i="0" sz="900" u="none" cap="none" strike="noStrike">
              <a:solidFill>
                <a:srgbClr val="6F3A93"/>
              </a:solidFill>
              <a:latin typeface="Montserrat"/>
              <a:ea typeface="Montserrat"/>
              <a:cs typeface="Montserrat"/>
              <a:sym typeface="Montserrat"/>
            </a:endParaRPr>
          </a:p>
        </p:txBody>
      </p:sp>
      <p:sp>
        <p:nvSpPr>
          <p:cNvPr id="315" name="Google Shape;315;p13"/>
          <p:cNvSpPr/>
          <p:nvPr/>
        </p:nvSpPr>
        <p:spPr>
          <a:xfrm>
            <a:off x="756125" y="2252475"/>
            <a:ext cx="922800" cy="969600"/>
          </a:xfrm>
          <a:prstGeom prst="snip1Rect">
            <a:avLst>
              <a:gd fmla="val 8329" name="adj"/>
            </a:avLst>
          </a:prstGeom>
          <a:noFill/>
          <a:ln cap="flat" cmpd="sng" w="9525">
            <a:solidFill>
              <a:srgbClr val="12519C"/>
            </a:solidFill>
            <a:prstDash val="solid"/>
            <a:round/>
            <a:headEnd len="sm" w="sm" type="none"/>
            <a:tailEnd len="sm" w="sm" type="none"/>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1" i="0" sz="900" u="none" cap="none" strike="noStrike">
              <a:solidFill>
                <a:srgbClr val="D71B7F"/>
              </a:solidFill>
              <a:latin typeface="Montserrat"/>
              <a:ea typeface="Montserrat"/>
              <a:cs typeface="Montserrat"/>
              <a:sym typeface="Montserrat"/>
            </a:endParaRPr>
          </a:p>
        </p:txBody>
      </p:sp>
      <p:sp>
        <p:nvSpPr>
          <p:cNvPr id="316" name="Google Shape;316;p13"/>
          <p:cNvSpPr/>
          <p:nvPr/>
        </p:nvSpPr>
        <p:spPr>
          <a:xfrm>
            <a:off x="2549550" y="1316100"/>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UI layer Screens</a:t>
            </a:r>
            <a:endParaRPr b="1" i="0" sz="900" u="none" cap="none" strike="noStrike">
              <a:solidFill>
                <a:srgbClr val="12519C"/>
              </a:solidFill>
              <a:latin typeface="Montserrat"/>
              <a:ea typeface="Montserrat"/>
              <a:cs typeface="Montserrat"/>
              <a:sym typeface="Montserrat"/>
            </a:endParaRPr>
          </a:p>
        </p:txBody>
      </p:sp>
      <p:sp>
        <p:nvSpPr>
          <p:cNvPr id="317" name="Google Shape;317;p13"/>
          <p:cNvSpPr txBox="1"/>
          <p:nvPr/>
        </p:nvSpPr>
        <p:spPr>
          <a:xfrm>
            <a:off x="744425" y="2826663"/>
            <a:ext cx="946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Mobile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User</a:t>
            </a:r>
            <a:endParaRPr b="1" i="0" sz="800" u="none" cap="none" strike="noStrike">
              <a:solidFill>
                <a:srgbClr val="12519C"/>
              </a:solidFill>
              <a:latin typeface="Montserrat"/>
              <a:ea typeface="Montserrat"/>
              <a:cs typeface="Montserrat"/>
              <a:sym typeface="Montserrat"/>
            </a:endParaRPr>
          </a:p>
        </p:txBody>
      </p:sp>
      <p:sp>
        <p:nvSpPr>
          <p:cNvPr id="318" name="Google Shape;318;p13"/>
          <p:cNvSpPr/>
          <p:nvPr/>
        </p:nvSpPr>
        <p:spPr>
          <a:xfrm>
            <a:off x="7069675" y="1671550"/>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Racing Queensland Backend APIs</a:t>
            </a:r>
            <a:endParaRPr b="1" i="0" sz="800" u="none" cap="none" strike="noStrike">
              <a:solidFill>
                <a:srgbClr val="525252"/>
              </a:solidFill>
              <a:latin typeface="Montserrat"/>
              <a:ea typeface="Montserrat"/>
              <a:cs typeface="Montserrat"/>
              <a:sym typeface="Montserrat"/>
            </a:endParaRPr>
          </a:p>
        </p:txBody>
      </p:sp>
      <p:sp>
        <p:nvSpPr>
          <p:cNvPr id="319" name="Google Shape;319;p13"/>
          <p:cNvSpPr/>
          <p:nvPr/>
        </p:nvSpPr>
        <p:spPr>
          <a:xfrm>
            <a:off x="7069675" y="2847049"/>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Firebase</a:t>
            </a:r>
            <a:endParaRPr b="1" i="0" sz="800" u="none" cap="none" strike="noStrike">
              <a:solidFill>
                <a:srgbClr val="525252"/>
              </a:solidFill>
              <a:latin typeface="Montserrat"/>
              <a:ea typeface="Montserrat"/>
              <a:cs typeface="Montserrat"/>
              <a:sym typeface="Montserrat"/>
            </a:endParaRPr>
          </a:p>
        </p:txBody>
      </p:sp>
      <p:pic>
        <p:nvPicPr>
          <p:cNvPr id="320" name="Google Shape;320;p13"/>
          <p:cNvPicPr preferRelativeResize="0"/>
          <p:nvPr/>
        </p:nvPicPr>
        <p:blipFill rotWithShape="1">
          <a:blip r:embed="rId3">
            <a:alphaModFix/>
          </a:blip>
          <a:srcRect b="0" l="0" r="0" t="0"/>
          <a:stretch/>
        </p:blipFill>
        <p:spPr>
          <a:xfrm>
            <a:off x="1016525" y="2379875"/>
            <a:ext cx="401999" cy="401999"/>
          </a:xfrm>
          <a:prstGeom prst="rect">
            <a:avLst/>
          </a:prstGeom>
          <a:noFill/>
          <a:ln>
            <a:noFill/>
          </a:ln>
        </p:spPr>
      </p:pic>
      <p:sp>
        <p:nvSpPr>
          <p:cNvPr id="321" name="Google Shape;321;p13"/>
          <p:cNvSpPr/>
          <p:nvPr/>
        </p:nvSpPr>
        <p:spPr>
          <a:xfrm>
            <a:off x="2549550" y="1959698"/>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Business Logic Layer</a:t>
            </a:r>
            <a:endParaRPr b="1" i="0" sz="900" u="none" cap="none" strike="noStrike">
              <a:solidFill>
                <a:srgbClr val="12519C"/>
              </a:solidFill>
              <a:latin typeface="Montserrat"/>
              <a:ea typeface="Montserrat"/>
              <a:cs typeface="Montserrat"/>
              <a:sym typeface="Montserrat"/>
            </a:endParaRPr>
          </a:p>
        </p:txBody>
      </p:sp>
      <p:sp>
        <p:nvSpPr>
          <p:cNvPr id="322" name="Google Shape;322;p13"/>
          <p:cNvSpPr/>
          <p:nvPr/>
        </p:nvSpPr>
        <p:spPr>
          <a:xfrm>
            <a:off x="2549550" y="2603300"/>
            <a:ext cx="3508800" cy="61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3" name="Google Shape;323;p13"/>
          <p:cNvSpPr/>
          <p:nvPr/>
        </p:nvSpPr>
        <p:spPr>
          <a:xfrm>
            <a:off x="297507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Network Service</a:t>
            </a:r>
            <a:endParaRPr b="1" i="0" sz="800" u="none" cap="none" strike="noStrike">
              <a:solidFill>
                <a:srgbClr val="525252"/>
              </a:solidFill>
              <a:latin typeface="Montserrat"/>
              <a:ea typeface="Montserrat"/>
              <a:cs typeface="Montserrat"/>
              <a:sym typeface="Montserrat"/>
            </a:endParaRPr>
          </a:p>
        </p:txBody>
      </p:sp>
      <p:sp>
        <p:nvSpPr>
          <p:cNvPr id="324" name="Google Shape;324;p13"/>
          <p:cNvSpPr/>
          <p:nvPr/>
        </p:nvSpPr>
        <p:spPr>
          <a:xfrm>
            <a:off x="448102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Local Storage</a:t>
            </a:r>
            <a:endParaRPr b="1" i="0" sz="800" u="none" cap="none" strike="noStrike">
              <a:solidFill>
                <a:srgbClr val="525252"/>
              </a:solidFill>
              <a:latin typeface="Montserrat"/>
              <a:ea typeface="Montserrat"/>
              <a:cs typeface="Montserrat"/>
              <a:sym typeface="Montserrat"/>
            </a:endParaRPr>
          </a:p>
        </p:txBody>
      </p:sp>
      <p:sp>
        <p:nvSpPr>
          <p:cNvPr id="325" name="Google Shape;325;p13"/>
          <p:cNvSpPr/>
          <p:nvPr/>
        </p:nvSpPr>
        <p:spPr>
          <a:xfrm>
            <a:off x="2549550" y="3553200"/>
            <a:ext cx="3508800" cy="88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6" name="Google Shape;326;p13"/>
          <p:cNvSpPr/>
          <p:nvPr/>
        </p:nvSpPr>
        <p:spPr>
          <a:xfrm>
            <a:off x="2641000"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Analytics</a:t>
            </a:r>
            <a:endParaRPr b="1" i="0" sz="800" u="none" cap="none" strike="noStrike">
              <a:solidFill>
                <a:srgbClr val="525252"/>
              </a:solidFill>
              <a:latin typeface="Montserrat"/>
              <a:ea typeface="Montserrat"/>
              <a:cs typeface="Montserrat"/>
              <a:sym typeface="Montserrat"/>
            </a:endParaRPr>
          </a:p>
        </p:txBody>
      </p:sp>
      <p:sp>
        <p:nvSpPr>
          <p:cNvPr id="327" name="Google Shape;327;p13"/>
          <p:cNvSpPr/>
          <p:nvPr/>
        </p:nvSpPr>
        <p:spPr>
          <a:xfrm>
            <a:off x="3788308"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Push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Notifications</a:t>
            </a:r>
            <a:endParaRPr b="1" i="0" sz="800" u="none" cap="none" strike="noStrike">
              <a:solidFill>
                <a:srgbClr val="525252"/>
              </a:solidFill>
              <a:latin typeface="Montserrat"/>
              <a:ea typeface="Montserrat"/>
              <a:cs typeface="Montserrat"/>
              <a:sym typeface="Montserrat"/>
            </a:endParaRPr>
          </a:p>
        </p:txBody>
      </p:sp>
      <p:sp>
        <p:nvSpPr>
          <p:cNvPr id="328" name="Google Shape;328;p13"/>
          <p:cNvSpPr/>
          <p:nvPr/>
        </p:nvSpPr>
        <p:spPr>
          <a:xfrm>
            <a:off x="4935616"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Crash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Reporting</a:t>
            </a:r>
            <a:endParaRPr b="1" i="0" sz="800" u="none" cap="none" strike="noStrike">
              <a:solidFill>
                <a:srgbClr val="525252"/>
              </a:solidFill>
              <a:latin typeface="Montserrat"/>
              <a:ea typeface="Montserrat"/>
              <a:cs typeface="Montserrat"/>
              <a:sym typeface="Montserrat"/>
            </a:endParaRPr>
          </a:p>
        </p:txBody>
      </p:sp>
      <p:pic>
        <p:nvPicPr>
          <p:cNvPr id="329" name="Google Shape;329;p13"/>
          <p:cNvPicPr preferRelativeResize="0"/>
          <p:nvPr/>
        </p:nvPicPr>
        <p:blipFill rotWithShape="1">
          <a:blip r:embed="rId4">
            <a:alphaModFix/>
          </a:blip>
          <a:srcRect b="0" l="0" r="0" t="0"/>
          <a:stretch/>
        </p:blipFill>
        <p:spPr>
          <a:xfrm>
            <a:off x="7544462" y="3032873"/>
            <a:ext cx="283233" cy="357299"/>
          </a:xfrm>
          <a:prstGeom prst="rect">
            <a:avLst/>
          </a:prstGeom>
          <a:noFill/>
          <a:ln>
            <a:noFill/>
          </a:ln>
        </p:spPr>
      </p:pic>
      <p:pic>
        <p:nvPicPr>
          <p:cNvPr id="330" name="Google Shape;330;p13"/>
          <p:cNvPicPr preferRelativeResize="0"/>
          <p:nvPr/>
        </p:nvPicPr>
        <p:blipFill rotWithShape="1">
          <a:blip r:embed="rId5">
            <a:alphaModFix/>
          </a:blip>
          <a:srcRect b="0" l="0" r="0" t="0"/>
          <a:stretch/>
        </p:blipFill>
        <p:spPr>
          <a:xfrm>
            <a:off x="7572597" y="1767500"/>
            <a:ext cx="324045" cy="357300"/>
          </a:xfrm>
          <a:prstGeom prst="rect">
            <a:avLst/>
          </a:prstGeom>
          <a:noFill/>
          <a:ln>
            <a:noFill/>
          </a:ln>
        </p:spPr>
      </p:pic>
      <p:cxnSp>
        <p:nvCxnSpPr>
          <p:cNvPr id="331" name="Google Shape;331;p13"/>
          <p:cNvCxnSpPr>
            <a:stCxn id="315" idx="0"/>
            <a:endCxn id="314" idx="2"/>
          </p:cNvCxnSpPr>
          <p:nvPr/>
        </p:nvCxnSpPr>
        <p:spPr>
          <a:xfrm>
            <a:off x="1678925" y="2737275"/>
            <a:ext cx="718200" cy="0"/>
          </a:xfrm>
          <a:prstGeom prst="straightConnector1">
            <a:avLst/>
          </a:prstGeom>
          <a:noFill/>
          <a:ln cap="flat" cmpd="sng" w="9525">
            <a:solidFill>
              <a:srgbClr val="D9D9D9"/>
            </a:solidFill>
            <a:prstDash val="solid"/>
            <a:round/>
            <a:headEnd len="sm" w="sm" type="none"/>
            <a:tailEnd len="med" w="med" type="triangle"/>
          </a:ln>
        </p:spPr>
      </p:cxnSp>
      <p:cxnSp>
        <p:nvCxnSpPr>
          <p:cNvPr id="332" name="Google Shape;332;p13"/>
          <p:cNvCxnSpPr>
            <a:stCxn id="316" idx="1"/>
            <a:endCxn id="321" idx="3"/>
          </p:cNvCxnSpPr>
          <p:nvPr/>
        </p:nvCxnSpPr>
        <p:spPr>
          <a:xfrm>
            <a:off x="4303950" y="1621800"/>
            <a:ext cx="0" cy="337800"/>
          </a:xfrm>
          <a:prstGeom prst="straightConnector1">
            <a:avLst/>
          </a:prstGeom>
          <a:noFill/>
          <a:ln cap="flat" cmpd="sng" w="9525">
            <a:solidFill>
              <a:srgbClr val="D9D9D9"/>
            </a:solidFill>
            <a:prstDash val="solid"/>
            <a:round/>
            <a:headEnd len="med" w="med" type="triangle"/>
            <a:tailEnd len="med" w="med" type="triangle"/>
          </a:ln>
        </p:spPr>
      </p:cxnSp>
      <p:cxnSp>
        <p:nvCxnSpPr>
          <p:cNvPr id="333" name="Google Shape;333;p13"/>
          <p:cNvCxnSpPr>
            <a:stCxn id="321" idx="1"/>
            <a:endCxn id="322" idx="3"/>
          </p:cNvCxnSpPr>
          <p:nvPr/>
        </p:nvCxnSpPr>
        <p:spPr>
          <a:xfrm>
            <a:off x="4303950" y="2265398"/>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4" name="Google Shape;334;p13"/>
          <p:cNvSpPr txBox="1"/>
          <p:nvPr/>
        </p:nvSpPr>
        <p:spPr>
          <a:xfrm>
            <a:off x="3872500" y="26032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Data Layer</a:t>
            </a:r>
            <a:endParaRPr b="1" i="0" sz="900" u="none" cap="none" strike="noStrike">
              <a:solidFill>
                <a:srgbClr val="12519C"/>
              </a:solidFill>
              <a:latin typeface="Montserrat"/>
              <a:ea typeface="Montserrat"/>
              <a:cs typeface="Montserrat"/>
              <a:sym typeface="Montserrat"/>
            </a:endParaRPr>
          </a:p>
        </p:txBody>
      </p:sp>
      <p:cxnSp>
        <p:nvCxnSpPr>
          <p:cNvPr id="335" name="Google Shape;335;p13"/>
          <p:cNvCxnSpPr>
            <a:stCxn id="322" idx="1"/>
            <a:endCxn id="325" idx="3"/>
          </p:cNvCxnSpPr>
          <p:nvPr/>
        </p:nvCxnSpPr>
        <p:spPr>
          <a:xfrm>
            <a:off x="4303950" y="3215300"/>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6" name="Google Shape;336;p13"/>
          <p:cNvSpPr txBox="1"/>
          <p:nvPr/>
        </p:nvSpPr>
        <p:spPr>
          <a:xfrm>
            <a:off x="3925088" y="35531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3rd Party</a:t>
            </a:r>
            <a:endParaRPr b="1" i="0" sz="900" u="none" cap="none" strike="noStrike">
              <a:solidFill>
                <a:srgbClr val="12519C"/>
              </a:solidFill>
              <a:latin typeface="Montserrat"/>
              <a:ea typeface="Montserrat"/>
              <a:cs typeface="Montserrat"/>
              <a:sym typeface="Montserrat"/>
            </a:endParaRPr>
          </a:p>
        </p:txBody>
      </p:sp>
      <p:cxnSp>
        <p:nvCxnSpPr>
          <p:cNvPr id="337" name="Google Shape;337;p13"/>
          <p:cNvCxnSpPr>
            <a:stCxn id="314" idx="0"/>
            <a:endCxn id="318" idx="2"/>
          </p:cNvCxnSpPr>
          <p:nvPr/>
        </p:nvCxnSpPr>
        <p:spPr>
          <a:xfrm flipH="1" rot="10800000">
            <a:off x="6210750" y="2112675"/>
            <a:ext cx="858900" cy="624600"/>
          </a:xfrm>
          <a:prstGeom prst="bentConnector3">
            <a:avLst>
              <a:gd fmla="val 50001" name="adj1"/>
            </a:avLst>
          </a:prstGeom>
          <a:noFill/>
          <a:ln cap="flat" cmpd="sng" w="9525">
            <a:solidFill>
              <a:srgbClr val="D9D9D9"/>
            </a:solidFill>
            <a:prstDash val="solid"/>
            <a:round/>
            <a:headEnd len="sm" w="sm" type="none"/>
            <a:tailEnd len="med" w="med" type="triangle"/>
          </a:ln>
        </p:spPr>
      </p:cxnSp>
      <p:cxnSp>
        <p:nvCxnSpPr>
          <p:cNvPr id="338" name="Google Shape;338;p13"/>
          <p:cNvCxnSpPr>
            <a:stCxn id="314" idx="0"/>
            <a:endCxn id="319" idx="2"/>
          </p:cNvCxnSpPr>
          <p:nvPr/>
        </p:nvCxnSpPr>
        <p:spPr>
          <a:xfrm>
            <a:off x="6210750" y="2737275"/>
            <a:ext cx="858900" cy="550800"/>
          </a:xfrm>
          <a:prstGeom prst="bentConnector3">
            <a:avLst>
              <a:gd fmla="val 50001" name="adj1"/>
            </a:avLst>
          </a:prstGeom>
          <a:noFill/>
          <a:ln cap="flat" cmpd="sng" w="9525">
            <a:solidFill>
              <a:srgbClr val="D9D9D9"/>
            </a:solidFill>
            <a:prstDash val="solid"/>
            <a:round/>
            <a:headEnd len="sm" w="sm" type="none"/>
            <a:tailEnd len="med" w="med" type="triangle"/>
          </a:ln>
        </p:spPr>
      </p:cxnSp>
      <p:sp>
        <p:nvSpPr>
          <p:cNvPr id="339" name="Google Shape;339;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4"/>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Architecture Considerations</a:t>
            </a:r>
            <a:endParaRPr/>
          </a:p>
        </p:txBody>
      </p:sp>
      <p:graphicFrame>
        <p:nvGraphicFramePr>
          <p:cNvPr id="345" name="Google Shape;345;p14"/>
          <p:cNvGraphicFramePr/>
          <p:nvPr/>
        </p:nvGraphicFramePr>
        <p:xfrm>
          <a:off x="264425" y="755775"/>
          <a:ext cx="3000000" cy="3000000"/>
        </p:xfrm>
        <a:graphic>
          <a:graphicData uri="http://schemas.openxmlformats.org/drawingml/2006/table">
            <a:tbl>
              <a:tblPr>
                <a:noFill/>
                <a:tableStyleId>{4776C36E-D2AD-4AE9-B92F-3330EE880BF7}</a:tableStyleId>
              </a:tblPr>
              <a:tblGrid>
                <a:gridCol w="1855975"/>
                <a:gridCol w="6695125"/>
              </a:tblGrid>
              <a:tr h="2881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Component</a:t>
                      </a:r>
                      <a:endParaRPr b="1" sz="10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Key Considerations</a:t>
                      </a:r>
                      <a:endParaRPr b="1" sz="1000" u="none" cap="none" strike="noStrike">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r>
              <a:tr h="6705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Mobile Application Development Platform</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Cross-platform technologies like Flutter or React Native to be considered for mobile application development. They will enable us to use a single codebase for both Android and iOS, reducing development time and costs while increasing code reuse and maintainability.</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602400">
                <a:tc>
                  <a:txBody>
                    <a:bodyPr/>
                    <a:lstStyle/>
                    <a:p>
                      <a:pPr indent="0" lvl="0" marL="0" marR="0" rtl="0" algn="l">
                        <a:lnSpc>
                          <a:spcPct val="115000"/>
                        </a:lnSpc>
                        <a:spcBef>
                          <a:spcPts val="0"/>
                        </a:spcBef>
                        <a:spcAft>
                          <a:spcPts val="0"/>
                        </a:spcAft>
                        <a:buClr>
                          <a:schemeClr val="dk1"/>
                        </a:buClr>
                        <a:buSzPts val="1100"/>
                        <a:buFont typeface="Arial"/>
                        <a:buNone/>
                      </a:pPr>
                      <a:r>
                        <a:rPr b="1" lang="en" sz="1000" u="none" cap="none" strike="noStrike">
                          <a:latin typeface="Montserrat"/>
                          <a:ea typeface="Montserrat"/>
                          <a:cs typeface="Montserrat"/>
                          <a:sym typeface="Montserrat"/>
                        </a:rPr>
                        <a:t>On-the-fly Deployment</a:t>
                      </a:r>
                      <a:r>
                        <a:rPr lang="en" sz="1000" u="none" cap="none" strike="noStrike">
                          <a:solidFill>
                            <a:schemeClr val="dk1"/>
                          </a:solidFill>
                          <a:latin typeface="Montserrat"/>
                          <a:ea typeface="Montserrat"/>
                          <a:cs typeface="Montserrat"/>
                          <a:sym typeface="Montserrat"/>
                        </a:rPr>
                        <a:t> </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On-the-fly deployment enables pushing app updates without app store resubmission-natively supported in React Native via CodePush and achievable in Flutter using Shorebird. This is particularly useful for hot-fixes and minor changes</a:t>
                      </a:r>
                      <a:r>
                        <a:rPr lang="en" sz="1100" u="none" cap="none" strike="noStrike">
                          <a:solidFill>
                            <a:schemeClr val="dk1"/>
                          </a:solidFill>
                        </a:rPr>
                        <a:t>.</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19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Montserrat"/>
                          <a:ea typeface="Montserrat"/>
                          <a:cs typeface="Montserrat"/>
                          <a:sym typeface="Montserrat"/>
                        </a:rPr>
                        <a:t>Performance Optimisation</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Responsive UI and smooth animations, lazy loading of images, pagination and optimised asset management. </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67200">
                <a:tc>
                  <a:txBody>
                    <a:bodyPr/>
                    <a:lstStyle/>
                    <a:p>
                      <a:pPr indent="0" lvl="0" marL="0" marR="0" rtl="0" algn="l">
                        <a:lnSpc>
                          <a:spcPct val="100000"/>
                        </a:lnSpc>
                        <a:spcBef>
                          <a:spcPts val="0"/>
                        </a:spcBef>
                        <a:spcAft>
                          <a:spcPts val="0"/>
                        </a:spcAft>
                        <a:buClr>
                          <a:schemeClr val="dk1"/>
                        </a:buClr>
                        <a:buSzPts val="1100"/>
                        <a:buFont typeface="Arial"/>
                        <a:buNone/>
                      </a:pPr>
                      <a:r>
                        <a:rPr b="1" lang="en" sz="1000" u="none" cap="none" strike="noStrike">
                          <a:solidFill>
                            <a:schemeClr val="dk1"/>
                          </a:solidFill>
                          <a:latin typeface="Montserrat"/>
                          <a:ea typeface="Montserrat"/>
                          <a:cs typeface="Montserrat"/>
                          <a:sym typeface="Montserrat"/>
                        </a:rPr>
                        <a:t>API Integration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RESTful API integration using the existing APIs utilised by the Web platform.</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Security &amp; Data Protection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Any user data to be securely stored in keychain and encryption if required. Secure communication using HTTPS. Authentication using existing backend architecture.</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Analytics &amp; Crash Monitoring</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Firebase Analytics(or any other preferred tool) to be utilised for analysing user behavior, page views and clicks. Crash reporting and error monitoring to be dove via Firebase Crashlytics.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555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Deployment Strategy</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App Store and Play store guidelines compliance.</a:t>
                      </a:r>
                      <a:endParaRPr sz="1000" u="none" cap="none" strike="noStrike">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CI/CD pipeline for automated deployment for different environments.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346" name="Google Shape;346;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5"/>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5"/>
          <p:cNvSpPr txBox="1"/>
          <p:nvPr>
            <p:ph type="title"/>
          </p:nvPr>
        </p:nvSpPr>
        <p:spPr>
          <a:xfrm>
            <a:off x="104500" y="141850"/>
            <a:ext cx="7467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Mobile Development Platform - Comparison</a:t>
            </a:r>
            <a:endParaRPr>
              <a:solidFill>
                <a:schemeClr val="dk1"/>
              </a:solidFill>
            </a:endParaRPr>
          </a:p>
        </p:txBody>
      </p:sp>
      <p:sp>
        <p:nvSpPr>
          <p:cNvPr id="353" name="Google Shape;353;p1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354" name="Google Shape;354;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graphicFrame>
        <p:nvGraphicFramePr>
          <p:cNvPr id="355" name="Google Shape;355;p15"/>
          <p:cNvGraphicFramePr/>
          <p:nvPr/>
        </p:nvGraphicFramePr>
        <p:xfrm>
          <a:off x="189880" y="722548"/>
          <a:ext cx="3000000" cy="3000000"/>
        </p:xfrm>
        <a:graphic>
          <a:graphicData uri="http://schemas.openxmlformats.org/drawingml/2006/table">
            <a:tbl>
              <a:tblPr bandRow="1" firstRow="1">
                <a:noFill/>
                <a:tableStyleId>{759350B3-BBFF-4BFA-8656-60803C743C3A}</a:tableStyleId>
              </a:tblPr>
              <a:tblGrid>
                <a:gridCol w="4210000"/>
                <a:gridCol w="2933625"/>
                <a:gridCol w="1567950"/>
              </a:tblGrid>
              <a:tr h="260600">
                <a:tc>
                  <a:txBody>
                    <a:bodyPr/>
                    <a:lstStyle/>
                    <a:p>
                      <a:pPr indent="0" lvl="0" marL="63500" marR="0" rtl="0" algn="l">
                        <a:lnSpc>
                          <a:spcPct val="100000"/>
                        </a:lnSpc>
                        <a:spcBef>
                          <a:spcPts val="0"/>
                        </a:spcBef>
                        <a:spcAft>
                          <a:spcPts val="0"/>
                        </a:spcAft>
                        <a:buClr>
                          <a:srgbClr val="FFFFFF"/>
                        </a:buClr>
                        <a:buSzPts val="900"/>
                        <a:buFont typeface="Arial"/>
                        <a:buNone/>
                      </a:pPr>
                      <a:r>
                        <a:rPr lang="en" sz="1100" u="none" cap="none" strike="noStrike">
                          <a:latin typeface="Montserrat"/>
                          <a:ea typeface="Montserrat"/>
                          <a:cs typeface="Montserrat"/>
                          <a:sym typeface="Montserrat"/>
                        </a:rPr>
                        <a:t>Factors</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REACT NATIVE</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Flutter</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Performance/Speed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OTA Updates  (Without going through App Store)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 (Using Codepush or Expo)</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41775">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Technologies Used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React/ React-Native/ Native Components</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Dart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Development Time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Debugging</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Community Support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Backed By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Facebook/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Google/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Build Size</a:t>
                      </a:r>
                      <a:endParaRPr b="1"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Highest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Code Reuse between Platforms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Support for OS Upgrades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Ability &amp; Support for 3</a:t>
                      </a:r>
                      <a:r>
                        <a:rPr b="1" baseline="30000" lang="en" sz="1000" u="none" cap="none" strike="noStrike">
                          <a:latin typeface="Montserrat"/>
                          <a:ea typeface="Montserrat"/>
                          <a:cs typeface="Montserrat"/>
                          <a:sym typeface="Montserrat"/>
                        </a:rPr>
                        <a:t>rd</a:t>
                      </a:r>
                      <a:r>
                        <a:rPr b="1" lang="en" sz="1000" u="none" cap="none" strike="noStrike">
                          <a:latin typeface="Montserrat"/>
                          <a:ea typeface="Montserrat"/>
                          <a:cs typeface="Montserrat"/>
                          <a:sym typeface="Montserrat"/>
                        </a:rPr>
                        <a:t> party hardware / SDK</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356" name="Google Shape;356;p15"/>
          <p:cNvSpPr txBox="1"/>
          <p:nvPr/>
        </p:nvSpPr>
        <p:spPr>
          <a:xfrm>
            <a:off x="0" y="4485550"/>
            <a:ext cx="9144000" cy="495000"/>
          </a:xfrm>
          <a:prstGeom prst="rect">
            <a:avLst/>
          </a:prstGeom>
          <a:solidFill>
            <a:srgbClr val="FFFFFF"/>
          </a:solidFill>
          <a:ln>
            <a:noFill/>
          </a:ln>
        </p:spPr>
        <p:txBody>
          <a:bodyPr anchorCtr="0" anchor="t" bIns="91425" lIns="91425" spcFirstLastPara="1" rIns="91425" wrap="square" tIns="91425">
            <a:noAutofit/>
          </a:bodyPr>
          <a:lstStyle/>
          <a:p>
            <a:r>
              <a:t>Our technical approach leverages a microservices architecture to support scalable faceted search and instant filtering for up to 50,000+ SKUs. The solution is decoupled using Next.js/React for the frontend, integrated with REST/GraphQL APIs for backend services. We ensure PCI-DSS Level 1 compliance through tokenized card data processing via Stripe and secure payment flows, while also meeting GDPR and CCPA compliance standards. The system is built with WCAG 2.1 AA accessibility guidelines in mind, ensuring accessible storefronts and CDN-backed performance.</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6"/>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6"/>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363" name="Google Shape;363;p16"/>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364" name="Google Shape;364;p16"/>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365" name="Google Shape;365;p16"/>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366" name="Google Shape;366;p16"/>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367" name="Google Shape;367;p16"/>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368" name="Google Shape;368;p16"/>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369" name="Google Shape;369;p16"/>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6"/>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6"/>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2" name="Google Shape;372;p16"/>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373" name="Google Shape;373;p16"/>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Project Plan and Key Deliverables</a:t>
            </a:r>
            <a:endParaRPr b="1" i="0" sz="1200" u="none" cap="none" strike="noStrike">
              <a:solidFill>
                <a:srgbClr val="D71B7F"/>
              </a:solidFill>
              <a:latin typeface="Montserrat"/>
              <a:ea typeface="Montserrat"/>
              <a:cs typeface="Montserrat"/>
              <a:sym typeface="Montserrat"/>
            </a:endParaRPr>
          </a:p>
        </p:txBody>
      </p:sp>
      <p:cxnSp>
        <p:nvCxnSpPr>
          <p:cNvPr id="374" name="Google Shape;374;p16"/>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375" name="Google Shape;375;p16"/>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6"/>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377" name="Google Shape;377;p16"/>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378" name="Google Shape;378;p16"/>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17"/>
          <p:cNvSpPr/>
          <p:nvPr/>
        </p:nvSpPr>
        <p:spPr>
          <a:xfrm>
            <a:off x="1623100" y="934600"/>
            <a:ext cx="7355400" cy="3713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5" name="Google Shape;385;p17"/>
          <p:cNvSpPr/>
          <p:nvPr/>
        </p:nvSpPr>
        <p:spPr>
          <a:xfrm>
            <a:off x="236853" y="1505825"/>
            <a:ext cx="1877400" cy="2588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6" name="Google Shape;386;p1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Management Approach</a:t>
            </a:r>
            <a:endParaRPr b="1" i="0" sz="2000" u="none" cap="none" strike="noStrike">
              <a:solidFill>
                <a:schemeClr val="dk1"/>
              </a:solidFill>
              <a:latin typeface="Montserrat"/>
              <a:ea typeface="Montserrat"/>
              <a:cs typeface="Montserrat"/>
              <a:sym typeface="Montserrat"/>
            </a:endParaRPr>
          </a:p>
        </p:txBody>
      </p:sp>
      <p:sp>
        <p:nvSpPr>
          <p:cNvPr id="387" name="Google Shape;387;p17"/>
          <p:cNvSpPr/>
          <p:nvPr/>
        </p:nvSpPr>
        <p:spPr>
          <a:xfrm>
            <a:off x="2303501" y="2698629"/>
            <a:ext cx="1202100" cy="13272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8" name="Google Shape;388;p17"/>
          <p:cNvSpPr/>
          <p:nvPr/>
        </p:nvSpPr>
        <p:spPr>
          <a:xfrm>
            <a:off x="3799228" y="2698629"/>
            <a:ext cx="1202100" cy="13668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9" name="Google Shape;389;p17"/>
          <p:cNvSpPr/>
          <p:nvPr/>
        </p:nvSpPr>
        <p:spPr>
          <a:xfrm>
            <a:off x="2303500"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Engagement </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Kick off &amp; Discovery</a:t>
            </a:r>
            <a:endParaRPr b="1" i="0" sz="900" u="none" cap="none" strike="noStrike">
              <a:solidFill>
                <a:srgbClr val="616161"/>
              </a:solidFill>
              <a:latin typeface="Montserrat"/>
              <a:ea typeface="Montserrat"/>
              <a:cs typeface="Montserrat"/>
              <a:sym typeface="Montserrat"/>
            </a:endParaRPr>
          </a:p>
        </p:txBody>
      </p:sp>
      <p:sp>
        <p:nvSpPr>
          <p:cNvPr id="390" name="Google Shape;390;p17"/>
          <p:cNvSpPr/>
          <p:nvPr/>
        </p:nvSpPr>
        <p:spPr>
          <a:xfrm>
            <a:off x="3814239"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Iterative</a:t>
            </a: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Development</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1     2    3    .   .</a:t>
            </a:r>
            <a:endParaRPr b="1" i="0" sz="900" u="none" cap="none" strike="noStrike">
              <a:solidFill>
                <a:srgbClr val="616161"/>
              </a:solidFill>
              <a:latin typeface="Montserrat"/>
              <a:ea typeface="Montserrat"/>
              <a:cs typeface="Montserrat"/>
              <a:sym typeface="Montserrat"/>
            </a:endParaRPr>
          </a:p>
        </p:txBody>
      </p:sp>
      <p:grpSp>
        <p:nvGrpSpPr>
          <p:cNvPr id="391" name="Google Shape;391;p17"/>
          <p:cNvGrpSpPr/>
          <p:nvPr/>
        </p:nvGrpSpPr>
        <p:grpSpPr>
          <a:xfrm>
            <a:off x="3934107" y="2120825"/>
            <a:ext cx="817618" cy="72728"/>
            <a:chOff x="3198956" y="2429934"/>
            <a:chExt cx="1353000" cy="149400"/>
          </a:xfrm>
        </p:grpSpPr>
        <p:sp>
          <p:nvSpPr>
            <p:cNvPr id="392" name="Google Shape;392;p17"/>
            <p:cNvSpPr/>
            <p:nvPr/>
          </p:nvSpPr>
          <p:spPr>
            <a:xfrm flipH="1">
              <a:off x="31989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3" name="Google Shape;393;p17"/>
            <p:cNvSpPr/>
            <p:nvPr/>
          </p:nvSpPr>
          <p:spPr>
            <a:xfrm flipH="1">
              <a:off x="35037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4" name="Google Shape;394;p17"/>
            <p:cNvSpPr/>
            <p:nvPr/>
          </p:nvSpPr>
          <p:spPr>
            <a:xfrm flipH="1">
              <a:off x="38085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5" name="Google Shape;395;p17"/>
            <p:cNvSpPr/>
            <p:nvPr/>
          </p:nvSpPr>
          <p:spPr>
            <a:xfrm flipH="1">
              <a:off x="41133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6" name="Google Shape;396;p17"/>
            <p:cNvSpPr/>
            <p:nvPr/>
          </p:nvSpPr>
          <p:spPr>
            <a:xfrm flipH="1">
              <a:off x="44181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grpSp>
      <p:cxnSp>
        <p:nvCxnSpPr>
          <p:cNvPr id="397" name="Google Shape;397;p17"/>
          <p:cNvCxnSpPr>
            <a:stCxn id="389" idx="3"/>
            <a:endCxn id="390" idx="1"/>
          </p:cNvCxnSpPr>
          <p:nvPr/>
        </p:nvCxnSpPr>
        <p:spPr>
          <a:xfrm>
            <a:off x="3480700"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98" name="Google Shape;398;p17"/>
          <p:cNvSpPr/>
          <p:nvPr/>
        </p:nvSpPr>
        <p:spPr>
          <a:xfrm>
            <a:off x="3721678" y="1352950"/>
            <a:ext cx="13065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Continuous Evolution of Working Software</a:t>
            </a:r>
            <a:endParaRPr b="0" i="0" sz="700" u="none" cap="none" strike="noStrike">
              <a:solidFill>
                <a:srgbClr val="000000"/>
              </a:solidFill>
              <a:latin typeface="Montserrat"/>
              <a:ea typeface="Montserrat"/>
              <a:cs typeface="Montserrat"/>
              <a:sym typeface="Montserrat"/>
            </a:endParaRPr>
          </a:p>
        </p:txBody>
      </p:sp>
      <p:sp>
        <p:nvSpPr>
          <p:cNvPr id="399" name="Google Shape;399;p17"/>
          <p:cNvSpPr/>
          <p:nvPr/>
        </p:nvSpPr>
        <p:spPr>
          <a:xfrm>
            <a:off x="5324975" y="1677700"/>
            <a:ext cx="7893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UAT</a:t>
            </a:r>
            <a:endParaRPr b="1" i="0" sz="900" u="none" cap="none" strike="noStrike">
              <a:solidFill>
                <a:srgbClr val="616161"/>
              </a:solidFill>
              <a:latin typeface="Montserrat"/>
              <a:ea typeface="Montserrat"/>
              <a:cs typeface="Montserrat"/>
              <a:sym typeface="Montserrat"/>
            </a:endParaRPr>
          </a:p>
        </p:txBody>
      </p:sp>
      <p:cxnSp>
        <p:nvCxnSpPr>
          <p:cNvPr id="400" name="Google Shape;400;p17"/>
          <p:cNvCxnSpPr>
            <a:stCxn id="390" idx="3"/>
            <a:endCxn id="399" idx="1"/>
          </p:cNvCxnSpPr>
          <p:nvPr/>
        </p:nvCxnSpPr>
        <p:spPr>
          <a:xfrm>
            <a:off x="4991439"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401" name="Google Shape;401;p17"/>
          <p:cNvSpPr/>
          <p:nvPr/>
        </p:nvSpPr>
        <p:spPr>
          <a:xfrm>
            <a:off x="6447800" y="1694125"/>
            <a:ext cx="789300" cy="7569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Go-Live</a:t>
            </a:r>
            <a:endParaRPr b="1" i="0" sz="900" u="none" cap="none" strike="noStrike">
              <a:solidFill>
                <a:srgbClr val="616161"/>
              </a:solidFill>
              <a:latin typeface="Montserrat"/>
              <a:ea typeface="Montserrat"/>
              <a:cs typeface="Montserrat"/>
              <a:sym typeface="Montserrat"/>
            </a:endParaRPr>
          </a:p>
        </p:txBody>
      </p:sp>
      <p:cxnSp>
        <p:nvCxnSpPr>
          <p:cNvPr id="402" name="Google Shape;402;p17"/>
          <p:cNvCxnSpPr>
            <a:stCxn id="399" idx="3"/>
            <a:endCxn id="401" idx="1"/>
          </p:cNvCxnSpPr>
          <p:nvPr/>
        </p:nvCxnSpPr>
        <p:spPr>
          <a:xfrm flipH="1" rot="10800000">
            <a:off x="6114275" y="2072500"/>
            <a:ext cx="333600" cy="2700"/>
          </a:xfrm>
          <a:prstGeom prst="straightConnector1">
            <a:avLst/>
          </a:prstGeom>
          <a:noFill/>
          <a:ln cap="flat" cmpd="sng" w="9525">
            <a:solidFill>
              <a:srgbClr val="44546A"/>
            </a:solidFill>
            <a:prstDash val="solid"/>
            <a:round/>
            <a:headEnd len="sm" w="sm" type="none"/>
            <a:tailEnd len="med" w="med" type="triangle"/>
          </a:ln>
        </p:spPr>
      </p:cxnSp>
      <p:sp>
        <p:nvSpPr>
          <p:cNvPr id="403" name="Google Shape;403;p17"/>
          <p:cNvSpPr/>
          <p:nvPr/>
        </p:nvSpPr>
        <p:spPr>
          <a:xfrm>
            <a:off x="7633975" y="1683488"/>
            <a:ext cx="11970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Hypercare</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Support</a:t>
            </a:r>
            <a:endParaRPr b="1" i="0" sz="900" u="none" cap="none" strike="noStrike">
              <a:solidFill>
                <a:srgbClr val="616161"/>
              </a:solidFill>
              <a:latin typeface="Montserrat"/>
              <a:ea typeface="Montserrat"/>
              <a:cs typeface="Montserrat"/>
              <a:sym typeface="Montserrat"/>
            </a:endParaRPr>
          </a:p>
        </p:txBody>
      </p:sp>
      <p:cxnSp>
        <p:nvCxnSpPr>
          <p:cNvPr id="404" name="Google Shape;404;p17"/>
          <p:cNvCxnSpPr/>
          <p:nvPr/>
        </p:nvCxnSpPr>
        <p:spPr>
          <a:xfrm>
            <a:off x="7237088" y="2071309"/>
            <a:ext cx="365700" cy="7800"/>
          </a:xfrm>
          <a:prstGeom prst="straightConnector1">
            <a:avLst/>
          </a:prstGeom>
          <a:noFill/>
          <a:ln cap="flat" cmpd="sng" w="9525">
            <a:solidFill>
              <a:srgbClr val="44546A"/>
            </a:solidFill>
            <a:prstDash val="solid"/>
            <a:round/>
            <a:headEnd len="sm" w="sm" type="none"/>
            <a:tailEnd len="med" w="med" type="triangle"/>
          </a:ln>
        </p:spPr>
      </p:cxnSp>
      <p:sp>
        <p:nvSpPr>
          <p:cNvPr id="405" name="Google Shape;405;p17"/>
          <p:cNvSpPr/>
          <p:nvPr/>
        </p:nvSpPr>
        <p:spPr>
          <a:xfrm>
            <a:off x="2374525" y="2817019"/>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6" name="Google Shape;406;p17"/>
          <p:cNvSpPr/>
          <p:nvPr/>
        </p:nvSpPr>
        <p:spPr>
          <a:xfrm>
            <a:off x="2374517" y="3276841"/>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7" name="Google Shape;407;p17"/>
          <p:cNvSpPr/>
          <p:nvPr/>
        </p:nvSpPr>
        <p:spPr>
          <a:xfrm>
            <a:off x="2374517" y="3727228"/>
            <a:ext cx="1054200" cy="2040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8" name="Google Shape;408;p17"/>
          <p:cNvSpPr/>
          <p:nvPr/>
        </p:nvSpPr>
        <p:spPr>
          <a:xfrm>
            <a:off x="4131026" y="3035164"/>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9" name="Google Shape;409;p17"/>
          <p:cNvSpPr/>
          <p:nvPr/>
        </p:nvSpPr>
        <p:spPr>
          <a:xfrm>
            <a:off x="4131026" y="3299908"/>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10" name="Google Shape;410;p17"/>
          <p:cNvSpPr/>
          <p:nvPr/>
        </p:nvSpPr>
        <p:spPr>
          <a:xfrm>
            <a:off x="4131026" y="356070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11" name="Google Shape;411;p17"/>
          <p:cNvSpPr/>
          <p:nvPr/>
        </p:nvSpPr>
        <p:spPr>
          <a:xfrm>
            <a:off x="4131026" y="381359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12" name="Google Shape;412;p17"/>
          <p:cNvSpPr/>
          <p:nvPr/>
        </p:nvSpPr>
        <p:spPr>
          <a:xfrm>
            <a:off x="4131026" y="2766471"/>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413" name="Google Shape;413;p17"/>
          <p:cNvCxnSpPr/>
          <p:nvPr/>
        </p:nvCxnSpPr>
        <p:spPr>
          <a:xfrm>
            <a:off x="3992919" y="2867471"/>
            <a:ext cx="0" cy="1011600"/>
          </a:xfrm>
          <a:prstGeom prst="straightConnector1">
            <a:avLst/>
          </a:prstGeom>
          <a:noFill/>
          <a:ln cap="flat" cmpd="sng" w="12700">
            <a:solidFill>
              <a:srgbClr val="7F7F7F"/>
            </a:solidFill>
            <a:prstDash val="solid"/>
            <a:miter lim="8000"/>
            <a:headEnd len="sm" w="sm" type="none"/>
            <a:tailEnd len="sm" w="sm" type="none"/>
          </a:ln>
        </p:spPr>
      </p:cxnSp>
      <p:sp>
        <p:nvSpPr>
          <p:cNvPr id="414" name="Google Shape;414;p17"/>
          <p:cNvSpPr/>
          <p:nvPr/>
        </p:nvSpPr>
        <p:spPr>
          <a:xfrm>
            <a:off x="3804525" y="4077663"/>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Iterative &amp; Incremental </a:t>
            </a:r>
            <a:endParaRPr b="0" i="0" sz="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Collaboration</a:t>
            </a:r>
            <a:endParaRPr b="0" i="0" sz="700" u="none" cap="none" strike="noStrike">
              <a:solidFill>
                <a:srgbClr val="FFFFFF"/>
              </a:solidFill>
              <a:latin typeface="Montserrat"/>
              <a:ea typeface="Montserrat"/>
              <a:cs typeface="Montserrat"/>
              <a:sym typeface="Montserrat"/>
            </a:endParaRPr>
          </a:p>
        </p:txBody>
      </p:sp>
      <p:sp>
        <p:nvSpPr>
          <p:cNvPr id="415" name="Google Shape;415;p17"/>
          <p:cNvSpPr/>
          <p:nvPr/>
        </p:nvSpPr>
        <p:spPr>
          <a:xfrm>
            <a:off x="2304491" y="3293825"/>
            <a:ext cx="1054200" cy="297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 Framework Setup</a:t>
            </a:r>
            <a:endParaRPr b="0" i="0" sz="700" u="none" cap="none" strike="noStrike">
              <a:solidFill>
                <a:srgbClr val="000000"/>
              </a:solidFill>
              <a:latin typeface="Montserrat"/>
              <a:ea typeface="Montserrat"/>
              <a:cs typeface="Montserrat"/>
              <a:sym typeface="Montserrat"/>
            </a:endParaRPr>
          </a:p>
        </p:txBody>
      </p:sp>
      <p:sp>
        <p:nvSpPr>
          <p:cNvPr id="416" name="Google Shape;416;p17"/>
          <p:cNvSpPr/>
          <p:nvPr/>
        </p:nvSpPr>
        <p:spPr>
          <a:xfrm>
            <a:off x="2463228" y="3738183"/>
            <a:ext cx="8973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Dev &amp; CI Setup</a:t>
            </a:r>
            <a:endParaRPr b="0" i="0" sz="700" u="none" cap="none" strike="noStrike">
              <a:solidFill>
                <a:srgbClr val="000000"/>
              </a:solidFill>
              <a:latin typeface="Montserrat"/>
              <a:ea typeface="Montserrat"/>
              <a:cs typeface="Montserrat"/>
              <a:sym typeface="Montserrat"/>
            </a:endParaRPr>
          </a:p>
        </p:txBody>
      </p:sp>
      <p:sp>
        <p:nvSpPr>
          <p:cNvPr id="417" name="Google Shape;417;p17"/>
          <p:cNvSpPr/>
          <p:nvPr/>
        </p:nvSpPr>
        <p:spPr>
          <a:xfrm>
            <a:off x="2308793" y="4041178"/>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Project Setup &amp; Preparation</a:t>
            </a:r>
            <a:endParaRPr b="0" i="0" sz="700" u="none" cap="none" strike="noStrike">
              <a:solidFill>
                <a:srgbClr val="FFFFFF"/>
              </a:solidFill>
              <a:latin typeface="Montserrat"/>
              <a:ea typeface="Montserrat"/>
              <a:cs typeface="Montserrat"/>
              <a:sym typeface="Montserrat"/>
            </a:endParaRPr>
          </a:p>
        </p:txBody>
      </p:sp>
      <p:sp>
        <p:nvSpPr>
          <p:cNvPr id="418" name="Google Shape;418;p17"/>
          <p:cNvSpPr/>
          <p:nvPr/>
        </p:nvSpPr>
        <p:spPr>
          <a:xfrm>
            <a:off x="4155819" y="2755171"/>
            <a:ext cx="5769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Analyse</a:t>
            </a:r>
            <a:endParaRPr b="0" i="0" sz="700" u="none" cap="none" strike="noStrike">
              <a:solidFill>
                <a:srgbClr val="000000"/>
              </a:solidFill>
              <a:latin typeface="Montserrat"/>
              <a:ea typeface="Montserrat"/>
              <a:cs typeface="Montserrat"/>
              <a:sym typeface="Montserrat"/>
            </a:endParaRPr>
          </a:p>
        </p:txBody>
      </p:sp>
      <p:sp>
        <p:nvSpPr>
          <p:cNvPr id="419" name="Google Shape;419;p17"/>
          <p:cNvSpPr/>
          <p:nvPr/>
        </p:nvSpPr>
        <p:spPr>
          <a:xfrm>
            <a:off x="4190073" y="3018350"/>
            <a:ext cx="5085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Design</a:t>
            </a:r>
            <a:endParaRPr b="0" i="0" sz="700" u="none" cap="none" strike="noStrike">
              <a:solidFill>
                <a:srgbClr val="000000"/>
              </a:solidFill>
              <a:latin typeface="Montserrat"/>
              <a:ea typeface="Montserrat"/>
              <a:cs typeface="Montserrat"/>
              <a:sym typeface="Montserrat"/>
            </a:endParaRPr>
          </a:p>
        </p:txBody>
      </p:sp>
      <p:sp>
        <p:nvSpPr>
          <p:cNvPr id="420" name="Google Shape;420;p17"/>
          <p:cNvSpPr/>
          <p:nvPr/>
        </p:nvSpPr>
        <p:spPr>
          <a:xfrm>
            <a:off x="4125640" y="3285549"/>
            <a:ext cx="6480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Code</a:t>
            </a:r>
            <a:endParaRPr b="0" i="0" sz="700" u="none" cap="none" strike="noStrike">
              <a:solidFill>
                <a:srgbClr val="000000"/>
              </a:solidFill>
              <a:latin typeface="Montserrat"/>
              <a:ea typeface="Montserrat"/>
              <a:cs typeface="Montserrat"/>
              <a:sym typeface="Montserrat"/>
            </a:endParaRPr>
          </a:p>
        </p:txBody>
      </p:sp>
      <p:sp>
        <p:nvSpPr>
          <p:cNvPr id="421" name="Google Shape;421;p17"/>
          <p:cNvSpPr/>
          <p:nvPr/>
        </p:nvSpPr>
        <p:spPr>
          <a:xfrm>
            <a:off x="4279537" y="3537980"/>
            <a:ext cx="3294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a:t>
            </a:r>
            <a:endParaRPr b="0" i="0" sz="700" u="none" cap="none" strike="noStrike">
              <a:solidFill>
                <a:srgbClr val="000000"/>
              </a:solidFill>
              <a:latin typeface="Montserrat"/>
              <a:ea typeface="Montserrat"/>
              <a:cs typeface="Montserrat"/>
              <a:sym typeface="Montserrat"/>
            </a:endParaRPr>
          </a:p>
        </p:txBody>
      </p:sp>
      <p:sp>
        <p:nvSpPr>
          <p:cNvPr id="422" name="Google Shape;422;p17"/>
          <p:cNvSpPr/>
          <p:nvPr/>
        </p:nvSpPr>
        <p:spPr>
          <a:xfrm>
            <a:off x="4156461" y="3790409"/>
            <a:ext cx="5361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Deploy</a:t>
            </a:r>
            <a:endParaRPr b="0" i="0" sz="700" u="none" cap="none" strike="noStrike">
              <a:solidFill>
                <a:srgbClr val="000000"/>
              </a:solidFill>
              <a:latin typeface="Montserrat"/>
              <a:ea typeface="Montserrat"/>
              <a:cs typeface="Montserrat"/>
              <a:sym typeface="Montserrat"/>
            </a:endParaRPr>
          </a:p>
        </p:txBody>
      </p:sp>
      <p:cxnSp>
        <p:nvCxnSpPr>
          <p:cNvPr id="423" name="Google Shape;423;p17"/>
          <p:cNvCxnSpPr/>
          <p:nvPr/>
        </p:nvCxnSpPr>
        <p:spPr>
          <a:xfrm flipH="1">
            <a:off x="4443986" y="292788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4" name="Google Shape;424;p17"/>
          <p:cNvCxnSpPr/>
          <p:nvPr/>
        </p:nvCxnSpPr>
        <p:spPr>
          <a:xfrm>
            <a:off x="3995621" y="2867471"/>
            <a:ext cx="147900" cy="0"/>
          </a:xfrm>
          <a:prstGeom prst="straightConnector1">
            <a:avLst/>
          </a:prstGeom>
          <a:noFill/>
          <a:ln cap="flat" cmpd="sng" w="9525">
            <a:solidFill>
              <a:srgbClr val="616161"/>
            </a:solidFill>
            <a:prstDash val="solid"/>
            <a:miter lim="8000"/>
            <a:headEnd len="sm" w="sm" type="none"/>
            <a:tailEnd len="med" w="med" type="triangle"/>
          </a:ln>
        </p:spPr>
      </p:cxnSp>
      <p:cxnSp>
        <p:nvCxnSpPr>
          <p:cNvPr id="425" name="Google Shape;425;p17"/>
          <p:cNvCxnSpPr/>
          <p:nvPr/>
        </p:nvCxnSpPr>
        <p:spPr>
          <a:xfrm>
            <a:off x="3992919" y="3881063"/>
            <a:ext cx="150900" cy="0"/>
          </a:xfrm>
          <a:prstGeom prst="straightConnector1">
            <a:avLst/>
          </a:prstGeom>
          <a:noFill/>
          <a:ln cap="flat" cmpd="sng" w="12700">
            <a:solidFill>
              <a:srgbClr val="7F7F7F"/>
            </a:solidFill>
            <a:prstDash val="solid"/>
            <a:miter lim="8000"/>
            <a:headEnd len="sm" w="sm" type="none"/>
            <a:tailEnd len="sm" w="sm" type="none"/>
          </a:ln>
        </p:spPr>
      </p:cxnSp>
      <p:sp>
        <p:nvSpPr>
          <p:cNvPr id="426" name="Google Shape;426;p17"/>
          <p:cNvSpPr/>
          <p:nvPr/>
        </p:nvSpPr>
        <p:spPr>
          <a:xfrm rot="-5400000">
            <a:off x="3694246" y="3254831"/>
            <a:ext cx="452400" cy="1626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Century Gothic"/>
                <a:ea typeface="Century Gothic"/>
                <a:cs typeface="Century Gothic"/>
                <a:sym typeface="Century Gothic"/>
              </a:rPr>
              <a:t>Repeat</a:t>
            </a:r>
            <a:endParaRPr b="0" i="0" sz="600" u="none" cap="none" strike="noStrike">
              <a:solidFill>
                <a:srgbClr val="000000"/>
              </a:solidFill>
              <a:latin typeface="Century Gothic"/>
              <a:ea typeface="Century Gothic"/>
              <a:cs typeface="Century Gothic"/>
              <a:sym typeface="Century Gothic"/>
            </a:endParaRPr>
          </a:p>
        </p:txBody>
      </p:sp>
      <p:cxnSp>
        <p:nvCxnSpPr>
          <p:cNvPr id="427" name="Google Shape;427;p17"/>
          <p:cNvCxnSpPr/>
          <p:nvPr/>
        </p:nvCxnSpPr>
        <p:spPr>
          <a:xfrm flipH="1">
            <a:off x="4443986" y="3192628"/>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8" name="Google Shape;428;p17"/>
          <p:cNvCxnSpPr/>
          <p:nvPr/>
        </p:nvCxnSpPr>
        <p:spPr>
          <a:xfrm flipH="1">
            <a:off x="4443986" y="345737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9" name="Google Shape;429;p17"/>
          <p:cNvCxnSpPr/>
          <p:nvPr/>
        </p:nvCxnSpPr>
        <p:spPr>
          <a:xfrm flipH="1">
            <a:off x="4443986" y="3714215"/>
            <a:ext cx="1200" cy="105000"/>
          </a:xfrm>
          <a:prstGeom prst="straightConnector1">
            <a:avLst/>
          </a:prstGeom>
          <a:noFill/>
          <a:ln cap="flat" cmpd="sng" w="9525">
            <a:solidFill>
              <a:srgbClr val="616161"/>
            </a:solidFill>
            <a:prstDash val="solid"/>
            <a:miter lim="8000"/>
            <a:headEnd len="sm" w="sm" type="none"/>
            <a:tailEnd len="med" w="med" type="triangle"/>
          </a:ln>
        </p:spPr>
      </p:cxnSp>
      <p:pic>
        <p:nvPicPr>
          <p:cNvPr id="430" name="Google Shape;430;p17"/>
          <p:cNvPicPr preferRelativeResize="0"/>
          <p:nvPr/>
        </p:nvPicPr>
        <p:blipFill rotWithShape="1">
          <a:blip r:embed="rId3">
            <a:alphaModFix/>
          </a:blip>
          <a:srcRect b="20805" l="17274" r="12333" t="17276"/>
          <a:stretch/>
        </p:blipFill>
        <p:spPr>
          <a:xfrm>
            <a:off x="2755125" y="1771113"/>
            <a:ext cx="228668" cy="211275"/>
          </a:xfrm>
          <a:prstGeom prst="rect">
            <a:avLst/>
          </a:prstGeom>
          <a:noFill/>
          <a:ln>
            <a:noFill/>
          </a:ln>
        </p:spPr>
      </p:pic>
      <p:pic>
        <p:nvPicPr>
          <p:cNvPr id="431" name="Google Shape;431;p17"/>
          <p:cNvPicPr preferRelativeResize="0"/>
          <p:nvPr/>
        </p:nvPicPr>
        <p:blipFill rotWithShape="1">
          <a:blip r:embed="rId4">
            <a:alphaModFix/>
          </a:blip>
          <a:srcRect b="0" l="0" r="0" t="0"/>
          <a:stretch/>
        </p:blipFill>
        <p:spPr>
          <a:xfrm>
            <a:off x="5605313" y="1880725"/>
            <a:ext cx="228675" cy="228675"/>
          </a:xfrm>
          <a:prstGeom prst="rect">
            <a:avLst/>
          </a:prstGeom>
          <a:noFill/>
          <a:ln>
            <a:noFill/>
          </a:ln>
        </p:spPr>
      </p:pic>
      <p:pic>
        <p:nvPicPr>
          <p:cNvPr id="432" name="Google Shape;432;p17"/>
          <p:cNvPicPr preferRelativeResize="0"/>
          <p:nvPr/>
        </p:nvPicPr>
        <p:blipFill rotWithShape="1">
          <a:blip r:embed="rId5">
            <a:alphaModFix/>
          </a:blip>
          <a:srcRect b="0" l="0" r="0" t="0"/>
          <a:stretch/>
        </p:blipFill>
        <p:spPr>
          <a:xfrm>
            <a:off x="6691264" y="1886352"/>
            <a:ext cx="365700" cy="217409"/>
          </a:xfrm>
          <a:prstGeom prst="rect">
            <a:avLst/>
          </a:prstGeom>
          <a:noFill/>
          <a:ln>
            <a:noFill/>
          </a:ln>
        </p:spPr>
      </p:pic>
      <p:pic>
        <p:nvPicPr>
          <p:cNvPr id="433" name="Google Shape;433;p17"/>
          <p:cNvPicPr preferRelativeResize="0"/>
          <p:nvPr/>
        </p:nvPicPr>
        <p:blipFill rotWithShape="1">
          <a:blip r:embed="rId6">
            <a:alphaModFix/>
          </a:blip>
          <a:srcRect b="0" l="0" r="0" t="0"/>
          <a:stretch/>
        </p:blipFill>
        <p:spPr>
          <a:xfrm>
            <a:off x="8118138" y="1785736"/>
            <a:ext cx="228675" cy="228675"/>
          </a:xfrm>
          <a:prstGeom prst="rect">
            <a:avLst/>
          </a:prstGeom>
          <a:noFill/>
          <a:ln>
            <a:noFill/>
          </a:ln>
        </p:spPr>
      </p:pic>
      <p:grpSp>
        <p:nvGrpSpPr>
          <p:cNvPr id="434" name="Google Shape;434;p17"/>
          <p:cNvGrpSpPr/>
          <p:nvPr/>
        </p:nvGrpSpPr>
        <p:grpSpPr>
          <a:xfrm>
            <a:off x="308754" y="1982358"/>
            <a:ext cx="1734192" cy="256660"/>
            <a:chOff x="530597" y="1659894"/>
            <a:chExt cx="1541778" cy="210931"/>
          </a:xfrm>
        </p:grpSpPr>
        <p:sp>
          <p:nvSpPr>
            <p:cNvPr id="435" name="Google Shape;435;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Project Manager/Business Analyst</a:t>
              </a:r>
              <a:endParaRPr b="0" i="0" sz="800" u="none" cap="none" strike="noStrike">
                <a:solidFill>
                  <a:srgbClr val="000000"/>
                </a:solidFill>
                <a:latin typeface="Montserrat"/>
                <a:ea typeface="Montserrat"/>
                <a:cs typeface="Montserrat"/>
                <a:sym typeface="Montserrat"/>
              </a:endParaRPr>
            </a:p>
          </p:txBody>
        </p:sp>
        <p:pic>
          <p:nvPicPr>
            <p:cNvPr id="436" name="Google Shape;436;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37" name="Google Shape;437;p17"/>
          <p:cNvSpPr txBox="1"/>
          <p:nvPr/>
        </p:nvSpPr>
        <p:spPr>
          <a:xfrm>
            <a:off x="2538875" y="980525"/>
            <a:ext cx="49083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accent2"/>
                </a:solidFill>
                <a:latin typeface="Montserrat"/>
                <a:ea typeface="Montserrat"/>
                <a:cs typeface="Montserrat"/>
                <a:sym typeface="Montserrat"/>
              </a:rPr>
              <a:t>Agile Based iterative Development Approach</a:t>
            </a:r>
            <a:endParaRPr b="1" i="0" sz="1000" u="none" cap="none" strike="noStrike">
              <a:solidFill>
                <a:schemeClr val="accent2"/>
              </a:solidFill>
              <a:latin typeface="Montserrat"/>
              <a:ea typeface="Montserrat"/>
              <a:cs typeface="Montserrat"/>
              <a:sym typeface="Montserrat"/>
            </a:endParaRPr>
          </a:p>
        </p:txBody>
      </p:sp>
      <p:sp>
        <p:nvSpPr>
          <p:cNvPr id="438" name="Google Shape;438;p17"/>
          <p:cNvSpPr txBox="1"/>
          <p:nvPr/>
        </p:nvSpPr>
        <p:spPr>
          <a:xfrm>
            <a:off x="-241825" y="1505825"/>
            <a:ext cx="30000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accent2"/>
                </a:solidFill>
                <a:latin typeface="Montserrat"/>
                <a:ea typeface="Montserrat"/>
                <a:cs typeface="Montserrat"/>
                <a:sym typeface="Montserrat"/>
              </a:rPr>
              <a:t>TTN Engineering Team</a:t>
            </a:r>
            <a:endParaRPr b="1" i="0" sz="900" u="none" cap="none" strike="noStrike">
              <a:solidFill>
                <a:schemeClr val="accent2"/>
              </a:solidFill>
              <a:latin typeface="Montserrat"/>
              <a:ea typeface="Montserrat"/>
              <a:cs typeface="Montserrat"/>
              <a:sym typeface="Montserrat"/>
            </a:endParaRPr>
          </a:p>
        </p:txBody>
      </p:sp>
      <p:sp>
        <p:nvSpPr>
          <p:cNvPr id="439" name="Google Shape;439;p17"/>
          <p:cNvSpPr/>
          <p:nvPr/>
        </p:nvSpPr>
        <p:spPr>
          <a:xfrm>
            <a:off x="2344200" y="2880388"/>
            <a:ext cx="10137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Tech &amp; Functional Discovery</a:t>
            </a:r>
            <a:endParaRPr b="0" i="0" sz="700" u="none" cap="none" strike="noStrike">
              <a:solidFill>
                <a:srgbClr val="000000"/>
              </a:solidFill>
              <a:latin typeface="Montserrat"/>
              <a:ea typeface="Montserrat"/>
              <a:cs typeface="Montserrat"/>
              <a:sym typeface="Montserrat"/>
            </a:endParaRPr>
          </a:p>
        </p:txBody>
      </p:sp>
      <p:grpSp>
        <p:nvGrpSpPr>
          <p:cNvPr id="440" name="Google Shape;440;p17"/>
          <p:cNvGrpSpPr/>
          <p:nvPr/>
        </p:nvGrpSpPr>
        <p:grpSpPr>
          <a:xfrm>
            <a:off x="298800" y="2292174"/>
            <a:ext cx="1734192" cy="256660"/>
            <a:chOff x="530597" y="1659894"/>
            <a:chExt cx="1541778" cy="210931"/>
          </a:xfrm>
        </p:grpSpPr>
        <p:sp>
          <p:nvSpPr>
            <p:cNvPr id="441" name="Google Shape;441;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Technical lead</a:t>
              </a:r>
              <a:endParaRPr b="0" i="0" sz="800" u="none" cap="none" strike="noStrike">
                <a:solidFill>
                  <a:srgbClr val="000000"/>
                </a:solidFill>
                <a:latin typeface="Montserrat"/>
                <a:ea typeface="Montserrat"/>
                <a:cs typeface="Montserrat"/>
                <a:sym typeface="Montserrat"/>
              </a:endParaRPr>
            </a:p>
          </p:txBody>
        </p:sp>
        <p:pic>
          <p:nvPicPr>
            <p:cNvPr id="442" name="Google Shape;442;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3" name="Google Shape;443;p17"/>
          <p:cNvGrpSpPr/>
          <p:nvPr/>
        </p:nvGrpSpPr>
        <p:grpSpPr>
          <a:xfrm>
            <a:off x="308757" y="2617640"/>
            <a:ext cx="1734192" cy="256660"/>
            <a:chOff x="530597" y="1659894"/>
            <a:chExt cx="1541778" cy="210931"/>
          </a:xfrm>
        </p:grpSpPr>
        <p:sp>
          <p:nvSpPr>
            <p:cNvPr id="444" name="Google Shape;444;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DevOps Experts</a:t>
              </a:r>
              <a:endParaRPr b="0" i="0" sz="800" u="none" cap="none" strike="noStrike">
                <a:solidFill>
                  <a:srgbClr val="000000"/>
                </a:solidFill>
                <a:latin typeface="Montserrat"/>
                <a:ea typeface="Montserrat"/>
                <a:cs typeface="Montserrat"/>
                <a:sym typeface="Montserrat"/>
              </a:endParaRPr>
            </a:p>
          </p:txBody>
        </p:sp>
        <p:pic>
          <p:nvPicPr>
            <p:cNvPr id="445" name="Google Shape;445;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6" name="Google Shape;446;p17"/>
          <p:cNvGrpSpPr/>
          <p:nvPr/>
        </p:nvGrpSpPr>
        <p:grpSpPr>
          <a:xfrm>
            <a:off x="298803" y="2943091"/>
            <a:ext cx="1734192" cy="256660"/>
            <a:chOff x="530597" y="1659894"/>
            <a:chExt cx="1541778" cy="210931"/>
          </a:xfrm>
        </p:grpSpPr>
        <p:sp>
          <p:nvSpPr>
            <p:cNvPr id="447" name="Google Shape;447;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Ui/UX Expert</a:t>
              </a:r>
              <a:endParaRPr b="0" i="0" sz="800" u="none" cap="none" strike="noStrike">
                <a:solidFill>
                  <a:srgbClr val="000000"/>
                </a:solidFill>
                <a:latin typeface="Montserrat"/>
                <a:ea typeface="Montserrat"/>
                <a:cs typeface="Montserrat"/>
                <a:sym typeface="Montserrat"/>
              </a:endParaRPr>
            </a:p>
          </p:txBody>
        </p:sp>
        <p:pic>
          <p:nvPicPr>
            <p:cNvPr id="448" name="Google Shape;448;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9" name="Google Shape;449;p17"/>
          <p:cNvGrpSpPr/>
          <p:nvPr/>
        </p:nvGrpSpPr>
        <p:grpSpPr>
          <a:xfrm>
            <a:off x="298803" y="3281643"/>
            <a:ext cx="1734192" cy="256660"/>
            <a:chOff x="530597" y="1659894"/>
            <a:chExt cx="1541778" cy="210931"/>
          </a:xfrm>
        </p:grpSpPr>
        <p:sp>
          <p:nvSpPr>
            <p:cNvPr id="450" name="Google Shape;450;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Mobility Developer</a:t>
              </a:r>
              <a:endParaRPr b="0" i="0" sz="800" u="none" cap="none" strike="noStrike">
                <a:solidFill>
                  <a:srgbClr val="000000"/>
                </a:solidFill>
                <a:latin typeface="Montserrat"/>
                <a:ea typeface="Montserrat"/>
                <a:cs typeface="Montserrat"/>
                <a:sym typeface="Montserrat"/>
              </a:endParaRPr>
            </a:p>
          </p:txBody>
        </p:sp>
        <p:pic>
          <p:nvPicPr>
            <p:cNvPr id="451" name="Google Shape;451;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52" name="Google Shape;452;p17"/>
          <p:cNvGrpSpPr/>
          <p:nvPr/>
        </p:nvGrpSpPr>
        <p:grpSpPr>
          <a:xfrm>
            <a:off x="298803" y="3624423"/>
            <a:ext cx="1734192" cy="256660"/>
            <a:chOff x="530597" y="1659894"/>
            <a:chExt cx="1541778" cy="210931"/>
          </a:xfrm>
        </p:grpSpPr>
        <p:sp>
          <p:nvSpPr>
            <p:cNvPr id="453" name="Google Shape;453;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Quality Analyst</a:t>
              </a:r>
              <a:endParaRPr b="0" i="0" sz="800" u="none" cap="none" strike="noStrike">
                <a:solidFill>
                  <a:srgbClr val="000000"/>
                </a:solidFill>
                <a:latin typeface="Montserrat"/>
                <a:ea typeface="Montserrat"/>
                <a:cs typeface="Montserrat"/>
                <a:sym typeface="Montserrat"/>
              </a:endParaRPr>
            </a:p>
          </p:txBody>
        </p:sp>
        <p:pic>
          <p:nvPicPr>
            <p:cNvPr id="454" name="Google Shape;454;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55" name="Google Shape;455;p17"/>
          <p:cNvSpPr txBox="1"/>
          <p:nvPr/>
        </p:nvSpPr>
        <p:spPr>
          <a:xfrm>
            <a:off x="5325050" y="2625250"/>
            <a:ext cx="3480300" cy="1313700"/>
          </a:xfrm>
          <a:prstGeom prst="rect">
            <a:avLst/>
          </a:prstGeom>
          <a:solidFill>
            <a:srgbClr val="FFFFFF"/>
          </a:solidFill>
          <a:ln cap="flat" cmpd="sng" w="9525">
            <a:solidFill>
              <a:srgbClr val="EFEFEF"/>
            </a:solidFill>
            <a:prstDash val="solid"/>
            <a:round/>
            <a:headEnd len="sm" w="sm" type="none"/>
            <a:tailEnd len="sm" w="sm" type="none"/>
          </a:ln>
          <a:effectLst>
            <a:outerShdw blurRad="157163" rotWithShape="0" algn="bl" dir="9060000" dist="9525">
              <a:srgbClr val="000000">
                <a:alpha val="14118"/>
              </a:srgbClr>
            </a:outerShdw>
          </a:effectLst>
        </p:spPr>
        <p:txBody>
          <a:bodyPr anchorCtr="0" anchor="t" bIns="91425" lIns="91425" spcFirstLastPara="1" rIns="91425" wrap="square" tIns="91425">
            <a:spAutoFit/>
          </a:bodyPr>
          <a:lstStyle/>
          <a:p>
            <a:r>
              <a:t>We follow a structured implementation methodology that begins with a detailed analysis of the project requirements and aligns them with our technical capabilities. Our approach includes iterative development, with continuous integration and testing to ensure quality and scalability. We integrate with existing systems such as SAP for inventory and order management, and CRM platforms like HubSpot and Klaviyo for automated customer flows. This methodology ensures seamless integration and adaptability to evolving business needs.</a:t>
            </a:r>
          </a:p>
        </p:txBody>
      </p:sp>
      <p:sp>
        <p:nvSpPr>
          <p:cNvPr id="456" name="Google Shape;456;p1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457" name="Google Shape;457;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18"/>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Governance Model</a:t>
            </a:r>
            <a:endParaRPr b="1" i="0" sz="2000" u="none" cap="none" strike="noStrike">
              <a:solidFill>
                <a:schemeClr val="dk1"/>
              </a:solidFill>
              <a:latin typeface="Montserrat"/>
              <a:ea typeface="Montserrat"/>
              <a:cs typeface="Montserrat"/>
              <a:sym typeface="Montserrat"/>
            </a:endParaRPr>
          </a:p>
        </p:txBody>
      </p:sp>
      <p:sp>
        <p:nvSpPr>
          <p:cNvPr id="463" name="Google Shape;463;p18"/>
          <p:cNvSpPr/>
          <p:nvPr/>
        </p:nvSpPr>
        <p:spPr>
          <a:xfrm>
            <a:off x="406550" y="2890925"/>
            <a:ext cx="8032800" cy="2023500"/>
          </a:xfrm>
          <a:prstGeom prst="snip1Rect">
            <a:avLst>
              <a:gd fmla="val 8163" name="adj"/>
            </a:avLst>
          </a:prstGeom>
          <a:solidFill>
            <a:srgbClr val="FFFFFF"/>
          </a:solidFill>
          <a:ln cap="flat" cmpd="sng" w="9525">
            <a:solidFill>
              <a:srgbClr val="6F3A93"/>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4" name="Google Shape;464;p18"/>
          <p:cNvSpPr/>
          <p:nvPr/>
        </p:nvSpPr>
        <p:spPr>
          <a:xfrm>
            <a:off x="6340857" y="3106350"/>
            <a:ext cx="1684800" cy="17016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5" name="Google Shape;465;p18"/>
          <p:cNvSpPr/>
          <p:nvPr/>
        </p:nvSpPr>
        <p:spPr>
          <a:xfrm>
            <a:off x="6822582" y="1602888"/>
            <a:ext cx="2121000" cy="8010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6" name="Google Shape;466;p18"/>
          <p:cNvSpPr/>
          <p:nvPr/>
        </p:nvSpPr>
        <p:spPr>
          <a:xfrm>
            <a:off x="330332" y="2029610"/>
            <a:ext cx="6291000" cy="4974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7" name="Google Shape;467;p18"/>
          <p:cNvSpPr/>
          <p:nvPr/>
        </p:nvSpPr>
        <p:spPr>
          <a:xfrm>
            <a:off x="317407" y="1296319"/>
            <a:ext cx="6291000" cy="4443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cxnSp>
        <p:nvCxnSpPr>
          <p:cNvPr id="468" name="Google Shape;468;p18"/>
          <p:cNvCxnSpPr/>
          <p:nvPr/>
        </p:nvCxnSpPr>
        <p:spPr>
          <a:xfrm rot="10800000">
            <a:off x="6694101" y="1402153"/>
            <a:ext cx="1177500" cy="211500"/>
          </a:xfrm>
          <a:prstGeom prst="bentConnector3">
            <a:avLst>
              <a:gd fmla="val -748" name="adj1"/>
            </a:avLst>
          </a:prstGeom>
          <a:noFill/>
          <a:ln cap="flat" cmpd="sng" w="9525">
            <a:solidFill>
              <a:srgbClr val="B7B7B7"/>
            </a:solidFill>
            <a:prstDash val="solid"/>
            <a:round/>
            <a:headEnd len="med" w="med" type="oval"/>
            <a:tailEnd len="med" w="med" type="oval"/>
          </a:ln>
        </p:spPr>
      </p:cxnSp>
      <p:sp>
        <p:nvSpPr>
          <p:cNvPr id="469" name="Google Shape;469;p18"/>
          <p:cNvSpPr/>
          <p:nvPr/>
        </p:nvSpPr>
        <p:spPr>
          <a:xfrm>
            <a:off x="1641650" y="3353226"/>
            <a:ext cx="4595100" cy="1180800"/>
          </a:xfrm>
          <a:prstGeom prst="roundRect">
            <a:avLst>
              <a:gd fmla="val 5116" name="adj"/>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18"/>
          <p:cNvSpPr/>
          <p:nvPr/>
        </p:nvSpPr>
        <p:spPr>
          <a:xfrm>
            <a:off x="1988934"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18"/>
          <p:cNvSpPr txBox="1"/>
          <p:nvPr/>
        </p:nvSpPr>
        <p:spPr>
          <a:xfrm>
            <a:off x="1988925" y="3507010"/>
            <a:ext cx="1334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Racing Queensland Stakeholders</a:t>
            </a:r>
            <a:endParaRPr b="1" i="0" sz="800" u="none" cap="none" strike="noStrike">
              <a:solidFill>
                <a:srgbClr val="000000"/>
              </a:solidFill>
              <a:latin typeface="Montserrat"/>
              <a:ea typeface="Montserrat"/>
              <a:cs typeface="Montserrat"/>
              <a:sym typeface="Montserrat"/>
            </a:endParaRPr>
          </a:p>
        </p:txBody>
      </p:sp>
      <p:pic>
        <p:nvPicPr>
          <p:cNvPr id="472" name="Google Shape;472;p18"/>
          <p:cNvPicPr preferRelativeResize="0"/>
          <p:nvPr/>
        </p:nvPicPr>
        <p:blipFill rotWithShape="1">
          <a:blip r:embed="rId3">
            <a:alphaModFix/>
          </a:blip>
          <a:srcRect b="0" l="0" r="0" t="0"/>
          <a:stretch/>
        </p:blipFill>
        <p:spPr>
          <a:xfrm>
            <a:off x="2396311" y="3951547"/>
            <a:ext cx="519140" cy="306875"/>
          </a:xfrm>
          <a:prstGeom prst="rect">
            <a:avLst/>
          </a:prstGeom>
          <a:noFill/>
          <a:ln>
            <a:noFill/>
          </a:ln>
        </p:spPr>
      </p:pic>
      <p:pic>
        <p:nvPicPr>
          <p:cNvPr id="473" name="Google Shape;473;p18"/>
          <p:cNvPicPr preferRelativeResize="0"/>
          <p:nvPr/>
        </p:nvPicPr>
        <p:blipFill rotWithShape="1">
          <a:blip r:embed="rId4">
            <a:alphaModFix/>
          </a:blip>
          <a:srcRect b="0" l="0" r="0" t="0"/>
          <a:stretch/>
        </p:blipFill>
        <p:spPr>
          <a:xfrm>
            <a:off x="3599434" y="3917769"/>
            <a:ext cx="252974" cy="257791"/>
          </a:xfrm>
          <a:prstGeom prst="rect">
            <a:avLst/>
          </a:prstGeom>
          <a:noFill/>
          <a:ln>
            <a:noFill/>
          </a:ln>
        </p:spPr>
      </p:pic>
      <p:cxnSp>
        <p:nvCxnSpPr>
          <p:cNvPr id="474" name="Google Shape;474;p18"/>
          <p:cNvCxnSpPr/>
          <p:nvPr/>
        </p:nvCxnSpPr>
        <p:spPr>
          <a:xfrm rot="10800000">
            <a:off x="3852626" y="4030223"/>
            <a:ext cx="276600" cy="0"/>
          </a:xfrm>
          <a:prstGeom prst="straightConnector1">
            <a:avLst/>
          </a:prstGeom>
          <a:noFill/>
          <a:ln cap="flat" cmpd="sng" w="9525">
            <a:solidFill>
              <a:srgbClr val="999999"/>
            </a:solidFill>
            <a:prstDash val="solid"/>
            <a:round/>
            <a:headEnd len="sm" w="sm" type="none"/>
            <a:tailEnd len="sm" w="sm" type="none"/>
          </a:ln>
        </p:spPr>
      </p:cxnSp>
      <p:sp>
        <p:nvSpPr>
          <p:cNvPr id="475" name="Google Shape;475;p18"/>
          <p:cNvSpPr/>
          <p:nvPr/>
        </p:nvSpPr>
        <p:spPr>
          <a:xfrm>
            <a:off x="7325193" y="3938946"/>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6" name="Google Shape;476;p18"/>
          <p:cNvSpPr/>
          <p:nvPr/>
        </p:nvSpPr>
        <p:spPr>
          <a:xfrm>
            <a:off x="7182882" y="4191775"/>
            <a:ext cx="6609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Demo</a:t>
            </a:r>
            <a:endParaRPr b="1" i="0" sz="700" u="none" cap="none" strike="noStrike">
              <a:solidFill>
                <a:srgbClr val="000000"/>
              </a:solidFill>
              <a:latin typeface="Montserrat"/>
              <a:ea typeface="Montserrat"/>
              <a:cs typeface="Montserrat"/>
              <a:sym typeface="Montserrat"/>
            </a:endParaRPr>
          </a:p>
        </p:txBody>
      </p:sp>
      <p:sp>
        <p:nvSpPr>
          <p:cNvPr id="477" name="Google Shape;477;p18"/>
          <p:cNvSpPr/>
          <p:nvPr/>
        </p:nvSpPr>
        <p:spPr>
          <a:xfrm>
            <a:off x="7325208" y="3356749"/>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8" name="Google Shape;478;p18"/>
          <p:cNvSpPr/>
          <p:nvPr/>
        </p:nvSpPr>
        <p:spPr>
          <a:xfrm>
            <a:off x="7182897" y="3586774"/>
            <a:ext cx="575400" cy="147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Planning </a:t>
            </a:r>
            <a:endParaRPr b="0" i="0" sz="700" u="none" cap="none" strike="noStrike">
              <a:solidFill>
                <a:srgbClr val="000000"/>
              </a:solidFill>
              <a:latin typeface="Montserrat"/>
              <a:ea typeface="Montserrat"/>
              <a:cs typeface="Montserrat"/>
              <a:sym typeface="Montserrat"/>
            </a:endParaRPr>
          </a:p>
        </p:txBody>
      </p:sp>
      <p:pic>
        <p:nvPicPr>
          <p:cNvPr id="479" name="Google Shape;479;p18"/>
          <p:cNvPicPr preferRelativeResize="0"/>
          <p:nvPr/>
        </p:nvPicPr>
        <p:blipFill rotWithShape="1">
          <a:blip r:embed="rId5">
            <a:alphaModFix/>
          </a:blip>
          <a:srcRect b="0" l="0" r="0" t="0"/>
          <a:stretch/>
        </p:blipFill>
        <p:spPr>
          <a:xfrm>
            <a:off x="7386594" y="3407623"/>
            <a:ext cx="168328" cy="121270"/>
          </a:xfrm>
          <a:prstGeom prst="rect">
            <a:avLst/>
          </a:prstGeom>
          <a:noFill/>
          <a:ln>
            <a:noFill/>
          </a:ln>
        </p:spPr>
      </p:pic>
      <p:sp>
        <p:nvSpPr>
          <p:cNvPr id="480" name="Google Shape;480;p18"/>
          <p:cNvSpPr/>
          <p:nvPr/>
        </p:nvSpPr>
        <p:spPr>
          <a:xfrm>
            <a:off x="6635482" y="3359668"/>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81" name="Google Shape;481;p18"/>
          <p:cNvSpPr/>
          <p:nvPr/>
        </p:nvSpPr>
        <p:spPr>
          <a:xfrm>
            <a:off x="6493150" y="3584986"/>
            <a:ext cx="575400" cy="153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Daily Stand-ups</a:t>
            </a:r>
            <a:endParaRPr b="0" i="0" sz="700" u="none" cap="none" strike="noStrike">
              <a:solidFill>
                <a:srgbClr val="000000"/>
              </a:solidFill>
              <a:latin typeface="Montserrat"/>
              <a:ea typeface="Montserrat"/>
              <a:cs typeface="Montserrat"/>
              <a:sym typeface="Montserrat"/>
            </a:endParaRPr>
          </a:p>
        </p:txBody>
      </p:sp>
      <p:pic>
        <p:nvPicPr>
          <p:cNvPr id="482" name="Google Shape;482;p18"/>
          <p:cNvPicPr preferRelativeResize="0"/>
          <p:nvPr/>
        </p:nvPicPr>
        <p:blipFill rotWithShape="1">
          <a:blip r:embed="rId6">
            <a:alphaModFix/>
          </a:blip>
          <a:srcRect b="0" l="0" r="0" t="0"/>
          <a:stretch/>
        </p:blipFill>
        <p:spPr>
          <a:xfrm>
            <a:off x="6687109" y="3399220"/>
            <a:ext cx="187848" cy="143913"/>
          </a:xfrm>
          <a:prstGeom prst="rect">
            <a:avLst/>
          </a:prstGeom>
          <a:noFill/>
          <a:ln>
            <a:noFill/>
          </a:ln>
        </p:spPr>
      </p:pic>
      <p:pic>
        <p:nvPicPr>
          <p:cNvPr id="483" name="Google Shape;483;p18"/>
          <p:cNvPicPr preferRelativeResize="0"/>
          <p:nvPr/>
        </p:nvPicPr>
        <p:blipFill rotWithShape="1">
          <a:blip r:embed="rId7">
            <a:alphaModFix/>
          </a:blip>
          <a:srcRect b="0" l="0" r="0" t="0"/>
          <a:stretch/>
        </p:blipFill>
        <p:spPr>
          <a:xfrm>
            <a:off x="7378788" y="3981126"/>
            <a:ext cx="183912" cy="138659"/>
          </a:xfrm>
          <a:prstGeom prst="rect">
            <a:avLst/>
          </a:prstGeom>
          <a:noFill/>
          <a:ln>
            <a:noFill/>
          </a:ln>
        </p:spPr>
      </p:pic>
      <p:cxnSp>
        <p:nvCxnSpPr>
          <p:cNvPr id="484" name="Google Shape;484;p18"/>
          <p:cNvCxnSpPr/>
          <p:nvPr/>
        </p:nvCxnSpPr>
        <p:spPr>
          <a:xfrm rot="10800000">
            <a:off x="6608487" y="3903739"/>
            <a:ext cx="1217400" cy="5100"/>
          </a:xfrm>
          <a:prstGeom prst="straightConnector1">
            <a:avLst/>
          </a:prstGeom>
          <a:noFill/>
          <a:ln cap="flat" cmpd="sng" w="19050">
            <a:solidFill>
              <a:srgbClr val="999999"/>
            </a:solidFill>
            <a:prstDash val="dot"/>
            <a:miter lim="80"/>
            <a:headEnd len="sm" w="sm" type="oval"/>
            <a:tailEnd len="sm" w="sm" type="oval"/>
          </a:ln>
        </p:spPr>
      </p:cxnSp>
      <p:cxnSp>
        <p:nvCxnSpPr>
          <p:cNvPr id="485" name="Google Shape;485;p18"/>
          <p:cNvCxnSpPr/>
          <p:nvPr/>
        </p:nvCxnSpPr>
        <p:spPr>
          <a:xfrm>
            <a:off x="7149754" y="3492278"/>
            <a:ext cx="900" cy="902700"/>
          </a:xfrm>
          <a:prstGeom prst="straightConnector1">
            <a:avLst/>
          </a:prstGeom>
          <a:noFill/>
          <a:ln cap="flat" cmpd="sng" w="19050">
            <a:solidFill>
              <a:srgbClr val="999999"/>
            </a:solidFill>
            <a:prstDash val="dot"/>
            <a:miter lim="80"/>
            <a:headEnd len="sm" w="sm" type="oval"/>
            <a:tailEnd len="sm" w="sm" type="oval"/>
          </a:ln>
        </p:spPr>
      </p:cxnSp>
      <p:sp>
        <p:nvSpPr>
          <p:cNvPr id="486" name="Google Shape;486;p18"/>
          <p:cNvSpPr/>
          <p:nvPr/>
        </p:nvSpPr>
        <p:spPr>
          <a:xfrm>
            <a:off x="6635482" y="3941925"/>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87" name="Google Shape;487;p18"/>
          <p:cNvSpPr/>
          <p:nvPr/>
        </p:nvSpPr>
        <p:spPr>
          <a:xfrm>
            <a:off x="6493929" y="4191765"/>
            <a:ext cx="5754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Joint Retrospective</a:t>
            </a:r>
            <a:endParaRPr b="0" i="0" sz="700" u="none" cap="none" strike="noStrike">
              <a:solidFill>
                <a:srgbClr val="000000"/>
              </a:solidFill>
              <a:latin typeface="Montserrat"/>
              <a:ea typeface="Montserrat"/>
              <a:cs typeface="Montserrat"/>
              <a:sym typeface="Montserrat"/>
            </a:endParaRPr>
          </a:p>
        </p:txBody>
      </p:sp>
      <p:sp>
        <p:nvSpPr>
          <p:cNvPr id="488" name="Google Shape;488;p18"/>
          <p:cNvSpPr txBox="1"/>
          <p:nvPr/>
        </p:nvSpPr>
        <p:spPr>
          <a:xfrm>
            <a:off x="6281307" y="3099123"/>
            <a:ext cx="1684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Engagement Highlights </a:t>
            </a:r>
            <a:endParaRPr b="1" i="0" sz="800" u="none" cap="none" strike="noStrike">
              <a:solidFill>
                <a:srgbClr val="000000"/>
              </a:solidFill>
              <a:latin typeface="Montserrat"/>
              <a:ea typeface="Montserrat"/>
              <a:cs typeface="Montserrat"/>
              <a:sym typeface="Montserrat"/>
            </a:endParaRPr>
          </a:p>
        </p:txBody>
      </p:sp>
      <p:sp>
        <p:nvSpPr>
          <p:cNvPr id="489" name="Google Shape;489;p18"/>
          <p:cNvSpPr txBox="1"/>
          <p:nvPr/>
        </p:nvSpPr>
        <p:spPr>
          <a:xfrm>
            <a:off x="4479247" y="1409956"/>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Executive Leadership and Business Unit Head </a:t>
            </a:r>
            <a:endParaRPr b="1" i="0" sz="800" u="none" cap="none" strike="noStrike">
              <a:solidFill>
                <a:srgbClr val="336666"/>
              </a:solidFill>
              <a:latin typeface="Montserrat"/>
              <a:ea typeface="Montserrat"/>
              <a:cs typeface="Montserrat"/>
              <a:sym typeface="Montserrat"/>
            </a:endParaRPr>
          </a:p>
        </p:txBody>
      </p:sp>
      <p:sp>
        <p:nvSpPr>
          <p:cNvPr id="490" name="Google Shape;490;p18"/>
          <p:cNvSpPr txBox="1"/>
          <p:nvPr/>
        </p:nvSpPr>
        <p:spPr>
          <a:xfrm>
            <a:off x="1629325" y="1419354"/>
            <a:ext cx="2121000" cy="2598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Racing Queensland  Executive</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Leadership</a:t>
            </a:r>
            <a:endParaRPr b="1" i="0" sz="800" u="none" cap="none" strike="noStrike">
              <a:solidFill>
                <a:srgbClr val="FFFFFF"/>
              </a:solidFill>
              <a:latin typeface="Montserrat"/>
              <a:ea typeface="Montserrat"/>
              <a:cs typeface="Montserrat"/>
              <a:sym typeface="Montserrat"/>
            </a:endParaRPr>
          </a:p>
        </p:txBody>
      </p:sp>
      <p:sp>
        <p:nvSpPr>
          <p:cNvPr id="491" name="Google Shape;491;p18"/>
          <p:cNvSpPr txBox="1"/>
          <p:nvPr/>
        </p:nvSpPr>
        <p:spPr>
          <a:xfrm>
            <a:off x="4479247" y="2090204"/>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Delivery Director /</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 Project Manager</a:t>
            </a:r>
            <a:endParaRPr b="1" i="0" sz="800" u="none" cap="none" strike="noStrike">
              <a:solidFill>
                <a:srgbClr val="336666"/>
              </a:solidFill>
              <a:latin typeface="Montserrat"/>
              <a:ea typeface="Montserrat"/>
              <a:cs typeface="Montserrat"/>
              <a:sym typeface="Montserrat"/>
            </a:endParaRPr>
          </a:p>
        </p:txBody>
      </p:sp>
      <p:sp>
        <p:nvSpPr>
          <p:cNvPr id="492" name="Google Shape;492;p18"/>
          <p:cNvSpPr/>
          <p:nvPr/>
        </p:nvSpPr>
        <p:spPr>
          <a:xfrm>
            <a:off x="2548207" y="1079370"/>
            <a:ext cx="205500" cy="240900"/>
          </a:xfrm>
          <a:prstGeom prst="downArrow">
            <a:avLst>
              <a:gd fmla="val 50000" name="adj1"/>
              <a:gd fmla="val 50000" name="adj2"/>
            </a:avLst>
          </a:prstGeom>
          <a:solidFill>
            <a:srgbClr val="B7B7B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sp>
        <p:nvSpPr>
          <p:cNvPr id="493" name="Google Shape;493;p18"/>
          <p:cNvSpPr/>
          <p:nvPr/>
        </p:nvSpPr>
        <p:spPr>
          <a:xfrm>
            <a:off x="5320907" y="1073100"/>
            <a:ext cx="205500" cy="240900"/>
          </a:xfrm>
          <a:prstGeom prst="downArrow">
            <a:avLst>
              <a:gd fmla="val 50000" name="adj1"/>
              <a:gd fmla="val 50000" name="adj2"/>
            </a:avLst>
          </a:prstGeom>
          <a:solidFill>
            <a:srgbClr val="12519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cxnSp>
        <p:nvCxnSpPr>
          <p:cNvPr id="494" name="Google Shape;494;p18"/>
          <p:cNvCxnSpPr/>
          <p:nvPr/>
        </p:nvCxnSpPr>
        <p:spPr>
          <a:xfrm rot="10800000">
            <a:off x="2632112" y="175270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5" name="Google Shape;495;p18"/>
          <p:cNvSpPr txBox="1"/>
          <p:nvPr/>
        </p:nvSpPr>
        <p:spPr>
          <a:xfrm>
            <a:off x="4374390" y="1777945"/>
            <a:ext cx="955500" cy="18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6" name="Google Shape;496;p18"/>
          <p:cNvCxnSpPr/>
          <p:nvPr/>
        </p:nvCxnSpPr>
        <p:spPr>
          <a:xfrm>
            <a:off x="5423642" y="177225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7" name="Google Shape;497;p18"/>
          <p:cNvSpPr txBox="1"/>
          <p:nvPr/>
        </p:nvSpPr>
        <p:spPr>
          <a:xfrm>
            <a:off x="4336415" y="2517264"/>
            <a:ext cx="9816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8" name="Google Shape;498;p18"/>
          <p:cNvCxnSpPr/>
          <p:nvPr/>
        </p:nvCxnSpPr>
        <p:spPr>
          <a:xfrm>
            <a:off x="5423650" y="2504893"/>
            <a:ext cx="0" cy="332700"/>
          </a:xfrm>
          <a:prstGeom prst="straightConnector1">
            <a:avLst/>
          </a:prstGeom>
          <a:noFill/>
          <a:ln cap="flat" cmpd="sng" w="25400">
            <a:solidFill>
              <a:srgbClr val="B7B7B7"/>
            </a:solidFill>
            <a:prstDash val="solid"/>
            <a:miter lim="8000"/>
            <a:headEnd len="sm" w="sm" type="none"/>
            <a:tailEnd len="med" w="med" type="triangle"/>
          </a:ln>
        </p:spPr>
      </p:cxnSp>
      <p:cxnSp>
        <p:nvCxnSpPr>
          <p:cNvPr id="499" name="Google Shape;499;p18"/>
          <p:cNvCxnSpPr>
            <a:stCxn id="490" idx="3"/>
            <a:endCxn id="489" idx="1"/>
          </p:cNvCxnSpPr>
          <p:nvPr/>
        </p:nvCxnSpPr>
        <p:spPr>
          <a:xfrm flipH="1" rot="10800000">
            <a:off x="3750325" y="1548954"/>
            <a:ext cx="729000" cy="300"/>
          </a:xfrm>
          <a:prstGeom prst="straightConnector1">
            <a:avLst/>
          </a:prstGeom>
          <a:noFill/>
          <a:ln cap="flat" cmpd="sng" w="9525">
            <a:solidFill>
              <a:srgbClr val="B7B7B7"/>
            </a:solidFill>
            <a:prstDash val="solid"/>
            <a:miter lim="8000"/>
            <a:headEnd len="med" w="med" type="triangle"/>
            <a:tailEnd len="med" w="med" type="triangle"/>
          </a:ln>
        </p:spPr>
      </p:cxnSp>
      <p:cxnSp>
        <p:nvCxnSpPr>
          <p:cNvPr id="500" name="Google Shape;500;p18"/>
          <p:cNvCxnSpPr>
            <a:stCxn id="501" idx="3"/>
            <a:endCxn id="491" idx="1"/>
          </p:cNvCxnSpPr>
          <p:nvPr/>
        </p:nvCxnSpPr>
        <p:spPr>
          <a:xfrm>
            <a:off x="3750325" y="2229258"/>
            <a:ext cx="729000" cy="0"/>
          </a:xfrm>
          <a:prstGeom prst="straightConnector1">
            <a:avLst/>
          </a:prstGeom>
          <a:noFill/>
          <a:ln cap="flat" cmpd="sng" w="9525">
            <a:solidFill>
              <a:srgbClr val="B7B7B7"/>
            </a:solidFill>
            <a:prstDash val="solid"/>
            <a:miter lim="8000"/>
            <a:headEnd len="med" w="med" type="triangle"/>
            <a:tailEnd len="med" w="med" type="triangle"/>
          </a:ln>
        </p:spPr>
      </p:cxnSp>
      <p:sp>
        <p:nvSpPr>
          <p:cNvPr id="501" name="Google Shape;501;p18"/>
          <p:cNvSpPr txBox="1"/>
          <p:nvPr/>
        </p:nvSpPr>
        <p:spPr>
          <a:xfrm>
            <a:off x="1629325" y="2090208"/>
            <a:ext cx="2121000" cy="2781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Product Manager, Racing Queensland </a:t>
            </a:r>
            <a:endParaRPr b="1" i="0" sz="800" u="none" cap="none" strike="noStrike">
              <a:solidFill>
                <a:srgbClr val="FFFFFF"/>
              </a:solidFill>
              <a:latin typeface="Montserrat"/>
              <a:ea typeface="Montserrat"/>
              <a:cs typeface="Montserrat"/>
              <a:sym typeface="Montserrat"/>
            </a:endParaRPr>
          </a:p>
        </p:txBody>
      </p:sp>
      <p:sp>
        <p:nvSpPr>
          <p:cNvPr id="502" name="Google Shape;502;p18"/>
          <p:cNvSpPr txBox="1"/>
          <p:nvPr/>
        </p:nvSpPr>
        <p:spPr>
          <a:xfrm>
            <a:off x="2864276" y="2533538"/>
            <a:ext cx="6609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Escalate Risks &amp; Issues</a:t>
            </a:r>
            <a:endParaRPr b="0" i="0" sz="700" u="none" cap="none" strike="noStrike">
              <a:solidFill>
                <a:srgbClr val="336666"/>
              </a:solidFill>
              <a:latin typeface="Montserrat"/>
              <a:ea typeface="Montserrat"/>
              <a:cs typeface="Montserrat"/>
              <a:sym typeface="Montserrat"/>
            </a:endParaRPr>
          </a:p>
        </p:txBody>
      </p:sp>
      <p:cxnSp>
        <p:nvCxnSpPr>
          <p:cNvPr id="503" name="Google Shape;503;p18"/>
          <p:cNvCxnSpPr/>
          <p:nvPr/>
        </p:nvCxnSpPr>
        <p:spPr>
          <a:xfrm rot="10800000">
            <a:off x="2632100" y="2507218"/>
            <a:ext cx="0" cy="365700"/>
          </a:xfrm>
          <a:prstGeom prst="straightConnector1">
            <a:avLst/>
          </a:prstGeom>
          <a:noFill/>
          <a:ln cap="flat" cmpd="sng" w="25400">
            <a:solidFill>
              <a:srgbClr val="B7B7B7"/>
            </a:solidFill>
            <a:prstDash val="solid"/>
            <a:miter lim="8000"/>
            <a:headEnd len="sm" w="sm" type="none"/>
            <a:tailEnd len="med" w="med" type="triangle"/>
          </a:ln>
        </p:spPr>
      </p:cxnSp>
      <p:cxnSp>
        <p:nvCxnSpPr>
          <p:cNvPr id="504" name="Google Shape;504;p18"/>
          <p:cNvCxnSpPr>
            <a:stCxn id="488" idx="0"/>
            <a:endCxn id="469" idx="0"/>
          </p:cNvCxnSpPr>
          <p:nvPr/>
        </p:nvCxnSpPr>
        <p:spPr>
          <a:xfrm rot="5400000">
            <a:off x="5404407" y="1633923"/>
            <a:ext cx="254100" cy="3184500"/>
          </a:xfrm>
          <a:prstGeom prst="bentConnector3">
            <a:avLst>
              <a:gd fmla="val -93713" name="adj1"/>
            </a:avLst>
          </a:prstGeom>
          <a:noFill/>
          <a:ln cap="flat" cmpd="sng" w="9525">
            <a:solidFill>
              <a:srgbClr val="B7B7B7"/>
            </a:solidFill>
            <a:prstDash val="solid"/>
            <a:round/>
            <a:headEnd len="med" w="med" type="oval"/>
            <a:tailEnd len="med" w="med" type="oval"/>
          </a:ln>
        </p:spPr>
      </p:cxnSp>
      <p:sp>
        <p:nvSpPr>
          <p:cNvPr id="505" name="Google Shape;505;p18"/>
          <p:cNvSpPr/>
          <p:nvPr/>
        </p:nvSpPr>
        <p:spPr>
          <a:xfrm>
            <a:off x="7182432" y="1935141"/>
            <a:ext cx="1401300" cy="444300"/>
          </a:xfrm>
          <a:prstGeom prst="rect">
            <a:avLst/>
          </a:prstGeom>
          <a:noFill/>
          <a:ln>
            <a:noFill/>
          </a:ln>
        </p:spPr>
        <p:txBody>
          <a:bodyPr anchorCtr="0" anchor="ctr" bIns="121900" lIns="60925" spcFirstLastPara="1" rIns="60925"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1" i="0" lang="en" sz="700" u="none" cap="none" strike="noStrike">
                <a:solidFill>
                  <a:srgbClr val="191919"/>
                </a:solidFill>
                <a:latin typeface="Montserrat"/>
                <a:ea typeface="Montserrat"/>
                <a:cs typeface="Montserrat"/>
                <a:sym typeface="Montserrat"/>
              </a:rPr>
              <a:t>Monthly Governance Checkpoints (SteerCo)</a:t>
            </a:r>
            <a:endParaRPr b="1" i="0" sz="700" u="none" cap="none" strike="noStrike">
              <a:solidFill>
                <a:srgbClr val="191919"/>
              </a:solidFill>
              <a:latin typeface="Montserrat"/>
              <a:ea typeface="Montserrat"/>
              <a:cs typeface="Montserrat"/>
              <a:sym typeface="Montserrat"/>
            </a:endParaRPr>
          </a:p>
        </p:txBody>
      </p:sp>
      <p:sp>
        <p:nvSpPr>
          <p:cNvPr id="506" name="Google Shape;506;p18"/>
          <p:cNvSpPr/>
          <p:nvPr/>
        </p:nvSpPr>
        <p:spPr>
          <a:xfrm>
            <a:off x="7712458" y="1639644"/>
            <a:ext cx="318300" cy="3117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507" name="Google Shape;507;p18"/>
          <p:cNvSpPr/>
          <p:nvPr/>
        </p:nvSpPr>
        <p:spPr>
          <a:xfrm>
            <a:off x="4196599" y="3403869"/>
            <a:ext cx="1334100" cy="9417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8" name="Google Shape;508;p18"/>
          <p:cNvPicPr preferRelativeResize="0"/>
          <p:nvPr/>
        </p:nvPicPr>
        <p:blipFill rotWithShape="1">
          <a:blip r:embed="rId8">
            <a:alphaModFix/>
          </a:blip>
          <a:srcRect b="0" l="0" r="0" t="0"/>
          <a:stretch/>
        </p:blipFill>
        <p:spPr>
          <a:xfrm>
            <a:off x="7756651" y="1712375"/>
            <a:ext cx="229899" cy="166176"/>
          </a:xfrm>
          <a:prstGeom prst="rect">
            <a:avLst/>
          </a:prstGeom>
          <a:noFill/>
          <a:ln>
            <a:noFill/>
          </a:ln>
        </p:spPr>
      </p:pic>
      <p:sp>
        <p:nvSpPr>
          <p:cNvPr id="509" name="Google Shape;509;p18"/>
          <p:cNvSpPr/>
          <p:nvPr/>
        </p:nvSpPr>
        <p:spPr>
          <a:xfrm>
            <a:off x="4128891"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0" name="Google Shape;510;p18"/>
          <p:cNvPicPr preferRelativeResize="0"/>
          <p:nvPr/>
        </p:nvPicPr>
        <p:blipFill rotWithShape="1">
          <a:blip r:embed="rId9">
            <a:alphaModFix/>
          </a:blip>
          <a:srcRect b="18198" l="21766" r="23601" t="16993"/>
          <a:stretch/>
        </p:blipFill>
        <p:spPr>
          <a:xfrm>
            <a:off x="4259212" y="4081790"/>
            <a:ext cx="193693" cy="181710"/>
          </a:xfrm>
          <a:prstGeom prst="rect">
            <a:avLst/>
          </a:prstGeom>
          <a:noFill/>
          <a:ln>
            <a:noFill/>
          </a:ln>
        </p:spPr>
      </p:pic>
      <p:sp>
        <p:nvSpPr>
          <p:cNvPr id="511" name="Google Shape;511;p18"/>
          <p:cNvSpPr txBox="1"/>
          <p:nvPr/>
        </p:nvSpPr>
        <p:spPr>
          <a:xfrm>
            <a:off x="4380925" y="3505629"/>
            <a:ext cx="8301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TTN Team</a:t>
            </a:r>
            <a:endParaRPr b="1" i="0" sz="800" u="none" cap="none" strike="noStrike">
              <a:solidFill>
                <a:srgbClr val="000000"/>
              </a:solidFill>
              <a:latin typeface="Montserrat"/>
              <a:ea typeface="Montserrat"/>
              <a:cs typeface="Montserrat"/>
              <a:sym typeface="Montserrat"/>
            </a:endParaRPr>
          </a:p>
        </p:txBody>
      </p:sp>
      <p:sp>
        <p:nvSpPr>
          <p:cNvPr id="512" name="Google Shape;512;p18"/>
          <p:cNvSpPr txBox="1"/>
          <p:nvPr/>
        </p:nvSpPr>
        <p:spPr>
          <a:xfrm>
            <a:off x="4232743" y="3979995"/>
            <a:ext cx="1261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TTN Engineering </a:t>
            </a:r>
            <a:endParaRPr b="1" i="0" sz="700" u="none" cap="none" strike="noStrike">
              <a:solidFill>
                <a:srgbClr val="00000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Team</a:t>
            </a:r>
            <a:endParaRPr b="1" i="0" sz="700" u="none" cap="none" strike="noStrike">
              <a:solidFill>
                <a:srgbClr val="000000"/>
              </a:solidFill>
              <a:latin typeface="Century Gothic"/>
              <a:ea typeface="Century Gothic"/>
              <a:cs typeface="Century Gothic"/>
              <a:sym typeface="Century Gothic"/>
            </a:endParaRPr>
          </a:p>
        </p:txBody>
      </p:sp>
      <p:pic>
        <p:nvPicPr>
          <p:cNvPr id="513" name="Google Shape;513;p18"/>
          <p:cNvPicPr preferRelativeResize="0"/>
          <p:nvPr/>
        </p:nvPicPr>
        <p:blipFill rotWithShape="1">
          <a:blip r:embed="rId9">
            <a:alphaModFix/>
          </a:blip>
          <a:srcRect b="18198" l="21766" r="23601" t="16993"/>
          <a:stretch/>
        </p:blipFill>
        <p:spPr>
          <a:xfrm>
            <a:off x="4271897" y="3802253"/>
            <a:ext cx="168324" cy="180046"/>
          </a:xfrm>
          <a:prstGeom prst="rect">
            <a:avLst/>
          </a:prstGeom>
          <a:noFill/>
          <a:ln>
            <a:noFill/>
          </a:ln>
        </p:spPr>
      </p:pic>
      <p:sp>
        <p:nvSpPr>
          <p:cNvPr id="514" name="Google Shape;514;p18"/>
          <p:cNvSpPr txBox="1"/>
          <p:nvPr/>
        </p:nvSpPr>
        <p:spPr>
          <a:xfrm>
            <a:off x="4388911" y="3821314"/>
            <a:ext cx="981600" cy="290700"/>
          </a:xfrm>
          <a:prstGeom prst="rect">
            <a:avLst/>
          </a:prstGeom>
          <a:noFill/>
          <a:ln>
            <a:noFill/>
          </a:ln>
        </p:spPr>
        <p:txBody>
          <a:bodyPr anchorCtr="0" anchor="b" bIns="91425" lIns="91425" spcFirstLastPara="1" rIns="91425" wrap="square" tIns="91425">
            <a:noAutofit/>
          </a:bodyPr>
          <a:lstStyle/>
          <a:p>
            <a:pPr indent="0" lvl="0" marL="0" marR="0" rtl="0" algn="ctr">
              <a:lnSpc>
                <a:spcPct val="8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Project Manager</a:t>
            </a:r>
            <a:endParaRPr b="1" i="0" sz="700" u="none" cap="none" strike="noStrike">
              <a:solidFill>
                <a:srgbClr val="000000"/>
              </a:solidFill>
              <a:latin typeface="Century Gothic"/>
              <a:ea typeface="Century Gothic"/>
              <a:cs typeface="Century Gothic"/>
              <a:sym typeface="Century Gothic"/>
            </a:endParaRPr>
          </a:p>
        </p:txBody>
      </p:sp>
      <p:cxnSp>
        <p:nvCxnSpPr>
          <p:cNvPr id="515" name="Google Shape;515;p18"/>
          <p:cNvCxnSpPr/>
          <p:nvPr/>
        </p:nvCxnSpPr>
        <p:spPr>
          <a:xfrm rot="10800000">
            <a:off x="3316313" y="4030223"/>
            <a:ext cx="276600" cy="0"/>
          </a:xfrm>
          <a:prstGeom prst="straightConnector1">
            <a:avLst/>
          </a:prstGeom>
          <a:noFill/>
          <a:ln cap="flat" cmpd="sng" w="9525">
            <a:solidFill>
              <a:srgbClr val="999999"/>
            </a:solidFill>
            <a:prstDash val="solid"/>
            <a:round/>
            <a:headEnd len="sm" w="sm" type="none"/>
            <a:tailEnd len="sm" w="sm" type="none"/>
          </a:ln>
        </p:spPr>
      </p:cxnSp>
      <p:pic>
        <p:nvPicPr>
          <p:cNvPr id="516" name="Google Shape;516;p18"/>
          <p:cNvPicPr preferRelativeResize="0"/>
          <p:nvPr/>
        </p:nvPicPr>
        <p:blipFill rotWithShape="1">
          <a:blip r:embed="rId8">
            <a:alphaModFix/>
          </a:blip>
          <a:srcRect b="0" l="0" r="0" t="0"/>
          <a:stretch/>
        </p:blipFill>
        <p:spPr>
          <a:xfrm>
            <a:off x="6699607" y="3982434"/>
            <a:ext cx="183925" cy="135766"/>
          </a:xfrm>
          <a:prstGeom prst="rect">
            <a:avLst/>
          </a:prstGeom>
          <a:noFill/>
          <a:ln>
            <a:noFill/>
          </a:ln>
        </p:spPr>
      </p:pic>
      <p:sp>
        <p:nvSpPr>
          <p:cNvPr id="517" name="Google Shape;517;p18"/>
          <p:cNvSpPr txBox="1"/>
          <p:nvPr/>
        </p:nvSpPr>
        <p:spPr>
          <a:xfrm>
            <a:off x="359857" y="1281370"/>
            <a:ext cx="1175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Steering</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sp>
        <p:nvSpPr>
          <p:cNvPr id="518" name="Google Shape;518;p18"/>
          <p:cNvSpPr txBox="1"/>
          <p:nvPr/>
        </p:nvSpPr>
        <p:spPr>
          <a:xfrm>
            <a:off x="409932" y="2011328"/>
            <a:ext cx="981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Management</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cxnSp>
        <p:nvCxnSpPr>
          <p:cNvPr id="519" name="Google Shape;519;p18"/>
          <p:cNvCxnSpPr>
            <a:stCxn id="505" idx="2"/>
          </p:cNvCxnSpPr>
          <p:nvPr/>
        </p:nvCxnSpPr>
        <p:spPr>
          <a:xfrm flipH="1" rot="5400000">
            <a:off x="7211532" y="1707891"/>
            <a:ext cx="81300" cy="1261800"/>
          </a:xfrm>
          <a:prstGeom prst="bentConnector4">
            <a:avLst>
              <a:gd fmla="val -292897" name="adj1"/>
              <a:gd fmla="val 77764" name="adj2"/>
            </a:avLst>
          </a:prstGeom>
          <a:noFill/>
          <a:ln cap="flat" cmpd="sng" w="9525">
            <a:solidFill>
              <a:srgbClr val="B7B7B7"/>
            </a:solidFill>
            <a:prstDash val="solid"/>
            <a:round/>
            <a:headEnd len="med" w="med" type="oval"/>
            <a:tailEnd len="med" w="med" type="oval"/>
          </a:ln>
        </p:spPr>
      </p:cxnSp>
      <p:sp>
        <p:nvSpPr>
          <p:cNvPr id="520" name="Google Shape;520;p18"/>
          <p:cNvSpPr txBox="1"/>
          <p:nvPr/>
        </p:nvSpPr>
        <p:spPr>
          <a:xfrm>
            <a:off x="428857" y="356390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Execution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Team</a:t>
            </a:r>
            <a:endParaRPr b="0" i="0" sz="800" u="none" cap="none" strike="noStrike">
              <a:solidFill>
                <a:srgbClr val="12519C"/>
              </a:solidFill>
              <a:latin typeface="Montserrat"/>
              <a:ea typeface="Montserrat"/>
              <a:cs typeface="Montserrat"/>
              <a:sym typeface="Montserrat"/>
            </a:endParaRPr>
          </a:p>
        </p:txBody>
      </p:sp>
      <p:pic>
        <p:nvPicPr>
          <p:cNvPr descr="TTN Logo.png" id="521" name="Google Shape;521;p18"/>
          <p:cNvPicPr preferRelativeResize="0"/>
          <p:nvPr/>
        </p:nvPicPr>
        <p:blipFill rotWithShape="1">
          <a:blip r:embed="rId10">
            <a:alphaModFix/>
          </a:blip>
          <a:srcRect b="0" l="0" r="0" t="0"/>
          <a:stretch/>
        </p:blipFill>
        <p:spPr>
          <a:xfrm>
            <a:off x="5110881" y="612478"/>
            <a:ext cx="625544" cy="349439"/>
          </a:xfrm>
          <a:prstGeom prst="rect">
            <a:avLst/>
          </a:prstGeom>
          <a:noFill/>
          <a:ln>
            <a:noFill/>
          </a:ln>
        </p:spPr>
      </p:pic>
      <p:pic>
        <p:nvPicPr>
          <p:cNvPr id="522" name="Google Shape;522;p18"/>
          <p:cNvPicPr preferRelativeResize="0"/>
          <p:nvPr/>
        </p:nvPicPr>
        <p:blipFill rotWithShape="1">
          <a:blip r:embed="rId11">
            <a:alphaModFix/>
          </a:blip>
          <a:srcRect b="0" l="0" r="0" t="0"/>
          <a:stretch/>
        </p:blipFill>
        <p:spPr>
          <a:xfrm>
            <a:off x="2384560" y="678107"/>
            <a:ext cx="542839" cy="224450"/>
          </a:xfrm>
          <a:prstGeom prst="rect">
            <a:avLst/>
          </a:prstGeom>
          <a:noFill/>
          <a:ln>
            <a:noFill/>
          </a:ln>
        </p:spPr>
      </p:pic>
      <p:sp>
        <p:nvSpPr>
          <p:cNvPr id="523" name="Google Shape;523;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19"/>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Plan</a:t>
            </a:r>
            <a:endParaRPr b="1" i="0" sz="2000" u="none" cap="none" strike="noStrike">
              <a:solidFill>
                <a:schemeClr val="dk1"/>
              </a:solidFill>
              <a:latin typeface="Montserrat"/>
              <a:ea typeface="Montserrat"/>
              <a:cs typeface="Montserrat"/>
              <a:sym typeface="Montserrat"/>
            </a:endParaRPr>
          </a:p>
        </p:txBody>
      </p:sp>
      <p:graphicFrame>
        <p:nvGraphicFramePr>
          <p:cNvPr id="529" name="Google Shape;529;p19"/>
          <p:cNvGraphicFramePr/>
          <p:nvPr/>
        </p:nvGraphicFramePr>
        <p:xfrm>
          <a:off x="232325" y="700950"/>
          <a:ext cx="3000000" cy="3000000"/>
        </p:xfrm>
        <a:graphic>
          <a:graphicData uri="http://schemas.openxmlformats.org/drawingml/2006/table">
            <a:tbl>
              <a:tblPr>
                <a:noFill/>
                <a:tableStyleId>{486883CD-E40B-490B-9AF7-50432A68762B}</a:tableStyleId>
              </a:tblPr>
              <a:tblGrid>
                <a:gridCol w="1256925"/>
                <a:gridCol w="461550"/>
                <a:gridCol w="476475"/>
                <a:gridCol w="453325"/>
                <a:gridCol w="498275"/>
                <a:gridCol w="464450"/>
                <a:gridCol w="457375"/>
                <a:gridCol w="517625"/>
                <a:gridCol w="517625"/>
                <a:gridCol w="517625"/>
                <a:gridCol w="517625"/>
                <a:gridCol w="517625"/>
                <a:gridCol w="517625"/>
                <a:gridCol w="517625"/>
                <a:gridCol w="517625"/>
                <a:gridCol w="517625"/>
              </a:tblGrid>
              <a:tr h="320750">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Activities /Timelines</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2</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3</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4</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5</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6</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7</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8</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9</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10</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12</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13</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14</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15</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r>
              <a:tr h="6541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Design &amp; Discovery Phase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74070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Agile based Iterative Development and Testing ( end to end features)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375">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UAT and Go Live (2 Weeks)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9885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Hypercare Support ( For 2 Weeks Post Go-Live)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530" name="Google Shape;530;p19"/>
          <p:cNvSpPr/>
          <p:nvPr/>
        </p:nvSpPr>
        <p:spPr>
          <a:xfrm>
            <a:off x="1489250" y="1136263"/>
            <a:ext cx="9381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Discovery</a:t>
            </a:r>
            <a:endParaRPr b="1" i="0" sz="800" u="none" cap="none" strike="noStrike">
              <a:solidFill>
                <a:srgbClr val="000000"/>
              </a:solidFill>
              <a:latin typeface="Montserrat"/>
              <a:ea typeface="Montserrat"/>
              <a:cs typeface="Montserrat"/>
              <a:sym typeface="Montserrat"/>
            </a:endParaRPr>
          </a:p>
        </p:txBody>
      </p:sp>
      <p:sp>
        <p:nvSpPr>
          <p:cNvPr id="531" name="Google Shape;531;p19"/>
          <p:cNvSpPr/>
          <p:nvPr/>
        </p:nvSpPr>
        <p:spPr>
          <a:xfrm>
            <a:off x="2427275" y="1935925"/>
            <a:ext cx="4443600" cy="307800"/>
          </a:xfrm>
          <a:prstGeom prst="homePlate">
            <a:avLst>
              <a:gd fmla="val 50000" name="adj"/>
            </a:avLst>
          </a:prstGeom>
          <a:solidFill>
            <a:srgbClr val="D71B7F"/>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19"/>
          <p:cNvSpPr/>
          <p:nvPr/>
        </p:nvSpPr>
        <p:spPr>
          <a:xfrm>
            <a:off x="6888825" y="2711775"/>
            <a:ext cx="1035300" cy="307800"/>
          </a:xfrm>
          <a:prstGeom prst="homePlate">
            <a:avLst>
              <a:gd fmla="val 50000"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3" name="Google Shape;533;p19"/>
          <p:cNvPicPr preferRelativeResize="0"/>
          <p:nvPr/>
        </p:nvPicPr>
        <p:blipFill rotWithShape="1">
          <a:blip r:embed="rId3">
            <a:alphaModFix/>
          </a:blip>
          <a:srcRect b="0" l="0" r="0" t="0"/>
          <a:stretch/>
        </p:blipFill>
        <p:spPr>
          <a:xfrm>
            <a:off x="6818825" y="2550325"/>
            <a:ext cx="240600" cy="240600"/>
          </a:xfrm>
          <a:prstGeom prst="rect">
            <a:avLst/>
          </a:prstGeom>
          <a:noFill/>
          <a:ln>
            <a:noFill/>
          </a:ln>
        </p:spPr>
      </p:pic>
      <p:sp>
        <p:nvSpPr>
          <p:cNvPr id="534" name="Google Shape;534;p19"/>
          <p:cNvSpPr/>
          <p:nvPr/>
        </p:nvSpPr>
        <p:spPr>
          <a:xfrm>
            <a:off x="7924075" y="3444925"/>
            <a:ext cx="1035300" cy="307800"/>
          </a:xfrm>
          <a:prstGeom prst="homePlate">
            <a:avLst>
              <a:gd fmla="val 50000" name="adj"/>
            </a:avLst>
          </a:prstGeom>
          <a:solidFill>
            <a:srgbClr val="FF9900"/>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5" name="Google Shape;535;p19"/>
          <p:cNvPicPr preferRelativeResize="0"/>
          <p:nvPr/>
        </p:nvPicPr>
        <p:blipFill rotWithShape="1">
          <a:blip r:embed="rId3">
            <a:alphaModFix/>
          </a:blip>
          <a:srcRect b="0" l="0" r="0" t="0"/>
          <a:stretch/>
        </p:blipFill>
        <p:spPr>
          <a:xfrm>
            <a:off x="7877075" y="3184775"/>
            <a:ext cx="240600" cy="240600"/>
          </a:xfrm>
          <a:prstGeom prst="rect">
            <a:avLst/>
          </a:prstGeom>
          <a:noFill/>
          <a:ln>
            <a:noFill/>
          </a:ln>
        </p:spPr>
      </p:pic>
      <p:sp>
        <p:nvSpPr>
          <p:cNvPr id="536" name="Google Shape;536;p19"/>
          <p:cNvSpPr txBox="1"/>
          <p:nvPr/>
        </p:nvSpPr>
        <p:spPr>
          <a:xfrm>
            <a:off x="266700" y="4399275"/>
            <a:ext cx="8596200" cy="646500"/>
          </a:xfrm>
          <a:prstGeom prst="rect">
            <a:avLst/>
          </a:prstGeom>
          <a:noFill/>
          <a:ln>
            <a:noFill/>
          </a:ln>
        </p:spPr>
        <p:txBody>
          <a:bodyPr anchorCtr="0" anchor="t" bIns="91425" lIns="91425" spcFirstLastPara="1" rIns="91425" wrap="square" tIns="91425">
            <a:spAutoFit/>
          </a:bodyPr>
          <a:lstStyle/>
          <a:p>
            <a:r>
              <a:t>We follow a structured implementation methodology that begins with a detailed analysis of the project requirements and aligns them with our technical capabilities. Our approach includes iterative development, with continuous integration and testing to ensure quality and scalability. We integrate with existing systems such as SAP for inventory and order management, and CRM platforms like HubSpot and Klaviyo for automated customer flows. This methodology ensures seamless integration and adaptability to evolving business needs.</a:t>
            </a:r>
          </a:p>
        </p:txBody>
      </p:sp>
      <p:sp>
        <p:nvSpPr>
          <p:cNvPr id="537" name="Google Shape;537;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pic>
        <p:nvPicPr>
          <p:cNvPr id="538" name="Google Shape;538;p19"/>
          <p:cNvPicPr preferRelativeResize="0"/>
          <p:nvPr/>
        </p:nvPicPr>
        <p:blipFill rotWithShape="1">
          <a:blip r:embed="rId4">
            <a:alphaModFix/>
          </a:blip>
          <a:srcRect b="0" l="0" r="0" t="0"/>
          <a:stretch/>
        </p:blipFill>
        <p:spPr>
          <a:xfrm>
            <a:off x="3326050" y="1736975"/>
            <a:ext cx="240600" cy="240600"/>
          </a:xfrm>
          <a:prstGeom prst="rect">
            <a:avLst/>
          </a:prstGeom>
          <a:noFill/>
          <a:ln>
            <a:noFill/>
          </a:ln>
        </p:spPr>
      </p:pic>
      <p:pic>
        <p:nvPicPr>
          <p:cNvPr id="539" name="Google Shape;539;p19"/>
          <p:cNvPicPr preferRelativeResize="0"/>
          <p:nvPr/>
        </p:nvPicPr>
        <p:blipFill rotWithShape="1">
          <a:blip r:embed="rId4">
            <a:alphaModFix/>
          </a:blip>
          <a:srcRect b="0" l="0" r="0" t="0"/>
          <a:stretch/>
        </p:blipFill>
        <p:spPr>
          <a:xfrm>
            <a:off x="4238225" y="1736975"/>
            <a:ext cx="240600" cy="240600"/>
          </a:xfrm>
          <a:prstGeom prst="rect">
            <a:avLst/>
          </a:prstGeom>
          <a:noFill/>
          <a:ln>
            <a:noFill/>
          </a:ln>
        </p:spPr>
      </p:pic>
      <p:pic>
        <p:nvPicPr>
          <p:cNvPr id="540" name="Google Shape;540;p19"/>
          <p:cNvPicPr preferRelativeResize="0"/>
          <p:nvPr/>
        </p:nvPicPr>
        <p:blipFill rotWithShape="1">
          <a:blip r:embed="rId4">
            <a:alphaModFix/>
          </a:blip>
          <a:srcRect b="0" l="0" r="0" t="0"/>
          <a:stretch/>
        </p:blipFill>
        <p:spPr>
          <a:xfrm>
            <a:off x="5275350" y="1736975"/>
            <a:ext cx="240600" cy="240600"/>
          </a:xfrm>
          <a:prstGeom prst="rect">
            <a:avLst/>
          </a:prstGeom>
          <a:noFill/>
          <a:ln>
            <a:noFill/>
          </a:ln>
        </p:spPr>
      </p:pic>
      <p:pic>
        <p:nvPicPr>
          <p:cNvPr id="541" name="Google Shape;541;p19"/>
          <p:cNvPicPr preferRelativeResize="0"/>
          <p:nvPr/>
        </p:nvPicPr>
        <p:blipFill rotWithShape="1">
          <a:blip r:embed="rId4">
            <a:alphaModFix/>
          </a:blip>
          <a:srcRect b="0" l="0" r="0" t="0"/>
          <a:stretch/>
        </p:blipFill>
        <p:spPr>
          <a:xfrm>
            <a:off x="6312475" y="1736975"/>
            <a:ext cx="240600" cy="240600"/>
          </a:xfrm>
          <a:prstGeom prst="rect">
            <a:avLst/>
          </a:prstGeom>
          <a:noFill/>
          <a:ln>
            <a:noFill/>
          </a:ln>
        </p:spPr>
      </p:pic>
      <p:pic>
        <p:nvPicPr>
          <p:cNvPr id="542" name="Google Shape;542;p19"/>
          <p:cNvPicPr preferRelativeResize="0"/>
          <p:nvPr/>
        </p:nvPicPr>
        <p:blipFill rotWithShape="1">
          <a:blip r:embed="rId4">
            <a:alphaModFix/>
          </a:blip>
          <a:srcRect b="0" l="0" r="0" t="0"/>
          <a:stretch/>
        </p:blipFill>
        <p:spPr>
          <a:xfrm>
            <a:off x="594350" y="3950950"/>
            <a:ext cx="240600" cy="240600"/>
          </a:xfrm>
          <a:prstGeom prst="rect">
            <a:avLst/>
          </a:prstGeom>
          <a:noFill/>
          <a:ln>
            <a:noFill/>
          </a:ln>
        </p:spPr>
      </p:pic>
      <p:sp>
        <p:nvSpPr>
          <p:cNvPr id="543" name="Google Shape;543;p19"/>
          <p:cNvSpPr txBox="1"/>
          <p:nvPr/>
        </p:nvSpPr>
        <p:spPr>
          <a:xfrm>
            <a:off x="7587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Product Increment Review</a:t>
            </a:r>
            <a:endParaRPr b="0" i="0" sz="900" u="none" cap="none" strike="noStrike">
              <a:solidFill>
                <a:srgbClr val="000000"/>
              </a:solidFill>
              <a:latin typeface="Montserrat"/>
              <a:ea typeface="Montserrat"/>
              <a:cs typeface="Montserrat"/>
              <a:sym typeface="Montserrat"/>
            </a:endParaRPr>
          </a:p>
        </p:txBody>
      </p:sp>
      <p:pic>
        <p:nvPicPr>
          <p:cNvPr id="544" name="Google Shape;544;p19"/>
          <p:cNvPicPr preferRelativeResize="0"/>
          <p:nvPr/>
        </p:nvPicPr>
        <p:blipFill rotWithShape="1">
          <a:blip r:embed="rId3">
            <a:alphaModFix/>
          </a:blip>
          <a:srcRect b="0" l="0" r="0" t="0"/>
          <a:stretch/>
        </p:blipFill>
        <p:spPr>
          <a:xfrm>
            <a:off x="2973050" y="3950950"/>
            <a:ext cx="240600" cy="240600"/>
          </a:xfrm>
          <a:prstGeom prst="rect">
            <a:avLst/>
          </a:prstGeom>
          <a:noFill/>
          <a:ln>
            <a:noFill/>
          </a:ln>
        </p:spPr>
      </p:pic>
      <p:sp>
        <p:nvSpPr>
          <p:cNvPr id="545" name="Google Shape;545;p19"/>
          <p:cNvSpPr txBox="1"/>
          <p:nvPr/>
        </p:nvSpPr>
        <p:spPr>
          <a:xfrm>
            <a:off x="31209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UAT and Go-Live</a:t>
            </a:r>
            <a:endParaRPr b="0" i="0" sz="900" u="none" cap="none" strike="noStrike">
              <a:solidFill>
                <a:srgbClr val="000000"/>
              </a:solidFill>
              <a:latin typeface="Montserrat"/>
              <a:ea typeface="Montserrat"/>
              <a:cs typeface="Montserrat"/>
              <a:sym typeface="Montserrat"/>
            </a:endParaRPr>
          </a:p>
        </p:txBody>
      </p:sp>
      <p:sp>
        <p:nvSpPr>
          <p:cNvPr id="546" name="Google Shape;546;p19"/>
          <p:cNvSpPr/>
          <p:nvPr/>
        </p:nvSpPr>
        <p:spPr>
          <a:xfrm>
            <a:off x="1489250" y="1392800"/>
            <a:ext cx="28116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Design Phase</a:t>
            </a:r>
            <a:endParaRPr b="1"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2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20"/>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53" name="Google Shape;553;p20"/>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54" name="Google Shape;554;p20"/>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55" name="Google Shape;555;p20"/>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556" name="Google Shape;556;p20"/>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57" name="Google Shape;557;p20"/>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58" name="Google Shape;558;p20"/>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59" name="Google Shape;559;p20"/>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0"/>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20"/>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2" name="Google Shape;562;p20"/>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563" name="Google Shape;563;p20"/>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64" name="Google Shape;564;p20"/>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565" name="Google Shape;565;p20"/>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20"/>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Commercial Summary</a:t>
            </a:r>
            <a:endParaRPr b="1" i="0" sz="1200" u="none" cap="none" strike="noStrike">
              <a:solidFill>
                <a:srgbClr val="D71B7F"/>
              </a:solidFill>
              <a:latin typeface="Montserrat"/>
              <a:ea typeface="Montserrat"/>
              <a:cs typeface="Montserrat"/>
              <a:sym typeface="Montserrat"/>
            </a:endParaRPr>
          </a:p>
        </p:txBody>
      </p:sp>
      <p:cxnSp>
        <p:nvCxnSpPr>
          <p:cNvPr id="567" name="Google Shape;567;p20"/>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568" name="Google Shape;568;p20"/>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20"/>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21"/>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Proposed Engagement Model</a:t>
            </a:r>
            <a:endParaRPr b="1" i="0" sz="2000" u="none" cap="none" strike="noStrike">
              <a:solidFill>
                <a:schemeClr val="dk1"/>
              </a:solidFill>
              <a:latin typeface="Montserrat"/>
              <a:ea typeface="Montserrat"/>
              <a:cs typeface="Montserrat"/>
              <a:sym typeface="Montserrat"/>
            </a:endParaRPr>
          </a:p>
        </p:txBody>
      </p:sp>
      <p:sp>
        <p:nvSpPr>
          <p:cNvPr id="575" name="Google Shape;575;p21"/>
          <p:cNvSpPr/>
          <p:nvPr/>
        </p:nvSpPr>
        <p:spPr>
          <a:xfrm>
            <a:off x="268738" y="861370"/>
            <a:ext cx="4201500" cy="37182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Project will be executed in Iterative Agile manner for each phase  with the following iterations-</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Agile-based Development </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UAT and Go-Live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Any delay in project due to reasons beyond TTN will warrant a change request against the impacted man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If there are any changes to assumptions or delays caused due to dependencies from Racing Queensland, impact on effort, timelines and cost would need to be assessed and will go through change request process.</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6" name="Google Shape;576;p21"/>
          <p:cNvCxnSpPr/>
          <p:nvPr/>
        </p:nvCxnSpPr>
        <p:spPr>
          <a:xfrm>
            <a:off x="272290" y="855475"/>
            <a:ext cx="0" cy="3710400"/>
          </a:xfrm>
          <a:prstGeom prst="straightConnector1">
            <a:avLst/>
          </a:prstGeom>
          <a:noFill/>
          <a:ln cap="flat" cmpd="sng" w="19050">
            <a:solidFill>
              <a:srgbClr val="12519C"/>
            </a:solidFill>
            <a:prstDash val="solid"/>
            <a:round/>
            <a:headEnd len="sm" w="sm" type="none"/>
            <a:tailEnd len="sm" w="sm" type="none"/>
          </a:ln>
        </p:spPr>
      </p:cxnSp>
      <p:sp>
        <p:nvSpPr>
          <p:cNvPr id="577" name="Google Shape;577;p21"/>
          <p:cNvSpPr/>
          <p:nvPr/>
        </p:nvSpPr>
        <p:spPr>
          <a:xfrm>
            <a:off x="4673772" y="863998"/>
            <a:ext cx="4201500" cy="37044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Total price for the entire project as per requirements outlined in the proposal would be: </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Price Before dIscount : AUD </a:t>
            </a:r>
            <a:r>
              <a:rPr b="1" lang="en" sz="1100">
                <a:latin typeface="Montserrat"/>
                <a:ea typeface="Montserrat"/>
                <a:cs typeface="Montserrat"/>
                <a:sym typeface="Montserrat"/>
              </a:rPr>
              <a:t>80</a:t>
            </a:r>
            <a:r>
              <a:rPr b="1" i="0" lang="en" sz="1100" u="none" cap="none" strike="noStrike">
                <a:solidFill>
                  <a:srgbClr val="000000"/>
                </a:solidFill>
                <a:latin typeface="Montserrat"/>
                <a:ea typeface="Montserrat"/>
                <a:cs typeface="Montserrat"/>
                <a:sym typeface="Montserrat"/>
              </a:rPr>
              <a:t>,712.63</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Discount : 5%</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Final Price After discount : AUD </a:t>
            </a:r>
            <a:r>
              <a:rPr b="1" lang="en" sz="1100">
                <a:latin typeface="Montserrat"/>
                <a:ea typeface="Montserrat"/>
                <a:cs typeface="Montserrat"/>
                <a:sym typeface="Montserrat"/>
              </a:rPr>
              <a:t>78</a:t>
            </a:r>
            <a:r>
              <a:rPr b="1" i="0" lang="en" sz="1100" u="none" cap="none" strike="noStrike">
                <a:solidFill>
                  <a:srgbClr val="000000"/>
                </a:solidFill>
                <a:latin typeface="Montserrat"/>
                <a:ea typeface="Montserrat"/>
                <a:cs typeface="Montserrat"/>
                <a:sym typeface="Montserrat"/>
              </a:rPr>
              <a:t>,727.00</a:t>
            </a:r>
            <a:endParaRPr b="1"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mentioned prices are exclusive of applicable taxes.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Milestones has been added in the following slide.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the invoices would be considered accepted by the customer if there is no objection in 5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terms are 30 calendar days from the receipt of the invoice.</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8" name="Google Shape;578;p21"/>
          <p:cNvCxnSpPr/>
          <p:nvPr/>
        </p:nvCxnSpPr>
        <p:spPr>
          <a:xfrm>
            <a:off x="4677324" y="858123"/>
            <a:ext cx="0" cy="3697500"/>
          </a:xfrm>
          <a:prstGeom prst="straightConnector1">
            <a:avLst/>
          </a:prstGeom>
          <a:noFill/>
          <a:ln cap="flat" cmpd="sng" w="19050">
            <a:solidFill>
              <a:srgbClr val="D41883"/>
            </a:solidFill>
            <a:prstDash val="solid"/>
            <a:round/>
            <a:headEnd len="sm" w="sm" type="none"/>
            <a:tailEnd len="sm" w="sm" type="none"/>
          </a:ln>
        </p:spPr>
      </p:cxnSp>
      <p:sp>
        <p:nvSpPr>
          <p:cNvPr id="579" name="Google Shape;579;p21"/>
          <p:cNvSpPr txBox="1"/>
          <p:nvPr/>
        </p:nvSpPr>
        <p:spPr>
          <a:xfrm>
            <a:off x="554448" y="989025"/>
            <a:ext cx="3423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Fixed Price Fixed Scope Engagement</a:t>
            </a:r>
            <a:endParaRPr b="0" i="0" sz="1100" u="none" cap="none" strike="noStrike">
              <a:solidFill>
                <a:srgbClr val="12519C"/>
              </a:solidFill>
              <a:latin typeface="Montserrat"/>
              <a:ea typeface="Montserrat"/>
              <a:cs typeface="Montserrat"/>
              <a:sym typeface="Montserrat"/>
            </a:endParaRPr>
          </a:p>
        </p:txBody>
      </p:sp>
      <p:sp>
        <p:nvSpPr>
          <p:cNvPr id="580" name="Google Shape;580;p21"/>
          <p:cNvSpPr txBox="1"/>
          <p:nvPr/>
        </p:nvSpPr>
        <p:spPr>
          <a:xfrm>
            <a:off x="5322463" y="989017"/>
            <a:ext cx="26382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Commercial Summary</a:t>
            </a:r>
            <a:endParaRPr b="0" i="0" sz="1100" u="none" cap="none" strike="noStrike">
              <a:solidFill>
                <a:srgbClr val="12519C"/>
              </a:solidFill>
              <a:latin typeface="Montserrat"/>
              <a:ea typeface="Montserrat"/>
              <a:cs typeface="Montserrat"/>
              <a:sym typeface="Montserrat"/>
            </a:endParaRPr>
          </a:p>
        </p:txBody>
      </p:sp>
      <p:sp>
        <p:nvSpPr>
          <p:cNvPr id="581" name="Google Shape;581;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2"/>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Payment Milestones</a:t>
            </a:r>
            <a:endParaRPr b="1" i="0" sz="2000" u="none" cap="none" strike="noStrike">
              <a:solidFill>
                <a:schemeClr val="dk1"/>
              </a:solidFill>
              <a:latin typeface="Montserrat"/>
              <a:ea typeface="Montserrat"/>
              <a:cs typeface="Montserrat"/>
              <a:sym typeface="Montserrat"/>
            </a:endParaRPr>
          </a:p>
        </p:txBody>
      </p:sp>
      <p:graphicFrame>
        <p:nvGraphicFramePr>
          <p:cNvPr id="587" name="Google Shape;587;p22"/>
          <p:cNvGraphicFramePr/>
          <p:nvPr/>
        </p:nvGraphicFramePr>
        <p:xfrm>
          <a:off x="450100" y="877425"/>
          <a:ext cx="3000000" cy="3000000"/>
        </p:xfrm>
        <a:graphic>
          <a:graphicData uri="http://schemas.openxmlformats.org/drawingml/2006/table">
            <a:tbl>
              <a:tblPr>
                <a:noFill/>
                <a:tableStyleId>{A0409FBF-130E-4C89-B222-25A7FCDD58EE}</a:tableStyleId>
              </a:tblPr>
              <a:tblGrid>
                <a:gridCol w="3532775"/>
                <a:gridCol w="2286950"/>
                <a:gridCol w="2286950"/>
              </a:tblGrid>
              <a:tr h="330475">
                <a:tc gridSpan="2">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Payment Milestones</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chemeClr val="accent2"/>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Cost in AUD</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2"/>
                    </a:solidFill>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Kickoff</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 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Discovery Phase ( 2 Weeks) Sign off</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6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25%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1</a:t>
                      </a:r>
                      <a:r>
                        <a:rPr lang="en" sz="1100" u="none" cap="none" strike="noStrike">
                          <a:latin typeface="Montserrat"/>
                          <a:ea typeface="Montserrat"/>
                          <a:cs typeface="Montserrat"/>
                          <a:sym typeface="Montserrat"/>
                        </a:rPr>
                        <a:t>,682</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10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30%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,418</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UAT Sign off</a:t>
                      </a:r>
                      <a:endParaRPr b="1" sz="1100" u="none" cap="none" strike="noStrike">
                        <a:solidFill>
                          <a:srgbClr val="000000"/>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1</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,945</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Project Go-live</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5% of total cost</a:t>
                      </a:r>
                      <a:endParaRPr sz="1100" u="none" cap="none" strike="noStrike">
                        <a:solidFill>
                          <a:schemeClr val="dk1"/>
                        </a:solidFill>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3</a:t>
                      </a:r>
                      <a:r>
                        <a:rPr lang="en" sz="1100" u="none" cap="none" strike="noStrike">
                          <a:latin typeface="Montserrat"/>
                          <a:ea typeface="Montserrat"/>
                          <a:cs typeface="Montserrat"/>
                          <a:sym typeface="Montserrat"/>
                        </a:rPr>
                        <a:t>,736</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Hypercare </a:t>
                      </a:r>
                      <a:endParaRPr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TTN Investment</a:t>
                      </a:r>
                      <a:endParaRPr sz="1100" u="none" cap="none" strike="noStrike">
                        <a:solidFill>
                          <a:schemeClr val="lt1"/>
                        </a:solidFill>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0</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gridSpan="2">
                  <a:txBody>
                    <a:bodyPr/>
                    <a:lstStyle/>
                    <a:p>
                      <a:pPr indent="0" lvl="0" marL="0" marR="0" rtl="0" algn="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Total Cost</a:t>
                      </a:r>
                      <a:endParaRPr b="1" sz="1100" u="none" cap="none" strike="noStrike">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AUD </a:t>
                      </a:r>
                      <a:r>
                        <a:rPr b="1" lang="en" sz="1100">
                          <a:latin typeface="Montserrat"/>
                          <a:ea typeface="Montserrat"/>
                          <a:cs typeface="Montserrat"/>
                          <a:sym typeface="Montserrat"/>
                        </a:rPr>
                        <a:t>87</a:t>
                      </a:r>
                      <a:r>
                        <a:rPr b="1" lang="en" sz="1100" u="none" cap="none" strike="noStrike">
                          <a:latin typeface="Montserrat"/>
                          <a:ea typeface="Montserrat"/>
                          <a:cs typeface="Montserrat"/>
                          <a:sym typeface="Montserrat"/>
                        </a:rPr>
                        <a:t>,727</a:t>
                      </a:r>
                      <a:endParaRPr b="1"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r>
            </a:tbl>
          </a:graphicData>
        </a:graphic>
      </p:graphicFrame>
      <p:sp>
        <p:nvSpPr>
          <p:cNvPr id="588" name="Google Shape;588;p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2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2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95" name="Google Shape;595;p23"/>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96" name="Google Shape;596;p23"/>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97" name="Google Shape;597;p23"/>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Success Stories</a:t>
            </a:r>
            <a:endParaRPr b="1" i="0" sz="1200" u="none" cap="none" strike="noStrike">
              <a:solidFill>
                <a:srgbClr val="D71B7F"/>
              </a:solidFill>
              <a:latin typeface="Montserrat"/>
              <a:ea typeface="Montserrat"/>
              <a:cs typeface="Montserrat"/>
              <a:sym typeface="Montserrat"/>
            </a:endParaRPr>
          </a:p>
        </p:txBody>
      </p:sp>
      <p:cxnSp>
        <p:nvCxnSpPr>
          <p:cNvPr id="598" name="Google Shape;598;p23"/>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99" name="Google Shape;599;p23"/>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600" name="Google Shape;600;p23"/>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601" name="Google Shape;601;p23"/>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23"/>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23"/>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04" name="Google Shape;604;p23"/>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605" name="Google Shape;605;p23"/>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606" name="Google Shape;606;p23"/>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607" name="Google Shape;607;p23"/>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23"/>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609" name="Google Shape;609;p23"/>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610" name="Google Shape;610;p23"/>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23"/>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5" name="Shape 615"/>
        <p:cNvGrpSpPr/>
        <p:nvPr/>
      </p:nvGrpSpPr>
      <p:grpSpPr>
        <a:xfrm>
          <a:off x="0" y="0"/>
          <a:ext cx="0" cy="0"/>
          <a:chOff x="0" y="0"/>
          <a:chExt cx="0" cy="0"/>
        </a:xfrm>
      </p:grpSpPr>
      <p:sp>
        <p:nvSpPr>
          <p:cNvPr id="616" name="Google Shape;616;p24"/>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24"/>
          <p:cNvSpPr txBox="1"/>
          <p:nvPr/>
        </p:nvSpPr>
        <p:spPr>
          <a:xfrm>
            <a:off x="6222488" y="959944"/>
            <a:ext cx="26931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Since 2018, TTN has been a strategic partner in Tabcorp’s transformation, evolving from supporting its digital arm to over 150 people enabling </a:t>
            </a:r>
            <a:r>
              <a:rPr b="1" i="0" lang="en" sz="700" u="none" cap="none" strike="noStrike">
                <a:solidFill>
                  <a:schemeClr val="dk1"/>
                </a:solidFill>
                <a:latin typeface="Montserrat"/>
                <a:ea typeface="Montserrat"/>
                <a:cs typeface="Montserrat"/>
                <a:sym typeface="Montserrat"/>
              </a:rPr>
              <a:t>digital, gaming, data, trackside, retail, </a:t>
            </a:r>
            <a:r>
              <a:rPr b="0" i="0" lang="en" sz="700" u="none" cap="none" strike="noStrike">
                <a:solidFill>
                  <a:schemeClr val="dk1"/>
                </a:solidFill>
                <a:latin typeface="Montserrat"/>
                <a:ea typeface="Montserrat"/>
                <a:cs typeface="Montserrat"/>
                <a:sym typeface="Montserrat"/>
              </a:rPr>
              <a:t>and</a:t>
            </a:r>
            <a:r>
              <a:rPr b="1" i="0" lang="en" sz="700" u="none" cap="none" strike="noStrike">
                <a:solidFill>
                  <a:schemeClr val="dk1"/>
                </a:solidFill>
                <a:latin typeface="Montserrat"/>
                <a:ea typeface="Montserrat"/>
                <a:cs typeface="Montserrat"/>
                <a:sym typeface="Montserrat"/>
              </a:rPr>
              <a:t> cybersecurity</a:t>
            </a:r>
            <a:r>
              <a:rPr b="0" i="0" lang="en" sz="700" u="none" cap="none" strike="noStrike">
                <a:solidFill>
                  <a:schemeClr val="dk1"/>
                </a:solidFill>
                <a:latin typeface="Montserrat"/>
                <a:ea typeface="Montserrat"/>
                <a:cs typeface="Montserrat"/>
                <a:sym typeface="Montserrat"/>
              </a:rPr>
              <a:t>. Together, we have delivered groundbreaking solutions at scale.</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From omni-channel innovations like a </a:t>
            </a:r>
            <a:r>
              <a:rPr b="1" i="0" lang="en" sz="700" u="none" cap="none" strike="noStrike">
                <a:solidFill>
                  <a:schemeClr val="dk1"/>
                </a:solidFill>
                <a:latin typeface="Montserrat"/>
                <a:ea typeface="Montserrat"/>
                <a:cs typeface="Montserrat"/>
                <a:sym typeface="Montserrat"/>
              </a:rPr>
              <a:t>cross-platform betting app</a:t>
            </a:r>
            <a:r>
              <a:rPr b="0" i="0" lang="en" sz="700" u="none" cap="none" strike="noStrike">
                <a:solidFill>
                  <a:schemeClr val="dk1"/>
                </a:solidFill>
                <a:latin typeface="Montserrat"/>
                <a:ea typeface="Montserrat"/>
                <a:cs typeface="Montserrat"/>
                <a:sym typeface="Montserrat"/>
              </a:rPr>
              <a:t>, integrating </a:t>
            </a:r>
            <a:r>
              <a:rPr b="1" i="0" lang="en" sz="700" u="none" cap="none" strike="noStrike">
                <a:solidFill>
                  <a:schemeClr val="dk1"/>
                </a:solidFill>
                <a:latin typeface="Montserrat"/>
                <a:ea typeface="Montserrat"/>
                <a:cs typeface="Montserrat"/>
                <a:sym typeface="Montserrat"/>
              </a:rPr>
              <a:t>web</a:t>
            </a:r>
            <a:r>
              <a:rPr b="0" i="0" lang="en" sz="700" u="none" cap="none" strike="noStrike">
                <a:solidFill>
                  <a:schemeClr val="dk1"/>
                </a:solidFill>
                <a:latin typeface="Montserrat"/>
                <a:ea typeface="Montserrat"/>
                <a:cs typeface="Montserrat"/>
                <a:sym typeface="Montserrat"/>
              </a:rPr>
              <a:t> and mobile experiences, customer engagement and </a:t>
            </a:r>
            <a:r>
              <a:rPr b="1" i="0" lang="en" sz="700" u="none" cap="none" strike="noStrike">
                <a:solidFill>
                  <a:schemeClr val="dk1"/>
                </a:solidFill>
                <a:latin typeface="Montserrat"/>
                <a:ea typeface="Montserrat"/>
                <a:cs typeface="Montserrat"/>
                <a:sym typeface="Montserrat"/>
              </a:rPr>
              <a:t>personalisation</a:t>
            </a:r>
            <a:r>
              <a:rPr b="0" i="0" lang="en" sz="700" u="none" cap="none" strike="noStrike">
                <a:solidFill>
                  <a:schemeClr val="dk1"/>
                </a:solidFill>
                <a:latin typeface="Montserrat"/>
                <a:ea typeface="Montserrat"/>
                <a:cs typeface="Montserrat"/>
                <a:sym typeface="Montserrat"/>
              </a:rPr>
              <a:t> through </a:t>
            </a:r>
            <a:r>
              <a:rPr b="1" i="0" lang="en" sz="700" u="none" cap="none" strike="noStrike">
                <a:solidFill>
                  <a:schemeClr val="dk1"/>
                </a:solidFill>
                <a:latin typeface="Montserrat"/>
                <a:ea typeface="Montserrat"/>
                <a:cs typeface="Montserrat"/>
                <a:sym typeface="Montserrat"/>
              </a:rPr>
              <a:t>Adobe Target, Analytics, and AEM</a:t>
            </a:r>
            <a:r>
              <a:rPr b="0" i="0" lang="en" sz="700" u="none" cap="none" strike="noStrike">
                <a:solidFill>
                  <a:schemeClr val="dk1"/>
                </a:solidFill>
                <a:latin typeface="Montserrat"/>
                <a:ea typeface="Montserrat"/>
                <a:cs typeface="Montserrat"/>
                <a:sym typeface="Montserrat"/>
              </a:rPr>
              <a:t>, to infrastructure modernisation with</a:t>
            </a:r>
            <a:r>
              <a:rPr b="1" i="0" lang="en" sz="700" u="none" cap="none" strike="noStrike">
                <a:solidFill>
                  <a:schemeClr val="dk1"/>
                </a:solidFill>
                <a:latin typeface="Montserrat"/>
                <a:ea typeface="Montserrat"/>
                <a:cs typeface="Montserrat"/>
                <a:sym typeface="Montserrat"/>
              </a:rPr>
              <a:t> Infra as Code</a:t>
            </a:r>
            <a:r>
              <a:rPr b="0" i="0" lang="en" sz="700" u="none" cap="none" strike="noStrike">
                <a:solidFill>
                  <a:schemeClr val="dk1"/>
                </a:solidFill>
                <a:latin typeface="Montserrat"/>
                <a:ea typeface="Montserrat"/>
                <a:cs typeface="Montserrat"/>
                <a:sym typeface="Montserrat"/>
              </a:rPr>
              <a:t>, AWS Cloud optimisation, and </a:t>
            </a:r>
            <a:r>
              <a:rPr b="1" i="0" lang="en" sz="700" u="none" cap="none" strike="noStrike">
                <a:solidFill>
                  <a:schemeClr val="dk1"/>
                </a:solidFill>
                <a:latin typeface="Montserrat"/>
                <a:ea typeface="Montserrat"/>
                <a:cs typeface="Montserrat"/>
                <a:sym typeface="Montserrat"/>
              </a:rPr>
              <a:t>Graviton</a:t>
            </a:r>
            <a:r>
              <a:rPr b="0" i="0" lang="en" sz="700" u="none" cap="none" strike="noStrike">
                <a:solidFill>
                  <a:schemeClr val="dk1"/>
                </a:solidFill>
                <a:latin typeface="Montserrat"/>
                <a:ea typeface="Montserrat"/>
                <a:cs typeface="Montserrat"/>
                <a:sym typeface="Montserrat"/>
              </a:rPr>
              <a:t> migration, to reducing manual testing by 45% through </a:t>
            </a:r>
            <a:r>
              <a:rPr b="1" i="0" lang="en" sz="700" u="none" cap="none" strike="noStrike">
                <a:solidFill>
                  <a:schemeClr val="dk1"/>
                </a:solidFill>
                <a:latin typeface="Montserrat"/>
                <a:ea typeface="Montserrat"/>
                <a:cs typeface="Montserrat"/>
                <a:sym typeface="Montserrat"/>
              </a:rPr>
              <a:t>automation</a:t>
            </a:r>
            <a:r>
              <a:rPr b="0" i="0" lang="en" sz="700" u="none" cap="none" strike="noStrike">
                <a:solidFill>
                  <a:schemeClr val="dk1"/>
                </a:solidFill>
                <a:latin typeface="Montserrat"/>
                <a:ea typeface="Montserrat"/>
                <a:cs typeface="Montserrat"/>
                <a:sym typeface="Montserrat"/>
              </a:rPr>
              <a: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We have enabled compliance adherence through </a:t>
            </a:r>
            <a:r>
              <a:rPr b="1" i="0" lang="en" sz="700" u="none" cap="none" strike="noStrike">
                <a:solidFill>
                  <a:schemeClr val="dk1"/>
                </a:solidFill>
                <a:latin typeface="Montserrat"/>
                <a:ea typeface="Montserrat"/>
                <a:cs typeface="Montserrat"/>
                <a:sym typeface="Montserrat"/>
              </a:rPr>
              <a:t>AML/CTF tools </a:t>
            </a:r>
            <a:r>
              <a:rPr b="0" i="0" lang="en" sz="700" u="none" cap="none" strike="noStrike">
                <a:solidFill>
                  <a:schemeClr val="dk1"/>
                </a:solidFill>
                <a:latin typeface="Montserrat"/>
                <a:ea typeface="Montserrat"/>
                <a:cs typeface="Montserrat"/>
                <a:sym typeface="Montserrat"/>
              </a:rPr>
              <a:t>for</a:t>
            </a:r>
            <a:r>
              <a:rPr b="1" i="0" lang="en" sz="700" u="none" cap="none" strike="noStrike">
                <a:solidFill>
                  <a:schemeClr val="dk1"/>
                </a:solidFill>
                <a:latin typeface="Montserrat"/>
                <a:ea typeface="Montserrat"/>
                <a:cs typeface="Montserrat"/>
                <a:sym typeface="Montserrat"/>
              </a:rPr>
              <a:t> Enhanced Customer Due Diligence</a:t>
            </a:r>
            <a:r>
              <a:rPr b="0" i="0" lang="en" sz="700" u="none" cap="none" strike="noStrike">
                <a:solidFill>
                  <a:schemeClr val="dk1"/>
                </a:solidFill>
                <a:latin typeface="Montserrat"/>
                <a:ea typeface="Montserrat"/>
                <a:cs typeface="Montserrat"/>
                <a:sym typeface="Montserrat"/>
              </a:rPr>
              <a:t> and </a:t>
            </a:r>
            <a:r>
              <a:rPr b="1" i="0" lang="en" sz="700" u="none" cap="none" strike="noStrike">
                <a:solidFill>
                  <a:schemeClr val="dk1"/>
                </a:solidFill>
                <a:latin typeface="Montserrat"/>
                <a:ea typeface="Montserrat"/>
                <a:cs typeface="Montserrat"/>
                <a:sym typeface="Montserrat"/>
              </a:rPr>
              <a:t>suppression</a:t>
            </a:r>
            <a:r>
              <a:rPr b="0" i="0" lang="en" sz="700" u="none" cap="none" strike="noStrike">
                <a:solidFill>
                  <a:schemeClr val="dk1"/>
                </a:solidFill>
                <a:latin typeface="Montserrat"/>
                <a:ea typeface="Montserrat"/>
                <a:cs typeface="Montserrat"/>
                <a:sym typeface="Montserrat"/>
              </a:rPr>
              <a:t> management.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Our work includes cutting-edge betting features like </a:t>
            </a:r>
            <a:r>
              <a:rPr b="1" i="0" lang="en" sz="700" u="none" cap="none" strike="noStrike">
                <a:solidFill>
                  <a:schemeClr val="dk1"/>
                </a:solidFill>
                <a:latin typeface="Montserrat"/>
                <a:ea typeface="Montserrat"/>
                <a:cs typeface="Montserrat"/>
                <a:sym typeface="Montserrat"/>
              </a:rPr>
              <a:t>Same Game Multi</a:t>
            </a:r>
            <a:r>
              <a:rPr b="0" i="0" lang="en" sz="700" u="none" cap="none" strike="noStrike">
                <a:solidFill>
                  <a:schemeClr val="dk1"/>
                </a:solidFill>
                <a:latin typeface="Montserrat"/>
                <a:ea typeface="Montserrat"/>
                <a:cs typeface="Montserrat"/>
                <a:sym typeface="Montserrat"/>
              </a:rPr>
              <a:t> for sports, </a:t>
            </a:r>
            <a:r>
              <a:rPr b="1" i="0" lang="en" sz="700" u="none" cap="none" strike="noStrike">
                <a:solidFill>
                  <a:schemeClr val="dk1"/>
                </a:solidFill>
                <a:latin typeface="Montserrat"/>
                <a:ea typeface="Montserrat"/>
                <a:cs typeface="Montserrat"/>
                <a:sym typeface="Montserrat"/>
              </a:rPr>
              <a:t>Blackbook</a:t>
            </a:r>
            <a:r>
              <a:rPr b="0" i="0" lang="en" sz="700" u="none" cap="none" strike="noStrike">
                <a:solidFill>
                  <a:schemeClr val="dk1"/>
                </a:solidFill>
                <a:latin typeface="Montserrat"/>
                <a:ea typeface="Montserrat"/>
                <a:cs typeface="Montserrat"/>
                <a:sym typeface="Montserrat"/>
              </a:rPr>
              <a:t> for racing, and </a:t>
            </a:r>
            <a:r>
              <a:rPr b="1" i="0" lang="en" sz="700" u="none" cap="none" strike="noStrike">
                <a:solidFill>
                  <a:schemeClr val="dk1"/>
                </a:solidFill>
                <a:latin typeface="Montserrat"/>
                <a:ea typeface="Montserrat"/>
                <a:cs typeface="Montserrat"/>
                <a:sym typeface="Montserrat"/>
              </a:rPr>
              <a:t>Retail in-play</a:t>
            </a:r>
            <a:r>
              <a:rPr b="0" i="0" lang="en" sz="700" u="none" cap="none" strike="noStrike">
                <a:solidFill>
                  <a:schemeClr val="dk1"/>
                </a:solidFill>
                <a:latin typeface="Montserrat"/>
                <a:ea typeface="Montserrat"/>
                <a:cs typeface="Montserrat"/>
                <a:sym typeface="Montserrat"/>
              </a:rPr>
              <a:t> initiatives to boost engagement and custom experiences.</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0" i="0" sz="700" u="none" cap="none" strike="noStrike">
              <a:solidFill>
                <a:srgbClr val="434343"/>
              </a:solidFill>
              <a:latin typeface="Montserrat"/>
              <a:ea typeface="Montserrat"/>
              <a:cs typeface="Montserrat"/>
              <a:sym typeface="Montserrat"/>
            </a:endParaRPr>
          </a:p>
        </p:txBody>
      </p:sp>
      <p:sp>
        <p:nvSpPr>
          <p:cNvPr id="618" name="Google Shape;618;p24"/>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19" name="Google Shape;619;p24"/>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20" name="Google Shape;620;p24"/>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21" name="Google Shape;621;p24"/>
          <p:cNvPicPr preferRelativeResize="0"/>
          <p:nvPr/>
        </p:nvPicPr>
        <p:blipFill rotWithShape="1">
          <a:blip r:embed="rId6">
            <a:alphaModFix/>
          </a:blip>
          <a:srcRect b="51129" l="0" r="0" t="0"/>
          <a:stretch/>
        </p:blipFill>
        <p:spPr>
          <a:xfrm>
            <a:off x="851951" y="1443450"/>
            <a:ext cx="3776933" cy="2202435"/>
          </a:xfrm>
          <a:prstGeom prst="rect">
            <a:avLst/>
          </a:prstGeom>
          <a:noFill/>
          <a:ln>
            <a:noFill/>
          </a:ln>
        </p:spPr>
      </p:pic>
      <p:pic>
        <p:nvPicPr>
          <p:cNvPr id="622" name="Google Shape;622;p24"/>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23" name="Google Shape;623;p24"/>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24" name="Google Shape;624;p24"/>
          <p:cNvPicPr preferRelativeResize="0"/>
          <p:nvPr/>
        </p:nvPicPr>
        <p:blipFill rotWithShape="1">
          <a:blip r:embed="rId9">
            <a:alphaModFix/>
          </a:blip>
          <a:srcRect b="0" l="0" r="0" t="0"/>
          <a:stretch/>
        </p:blipFill>
        <p:spPr>
          <a:xfrm>
            <a:off x="207877" y="179550"/>
            <a:ext cx="1531468" cy="286200"/>
          </a:xfrm>
          <a:prstGeom prst="rect">
            <a:avLst/>
          </a:prstGeom>
          <a:noFill/>
          <a:ln>
            <a:noFill/>
          </a:ln>
        </p:spPr>
      </p:pic>
      <p:pic>
        <p:nvPicPr>
          <p:cNvPr descr="TTN Logo.png" id="625" name="Google Shape;625;p24"/>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26" name="Google Shape;626;p24"/>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0" name="Shape 630"/>
        <p:cNvGrpSpPr/>
        <p:nvPr/>
      </p:nvGrpSpPr>
      <p:grpSpPr>
        <a:xfrm>
          <a:off x="0" y="0"/>
          <a:ext cx="0" cy="0"/>
          <a:chOff x="0" y="0"/>
          <a:chExt cx="0" cy="0"/>
        </a:xfrm>
      </p:grpSpPr>
      <p:sp>
        <p:nvSpPr>
          <p:cNvPr id="631" name="Google Shape;631;p25"/>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25"/>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TTN successfully </a:t>
            </a:r>
            <a:r>
              <a:rPr b="1" i="0" lang="en" sz="900" u="none" cap="none" strike="noStrike">
                <a:solidFill>
                  <a:schemeClr val="dk1"/>
                </a:solidFill>
                <a:latin typeface="Montserrat"/>
                <a:ea typeface="Montserrat"/>
                <a:cs typeface="Montserrat"/>
                <a:sym typeface="Montserrat"/>
              </a:rPr>
              <a:t>rebuilt</a:t>
            </a:r>
            <a:r>
              <a:rPr b="0" i="0" lang="en" sz="900" u="none" cap="none" strike="noStrike">
                <a:solidFill>
                  <a:schemeClr val="dk1"/>
                </a:solidFill>
                <a:latin typeface="Montserrat"/>
                <a:ea typeface="Montserrat"/>
                <a:cs typeface="Montserrat"/>
                <a:sym typeface="Montserrat"/>
              </a:rPr>
              <a:t> the entire </a:t>
            </a:r>
            <a:r>
              <a:rPr b="1" i="0" lang="en" sz="900" u="none" cap="none" strike="noStrike">
                <a:solidFill>
                  <a:schemeClr val="dk1"/>
                </a:solidFill>
                <a:latin typeface="Montserrat"/>
                <a:ea typeface="Montserrat"/>
                <a:cs typeface="Montserrat"/>
                <a:sym typeface="Montserrat"/>
              </a:rPr>
              <a:t>Sky</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Racing Website</a:t>
            </a:r>
            <a:r>
              <a:rPr b="0" i="0" lang="en" sz="900" u="none" cap="none" strike="noStrike">
                <a:solidFill>
                  <a:schemeClr val="dk1"/>
                </a:solidFill>
                <a:latin typeface="Montserrat"/>
                <a:ea typeface="Montserrat"/>
                <a:cs typeface="Montserrat"/>
                <a:sym typeface="Montserrat"/>
              </a:rPr>
              <a:t>, optimised for SEO, and implemented a microservices-based architecture that is highly resilient and scalable, hosted on AWS.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In addition to enhancing core digital properties, </a:t>
            </a:r>
            <a:r>
              <a:rPr b="1" i="0" lang="en" sz="900" u="none" cap="none" strike="noStrike">
                <a:solidFill>
                  <a:schemeClr val="dk1"/>
                </a:solidFill>
                <a:latin typeface="Montserrat"/>
                <a:ea typeface="Montserrat"/>
                <a:cs typeface="Montserrat"/>
                <a:sym typeface="Montserrat"/>
              </a:rPr>
              <a:t>TTN streamlined content curation</a:t>
            </a:r>
            <a:r>
              <a:rPr b="0" i="0" lang="en" sz="900" u="none" cap="none" strike="noStrike">
                <a:solidFill>
                  <a:schemeClr val="dk1"/>
                </a:solidFill>
                <a:latin typeface="Montserrat"/>
                <a:ea typeface="Montserrat"/>
                <a:cs typeface="Montserrat"/>
                <a:sym typeface="Montserrat"/>
              </a:rPr>
              <a:t> through a</a:t>
            </a:r>
            <a:r>
              <a:rPr b="1" i="0" lang="en" sz="900" u="none" cap="none" strike="noStrike">
                <a:solidFill>
                  <a:schemeClr val="dk1"/>
                </a:solidFill>
                <a:latin typeface="Montserrat"/>
                <a:ea typeface="Montserrat"/>
                <a:cs typeface="Montserrat"/>
                <a:sym typeface="Montserrat"/>
              </a:rPr>
              <a:t> custom-built CMS</a:t>
            </a:r>
            <a:r>
              <a:rPr b="0" i="0" lang="en" sz="900" u="none" cap="none" strike="noStrike">
                <a:solidFill>
                  <a:schemeClr val="dk1"/>
                </a:solidFill>
                <a:latin typeface="Montserrat"/>
                <a:ea typeface="Montserrat"/>
                <a:cs typeface="Montserrat"/>
                <a:sym typeface="Montserrat"/>
              </a:rPr>
              <a:t>, enabling auto and personalised playlists based on</a:t>
            </a:r>
            <a:r>
              <a:rPr b="1" i="0" lang="en" sz="900" u="none" cap="none" strike="noStrike">
                <a:solidFill>
                  <a:schemeClr val="dk1"/>
                </a:solidFill>
                <a:latin typeface="Montserrat"/>
                <a:ea typeface="Montserrat"/>
                <a:cs typeface="Montserrat"/>
                <a:sym typeface="Montserrat"/>
              </a:rPr>
              <a:t> user preferences</a:t>
            </a:r>
            <a:r>
              <a:rPr b="0" i="0" lang="en" sz="900" u="none" cap="none" strike="noStrike">
                <a:solidFill>
                  <a:schemeClr val="dk1"/>
                </a:solidFill>
                <a:latin typeface="Montserrat"/>
                <a:ea typeface="Montserrat"/>
                <a:cs typeface="Montserrat"/>
                <a:sym typeface="Montserrat"/>
              </a:rPr>
              <a:t>, which significantly improved </a:t>
            </a:r>
            <a:r>
              <a:rPr b="1" i="0" lang="en" sz="900" u="none" cap="none" strike="noStrike">
                <a:solidFill>
                  <a:schemeClr val="dk1"/>
                </a:solidFill>
                <a:latin typeface="Montserrat"/>
                <a:ea typeface="Montserrat"/>
                <a:cs typeface="Montserrat"/>
                <a:sym typeface="Montserrat"/>
              </a:rPr>
              <a:t>operational efficiency.</a:t>
            </a:r>
            <a:r>
              <a:rPr b="0" i="0" lang="en" sz="900" u="none" cap="none" strike="noStrike">
                <a:solidFill>
                  <a:schemeClr val="dk1"/>
                </a:solidFill>
                <a:latin typeface="Montserrat"/>
                <a:ea typeface="Montserrat"/>
                <a:cs typeface="Montserrat"/>
                <a:sym typeface="Montserrat"/>
              </a:rPr>
              <a:t>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The platform features live </a:t>
            </a:r>
            <a:r>
              <a:rPr b="1" i="0" lang="en" sz="900" u="none" cap="none" strike="noStrike">
                <a:solidFill>
                  <a:schemeClr val="dk1"/>
                </a:solidFill>
                <a:latin typeface="Montserrat"/>
                <a:ea typeface="Montserrat"/>
                <a:cs typeface="Montserrat"/>
                <a:sym typeface="Montserrat"/>
              </a:rPr>
              <a:t>race streaming and VOD content</a:t>
            </a:r>
            <a:r>
              <a:rPr b="0" i="0" lang="en" sz="900" u="none" cap="none" strike="noStrike">
                <a:solidFill>
                  <a:schemeClr val="dk1"/>
                </a:solidFill>
                <a:latin typeface="Montserrat"/>
                <a:ea typeface="Montserrat"/>
                <a:cs typeface="Montserrat"/>
                <a:sym typeface="Montserrat"/>
              </a:rPr>
              <a:t>, leveraging a comprehensive technology stack that includes Kotlin, Swift, Java, MongoDB, Spring Boot, and more.</a:t>
            </a:r>
            <a:endParaRPr b="1" i="0" sz="900" u="none" cap="none" strike="noStrike">
              <a:solidFill>
                <a:srgbClr val="D9187F"/>
              </a:solidFill>
              <a:latin typeface="Montserrat"/>
              <a:ea typeface="Montserrat"/>
              <a:cs typeface="Montserrat"/>
              <a:sym typeface="Montserrat"/>
            </a:endParaRPr>
          </a:p>
        </p:txBody>
      </p:sp>
      <p:pic>
        <p:nvPicPr>
          <p:cNvPr id="633" name="Google Shape;633;p25"/>
          <p:cNvPicPr preferRelativeResize="0"/>
          <p:nvPr/>
        </p:nvPicPr>
        <p:blipFill rotWithShape="1">
          <a:blip r:embed="rId4">
            <a:alphaModFix/>
          </a:blip>
          <a:srcRect b="0" l="0" r="0" t="0"/>
          <a:stretch/>
        </p:blipFill>
        <p:spPr>
          <a:xfrm>
            <a:off x="182896" y="156319"/>
            <a:ext cx="612506" cy="510431"/>
          </a:xfrm>
          <a:prstGeom prst="rect">
            <a:avLst/>
          </a:prstGeom>
          <a:noFill/>
          <a:ln>
            <a:noFill/>
          </a:ln>
        </p:spPr>
      </p:pic>
      <p:sp>
        <p:nvSpPr>
          <p:cNvPr id="634" name="Google Shape;634;p25"/>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35" name="Google Shape;635;p25"/>
          <p:cNvPicPr preferRelativeResize="0"/>
          <p:nvPr/>
        </p:nvPicPr>
        <p:blipFill rotWithShape="1">
          <a:blip r:embed="rId5">
            <a:alphaModFix/>
          </a:blip>
          <a:srcRect b="0" l="0" r="0" t="0"/>
          <a:stretch/>
        </p:blipFill>
        <p:spPr>
          <a:xfrm>
            <a:off x="309115" y="1314638"/>
            <a:ext cx="4862602" cy="2662069"/>
          </a:xfrm>
          <a:prstGeom prst="rect">
            <a:avLst/>
          </a:prstGeom>
          <a:noFill/>
          <a:ln>
            <a:noFill/>
          </a:ln>
        </p:spPr>
      </p:pic>
      <p:pic>
        <p:nvPicPr>
          <p:cNvPr id="636" name="Google Shape;636;p25"/>
          <p:cNvPicPr preferRelativeResize="0"/>
          <p:nvPr/>
        </p:nvPicPr>
        <p:blipFill rotWithShape="1">
          <a:blip r:embed="rId6">
            <a:alphaModFix/>
          </a:blip>
          <a:srcRect b="10521" l="6650" r="11154" t="4633"/>
          <a:stretch/>
        </p:blipFill>
        <p:spPr>
          <a:xfrm>
            <a:off x="851944" y="1443453"/>
            <a:ext cx="3776945" cy="1955583"/>
          </a:xfrm>
          <a:prstGeom prst="rect">
            <a:avLst/>
          </a:prstGeom>
          <a:noFill/>
          <a:ln>
            <a:noFill/>
          </a:ln>
        </p:spPr>
      </p:pic>
      <p:pic>
        <p:nvPicPr>
          <p:cNvPr id="637" name="Google Shape;637;p25"/>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38" name="Google Shape;638;p25"/>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39" name="Google Shape;639;p25"/>
          <p:cNvPicPr preferRelativeResize="0"/>
          <p:nvPr/>
        </p:nvPicPr>
        <p:blipFill rotWithShape="1">
          <a:blip r:embed="rId9">
            <a:alphaModFix/>
          </a:blip>
          <a:srcRect b="14288" l="0" r="0" t="0"/>
          <a:stretch/>
        </p:blipFill>
        <p:spPr>
          <a:xfrm>
            <a:off x="851951" y="1443450"/>
            <a:ext cx="3361367" cy="2148149"/>
          </a:xfrm>
          <a:prstGeom prst="rect">
            <a:avLst/>
          </a:prstGeom>
          <a:noFill/>
          <a:ln>
            <a:noFill/>
          </a:ln>
        </p:spPr>
      </p:pic>
      <p:pic>
        <p:nvPicPr>
          <p:cNvPr id="640" name="Google Shape;640;p25"/>
          <p:cNvPicPr preferRelativeResize="0"/>
          <p:nvPr/>
        </p:nvPicPr>
        <p:blipFill rotWithShape="1">
          <a:blip r:embed="rId10">
            <a:alphaModFix/>
          </a:blip>
          <a:srcRect b="0" l="0" r="0" t="0"/>
          <a:stretch/>
        </p:blipFill>
        <p:spPr>
          <a:xfrm>
            <a:off x="4298069" y="1177687"/>
            <a:ext cx="1236900" cy="2597100"/>
          </a:xfrm>
          <a:prstGeom prst="round2SameRect">
            <a:avLst>
              <a:gd fmla="val 13849" name="adj1"/>
              <a:gd fmla="val 0" name="adj2"/>
            </a:avLst>
          </a:prstGeom>
          <a:noFill/>
          <a:ln>
            <a:noFill/>
          </a:ln>
        </p:spPr>
      </p:pic>
      <p:pic>
        <p:nvPicPr>
          <p:cNvPr descr="TTN Logo.png" id="641" name="Google Shape;641;p25"/>
          <p:cNvPicPr preferRelativeResize="0"/>
          <p:nvPr/>
        </p:nvPicPr>
        <p:blipFill rotWithShape="1">
          <a:blip r:embed="rId11">
            <a:alphaModFix/>
          </a:blip>
          <a:srcRect b="0" l="0" r="0" t="0"/>
          <a:stretch/>
        </p:blipFill>
        <p:spPr>
          <a:xfrm>
            <a:off x="8414781" y="117828"/>
            <a:ext cx="625544" cy="349439"/>
          </a:xfrm>
          <a:prstGeom prst="rect">
            <a:avLst/>
          </a:prstGeom>
          <a:noFill/>
          <a:ln>
            <a:noFill/>
          </a:ln>
        </p:spPr>
      </p:pic>
      <p:sp>
        <p:nvSpPr>
          <p:cNvPr id="642" name="Google Shape;642;p25"/>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6" name="Shape 646"/>
        <p:cNvGrpSpPr/>
        <p:nvPr/>
      </p:nvGrpSpPr>
      <p:grpSpPr>
        <a:xfrm>
          <a:off x="0" y="0"/>
          <a:ext cx="0" cy="0"/>
          <a:chOff x="0" y="0"/>
          <a:chExt cx="0" cy="0"/>
        </a:xfrm>
      </p:grpSpPr>
      <p:sp>
        <p:nvSpPr>
          <p:cNvPr id="647" name="Google Shape;647;p26"/>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26"/>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Tata Play partnered with us to reimagine their digital platforms - bringing innovation to both entertainment and customer self-service.</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We engineered a secure OTT solution featuring </a:t>
            </a:r>
            <a:r>
              <a:rPr b="1" i="0" lang="en" sz="900" u="none" cap="none" strike="noStrike">
                <a:solidFill>
                  <a:schemeClr val="dk1"/>
                </a:solidFill>
                <a:latin typeface="Montserrat"/>
                <a:ea typeface="Montserrat"/>
                <a:cs typeface="Montserrat"/>
                <a:sym typeface="Montserrat"/>
              </a:rPr>
              <a:t>Live TV</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VoD</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DRM integration</a:t>
            </a:r>
            <a:r>
              <a:rPr b="0" i="0" lang="en" sz="900" u="none" cap="none" strike="noStrike">
                <a:solidFill>
                  <a:schemeClr val="dk1"/>
                </a:solidFill>
                <a:latin typeface="Montserrat"/>
                <a:ea typeface="Montserrat"/>
                <a:cs typeface="Montserrat"/>
                <a:sym typeface="Montserrat"/>
              </a:rPr>
              <a:t>, and user-friendly tools like </a:t>
            </a:r>
            <a:r>
              <a:rPr b="1" i="0" lang="en" sz="900" u="none" cap="none" strike="noStrike">
                <a:solidFill>
                  <a:schemeClr val="dk1"/>
                </a:solidFill>
                <a:latin typeface="Montserrat"/>
                <a:ea typeface="Montserrat"/>
                <a:cs typeface="Montserrat"/>
                <a:sym typeface="Montserrat"/>
              </a:rPr>
              <a:t>remote recording</a:t>
            </a:r>
            <a:r>
              <a:rPr b="0" i="0" lang="en" sz="900" u="none" cap="none" strike="noStrike">
                <a:solidFill>
                  <a:schemeClr val="dk1"/>
                </a:solidFill>
                <a:latin typeface="Montserrat"/>
                <a:ea typeface="Montserrat"/>
                <a:cs typeface="Montserrat"/>
                <a:sym typeface="Montserrat"/>
              </a:rPr>
              <a:t> and </a:t>
            </a:r>
            <a:r>
              <a:rPr b="1" i="0" lang="en" sz="900" u="none" cap="none" strike="noStrike">
                <a:solidFill>
                  <a:schemeClr val="dk1"/>
                </a:solidFill>
                <a:latin typeface="Montserrat"/>
                <a:ea typeface="Montserrat"/>
                <a:cs typeface="Montserrat"/>
                <a:sym typeface="Montserrat"/>
              </a:rPr>
              <a:t>rich analytics</a:t>
            </a:r>
            <a:r>
              <a:rPr b="0" i="0" lang="en" sz="900" u="none" cap="none" strike="noStrike">
                <a:solidFill>
                  <a:schemeClr val="dk1"/>
                </a:solidFill>
                <a:latin typeface="Montserrat"/>
                <a:ea typeface="Montserrat"/>
                <a:cs typeface="Montserrat"/>
                <a:sym typeface="Montserrat"/>
              </a:rPr>
              <a:t>. In parallel, we developed a </a:t>
            </a:r>
            <a:r>
              <a:rPr b="1" i="0" lang="en" sz="900" u="none" cap="none" strike="noStrike">
                <a:solidFill>
                  <a:schemeClr val="dk1"/>
                </a:solidFill>
                <a:latin typeface="Montserrat"/>
                <a:ea typeface="Montserrat"/>
                <a:cs typeface="Montserrat"/>
                <a:sym typeface="Montserrat"/>
              </a:rPr>
              <a:t>React Native-based Self-Care app</a:t>
            </a:r>
            <a:r>
              <a:rPr b="0" i="0" lang="en" sz="900" u="none" cap="none" strike="noStrike">
                <a:solidFill>
                  <a:schemeClr val="dk1"/>
                </a:solidFill>
                <a:latin typeface="Montserrat"/>
                <a:ea typeface="Montserrat"/>
                <a:cs typeface="Montserrat"/>
                <a:sym typeface="Montserrat"/>
              </a:rPr>
              <a:t> with a </a:t>
            </a:r>
            <a:r>
              <a:rPr b="1" i="0" lang="en" sz="900" u="none" cap="none" strike="noStrike">
                <a:solidFill>
                  <a:schemeClr val="dk1"/>
                </a:solidFill>
                <a:latin typeface="Montserrat"/>
                <a:ea typeface="Montserrat"/>
                <a:cs typeface="Montserrat"/>
                <a:sym typeface="Montserrat"/>
              </a:rPr>
              <a:t>unified Android/iOS codebase</a:t>
            </a:r>
            <a:r>
              <a:rPr b="0" i="0" lang="en" sz="900" u="none" cap="none" strike="noStrike">
                <a:solidFill>
                  <a:schemeClr val="dk1"/>
                </a:solidFill>
                <a:latin typeface="Montserrat"/>
                <a:ea typeface="Montserrat"/>
                <a:cs typeface="Montserrat"/>
                <a:sym typeface="Montserrat"/>
              </a:rPr>
              <a:t>, enabling faster releases and seamless </a:t>
            </a:r>
            <a:r>
              <a:rPr b="1" i="0" lang="en" sz="900" u="none" cap="none" strike="noStrike">
                <a:solidFill>
                  <a:schemeClr val="dk1"/>
                </a:solidFill>
                <a:latin typeface="Montserrat"/>
                <a:ea typeface="Montserrat"/>
                <a:cs typeface="Montserrat"/>
                <a:sym typeface="Montserrat"/>
              </a:rPr>
              <a:t>CRM/payment gateway integration</a:t>
            </a:r>
            <a:r>
              <a:rPr b="0" i="0" lang="en" sz="900" u="none" cap="none" strike="noStrike">
                <a:solidFill>
                  <a:schemeClr val="dk1"/>
                </a:solidFill>
                <a:latin typeface="Montserrat"/>
                <a:ea typeface="Montserrat"/>
                <a:cs typeface="Montserrat"/>
                <a:sym typeface="Montserrat"/>
              </a:rPr>
              <a:t>.</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Powered by a </a:t>
            </a:r>
            <a:r>
              <a:rPr b="1" i="0" lang="en" sz="900" u="none" cap="none" strike="noStrike">
                <a:solidFill>
                  <a:schemeClr val="dk1"/>
                </a:solidFill>
                <a:latin typeface="Montserrat"/>
                <a:ea typeface="Montserrat"/>
                <a:cs typeface="Montserrat"/>
                <a:sym typeface="Montserrat"/>
              </a:rPr>
              <a:t>microservices architecture</a:t>
            </a:r>
            <a:r>
              <a:rPr b="0" i="0" lang="en" sz="900" u="none" cap="none" strike="noStrike">
                <a:solidFill>
                  <a:schemeClr val="dk1"/>
                </a:solidFill>
                <a:latin typeface="Montserrat"/>
                <a:ea typeface="Montserrat"/>
                <a:cs typeface="Montserrat"/>
                <a:sym typeface="Montserrat"/>
              </a:rPr>
              <a:t>, the platforms are scalable, resilient, and experience-driven.</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Achieved </a:t>
            </a:r>
            <a:r>
              <a:rPr b="1" i="0" lang="en" sz="900" u="none" cap="none" strike="noStrike">
                <a:solidFill>
                  <a:schemeClr val="dk1"/>
                </a:solidFill>
                <a:latin typeface="Montserrat"/>
                <a:ea typeface="Montserrat"/>
                <a:cs typeface="Montserrat"/>
                <a:sym typeface="Montserrat"/>
              </a:rPr>
              <a:t>70%+ mobile engagement</a:t>
            </a:r>
            <a:r>
              <a:rPr b="0" i="0" lang="en" sz="900" u="none" cap="none" strike="noStrike">
                <a:solidFill>
                  <a:schemeClr val="dk1"/>
                </a:solidFill>
                <a:latin typeface="Montserrat"/>
                <a:ea typeface="Montserrat"/>
                <a:cs typeface="Montserrat"/>
                <a:sym typeface="Montserrat"/>
              </a:rPr>
              <a:t>, improved </a:t>
            </a:r>
            <a:r>
              <a:rPr b="1" i="0" lang="en" sz="900" u="none" cap="none" strike="noStrike">
                <a:solidFill>
                  <a:schemeClr val="dk1"/>
                </a:solidFill>
                <a:latin typeface="Montserrat"/>
                <a:ea typeface="Montserrat"/>
                <a:cs typeface="Montserrat"/>
                <a:sym typeface="Montserrat"/>
              </a:rPr>
              <a:t>app ratings</a:t>
            </a:r>
            <a:r>
              <a:rPr b="0" i="0" lang="en" sz="900" u="none" cap="none" strike="noStrike">
                <a:solidFill>
                  <a:schemeClr val="dk1"/>
                </a:solidFill>
                <a:latin typeface="Montserrat"/>
                <a:ea typeface="Montserrat"/>
                <a:cs typeface="Montserrat"/>
                <a:sym typeface="Montserrat"/>
              </a:rPr>
              <a:t>, higher </a:t>
            </a:r>
            <a:r>
              <a:rPr b="1" i="0" lang="en" sz="900" u="none" cap="none" strike="noStrike">
                <a:solidFill>
                  <a:schemeClr val="dk1"/>
                </a:solidFill>
                <a:latin typeface="Montserrat"/>
                <a:ea typeface="Montserrat"/>
                <a:cs typeface="Montserrat"/>
                <a:sym typeface="Montserrat"/>
              </a:rPr>
              <a:t>user adoption</a:t>
            </a:r>
            <a:r>
              <a:rPr b="0" i="0" lang="en" sz="900" u="none" cap="none" strike="noStrike">
                <a:solidFill>
                  <a:schemeClr val="dk1"/>
                </a:solidFill>
                <a:latin typeface="Montserrat"/>
                <a:ea typeface="Montserrat"/>
                <a:cs typeface="Montserrat"/>
                <a:sym typeface="Montserrat"/>
              </a:rPr>
              <a:t>, and increased </a:t>
            </a:r>
            <a:r>
              <a:rPr b="1" i="0" lang="en" sz="900" u="none" cap="none" strike="noStrike">
                <a:solidFill>
                  <a:schemeClr val="dk1"/>
                </a:solidFill>
                <a:latin typeface="Montserrat"/>
                <a:ea typeface="Montserrat"/>
                <a:cs typeface="Montserrat"/>
                <a:sym typeface="Montserrat"/>
              </a:rPr>
              <a:t>recharge and upsell conversions</a:t>
            </a:r>
            <a:r>
              <a:rPr b="0" i="0" lang="en" sz="900" u="none" cap="none" strike="noStrike">
                <a:solidFill>
                  <a:schemeClr val="dk1"/>
                </a:solidFill>
                <a:latin typeface="Montserrat"/>
                <a:ea typeface="Montserrat"/>
                <a:cs typeface="Montserrat"/>
                <a:sym typeface="Montserrat"/>
              </a:rPr>
              <a:t> across digital channels.</a:t>
            </a:r>
            <a:endParaRPr b="0" i="0" sz="900" u="none" cap="none" strike="noStrike">
              <a:solidFill>
                <a:schemeClr val="dk1"/>
              </a:solidFill>
              <a:latin typeface="Montserrat"/>
              <a:ea typeface="Montserrat"/>
              <a:cs typeface="Montserrat"/>
              <a:sym typeface="Montserrat"/>
            </a:endParaRPr>
          </a:p>
          <a:p>
            <a:pPr indent="0" lvl="0" marL="0" marR="0" rtl="0" algn="l">
              <a:lnSpc>
                <a:spcPct val="150000"/>
              </a:lnSpc>
              <a:spcBef>
                <a:spcPts val="1200"/>
              </a:spcBef>
              <a:spcAft>
                <a:spcPts val="0"/>
              </a:spcAft>
              <a:buClr>
                <a:schemeClr val="dk1"/>
              </a:buClr>
              <a:buSzPts val="1100"/>
              <a:buFont typeface="Arial"/>
              <a:buNone/>
            </a:pPr>
            <a:r>
              <a:t/>
            </a:r>
            <a:endParaRPr b="1" i="0" sz="900" u="none" cap="none" strike="noStrike">
              <a:solidFill>
                <a:schemeClr val="dk1"/>
              </a:solidFill>
              <a:latin typeface="Montserrat"/>
              <a:ea typeface="Montserrat"/>
              <a:cs typeface="Montserrat"/>
              <a:sym typeface="Montserrat"/>
            </a:endParaRPr>
          </a:p>
        </p:txBody>
      </p:sp>
      <p:sp>
        <p:nvSpPr>
          <p:cNvPr id="649" name="Google Shape;649;p26"/>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India</a:t>
            </a:r>
            <a:endParaRPr b="0" i="0" sz="1000" u="none" cap="none" strike="noStrike">
              <a:solidFill>
                <a:schemeClr val="lt1"/>
              </a:solidFill>
              <a:latin typeface="Montserrat"/>
              <a:ea typeface="Montserrat"/>
              <a:cs typeface="Montserrat"/>
              <a:sym typeface="Montserrat"/>
            </a:endParaRPr>
          </a:p>
        </p:txBody>
      </p:sp>
      <p:pic>
        <p:nvPicPr>
          <p:cNvPr id="650" name="Google Shape;650;p26"/>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51" name="Google Shape;651;p26"/>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52" name="Google Shape;652;p26"/>
          <p:cNvPicPr preferRelativeResize="0"/>
          <p:nvPr/>
        </p:nvPicPr>
        <p:blipFill rotWithShape="1">
          <a:blip r:embed="rId6">
            <a:alphaModFix/>
          </a:blip>
          <a:srcRect b="0" l="0" r="0" t="0"/>
          <a:stretch/>
        </p:blipFill>
        <p:spPr>
          <a:xfrm>
            <a:off x="4213317" y="1131394"/>
            <a:ext cx="1400655" cy="2780532"/>
          </a:xfrm>
          <a:prstGeom prst="rect">
            <a:avLst/>
          </a:prstGeom>
          <a:noFill/>
          <a:ln>
            <a:noFill/>
          </a:ln>
        </p:spPr>
      </p:pic>
      <p:pic>
        <p:nvPicPr>
          <p:cNvPr id="653" name="Google Shape;653;p26"/>
          <p:cNvPicPr preferRelativeResize="0"/>
          <p:nvPr/>
        </p:nvPicPr>
        <p:blipFill rotWithShape="1">
          <a:blip r:embed="rId7">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54" name="Google Shape;654;p26" title="Screenshot (11).png"/>
          <p:cNvPicPr preferRelativeResize="0"/>
          <p:nvPr/>
        </p:nvPicPr>
        <p:blipFill rotWithShape="1">
          <a:blip r:embed="rId8">
            <a:alphaModFix/>
          </a:blip>
          <a:srcRect b="0" l="8089" r="8089" t="0"/>
          <a:stretch/>
        </p:blipFill>
        <p:spPr>
          <a:xfrm>
            <a:off x="851951" y="1443450"/>
            <a:ext cx="3361368" cy="2148150"/>
          </a:xfrm>
          <a:prstGeom prst="rect">
            <a:avLst/>
          </a:prstGeom>
          <a:noFill/>
          <a:ln>
            <a:noFill/>
          </a:ln>
        </p:spPr>
      </p:pic>
      <p:pic>
        <p:nvPicPr>
          <p:cNvPr id="655" name="Google Shape;655;p26" title="Screenshot (12).png"/>
          <p:cNvPicPr preferRelativeResize="0"/>
          <p:nvPr/>
        </p:nvPicPr>
        <p:blipFill rotWithShape="1">
          <a:blip r:embed="rId9">
            <a:alphaModFix/>
          </a:blip>
          <a:srcRect b="1067" l="0" r="0" t="1057"/>
          <a:stretch/>
        </p:blipFill>
        <p:spPr>
          <a:xfrm>
            <a:off x="4298069" y="1177687"/>
            <a:ext cx="1236900" cy="2597100"/>
          </a:xfrm>
          <a:prstGeom prst="round2SameRect">
            <a:avLst>
              <a:gd fmla="val 13849" name="adj1"/>
              <a:gd fmla="val 0" name="adj2"/>
            </a:avLst>
          </a:prstGeom>
          <a:noFill/>
          <a:ln>
            <a:noFill/>
          </a:ln>
        </p:spPr>
      </p:pic>
      <p:pic>
        <p:nvPicPr>
          <p:cNvPr descr="TTN Logo.png" id="656" name="Google Shape;656;p26"/>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57" name="Google Shape;657;p2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pic>
        <p:nvPicPr>
          <p:cNvPr id="658" name="Google Shape;658;p26"/>
          <p:cNvPicPr preferRelativeResize="0"/>
          <p:nvPr/>
        </p:nvPicPr>
        <p:blipFill rotWithShape="1">
          <a:blip r:embed="rId11">
            <a:alphaModFix/>
          </a:blip>
          <a:srcRect b="0" l="0" r="0" t="0"/>
          <a:stretch/>
        </p:blipFill>
        <p:spPr>
          <a:xfrm>
            <a:off x="222400" y="64450"/>
            <a:ext cx="516401" cy="516401"/>
          </a:xfrm>
          <a:prstGeom prst="rect">
            <a:avLst/>
          </a:prstGeom>
          <a:noFill/>
          <a:ln>
            <a:noFill/>
          </a:ln>
        </p:spPr>
      </p:pic>
      <p:pic>
        <p:nvPicPr>
          <p:cNvPr id="659" name="Google Shape;659;p26"/>
          <p:cNvPicPr preferRelativeResize="0"/>
          <p:nvPr/>
        </p:nvPicPr>
        <p:blipFill rotWithShape="1">
          <a:blip r:embed="rId12">
            <a:alphaModFix/>
          </a:blip>
          <a:srcRect b="21694" l="0" r="0" t="17945"/>
          <a:stretch/>
        </p:blipFill>
        <p:spPr>
          <a:xfrm>
            <a:off x="913800" y="64450"/>
            <a:ext cx="994426" cy="516401"/>
          </a:xfrm>
          <a:prstGeom prst="rect">
            <a:avLst/>
          </a:prstGeom>
          <a:noFill/>
          <a:ln>
            <a:noFill/>
          </a:ln>
        </p:spPr>
      </p:pic>
      <p:cxnSp>
        <p:nvCxnSpPr>
          <p:cNvPr id="660" name="Google Shape;660;p26"/>
          <p:cNvCxnSpPr/>
          <p:nvPr/>
        </p:nvCxnSpPr>
        <p:spPr>
          <a:xfrm>
            <a:off x="8191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661" name="Google Shape;661;p26" title="Screenshot 2025-05-29 at 10.49.36 AM.png"/>
          <p:cNvPicPr preferRelativeResize="0"/>
          <p:nvPr/>
        </p:nvPicPr>
        <p:blipFill rotWithShape="1">
          <a:blip r:embed="rId13">
            <a:alphaModFix/>
          </a:blip>
          <a:srcRect b="0" l="0" r="0" t="0"/>
          <a:stretch/>
        </p:blipFill>
        <p:spPr>
          <a:xfrm>
            <a:off x="4298075" y="1209175"/>
            <a:ext cx="1269475" cy="25656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2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Quick Recap</a:t>
            </a:r>
            <a:endParaRPr b="1" i="0" sz="2000" u="none" cap="none" strike="noStrike">
              <a:solidFill>
                <a:schemeClr val="dk1"/>
              </a:solidFill>
              <a:latin typeface="Montserrat"/>
              <a:ea typeface="Montserrat"/>
              <a:cs typeface="Montserrat"/>
              <a:sym typeface="Montserrat"/>
            </a:endParaRPr>
          </a:p>
        </p:txBody>
      </p:sp>
      <p:sp>
        <p:nvSpPr>
          <p:cNvPr id="667" name="Google Shape;667;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
        <p:nvSpPr>
          <p:cNvPr id="668" name="Google Shape;668;p27"/>
          <p:cNvSpPr/>
          <p:nvPr/>
        </p:nvSpPr>
        <p:spPr>
          <a:xfrm>
            <a:off x="226950" y="921038"/>
            <a:ext cx="8690100" cy="32931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669" name="Google Shape;669;p27"/>
          <p:cNvCxnSpPr/>
          <p:nvPr/>
        </p:nvCxnSpPr>
        <p:spPr>
          <a:xfrm>
            <a:off x="249444" y="929365"/>
            <a:ext cx="0" cy="3293100"/>
          </a:xfrm>
          <a:prstGeom prst="straightConnector1">
            <a:avLst/>
          </a:prstGeom>
          <a:noFill/>
          <a:ln cap="flat" cmpd="sng" w="19050">
            <a:solidFill>
              <a:srgbClr val="12519C"/>
            </a:solidFill>
            <a:prstDash val="solid"/>
            <a:round/>
            <a:headEnd len="sm" w="sm" type="none"/>
            <a:tailEnd len="sm" w="sm" type="none"/>
          </a:ln>
        </p:spPr>
      </p:cxnSp>
      <p:sp>
        <p:nvSpPr>
          <p:cNvPr id="670" name="Google Shape;670;p27"/>
          <p:cNvSpPr txBox="1"/>
          <p:nvPr/>
        </p:nvSpPr>
        <p:spPr>
          <a:xfrm>
            <a:off x="261425" y="987013"/>
            <a:ext cx="8127900" cy="3124500"/>
          </a:xfrm>
          <a:prstGeom prst="rect">
            <a:avLst/>
          </a:prstGeom>
          <a:noFill/>
          <a:ln>
            <a:noFill/>
          </a:ln>
        </p:spPr>
        <p:txBody>
          <a:bodyPr anchorCtr="0" anchor="t" bIns="91425" lIns="91425" spcFirstLastPara="1" rIns="91425" wrap="square" tIns="91425">
            <a:spAutoFit/>
          </a:bodyPr>
          <a:lstStyle/>
          <a:p>
            <a:r>
              <a:t>Apex Retail Solutions seeks a scalable, secure, and user-friendly retail platform that supports advanced search, multi-currency checkout, and seamless integration with third-party systems. Our solution is designed to meet these needs through a modern, decoupled architecture that prioritizes performance, compliance, and flexibility. We have a proven track record in developing secure, scalable platforms for retail and B2B environments, with experience in payment gateways, headless CMS, and ERP integrations. Our approach ensures alignment with your business goals while delivering a future-ready digital experience.</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pic>
        <p:nvPicPr>
          <p:cNvPr id="675" name="Google Shape;675;p28"/>
          <p:cNvPicPr preferRelativeResize="0"/>
          <p:nvPr/>
        </p:nvPicPr>
        <p:blipFill rotWithShape="1">
          <a:blip r:embed="rId3">
            <a:alphaModFix/>
          </a:blip>
          <a:srcRect b="0" l="0" r="0" t="0"/>
          <a:stretch/>
        </p:blipFill>
        <p:spPr>
          <a:xfrm>
            <a:off x="249975" y="246249"/>
            <a:ext cx="1145175" cy="585599"/>
          </a:xfrm>
          <a:prstGeom prst="rect">
            <a:avLst/>
          </a:prstGeom>
          <a:noFill/>
          <a:ln>
            <a:noFill/>
          </a:ln>
        </p:spPr>
      </p:pic>
      <p:pic>
        <p:nvPicPr>
          <p:cNvPr id="676" name="Google Shape;676;p28"/>
          <p:cNvPicPr preferRelativeResize="0"/>
          <p:nvPr/>
        </p:nvPicPr>
        <p:blipFill rotWithShape="1">
          <a:blip r:embed="rId4">
            <a:alphaModFix/>
          </a:blip>
          <a:srcRect b="3131" l="0" r="0" t="3122"/>
          <a:stretch/>
        </p:blipFill>
        <p:spPr>
          <a:xfrm>
            <a:off x="210229" y="2037900"/>
            <a:ext cx="5420723" cy="873450"/>
          </a:xfrm>
          <a:prstGeom prst="rect">
            <a:avLst/>
          </a:prstGeom>
          <a:noFill/>
          <a:ln>
            <a:noFill/>
          </a:ln>
        </p:spPr>
      </p:pic>
      <p:cxnSp>
        <p:nvCxnSpPr>
          <p:cNvPr id="677" name="Google Shape;677;p28"/>
          <p:cNvCxnSpPr/>
          <p:nvPr/>
        </p:nvCxnSpPr>
        <p:spPr>
          <a:xfrm>
            <a:off x="7475" y="3099589"/>
            <a:ext cx="3926700" cy="0"/>
          </a:xfrm>
          <a:prstGeom prst="straightConnector1">
            <a:avLst/>
          </a:prstGeom>
          <a:noFill/>
          <a:ln cap="flat" cmpd="sng" w="19050">
            <a:solidFill>
              <a:srgbClr val="D71B7F"/>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