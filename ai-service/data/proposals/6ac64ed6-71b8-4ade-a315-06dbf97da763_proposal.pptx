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 id="2147483653" r:id="rId6"/>
    <p:sldMasterId id="2147483664" r:id="rId7"/>
  </p:sldMasterIdLst>
  <p:notesMasterIdLst>
    <p:notesMasterId r:id="rId8"/>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 id="274" r:id="rId27"/>
    <p:sldId id="275" r:id="rId28"/>
    <p:sldId id="276" r:id="rId29"/>
    <p:sldId id="277" r:id="rId30"/>
    <p:sldId id="278" r:id="rId31"/>
    <p:sldId id="279" r:id="rId32"/>
    <p:sldId id="280" r:id="rId33"/>
    <p:sldId id="281" r:id="rId34"/>
    <p:sldId id="282" r:id="rId35"/>
    <p:sldId id="283" r:id="rId36"/>
  </p:sldIdLst>
  <p:sldSz cy="5143500" cx="9144000"/>
  <p:notesSz cx="6858000" cy="9144000"/>
  <p:embeddedFontLst>
    <p:embeddedFont>
      <p:font typeface="Montserrat SemiBold"/>
      <p:regular r:id="rId37"/>
      <p:bold r:id="rId38"/>
      <p:italic r:id="rId39"/>
      <p:boldItalic r:id="rId40"/>
    </p:embeddedFont>
    <p:embeddedFont>
      <p:font typeface="Montserrat"/>
      <p:regular r:id="rId41"/>
      <p:bold r:id="rId42"/>
      <p:italic r:id="rId43"/>
      <p:boldItalic r:id="rId44"/>
    </p:embeddedFont>
    <p:embeddedFont>
      <p:font typeface="Montserrat Medium"/>
      <p:regular r:id="rId45"/>
      <p:bold r:id="rId46"/>
      <p:italic r:id="rId47"/>
      <p:boldItalic r:id="rId48"/>
    </p:embeddedFont>
    <p:embeddedFont>
      <p:font typeface="Tahoma"/>
      <p:regular r:id="rId49"/>
      <p:bold r:id="rId50"/>
    </p:embeddedFont>
    <p:embeddedFont>
      <p:font typeface="Montserrat Light"/>
      <p:regular r:id="rId51"/>
      <p:bold r:id="rId52"/>
      <p:italic r:id="rId53"/>
      <p:boldItalic r:id="rId54"/>
    </p:embeddedFont>
    <p:embeddedFont>
      <p:font typeface="Century Gothic"/>
      <p:regular r:id="rId55"/>
      <p:bold r:id="rId56"/>
      <p:italic r:id="rId57"/>
      <p:boldItalic r:id="rId5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 uri="GoogleSlidesCustomDataVersion2">
      <go:slidesCustomData xmlns:go="http://customooxmlschemas.google.com/" r:id="rId59" roundtripDataSignature="AMtx7mg+XVHHZtUgQyD+yhX5zsEimkFhE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0D1BC328-F04A-43E0-85B5-ED5C37AF30D6}">
  <a:tblStyle styleId="{0D1BC328-F04A-43E0-85B5-ED5C37AF30D6}" styleName="Table_0">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 styleId="{E4DFB4FF-8893-4974-80CE-CFFE3B34FB83}" styleName="Table_1">
    <a:wholeTbl>
      <a:tcTxStyle b="off" i="off">
        <a:font>
          <a:latin typeface="Arial"/>
          <a:ea typeface="Arial"/>
          <a:cs typeface="Arial"/>
        </a:font>
        <a:srgbClr val="000000"/>
      </a:tcTxStyle>
      <a:tcStyle>
        <a:tcBdr>
          <a:left>
            <a:ln cap="flat" cmpd="sng" w="12700">
              <a:solidFill>
                <a:srgbClr val="FFFFFF"/>
              </a:solidFill>
              <a:prstDash val="solid"/>
              <a:round/>
              <a:headEnd len="sm" w="sm" type="none"/>
              <a:tailEnd len="sm" w="sm" type="none"/>
            </a:ln>
          </a:left>
          <a:right>
            <a:ln cap="flat" cmpd="sng" w="12700">
              <a:solidFill>
                <a:srgbClr val="FFFFFF"/>
              </a:solidFill>
              <a:prstDash val="solid"/>
              <a:round/>
              <a:headEnd len="sm" w="sm" type="none"/>
              <a:tailEnd len="sm" w="sm" type="none"/>
            </a:ln>
          </a:right>
          <a:top>
            <a:ln cap="flat" cmpd="sng" w="12700">
              <a:solidFill>
                <a:srgbClr val="FFFFFF"/>
              </a:solidFill>
              <a:prstDash val="solid"/>
              <a:round/>
              <a:headEnd len="sm" w="sm" type="none"/>
              <a:tailEnd len="sm" w="sm" type="none"/>
            </a:ln>
          </a:top>
          <a:bottom>
            <a:ln cap="flat" cmpd="sng" w="12700">
              <a:solidFill>
                <a:srgbClr val="FFFFFF"/>
              </a:solidFill>
              <a:prstDash val="solid"/>
              <a:round/>
              <a:headEnd len="sm" w="sm" type="none"/>
              <a:tailEnd len="sm" w="sm" type="none"/>
            </a:ln>
          </a:bottom>
          <a:insideH>
            <a:ln cap="flat" cmpd="sng" w="12700">
              <a:solidFill>
                <a:srgbClr val="FFFFFF"/>
              </a:solidFill>
              <a:prstDash val="solid"/>
              <a:round/>
              <a:headEnd len="sm" w="sm" type="none"/>
              <a:tailEnd len="sm" w="sm" type="none"/>
            </a:ln>
          </a:insideH>
          <a:insideV>
            <a:ln cap="flat" cmpd="sng" w="12700">
              <a:solidFill>
                <a:srgbClr val="FFFFFF"/>
              </a:solidFill>
              <a:prstDash val="solid"/>
              <a:round/>
              <a:headEnd len="sm" w="sm" type="none"/>
              <a:tailEnd len="sm" w="sm" type="none"/>
            </a:ln>
          </a:insideV>
        </a:tcBdr>
        <a:fill>
          <a:solidFill>
            <a:srgbClr val="E9EFF7"/>
          </a:solidFill>
        </a:fill>
      </a:tcStyle>
    </a:wholeTbl>
    <a:band1H>
      <a:tcTxStyle b="off" i="off"/>
      <a:tcStyle>
        <a:fill>
          <a:solidFill>
            <a:srgbClr val="D0DEEF"/>
          </a:solidFill>
        </a:fill>
      </a:tcStyle>
    </a:band1H>
    <a:band2H>
      <a:tcTxStyle b="off" i="off"/>
    </a:band2H>
    <a:band1V>
      <a:tcTxStyle b="off" i="off"/>
      <a:tcStyle>
        <a:fill>
          <a:solidFill>
            <a:srgbClr val="D0DEEF"/>
          </a:solidFill>
        </a:fill>
      </a:tcStyle>
    </a:band1V>
    <a:band2V>
      <a:tcTxStyle b="off" i="off"/>
    </a:band2V>
    <a:lastCol>
      <a:tcTxStyle b="on" i="off">
        <a:font>
          <a:latin typeface="Arial"/>
          <a:ea typeface="Arial"/>
          <a:cs typeface="Arial"/>
        </a:font>
        <a:srgbClr val="FFFFFF"/>
      </a:tcTxStyle>
      <a:tcStyle>
        <a:fill>
          <a:solidFill>
            <a:srgbClr val="D71B7F"/>
          </a:solidFill>
        </a:fill>
      </a:tcStyle>
    </a:lastCol>
    <a:firstCol>
      <a:tcTxStyle b="on" i="off">
        <a:font>
          <a:latin typeface="Arial"/>
          <a:ea typeface="Arial"/>
          <a:cs typeface="Arial"/>
        </a:font>
        <a:srgbClr val="FFFFFF"/>
      </a:tcTxStyle>
      <a:tcStyle>
        <a:fill>
          <a:solidFill>
            <a:srgbClr val="D71B7F"/>
          </a:solidFill>
        </a:fill>
      </a:tcStyle>
    </a:firstCol>
    <a:lastRow>
      <a:tcTxStyle b="on" i="off">
        <a:font>
          <a:latin typeface="Arial"/>
          <a:ea typeface="Arial"/>
          <a:cs typeface="Arial"/>
        </a:font>
        <a:srgbClr val="FFFFFF"/>
      </a:tcTxStyle>
      <a:tcStyle>
        <a:tcBdr>
          <a:top>
            <a:ln cap="flat" cmpd="sng" w="38100">
              <a:solidFill>
                <a:srgbClr val="FFFFFF"/>
              </a:solidFill>
              <a:prstDash val="solid"/>
              <a:round/>
              <a:headEnd len="sm" w="sm" type="none"/>
              <a:tailEnd len="sm" w="sm" type="none"/>
            </a:ln>
          </a:top>
        </a:tcBdr>
        <a:fill>
          <a:solidFill>
            <a:srgbClr val="D71B7F"/>
          </a:solidFill>
        </a:fill>
      </a:tcStyle>
    </a:lastRow>
    <a:seCell>
      <a:tcTxStyle b="off" i="off"/>
    </a:seCell>
    <a:swCell>
      <a:tcTxStyle b="off" i="off"/>
    </a:swCell>
    <a:firstRow>
      <a:tcTxStyle b="on" i="off">
        <a:font>
          <a:latin typeface="Arial"/>
          <a:ea typeface="Arial"/>
          <a:cs typeface="Arial"/>
        </a:font>
        <a:srgbClr val="FFFFFF"/>
      </a:tcTxStyle>
      <a:tcStyle>
        <a:tcBdr>
          <a:bottom>
            <a:ln cap="flat" cmpd="sng" w="38100">
              <a:solidFill>
                <a:srgbClr val="FFFFFF"/>
              </a:solidFill>
              <a:prstDash val="solid"/>
              <a:round/>
              <a:headEnd len="sm" w="sm" type="none"/>
              <a:tailEnd len="sm" w="sm" type="none"/>
            </a:ln>
          </a:bottom>
        </a:tcBdr>
        <a:fill>
          <a:solidFill>
            <a:srgbClr val="D71B7F"/>
          </a:solidFill>
        </a:fill>
      </a:tcStyle>
    </a:firstRow>
    <a:neCell>
      <a:tcTxStyle b="off" i="off"/>
    </a:neCell>
    <a:nwCell>
      <a:tcTxStyle b="off" i="off"/>
    </a:nwCell>
  </a:tblStyle>
  <a:tblStyle styleId="{8E411067-61D8-4564-84A8-C3C864F6D0E8}" styleName="Table_2">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 styleId="{D3CB79B0-8641-4349-AAA0-2024F650DA97}" styleName="Table_3">
    <a:wholeTbl>
      <a:tcTxStyle b="off" i="off">
        <a:font>
          <a:latin typeface="Arial"/>
          <a:ea typeface="Arial"/>
          <a:cs typeface="Arial"/>
        </a:font>
        <a:srgbClr val="000000"/>
      </a:tcTxStyle>
      <a:tcStyle>
        <a:tcBdr>
          <a:left>
            <a:ln cap="flat" cmpd="sng" w="12700">
              <a:solidFill>
                <a:srgbClr val="000000"/>
              </a:solidFill>
              <a:prstDash val="solid"/>
              <a:round/>
              <a:headEnd len="sm" w="sm" type="none"/>
              <a:tailEnd len="sm" w="sm" type="none"/>
            </a:ln>
          </a:left>
          <a:right>
            <a:ln cap="flat" cmpd="sng" w="12700">
              <a:solidFill>
                <a:srgbClr val="000000"/>
              </a:solidFill>
              <a:prstDash val="solid"/>
              <a:round/>
              <a:headEnd len="sm" w="sm" type="none"/>
              <a:tailEnd len="sm" w="sm" type="none"/>
            </a:ln>
          </a:right>
          <a:top>
            <a:ln cap="flat" cmpd="sng" w="12700">
              <a:solidFill>
                <a:srgbClr val="000000"/>
              </a:solidFill>
              <a:prstDash val="solid"/>
              <a:round/>
              <a:headEnd len="sm" w="sm" type="none"/>
              <a:tailEnd len="sm" w="sm" type="none"/>
            </a:ln>
          </a:top>
          <a:bottom>
            <a:ln cap="flat" cmpd="sng" w="12700">
              <a:solidFill>
                <a:srgbClr val="000000"/>
              </a:solidFill>
              <a:prstDash val="solid"/>
              <a:round/>
              <a:headEnd len="sm" w="sm" type="none"/>
              <a:tailEnd len="sm" w="sm" type="none"/>
            </a:ln>
          </a:bottom>
          <a:insideH>
            <a:ln cap="flat" cmpd="sng" w="12700">
              <a:solidFill>
                <a:srgbClr val="000000"/>
              </a:solidFill>
              <a:prstDash val="solid"/>
              <a:round/>
              <a:headEnd len="sm" w="sm" type="none"/>
              <a:tailEnd len="sm" w="sm" type="none"/>
            </a:ln>
          </a:insideH>
          <a:insideV>
            <a:ln cap="flat" cmpd="sng" w="12700">
              <a:solidFill>
                <a:srgbClr val="000000"/>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slideMaster" Target="slideMasters/slideMaster3.xml"/><Relationship Id="rId8" Type="http://schemas.openxmlformats.org/officeDocument/2006/relationships/notesMaster" Target="notesMasters/notesMaster1.xml"/><Relationship Id="rId9" Type="http://schemas.openxmlformats.org/officeDocument/2006/relationships/slide" Target="slides/slide1.xml"/><Relationship Id="rId10" Type="http://schemas.openxmlformats.org/officeDocument/2006/relationships/slide" Target="slides/slide2.xml"/><Relationship Id="rId11" Type="http://schemas.openxmlformats.org/officeDocument/2006/relationships/slide" Target="slides/slide3.xml"/><Relationship Id="rId12" Type="http://schemas.openxmlformats.org/officeDocument/2006/relationships/slide" Target="slides/slide4.xml"/><Relationship Id="rId13" Type="http://schemas.openxmlformats.org/officeDocument/2006/relationships/slide" Target="slides/slide5.xml"/><Relationship Id="rId14" Type="http://schemas.openxmlformats.org/officeDocument/2006/relationships/slide" Target="slides/slide6.xml"/><Relationship Id="rId15" Type="http://schemas.openxmlformats.org/officeDocument/2006/relationships/slide" Target="slides/slide7.xml"/><Relationship Id="rId16" Type="http://schemas.openxmlformats.org/officeDocument/2006/relationships/slide" Target="slides/slide8.xml"/><Relationship Id="rId17" Type="http://schemas.openxmlformats.org/officeDocument/2006/relationships/slide" Target="slides/slide9.xml"/><Relationship Id="rId18" Type="http://schemas.openxmlformats.org/officeDocument/2006/relationships/slide" Target="slides/slide10.xml"/><Relationship Id="rId19" Type="http://schemas.openxmlformats.org/officeDocument/2006/relationships/slide" Target="slides/slide11.xml"/><Relationship Id="rId20" Type="http://schemas.openxmlformats.org/officeDocument/2006/relationships/slide" Target="slides/slide12.xml"/><Relationship Id="rId21" Type="http://schemas.openxmlformats.org/officeDocument/2006/relationships/slide" Target="slides/slide13.xml"/><Relationship Id="rId22" Type="http://schemas.openxmlformats.org/officeDocument/2006/relationships/slide" Target="slides/slide14.xml"/><Relationship Id="rId23" Type="http://schemas.openxmlformats.org/officeDocument/2006/relationships/slide" Target="slides/slide15.xml"/><Relationship Id="rId24" Type="http://schemas.openxmlformats.org/officeDocument/2006/relationships/slide" Target="slides/slide16.xml"/><Relationship Id="rId25" Type="http://schemas.openxmlformats.org/officeDocument/2006/relationships/slide" Target="slides/slide17.xml"/><Relationship Id="rId26" Type="http://schemas.openxmlformats.org/officeDocument/2006/relationships/slide" Target="slides/slide18.xml"/><Relationship Id="rId27" Type="http://schemas.openxmlformats.org/officeDocument/2006/relationships/slide" Target="slides/slide19.xml"/><Relationship Id="rId28" Type="http://schemas.openxmlformats.org/officeDocument/2006/relationships/slide" Target="slides/slide20.xml"/><Relationship Id="rId29" Type="http://schemas.openxmlformats.org/officeDocument/2006/relationships/slide" Target="slides/slide21.xml"/><Relationship Id="rId30" Type="http://schemas.openxmlformats.org/officeDocument/2006/relationships/slide" Target="slides/slide22.xml"/><Relationship Id="rId31" Type="http://schemas.openxmlformats.org/officeDocument/2006/relationships/slide" Target="slides/slide23.xml"/><Relationship Id="rId32" Type="http://schemas.openxmlformats.org/officeDocument/2006/relationships/slide" Target="slides/slide24.xml"/><Relationship Id="rId33" Type="http://schemas.openxmlformats.org/officeDocument/2006/relationships/slide" Target="slides/slide25.xml"/><Relationship Id="rId34" Type="http://schemas.openxmlformats.org/officeDocument/2006/relationships/slide" Target="slides/slide26.xml"/><Relationship Id="rId35" Type="http://schemas.openxmlformats.org/officeDocument/2006/relationships/slide" Target="slides/slide27.xml"/><Relationship Id="rId36" Type="http://schemas.openxmlformats.org/officeDocument/2006/relationships/slide" Target="slides/slide28.xml"/><Relationship Id="rId37" Type="http://schemas.openxmlformats.org/officeDocument/2006/relationships/font" Target="fonts/MontserratSemiBold-regular.fntdata"/><Relationship Id="rId38" Type="http://schemas.openxmlformats.org/officeDocument/2006/relationships/font" Target="fonts/MontserratSemiBold-bold.fntdata"/><Relationship Id="rId39" Type="http://schemas.openxmlformats.org/officeDocument/2006/relationships/font" Target="fonts/MontserratSemiBold-italic.fntdata"/><Relationship Id="rId40" Type="http://schemas.openxmlformats.org/officeDocument/2006/relationships/font" Target="fonts/MontserratSemiBold-boldItalic.fntdata"/><Relationship Id="rId41" Type="http://schemas.openxmlformats.org/officeDocument/2006/relationships/font" Target="fonts/Montserrat-regular.fntdata"/><Relationship Id="rId42" Type="http://schemas.openxmlformats.org/officeDocument/2006/relationships/font" Target="fonts/Montserrat-bold.fntdata"/><Relationship Id="rId43" Type="http://schemas.openxmlformats.org/officeDocument/2006/relationships/font" Target="fonts/Montserrat-italic.fntdata"/><Relationship Id="rId44" Type="http://schemas.openxmlformats.org/officeDocument/2006/relationships/font" Target="fonts/Montserrat-boldItalic.fntdata"/><Relationship Id="rId45" Type="http://schemas.openxmlformats.org/officeDocument/2006/relationships/font" Target="fonts/MontserratMedium-regular.fntdata"/><Relationship Id="rId46" Type="http://schemas.openxmlformats.org/officeDocument/2006/relationships/font" Target="fonts/MontserratMedium-bold.fntdata"/><Relationship Id="rId47" Type="http://schemas.openxmlformats.org/officeDocument/2006/relationships/font" Target="fonts/MontserratMedium-italic.fntdata"/><Relationship Id="rId48" Type="http://schemas.openxmlformats.org/officeDocument/2006/relationships/font" Target="fonts/MontserratMedium-boldItalic.fntdata"/><Relationship Id="rId49" Type="http://schemas.openxmlformats.org/officeDocument/2006/relationships/font" Target="fonts/Tahoma-regular.fntdata"/><Relationship Id="rId50" Type="http://schemas.openxmlformats.org/officeDocument/2006/relationships/font" Target="fonts/Tahoma-bold.fntdata"/><Relationship Id="rId51" Type="http://schemas.openxmlformats.org/officeDocument/2006/relationships/font" Target="fonts/MontserratLight-regular.fntdata"/><Relationship Id="rId52" Type="http://schemas.openxmlformats.org/officeDocument/2006/relationships/font" Target="fonts/MontserratLight-bold.fntdata"/><Relationship Id="rId53" Type="http://schemas.openxmlformats.org/officeDocument/2006/relationships/font" Target="fonts/MontserratLight-italic.fntdata"/><Relationship Id="rId54" Type="http://schemas.openxmlformats.org/officeDocument/2006/relationships/font" Target="fonts/MontserratLight-boldItalic.fntdata"/><Relationship Id="rId55" Type="http://schemas.openxmlformats.org/officeDocument/2006/relationships/font" Target="fonts/CenturyGothic-regular.fntdata"/><Relationship Id="rId56" Type="http://schemas.openxmlformats.org/officeDocument/2006/relationships/font" Target="fonts/CenturyGothic-bold.fntdata"/><Relationship Id="rId57" Type="http://schemas.openxmlformats.org/officeDocument/2006/relationships/font" Target="fonts/CenturyGothic-italic.fntdata"/><Relationship Id="rId58" Type="http://schemas.openxmlformats.org/officeDocument/2006/relationships/font" Target="fonts/CenturyGothic-boldItalic.fntdata"/><Relationship Id="rId59"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6" name="Google Shape;146;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n" sz="800">
                <a:solidFill>
                  <a:srgbClr val="666666"/>
                </a:solidFill>
                <a:latin typeface="Montserrat"/>
                <a:ea typeface="Montserrat"/>
                <a:cs typeface="Montserrat"/>
                <a:sym typeface="Montserrat"/>
              </a:rPr>
              <a:t>ChatBot Development - Sales &amp; After Sales ( Text to sequel problem)</a:t>
            </a:r>
            <a:endParaRPr sz="800">
              <a:latin typeface="Montserrat"/>
              <a:ea typeface="Montserrat"/>
              <a:cs typeface="Montserrat"/>
              <a:sym typeface="Montserrat"/>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7" name="Google Shape;167;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457200" rtl="0" algn="l">
              <a:lnSpc>
                <a:spcPct val="115000"/>
              </a:lnSpc>
              <a:spcBef>
                <a:spcPts val="0"/>
              </a:spcBef>
              <a:spcAft>
                <a:spcPts val="0"/>
              </a:spcAft>
              <a:buClr>
                <a:schemeClr val="dk1"/>
              </a:buClr>
              <a:buSzPts val="1100"/>
              <a:buFont typeface="Arial"/>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9" name="Google Shape;189;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8" name="Google Shape;198;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p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9" name="Google Shape;209;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p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9" name="Google Shape;219;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p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7" name="Google Shape;237;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p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6" name="Google Shape;246;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p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5" name="Google Shape;255;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p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4" name="Google Shape;264;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p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7" name="Google Shape;277;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p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9" name="Google Shape;299;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p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8" name="Google Shape;308;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p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38" name="Google Shape;338;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p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45" name="Google Shape;345;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p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55" name="Google Shape;355;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5" name="Shape 375"/>
        <p:cNvGrpSpPr/>
        <p:nvPr/>
      </p:nvGrpSpPr>
      <p:grpSpPr>
        <a:xfrm>
          <a:off x="0" y="0"/>
          <a:ext cx="0" cy="0"/>
          <a:chOff x="0" y="0"/>
          <a:chExt cx="0" cy="0"/>
        </a:xfrm>
      </p:grpSpPr>
      <p:sp>
        <p:nvSpPr>
          <p:cNvPr id="376" name="Google Shape;376;p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77" name="Google Shape;377;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3" name="Shape 453"/>
        <p:cNvGrpSpPr/>
        <p:nvPr/>
      </p:nvGrpSpPr>
      <p:grpSpPr>
        <a:xfrm>
          <a:off x="0" y="0"/>
          <a:ext cx="0" cy="0"/>
          <a:chOff x="0" y="0"/>
          <a:chExt cx="0" cy="0"/>
        </a:xfrm>
      </p:grpSpPr>
      <p:sp>
        <p:nvSpPr>
          <p:cNvPr id="454" name="Google Shape;454;p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55" name="Google Shape;455;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9" name="Shape 519"/>
        <p:cNvGrpSpPr/>
        <p:nvPr/>
      </p:nvGrpSpPr>
      <p:grpSpPr>
        <a:xfrm>
          <a:off x="0" y="0"/>
          <a:ext cx="0" cy="0"/>
          <a:chOff x="0" y="0"/>
          <a:chExt cx="0" cy="0"/>
        </a:xfrm>
      </p:grpSpPr>
      <p:sp>
        <p:nvSpPr>
          <p:cNvPr id="520" name="Google Shape;520;p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21" name="Google Shape;521;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2" name="Shape 542"/>
        <p:cNvGrpSpPr/>
        <p:nvPr/>
      </p:nvGrpSpPr>
      <p:grpSpPr>
        <a:xfrm>
          <a:off x="0" y="0"/>
          <a:ext cx="0" cy="0"/>
          <a:chOff x="0" y="0"/>
          <a:chExt cx="0" cy="0"/>
        </a:xfrm>
      </p:grpSpPr>
      <p:sp>
        <p:nvSpPr>
          <p:cNvPr id="543" name="Google Shape;543;p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44" name="Google Shape;544;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4" name="Shape 564"/>
        <p:cNvGrpSpPr/>
        <p:nvPr/>
      </p:nvGrpSpPr>
      <p:grpSpPr>
        <a:xfrm>
          <a:off x="0" y="0"/>
          <a:ext cx="0" cy="0"/>
          <a:chOff x="0" y="0"/>
          <a:chExt cx="0" cy="0"/>
        </a:xfrm>
      </p:grpSpPr>
      <p:sp>
        <p:nvSpPr>
          <p:cNvPr id="565" name="Google Shape;565;p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66" name="Google Shape;566;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6" name="Shape 576"/>
        <p:cNvGrpSpPr/>
        <p:nvPr/>
      </p:nvGrpSpPr>
      <p:grpSpPr>
        <a:xfrm>
          <a:off x="0" y="0"/>
          <a:ext cx="0" cy="0"/>
          <a:chOff x="0" y="0"/>
          <a:chExt cx="0" cy="0"/>
        </a:xfrm>
      </p:grpSpPr>
      <p:sp>
        <p:nvSpPr>
          <p:cNvPr id="577" name="Google Shape;577;p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78" name="Google Shape;578;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3" name="Shape 583"/>
        <p:cNvGrpSpPr/>
        <p:nvPr/>
      </p:nvGrpSpPr>
      <p:grpSpPr>
        <a:xfrm>
          <a:off x="0" y="0"/>
          <a:ext cx="0" cy="0"/>
          <a:chOff x="0" y="0"/>
          <a:chExt cx="0" cy="0"/>
        </a:xfrm>
      </p:grpSpPr>
      <p:sp>
        <p:nvSpPr>
          <p:cNvPr id="584" name="Google Shape;584;p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85" name="Google Shape;585;p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5" name="Shape 605"/>
        <p:cNvGrpSpPr/>
        <p:nvPr/>
      </p:nvGrpSpPr>
      <p:grpSpPr>
        <a:xfrm>
          <a:off x="0" y="0"/>
          <a:ext cx="0" cy="0"/>
          <a:chOff x="0" y="0"/>
          <a:chExt cx="0" cy="0"/>
        </a:xfrm>
      </p:grpSpPr>
      <p:sp>
        <p:nvSpPr>
          <p:cNvPr id="606" name="Google Shape;606;p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07" name="Google Shape;607;p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0" name="Shape 620"/>
        <p:cNvGrpSpPr/>
        <p:nvPr/>
      </p:nvGrpSpPr>
      <p:grpSpPr>
        <a:xfrm>
          <a:off x="0" y="0"/>
          <a:ext cx="0" cy="0"/>
          <a:chOff x="0" y="0"/>
          <a:chExt cx="0" cy="0"/>
        </a:xfrm>
      </p:grpSpPr>
      <p:sp>
        <p:nvSpPr>
          <p:cNvPr id="621" name="Google Shape;621;p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22" name="Google Shape;622;p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6" name="Shape 636"/>
        <p:cNvGrpSpPr/>
        <p:nvPr/>
      </p:nvGrpSpPr>
      <p:grpSpPr>
        <a:xfrm>
          <a:off x="0" y="0"/>
          <a:ext cx="0" cy="0"/>
          <a:chOff x="0" y="0"/>
          <a:chExt cx="0" cy="0"/>
        </a:xfrm>
      </p:grpSpPr>
      <p:sp>
        <p:nvSpPr>
          <p:cNvPr id="637" name="Google Shape;637;p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38" name="Google Shape;638;p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5" name="Shape 655"/>
        <p:cNvGrpSpPr/>
        <p:nvPr/>
      </p:nvGrpSpPr>
      <p:grpSpPr>
        <a:xfrm>
          <a:off x="0" y="0"/>
          <a:ext cx="0" cy="0"/>
          <a:chOff x="0" y="0"/>
          <a:chExt cx="0" cy="0"/>
        </a:xfrm>
      </p:grpSpPr>
      <p:sp>
        <p:nvSpPr>
          <p:cNvPr id="656" name="Google Shape;656;p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57" name="Google Shape;657;p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4" name="Shape 664"/>
        <p:cNvGrpSpPr/>
        <p:nvPr/>
      </p:nvGrpSpPr>
      <p:grpSpPr>
        <a:xfrm>
          <a:off x="0" y="0"/>
          <a:ext cx="0" cy="0"/>
          <a:chOff x="0" y="0"/>
          <a:chExt cx="0" cy="0"/>
        </a:xfrm>
      </p:grpSpPr>
      <p:sp>
        <p:nvSpPr>
          <p:cNvPr id="665" name="Google Shape;665;p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66" name="Google Shape;666;p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7.png"/><Relationship Id="rId3"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 Id="rId3"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13.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3.png"/><Relationship Id="rId3"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2.png"/><Relationship Id="rId3" Type="http://schemas.openxmlformats.org/officeDocument/2006/relationships/image" Target="../media/image13.png"/><Relationship Id="rId4"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6.png"/><Relationship Id="rId3" Type="http://schemas.openxmlformats.org/officeDocument/2006/relationships/image" Target="../media/image10.png"/><Relationship Id="rId4" Type="http://schemas.openxmlformats.org/officeDocument/2006/relationships/image" Target="../media/image4.png"/><Relationship Id="rId5" Type="http://schemas.openxmlformats.org/officeDocument/2006/relationships/image" Target="../media/image2.png"/><Relationship Id="rId6" Type="http://schemas.openxmlformats.org/officeDocument/2006/relationships/image" Target="../media/image8.png"/><Relationship Id="rId7" Type="http://schemas.openxmlformats.org/officeDocument/2006/relationships/image" Target="../media/image11.png"/><Relationship Id="rId8" Type="http://schemas.openxmlformats.org/officeDocument/2006/relationships/image" Target="../media/image7.png"/><Relationship Id="rId9" Type="http://schemas.openxmlformats.org/officeDocument/2006/relationships/image" Target="../media/image9.png"/><Relationship Id="rId10" Type="http://schemas.openxmlformats.org/officeDocument/2006/relationships/image" Target="../media/image12.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 Id="rId3" Type="http://schemas.openxmlformats.org/officeDocument/2006/relationships/image" Target="../media/image13.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6.png"/><Relationship Id="rId3" Type="http://schemas.openxmlformats.org/officeDocument/2006/relationships/image" Target="../media/image10.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3.png"/><Relationship Id="rId3" Type="http://schemas.openxmlformats.org/officeDocument/2006/relationships/image" Target="../media/image3.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3.png"/><Relationship Id="rId3" Type="http://schemas.openxmlformats.org/officeDocument/2006/relationships/image" Target="../media/image3.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3.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2.png"/><Relationship Id="rId3" Type="http://schemas.openxmlformats.org/officeDocument/2006/relationships/image" Target="../media/image13.png"/><Relationship Id="rId4" Type="http://schemas.openxmlformats.org/officeDocument/2006/relationships/image" Target="../media/image3.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2">
  <p:cSld name="TITLE_2">
    <p:spTree>
      <p:nvGrpSpPr>
        <p:cNvPr id="8" name="Shape 8"/>
        <p:cNvGrpSpPr/>
        <p:nvPr/>
      </p:nvGrpSpPr>
      <p:grpSpPr>
        <a:xfrm>
          <a:off x="0" y="0"/>
          <a:ext cx="0" cy="0"/>
          <a:chOff x="0" y="0"/>
          <a:chExt cx="0" cy="0"/>
        </a:xfrm>
      </p:grpSpPr>
      <p:pic>
        <p:nvPicPr>
          <p:cNvPr id="9" name="Google Shape;9;p30"/>
          <p:cNvPicPr preferRelativeResize="0"/>
          <p:nvPr/>
        </p:nvPicPr>
        <p:blipFill rotWithShape="1">
          <a:blip r:embed="rId2">
            <a:alphaModFix/>
          </a:blip>
          <a:srcRect b="0" l="0" r="0" t="0"/>
          <a:stretch/>
        </p:blipFill>
        <p:spPr>
          <a:xfrm>
            <a:off x="7465" y="0"/>
            <a:ext cx="9144008" cy="5143501"/>
          </a:xfrm>
          <a:prstGeom prst="rect">
            <a:avLst/>
          </a:prstGeom>
          <a:noFill/>
          <a:ln>
            <a:noFill/>
          </a:ln>
        </p:spPr>
      </p:pic>
      <p:sp>
        <p:nvSpPr>
          <p:cNvPr id="10" name="Google Shape;10;p30"/>
          <p:cNvSpPr txBox="1"/>
          <p:nvPr>
            <p:ph idx="12" type="sldNum"/>
          </p:nvPr>
        </p:nvSpPr>
        <p:spPr>
          <a:xfrm>
            <a:off x="8472458" y="4663217"/>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pic>
        <p:nvPicPr>
          <p:cNvPr id="11" name="Google Shape;11;p30"/>
          <p:cNvPicPr preferRelativeResize="0"/>
          <p:nvPr/>
        </p:nvPicPr>
        <p:blipFill rotWithShape="1">
          <a:blip r:embed="rId3">
            <a:alphaModFix/>
          </a:blip>
          <a:srcRect b="0" l="0" r="0" t="0"/>
          <a:stretch/>
        </p:blipFill>
        <p:spPr>
          <a:xfrm>
            <a:off x="-10" y="5071684"/>
            <a:ext cx="9151473" cy="80441"/>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Just Logo without Title 1">
  <p:cSld name="TITLE_AND_TWO_COLUMNS_2_1">
    <p:spTree>
      <p:nvGrpSpPr>
        <p:cNvPr id="12" name="Shape 12"/>
        <p:cNvGrpSpPr/>
        <p:nvPr/>
      </p:nvGrpSpPr>
      <p:grpSpPr>
        <a:xfrm>
          <a:off x="0" y="0"/>
          <a:ext cx="0" cy="0"/>
          <a:chOff x="0" y="0"/>
          <a:chExt cx="0" cy="0"/>
        </a:xfrm>
      </p:grpSpPr>
      <p:sp>
        <p:nvSpPr>
          <p:cNvPr id="13" name="Google Shape;13;p31"/>
          <p:cNvSpPr/>
          <p:nvPr/>
        </p:nvSpPr>
        <p:spPr>
          <a:xfrm>
            <a:off x="0" y="144000"/>
            <a:ext cx="47400" cy="3573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 name="Google Shape;14;p31"/>
          <p:cNvSpPr txBox="1"/>
          <p:nvPr>
            <p:ph type="title"/>
          </p:nvPr>
        </p:nvSpPr>
        <p:spPr>
          <a:xfrm>
            <a:off x="104500" y="141850"/>
            <a:ext cx="6703800" cy="357300"/>
          </a:xfrm>
          <a:prstGeom prst="rect">
            <a:avLst/>
          </a:prstGeom>
          <a:noFill/>
          <a:ln>
            <a:noFill/>
          </a:ln>
        </p:spPr>
        <p:txBody>
          <a:bodyPr anchorCtr="0" anchor="ctr" bIns="91425" lIns="91425" spcFirstLastPara="1" rIns="91425" wrap="square" tIns="91425">
            <a:noAutofit/>
          </a:bodyPr>
          <a:lstStyle>
            <a:lvl1pPr lvl="0" marR="0" rtl="0" algn="l">
              <a:lnSpc>
                <a:spcPct val="100000"/>
              </a:lnSpc>
              <a:spcBef>
                <a:spcPts val="0"/>
              </a:spcBef>
              <a:spcAft>
                <a:spcPts val="0"/>
              </a:spcAft>
              <a:buClr>
                <a:srgbClr val="000000"/>
              </a:buClr>
              <a:buSzPts val="2000"/>
              <a:buFont typeface="Montserrat"/>
              <a:buNone/>
              <a:defRPr b="1" i="0" sz="2000" u="none" cap="none" strike="noStrike">
                <a:solidFill>
                  <a:srgbClr val="000000"/>
                </a:solidFill>
                <a:latin typeface="Montserrat"/>
                <a:ea typeface="Montserrat"/>
                <a:cs typeface="Montserrat"/>
                <a:sym typeface="Montserrat"/>
              </a:defRPr>
            </a:lvl1pPr>
            <a:lvl2pPr lvl="1"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2pPr>
            <a:lvl3pPr lvl="2"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3pPr>
            <a:lvl4pPr lvl="3"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4pPr>
            <a:lvl5pPr lvl="4"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5pPr>
            <a:lvl6pPr lvl="5"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6pPr>
            <a:lvl7pPr lvl="6"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7pPr>
            <a:lvl8pPr lvl="7"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8pPr>
            <a:lvl9pPr lvl="8"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9pPr>
          </a:lstStyle>
          <a:p/>
        </p:txBody>
      </p:sp>
      <p:sp>
        <p:nvSpPr>
          <p:cNvPr id="15" name="Google Shape;15;p31"/>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Montserrat"/>
                <a:ea typeface="Montserrat"/>
                <a:cs typeface="Montserrat"/>
                <a:sym typeface="Montserrat"/>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Montserrat"/>
                <a:ea typeface="Montserrat"/>
                <a:cs typeface="Montserrat"/>
                <a:sym typeface="Montserrat"/>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Montserrat"/>
                <a:ea typeface="Montserrat"/>
                <a:cs typeface="Montserrat"/>
                <a:sym typeface="Montserrat"/>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Montserrat"/>
                <a:ea typeface="Montserrat"/>
                <a:cs typeface="Montserrat"/>
                <a:sym typeface="Montserrat"/>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Montserrat"/>
                <a:ea typeface="Montserrat"/>
                <a:cs typeface="Montserrat"/>
                <a:sym typeface="Montserrat"/>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Montserrat"/>
                <a:ea typeface="Montserrat"/>
                <a:cs typeface="Montserrat"/>
                <a:sym typeface="Montserrat"/>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Montserrat"/>
                <a:ea typeface="Montserrat"/>
                <a:cs typeface="Montserrat"/>
                <a:sym typeface="Montserrat"/>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Montserrat"/>
                <a:ea typeface="Montserrat"/>
                <a:cs typeface="Montserrat"/>
                <a:sym typeface="Montserrat"/>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Montserrat"/>
                <a:ea typeface="Montserrat"/>
                <a:cs typeface="Montserrat"/>
                <a:sym typeface="Montserrat"/>
              </a:defRPr>
            </a:lvl9pPr>
          </a:lstStyle>
          <a:p>
            <a:pPr indent="0" lvl="0" marL="0" rtl="0" algn="r">
              <a:spcBef>
                <a:spcPts val="0"/>
              </a:spcBef>
              <a:spcAft>
                <a:spcPts val="0"/>
              </a:spcAft>
              <a:buNone/>
            </a:pPr>
            <a:fld id="{00000000-1234-1234-1234-123412341234}" type="slidenum">
              <a:rPr lang="en"/>
              <a:t>‹#›</a:t>
            </a:fld>
            <a:endParaRPr/>
          </a:p>
        </p:txBody>
      </p:sp>
      <p:pic>
        <p:nvPicPr>
          <p:cNvPr descr="TTN Logo.png" id="16" name="Google Shape;16;p31"/>
          <p:cNvPicPr preferRelativeResize="0"/>
          <p:nvPr/>
        </p:nvPicPr>
        <p:blipFill rotWithShape="1">
          <a:blip r:embed="rId2">
            <a:alphaModFix/>
          </a:blip>
          <a:srcRect b="0" l="0" r="0" t="0"/>
          <a:stretch/>
        </p:blipFill>
        <p:spPr>
          <a:xfrm>
            <a:off x="8414781" y="117828"/>
            <a:ext cx="625544" cy="349439"/>
          </a:xfrm>
          <a:prstGeom prst="rect">
            <a:avLst/>
          </a:prstGeom>
          <a:noFill/>
          <a:ln>
            <a:noFill/>
          </a:ln>
        </p:spPr>
      </p:pic>
      <p:cxnSp>
        <p:nvCxnSpPr>
          <p:cNvPr id="17" name="Google Shape;17;p31"/>
          <p:cNvCxnSpPr/>
          <p:nvPr/>
        </p:nvCxnSpPr>
        <p:spPr>
          <a:xfrm>
            <a:off x="8286793" y="153689"/>
            <a:ext cx="0" cy="324300"/>
          </a:xfrm>
          <a:prstGeom prst="straightConnector1">
            <a:avLst/>
          </a:prstGeom>
          <a:noFill/>
          <a:ln cap="flat" cmpd="sng" w="9525">
            <a:solidFill>
              <a:srgbClr val="595959"/>
            </a:solidFill>
            <a:prstDash val="solid"/>
            <a:round/>
            <a:headEnd len="sm" w="sm" type="none"/>
            <a:tailEnd len="sm" w="sm" type="none"/>
          </a:ln>
        </p:spPr>
      </p:cxn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1">
  <p:cSld name="TITLE_1">
    <p:spTree>
      <p:nvGrpSpPr>
        <p:cNvPr id="19" name="Shape 19"/>
        <p:cNvGrpSpPr/>
        <p:nvPr/>
      </p:nvGrpSpPr>
      <p:grpSpPr>
        <a:xfrm>
          <a:off x="0" y="0"/>
          <a:ext cx="0" cy="0"/>
          <a:chOff x="0" y="0"/>
          <a:chExt cx="0" cy="0"/>
        </a:xfrm>
      </p:grpSpPr>
      <p:pic>
        <p:nvPicPr>
          <p:cNvPr id="20" name="Google Shape;20;p36"/>
          <p:cNvPicPr preferRelativeResize="0"/>
          <p:nvPr/>
        </p:nvPicPr>
        <p:blipFill rotWithShape="1">
          <a:blip r:embed="rId2">
            <a:alphaModFix/>
          </a:blip>
          <a:srcRect b="0" l="0" r="0" t="0"/>
          <a:stretch/>
        </p:blipFill>
        <p:spPr>
          <a:xfrm>
            <a:off x="7465" y="0"/>
            <a:ext cx="9144008" cy="5143501"/>
          </a:xfrm>
          <a:prstGeom prst="rect">
            <a:avLst/>
          </a:prstGeom>
          <a:noFill/>
          <a:ln>
            <a:noFill/>
          </a:ln>
        </p:spPr>
      </p:pic>
      <p:sp>
        <p:nvSpPr>
          <p:cNvPr id="21" name="Google Shape;21;p36"/>
          <p:cNvSpPr txBox="1"/>
          <p:nvPr>
            <p:ph idx="12" type="sldNum"/>
          </p:nvPr>
        </p:nvSpPr>
        <p:spPr>
          <a:xfrm>
            <a:off x="8472458" y="4663217"/>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pic>
        <p:nvPicPr>
          <p:cNvPr id="22" name="Google Shape;22;p36"/>
          <p:cNvPicPr preferRelativeResize="0"/>
          <p:nvPr/>
        </p:nvPicPr>
        <p:blipFill rotWithShape="1">
          <a:blip r:embed="rId3">
            <a:alphaModFix/>
          </a:blip>
          <a:srcRect b="0" l="0" r="0" t="0"/>
          <a:stretch/>
        </p:blipFill>
        <p:spPr>
          <a:xfrm>
            <a:off x="-10" y="5071684"/>
            <a:ext cx="9151473" cy="80441"/>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parator Slide">
  <p:cSld name="CUSTOM_6_1_1_1_1_1_1_1_2_1_2_1_1_1">
    <p:bg>
      <p:bgPr>
        <a:noFill/>
      </p:bgPr>
    </p:bg>
    <p:spTree>
      <p:nvGrpSpPr>
        <p:cNvPr id="23" name="Shape 23"/>
        <p:cNvGrpSpPr/>
        <p:nvPr/>
      </p:nvGrpSpPr>
      <p:grpSpPr>
        <a:xfrm>
          <a:off x="0" y="0"/>
          <a:ext cx="0" cy="0"/>
          <a:chOff x="0" y="0"/>
          <a:chExt cx="0" cy="0"/>
        </a:xfrm>
      </p:grpSpPr>
      <p:pic>
        <p:nvPicPr>
          <p:cNvPr id="24" name="Google Shape;24;p44"/>
          <p:cNvPicPr preferRelativeResize="0"/>
          <p:nvPr/>
        </p:nvPicPr>
        <p:blipFill rotWithShape="1">
          <a:blip r:embed="rId2">
            <a:alphaModFix/>
          </a:blip>
          <a:srcRect b="0" l="-10120" r="10120" t="0"/>
          <a:stretch/>
        </p:blipFill>
        <p:spPr>
          <a:xfrm>
            <a:off x="0" y="-7476"/>
            <a:ext cx="9143956" cy="5143501"/>
          </a:xfrm>
          <a:prstGeom prst="rect">
            <a:avLst/>
          </a:prstGeom>
          <a:noFill/>
          <a:ln>
            <a:noFill/>
          </a:ln>
        </p:spPr>
      </p:pic>
      <p:pic>
        <p:nvPicPr>
          <p:cNvPr descr="TTN Logo.png" id="25" name="Google Shape;25;p44"/>
          <p:cNvPicPr preferRelativeResize="0"/>
          <p:nvPr/>
        </p:nvPicPr>
        <p:blipFill rotWithShape="1">
          <a:blip r:embed="rId3">
            <a:alphaModFix/>
          </a:blip>
          <a:srcRect b="0" l="0" r="0" t="0"/>
          <a:stretch/>
        </p:blipFill>
        <p:spPr>
          <a:xfrm>
            <a:off x="8295649" y="178006"/>
            <a:ext cx="648924" cy="362494"/>
          </a:xfrm>
          <a:prstGeom prst="rect">
            <a:avLst/>
          </a:prstGeom>
          <a:noFill/>
          <a:ln>
            <a:noFill/>
          </a:ln>
        </p:spPr>
      </p:pic>
      <p:sp>
        <p:nvSpPr>
          <p:cNvPr id="26" name="Google Shape;26;p44"/>
          <p:cNvSpPr/>
          <p:nvPr/>
        </p:nvSpPr>
        <p:spPr>
          <a:xfrm>
            <a:off x="3929500" y="2179825"/>
            <a:ext cx="559800" cy="5598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Just Logo without Title">
  <p:cSld name="TITLE_AND_TWO_COLUMNS_2">
    <p:spTree>
      <p:nvGrpSpPr>
        <p:cNvPr id="31" name="Shape 31"/>
        <p:cNvGrpSpPr/>
        <p:nvPr/>
      </p:nvGrpSpPr>
      <p:grpSpPr>
        <a:xfrm>
          <a:off x="0" y="0"/>
          <a:ext cx="0" cy="0"/>
          <a:chOff x="0" y="0"/>
          <a:chExt cx="0" cy="0"/>
        </a:xfrm>
      </p:grpSpPr>
      <p:sp>
        <p:nvSpPr>
          <p:cNvPr id="32" name="Google Shape;32;p33"/>
          <p:cNvSpPr/>
          <p:nvPr/>
        </p:nvSpPr>
        <p:spPr>
          <a:xfrm>
            <a:off x="0" y="144000"/>
            <a:ext cx="47400" cy="3573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 name="Google Shape;33;p33"/>
          <p:cNvSpPr txBox="1"/>
          <p:nvPr>
            <p:ph type="title"/>
          </p:nvPr>
        </p:nvSpPr>
        <p:spPr>
          <a:xfrm>
            <a:off x="104500" y="141850"/>
            <a:ext cx="6703800" cy="357300"/>
          </a:xfrm>
          <a:prstGeom prst="rect">
            <a:avLst/>
          </a:prstGeom>
          <a:noFill/>
          <a:ln>
            <a:noFill/>
          </a:ln>
        </p:spPr>
        <p:txBody>
          <a:bodyPr anchorCtr="0" anchor="ctr" bIns="91425" lIns="91425" spcFirstLastPara="1" rIns="91425" wrap="square" tIns="91425">
            <a:noAutofit/>
          </a:bodyPr>
          <a:lstStyle>
            <a:lvl1pPr lvl="0" marR="0" rtl="0" algn="l">
              <a:lnSpc>
                <a:spcPct val="100000"/>
              </a:lnSpc>
              <a:spcBef>
                <a:spcPts val="0"/>
              </a:spcBef>
              <a:spcAft>
                <a:spcPts val="0"/>
              </a:spcAft>
              <a:buClr>
                <a:srgbClr val="000000"/>
              </a:buClr>
              <a:buSzPts val="2000"/>
              <a:buFont typeface="Montserrat"/>
              <a:buNone/>
              <a:defRPr b="1" i="0" sz="2000" u="none" cap="none" strike="noStrike">
                <a:solidFill>
                  <a:srgbClr val="000000"/>
                </a:solidFill>
                <a:latin typeface="Montserrat"/>
                <a:ea typeface="Montserrat"/>
                <a:cs typeface="Montserrat"/>
                <a:sym typeface="Montserrat"/>
              </a:defRPr>
            </a:lvl1pPr>
            <a:lvl2pPr lvl="1"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2pPr>
            <a:lvl3pPr lvl="2"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3pPr>
            <a:lvl4pPr lvl="3"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4pPr>
            <a:lvl5pPr lvl="4"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5pPr>
            <a:lvl6pPr lvl="5"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6pPr>
            <a:lvl7pPr lvl="6"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7pPr>
            <a:lvl8pPr lvl="7"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8pPr>
            <a:lvl9pPr lvl="8"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9pPr>
          </a:lstStyle>
          <a:p/>
        </p:txBody>
      </p:sp>
      <p:pic>
        <p:nvPicPr>
          <p:cNvPr descr="TTN Logo.png" id="34" name="Google Shape;34;p33"/>
          <p:cNvPicPr preferRelativeResize="0"/>
          <p:nvPr/>
        </p:nvPicPr>
        <p:blipFill rotWithShape="1">
          <a:blip r:embed="rId2">
            <a:alphaModFix/>
          </a:blip>
          <a:srcRect b="0" l="0" r="0" t="0"/>
          <a:stretch/>
        </p:blipFill>
        <p:spPr>
          <a:xfrm>
            <a:off x="8414781" y="117828"/>
            <a:ext cx="625544" cy="349439"/>
          </a:xfrm>
          <a:prstGeom prst="rect">
            <a:avLst/>
          </a:prstGeom>
          <a:noFill/>
          <a:ln>
            <a:noFill/>
          </a:ln>
        </p:spPr>
      </p:pic>
      <p:cxnSp>
        <p:nvCxnSpPr>
          <p:cNvPr id="35" name="Google Shape;35;p33"/>
          <p:cNvCxnSpPr/>
          <p:nvPr/>
        </p:nvCxnSpPr>
        <p:spPr>
          <a:xfrm>
            <a:off x="8286793" y="153689"/>
            <a:ext cx="0" cy="324300"/>
          </a:xfrm>
          <a:prstGeom prst="straightConnector1">
            <a:avLst/>
          </a:prstGeom>
          <a:noFill/>
          <a:ln cap="flat" cmpd="sng" w="9525">
            <a:solidFill>
              <a:srgbClr val="595959"/>
            </a:solidFill>
            <a:prstDash val="solid"/>
            <a:round/>
            <a:headEnd len="sm" w="sm" type="none"/>
            <a:tailEnd len="sm" w="sm" type="none"/>
          </a:ln>
        </p:spPr>
      </p:cxnSp>
      <p:sp>
        <p:nvSpPr>
          <p:cNvPr id="37" name="Google Shape;37;p33"/>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Montserrat"/>
                <a:ea typeface="Montserrat"/>
                <a:cs typeface="Montserrat"/>
                <a:sym typeface="Montserrat"/>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Montserrat"/>
                <a:ea typeface="Montserrat"/>
                <a:cs typeface="Montserrat"/>
                <a:sym typeface="Montserrat"/>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Montserrat"/>
                <a:ea typeface="Montserrat"/>
                <a:cs typeface="Montserrat"/>
                <a:sym typeface="Montserrat"/>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Montserrat"/>
                <a:ea typeface="Montserrat"/>
                <a:cs typeface="Montserrat"/>
                <a:sym typeface="Montserrat"/>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Montserrat"/>
                <a:ea typeface="Montserrat"/>
                <a:cs typeface="Montserrat"/>
                <a:sym typeface="Montserrat"/>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Montserrat"/>
                <a:ea typeface="Montserrat"/>
                <a:cs typeface="Montserrat"/>
                <a:sym typeface="Montserrat"/>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Montserrat"/>
                <a:ea typeface="Montserrat"/>
                <a:cs typeface="Montserrat"/>
                <a:sym typeface="Montserrat"/>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Montserrat"/>
                <a:ea typeface="Montserrat"/>
                <a:cs typeface="Montserrat"/>
                <a:sym typeface="Montserrat"/>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Montserrat"/>
                <a:ea typeface="Montserrat"/>
                <a:cs typeface="Montserrat"/>
                <a:sym typeface="Montserrat"/>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Just Logo without Title 1">
  <p:cSld name="TITLE_AND_TWO_COLUMNS_2_1">
    <p:spTree>
      <p:nvGrpSpPr>
        <p:cNvPr id="38" name="Shape 38"/>
        <p:cNvGrpSpPr/>
        <p:nvPr/>
      </p:nvGrpSpPr>
      <p:grpSpPr>
        <a:xfrm>
          <a:off x="0" y="0"/>
          <a:ext cx="0" cy="0"/>
          <a:chOff x="0" y="0"/>
          <a:chExt cx="0" cy="0"/>
        </a:xfrm>
      </p:grpSpPr>
      <p:pic>
        <p:nvPicPr>
          <p:cNvPr id="39" name="Google Shape;39;p34"/>
          <p:cNvPicPr preferRelativeResize="0"/>
          <p:nvPr/>
        </p:nvPicPr>
        <p:blipFill rotWithShape="1">
          <a:blip r:embed="rId2">
            <a:alphaModFix/>
          </a:blip>
          <a:srcRect b="0" l="0" r="0" t="0"/>
          <a:stretch/>
        </p:blipFill>
        <p:spPr>
          <a:xfrm rot="10800000">
            <a:off x="-12" y="0"/>
            <a:ext cx="3890275" cy="5143501"/>
          </a:xfrm>
          <a:prstGeom prst="rect">
            <a:avLst/>
          </a:prstGeom>
          <a:noFill/>
          <a:ln>
            <a:noFill/>
          </a:ln>
        </p:spPr>
      </p:pic>
      <p:sp>
        <p:nvSpPr>
          <p:cNvPr id="40" name="Google Shape;40;p34"/>
          <p:cNvSpPr/>
          <p:nvPr/>
        </p:nvSpPr>
        <p:spPr>
          <a:xfrm>
            <a:off x="0" y="144000"/>
            <a:ext cx="47400" cy="3573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 name="Google Shape;41;p34"/>
          <p:cNvSpPr txBox="1"/>
          <p:nvPr>
            <p:ph type="title"/>
          </p:nvPr>
        </p:nvSpPr>
        <p:spPr>
          <a:xfrm>
            <a:off x="104500" y="141850"/>
            <a:ext cx="6703800" cy="357300"/>
          </a:xfrm>
          <a:prstGeom prst="rect">
            <a:avLst/>
          </a:prstGeom>
          <a:noFill/>
          <a:ln>
            <a:noFill/>
          </a:ln>
        </p:spPr>
        <p:txBody>
          <a:bodyPr anchorCtr="0" anchor="ctr" bIns="91425" lIns="91425" spcFirstLastPara="1" rIns="91425" wrap="square" tIns="91425">
            <a:noAutofit/>
          </a:bodyPr>
          <a:lstStyle>
            <a:lvl1pPr lvl="0" marR="0" rtl="0" algn="l">
              <a:lnSpc>
                <a:spcPct val="100000"/>
              </a:lnSpc>
              <a:spcBef>
                <a:spcPts val="0"/>
              </a:spcBef>
              <a:spcAft>
                <a:spcPts val="0"/>
              </a:spcAft>
              <a:buClr>
                <a:srgbClr val="000000"/>
              </a:buClr>
              <a:buSzPts val="2000"/>
              <a:buFont typeface="Montserrat"/>
              <a:buNone/>
              <a:defRPr b="1" i="0" sz="2000" u="none" cap="none" strike="noStrike">
                <a:solidFill>
                  <a:srgbClr val="000000"/>
                </a:solidFill>
                <a:latin typeface="Montserrat"/>
                <a:ea typeface="Montserrat"/>
                <a:cs typeface="Montserrat"/>
                <a:sym typeface="Montserrat"/>
              </a:defRPr>
            </a:lvl1pPr>
            <a:lvl2pPr lvl="1"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2pPr>
            <a:lvl3pPr lvl="2"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3pPr>
            <a:lvl4pPr lvl="3"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4pPr>
            <a:lvl5pPr lvl="4"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5pPr>
            <a:lvl6pPr lvl="5"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6pPr>
            <a:lvl7pPr lvl="6"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7pPr>
            <a:lvl8pPr lvl="7"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8pPr>
            <a:lvl9pPr lvl="8"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9pPr>
          </a:lstStyle>
          <a:p/>
        </p:txBody>
      </p:sp>
      <p:pic>
        <p:nvPicPr>
          <p:cNvPr descr="TTN Logo.png" id="42" name="Google Shape;42;p34"/>
          <p:cNvPicPr preferRelativeResize="0"/>
          <p:nvPr/>
        </p:nvPicPr>
        <p:blipFill rotWithShape="1">
          <a:blip r:embed="rId3">
            <a:alphaModFix/>
          </a:blip>
          <a:srcRect b="0" l="0" r="0" t="0"/>
          <a:stretch/>
        </p:blipFill>
        <p:spPr>
          <a:xfrm>
            <a:off x="8414781" y="117828"/>
            <a:ext cx="625544" cy="349439"/>
          </a:xfrm>
          <a:prstGeom prst="rect">
            <a:avLst/>
          </a:prstGeom>
          <a:noFill/>
          <a:ln>
            <a:noFill/>
          </a:ln>
        </p:spPr>
      </p:pic>
      <p:cxnSp>
        <p:nvCxnSpPr>
          <p:cNvPr id="43" name="Google Shape;43;p34"/>
          <p:cNvCxnSpPr/>
          <p:nvPr/>
        </p:nvCxnSpPr>
        <p:spPr>
          <a:xfrm>
            <a:off x="8286793" y="153689"/>
            <a:ext cx="0" cy="324300"/>
          </a:xfrm>
          <a:prstGeom prst="straightConnector1">
            <a:avLst/>
          </a:prstGeom>
          <a:noFill/>
          <a:ln cap="flat" cmpd="sng" w="9525">
            <a:solidFill>
              <a:srgbClr val="595959"/>
            </a:solidFill>
            <a:prstDash val="solid"/>
            <a:round/>
            <a:headEnd len="sm" w="sm" type="none"/>
            <a:tailEnd len="sm" w="sm" type="none"/>
          </a:ln>
        </p:spPr>
      </p:cxn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5">
  <p:cSld name="TITLE_5">
    <p:spTree>
      <p:nvGrpSpPr>
        <p:cNvPr id="45" name="Shape 45"/>
        <p:cNvGrpSpPr/>
        <p:nvPr/>
      </p:nvGrpSpPr>
      <p:grpSpPr>
        <a:xfrm>
          <a:off x="0" y="0"/>
          <a:ext cx="0" cy="0"/>
          <a:chOff x="0" y="0"/>
          <a:chExt cx="0" cy="0"/>
        </a:xfrm>
      </p:grpSpPr>
      <p:sp>
        <p:nvSpPr>
          <p:cNvPr id="46" name="Google Shape;46;p35"/>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Autofit/>
          </a:bodyPr>
          <a:lstStyle>
            <a:lvl1pPr lvl="0" marR="0" rtl="0" algn="ctr">
              <a:lnSpc>
                <a:spcPct val="100000"/>
              </a:lnSpc>
              <a:spcBef>
                <a:spcPts val="0"/>
              </a:spcBef>
              <a:spcAft>
                <a:spcPts val="0"/>
              </a:spcAft>
              <a:buClr>
                <a:srgbClr val="000000"/>
              </a:buClr>
              <a:buSzPts val="5200"/>
              <a:buFont typeface="Arial"/>
              <a:buChar char="●"/>
              <a:defRPr b="0" i="0" sz="5200" u="none" cap="none" strike="noStrike">
                <a:solidFill>
                  <a:srgbClr val="000000"/>
                </a:solidFill>
                <a:latin typeface="Arial"/>
                <a:ea typeface="Arial"/>
                <a:cs typeface="Arial"/>
                <a:sym typeface="Arial"/>
              </a:defRPr>
            </a:lvl1pPr>
            <a:lvl2pPr lvl="1" marR="0" rtl="0" algn="ctr">
              <a:lnSpc>
                <a:spcPct val="100000"/>
              </a:lnSpc>
              <a:spcBef>
                <a:spcPts val="0"/>
              </a:spcBef>
              <a:spcAft>
                <a:spcPts val="0"/>
              </a:spcAft>
              <a:buClr>
                <a:srgbClr val="000000"/>
              </a:buClr>
              <a:buSzPts val="5200"/>
              <a:buFont typeface="Arial"/>
              <a:buChar char="○"/>
              <a:defRPr b="0" i="0" sz="5200" u="none" cap="none" strike="noStrike">
                <a:solidFill>
                  <a:srgbClr val="000000"/>
                </a:solidFill>
                <a:latin typeface="Arial"/>
                <a:ea typeface="Arial"/>
                <a:cs typeface="Arial"/>
                <a:sym typeface="Arial"/>
              </a:defRPr>
            </a:lvl2pPr>
            <a:lvl3pPr lvl="2" marR="0" rtl="0" algn="ctr">
              <a:lnSpc>
                <a:spcPct val="100000"/>
              </a:lnSpc>
              <a:spcBef>
                <a:spcPts val="0"/>
              </a:spcBef>
              <a:spcAft>
                <a:spcPts val="0"/>
              </a:spcAft>
              <a:buClr>
                <a:srgbClr val="000000"/>
              </a:buClr>
              <a:buSzPts val="5200"/>
              <a:buFont typeface="Arial"/>
              <a:buChar char="■"/>
              <a:defRPr b="0" i="0" sz="5200" u="none" cap="none" strike="noStrike">
                <a:solidFill>
                  <a:srgbClr val="000000"/>
                </a:solidFill>
                <a:latin typeface="Arial"/>
                <a:ea typeface="Arial"/>
                <a:cs typeface="Arial"/>
                <a:sym typeface="Arial"/>
              </a:defRPr>
            </a:lvl3pPr>
            <a:lvl4pPr lvl="3" marR="0" rtl="0" algn="ctr">
              <a:lnSpc>
                <a:spcPct val="100000"/>
              </a:lnSpc>
              <a:spcBef>
                <a:spcPts val="0"/>
              </a:spcBef>
              <a:spcAft>
                <a:spcPts val="0"/>
              </a:spcAft>
              <a:buClr>
                <a:srgbClr val="000000"/>
              </a:buClr>
              <a:buSzPts val="5200"/>
              <a:buFont typeface="Arial"/>
              <a:buChar char="●"/>
              <a:defRPr b="0" i="0" sz="5200" u="none" cap="none" strike="noStrike">
                <a:solidFill>
                  <a:srgbClr val="000000"/>
                </a:solidFill>
                <a:latin typeface="Arial"/>
                <a:ea typeface="Arial"/>
                <a:cs typeface="Arial"/>
                <a:sym typeface="Arial"/>
              </a:defRPr>
            </a:lvl4pPr>
            <a:lvl5pPr lvl="4" marR="0" rtl="0" algn="ctr">
              <a:lnSpc>
                <a:spcPct val="100000"/>
              </a:lnSpc>
              <a:spcBef>
                <a:spcPts val="0"/>
              </a:spcBef>
              <a:spcAft>
                <a:spcPts val="0"/>
              </a:spcAft>
              <a:buClr>
                <a:srgbClr val="000000"/>
              </a:buClr>
              <a:buSzPts val="5200"/>
              <a:buFont typeface="Arial"/>
              <a:buChar char="○"/>
              <a:defRPr b="0" i="0" sz="5200" u="none" cap="none" strike="noStrike">
                <a:solidFill>
                  <a:srgbClr val="000000"/>
                </a:solidFill>
                <a:latin typeface="Arial"/>
                <a:ea typeface="Arial"/>
                <a:cs typeface="Arial"/>
                <a:sym typeface="Arial"/>
              </a:defRPr>
            </a:lvl5pPr>
            <a:lvl6pPr lvl="5" marR="0" rtl="0" algn="ctr">
              <a:lnSpc>
                <a:spcPct val="100000"/>
              </a:lnSpc>
              <a:spcBef>
                <a:spcPts val="0"/>
              </a:spcBef>
              <a:spcAft>
                <a:spcPts val="0"/>
              </a:spcAft>
              <a:buClr>
                <a:srgbClr val="000000"/>
              </a:buClr>
              <a:buSzPts val="5200"/>
              <a:buFont typeface="Arial"/>
              <a:buChar char="■"/>
              <a:defRPr b="0" i="0" sz="5200" u="none" cap="none" strike="noStrike">
                <a:solidFill>
                  <a:srgbClr val="000000"/>
                </a:solidFill>
                <a:latin typeface="Arial"/>
                <a:ea typeface="Arial"/>
                <a:cs typeface="Arial"/>
                <a:sym typeface="Arial"/>
              </a:defRPr>
            </a:lvl6pPr>
            <a:lvl7pPr lvl="6" marR="0" rtl="0" algn="ctr">
              <a:lnSpc>
                <a:spcPct val="100000"/>
              </a:lnSpc>
              <a:spcBef>
                <a:spcPts val="0"/>
              </a:spcBef>
              <a:spcAft>
                <a:spcPts val="0"/>
              </a:spcAft>
              <a:buClr>
                <a:srgbClr val="000000"/>
              </a:buClr>
              <a:buSzPts val="5200"/>
              <a:buFont typeface="Arial"/>
              <a:buChar char="●"/>
              <a:defRPr b="0" i="0" sz="5200" u="none" cap="none" strike="noStrike">
                <a:solidFill>
                  <a:srgbClr val="000000"/>
                </a:solidFill>
                <a:latin typeface="Arial"/>
                <a:ea typeface="Arial"/>
                <a:cs typeface="Arial"/>
                <a:sym typeface="Arial"/>
              </a:defRPr>
            </a:lvl7pPr>
            <a:lvl8pPr lvl="7" marR="0" rtl="0" algn="ctr">
              <a:lnSpc>
                <a:spcPct val="100000"/>
              </a:lnSpc>
              <a:spcBef>
                <a:spcPts val="0"/>
              </a:spcBef>
              <a:spcAft>
                <a:spcPts val="0"/>
              </a:spcAft>
              <a:buClr>
                <a:srgbClr val="000000"/>
              </a:buClr>
              <a:buSzPts val="5200"/>
              <a:buFont typeface="Arial"/>
              <a:buChar char="○"/>
              <a:defRPr b="0" i="0" sz="5200" u="none" cap="none" strike="noStrike">
                <a:solidFill>
                  <a:srgbClr val="000000"/>
                </a:solidFill>
                <a:latin typeface="Arial"/>
                <a:ea typeface="Arial"/>
                <a:cs typeface="Arial"/>
                <a:sym typeface="Arial"/>
              </a:defRPr>
            </a:lvl8pPr>
            <a:lvl9pPr lvl="8" marR="0" rtl="0" algn="ctr">
              <a:lnSpc>
                <a:spcPct val="100000"/>
              </a:lnSpc>
              <a:spcBef>
                <a:spcPts val="0"/>
              </a:spcBef>
              <a:spcAft>
                <a:spcPts val="0"/>
              </a:spcAft>
              <a:buClr>
                <a:srgbClr val="000000"/>
              </a:buClr>
              <a:buSzPts val="5200"/>
              <a:buFont typeface="Arial"/>
              <a:buChar char="■"/>
              <a:defRPr b="0" i="0" sz="5200" u="none" cap="none" strike="noStrike">
                <a:solidFill>
                  <a:srgbClr val="000000"/>
                </a:solidFill>
                <a:latin typeface="Arial"/>
                <a:ea typeface="Arial"/>
                <a:cs typeface="Arial"/>
                <a:sym typeface="Arial"/>
              </a:defRPr>
            </a:lvl9pPr>
          </a:lstStyle>
          <a:p/>
        </p:txBody>
      </p:sp>
      <p:sp>
        <p:nvSpPr>
          <p:cNvPr id="47" name="Google Shape;47;p35"/>
          <p:cNvSpPr txBox="1"/>
          <p:nvPr>
            <p:ph idx="1" type="subTitle"/>
          </p:nvPr>
        </p:nvSpPr>
        <p:spPr>
          <a:xfrm>
            <a:off x="311700" y="2834125"/>
            <a:ext cx="8520600" cy="792600"/>
          </a:xfrm>
          <a:prstGeom prst="rect">
            <a:avLst/>
          </a:prstGeom>
          <a:noFill/>
          <a:ln>
            <a:noFill/>
          </a:ln>
        </p:spPr>
        <p:txBody>
          <a:bodyPr anchorCtr="0" anchor="ctr" bIns="91425" lIns="91425" spcFirstLastPara="1" rIns="91425" wrap="square" tIns="91425">
            <a:noAutofit/>
          </a:bodyPr>
          <a:lstStyle>
            <a:lvl1pPr lvl="0" marR="0" rtl="0" algn="ctr">
              <a:lnSpc>
                <a:spcPct val="100000"/>
              </a:lnSpc>
              <a:spcBef>
                <a:spcPts val="0"/>
              </a:spcBef>
              <a:spcAft>
                <a:spcPts val="0"/>
              </a:spcAft>
              <a:buClr>
                <a:srgbClr val="000000"/>
              </a:buClr>
              <a:buSzPts val="2800"/>
              <a:buFont typeface="Arial"/>
              <a:buNone/>
              <a:defRPr b="0" i="0" sz="2800" u="none" cap="none" strike="noStrike">
                <a:solidFill>
                  <a:srgbClr val="000000"/>
                </a:solidFill>
                <a:latin typeface="Arial"/>
                <a:ea typeface="Arial"/>
                <a:cs typeface="Arial"/>
                <a:sym typeface="Arial"/>
              </a:defRPr>
            </a:lvl1pPr>
            <a:lvl2pPr lvl="1" marR="0" rtl="0" algn="ctr">
              <a:lnSpc>
                <a:spcPct val="100000"/>
              </a:lnSpc>
              <a:spcBef>
                <a:spcPts val="0"/>
              </a:spcBef>
              <a:spcAft>
                <a:spcPts val="0"/>
              </a:spcAft>
              <a:buClr>
                <a:srgbClr val="000000"/>
              </a:buClr>
              <a:buSzPts val="2800"/>
              <a:buFont typeface="Arial"/>
              <a:buNone/>
              <a:defRPr b="0" i="0" sz="2800" u="none" cap="none" strike="noStrike">
                <a:solidFill>
                  <a:srgbClr val="000000"/>
                </a:solidFill>
                <a:latin typeface="Arial"/>
                <a:ea typeface="Arial"/>
                <a:cs typeface="Arial"/>
                <a:sym typeface="Arial"/>
              </a:defRPr>
            </a:lvl2pPr>
            <a:lvl3pPr lvl="2" marR="0" rtl="0" algn="ctr">
              <a:lnSpc>
                <a:spcPct val="100000"/>
              </a:lnSpc>
              <a:spcBef>
                <a:spcPts val="0"/>
              </a:spcBef>
              <a:spcAft>
                <a:spcPts val="0"/>
              </a:spcAft>
              <a:buClr>
                <a:srgbClr val="000000"/>
              </a:buClr>
              <a:buSzPts val="2800"/>
              <a:buFont typeface="Arial"/>
              <a:buNone/>
              <a:defRPr b="0" i="0" sz="2800" u="none" cap="none" strike="noStrike">
                <a:solidFill>
                  <a:srgbClr val="000000"/>
                </a:solidFill>
                <a:latin typeface="Arial"/>
                <a:ea typeface="Arial"/>
                <a:cs typeface="Arial"/>
                <a:sym typeface="Arial"/>
              </a:defRPr>
            </a:lvl3pPr>
            <a:lvl4pPr lvl="3" marR="0" rtl="0" algn="ctr">
              <a:lnSpc>
                <a:spcPct val="100000"/>
              </a:lnSpc>
              <a:spcBef>
                <a:spcPts val="0"/>
              </a:spcBef>
              <a:spcAft>
                <a:spcPts val="0"/>
              </a:spcAft>
              <a:buClr>
                <a:srgbClr val="000000"/>
              </a:buClr>
              <a:buSzPts val="2800"/>
              <a:buFont typeface="Arial"/>
              <a:buNone/>
              <a:defRPr b="0" i="0" sz="2800" u="none" cap="none" strike="noStrike">
                <a:solidFill>
                  <a:srgbClr val="000000"/>
                </a:solidFill>
                <a:latin typeface="Arial"/>
                <a:ea typeface="Arial"/>
                <a:cs typeface="Arial"/>
                <a:sym typeface="Arial"/>
              </a:defRPr>
            </a:lvl4pPr>
            <a:lvl5pPr lvl="4" marR="0" rtl="0" algn="ctr">
              <a:lnSpc>
                <a:spcPct val="100000"/>
              </a:lnSpc>
              <a:spcBef>
                <a:spcPts val="0"/>
              </a:spcBef>
              <a:spcAft>
                <a:spcPts val="0"/>
              </a:spcAft>
              <a:buClr>
                <a:srgbClr val="000000"/>
              </a:buClr>
              <a:buSzPts val="2800"/>
              <a:buFont typeface="Arial"/>
              <a:buNone/>
              <a:defRPr b="0" i="0" sz="2800" u="none" cap="none" strike="noStrike">
                <a:solidFill>
                  <a:srgbClr val="000000"/>
                </a:solidFill>
                <a:latin typeface="Arial"/>
                <a:ea typeface="Arial"/>
                <a:cs typeface="Arial"/>
                <a:sym typeface="Arial"/>
              </a:defRPr>
            </a:lvl5pPr>
            <a:lvl6pPr lvl="5" marR="0" rtl="0" algn="ctr">
              <a:lnSpc>
                <a:spcPct val="100000"/>
              </a:lnSpc>
              <a:spcBef>
                <a:spcPts val="0"/>
              </a:spcBef>
              <a:spcAft>
                <a:spcPts val="0"/>
              </a:spcAft>
              <a:buClr>
                <a:srgbClr val="000000"/>
              </a:buClr>
              <a:buSzPts val="2800"/>
              <a:buFont typeface="Arial"/>
              <a:buNone/>
              <a:defRPr b="0" i="0" sz="2800" u="none" cap="none" strike="noStrike">
                <a:solidFill>
                  <a:srgbClr val="000000"/>
                </a:solidFill>
                <a:latin typeface="Arial"/>
                <a:ea typeface="Arial"/>
                <a:cs typeface="Arial"/>
                <a:sym typeface="Arial"/>
              </a:defRPr>
            </a:lvl6pPr>
            <a:lvl7pPr lvl="6" marR="0" rtl="0" algn="ctr">
              <a:lnSpc>
                <a:spcPct val="100000"/>
              </a:lnSpc>
              <a:spcBef>
                <a:spcPts val="0"/>
              </a:spcBef>
              <a:spcAft>
                <a:spcPts val="0"/>
              </a:spcAft>
              <a:buClr>
                <a:srgbClr val="000000"/>
              </a:buClr>
              <a:buSzPts val="2800"/>
              <a:buFont typeface="Arial"/>
              <a:buNone/>
              <a:defRPr b="0" i="0" sz="2800" u="none" cap="none" strike="noStrike">
                <a:solidFill>
                  <a:srgbClr val="000000"/>
                </a:solidFill>
                <a:latin typeface="Arial"/>
                <a:ea typeface="Arial"/>
                <a:cs typeface="Arial"/>
                <a:sym typeface="Arial"/>
              </a:defRPr>
            </a:lvl7pPr>
            <a:lvl8pPr lvl="7" marR="0" rtl="0" algn="ctr">
              <a:lnSpc>
                <a:spcPct val="100000"/>
              </a:lnSpc>
              <a:spcBef>
                <a:spcPts val="0"/>
              </a:spcBef>
              <a:spcAft>
                <a:spcPts val="0"/>
              </a:spcAft>
              <a:buClr>
                <a:srgbClr val="000000"/>
              </a:buClr>
              <a:buSzPts val="2800"/>
              <a:buFont typeface="Arial"/>
              <a:buNone/>
              <a:defRPr b="0" i="0" sz="2800" u="none" cap="none" strike="noStrike">
                <a:solidFill>
                  <a:srgbClr val="000000"/>
                </a:solidFill>
                <a:latin typeface="Arial"/>
                <a:ea typeface="Arial"/>
                <a:cs typeface="Arial"/>
                <a:sym typeface="Arial"/>
              </a:defRPr>
            </a:lvl8pPr>
            <a:lvl9pPr lvl="8" marR="0" rtl="0" algn="ctr">
              <a:lnSpc>
                <a:spcPct val="100000"/>
              </a:lnSpc>
              <a:spcBef>
                <a:spcPts val="0"/>
              </a:spcBef>
              <a:spcAft>
                <a:spcPts val="0"/>
              </a:spcAft>
              <a:buClr>
                <a:srgbClr val="000000"/>
              </a:buClr>
              <a:buSzPts val="2800"/>
              <a:buFont typeface="Arial"/>
              <a:buNone/>
              <a:defRPr b="0" i="0" sz="2800" u="none" cap="none" strike="noStrike">
                <a:solidFill>
                  <a:srgbClr val="000000"/>
                </a:solidFill>
                <a:latin typeface="Arial"/>
                <a:ea typeface="Arial"/>
                <a:cs typeface="Arial"/>
                <a:sym typeface="Arial"/>
              </a:defRPr>
            </a:lvl9pPr>
          </a:lstStyle>
          <a:p/>
        </p:txBody>
      </p:sp>
      <p:sp>
        <p:nvSpPr>
          <p:cNvPr id="48" name="Google Shape;48;p35"/>
          <p:cNvSpPr txBox="1"/>
          <p:nvPr>
            <p:ph idx="12" type="sldNum"/>
          </p:nvPr>
        </p:nvSpPr>
        <p:spPr>
          <a:xfrm>
            <a:off x="8472458" y="4663217"/>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Slide">
  <p:cSld name="CUSTOM_6_1_1_1_1_1_1_1_2_1_2_1">
    <p:bg>
      <p:bgPr>
        <a:noFill/>
      </p:bgPr>
    </p:bg>
    <p:spTree>
      <p:nvGrpSpPr>
        <p:cNvPr id="49" name="Shape 49"/>
        <p:cNvGrpSpPr/>
        <p:nvPr/>
      </p:nvGrpSpPr>
      <p:grpSpPr>
        <a:xfrm>
          <a:off x="0" y="0"/>
          <a:ext cx="0" cy="0"/>
          <a:chOff x="0" y="0"/>
          <a:chExt cx="0" cy="0"/>
        </a:xfrm>
      </p:grpSpPr>
      <p:pic>
        <p:nvPicPr>
          <p:cNvPr id="50" name="Google Shape;50;p37"/>
          <p:cNvPicPr preferRelativeResize="0"/>
          <p:nvPr/>
        </p:nvPicPr>
        <p:blipFill rotWithShape="1">
          <a:blip r:embed="rId2">
            <a:alphaModFix/>
          </a:blip>
          <a:srcRect b="2519" l="41915" r="12791" t="6877"/>
          <a:stretch/>
        </p:blipFill>
        <p:spPr>
          <a:xfrm>
            <a:off x="5286150" y="0"/>
            <a:ext cx="3857848" cy="5143501"/>
          </a:xfrm>
          <a:prstGeom prst="rect">
            <a:avLst/>
          </a:prstGeom>
          <a:noFill/>
          <a:ln>
            <a:noFill/>
          </a:ln>
        </p:spPr>
      </p:pic>
      <p:sp>
        <p:nvSpPr>
          <p:cNvPr id="51" name="Google Shape;51;p37"/>
          <p:cNvSpPr/>
          <p:nvPr/>
        </p:nvSpPr>
        <p:spPr>
          <a:xfrm>
            <a:off x="0" y="-25"/>
            <a:ext cx="6464700" cy="5143500"/>
          </a:xfrm>
          <a:prstGeom prst="snip1Rect">
            <a:avLst>
              <a:gd fmla="val 18290"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52" name="Google Shape;52;p37"/>
          <p:cNvCxnSpPr/>
          <p:nvPr/>
        </p:nvCxnSpPr>
        <p:spPr>
          <a:xfrm>
            <a:off x="6406775" y="3956400"/>
            <a:ext cx="0" cy="1187100"/>
          </a:xfrm>
          <a:prstGeom prst="straightConnector1">
            <a:avLst/>
          </a:prstGeom>
          <a:noFill/>
          <a:ln cap="flat" cmpd="sng" w="114300">
            <a:solidFill>
              <a:schemeClr val="accent3"/>
            </a:solidFill>
            <a:prstDash val="solid"/>
            <a:round/>
            <a:headEnd len="sm" w="sm" type="none"/>
            <a:tailEnd len="sm" w="sm" type="none"/>
          </a:ln>
        </p:spPr>
      </p:cxnSp>
      <p:pic>
        <p:nvPicPr>
          <p:cNvPr id="53" name="Google Shape;53;p37"/>
          <p:cNvPicPr preferRelativeResize="0"/>
          <p:nvPr/>
        </p:nvPicPr>
        <p:blipFill rotWithShape="1">
          <a:blip r:embed="rId3">
            <a:alphaModFix/>
          </a:blip>
          <a:srcRect b="56881" l="299" r="0" t="4"/>
          <a:stretch/>
        </p:blipFill>
        <p:spPr>
          <a:xfrm>
            <a:off x="-7475" y="5125600"/>
            <a:ext cx="9151474" cy="17899"/>
          </a:xfrm>
          <a:prstGeom prst="rect">
            <a:avLst/>
          </a:prstGeom>
          <a:noFill/>
          <a:ln>
            <a:noFill/>
          </a:ln>
        </p:spPr>
      </p:pic>
      <p:pic>
        <p:nvPicPr>
          <p:cNvPr id="54" name="Google Shape;54;p37"/>
          <p:cNvPicPr preferRelativeResize="0"/>
          <p:nvPr/>
        </p:nvPicPr>
        <p:blipFill rotWithShape="1">
          <a:blip r:embed="rId4">
            <a:alphaModFix/>
          </a:blip>
          <a:srcRect b="3747" l="0" r="0" t="3738"/>
          <a:stretch/>
        </p:blipFill>
        <p:spPr>
          <a:xfrm>
            <a:off x="5628871" y="4764214"/>
            <a:ext cx="527963" cy="207109"/>
          </a:xfrm>
          <a:prstGeom prst="rect">
            <a:avLst/>
          </a:prstGeom>
          <a:noFill/>
          <a:ln>
            <a:noFill/>
          </a:ln>
        </p:spPr>
      </p:pic>
      <p:pic>
        <p:nvPicPr>
          <p:cNvPr id="55" name="Google Shape;55;p37"/>
          <p:cNvPicPr preferRelativeResize="0"/>
          <p:nvPr/>
        </p:nvPicPr>
        <p:blipFill rotWithShape="1">
          <a:blip r:embed="rId5">
            <a:alphaModFix/>
          </a:blip>
          <a:srcRect b="0" l="0" r="0" t="0"/>
          <a:stretch/>
        </p:blipFill>
        <p:spPr>
          <a:xfrm>
            <a:off x="4492492" y="4767423"/>
            <a:ext cx="1005406" cy="200690"/>
          </a:xfrm>
          <a:prstGeom prst="rect">
            <a:avLst/>
          </a:prstGeom>
          <a:noFill/>
          <a:ln>
            <a:noFill/>
          </a:ln>
        </p:spPr>
      </p:pic>
      <p:sp>
        <p:nvSpPr>
          <p:cNvPr id="56" name="Google Shape;56;p37"/>
          <p:cNvSpPr txBox="1"/>
          <p:nvPr/>
        </p:nvSpPr>
        <p:spPr>
          <a:xfrm>
            <a:off x="160663" y="4752390"/>
            <a:ext cx="1432800" cy="2307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800"/>
              <a:buFont typeface="Arial"/>
              <a:buNone/>
            </a:pPr>
            <a:r>
              <a:rPr b="0" i="0" lang="en" sz="800" u="none" cap="none" strike="noStrike">
                <a:solidFill>
                  <a:srgbClr val="000000"/>
                </a:solidFill>
                <a:latin typeface="Montserrat"/>
                <a:ea typeface="Montserrat"/>
                <a:cs typeface="Montserrat"/>
                <a:sym typeface="Montserrat"/>
              </a:rPr>
              <a:t>Proudly recognised by</a:t>
            </a:r>
            <a:endParaRPr b="0" i="0" sz="800" u="none" cap="none" strike="noStrike">
              <a:solidFill>
                <a:srgbClr val="000000"/>
              </a:solidFill>
              <a:latin typeface="Montserrat"/>
              <a:ea typeface="Montserrat"/>
              <a:cs typeface="Montserrat"/>
              <a:sym typeface="Montserrat"/>
            </a:endParaRPr>
          </a:p>
        </p:txBody>
      </p:sp>
      <p:cxnSp>
        <p:nvCxnSpPr>
          <p:cNvPr id="57" name="Google Shape;57;p37"/>
          <p:cNvCxnSpPr/>
          <p:nvPr/>
        </p:nvCxnSpPr>
        <p:spPr>
          <a:xfrm>
            <a:off x="1434913" y="4877373"/>
            <a:ext cx="329100" cy="0"/>
          </a:xfrm>
          <a:prstGeom prst="straightConnector1">
            <a:avLst/>
          </a:prstGeom>
          <a:noFill/>
          <a:ln cap="flat" cmpd="sng" w="9525">
            <a:solidFill>
              <a:srgbClr val="D41883"/>
            </a:solidFill>
            <a:prstDash val="solid"/>
            <a:round/>
            <a:headEnd len="sm" w="sm" type="none"/>
            <a:tailEnd len="med" w="med" type="oval"/>
          </a:ln>
        </p:spPr>
      </p:cxnSp>
      <p:cxnSp>
        <p:nvCxnSpPr>
          <p:cNvPr id="58" name="Google Shape;58;p37"/>
          <p:cNvCxnSpPr/>
          <p:nvPr/>
        </p:nvCxnSpPr>
        <p:spPr>
          <a:xfrm>
            <a:off x="2619072" y="4811830"/>
            <a:ext cx="0" cy="158700"/>
          </a:xfrm>
          <a:prstGeom prst="straightConnector1">
            <a:avLst/>
          </a:prstGeom>
          <a:noFill/>
          <a:ln cap="flat" cmpd="sng" w="9525">
            <a:solidFill>
              <a:srgbClr val="999999"/>
            </a:solidFill>
            <a:prstDash val="dot"/>
            <a:round/>
            <a:headEnd len="sm" w="sm" type="none"/>
            <a:tailEnd len="sm" w="sm" type="none"/>
          </a:ln>
        </p:spPr>
      </p:cxnSp>
      <p:pic>
        <p:nvPicPr>
          <p:cNvPr id="59" name="Google Shape;59;p37"/>
          <p:cNvPicPr preferRelativeResize="0"/>
          <p:nvPr/>
        </p:nvPicPr>
        <p:blipFill rotWithShape="1">
          <a:blip r:embed="rId6">
            <a:alphaModFix/>
          </a:blip>
          <a:srcRect b="0" l="0" r="0" t="0"/>
          <a:stretch/>
        </p:blipFill>
        <p:spPr>
          <a:xfrm>
            <a:off x="3582794" y="4773820"/>
            <a:ext cx="772999" cy="207102"/>
          </a:xfrm>
          <a:prstGeom prst="rect">
            <a:avLst/>
          </a:prstGeom>
          <a:noFill/>
          <a:ln>
            <a:noFill/>
          </a:ln>
        </p:spPr>
      </p:pic>
      <p:cxnSp>
        <p:nvCxnSpPr>
          <p:cNvPr id="60" name="Google Shape;60;p37"/>
          <p:cNvCxnSpPr/>
          <p:nvPr/>
        </p:nvCxnSpPr>
        <p:spPr>
          <a:xfrm>
            <a:off x="3524628" y="4805984"/>
            <a:ext cx="0" cy="158700"/>
          </a:xfrm>
          <a:prstGeom prst="straightConnector1">
            <a:avLst/>
          </a:prstGeom>
          <a:noFill/>
          <a:ln cap="flat" cmpd="sng" w="9525">
            <a:solidFill>
              <a:srgbClr val="999999"/>
            </a:solidFill>
            <a:prstDash val="dot"/>
            <a:round/>
            <a:headEnd len="sm" w="sm" type="none"/>
            <a:tailEnd len="sm" w="sm" type="none"/>
          </a:ln>
        </p:spPr>
      </p:cxnSp>
      <p:cxnSp>
        <p:nvCxnSpPr>
          <p:cNvPr id="61" name="Google Shape;61;p37"/>
          <p:cNvCxnSpPr/>
          <p:nvPr/>
        </p:nvCxnSpPr>
        <p:spPr>
          <a:xfrm>
            <a:off x="4413966" y="4811830"/>
            <a:ext cx="0" cy="158700"/>
          </a:xfrm>
          <a:prstGeom prst="straightConnector1">
            <a:avLst/>
          </a:prstGeom>
          <a:noFill/>
          <a:ln cap="flat" cmpd="sng" w="9525">
            <a:solidFill>
              <a:srgbClr val="999999"/>
            </a:solidFill>
            <a:prstDash val="dot"/>
            <a:round/>
            <a:headEnd len="sm" w="sm" type="none"/>
            <a:tailEnd len="sm" w="sm" type="none"/>
          </a:ln>
        </p:spPr>
      </p:cxnSp>
      <p:cxnSp>
        <p:nvCxnSpPr>
          <p:cNvPr id="62" name="Google Shape;62;p37"/>
          <p:cNvCxnSpPr/>
          <p:nvPr/>
        </p:nvCxnSpPr>
        <p:spPr>
          <a:xfrm>
            <a:off x="5542956" y="4811830"/>
            <a:ext cx="0" cy="158700"/>
          </a:xfrm>
          <a:prstGeom prst="straightConnector1">
            <a:avLst/>
          </a:prstGeom>
          <a:noFill/>
          <a:ln cap="flat" cmpd="sng" w="9525">
            <a:solidFill>
              <a:srgbClr val="999999"/>
            </a:solidFill>
            <a:prstDash val="dot"/>
            <a:round/>
            <a:headEnd len="sm" w="sm" type="none"/>
            <a:tailEnd len="sm" w="sm" type="none"/>
          </a:ln>
        </p:spPr>
      </p:cxnSp>
      <p:pic>
        <p:nvPicPr>
          <p:cNvPr id="63" name="Google Shape;63;p37"/>
          <p:cNvPicPr preferRelativeResize="0"/>
          <p:nvPr/>
        </p:nvPicPr>
        <p:blipFill rotWithShape="1">
          <a:blip r:embed="rId7">
            <a:alphaModFix/>
          </a:blip>
          <a:srcRect b="0" l="0" r="0" t="0"/>
          <a:stretch/>
        </p:blipFill>
        <p:spPr>
          <a:xfrm>
            <a:off x="1835298" y="4767421"/>
            <a:ext cx="711135" cy="200693"/>
          </a:xfrm>
          <a:prstGeom prst="rect">
            <a:avLst/>
          </a:prstGeom>
          <a:noFill/>
          <a:ln>
            <a:noFill/>
          </a:ln>
        </p:spPr>
      </p:pic>
      <p:pic>
        <p:nvPicPr>
          <p:cNvPr id="64" name="Google Shape;64;p37"/>
          <p:cNvPicPr preferRelativeResize="0"/>
          <p:nvPr/>
        </p:nvPicPr>
        <p:blipFill rotWithShape="1">
          <a:blip r:embed="rId8">
            <a:alphaModFix/>
          </a:blip>
          <a:srcRect b="0" l="0" r="0" t="0"/>
          <a:stretch/>
        </p:blipFill>
        <p:spPr>
          <a:xfrm>
            <a:off x="2709573" y="4788445"/>
            <a:ext cx="730426" cy="158646"/>
          </a:xfrm>
          <a:prstGeom prst="rect">
            <a:avLst/>
          </a:prstGeom>
          <a:noFill/>
          <a:ln>
            <a:noFill/>
          </a:ln>
        </p:spPr>
      </p:pic>
      <p:pic>
        <p:nvPicPr>
          <p:cNvPr id="65" name="Google Shape;65;p37"/>
          <p:cNvPicPr preferRelativeResize="0"/>
          <p:nvPr/>
        </p:nvPicPr>
        <p:blipFill rotWithShape="1">
          <a:blip r:embed="rId9">
            <a:alphaModFix/>
          </a:blip>
          <a:srcRect b="0" l="0" r="0" t="0"/>
          <a:stretch/>
        </p:blipFill>
        <p:spPr>
          <a:xfrm>
            <a:off x="1238250" y="271780"/>
            <a:ext cx="1380825" cy="706105"/>
          </a:xfrm>
          <a:prstGeom prst="rect">
            <a:avLst/>
          </a:prstGeom>
          <a:noFill/>
          <a:ln>
            <a:noFill/>
          </a:ln>
        </p:spPr>
      </p:pic>
      <p:pic>
        <p:nvPicPr>
          <p:cNvPr id="66" name="Google Shape;66;p37"/>
          <p:cNvPicPr preferRelativeResize="0"/>
          <p:nvPr/>
        </p:nvPicPr>
        <p:blipFill rotWithShape="1">
          <a:blip r:embed="rId10">
            <a:alphaModFix/>
          </a:blip>
          <a:srcRect b="0" l="0" r="0" t="0"/>
          <a:stretch/>
        </p:blipFill>
        <p:spPr>
          <a:xfrm>
            <a:off x="190536" y="188515"/>
            <a:ext cx="941500" cy="1410499"/>
          </a:xfrm>
          <a:prstGeom prst="rect">
            <a:avLst/>
          </a:prstGeom>
          <a:noFill/>
          <a:ln>
            <a:noFill/>
          </a:ln>
        </p:spPr>
      </p:pic>
      <p:sp>
        <p:nvSpPr>
          <p:cNvPr id="67" name="Google Shape;67;p37"/>
          <p:cNvSpPr txBox="1"/>
          <p:nvPr>
            <p:ph type="title"/>
          </p:nvPr>
        </p:nvSpPr>
        <p:spPr>
          <a:xfrm>
            <a:off x="283675" y="2500825"/>
            <a:ext cx="5466600" cy="1134600"/>
          </a:xfrm>
          <a:prstGeom prst="rect">
            <a:avLst/>
          </a:prstGeom>
          <a:noFill/>
          <a:ln>
            <a:noFill/>
          </a:ln>
        </p:spPr>
        <p:txBody>
          <a:bodyPr anchorCtr="0" anchor="ctr" bIns="91425" lIns="91425" spcFirstLastPara="1" rIns="91425" wrap="square" tIns="91425">
            <a:noAutofit/>
          </a:bodyPr>
          <a:lstStyle>
            <a:lvl1pPr lvl="0" marR="0" rtl="0" algn="l">
              <a:lnSpc>
                <a:spcPct val="100000"/>
              </a:lnSpc>
              <a:spcBef>
                <a:spcPts val="0"/>
              </a:spcBef>
              <a:spcAft>
                <a:spcPts val="0"/>
              </a:spcAft>
              <a:buClr>
                <a:schemeClr val="accent1"/>
              </a:buClr>
              <a:buSzPts val="3700"/>
              <a:buFont typeface="Montserrat"/>
              <a:buNone/>
              <a:defRPr b="1" i="0" sz="3700" u="none" cap="none" strike="noStrike">
                <a:solidFill>
                  <a:schemeClr val="accent1"/>
                </a:solidFill>
                <a:latin typeface="Montserrat"/>
                <a:ea typeface="Montserrat"/>
                <a:cs typeface="Montserrat"/>
                <a:sym typeface="Montserrat"/>
              </a:defRPr>
            </a:lvl1pPr>
            <a:lvl2pPr lvl="1" marR="0" rtl="0" algn="l">
              <a:lnSpc>
                <a:spcPct val="100000"/>
              </a:lnSpc>
              <a:spcBef>
                <a:spcPts val="0"/>
              </a:spcBef>
              <a:spcAft>
                <a:spcPts val="0"/>
              </a:spcAft>
              <a:buClr>
                <a:schemeClr val="accent1"/>
              </a:buClr>
              <a:buSzPts val="3700"/>
              <a:buFont typeface="Montserrat"/>
              <a:buNone/>
              <a:defRPr b="1" i="0" sz="3700" u="none" cap="none" strike="noStrike">
                <a:solidFill>
                  <a:schemeClr val="accent1"/>
                </a:solidFill>
                <a:latin typeface="Montserrat"/>
                <a:ea typeface="Montserrat"/>
                <a:cs typeface="Montserrat"/>
                <a:sym typeface="Montserrat"/>
              </a:defRPr>
            </a:lvl2pPr>
            <a:lvl3pPr lvl="2" marR="0" rtl="0" algn="l">
              <a:lnSpc>
                <a:spcPct val="100000"/>
              </a:lnSpc>
              <a:spcBef>
                <a:spcPts val="0"/>
              </a:spcBef>
              <a:spcAft>
                <a:spcPts val="0"/>
              </a:spcAft>
              <a:buClr>
                <a:schemeClr val="accent1"/>
              </a:buClr>
              <a:buSzPts val="3700"/>
              <a:buFont typeface="Montserrat"/>
              <a:buNone/>
              <a:defRPr b="1" i="0" sz="3700" u="none" cap="none" strike="noStrike">
                <a:solidFill>
                  <a:schemeClr val="accent1"/>
                </a:solidFill>
                <a:latin typeface="Montserrat"/>
                <a:ea typeface="Montserrat"/>
                <a:cs typeface="Montserrat"/>
                <a:sym typeface="Montserrat"/>
              </a:defRPr>
            </a:lvl3pPr>
            <a:lvl4pPr lvl="3" marR="0" rtl="0" algn="l">
              <a:lnSpc>
                <a:spcPct val="100000"/>
              </a:lnSpc>
              <a:spcBef>
                <a:spcPts val="0"/>
              </a:spcBef>
              <a:spcAft>
                <a:spcPts val="0"/>
              </a:spcAft>
              <a:buClr>
                <a:schemeClr val="accent1"/>
              </a:buClr>
              <a:buSzPts val="3700"/>
              <a:buFont typeface="Montserrat"/>
              <a:buNone/>
              <a:defRPr b="1" i="0" sz="3700" u="none" cap="none" strike="noStrike">
                <a:solidFill>
                  <a:schemeClr val="accent1"/>
                </a:solidFill>
                <a:latin typeface="Montserrat"/>
                <a:ea typeface="Montserrat"/>
                <a:cs typeface="Montserrat"/>
                <a:sym typeface="Montserrat"/>
              </a:defRPr>
            </a:lvl4pPr>
            <a:lvl5pPr lvl="4" marR="0" rtl="0" algn="l">
              <a:lnSpc>
                <a:spcPct val="100000"/>
              </a:lnSpc>
              <a:spcBef>
                <a:spcPts val="0"/>
              </a:spcBef>
              <a:spcAft>
                <a:spcPts val="0"/>
              </a:spcAft>
              <a:buClr>
                <a:schemeClr val="accent1"/>
              </a:buClr>
              <a:buSzPts val="3700"/>
              <a:buFont typeface="Montserrat"/>
              <a:buNone/>
              <a:defRPr b="1" i="0" sz="3700" u="none" cap="none" strike="noStrike">
                <a:solidFill>
                  <a:schemeClr val="accent1"/>
                </a:solidFill>
                <a:latin typeface="Montserrat"/>
                <a:ea typeface="Montserrat"/>
                <a:cs typeface="Montserrat"/>
                <a:sym typeface="Montserrat"/>
              </a:defRPr>
            </a:lvl5pPr>
            <a:lvl6pPr lvl="5" marR="0" rtl="0" algn="l">
              <a:lnSpc>
                <a:spcPct val="100000"/>
              </a:lnSpc>
              <a:spcBef>
                <a:spcPts val="0"/>
              </a:spcBef>
              <a:spcAft>
                <a:spcPts val="0"/>
              </a:spcAft>
              <a:buClr>
                <a:schemeClr val="accent1"/>
              </a:buClr>
              <a:buSzPts val="3700"/>
              <a:buFont typeface="Montserrat"/>
              <a:buNone/>
              <a:defRPr b="1" i="0" sz="3700" u="none" cap="none" strike="noStrike">
                <a:solidFill>
                  <a:schemeClr val="accent1"/>
                </a:solidFill>
                <a:latin typeface="Montserrat"/>
                <a:ea typeface="Montserrat"/>
                <a:cs typeface="Montserrat"/>
                <a:sym typeface="Montserrat"/>
              </a:defRPr>
            </a:lvl6pPr>
            <a:lvl7pPr lvl="6" marR="0" rtl="0" algn="l">
              <a:lnSpc>
                <a:spcPct val="100000"/>
              </a:lnSpc>
              <a:spcBef>
                <a:spcPts val="0"/>
              </a:spcBef>
              <a:spcAft>
                <a:spcPts val="0"/>
              </a:spcAft>
              <a:buClr>
                <a:schemeClr val="accent1"/>
              </a:buClr>
              <a:buSzPts val="3700"/>
              <a:buFont typeface="Montserrat"/>
              <a:buNone/>
              <a:defRPr b="1" i="0" sz="3700" u="none" cap="none" strike="noStrike">
                <a:solidFill>
                  <a:schemeClr val="accent1"/>
                </a:solidFill>
                <a:latin typeface="Montserrat"/>
                <a:ea typeface="Montserrat"/>
                <a:cs typeface="Montserrat"/>
                <a:sym typeface="Montserrat"/>
              </a:defRPr>
            </a:lvl7pPr>
            <a:lvl8pPr lvl="7" marR="0" rtl="0" algn="l">
              <a:lnSpc>
                <a:spcPct val="100000"/>
              </a:lnSpc>
              <a:spcBef>
                <a:spcPts val="0"/>
              </a:spcBef>
              <a:spcAft>
                <a:spcPts val="0"/>
              </a:spcAft>
              <a:buClr>
                <a:schemeClr val="accent1"/>
              </a:buClr>
              <a:buSzPts val="3700"/>
              <a:buFont typeface="Montserrat"/>
              <a:buNone/>
              <a:defRPr b="1" i="0" sz="3700" u="none" cap="none" strike="noStrike">
                <a:solidFill>
                  <a:schemeClr val="accent1"/>
                </a:solidFill>
                <a:latin typeface="Montserrat"/>
                <a:ea typeface="Montserrat"/>
                <a:cs typeface="Montserrat"/>
                <a:sym typeface="Montserrat"/>
              </a:defRPr>
            </a:lvl8pPr>
            <a:lvl9pPr lvl="8" marR="0" rtl="0" algn="l">
              <a:lnSpc>
                <a:spcPct val="100000"/>
              </a:lnSpc>
              <a:spcBef>
                <a:spcPts val="0"/>
              </a:spcBef>
              <a:spcAft>
                <a:spcPts val="0"/>
              </a:spcAft>
              <a:buClr>
                <a:schemeClr val="accent1"/>
              </a:buClr>
              <a:buSzPts val="3700"/>
              <a:buFont typeface="Montserrat"/>
              <a:buNone/>
              <a:defRPr b="1" i="0" sz="3700" u="none" cap="none" strike="noStrike">
                <a:solidFill>
                  <a:schemeClr val="accent1"/>
                </a:solidFill>
                <a:latin typeface="Montserrat"/>
                <a:ea typeface="Montserrat"/>
                <a:cs typeface="Montserrat"/>
                <a:sym typeface="Montserrat"/>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parator Slide">
  <p:cSld name="CUSTOM_6_1_1_1_1_1_1_1_2_1_2_1_1_1">
    <p:bg>
      <p:bgPr>
        <a:noFill/>
      </p:bgPr>
    </p:bg>
    <p:spTree>
      <p:nvGrpSpPr>
        <p:cNvPr id="68" name="Shape 68"/>
        <p:cNvGrpSpPr/>
        <p:nvPr/>
      </p:nvGrpSpPr>
      <p:grpSpPr>
        <a:xfrm>
          <a:off x="0" y="0"/>
          <a:ext cx="0" cy="0"/>
          <a:chOff x="0" y="0"/>
          <a:chExt cx="0" cy="0"/>
        </a:xfrm>
      </p:grpSpPr>
      <p:pic>
        <p:nvPicPr>
          <p:cNvPr id="69" name="Google Shape;69;p38"/>
          <p:cNvPicPr preferRelativeResize="0"/>
          <p:nvPr/>
        </p:nvPicPr>
        <p:blipFill rotWithShape="1">
          <a:blip r:embed="rId2">
            <a:alphaModFix/>
          </a:blip>
          <a:srcRect b="0" l="-10120" r="10120" t="0"/>
          <a:stretch/>
        </p:blipFill>
        <p:spPr>
          <a:xfrm>
            <a:off x="0" y="-7476"/>
            <a:ext cx="9143956" cy="5143501"/>
          </a:xfrm>
          <a:prstGeom prst="rect">
            <a:avLst/>
          </a:prstGeom>
          <a:noFill/>
          <a:ln>
            <a:noFill/>
          </a:ln>
        </p:spPr>
      </p:pic>
      <p:pic>
        <p:nvPicPr>
          <p:cNvPr descr="TTN Logo.png" id="70" name="Google Shape;70;p38"/>
          <p:cNvPicPr preferRelativeResize="0"/>
          <p:nvPr/>
        </p:nvPicPr>
        <p:blipFill rotWithShape="1">
          <a:blip r:embed="rId3">
            <a:alphaModFix/>
          </a:blip>
          <a:srcRect b="0" l="0" r="0" t="0"/>
          <a:stretch/>
        </p:blipFill>
        <p:spPr>
          <a:xfrm>
            <a:off x="8295649" y="178006"/>
            <a:ext cx="648924" cy="362494"/>
          </a:xfrm>
          <a:prstGeom prst="rect">
            <a:avLst/>
          </a:prstGeom>
          <a:noFill/>
          <a:ln>
            <a:noFill/>
          </a:ln>
        </p:spPr>
      </p:pic>
      <p:sp>
        <p:nvSpPr>
          <p:cNvPr id="71" name="Google Shape;71;p38"/>
          <p:cNvSpPr/>
          <p:nvPr/>
        </p:nvSpPr>
        <p:spPr>
          <a:xfrm>
            <a:off x="3929500" y="2179825"/>
            <a:ext cx="559800" cy="5598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with Black logo 1 1 1 1 1 1 1 2 1 2 1">
  <p:cSld name="CUSTOM_6_1_1_1_1_1_1_1_2_1_2_1_1">
    <p:bg>
      <p:bgPr>
        <a:noFill/>
      </p:bgPr>
    </p:bg>
    <p:spTree>
      <p:nvGrpSpPr>
        <p:cNvPr id="72" name="Shape 72"/>
        <p:cNvGrpSpPr/>
        <p:nvPr/>
      </p:nvGrpSpPr>
      <p:grpSpPr>
        <a:xfrm>
          <a:off x="0" y="0"/>
          <a:ext cx="0" cy="0"/>
          <a:chOff x="0" y="0"/>
          <a:chExt cx="0" cy="0"/>
        </a:xfrm>
      </p:grpSpPr>
      <p:pic>
        <p:nvPicPr>
          <p:cNvPr id="73" name="Google Shape;73;p39"/>
          <p:cNvPicPr preferRelativeResize="0"/>
          <p:nvPr/>
        </p:nvPicPr>
        <p:blipFill rotWithShape="1">
          <a:blip r:embed="rId2">
            <a:alphaModFix/>
          </a:blip>
          <a:srcRect b="2519" l="41915" r="12791" t="6877"/>
          <a:stretch/>
        </p:blipFill>
        <p:spPr>
          <a:xfrm>
            <a:off x="5286150" y="0"/>
            <a:ext cx="3857848" cy="5143501"/>
          </a:xfrm>
          <a:prstGeom prst="rect">
            <a:avLst/>
          </a:prstGeom>
          <a:noFill/>
          <a:ln>
            <a:noFill/>
          </a:ln>
        </p:spPr>
      </p:pic>
      <p:sp>
        <p:nvSpPr>
          <p:cNvPr id="74" name="Google Shape;74;p39"/>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75" name="Google Shape;75;p39"/>
          <p:cNvSpPr/>
          <p:nvPr/>
        </p:nvSpPr>
        <p:spPr>
          <a:xfrm>
            <a:off x="0" y="-25"/>
            <a:ext cx="6464700" cy="5143500"/>
          </a:xfrm>
          <a:prstGeom prst="snip1Rect">
            <a:avLst>
              <a:gd fmla="val 18290"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76" name="Google Shape;76;p39"/>
          <p:cNvCxnSpPr/>
          <p:nvPr/>
        </p:nvCxnSpPr>
        <p:spPr>
          <a:xfrm>
            <a:off x="6406775" y="3956400"/>
            <a:ext cx="0" cy="1187100"/>
          </a:xfrm>
          <a:prstGeom prst="straightConnector1">
            <a:avLst/>
          </a:prstGeom>
          <a:noFill/>
          <a:ln cap="flat" cmpd="sng" w="114300">
            <a:solidFill>
              <a:schemeClr val="accent3"/>
            </a:solidFill>
            <a:prstDash val="solid"/>
            <a:round/>
            <a:headEnd len="sm" w="sm" type="none"/>
            <a:tailEnd len="sm" w="sm" type="none"/>
          </a:ln>
        </p:spPr>
      </p:cxnSp>
      <p:pic>
        <p:nvPicPr>
          <p:cNvPr id="77" name="Google Shape;77;p39"/>
          <p:cNvPicPr preferRelativeResize="0"/>
          <p:nvPr/>
        </p:nvPicPr>
        <p:blipFill rotWithShape="1">
          <a:blip r:embed="rId3">
            <a:alphaModFix/>
          </a:blip>
          <a:srcRect b="56881" l="299" r="0" t="4"/>
          <a:stretch/>
        </p:blipFill>
        <p:spPr>
          <a:xfrm>
            <a:off x="-7475" y="5125600"/>
            <a:ext cx="9151474" cy="17899"/>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Slide - with Title &amp; Logo  4">
  <p:cSld name="TITLE_AND_TWO_COLUMNS_1_2_7">
    <p:spTree>
      <p:nvGrpSpPr>
        <p:cNvPr id="78" name="Shape 78"/>
        <p:cNvGrpSpPr/>
        <p:nvPr/>
      </p:nvGrpSpPr>
      <p:grpSpPr>
        <a:xfrm>
          <a:off x="0" y="0"/>
          <a:ext cx="0" cy="0"/>
          <a:chOff x="0" y="0"/>
          <a:chExt cx="0" cy="0"/>
        </a:xfrm>
      </p:grpSpPr>
      <p:sp>
        <p:nvSpPr>
          <p:cNvPr id="79" name="Google Shape;79;p40"/>
          <p:cNvSpPr txBox="1"/>
          <p:nvPr>
            <p:ph type="ctrTitle"/>
          </p:nvPr>
        </p:nvSpPr>
        <p:spPr>
          <a:xfrm>
            <a:off x="264425" y="171950"/>
            <a:ext cx="6858000" cy="290100"/>
          </a:xfrm>
          <a:prstGeom prst="rect">
            <a:avLst/>
          </a:prstGeom>
          <a:noFill/>
          <a:ln>
            <a:noFill/>
          </a:ln>
        </p:spPr>
        <p:txBody>
          <a:bodyPr anchorCtr="0" anchor="t" bIns="91425" lIns="0" spcFirstLastPara="1" rIns="91425" wrap="square" tIns="0">
            <a:noAutofit/>
          </a:bodyPr>
          <a:lstStyle>
            <a:lvl1pPr lvl="0" marR="0" rtl="0" algn="l">
              <a:lnSpc>
                <a:spcPct val="90000"/>
              </a:lnSpc>
              <a:spcBef>
                <a:spcPts val="0"/>
              </a:spcBef>
              <a:spcAft>
                <a:spcPts val="0"/>
              </a:spcAft>
              <a:buClr>
                <a:schemeClr val="dk1"/>
              </a:buClr>
              <a:buSzPts val="2100"/>
              <a:buFont typeface="Tahoma"/>
              <a:buNone/>
              <a:defRPr b="1" i="0" sz="21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2100"/>
              <a:buFont typeface="Tahoma"/>
              <a:buNone/>
              <a:defRPr b="0" i="0" sz="2100" u="none" cap="none" strike="noStrike">
                <a:solidFill>
                  <a:srgbClr val="000000"/>
                </a:solidFill>
                <a:latin typeface="Tahoma"/>
                <a:ea typeface="Tahoma"/>
                <a:cs typeface="Tahoma"/>
                <a:sym typeface="Tahoma"/>
              </a:defRPr>
            </a:lvl2pPr>
            <a:lvl3pPr lvl="2" marR="0" rtl="0" algn="l">
              <a:lnSpc>
                <a:spcPct val="100000"/>
              </a:lnSpc>
              <a:spcBef>
                <a:spcPts val="0"/>
              </a:spcBef>
              <a:spcAft>
                <a:spcPts val="0"/>
              </a:spcAft>
              <a:buClr>
                <a:srgbClr val="000000"/>
              </a:buClr>
              <a:buSzPts val="2100"/>
              <a:buFont typeface="Tahoma"/>
              <a:buNone/>
              <a:defRPr b="0" i="0" sz="2100" u="none" cap="none" strike="noStrike">
                <a:solidFill>
                  <a:srgbClr val="000000"/>
                </a:solidFill>
                <a:latin typeface="Tahoma"/>
                <a:ea typeface="Tahoma"/>
                <a:cs typeface="Tahoma"/>
                <a:sym typeface="Tahoma"/>
              </a:defRPr>
            </a:lvl3pPr>
            <a:lvl4pPr lvl="3" marR="0" rtl="0" algn="l">
              <a:lnSpc>
                <a:spcPct val="100000"/>
              </a:lnSpc>
              <a:spcBef>
                <a:spcPts val="0"/>
              </a:spcBef>
              <a:spcAft>
                <a:spcPts val="0"/>
              </a:spcAft>
              <a:buClr>
                <a:srgbClr val="000000"/>
              </a:buClr>
              <a:buSzPts val="2100"/>
              <a:buFont typeface="Tahoma"/>
              <a:buNone/>
              <a:defRPr b="0" i="0" sz="2100" u="none" cap="none" strike="noStrike">
                <a:solidFill>
                  <a:srgbClr val="000000"/>
                </a:solidFill>
                <a:latin typeface="Tahoma"/>
                <a:ea typeface="Tahoma"/>
                <a:cs typeface="Tahoma"/>
                <a:sym typeface="Tahoma"/>
              </a:defRPr>
            </a:lvl4pPr>
            <a:lvl5pPr lvl="4" marR="0" rtl="0" algn="l">
              <a:lnSpc>
                <a:spcPct val="100000"/>
              </a:lnSpc>
              <a:spcBef>
                <a:spcPts val="0"/>
              </a:spcBef>
              <a:spcAft>
                <a:spcPts val="0"/>
              </a:spcAft>
              <a:buClr>
                <a:srgbClr val="000000"/>
              </a:buClr>
              <a:buSzPts val="2100"/>
              <a:buFont typeface="Tahoma"/>
              <a:buNone/>
              <a:defRPr b="0" i="0" sz="2100" u="none" cap="none" strike="noStrike">
                <a:solidFill>
                  <a:srgbClr val="000000"/>
                </a:solidFill>
                <a:latin typeface="Tahoma"/>
                <a:ea typeface="Tahoma"/>
                <a:cs typeface="Tahoma"/>
                <a:sym typeface="Tahoma"/>
              </a:defRPr>
            </a:lvl5pPr>
            <a:lvl6pPr lvl="5" marR="0" rtl="0" algn="l">
              <a:lnSpc>
                <a:spcPct val="100000"/>
              </a:lnSpc>
              <a:spcBef>
                <a:spcPts val="0"/>
              </a:spcBef>
              <a:spcAft>
                <a:spcPts val="0"/>
              </a:spcAft>
              <a:buClr>
                <a:srgbClr val="000000"/>
              </a:buClr>
              <a:buSzPts val="2100"/>
              <a:buFont typeface="Tahoma"/>
              <a:buNone/>
              <a:defRPr b="0" i="0" sz="2100" u="none" cap="none" strike="noStrike">
                <a:solidFill>
                  <a:srgbClr val="000000"/>
                </a:solidFill>
                <a:latin typeface="Tahoma"/>
                <a:ea typeface="Tahoma"/>
                <a:cs typeface="Tahoma"/>
                <a:sym typeface="Tahoma"/>
              </a:defRPr>
            </a:lvl6pPr>
            <a:lvl7pPr lvl="6" marR="0" rtl="0" algn="l">
              <a:lnSpc>
                <a:spcPct val="100000"/>
              </a:lnSpc>
              <a:spcBef>
                <a:spcPts val="0"/>
              </a:spcBef>
              <a:spcAft>
                <a:spcPts val="0"/>
              </a:spcAft>
              <a:buClr>
                <a:srgbClr val="000000"/>
              </a:buClr>
              <a:buSzPts val="2100"/>
              <a:buFont typeface="Tahoma"/>
              <a:buNone/>
              <a:defRPr b="0" i="0" sz="2100" u="none" cap="none" strike="noStrike">
                <a:solidFill>
                  <a:srgbClr val="000000"/>
                </a:solidFill>
                <a:latin typeface="Tahoma"/>
                <a:ea typeface="Tahoma"/>
                <a:cs typeface="Tahoma"/>
                <a:sym typeface="Tahoma"/>
              </a:defRPr>
            </a:lvl7pPr>
            <a:lvl8pPr lvl="7" marR="0" rtl="0" algn="l">
              <a:lnSpc>
                <a:spcPct val="100000"/>
              </a:lnSpc>
              <a:spcBef>
                <a:spcPts val="0"/>
              </a:spcBef>
              <a:spcAft>
                <a:spcPts val="0"/>
              </a:spcAft>
              <a:buClr>
                <a:srgbClr val="000000"/>
              </a:buClr>
              <a:buSzPts val="2100"/>
              <a:buFont typeface="Tahoma"/>
              <a:buNone/>
              <a:defRPr b="0" i="0" sz="2100" u="none" cap="none" strike="noStrike">
                <a:solidFill>
                  <a:srgbClr val="000000"/>
                </a:solidFill>
                <a:latin typeface="Tahoma"/>
                <a:ea typeface="Tahoma"/>
                <a:cs typeface="Tahoma"/>
                <a:sym typeface="Tahoma"/>
              </a:defRPr>
            </a:lvl8pPr>
            <a:lvl9pPr lvl="8" marR="0" rtl="0" algn="l">
              <a:lnSpc>
                <a:spcPct val="100000"/>
              </a:lnSpc>
              <a:spcBef>
                <a:spcPts val="0"/>
              </a:spcBef>
              <a:spcAft>
                <a:spcPts val="0"/>
              </a:spcAft>
              <a:buClr>
                <a:srgbClr val="000000"/>
              </a:buClr>
              <a:buSzPts val="2100"/>
              <a:buFont typeface="Tahoma"/>
              <a:buNone/>
              <a:defRPr b="0" i="0" sz="2100" u="none" cap="none" strike="noStrike">
                <a:solidFill>
                  <a:srgbClr val="000000"/>
                </a:solidFill>
                <a:latin typeface="Tahoma"/>
                <a:ea typeface="Tahoma"/>
                <a:cs typeface="Tahoma"/>
                <a:sym typeface="Tahoma"/>
              </a:defRPr>
            </a:lvl9pPr>
          </a:lstStyle>
          <a:p/>
        </p:txBody>
      </p:sp>
      <p:pic>
        <p:nvPicPr>
          <p:cNvPr descr="TTN Logo.png" id="80" name="Google Shape;80;p40"/>
          <p:cNvPicPr preferRelativeResize="0"/>
          <p:nvPr/>
        </p:nvPicPr>
        <p:blipFill rotWithShape="1">
          <a:blip r:embed="rId2">
            <a:alphaModFix/>
          </a:blip>
          <a:srcRect b="0" l="0" r="0" t="0"/>
          <a:stretch/>
        </p:blipFill>
        <p:spPr>
          <a:xfrm>
            <a:off x="8414781" y="117828"/>
            <a:ext cx="625544" cy="349439"/>
          </a:xfrm>
          <a:prstGeom prst="rect">
            <a:avLst/>
          </a:prstGeom>
          <a:noFill/>
          <a:ln>
            <a:noFill/>
          </a:ln>
        </p:spPr>
      </p:pic>
      <p:cxnSp>
        <p:nvCxnSpPr>
          <p:cNvPr id="81" name="Google Shape;81;p40"/>
          <p:cNvCxnSpPr/>
          <p:nvPr/>
        </p:nvCxnSpPr>
        <p:spPr>
          <a:xfrm>
            <a:off x="8286793" y="153689"/>
            <a:ext cx="0" cy="324300"/>
          </a:xfrm>
          <a:prstGeom prst="straightConnector1">
            <a:avLst/>
          </a:prstGeom>
          <a:noFill/>
          <a:ln cap="flat" cmpd="sng" w="9525">
            <a:solidFill>
              <a:srgbClr val="595959"/>
            </a:solidFill>
            <a:prstDash val="solid"/>
            <a:round/>
            <a:headEnd len="sm" w="sm" type="none"/>
            <a:tailEnd len="sm" w="sm" type="none"/>
          </a:ln>
        </p:spPr>
      </p:cxn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Slide - with Title &amp; Logo  2">
  <p:cSld name="TITLE_AND_TWO_COLUMNS_1_2_9">
    <p:spTree>
      <p:nvGrpSpPr>
        <p:cNvPr id="83" name="Shape 83"/>
        <p:cNvGrpSpPr/>
        <p:nvPr/>
      </p:nvGrpSpPr>
      <p:grpSpPr>
        <a:xfrm>
          <a:off x="0" y="0"/>
          <a:ext cx="0" cy="0"/>
          <a:chOff x="0" y="0"/>
          <a:chExt cx="0" cy="0"/>
        </a:xfrm>
      </p:grpSpPr>
      <p:sp>
        <p:nvSpPr>
          <p:cNvPr id="84" name="Google Shape;84;p41"/>
          <p:cNvSpPr txBox="1"/>
          <p:nvPr>
            <p:ph type="ctrTitle"/>
          </p:nvPr>
        </p:nvSpPr>
        <p:spPr>
          <a:xfrm>
            <a:off x="264425" y="171950"/>
            <a:ext cx="6858000" cy="290100"/>
          </a:xfrm>
          <a:prstGeom prst="rect">
            <a:avLst/>
          </a:prstGeom>
          <a:noFill/>
          <a:ln>
            <a:noFill/>
          </a:ln>
        </p:spPr>
        <p:txBody>
          <a:bodyPr anchorCtr="0" anchor="t" bIns="91425" lIns="0" spcFirstLastPara="1" rIns="91425" wrap="square" tIns="0">
            <a:noAutofit/>
          </a:bodyPr>
          <a:lstStyle>
            <a:lvl1pPr lvl="0" marR="0" rtl="0" algn="l">
              <a:lnSpc>
                <a:spcPct val="90000"/>
              </a:lnSpc>
              <a:spcBef>
                <a:spcPts val="0"/>
              </a:spcBef>
              <a:spcAft>
                <a:spcPts val="0"/>
              </a:spcAft>
              <a:buClr>
                <a:schemeClr val="dk1"/>
              </a:buClr>
              <a:buSzPts val="2100"/>
              <a:buFont typeface="Tahoma"/>
              <a:buNone/>
              <a:defRPr b="1" i="0" sz="21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2100"/>
              <a:buFont typeface="Tahoma"/>
              <a:buNone/>
              <a:defRPr b="0" i="0" sz="2100" u="none" cap="none" strike="noStrike">
                <a:solidFill>
                  <a:srgbClr val="000000"/>
                </a:solidFill>
                <a:latin typeface="Tahoma"/>
                <a:ea typeface="Tahoma"/>
                <a:cs typeface="Tahoma"/>
                <a:sym typeface="Tahoma"/>
              </a:defRPr>
            </a:lvl2pPr>
            <a:lvl3pPr lvl="2" marR="0" rtl="0" algn="l">
              <a:lnSpc>
                <a:spcPct val="100000"/>
              </a:lnSpc>
              <a:spcBef>
                <a:spcPts val="0"/>
              </a:spcBef>
              <a:spcAft>
                <a:spcPts val="0"/>
              </a:spcAft>
              <a:buClr>
                <a:srgbClr val="000000"/>
              </a:buClr>
              <a:buSzPts val="2100"/>
              <a:buFont typeface="Tahoma"/>
              <a:buNone/>
              <a:defRPr b="0" i="0" sz="2100" u="none" cap="none" strike="noStrike">
                <a:solidFill>
                  <a:srgbClr val="000000"/>
                </a:solidFill>
                <a:latin typeface="Tahoma"/>
                <a:ea typeface="Tahoma"/>
                <a:cs typeface="Tahoma"/>
                <a:sym typeface="Tahoma"/>
              </a:defRPr>
            </a:lvl3pPr>
            <a:lvl4pPr lvl="3" marR="0" rtl="0" algn="l">
              <a:lnSpc>
                <a:spcPct val="100000"/>
              </a:lnSpc>
              <a:spcBef>
                <a:spcPts val="0"/>
              </a:spcBef>
              <a:spcAft>
                <a:spcPts val="0"/>
              </a:spcAft>
              <a:buClr>
                <a:srgbClr val="000000"/>
              </a:buClr>
              <a:buSzPts val="2100"/>
              <a:buFont typeface="Tahoma"/>
              <a:buNone/>
              <a:defRPr b="0" i="0" sz="2100" u="none" cap="none" strike="noStrike">
                <a:solidFill>
                  <a:srgbClr val="000000"/>
                </a:solidFill>
                <a:latin typeface="Tahoma"/>
                <a:ea typeface="Tahoma"/>
                <a:cs typeface="Tahoma"/>
                <a:sym typeface="Tahoma"/>
              </a:defRPr>
            </a:lvl4pPr>
            <a:lvl5pPr lvl="4" marR="0" rtl="0" algn="l">
              <a:lnSpc>
                <a:spcPct val="100000"/>
              </a:lnSpc>
              <a:spcBef>
                <a:spcPts val="0"/>
              </a:spcBef>
              <a:spcAft>
                <a:spcPts val="0"/>
              </a:spcAft>
              <a:buClr>
                <a:srgbClr val="000000"/>
              </a:buClr>
              <a:buSzPts val="2100"/>
              <a:buFont typeface="Tahoma"/>
              <a:buNone/>
              <a:defRPr b="0" i="0" sz="2100" u="none" cap="none" strike="noStrike">
                <a:solidFill>
                  <a:srgbClr val="000000"/>
                </a:solidFill>
                <a:latin typeface="Tahoma"/>
                <a:ea typeface="Tahoma"/>
                <a:cs typeface="Tahoma"/>
                <a:sym typeface="Tahoma"/>
              </a:defRPr>
            </a:lvl5pPr>
            <a:lvl6pPr lvl="5" marR="0" rtl="0" algn="l">
              <a:lnSpc>
                <a:spcPct val="100000"/>
              </a:lnSpc>
              <a:spcBef>
                <a:spcPts val="0"/>
              </a:spcBef>
              <a:spcAft>
                <a:spcPts val="0"/>
              </a:spcAft>
              <a:buClr>
                <a:srgbClr val="000000"/>
              </a:buClr>
              <a:buSzPts val="2100"/>
              <a:buFont typeface="Tahoma"/>
              <a:buNone/>
              <a:defRPr b="0" i="0" sz="2100" u="none" cap="none" strike="noStrike">
                <a:solidFill>
                  <a:srgbClr val="000000"/>
                </a:solidFill>
                <a:latin typeface="Tahoma"/>
                <a:ea typeface="Tahoma"/>
                <a:cs typeface="Tahoma"/>
                <a:sym typeface="Tahoma"/>
              </a:defRPr>
            </a:lvl6pPr>
            <a:lvl7pPr lvl="6" marR="0" rtl="0" algn="l">
              <a:lnSpc>
                <a:spcPct val="100000"/>
              </a:lnSpc>
              <a:spcBef>
                <a:spcPts val="0"/>
              </a:spcBef>
              <a:spcAft>
                <a:spcPts val="0"/>
              </a:spcAft>
              <a:buClr>
                <a:srgbClr val="000000"/>
              </a:buClr>
              <a:buSzPts val="2100"/>
              <a:buFont typeface="Tahoma"/>
              <a:buNone/>
              <a:defRPr b="0" i="0" sz="2100" u="none" cap="none" strike="noStrike">
                <a:solidFill>
                  <a:srgbClr val="000000"/>
                </a:solidFill>
                <a:latin typeface="Tahoma"/>
                <a:ea typeface="Tahoma"/>
                <a:cs typeface="Tahoma"/>
                <a:sym typeface="Tahoma"/>
              </a:defRPr>
            </a:lvl7pPr>
            <a:lvl8pPr lvl="7" marR="0" rtl="0" algn="l">
              <a:lnSpc>
                <a:spcPct val="100000"/>
              </a:lnSpc>
              <a:spcBef>
                <a:spcPts val="0"/>
              </a:spcBef>
              <a:spcAft>
                <a:spcPts val="0"/>
              </a:spcAft>
              <a:buClr>
                <a:srgbClr val="000000"/>
              </a:buClr>
              <a:buSzPts val="2100"/>
              <a:buFont typeface="Tahoma"/>
              <a:buNone/>
              <a:defRPr b="0" i="0" sz="2100" u="none" cap="none" strike="noStrike">
                <a:solidFill>
                  <a:srgbClr val="000000"/>
                </a:solidFill>
                <a:latin typeface="Tahoma"/>
                <a:ea typeface="Tahoma"/>
                <a:cs typeface="Tahoma"/>
                <a:sym typeface="Tahoma"/>
              </a:defRPr>
            </a:lvl8pPr>
            <a:lvl9pPr lvl="8" marR="0" rtl="0" algn="l">
              <a:lnSpc>
                <a:spcPct val="100000"/>
              </a:lnSpc>
              <a:spcBef>
                <a:spcPts val="0"/>
              </a:spcBef>
              <a:spcAft>
                <a:spcPts val="0"/>
              </a:spcAft>
              <a:buClr>
                <a:srgbClr val="000000"/>
              </a:buClr>
              <a:buSzPts val="2100"/>
              <a:buFont typeface="Tahoma"/>
              <a:buNone/>
              <a:defRPr b="0" i="0" sz="2100" u="none" cap="none" strike="noStrike">
                <a:solidFill>
                  <a:srgbClr val="000000"/>
                </a:solidFill>
                <a:latin typeface="Tahoma"/>
                <a:ea typeface="Tahoma"/>
                <a:cs typeface="Tahoma"/>
                <a:sym typeface="Tahoma"/>
              </a:defRPr>
            </a:lvl9pPr>
          </a:lstStyle>
          <a:p/>
        </p:txBody>
      </p:sp>
      <p:pic>
        <p:nvPicPr>
          <p:cNvPr descr="TTN Logo.png" id="85" name="Google Shape;85;p41"/>
          <p:cNvPicPr preferRelativeResize="0"/>
          <p:nvPr/>
        </p:nvPicPr>
        <p:blipFill rotWithShape="1">
          <a:blip r:embed="rId2">
            <a:alphaModFix/>
          </a:blip>
          <a:srcRect b="0" l="0" r="0" t="0"/>
          <a:stretch/>
        </p:blipFill>
        <p:spPr>
          <a:xfrm>
            <a:off x="8414781" y="117828"/>
            <a:ext cx="625544" cy="349439"/>
          </a:xfrm>
          <a:prstGeom prst="rect">
            <a:avLst/>
          </a:prstGeom>
          <a:noFill/>
          <a:ln>
            <a:noFill/>
          </a:ln>
        </p:spPr>
      </p:pic>
      <p:cxnSp>
        <p:nvCxnSpPr>
          <p:cNvPr id="86" name="Google Shape;86;p41"/>
          <p:cNvCxnSpPr/>
          <p:nvPr/>
        </p:nvCxnSpPr>
        <p:spPr>
          <a:xfrm>
            <a:off x="8286793" y="153689"/>
            <a:ext cx="0" cy="324300"/>
          </a:xfrm>
          <a:prstGeom prst="straightConnector1">
            <a:avLst/>
          </a:prstGeom>
          <a:noFill/>
          <a:ln cap="flat" cmpd="sng" w="9525">
            <a:solidFill>
              <a:srgbClr val="595959"/>
            </a:solidFill>
            <a:prstDash val="solid"/>
            <a:round/>
            <a:headEnd len="sm" w="sm" type="none"/>
            <a:tailEnd len="sm" w="sm" type="none"/>
          </a:ln>
        </p:spPr>
      </p:cxn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Slide - with Title &amp; Logo  3">
  <p:cSld name="TITLE_AND_TWO_COLUMNS_1_2_10">
    <p:spTree>
      <p:nvGrpSpPr>
        <p:cNvPr id="88" name="Shape 88"/>
        <p:cNvGrpSpPr/>
        <p:nvPr/>
      </p:nvGrpSpPr>
      <p:grpSpPr>
        <a:xfrm>
          <a:off x="0" y="0"/>
          <a:ext cx="0" cy="0"/>
          <a:chOff x="0" y="0"/>
          <a:chExt cx="0" cy="0"/>
        </a:xfrm>
      </p:grpSpPr>
      <p:sp>
        <p:nvSpPr>
          <p:cNvPr id="89" name="Google Shape;89;p42"/>
          <p:cNvSpPr txBox="1"/>
          <p:nvPr>
            <p:ph type="ctrTitle"/>
          </p:nvPr>
        </p:nvSpPr>
        <p:spPr>
          <a:xfrm>
            <a:off x="264425" y="171950"/>
            <a:ext cx="6858000" cy="290100"/>
          </a:xfrm>
          <a:prstGeom prst="rect">
            <a:avLst/>
          </a:prstGeom>
          <a:noFill/>
          <a:ln>
            <a:noFill/>
          </a:ln>
        </p:spPr>
        <p:txBody>
          <a:bodyPr anchorCtr="0" anchor="t" bIns="91425" lIns="0" spcFirstLastPara="1" rIns="91425" wrap="square" tIns="0">
            <a:noAutofit/>
          </a:bodyPr>
          <a:lstStyle>
            <a:lvl1pPr lvl="0" marR="0" rtl="0" algn="l">
              <a:lnSpc>
                <a:spcPct val="90000"/>
              </a:lnSpc>
              <a:spcBef>
                <a:spcPts val="0"/>
              </a:spcBef>
              <a:spcAft>
                <a:spcPts val="0"/>
              </a:spcAft>
              <a:buClr>
                <a:schemeClr val="dk1"/>
              </a:buClr>
              <a:buSzPts val="2100"/>
              <a:buFont typeface="Tahoma"/>
              <a:buNone/>
              <a:defRPr b="1" i="0" sz="21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2100"/>
              <a:buFont typeface="Tahoma"/>
              <a:buNone/>
              <a:defRPr b="0" i="0" sz="2100" u="none" cap="none" strike="noStrike">
                <a:solidFill>
                  <a:srgbClr val="000000"/>
                </a:solidFill>
                <a:latin typeface="Tahoma"/>
                <a:ea typeface="Tahoma"/>
                <a:cs typeface="Tahoma"/>
                <a:sym typeface="Tahoma"/>
              </a:defRPr>
            </a:lvl2pPr>
            <a:lvl3pPr lvl="2" marR="0" rtl="0" algn="l">
              <a:lnSpc>
                <a:spcPct val="100000"/>
              </a:lnSpc>
              <a:spcBef>
                <a:spcPts val="0"/>
              </a:spcBef>
              <a:spcAft>
                <a:spcPts val="0"/>
              </a:spcAft>
              <a:buClr>
                <a:srgbClr val="000000"/>
              </a:buClr>
              <a:buSzPts val="2100"/>
              <a:buFont typeface="Tahoma"/>
              <a:buNone/>
              <a:defRPr b="0" i="0" sz="2100" u="none" cap="none" strike="noStrike">
                <a:solidFill>
                  <a:srgbClr val="000000"/>
                </a:solidFill>
                <a:latin typeface="Tahoma"/>
                <a:ea typeface="Tahoma"/>
                <a:cs typeface="Tahoma"/>
                <a:sym typeface="Tahoma"/>
              </a:defRPr>
            </a:lvl3pPr>
            <a:lvl4pPr lvl="3" marR="0" rtl="0" algn="l">
              <a:lnSpc>
                <a:spcPct val="100000"/>
              </a:lnSpc>
              <a:spcBef>
                <a:spcPts val="0"/>
              </a:spcBef>
              <a:spcAft>
                <a:spcPts val="0"/>
              </a:spcAft>
              <a:buClr>
                <a:srgbClr val="000000"/>
              </a:buClr>
              <a:buSzPts val="2100"/>
              <a:buFont typeface="Tahoma"/>
              <a:buNone/>
              <a:defRPr b="0" i="0" sz="2100" u="none" cap="none" strike="noStrike">
                <a:solidFill>
                  <a:srgbClr val="000000"/>
                </a:solidFill>
                <a:latin typeface="Tahoma"/>
                <a:ea typeface="Tahoma"/>
                <a:cs typeface="Tahoma"/>
                <a:sym typeface="Tahoma"/>
              </a:defRPr>
            </a:lvl4pPr>
            <a:lvl5pPr lvl="4" marR="0" rtl="0" algn="l">
              <a:lnSpc>
                <a:spcPct val="100000"/>
              </a:lnSpc>
              <a:spcBef>
                <a:spcPts val="0"/>
              </a:spcBef>
              <a:spcAft>
                <a:spcPts val="0"/>
              </a:spcAft>
              <a:buClr>
                <a:srgbClr val="000000"/>
              </a:buClr>
              <a:buSzPts val="2100"/>
              <a:buFont typeface="Tahoma"/>
              <a:buNone/>
              <a:defRPr b="0" i="0" sz="2100" u="none" cap="none" strike="noStrike">
                <a:solidFill>
                  <a:srgbClr val="000000"/>
                </a:solidFill>
                <a:latin typeface="Tahoma"/>
                <a:ea typeface="Tahoma"/>
                <a:cs typeface="Tahoma"/>
                <a:sym typeface="Tahoma"/>
              </a:defRPr>
            </a:lvl5pPr>
            <a:lvl6pPr lvl="5" marR="0" rtl="0" algn="l">
              <a:lnSpc>
                <a:spcPct val="100000"/>
              </a:lnSpc>
              <a:spcBef>
                <a:spcPts val="0"/>
              </a:spcBef>
              <a:spcAft>
                <a:spcPts val="0"/>
              </a:spcAft>
              <a:buClr>
                <a:srgbClr val="000000"/>
              </a:buClr>
              <a:buSzPts val="2100"/>
              <a:buFont typeface="Tahoma"/>
              <a:buNone/>
              <a:defRPr b="0" i="0" sz="2100" u="none" cap="none" strike="noStrike">
                <a:solidFill>
                  <a:srgbClr val="000000"/>
                </a:solidFill>
                <a:latin typeface="Tahoma"/>
                <a:ea typeface="Tahoma"/>
                <a:cs typeface="Tahoma"/>
                <a:sym typeface="Tahoma"/>
              </a:defRPr>
            </a:lvl6pPr>
            <a:lvl7pPr lvl="6" marR="0" rtl="0" algn="l">
              <a:lnSpc>
                <a:spcPct val="100000"/>
              </a:lnSpc>
              <a:spcBef>
                <a:spcPts val="0"/>
              </a:spcBef>
              <a:spcAft>
                <a:spcPts val="0"/>
              </a:spcAft>
              <a:buClr>
                <a:srgbClr val="000000"/>
              </a:buClr>
              <a:buSzPts val="2100"/>
              <a:buFont typeface="Tahoma"/>
              <a:buNone/>
              <a:defRPr b="0" i="0" sz="2100" u="none" cap="none" strike="noStrike">
                <a:solidFill>
                  <a:srgbClr val="000000"/>
                </a:solidFill>
                <a:latin typeface="Tahoma"/>
                <a:ea typeface="Tahoma"/>
                <a:cs typeface="Tahoma"/>
                <a:sym typeface="Tahoma"/>
              </a:defRPr>
            </a:lvl7pPr>
            <a:lvl8pPr lvl="7" marR="0" rtl="0" algn="l">
              <a:lnSpc>
                <a:spcPct val="100000"/>
              </a:lnSpc>
              <a:spcBef>
                <a:spcPts val="0"/>
              </a:spcBef>
              <a:spcAft>
                <a:spcPts val="0"/>
              </a:spcAft>
              <a:buClr>
                <a:srgbClr val="000000"/>
              </a:buClr>
              <a:buSzPts val="2100"/>
              <a:buFont typeface="Tahoma"/>
              <a:buNone/>
              <a:defRPr b="0" i="0" sz="2100" u="none" cap="none" strike="noStrike">
                <a:solidFill>
                  <a:srgbClr val="000000"/>
                </a:solidFill>
                <a:latin typeface="Tahoma"/>
                <a:ea typeface="Tahoma"/>
                <a:cs typeface="Tahoma"/>
                <a:sym typeface="Tahoma"/>
              </a:defRPr>
            </a:lvl8pPr>
            <a:lvl9pPr lvl="8" marR="0" rtl="0" algn="l">
              <a:lnSpc>
                <a:spcPct val="100000"/>
              </a:lnSpc>
              <a:spcBef>
                <a:spcPts val="0"/>
              </a:spcBef>
              <a:spcAft>
                <a:spcPts val="0"/>
              </a:spcAft>
              <a:buClr>
                <a:srgbClr val="000000"/>
              </a:buClr>
              <a:buSzPts val="2100"/>
              <a:buFont typeface="Tahoma"/>
              <a:buNone/>
              <a:defRPr b="0" i="0" sz="2100" u="none" cap="none" strike="noStrike">
                <a:solidFill>
                  <a:srgbClr val="000000"/>
                </a:solidFill>
                <a:latin typeface="Tahoma"/>
                <a:ea typeface="Tahoma"/>
                <a:cs typeface="Tahoma"/>
                <a:sym typeface="Tahoma"/>
              </a:defRPr>
            </a:lvl9pPr>
          </a:lstStyle>
          <a:p/>
        </p:txBody>
      </p:sp>
      <p:pic>
        <p:nvPicPr>
          <p:cNvPr descr="TTN Logo.png" id="90" name="Google Shape;90;p42"/>
          <p:cNvPicPr preferRelativeResize="0"/>
          <p:nvPr/>
        </p:nvPicPr>
        <p:blipFill rotWithShape="1">
          <a:blip r:embed="rId2">
            <a:alphaModFix/>
          </a:blip>
          <a:srcRect b="0" l="0" r="0" t="0"/>
          <a:stretch/>
        </p:blipFill>
        <p:spPr>
          <a:xfrm>
            <a:off x="8295649" y="178006"/>
            <a:ext cx="648924" cy="362494"/>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Just Logo without Title 1 1 1">
  <p:cSld name="TITLE_AND_TWO_COLUMNS_2_1_1_1">
    <p:spTree>
      <p:nvGrpSpPr>
        <p:cNvPr id="91" name="Shape 91"/>
        <p:cNvGrpSpPr/>
        <p:nvPr/>
      </p:nvGrpSpPr>
      <p:grpSpPr>
        <a:xfrm>
          <a:off x="0" y="0"/>
          <a:ext cx="0" cy="0"/>
          <a:chOff x="0" y="0"/>
          <a:chExt cx="0" cy="0"/>
        </a:xfrm>
      </p:grpSpPr>
      <p:pic>
        <p:nvPicPr>
          <p:cNvPr id="92" name="Google Shape;92;p43"/>
          <p:cNvPicPr preferRelativeResize="0"/>
          <p:nvPr/>
        </p:nvPicPr>
        <p:blipFill rotWithShape="1">
          <a:blip r:embed="rId2">
            <a:alphaModFix/>
          </a:blip>
          <a:srcRect b="0" l="0" r="0" t="0"/>
          <a:stretch/>
        </p:blipFill>
        <p:spPr>
          <a:xfrm rot="10800000">
            <a:off x="-12" y="0"/>
            <a:ext cx="3890275" cy="5143501"/>
          </a:xfrm>
          <a:prstGeom prst="rect">
            <a:avLst/>
          </a:prstGeom>
          <a:noFill/>
          <a:ln>
            <a:noFill/>
          </a:ln>
        </p:spPr>
      </p:pic>
      <p:sp>
        <p:nvSpPr>
          <p:cNvPr id="93" name="Google Shape;93;p43"/>
          <p:cNvSpPr/>
          <p:nvPr/>
        </p:nvSpPr>
        <p:spPr>
          <a:xfrm>
            <a:off x="0" y="144000"/>
            <a:ext cx="47400" cy="3573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 name="Google Shape;94;p43"/>
          <p:cNvSpPr txBox="1"/>
          <p:nvPr>
            <p:ph type="title"/>
          </p:nvPr>
        </p:nvSpPr>
        <p:spPr>
          <a:xfrm>
            <a:off x="104500" y="141850"/>
            <a:ext cx="6703800" cy="357300"/>
          </a:xfrm>
          <a:prstGeom prst="rect">
            <a:avLst/>
          </a:prstGeom>
          <a:noFill/>
          <a:ln>
            <a:noFill/>
          </a:ln>
        </p:spPr>
        <p:txBody>
          <a:bodyPr anchorCtr="0" anchor="ctr" bIns="91425" lIns="91425" spcFirstLastPara="1" rIns="91425" wrap="square" tIns="91425">
            <a:noAutofit/>
          </a:bodyPr>
          <a:lstStyle>
            <a:lvl1pPr lvl="0" marR="0" rtl="0" algn="l">
              <a:lnSpc>
                <a:spcPct val="100000"/>
              </a:lnSpc>
              <a:spcBef>
                <a:spcPts val="0"/>
              </a:spcBef>
              <a:spcAft>
                <a:spcPts val="0"/>
              </a:spcAft>
              <a:buClr>
                <a:srgbClr val="000000"/>
              </a:buClr>
              <a:buSzPts val="2000"/>
              <a:buFont typeface="Montserrat"/>
              <a:buNone/>
              <a:defRPr b="1" i="0" sz="2000" u="none" cap="none" strike="noStrike">
                <a:solidFill>
                  <a:srgbClr val="000000"/>
                </a:solidFill>
                <a:latin typeface="Montserrat"/>
                <a:ea typeface="Montserrat"/>
                <a:cs typeface="Montserrat"/>
                <a:sym typeface="Montserrat"/>
              </a:defRPr>
            </a:lvl1pPr>
            <a:lvl2pPr lvl="1"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2pPr>
            <a:lvl3pPr lvl="2"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3pPr>
            <a:lvl4pPr lvl="3"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4pPr>
            <a:lvl5pPr lvl="4"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5pPr>
            <a:lvl6pPr lvl="5"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6pPr>
            <a:lvl7pPr lvl="6"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7pPr>
            <a:lvl8pPr lvl="7"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8pPr>
            <a:lvl9pPr lvl="8"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9pPr>
          </a:lstStyle>
          <a:p/>
        </p:txBody>
      </p:sp>
      <p:sp>
        <p:nvSpPr>
          <p:cNvPr id="95" name="Google Shape;95;p43"/>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Montserrat"/>
                <a:ea typeface="Montserrat"/>
                <a:cs typeface="Montserrat"/>
                <a:sym typeface="Montserrat"/>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Montserrat"/>
                <a:ea typeface="Montserrat"/>
                <a:cs typeface="Montserrat"/>
                <a:sym typeface="Montserrat"/>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Montserrat"/>
                <a:ea typeface="Montserrat"/>
                <a:cs typeface="Montserrat"/>
                <a:sym typeface="Montserrat"/>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Montserrat"/>
                <a:ea typeface="Montserrat"/>
                <a:cs typeface="Montserrat"/>
                <a:sym typeface="Montserrat"/>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Montserrat"/>
                <a:ea typeface="Montserrat"/>
                <a:cs typeface="Montserrat"/>
                <a:sym typeface="Montserrat"/>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Montserrat"/>
                <a:ea typeface="Montserrat"/>
                <a:cs typeface="Montserrat"/>
                <a:sym typeface="Montserrat"/>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Montserrat"/>
                <a:ea typeface="Montserrat"/>
                <a:cs typeface="Montserrat"/>
                <a:sym typeface="Montserrat"/>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Montserrat"/>
                <a:ea typeface="Montserrat"/>
                <a:cs typeface="Montserrat"/>
                <a:sym typeface="Montserrat"/>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Montserrat"/>
                <a:ea typeface="Montserrat"/>
                <a:cs typeface="Montserrat"/>
                <a:sym typeface="Montserrat"/>
              </a:defRPr>
            </a:lvl9pPr>
          </a:lstStyle>
          <a:p>
            <a:pPr indent="0" lvl="0" marL="0" rtl="0" algn="r">
              <a:spcBef>
                <a:spcPts val="0"/>
              </a:spcBef>
              <a:spcAft>
                <a:spcPts val="0"/>
              </a:spcAft>
              <a:buNone/>
            </a:pPr>
            <a:fld id="{00000000-1234-1234-1234-123412341234}" type="slidenum">
              <a:rPr lang="en"/>
              <a:t>‹#›</a:t>
            </a:fld>
            <a:endParaRPr/>
          </a:p>
        </p:txBody>
      </p:sp>
      <p:pic>
        <p:nvPicPr>
          <p:cNvPr descr="TTN Logo.png" id="96" name="Google Shape;96;p43"/>
          <p:cNvPicPr preferRelativeResize="0"/>
          <p:nvPr/>
        </p:nvPicPr>
        <p:blipFill rotWithShape="1">
          <a:blip r:embed="rId3">
            <a:alphaModFix/>
          </a:blip>
          <a:srcRect b="0" l="0" r="0" t="0"/>
          <a:stretch/>
        </p:blipFill>
        <p:spPr>
          <a:xfrm>
            <a:off x="8414781" y="117828"/>
            <a:ext cx="625544" cy="349439"/>
          </a:xfrm>
          <a:prstGeom prst="rect">
            <a:avLst/>
          </a:prstGeom>
          <a:noFill/>
          <a:ln>
            <a:noFill/>
          </a:ln>
        </p:spPr>
      </p:pic>
      <p:cxnSp>
        <p:nvCxnSpPr>
          <p:cNvPr id="97" name="Google Shape;97;p43"/>
          <p:cNvCxnSpPr/>
          <p:nvPr/>
        </p:nvCxnSpPr>
        <p:spPr>
          <a:xfrm>
            <a:off x="8286793" y="153689"/>
            <a:ext cx="0" cy="324300"/>
          </a:xfrm>
          <a:prstGeom prst="straightConnector1">
            <a:avLst/>
          </a:prstGeom>
          <a:noFill/>
          <a:ln cap="flat" cmpd="sng" w="9525">
            <a:solidFill>
              <a:srgbClr val="595959"/>
            </a:solidFill>
            <a:prstDash val="solid"/>
            <a:round/>
            <a:headEnd len="sm" w="sm" type="none"/>
            <a:tailEnd len="sm" w="sm" type="none"/>
          </a:ln>
        </p:spPr>
      </p:cxn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03" name="Shape 103"/>
        <p:cNvGrpSpPr/>
        <p:nvPr/>
      </p:nvGrpSpPr>
      <p:grpSpPr>
        <a:xfrm>
          <a:off x="0" y="0"/>
          <a:ext cx="0" cy="0"/>
          <a:chOff x="0" y="0"/>
          <a:chExt cx="0" cy="0"/>
        </a:xfrm>
      </p:grpSpPr>
      <p:sp>
        <p:nvSpPr>
          <p:cNvPr id="104" name="Google Shape;104;p46"/>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05" name="Google Shape;105;p46"/>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06" name="Google Shape;106;p4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07" name="Shape 107"/>
        <p:cNvGrpSpPr/>
        <p:nvPr/>
      </p:nvGrpSpPr>
      <p:grpSpPr>
        <a:xfrm>
          <a:off x="0" y="0"/>
          <a:ext cx="0" cy="0"/>
          <a:chOff x="0" y="0"/>
          <a:chExt cx="0" cy="0"/>
        </a:xfrm>
      </p:grpSpPr>
      <p:sp>
        <p:nvSpPr>
          <p:cNvPr id="108" name="Google Shape;108;p47"/>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109" name="Google Shape;109;p4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10" name="Shape 110"/>
        <p:cNvGrpSpPr/>
        <p:nvPr/>
      </p:nvGrpSpPr>
      <p:grpSpPr>
        <a:xfrm>
          <a:off x="0" y="0"/>
          <a:ext cx="0" cy="0"/>
          <a:chOff x="0" y="0"/>
          <a:chExt cx="0" cy="0"/>
        </a:xfrm>
      </p:grpSpPr>
      <p:sp>
        <p:nvSpPr>
          <p:cNvPr id="111" name="Google Shape;111;p4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12" name="Google Shape;112;p48"/>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13" name="Google Shape;113;p4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14" name="Shape 114"/>
        <p:cNvGrpSpPr/>
        <p:nvPr/>
      </p:nvGrpSpPr>
      <p:grpSpPr>
        <a:xfrm>
          <a:off x="0" y="0"/>
          <a:ext cx="0" cy="0"/>
          <a:chOff x="0" y="0"/>
          <a:chExt cx="0" cy="0"/>
        </a:xfrm>
      </p:grpSpPr>
      <p:sp>
        <p:nvSpPr>
          <p:cNvPr id="115" name="Google Shape;115;p4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16" name="Google Shape;116;p49"/>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117" name="Google Shape;117;p49"/>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118" name="Google Shape;118;p4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19" name="Shape 119"/>
        <p:cNvGrpSpPr/>
        <p:nvPr/>
      </p:nvGrpSpPr>
      <p:grpSpPr>
        <a:xfrm>
          <a:off x="0" y="0"/>
          <a:ext cx="0" cy="0"/>
          <a:chOff x="0" y="0"/>
          <a:chExt cx="0" cy="0"/>
        </a:xfrm>
      </p:grpSpPr>
      <p:sp>
        <p:nvSpPr>
          <p:cNvPr id="120" name="Google Shape;120;p5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21" name="Google Shape;121;p5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22" name="Shape 122"/>
        <p:cNvGrpSpPr/>
        <p:nvPr/>
      </p:nvGrpSpPr>
      <p:grpSpPr>
        <a:xfrm>
          <a:off x="0" y="0"/>
          <a:ext cx="0" cy="0"/>
          <a:chOff x="0" y="0"/>
          <a:chExt cx="0" cy="0"/>
        </a:xfrm>
      </p:grpSpPr>
      <p:sp>
        <p:nvSpPr>
          <p:cNvPr id="123" name="Google Shape;123;p51"/>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124" name="Google Shape;124;p51"/>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125" name="Google Shape;125;p5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26" name="Shape 126"/>
        <p:cNvGrpSpPr/>
        <p:nvPr/>
      </p:nvGrpSpPr>
      <p:grpSpPr>
        <a:xfrm>
          <a:off x="0" y="0"/>
          <a:ext cx="0" cy="0"/>
          <a:chOff x="0" y="0"/>
          <a:chExt cx="0" cy="0"/>
        </a:xfrm>
      </p:grpSpPr>
      <p:sp>
        <p:nvSpPr>
          <p:cNvPr id="127" name="Google Shape;127;p52"/>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128" name="Google Shape;128;p5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29" name="Shape 129"/>
        <p:cNvGrpSpPr/>
        <p:nvPr/>
      </p:nvGrpSpPr>
      <p:grpSpPr>
        <a:xfrm>
          <a:off x="0" y="0"/>
          <a:ext cx="0" cy="0"/>
          <a:chOff x="0" y="0"/>
          <a:chExt cx="0" cy="0"/>
        </a:xfrm>
      </p:grpSpPr>
      <p:sp>
        <p:nvSpPr>
          <p:cNvPr id="130" name="Google Shape;130;p53"/>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 name="Google Shape;131;p53"/>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132" name="Google Shape;132;p53"/>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133" name="Google Shape;133;p53"/>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34" name="Google Shape;134;p5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35" name="Shape 135"/>
        <p:cNvGrpSpPr/>
        <p:nvPr/>
      </p:nvGrpSpPr>
      <p:grpSpPr>
        <a:xfrm>
          <a:off x="0" y="0"/>
          <a:ext cx="0" cy="0"/>
          <a:chOff x="0" y="0"/>
          <a:chExt cx="0" cy="0"/>
        </a:xfrm>
      </p:grpSpPr>
      <p:sp>
        <p:nvSpPr>
          <p:cNvPr id="136" name="Google Shape;136;p54"/>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137" name="Google Shape;137;p5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38" name="Shape 138"/>
        <p:cNvGrpSpPr/>
        <p:nvPr/>
      </p:nvGrpSpPr>
      <p:grpSpPr>
        <a:xfrm>
          <a:off x="0" y="0"/>
          <a:ext cx="0" cy="0"/>
          <a:chOff x="0" y="0"/>
          <a:chExt cx="0" cy="0"/>
        </a:xfrm>
      </p:grpSpPr>
      <p:sp>
        <p:nvSpPr>
          <p:cNvPr id="139" name="Google Shape;139;p55"/>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140" name="Google Shape;140;p55"/>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141" name="Google Shape;141;p5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42" name="Shape 142"/>
        <p:cNvGrpSpPr/>
        <p:nvPr/>
      </p:nvGrpSpPr>
      <p:grpSpPr>
        <a:xfrm>
          <a:off x="0" y="0"/>
          <a:ext cx="0" cy="0"/>
          <a:chOff x="0" y="0"/>
          <a:chExt cx="0" cy="0"/>
        </a:xfrm>
      </p:grpSpPr>
      <p:sp>
        <p:nvSpPr>
          <p:cNvPr id="143" name="Google Shape;143;p5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image" Target="../media/image10.png"/><Relationship Id="rId2" Type="http://schemas.openxmlformats.org/officeDocument/2006/relationships/image" Target="../media/image1.png"/><Relationship Id="rId3" Type="http://schemas.openxmlformats.org/officeDocument/2006/relationships/slideLayout" Target="../slideLayouts/slideLayout5.xml"/><Relationship Id="rId4" Type="http://schemas.openxmlformats.org/officeDocument/2006/relationships/slideLayout" Target="../slideLayouts/slideLayout6.xml"/><Relationship Id="rId5" Type="http://schemas.openxmlformats.org/officeDocument/2006/relationships/slideLayout" Target="../slideLayouts/slideLayout7.xml"/><Relationship Id="rId6" Type="http://schemas.openxmlformats.org/officeDocument/2006/relationships/slideLayout" Target="../slideLayouts/slideLayout8.xml"/><Relationship Id="rId7" Type="http://schemas.openxmlformats.org/officeDocument/2006/relationships/slideLayout" Target="../slideLayouts/slideLayout9.xml"/><Relationship Id="rId8" Type="http://schemas.openxmlformats.org/officeDocument/2006/relationships/slideLayout" Target="../slideLayouts/slideLayout10.xml"/><Relationship Id="rId9" Type="http://schemas.openxmlformats.org/officeDocument/2006/relationships/slideLayout" Target="../slideLayouts/slideLayout11.xml"/><Relationship Id="rId10" Type="http://schemas.openxmlformats.org/officeDocument/2006/relationships/slideLayout" Target="../slideLayouts/slideLayout12.xml"/><Relationship Id="rId11" Type="http://schemas.openxmlformats.org/officeDocument/2006/relationships/slideLayout" Target="../slideLayouts/slideLayout13.xml"/><Relationship Id="rId12" Type="http://schemas.openxmlformats.org/officeDocument/2006/relationships/slideLayout" Target="../slideLayouts/slideLayout14.xml"/><Relationship Id="rId13"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slideLayout" Target="../slideLayouts/slideLayout16.xml"/><Relationship Id="rId3" Type="http://schemas.openxmlformats.org/officeDocument/2006/relationships/slideLayout" Target="../slideLayouts/slideLayout17.xml"/><Relationship Id="rId4" Type="http://schemas.openxmlformats.org/officeDocument/2006/relationships/slideLayout" Target="../slideLayouts/slideLayout18.xml"/><Relationship Id="rId5" Type="http://schemas.openxmlformats.org/officeDocument/2006/relationships/slideLayout" Target="../slideLayouts/slideLayout19.xml"/><Relationship Id="rId6" Type="http://schemas.openxmlformats.org/officeDocument/2006/relationships/slideLayout" Target="../slideLayouts/slideLayout20.xml"/><Relationship Id="rId7" Type="http://schemas.openxmlformats.org/officeDocument/2006/relationships/slideLayout" Target="../slideLayouts/slideLayout21.xml"/><Relationship Id="rId8" Type="http://schemas.openxmlformats.org/officeDocument/2006/relationships/slideLayout" Target="../slideLayouts/slideLayout22.xml"/><Relationship Id="rId9" Type="http://schemas.openxmlformats.org/officeDocument/2006/relationships/slideLayout" Target="../slideLayouts/slideLayout23.xml"/><Relationship Id="rId10" Type="http://schemas.openxmlformats.org/officeDocument/2006/relationships/slideLayout" Target="../slideLayouts/slideLayout24.xml"/><Relationship Id="rId11" Type="http://schemas.openxmlformats.org/officeDocument/2006/relationships/slideLayout" Target="../slideLayouts/slideLayout25.xml"/><Relationship Id="rId12"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pic>
        <p:nvPicPr>
          <p:cNvPr id="6" name="Google Shape;6;p29"/>
          <p:cNvPicPr preferRelativeResize="0"/>
          <p:nvPr/>
        </p:nvPicPr>
        <p:blipFill rotWithShape="1">
          <a:blip r:embed="rId1">
            <a:alphaModFix/>
          </a:blip>
          <a:srcRect b="0" l="0" r="0" t="0"/>
          <a:stretch/>
        </p:blipFill>
        <p:spPr>
          <a:xfrm>
            <a:off x="-10" y="5071684"/>
            <a:ext cx="9151473" cy="80441"/>
          </a:xfrm>
          <a:prstGeom prst="rect">
            <a:avLst/>
          </a:prstGeom>
          <a:noFill/>
          <a:ln>
            <a:noFill/>
          </a:ln>
        </p:spPr>
      </p:pic>
      <p:sp>
        <p:nvSpPr>
          <p:cNvPr id="7" name="Google Shape;7;p29"/>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7" name="Shape 27"/>
        <p:cNvGrpSpPr/>
        <p:nvPr/>
      </p:nvGrpSpPr>
      <p:grpSpPr>
        <a:xfrm>
          <a:off x="0" y="0"/>
          <a:ext cx="0" cy="0"/>
          <a:chOff x="0" y="0"/>
          <a:chExt cx="0" cy="0"/>
        </a:xfrm>
      </p:grpSpPr>
      <p:pic>
        <p:nvPicPr>
          <p:cNvPr id="28" name="Google Shape;28;p32"/>
          <p:cNvPicPr preferRelativeResize="0"/>
          <p:nvPr/>
        </p:nvPicPr>
        <p:blipFill rotWithShape="1">
          <a:blip r:embed="rId1">
            <a:alphaModFix/>
          </a:blip>
          <a:srcRect b="56881" l="299" r="0" t="4"/>
          <a:stretch/>
        </p:blipFill>
        <p:spPr>
          <a:xfrm>
            <a:off x="-7475" y="5125600"/>
            <a:ext cx="9151474" cy="17899"/>
          </a:xfrm>
          <a:prstGeom prst="rect">
            <a:avLst/>
          </a:prstGeom>
          <a:noFill/>
          <a:ln>
            <a:noFill/>
          </a:ln>
        </p:spPr>
      </p:pic>
      <p:pic>
        <p:nvPicPr>
          <p:cNvPr id="29" name="Google Shape;29;p32"/>
          <p:cNvPicPr preferRelativeResize="0"/>
          <p:nvPr/>
        </p:nvPicPr>
        <p:blipFill rotWithShape="1">
          <a:blip r:embed="rId2">
            <a:alphaModFix/>
          </a:blip>
          <a:srcRect b="0" l="0" r="0" t="0"/>
          <a:stretch/>
        </p:blipFill>
        <p:spPr>
          <a:xfrm>
            <a:off x="-10" y="5071684"/>
            <a:ext cx="9151473" cy="80441"/>
          </a:xfrm>
          <a:prstGeom prst="rect">
            <a:avLst/>
          </a:prstGeom>
          <a:noFill/>
          <a:ln>
            <a:noFill/>
          </a:ln>
        </p:spPr>
      </p:pic>
      <p:sp>
        <p:nvSpPr>
          <p:cNvPr id="30" name="Google Shape;30;p32"/>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54" r:id="rId3"/>
    <p:sldLayoutId id="2147483655" r:id="rId4"/>
    <p:sldLayoutId id="2147483656" r:id="rId5"/>
    <p:sldLayoutId id="2147483657" r:id="rId6"/>
    <p:sldLayoutId id="2147483658" r:id="rId7"/>
    <p:sldLayoutId id="2147483659" r:id="rId8"/>
    <p:sldLayoutId id="2147483660" r:id="rId9"/>
    <p:sldLayoutId id="2147483661" r:id="rId10"/>
    <p:sldLayoutId id="2147483662" r:id="rId11"/>
    <p:sldLayoutId id="2147483663"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99" name="Shape 99"/>
        <p:cNvGrpSpPr/>
        <p:nvPr/>
      </p:nvGrpSpPr>
      <p:grpSpPr>
        <a:xfrm>
          <a:off x="0" y="0"/>
          <a:ext cx="0" cy="0"/>
          <a:chOff x="0" y="0"/>
          <a:chExt cx="0" cy="0"/>
        </a:xfrm>
      </p:grpSpPr>
      <p:sp>
        <p:nvSpPr>
          <p:cNvPr id="100" name="Google Shape;100;p4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101" name="Google Shape;101;p45"/>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102" name="Google Shape;102;p4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65" r:id="rId1"/>
    <p:sldLayoutId id="2147483666" r:id="rId2"/>
    <p:sldLayoutId id="2147483667" r:id="rId3"/>
    <p:sldLayoutId id="2147483668" r:id="rId4"/>
    <p:sldLayoutId id="2147483669" r:id="rId5"/>
    <p:sldLayoutId id="2147483670" r:id="rId6"/>
    <p:sldLayoutId id="2147483671" r:id="rId7"/>
    <p:sldLayoutId id="2147483672" r:id="rId8"/>
    <p:sldLayoutId id="2147483673" r:id="rId9"/>
    <p:sldLayoutId id="2147483674" r:id="rId10"/>
    <p:sldLayoutId id="2147483675"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image" Target="../media/image8.png"/><Relationship Id="rId6" Type="http://schemas.openxmlformats.org/officeDocument/2006/relationships/image" Target="../media/image11.png"/><Relationship Id="rId7" Type="http://schemas.openxmlformats.org/officeDocument/2006/relationships/image" Target="../media/image7.png"/><Relationship Id="rId8" Type="http://schemas.openxmlformats.org/officeDocument/2006/relationships/image" Target="../media/image9.png"/><Relationship Id="rId9" Type="http://schemas.openxmlformats.org/officeDocument/2006/relationships/image" Target="../media/image15.png"/><Relationship Id="rId10" Type="http://schemas.openxmlformats.org/officeDocument/2006/relationships/image" Target="../media/image1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 Id="rId3" Type="http://schemas.openxmlformats.org/officeDocument/2006/relationships/image" Target="../media/image27.png"/><Relationship Id="rId4" Type="http://schemas.openxmlformats.org/officeDocument/2006/relationships/image" Target="../media/image2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7.xml"/><Relationship Id="rId3" Type="http://schemas.openxmlformats.org/officeDocument/2006/relationships/image" Target="../media/image24.png"/><Relationship Id="rId4" Type="http://schemas.openxmlformats.org/officeDocument/2006/relationships/image" Target="../media/image28.png"/><Relationship Id="rId5" Type="http://schemas.openxmlformats.org/officeDocument/2006/relationships/image" Target="../media/image32.png"/><Relationship Id="rId6" Type="http://schemas.openxmlformats.org/officeDocument/2006/relationships/image" Target="../media/image30.png"/><Relationship Id="rId7" Type="http://schemas.openxmlformats.org/officeDocument/2006/relationships/image" Target="../media/image2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8.xml"/><Relationship Id="rId3" Type="http://schemas.openxmlformats.org/officeDocument/2006/relationships/image" Target="../media/image18.png"/><Relationship Id="rId4" Type="http://schemas.openxmlformats.org/officeDocument/2006/relationships/image" Target="../media/image31.png"/><Relationship Id="rId5" Type="http://schemas.openxmlformats.org/officeDocument/2006/relationships/image" Target="../media/image20.png"/><Relationship Id="rId6" Type="http://schemas.openxmlformats.org/officeDocument/2006/relationships/image" Target="../media/image19.png"/><Relationship Id="rId7" Type="http://schemas.openxmlformats.org/officeDocument/2006/relationships/image" Target="../media/image23.png"/><Relationship Id="rId8" Type="http://schemas.openxmlformats.org/officeDocument/2006/relationships/image" Target="../media/image21.png"/><Relationship Id="rId9" Type="http://schemas.openxmlformats.org/officeDocument/2006/relationships/image" Target="../media/image35.png"/><Relationship Id="rId10" Type="http://schemas.openxmlformats.org/officeDocument/2006/relationships/image" Target="../media/image13.png"/><Relationship Id="rId11" Type="http://schemas.openxmlformats.org/officeDocument/2006/relationships/image" Target="../media/image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9.xml"/><Relationship Id="rId3" Type="http://schemas.openxmlformats.org/officeDocument/2006/relationships/image" Target="../media/image36.png"/><Relationship Id="rId4" Type="http://schemas.openxmlformats.org/officeDocument/2006/relationships/image" Target="../media/image2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 Id="rId3" Type="http://schemas.openxmlformats.org/officeDocument/2006/relationships/image" Target="../media/image37.png"/><Relationship Id="rId4" Type="http://schemas.openxmlformats.org/officeDocument/2006/relationships/image" Target="../media/image42.png"/><Relationship Id="rId5" Type="http://schemas.openxmlformats.org/officeDocument/2006/relationships/image" Target="../media/image34.png"/><Relationship Id="rId6" Type="http://schemas.openxmlformats.org/officeDocument/2006/relationships/image" Target="../media/image44.png"/><Relationship Id="rId7" Type="http://schemas.openxmlformats.org/officeDocument/2006/relationships/image" Target="../media/image33.png"/><Relationship Id="rId8" Type="http://schemas.openxmlformats.org/officeDocument/2006/relationships/image" Target="../media/image41.png"/><Relationship Id="rId9" Type="http://schemas.openxmlformats.org/officeDocument/2006/relationships/image" Target="../media/image40.png"/><Relationship Id="rId10" Type="http://schemas.openxmlformats.org/officeDocument/2006/relationships/image" Target="../media/image13.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 Id="rId3" Type="http://schemas.openxmlformats.org/officeDocument/2006/relationships/image" Target="../media/image37.png"/><Relationship Id="rId4" Type="http://schemas.openxmlformats.org/officeDocument/2006/relationships/image" Target="../media/image38.png"/><Relationship Id="rId5" Type="http://schemas.openxmlformats.org/officeDocument/2006/relationships/image" Target="../media/image42.png"/><Relationship Id="rId6" Type="http://schemas.openxmlformats.org/officeDocument/2006/relationships/image" Target="../media/image34.png"/><Relationship Id="rId7" Type="http://schemas.openxmlformats.org/officeDocument/2006/relationships/image" Target="../media/image33.png"/><Relationship Id="rId8" Type="http://schemas.openxmlformats.org/officeDocument/2006/relationships/image" Target="../media/image41.png"/><Relationship Id="rId9" Type="http://schemas.openxmlformats.org/officeDocument/2006/relationships/image" Target="../media/image43.png"/><Relationship Id="rId10" Type="http://schemas.openxmlformats.org/officeDocument/2006/relationships/image" Target="../media/image39.png"/><Relationship Id="rId11" Type="http://schemas.openxmlformats.org/officeDocument/2006/relationships/image" Target="../media/image13.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 Id="rId3" Type="http://schemas.openxmlformats.org/officeDocument/2006/relationships/image" Target="../media/image37.png"/><Relationship Id="rId4" Type="http://schemas.openxmlformats.org/officeDocument/2006/relationships/image" Target="../media/image42.png"/><Relationship Id="rId5" Type="http://schemas.openxmlformats.org/officeDocument/2006/relationships/image" Target="../media/image34.png"/><Relationship Id="rId6" Type="http://schemas.openxmlformats.org/officeDocument/2006/relationships/image" Target="../media/image33.png"/><Relationship Id="rId7" Type="http://schemas.openxmlformats.org/officeDocument/2006/relationships/image" Target="../media/image41.png"/><Relationship Id="rId8" Type="http://schemas.openxmlformats.org/officeDocument/2006/relationships/image" Target="../media/image48.png"/><Relationship Id="rId9" Type="http://schemas.openxmlformats.org/officeDocument/2006/relationships/image" Target="../media/image45.png"/><Relationship Id="rId10" Type="http://schemas.openxmlformats.org/officeDocument/2006/relationships/image" Target="../media/image13.png"/><Relationship Id="rId11" Type="http://schemas.openxmlformats.org/officeDocument/2006/relationships/image" Target="../media/image47.png"/><Relationship Id="rId12" Type="http://schemas.openxmlformats.org/officeDocument/2006/relationships/image" Target="../media/image46.png"/><Relationship Id="rId13" Type="http://schemas.openxmlformats.org/officeDocument/2006/relationships/image" Target="../media/image49.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9.png"/><Relationship Id="rId4" Type="http://schemas.openxmlformats.org/officeDocument/2006/relationships/image" Target="../media/image1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pic>
        <p:nvPicPr>
          <p:cNvPr id="148" name="Google Shape;148;p1"/>
          <p:cNvPicPr preferRelativeResize="0"/>
          <p:nvPr/>
        </p:nvPicPr>
        <p:blipFill rotWithShape="1">
          <a:blip r:embed="rId3">
            <a:alphaModFix/>
          </a:blip>
          <a:srcRect b="3747" l="0" r="0" t="3738"/>
          <a:stretch/>
        </p:blipFill>
        <p:spPr>
          <a:xfrm>
            <a:off x="5628871" y="4764214"/>
            <a:ext cx="527963" cy="207109"/>
          </a:xfrm>
          <a:prstGeom prst="rect">
            <a:avLst/>
          </a:prstGeom>
          <a:noFill/>
          <a:ln>
            <a:noFill/>
          </a:ln>
        </p:spPr>
      </p:pic>
      <p:pic>
        <p:nvPicPr>
          <p:cNvPr id="149" name="Google Shape;149;p1"/>
          <p:cNvPicPr preferRelativeResize="0"/>
          <p:nvPr/>
        </p:nvPicPr>
        <p:blipFill rotWithShape="1">
          <a:blip r:embed="rId4">
            <a:alphaModFix/>
          </a:blip>
          <a:srcRect b="0" l="0" r="0" t="0"/>
          <a:stretch/>
        </p:blipFill>
        <p:spPr>
          <a:xfrm>
            <a:off x="4492492" y="4767423"/>
            <a:ext cx="1005406" cy="200690"/>
          </a:xfrm>
          <a:prstGeom prst="rect">
            <a:avLst/>
          </a:prstGeom>
          <a:noFill/>
          <a:ln>
            <a:noFill/>
          </a:ln>
        </p:spPr>
      </p:pic>
      <p:sp>
        <p:nvSpPr>
          <p:cNvPr id="150" name="Google Shape;150;p1"/>
          <p:cNvSpPr txBox="1"/>
          <p:nvPr/>
        </p:nvSpPr>
        <p:spPr>
          <a:xfrm>
            <a:off x="160663" y="4752390"/>
            <a:ext cx="1432800" cy="2307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800"/>
              <a:buFont typeface="Arial"/>
              <a:buNone/>
            </a:pPr>
            <a:r>
              <a:rPr b="0" i="0" lang="en" sz="800" u="none" cap="none" strike="noStrike">
                <a:solidFill>
                  <a:srgbClr val="000000"/>
                </a:solidFill>
                <a:latin typeface="Montserrat"/>
                <a:ea typeface="Montserrat"/>
                <a:cs typeface="Montserrat"/>
                <a:sym typeface="Montserrat"/>
              </a:rPr>
              <a:t>Proudly recognised by</a:t>
            </a:r>
            <a:endParaRPr b="0" i="0" sz="800" u="none" cap="none" strike="noStrike">
              <a:solidFill>
                <a:srgbClr val="000000"/>
              </a:solidFill>
              <a:latin typeface="Montserrat"/>
              <a:ea typeface="Montserrat"/>
              <a:cs typeface="Montserrat"/>
              <a:sym typeface="Montserrat"/>
            </a:endParaRPr>
          </a:p>
        </p:txBody>
      </p:sp>
      <p:cxnSp>
        <p:nvCxnSpPr>
          <p:cNvPr id="151" name="Google Shape;151;p1"/>
          <p:cNvCxnSpPr/>
          <p:nvPr/>
        </p:nvCxnSpPr>
        <p:spPr>
          <a:xfrm>
            <a:off x="1434913" y="4877373"/>
            <a:ext cx="329100" cy="0"/>
          </a:xfrm>
          <a:prstGeom prst="straightConnector1">
            <a:avLst/>
          </a:prstGeom>
          <a:noFill/>
          <a:ln cap="flat" cmpd="sng" w="9525">
            <a:solidFill>
              <a:srgbClr val="D41883"/>
            </a:solidFill>
            <a:prstDash val="solid"/>
            <a:round/>
            <a:headEnd len="sm" w="sm" type="none"/>
            <a:tailEnd len="med" w="med" type="oval"/>
          </a:ln>
        </p:spPr>
      </p:cxnSp>
      <p:cxnSp>
        <p:nvCxnSpPr>
          <p:cNvPr id="152" name="Google Shape;152;p1"/>
          <p:cNvCxnSpPr/>
          <p:nvPr/>
        </p:nvCxnSpPr>
        <p:spPr>
          <a:xfrm>
            <a:off x="2619072" y="4811830"/>
            <a:ext cx="0" cy="158700"/>
          </a:xfrm>
          <a:prstGeom prst="straightConnector1">
            <a:avLst/>
          </a:prstGeom>
          <a:noFill/>
          <a:ln cap="flat" cmpd="sng" w="9525">
            <a:solidFill>
              <a:srgbClr val="999999"/>
            </a:solidFill>
            <a:prstDash val="dot"/>
            <a:round/>
            <a:headEnd len="sm" w="sm" type="none"/>
            <a:tailEnd len="sm" w="sm" type="none"/>
          </a:ln>
        </p:spPr>
      </p:cxnSp>
      <p:pic>
        <p:nvPicPr>
          <p:cNvPr id="153" name="Google Shape;153;p1"/>
          <p:cNvPicPr preferRelativeResize="0"/>
          <p:nvPr/>
        </p:nvPicPr>
        <p:blipFill rotWithShape="1">
          <a:blip r:embed="rId5">
            <a:alphaModFix/>
          </a:blip>
          <a:srcRect b="0" l="0" r="0" t="0"/>
          <a:stretch/>
        </p:blipFill>
        <p:spPr>
          <a:xfrm>
            <a:off x="3582794" y="4773820"/>
            <a:ext cx="772999" cy="207102"/>
          </a:xfrm>
          <a:prstGeom prst="rect">
            <a:avLst/>
          </a:prstGeom>
          <a:noFill/>
          <a:ln>
            <a:noFill/>
          </a:ln>
        </p:spPr>
      </p:pic>
      <p:cxnSp>
        <p:nvCxnSpPr>
          <p:cNvPr id="154" name="Google Shape;154;p1"/>
          <p:cNvCxnSpPr/>
          <p:nvPr/>
        </p:nvCxnSpPr>
        <p:spPr>
          <a:xfrm>
            <a:off x="3524628" y="4805984"/>
            <a:ext cx="0" cy="158700"/>
          </a:xfrm>
          <a:prstGeom prst="straightConnector1">
            <a:avLst/>
          </a:prstGeom>
          <a:noFill/>
          <a:ln cap="flat" cmpd="sng" w="9525">
            <a:solidFill>
              <a:srgbClr val="999999"/>
            </a:solidFill>
            <a:prstDash val="dot"/>
            <a:round/>
            <a:headEnd len="sm" w="sm" type="none"/>
            <a:tailEnd len="sm" w="sm" type="none"/>
          </a:ln>
        </p:spPr>
      </p:cxnSp>
      <p:cxnSp>
        <p:nvCxnSpPr>
          <p:cNvPr id="155" name="Google Shape;155;p1"/>
          <p:cNvCxnSpPr/>
          <p:nvPr/>
        </p:nvCxnSpPr>
        <p:spPr>
          <a:xfrm>
            <a:off x="4413966" y="4811830"/>
            <a:ext cx="0" cy="158700"/>
          </a:xfrm>
          <a:prstGeom prst="straightConnector1">
            <a:avLst/>
          </a:prstGeom>
          <a:noFill/>
          <a:ln cap="flat" cmpd="sng" w="9525">
            <a:solidFill>
              <a:srgbClr val="999999"/>
            </a:solidFill>
            <a:prstDash val="dot"/>
            <a:round/>
            <a:headEnd len="sm" w="sm" type="none"/>
            <a:tailEnd len="sm" w="sm" type="none"/>
          </a:ln>
        </p:spPr>
      </p:cxnSp>
      <p:cxnSp>
        <p:nvCxnSpPr>
          <p:cNvPr id="156" name="Google Shape;156;p1"/>
          <p:cNvCxnSpPr/>
          <p:nvPr/>
        </p:nvCxnSpPr>
        <p:spPr>
          <a:xfrm>
            <a:off x="5542956" y="4811830"/>
            <a:ext cx="0" cy="158700"/>
          </a:xfrm>
          <a:prstGeom prst="straightConnector1">
            <a:avLst/>
          </a:prstGeom>
          <a:noFill/>
          <a:ln cap="flat" cmpd="sng" w="9525">
            <a:solidFill>
              <a:srgbClr val="999999"/>
            </a:solidFill>
            <a:prstDash val="dot"/>
            <a:round/>
            <a:headEnd len="sm" w="sm" type="none"/>
            <a:tailEnd len="sm" w="sm" type="none"/>
          </a:ln>
        </p:spPr>
      </p:cxnSp>
      <p:pic>
        <p:nvPicPr>
          <p:cNvPr id="157" name="Google Shape;157;p1"/>
          <p:cNvPicPr preferRelativeResize="0"/>
          <p:nvPr/>
        </p:nvPicPr>
        <p:blipFill rotWithShape="1">
          <a:blip r:embed="rId6">
            <a:alphaModFix/>
          </a:blip>
          <a:srcRect b="0" l="0" r="0" t="0"/>
          <a:stretch/>
        </p:blipFill>
        <p:spPr>
          <a:xfrm>
            <a:off x="1835298" y="4767421"/>
            <a:ext cx="711135" cy="200693"/>
          </a:xfrm>
          <a:prstGeom prst="rect">
            <a:avLst/>
          </a:prstGeom>
          <a:noFill/>
          <a:ln>
            <a:noFill/>
          </a:ln>
        </p:spPr>
      </p:pic>
      <p:pic>
        <p:nvPicPr>
          <p:cNvPr id="158" name="Google Shape;158;p1"/>
          <p:cNvPicPr preferRelativeResize="0"/>
          <p:nvPr/>
        </p:nvPicPr>
        <p:blipFill rotWithShape="1">
          <a:blip r:embed="rId7">
            <a:alphaModFix/>
          </a:blip>
          <a:srcRect b="0" l="0" r="0" t="0"/>
          <a:stretch/>
        </p:blipFill>
        <p:spPr>
          <a:xfrm>
            <a:off x="2709573" y="4788445"/>
            <a:ext cx="730426" cy="158646"/>
          </a:xfrm>
          <a:prstGeom prst="rect">
            <a:avLst/>
          </a:prstGeom>
          <a:noFill/>
          <a:ln>
            <a:noFill/>
          </a:ln>
        </p:spPr>
      </p:pic>
      <p:pic>
        <p:nvPicPr>
          <p:cNvPr id="159" name="Google Shape;159;p1"/>
          <p:cNvPicPr preferRelativeResize="0"/>
          <p:nvPr/>
        </p:nvPicPr>
        <p:blipFill rotWithShape="1">
          <a:blip r:embed="rId8">
            <a:alphaModFix/>
          </a:blip>
          <a:srcRect b="0" l="0" r="0" t="0"/>
          <a:stretch/>
        </p:blipFill>
        <p:spPr>
          <a:xfrm>
            <a:off x="249975" y="246249"/>
            <a:ext cx="1145175" cy="585599"/>
          </a:xfrm>
          <a:prstGeom prst="rect">
            <a:avLst/>
          </a:prstGeom>
          <a:noFill/>
          <a:ln>
            <a:noFill/>
          </a:ln>
        </p:spPr>
      </p:pic>
      <p:sp>
        <p:nvSpPr>
          <p:cNvPr id="160" name="Google Shape;160;p1"/>
          <p:cNvSpPr txBox="1"/>
          <p:nvPr/>
        </p:nvSpPr>
        <p:spPr>
          <a:xfrm>
            <a:off x="452550" y="2096825"/>
            <a:ext cx="6849000" cy="2123700"/>
          </a:xfrm>
          <a:prstGeom prst="rect">
            <a:avLst/>
          </a:prstGeom>
          <a:noFill/>
          <a:ln>
            <a:noFill/>
          </a:ln>
        </p:spPr>
        <p:txBody>
          <a:bodyPr anchorCtr="0" anchor="t" bIns="91425" lIns="91425" spcFirstLastPara="1" rIns="91425" wrap="square" tIns="91425">
            <a:noAutofit/>
          </a:bodyPr>
          <a:lstStyle/>
          <a:p>
            <a:r>
              <a:t>TTN Proposal | Apex Retail Solutions</a:t>
            </a:r>
          </a:p>
          <a:p>
            <a:r>
              <a:t>Date : 11 Sep 2026</a:t>
            </a:r>
          </a:p>
          <a:p>
            <a:r>
              <a:t>Ref : 6ac64ed6-71b8-4ade-a315-06dbf97da763</a:t>
            </a:r>
          </a:p>
        </p:txBody>
      </p:sp>
      <p:cxnSp>
        <p:nvCxnSpPr>
          <p:cNvPr id="161" name="Google Shape;161;p1"/>
          <p:cNvCxnSpPr/>
          <p:nvPr/>
        </p:nvCxnSpPr>
        <p:spPr>
          <a:xfrm>
            <a:off x="300149" y="2165563"/>
            <a:ext cx="0" cy="1057800"/>
          </a:xfrm>
          <a:prstGeom prst="straightConnector1">
            <a:avLst/>
          </a:prstGeom>
          <a:noFill/>
          <a:ln cap="flat" cmpd="sng" w="76200">
            <a:solidFill>
              <a:srgbClr val="5424A0"/>
            </a:solidFill>
            <a:prstDash val="solid"/>
            <a:round/>
            <a:headEnd len="sm" w="sm" type="none"/>
            <a:tailEnd len="sm" w="sm" type="none"/>
          </a:ln>
        </p:spPr>
      </p:cxnSp>
      <p:pic>
        <p:nvPicPr>
          <p:cNvPr id="163" name="Google Shape;163;p1"/>
          <p:cNvPicPr preferRelativeResize="0"/>
          <p:nvPr/>
        </p:nvPicPr>
        <p:blipFill rotWithShape="1">
          <a:blip r:embed="rId10">
            <a:alphaModFix/>
          </a:blip>
          <a:srcRect b="-10" l="-6921" r="-6910" t="10"/>
          <a:stretch/>
        </p:blipFill>
        <p:spPr>
          <a:xfrm>
            <a:off x="6287808" y="4668680"/>
            <a:ext cx="265774" cy="398125"/>
          </a:xfrm>
          <a:prstGeom prst="rect">
            <a:avLst/>
          </a:prstGeom>
          <a:noFill/>
          <a:ln>
            <a:noFill/>
          </a:ln>
        </p:spPr>
      </p:pic>
      <p:cxnSp>
        <p:nvCxnSpPr>
          <p:cNvPr id="164" name="Google Shape;164;p1"/>
          <p:cNvCxnSpPr/>
          <p:nvPr/>
        </p:nvCxnSpPr>
        <p:spPr>
          <a:xfrm>
            <a:off x="6204494" y="4811830"/>
            <a:ext cx="0" cy="158700"/>
          </a:xfrm>
          <a:prstGeom prst="straightConnector1">
            <a:avLst/>
          </a:prstGeom>
          <a:noFill/>
          <a:ln cap="flat" cmpd="sng" w="9525">
            <a:solidFill>
              <a:srgbClr val="999999"/>
            </a:solidFill>
            <a:prstDash val="dot"/>
            <a:round/>
            <a:headEnd len="sm" w="sm" type="none"/>
            <a:tailEnd len="sm" w="sm" type="none"/>
          </a:ln>
        </p:spPr>
      </p:cxn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2"/>
          <p:cNvSpPr/>
          <p:nvPr/>
        </p:nvSpPr>
        <p:spPr>
          <a:xfrm>
            <a:off x="0" y="144000"/>
            <a:ext cx="47400" cy="3573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0" name="Google Shape;170;p2"/>
          <p:cNvSpPr txBox="1"/>
          <p:nvPr>
            <p:ph type="title"/>
          </p:nvPr>
        </p:nvSpPr>
        <p:spPr>
          <a:xfrm>
            <a:off x="104500" y="141850"/>
            <a:ext cx="6703800" cy="3573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000"/>
              <a:buNone/>
            </a:pPr>
            <a:r>
              <a:rPr lang="en"/>
              <a:t>Agenda</a:t>
            </a:r>
            <a:endParaRPr/>
          </a:p>
        </p:txBody>
      </p:sp>
      <p:sp>
        <p:nvSpPr>
          <p:cNvPr id="171" name="Google Shape;171;p2"/>
          <p:cNvSpPr/>
          <p:nvPr/>
        </p:nvSpPr>
        <p:spPr>
          <a:xfrm>
            <a:off x="1358763" y="1111025"/>
            <a:ext cx="6654600" cy="376800"/>
          </a:xfrm>
          <a:prstGeom prst="snip1Rect">
            <a:avLst>
              <a:gd fmla="val 35537"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200"/>
              <a:buFont typeface="Arial"/>
              <a:buNone/>
            </a:pPr>
            <a:r>
              <a:rPr b="1" i="0" lang="en" sz="1200" u="none" cap="none" strike="noStrike">
                <a:solidFill>
                  <a:srgbClr val="D71B7F"/>
                </a:solidFill>
                <a:latin typeface="Montserrat"/>
                <a:ea typeface="Montserrat"/>
                <a:cs typeface="Montserrat"/>
                <a:sym typeface="Montserrat"/>
              </a:rPr>
              <a:t>Executive Summary and Our Understanding of Project Requirements</a:t>
            </a:r>
            <a:endParaRPr b="1" i="0" sz="1200" u="none" cap="none" strike="noStrike">
              <a:solidFill>
                <a:srgbClr val="D71B7F"/>
              </a:solidFill>
              <a:latin typeface="Montserrat"/>
              <a:ea typeface="Montserrat"/>
              <a:cs typeface="Montserrat"/>
              <a:sym typeface="Montserrat"/>
            </a:endParaRPr>
          </a:p>
        </p:txBody>
      </p:sp>
      <p:sp>
        <p:nvSpPr>
          <p:cNvPr id="172" name="Google Shape;172;p2"/>
          <p:cNvSpPr/>
          <p:nvPr/>
        </p:nvSpPr>
        <p:spPr>
          <a:xfrm>
            <a:off x="1358763" y="1678410"/>
            <a:ext cx="6654600" cy="376800"/>
          </a:xfrm>
          <a:prstGeom prst="snip1Rect">
            <a:avLst>
              <a:gd fmla="val 35537"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100"/>
              <a:buFont typeface="Arial"/>
              <a:buNone/>
            </a:pPr>
            <a:r>
              <a:rPr b="0" i="0" lang="en" sz="1200" u="none" cap="none" strike="noStrike">
                <a:solidFill>
                  <a:srgbClr val="000000"/>
                </a:solidFill>
                <a:latin typeface="Montserrat"/>
                <a:ea typeface="Montserrat"/>
                <a:cs typeface="Montserrat"/>
                <a:sym typeface="Montserrat"/>
              </a:rPr>
              <a:t>Proposed Technical Solution Approach</a:t>
            </a:r>
            <a:endParaRPr b="0" i="0" sz="1200" u="none" cap="none" strike="noStrike">
              <a:solidFill>
                <a:srgbClr val="000000"/>
              </a:solidFill>
              <a:latin typeface="Montserrat"/>
              <a:ea typeface="Montserrat"/>
              <a:cs typeface="Montserrat"/>
              <a:sym typeface="Montserrat"/>
            </a:endParaRPr>
          </a:p>
        </p:txBody>
      </p:sp>
      <p:sp>
        <p:nvSpPr>
          <p:cNvPr id="173" name="Google Shape;173;p2"/>
          <p:cNvSpPr/>
          <p:nvPr/>
        </p:nvSpPr>
        <p:spPr>
          <a:xfrm>
            <a:off x="1358763" y="3289875"/>
            <a:ext cx="6654600" cy="376800"/>
          </a:xfrm>
          <a:prstGeom prst="snip1Rect">
            <a:avLst>
              <a:gd fmla="val 35537"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100"/>
              <a:buFont typeface="Arial"/>
              <a:buNone/>
            </a:pPr>
            <a:r>
              <a:rPr b="0" i="0" lang="en" sz="1200" u="none" cap="none" strike="noStrike">
                <a:solidFill>
                  <a:srgbClr val="000000"/>
                </a:solidFill>
                <a:latin typeface="Montserrat"/>
                <a:ea typeface="Montserrat"/>
                <a:cs typeface="Montserrat"/>
                <a:sym typeface="Montserrat"/>
              </a:rPr>
              <a:t>Success Stories</a:t>
            </a:r>
            <a:endParaRPr b="0" i="0" sz="1200" u="none" cap="none" strike="noStrike">
              <a:solidFill>
                <a:srgbClr val="000000"/>
              </a:solidFill>
              <a:latin typeface="Montserrat"/>
              <a:ea typeface="Montserrat"/>
              <a:cs typeface="Montserrat"/>
              <a:sym typeface="Montserrat"/>
            </a:endParaRPr>
          </a:p>
        </p:txBody>
      </p:sp>
      <p:cxnSp>
        <p:nvCxnSpPr>
          <p:cNvPr id="174" name="Google Shape;174;p2"/>
          <p:cNvCxnSpPr/>
          <p:nvPr/>
        </p:nvCxnSpPr>
        <p:spPr>
          <a:xfrm>
            <a:off x="1367196" y="1108050"/>
            <a:ext cx="0" cy="382200"/>
          </a:xfrm>
          <a:prstGeom prst="straightConnector1">
            <a:avLst/>
          </a:prstGeom>
          <a:noFill/>
          <a:ln cap="flat" cmpd="sng" w="19050">
            <a:solidFill>
              <a:srgbClr val="12519C"/>
            </a:solidFill>
            <a:prstDash val="solid"/>
            <a:round/>
            <a:headEnd len="sm" w="sm" type="none"/>
            <a:tailEnd len="sm" w="sm" type="none"/>
          </a:ln>
        </p:spPr>
      </p:cxnSp>
      <p:cxnSp>
        <p:nvCxnSpPr>
          <p:cNvPr id="175" name="Google Shape;175;p2"/>
          <p:cNvCxnSpPr/>
          <p:nvPr/>
        </p:nvCxnSpPr>
        <p:spPr>
          <a:xfrm>
            <a:off x="1367196" y="1675436"/>
            <a:ext cx="0" cy="382200"/>
          </a:xfrm>
          <a:prstGeom prst="straightConnector1">
            <a:avLst/>
          </a:prstGeom>
          <a:noFill/>
          <a:ln cap="flat" cmpd="sng" w="19050">
            <a:solidFill>
              <a:srgbClr val="12519C"/>
            </a:solidFill>
            <a:prstDash val="solid"/>
            <a:round/>
            <a:headEnd len="sm" w="sm" type="none"/>
            <a:tailEnd len="sm" w="sm" type="none"/>
          </a:ln>
        </p:spPr>
      </p:cxnSp>
      <p:cxnSp>
        <p:nvCxnSpPr>
          <p:cNvPr id="176" name="Google Shape;176;p2"/>
          <p:cNvCxnSpPr/>
          <p:nvPr/>
        </p:nvCxnSpPr>
        <p:spPr>
          <a:xfrm>
            <a:off x="1367196" y="3288390"/>
            <a:ext cx="0" cy="382200"/>
          </a:xfrm>
          <a:prstGeom prst="straightConnector1">
            <a:avLst/>
          </a:prstGeom>
          <a:noFill/>
          <a:ln cap="flat" cmpd="sng" w="19050">
            <a:solidFill>
              <a:srgbClr val="12519C"/>
            </a:solidFill>
            <a:prstDash val="solid"/>
            <a:round/>
            <a:headEnd len="sm" w="sm" type="none"/>
            <a:tailEnd len="sm" w="sm" type="none"/>
          </a:ln>
        </p:spPr>
      </p:cxnSp>
      <p:sp>
        <p:nvSpPr>
          <p:cNvPr id="177" name="Google Shape;177;p2"/>
          <p:cNvSpPr/>
          <p:nvPr/>
        </p:nvSpPr>
        <p:spPr>
          <a:xfrm>
            <a:off x="1048238" y="1260478"/>
            <a:ext cx="79200" cy="77400"/>
          </a:xfrm>
          <a:prstGeom prst="ellipse">
            <a:avLst/>
          </a:prstGeom>
          <a:solidFill>
            <a:srgbClr val="D71B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8" name="Google Shape;178;p2"/>
          <p:cNvSpPr/>
          <p:nvPr/>
        </p:nvSpPr>
        <p:spPr>
          <a:xfrm>
            <a:off x="1048238" y="1827880"/>
            <a:ext cx="79200" cy="77400"/>
          </a:xfrm>
          <a:prstGeom prst="ellipse">
            <a:avLst/>
          </a:prstGeom>
          <a:solidFill>
            <a:srgbClr val="D71B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9" name="Google Shape;179;p2"/>
          <p:cNvSpPr/>
          <p:nvPr/>
        </p:nvSpPr>
        <p:spPr>
          <a:xfrm>
            <a:off x="1048238" y="3439362"/>
            <a:ext cx="79200" cy="77400"/>
          </a:xfrm>
          <a:prstGeom prst="ellipse">
            <a:avLst/>
          </a:prstGeom>
          <a:solidFill>
            <a:srgbClr val="D71B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0" name="Google Shape;180;p2"/>
          <p:cNvSpPr/>
          <p:nvPr/>
        </p:nvSpPr>
        <p:spPr>
          <a:xfrm>
            <a:off x="1358763" y="2245805"/>
            <a:ext cx="6654600" cy="376800"/>
          </a:xfrm>
          <a:prstGeom prst="snip1Rect">
            <a:avLst>
              <a:gd fmla="val 35537"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100"/>
              <a:buFont typeface="Arial"/>
              <a:buNone/>
            </a:pPr>
            <a:r>
              <a:rPr b="0" i="0" lang="en" sz="1200" u="none" cap="none" strike="noStrike">
                <a:solidFill>
                  <a:srgbClr val="000000"/>
                </a:solidFill>
                <a:latin typeface="Montserrat"/>
                <a:ea typeface="Montserrat"/>
                <a:cs typeface="Montserrat"/>
                <a:sym typeface="Montserrat"/>
              </a:rPr>
              <a:t>Project Plan and Key Deliverables</a:t>
            </a:r>
            <a:endParaRPr b="0" i="0" sz="1200" u="none" cap="none" strike="noStrike">
              <a:solidFill>
                <a:srgbClr val="000000"/>
              </a:solidFill>
              <a:latin typeface="Montserrat"/>
              <a:ea typeface="Montserrat"/>
              <a:cs typeface="Montserrat"/>
              <a:sym typeface="Montserrat"/>
            </a:endParaRPr>
          </a:p>
        </p:txBody>
      </p:sp>
      <p:cxnSp>
        <p:nvCxnSpPr>
          <p:cNvPr id="181" name="Google Shape;181;p2"/>
          <p:cNvCxnSpPr/>
          <p:nvPr/>
        </p:nvCxnSpPr>
        <p:spPr>
          <a:xfrm>
            <a:off x="1367196" y="2242832"/>
            <a:ext cx="0" cy="382200"/>
          </a:xfrm>
          <a:prstGeom prst="straightConnector1">
            <a:avLst/>
          </a:prstGeom>
          <a:noFill/>
          <a:ln cap="flat" cmpd="sng" w="19050">
            <a:solidFill>
              <a:srgbClr val="12519C"/>
            </a:solidFill>
            <a:prstDash val="solid"/>
            <a:round/>
            <a:headEnd len="sm" w="sm" type="none"/>
            <a:tailEnd len="sm" w="sm" type="none"/>
          </a:ln>
        </p:spPr>
      </p:cxnSp>
      <p:sp>
        <p:nvSpPr>
          <p:cNvPr id="182" name="Google Shape;182;p2"/>
          <p:cNvSpPr/>
          <p:nvPr/>
        </p:nvSpPr>
        <p:spPr>
          <a:xfrm>
            <a:off x="1048238" y="2395275"/>
            <a:ext cx="79200" cy="77400"/>
          </a:xfrm>
          <a:prstGeom prst="ellipse">
            <a:avLst/>
          </a:prstGeom>
          <a:solidFill>
            <a:srgbClr val="D71B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3" name="Google Shape;183;p2"/>
          <p:cNvSpPr/>
          <p:nvPr/>
        </p:nvSpPr>
        <p:spPr>
          <a:xfrm>
            <a:off x="1358763" y="2755885"/>
            <a:ext cx="6654600" cy="376800"/>
          </a:xfrm>
          <a:prstGeom prst="snip1Rect">
            <a:avLst>
              <a:gd fmla="val 35537"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100"/>
              <a:buFont typeface="Arial"/>
              <a:buNone/>
            </a:pPr>
            <a:r>
              <a:rPr b="0" i="0" lang="en" sz="1200" u="none" cap="none" strike="noStrike">
                <a:solidFill>
                  <a:srgbClr val="000000"/>
                </a:solidFill>
                <a:latin typeface="Montserrat"/>
                <a:ea typeface="Montserrat"/>
                <a:cs typeface="Montserrat"/>
                <a:sym typeface="Montserrat"/>
              </a:rPr>
              <a:t>Commercial Summary</a:t>
            </a:r>
            <a:endParaRPr b="0" i="0" sz="1200" u="none" cap="none" strike="noStrike">
              <a:solidFill>
                <a:srgbClr val="000000"/>
              </a:solidFill>
              <a:latin typeface="Montserrat"/>
              <a:ea typeface="Montserrat"/>
              <a:cs typeface="Montserrat"/>
              <a:sym typeface="Montserrat"/>
            </a:endParaRPr>
          </a:p>
        </p:txBody>
      </p:sp>
      <p:cxnSp>
        <p:nvCxnSpPr>
          <p:cNvPr id="184" name="Google Shape;184;p2"/>
          <p:cNvCxnSpPr/>
          <p:nvPr/>
        </p:nvCxnSpPr>
        <p:spPr>
          <a:xfrm>
            <a:off x="1367196" y="2752912"/>
            <a:ext cx="0" cy="382200"/>
          </a:xfrm>
          <a:prstGeom prst="straightConnector1">
            <a:avLst/>
          </a:prstGeom>
          <a:noFill/>
          <a:ln cap="flat" cmpd="sng" w="19050">
            <a:solidFill>
              <a:srgbClr val="12519C"/>
            </a:solidFill>
            <a:prstDash val="solid"/>
            <a:round/>
            <a:headEnd len="sm" w="sm" type="none"/>
            <a:tailEnd len="sm" w="sm" type="none"/>
          </a:ln>
        </p:spPr>
      </p:cxnSp>
      <p:sp>
        <p:nvSpPr>
          <p:cNvPr id="185" name="Google Shape;185;p2"/>
          <p:cNvSpPr/>
          <p:nvPr/>
        </p:nvSpPr>
        <p:spPr>
          <a:xfrm>
            <a:off x="1048238" y="2905355"/>
            <a:ext cx="79200" cy="77400"/>
          </a:xfrm>
          <a:prstGeom prst="ellipse">
            <a:avLst/>
          </a:prstGeom>
          <a:solidFill>
            <a:srgbClr val="D71B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6" name="Google Shape;186;p2"/>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300"/>
              <a:buNone/>
            </a:pPr>
            <a:fld id="{00000000-1234-1234-1234-123412341234}" type="slidenum">
              <a:rPr lang="en"/>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3"/>
          <p:cNvSpPr/>
          <p:nvPr/>
        </p:nvSpPr>
        <p:spPr>
          <a:xfrm>
            <a:off x="0" y="144000"/>
            <a:ext cx="47400" cy="3573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2" name="Google Shape;192;p3"/>
          <p:cNvSpPr txBox="1"/>
          <p:nvPr>
            <p:ph type="title"/>
          </p:nvPr>
        </p:nvSpPr>
        <p:spPr>
          <a:xfrm>
            <a:off x="104500" y="141850"/>
            <a:ext cx="5994900" cy="3573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000"/>
              <a:buNone/>
            </a:pPr>
            <a:r>
              <a:rPr lang="en">
                <a:solidFill>
                  <a:schemeClr val="dk1"/>
                </a:solidFill>
              </a:rPr>
              <a:t>Executive Summary</a:t>
            </a:r>
            <a:endParaRPr/>
          </a:p>
        </p:txBody>
      </p:sp>
      <p:sp>
        <p:nvSpPr>
          <p:cNvPr id="193" name="Google Shape;193;p3"/>
          <p:cNvSpPr/>
          <p:nvPr/>
        </p:nvSpPr>
        <p:spPr>
          <a:xfrm>
            <a:off x="223850" y="746325"/>
            <a:ext cx="8690100" cy="4099200"/>
          </a:xfrm>
          <a:prstGeom prst="snip1Rect">
            <a:avLst>
              <a:gd fmla="val 16333"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121875" lIns="121875" spcFirstLastPara="1" rIns="0" wrap="square" tIns="27425">
            <a:noAutofit/>
          </a:bodyPr>
          <a:lstStyle/>
          <a:p>
            <a:r>
              <a:t>Apex Retail Solutions seeks a scalable, secure, and user-centric retail platform to enhance customer engagement and operational efficiency. Our solution is designed to meet the evolving needs of modern retail through a combination of advanced search capabilities, seamless payment integration, and a headless CMS approach. We bring extensive experience in building secure, accessible, and integrable systems that align with global compliance standards and support real-time data synchronization across key business functions.</a:t>
            </a:r>
          </a:p>
        </p:txBody>
      </p:sp>
      <p:cxnSp>
        <p:nvCxnSpPr>
          <p:cNvPr id="194" name="Google Shape;194;p3"/>
          <p:cNvCxnSpPr/>
          <p:nvPr/>
        </p:nvCxnSpPr>
        <p:spPr>
          <a:xfrm flipH="1">
            <a:off x="242444" y="754971"/>
            <a:ext cx="3900" cy="4102800"/>
          </a:xfrm>
          <a:prstGeom prst="straightConnector1">
            <a:avLst/>
          </a:prstGeom>
          <a:noFill/>
          <a:ln cap="flat" cmpd="sng" w="19050">
            <a:solidFill>
              <a:srgbClr val="12519C"/>
            </a:solidFill>
            <a:prstDash val="solid"/>
            <a:round/>
            <a:headEnd len="sm" w="sm" type="none"/>
            <a:tailEnd len="sm" w="sm" type="none"/>
          </a:ln>
        </p:spPr>
      </p:cxnSp>
      <p:sp>
        <p:nvSpPr>
          <p:cNvPr id="195" name="Google Shape;195;p3"/>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sz="1000"/>
              <a:t>‹#›</a:t>
            </a:fld>
            <a:endParaRPr sz="10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4"/>
          <p:cNvSpPr/>
          <p:nvPr/>
        </p:nvSpPr>
        <p:spPr>
          <a:xfrm>
            <a:off x="0" y="144000"/>
            <a:ext cx="47400" cy="3573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1" name="Google Shape;201;p4"/>
          <p:cNvSpPr txBox="1"/>
          <p:nvPr>
            <p:ph type="title"/>
          </p:nvPr>
        </p:nvSpPr>
        <p:spPr>
          <a:xfrm>
            <a:off x="104500" y="141850"/>
            <a:ext cx="5994900" cy="3573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000"/>
              <a:buNone/>
            </a:pPr>
            <a:r>
              <a:rPr lang="en">
                <a:solidFill>
                  <a:schemeClr val="dk1"/>
                </a:solidFill>
              </a:rPr>
              <a:t>Why TTN?</a:t>
            </a:r>
            <a:endParaRPr/>
          </a:p>
        </p:txBody>
      </p:sp>
      <p:sp>
        <p:nvSpPr>
          <p:cNvPr id="202" name="Google Shape;202;p4"/>
          <p:cNvSpPr/>
          <p:nvPr/>
        </p:nvSpPr>
        <p:spPr>
          <a:xfrm>
            <a:off x="474900" y="910600"/>
            <a:ext cx="3914100" cy="1666500"/>
          </a:xfrm>
          <a:prstGeom prst="snip1Rect">
            <a:avLst>
              <a:gd fmla="val 16667" name="adj"/>
            </a:avLst>
          </a:prstGeom>
          <a:noFill/>
          <a:ln cap="flat" cmpd="sng" w="9525">
            <a:solidFill>
              <a:schemeClr val="accent2"/>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50000"/>
              </a:lnSpc>
              <a:spcBef>
                <a:spcPts val="0"/>
              </a:spcBef>
              <a:spcAft>
                <a:spcPts val="0"/>
              </a:spcAft>
              <a:buClr>
                <a:srgbClr val="000000"/>
              </a:buClr>
              <a:buSzPts val="1100"/>
              <a:buFont typeface="Arial"/>
              <a:buNone/>
            </a:pPr>
            <a:r>
              <a:rPr b="1" i="0" lang="en" sz="1100" u="none" cap="none" strike="noStrike">
                <a:solidFill>
                  <a:schemeClr val="dk1"/>
                </a:solidFill>
                <a:latin typeface="Montserrat"/>
                <a:ea typeface="Montserrat"/>
                <a:cs typeface="Montserrat"/>
                <a:sym typeface="Montserrat"/>
              </a:rPr>
              <a:t>Proven UX &amp; Mobile Expertise</a:t>
            </a:r>
            <a:r>
              <a:rPr b="0" i="0" lang="en" sz="1100" u="none" cap="none" strike="noStrike">
                <a:solidFill>
                  <a:schemeClr val="dk1"/>
                </a:solidFill>
                <a:latin typeface="Montserrat"/>
                <a:ea typeface="Montserrat"/>
                <a:cs typeface="Montserrat"/>
                <a:sym typeface="Montserrat"/>
              </a:rPr>
              <a:t> </a:t>
            </a:r>
            <a:endParaRPr b="0" i="0" sz="1100" u="none" cap="none" strike="noStrike">
              <a:solidFill>
                <a:schemeClr val="dk1"/>
              </a:solidFill>
              <a:latin typeface="Montserrat"/>
              <a:ea typeface="Montserrat"/>
              <a:cs typeface="Montserrat"/>
              <a:sym typeface="Montserrat"/>
            </a:endParaRPr>
          </a:p>
          <a:p>
            <a:pPr indent="0" lvl="0" marL="0" marR="0" rtl="0" algn="ctr">
              <a:lnSpc>
                <a:spcPct val="150000"/>
              </a:lnSpc>
              <a:spcBef>
                <a:spcPts val="1000"/>
              </a:spcBef>
              <a:spcAft>
                <a:spcPts val="1000"/>
              </a:spcAft>
              <a:buClr>
                <a:srgbClr val="000000"/>
              </a:buClr>
              <a:buSzPts val="1100"/>
              <a:buFont typeface="Arial"/>
              <a:buNone/>
            </a:pPr>
            <a:r>
              <a:rPr b="0" i="0" lang="en" sz="1100" u="none" cap="none" strike="noStrike">
                <a:solidFill>
                  <a:schemeClr val="dk1"/>
                </a:solidFill>
                <a:latin typeface="Montserrat"/>
                <a:ea typeface="Montserrat"/>
                <a:cs typeface="Montserrat"/>
                <a:sym typeface="Montserrat"/>
              </a:rPr>
              <a:t>We specialize in building intuitive, high-performance mobile applications with seamless user journeys - critical for customer engagement and retention.</a:t>
            </a:r>
            <a:endParaRPr b="0" i="0" sz="1100" u="none" cap="none" strike="noStrike">
              <a:solidFill>
                <a:schemeClr val="dk1"/>
              </a:solidFill>
              <a:latin typeface="Montserrat"/>
              <a:ea typeface="Montserrat"/>
              <a:cs typeface="Montserrat"/>
              <a:sym typeface="Montserrat"/>
            </a:endParaRPr>
          </a:p>
        </p:txBody>
      </p:sp>
      <p:sp>
        <p:nvSpPr>
          <p:cNvPr id="203" name="Google Shape;203;p4"/>
          <p:cNvSpPr/>
          <p:nvPr/>
        </p:nvSpPr>
        <p:spPr>
          <a:xfrm>
            <a:off x="4755004" y="910600"/>
            <a:ext cx="3914100" cy="1666500"/>
          </a:xfrm>
          <a:prstGeom prst="snip1Rect">
            <a:avLst>
              <a:gd fmla="val 16667" name="adj"/>
            </a:avLst>
          </a:prstGeom>
          <a:noFill/>
          <a:ln cap="flat" cmpd="sng" w="9525">
            <a:solidFill>
              <a:schemeClr val="accent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50000"/>
              </a:lnSpc>
              <a:spcBef>
                <a:spcPts val="0"/>
              </a:spcBef>
              <a:spcAft>
                <a:spcPts val="0"/>
              </a:spcAft>
              <a:buClr>
                <a:srgbClr val="000000"/>
              </a:buClr>
              <a:buSzPts val="1100"/>
              <a:buFont typeface="Arial"/>
              <a:buNone/>
            </a:pPr>
            <a:r>
              <a:rPr b="1" i="0" lang="en" sz="1100" u="none" cap="none" strike="noStrike">
                <a:solidFill>
                  <a:schemeClr val="dk1"/>
                </a:solidFill>
                <a:latin typeface="Montserrat"/>
                <a:ea typeface="Montserrat"/>
                <a:cs typeface="Montserrat"/>
                <a:sym typeface="Montserrat"/>
              </a:rPr>
              <a:t>Domain-Focused Delivery</a:t>
            </a:r>
            <a:endParaRPr b="1" i="0" sz="1100" u="none" cap="none" strike="noStrike">
              <a:solidFill>
                <a:schemeClr val="dk1"/>
              </a:solidFill>
              <a:latin typeface="Montserrat"/>
              <a:ea typeface="Montserrat"/>
              <a:cs typeface="Montserrat"/>
              <a:sym typeface="Montserrat"/>
            </a:endParaRPr>
          </a:p>
          <a:p>
            <a:pPr indent="0" lvl="0" marL="0" marR="0" rtl="0" algn="ctr">
              <a:lnSpc>
                <a:spcPct val="150000"/>
              </a:lnSpc>
              <a:spcBef>
                <a:spcPts val="1000"/>
              </a:spcBef>
              <a:spcAft>
                <a:spcPts val="1000"/>
              </a:spcAft>
              <a:buClr>
                <a:srgbClr val="000000"/>
              </a:buClr>
              <a:buSzPts val="1100"/>
              <a:buFont typeface="Arial"/>
              <a:buNone/>
            </a:pPr>
            <a:r>
              <a:rPr b="0" i="0" lang="en" sz="1100" u="none" cap="none" strike="noStrike">
                <a:solidFill>
                  <a:schemeClr val="dk1"/>
                </a:solidFill>
                <a:latin typeface="Montserrat"/>
                <a:ea typeface="Montserrat"/>
                <a:cs typeface="Montserrat"/>
                <a:sym typeface="Montserrat"/>
              </a:rPr>
              <a:t>Our extensive experience in iGaming with real-time data integration, media streaming, and interactive user features aligns perfectly with your racing platform requirements.</a:t>
            </a:r>
            <a:endParaRPr b="0" i="0" sz="1100" u="none" cap="none" strike="noStrike">
              <a:solidFill>
                <a:schemeClr val="dk1"/>
              </a:solidFill>
              <a:latin typeface="Montserrat"/>
              <a:ea typeface="Montserrat"/>
              <a:cs typeface="Montserrat"/>
              <a:sym typeface="Montserrat"/>
            </a:endParaRPr>
          </a:p>
        </p:txBody>
      </p:sp>
      <p:sp>
        <p:nvSpPr>
          <p:cNvPr id="204" name="Google Shape;204;p4"/>
          <p:cNvSpPr/>
          <p:nvPr/>
        </p:nvSpPr>
        <p:spPr>
          <a:xfrm>
            <a:off x="474900" y="2900036"/>
            <a:ext cx="3914100" cy="1666500"/>
          </a:xfrm>
          <a:prstGeom prst="snip1Rect">
            <a:avLst>
              <a:gd fmla="val 16667" name="adj"/>
            </a:avLst>
          </a:prstGeom>
          <a:noFill/>
          <a:ln cap="flat" cmpd="sng" w="9525">
            <a:solidFill>
              <a:schemeClr val="accent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50000"/>
              </a:lnSpc>
              <a:spcBef>
                <a:spcPts val="0"/>
              </a:spcBef>
              <a:spcAft>
                <a:spcPts val="0"/>
              </a:spcAft>
              <a:buClr>
                <a:srgbClr val="000000"/>
              </a:buClr>
              <a:buSzPts val="1100"/>
              <a:buFont typeface="Arial"/>
              <a:buNone/>
            </a:pPr>
            <a:r>
              <a:rPr b="1" i="0" lang="en" sz="1100" u="none" cap="none" strike="noStrike">
                <a:solidFill>
                  <a:schemeClr val="dk1"/>
                </a:solidFill>
                <a:latin typeface="Montserrat"/>
                <a:ea typeface="Montserrat"/>
                <a:cs typeface="Montserrat"/>
                <a:sym typeface="Montserrat"/>
              </a:rPr>
              <a:t>End-to-End Ownership</a:t>
            </a:r>
            <a:r>
              <a:rPr b="0" i="0" lang="en" sz="1100" u="none" cap="none" strike="noStrike">
                <a:solidFill>
                  <a:schemeClr val="dk1"/>
                </a:solidFill>
                <a:latin typeface="Montserrat"/>
                <a:ea typeface="Montserrat"/>
                <a:cs typeface="Montserrat"/>
                <a:sym typeface="Montserrat"/>
              </a:rPr>
              <a:t> </a:t>
            </a:r>
            <a:endParaRPr b="0" i="0" sz="1100" u="none" cap="none" strike="noStrike">
              <a:solidFill>
                <a:schemeClr val="dk1"/>
              </a:solidFill>
              <a:latin typeface="Montserrat"/>
              <a:ea typeface="Montserrat"/>
              <a:cs typeface="Montserrat"/>
              <a:sym typeface="Montserrat"/>
            </a:endParaRPr>
          </a:p>
          <a:p>
            <a:pPr indent="0" lvl="0" marL="0" marR="0" rtl="0" algn="ctr">
              <a:lnSpc>
                <a:spcPct val="150000"/>
              </a:lnSpc>
              <a:spcBef>
                <a:spcPts val="1000"/>
              </a:spcBef>
              <a:spcAft>
                <a:spcPts val="1000"/>
              </a:spcAft>
              <a:buClr>
                <a:srgbClr val="000000"/>
              </a:buClr>
              <a:buSzPts val="1100"/>
              <a:buFont typeface="Arial"/>
              <a:buNone/>
            </a:pPr>
            <a:r>
              <a:rPr b="0" i="0" lang="en" sz="1100" u="none" cap="none" strike="noStrike">
                <a:solidFill>
                  <a:schemeClr val="dk1"/>
                </a:solidFill>
                <a:latin typeface="Montserrat"/>
                <a:ea typeface="Montserrat"/>
                <a:cs typeface="Montserrat"/>
                <a:sym typeface="Montserrat"/>
              </a:rPr>
              <a:t>From design and development to deployment and support, we provide full-cycle mobile app services- ensuring speed, quality, and continuity.</a:t>
            </a:r>
            <a:endParaRPr b="0" i="0" sz="1100" u="none" cap="none" strike="noStrike">
              <a:solidFill>
                <a:schemeClr val="dk1"/>
              </a:solidFill>
              <a:latin typeface="Montserrat"/>
              <a:ea typeface="Montserrat"/>
              <a:cs typeface="Montserrat"/>
              <a:sym typeface="Montserrat"/>
            </a:endParaRPr>
          </a:p>
        </p:txBody>
      </p:sp>
      <p:sp>
        <p:nvSpPr>
          <p:cNvPr id="205" name="Google Shape;205;p4"/>
          <p:cNvSpPr/>
          <p:nvPr/>
        </p:nvSpPr>
        <p:spPr>
          <a:xfrm>
            <a:off x="4755004" y="2900036"/>
            <a:ext cx="3914100" cy="1666500"/>
          </a:xfrm>
          <a:prstGeom prst="snip1Rect">
            <a:avLst>
              <a:gd fmla="val 16667" name="adj"/>
            </a:avLst>
          </a:prstGeom>
          <a:noFill/>
          <a:ln cap="flat" cmpd="sng" w="9525">
            <a:solidFill>
              <a:schemeClr val="accent2"/>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50000"/>
              </a:lnSpc>
              <a:spcBef>
                <a:spcPts val="0"/>
              </a:spcBef>
              <a:spcAft>
                <a:spcPts val="0"/>
              </a:spcAft>
              <a:buClr>
                <a:srgbClr val="000000"/>
              </a:buClr>
              <a:buSzPts val="1100"/>
              <a:buFont typeface="Arial"/>
              <a:buNone/>
            </a:pPr>
            <a:r>
              <a:rPr b="1" i="0" lang="en" sz="1100" u="none" cap="none" strike="noStrike">
                <a:solidFill>
                  <a:schemeClr val="dk1"/>
                </a:solidFill>
                <a:latin typeface="Montserrat"/>
                <a:ea typeface="Montserrat"/>
                <a:cs typeface="Montserrat"/>
                <a:sym typeface="Montserrat"/>
              </a:rPr>
              <a:t>Scalable Architecture</a:t>
            </a:r>
            <a:endParaRPr b="1" i="0" sz="1100" u="none" cap="none" strike="noStrike">
              <a:solidFill>
                <a:schemeClr val="dk1"/>
              </a:solidFill>
              <a:latin typeface="Montserrat"/>
              <a:ea typeface="Montserrat"/>
              <a:cs typeface="Montserrat"/>
              <a:sym typeface="Montserrat"/>
            </a:endParaRPr>
          </a:p>
          <a:p>
            <a:pPr indent="0" lvl="0" marL="0" marR="0" rtl="0" algn="ctr">
              <a:lnSpc>
                <a:spcPct val="150000"/>
              </a:lnSpc>
              <a:spcBef>
                <a:spcPts val="1000"/>
              </a:spcBef>
              <a:spcAft>
                <a:spcPts val="1000"/>
              </a:spcAft>
              <a:buClr>
                <a:srgbClr val="000000"/>
              </a:buClr>
              <a:buSzPts val="1100"/>
              <a:buFont typeface="Arial"/>
              <a:buNone/>
            </a:pPr>
            <a:r>
              <a:rPr b="0" i="0" lang="en" sz="1100" u="none" cap="none" strike="noStrike">
                <a:solidFill>
                  <a:schemeClr val="dk1"/>
                </a:solidFill>
                <a:latin typeface="Montserrat"/>
                <a:ea typeface="Montserrat"/>
                <a:cs typeface="Montserrat"/>
                <a:sym typeface="Montserrat"/>
              </a:rPr>
              <a:t>Our solutions are designed to grow with your user base, ensuring performance and reliability under peak traffic conditions</a:t>
            </a:r>
            <a:endParaRPr b="0" i="0" sz="1100" u="none" cap="none" strike="noStrike">
              <a:solidFill>
                <a:schemeClr val="dk1"/>
              </a:solidFill>
              <a:latin typeface="Montserrat"/>
              <a:ea typeface="Montserrat"/>
              <a:cs typeface="Montserrat"/>
              <a:sym typeface="Montserrat"/>
            </a:endParaRPr>
          </a:p>
        </p:txBody>
      </p:sp>
      <p:sp>
        <p:nvSpPr>
          <p:cNvPr id="206" name="Google Shape;206;p4"/>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sz="1000"/>
              <a:t>‹#›</a:t>
            </a:fld>
            <a:endParaRPr sz="10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5"/>
          <p:cNvSpPr/>
          <p:nvPr/>
        </p:nvSpPr>
        <p:spPr>
          <a:xfrm>
            <a:off x="223850" y="640050"/>
            <a:ext cx="8690100" cy="4095600"/>
          </a:xfrm>
          <a:prstGeom prst="snip1Rect">
            <a:avLst>
              <a:gd fmla="val 16333"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t" bIns="0" lIns="121875" spcFirstLastPara="1" rIns="121875" wrap="square" tIns="0">
            <a:noAutofit/>
          </a:bodyPr>
          <a:lstStyle/>
          <a:p>
            <a:pPr indent="0" lvl="0" marL="0" marR="0" rtl="0" algn="just">
              <a:lnSpc>
                <a:spcPct val="115000"/>
              </a:lnSpc>
              <a:spcBef>
                <a:spcPts val="0"/>
              </a:spcBef>
              <a:spcAft>
                <a:spcPts val="0"/>
              </a:spcAft>
              <a:buClr>
                <a:srgbClr val="000000"/>
              </a:buClr>
              <a:buSzPts val="1100"/>
              <a:buFont typeface="Arial"/>
              <a:buNone/>
            </a:pPr>
            <a:r>
              <a:t/>
            </a:r>
            <a:endParaRPr b="1" i="0" sz="1000" u="none" cap="none" strike="noStrike">
              <a:solidFill>
                <a:srgbClr val="D71B7F"/>
              </a:solidFill>
              <a:latin typeface="Montserrat"/>
              <a:ea typeface="Montserrat"/>
              <a:cs typeface="Montserrat"/>
              <a:sym typeface="Montserrat"/>
            </a:endParaRPr>
          </a:p>
        </p:txBody>
      </p:sp>
      <p:cxnSp>
        <p:nvCxnSpPr>
          <p:cNvPr id="212" name="Google Shape;212;p5"/>
          <p:cNvCxnSpPr/>
          <p:nvPr/>
        </p:nvCxnSpPr>
        <p:spPr>
          <a:xfrm>
            <a:off x="246344" y="650407"/>
            <a:ext cx="0" cy="4095600"/>
          </a:xfrm>
          <a:prstGeom prst="straightConnector1">
            <a:avLst/>
          </a:prstGeom>
          <a:noFill/>
          <a:ln cap="flat" cmpd="sng" w="19050">
            <a:solidFill>
              <a:srgbClr val="12519C"/>
            </a:solidFill>
            <a:prstDash val="solid"/>
            <a:round/>
            <a:headEnd len="sm" w="sm" type="none"/>
            <a:tailEnd len="sm" w="sm" type="none"/>
          </a:ln>
        </p:spPr>
      </p:cxnSp>
      <p:sp>
        <p:nvSpPr>
          <p:cNvPr id="213" name="Google Shape;213;p5"/>
          <p:cNvSpPr txBox="1"/>
          <p:nvPr>
            <p:ph type="title"/>
          </p:nvPr>
        </p:nvSpPr>
        <p:spPr>
          <a:xfrm>
            <a:off x="104500" y="141850"/>
            <a:ext cx="7723200" cy="3573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000"/>
              <a:buNone/>
            </a:pPr>
            <a:r>
              <a:rPr lang="en">
                <a:solidFill>
                  <a:schemeClr val="dk1"/>
                </a:solidFill>
              </a:rPr>
              <a:t>Our Understanding of Requirements</a:t>
            </a:r>
            <a:endParaRPr/>
          </a:p>
        </p:txBody>
      </p:sp>
      <p:sp>
        <p:nvSpPr>
          <p:cNvPr id="214" name="Google Shape;214;p5"/>
          <p:cNvSpPr txBox="1"/>
          <p:nvPr/>
        </p:nvSpPr>
        <p:spPr>
          <a:xfrm>
            <a:off x="258325" y="782225"/>
            <a:ext cx="8127900" cy="3924900"/>
          </a:xfrm>
          <a:prstGeom prst="rect">
            <a:avLst/>
          </a:prstGeom>
          <a:noFill/>
          <a:ln>
            <a:noFill/>
          </a:ln>
        </p:spPr>
        <p:txBody>
          <a:bodyPr anchorCtr="0" anchor="t" bIns="91425" lIns="91425" spcFirstLastPara="1" rIns="91425" wrap="square" tIns="91425">
            <a:spAutoFit/>
          </a:bodyPr>
          <a:lstStyle/>
          <a:p>
            <a:r>
              <a:t>We recognize the critical need for a scalable search solution that can handle 50,000+ SKUs, and our microservices-based architecture supports this. Our payment integration capabilities with Stripe, PayPal, and Afterpay ensure a seamless multi-currency checkout experience. We also understand the importance of a unified customer experience, which our React Native-based Self-Care app addresses with features like order tracking and saved payment methods. Our headless CMS integration supports dynamic content updates, while our secure portals and compliance with PCI-DSS, GDPR, and CCPA ensure data protection and regulatory adherence.</a:t>
            </a:r>
          </a:p>
        </p:txBody>
      </p:sp>
      <p:sp>
        <p:nvSpPr>
          <p:cNvPr id="215" name="Google Shape;215;p5"/>
          <p:cNvSpPr txBox="1"/>
          <p:nvPr>
            <p:ph idx="12" type="sldNum"/>
          </p:nvPr>
        </p:nvSpPr>
        <p:spPr>
          <a:xfrm>
            <a:off x="8556784" y="6333134"/>
            <a:ext cx="548700" cy="5250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800"/>
              <a:buNone/>
            </a:pPr>
            <a:fld id="{00000000-1234-1234-1234-123412341234}" type="slidenum">
              <a:rPr lang="en" sz="800"/>
              <a:t>‹#›</a:t>
            </a:fld>
            <a:endParaRPr sz="800"/>
          </a:p>
        </p:txBody>
      </p:sp>
      <p:sp>
        <p:nvSpPr>
          <p:cNvPr id="216" name="Google Shape;216;p5"/>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sz="1000"/>
              <a:t>‹#›</a:t>
            </a:fld>
            <a:endParaRPr sz="10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p6"/>
          <p:cNvSpPr txBox="1"/>
          <p:nvPr>
            <p:ph type="title"/>
          </p:nvPr>
        </p:nvSpPr>
        <p:spPr>
          <a:xfrm>
            <a:off x="104500" y="141850"/>
            <a:ext cx="7723200" cy="3573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000"/>
              <a:buNone/>
            </a:pPr>
            <a:r>
              <a:rPr lang="en">
                <a:solidFill>
                  <a:schemeClr val="dk1"/>
                </a:solidFill>
              </a:rPr>
              <a:t>Key Application Modules </a:t>
            </a:r>
            <a:endParaRPr>
              <a:solidFill>
                <a:schemeClr val="dk1"/>
              </a:solidFill>
            </a:endParaRPr>
          </a:p>
        </p:txBody>
      </p:sp>
      <p:sp>
        <p:nvSpPr>
          <p:cNvPr id="222" name="Google Shape;222;p6"/>
          <p:cNvSpPr/>
          <p:nvPr/>
        </p:nvSpPr>
        <p:spPr>
          <a:xfrm>
            <a:off x="3204902" y="706239"/>
            <a:ext cx="2734200" cy="2008800"/>
          </a:xfrm>
          <a:prstGeom prst="snip1Rect">
            <a:avLst>
              <a:gd fmla="val 12360"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
              <a:buFont typeface="Arial"/>
              <a:buNone/>
            </a:pPr>
            <a:r>
              <a:rPr b="0" i="0" lang="en" sz="1000" u="none" cap="none" strike="noStrike">
                <a:solidFill>
                  <a:srgbClr val="6F3A93"/>
                </a:solidFill>
                <a:latin typeface="Montserrat SemiBold"/>
                <a:ea typeface="Montserrat SemiBold"/>
                <a:cs typeface="Montserrat SemiBold"/>
                <a:sym typeface="Montserrat SemiBold"/>
              </a:rPr>
              <a:t>Races &amp; Profiles </a:t>
            </a:r>
            <a:endParaRPr b="0" i="0" sz="1100" u="none" cap="none" strike="noStrike">
              <a:solidFill>
                <a:srgbClr val="6F3A93"/>
              </a:solidFill>
              <a:latin typeface="Montserrat SemiBold"/>
              <a:ea typeface="Montserrat SemiBold"/>
              <a:cs typeface="Montserrat SemiBold"/>
              <a:sym typeface="Montserrat SemiBold"/>
            </a:endParaRPr>
          </a:p>
          <a:p>
            <a:pPr indent="-222250" lvl="0" marL="342900" marR="0" rtl="0" algn="l">
              <a:lnSpc>
                <a:spcPct val="100000"/>
              </a:lnSpc>
              <a:spcBef>
                <a:spcPts val="1000"/>
              </a:spcBef>
              <a:spcAft>
                <a:spcPts val="0"/>
              </a:spcAft>
              <a:buClr>
                <a:srgbClr val="D9277E"/>
              </a:buClr>
              <a:buSzPts val="900"/>
              <a:buFont typeface="Montserrat"/>
              <a:buChar char="●"/>
            </a:pPr>
            <a:r>
              <a:rPr b="0" i="0" lang="en" sz="900" u="none" cap="none" strike="noStrike">
                <a:solidFill>
                  <a:srgbClr val="000000"/>
                </a:solidFill>
                <a:latin typeface="Montserrat"/>
                <a:ea typeface="Montserrat"/>
                <a:cs typeface="Montserrat"/>
                <a:sym typeface="Montserrat"/>
              </a:rPr>
              <a:t>Search and Filter, Past and Upcoming Races</a:t>
            </a:r>
            <a:endParaRPr b="0" i="0" sz="900" u="none" cap="none" strike="noStrike">
              <a:solidFill>
                <a:srgbClr val="000000"/>
              </a:solidFill>
              <a:latin typeface="Montserrat"/>
              <a:ea typeface="Montserrat"/>
              <a:cs typeface="Montserrat"/>
              <a:sym typeface="Montserrat"/>
            </a:endParaRPr>
          </a:p>
          <a:p>
            <a:pPr indent="-222250" lvl="0" marL="342900" marR="0" rtl="0" algn="l">
              <a:lnSpc>
                <a:spcPct val="100000"/>
              </a:lnSpc>
              <a:spcBef>
                <a:spcPts val="0"/>
              </a:spcBef>
              <a:spcAft>
                <a:spcPts val="0"/>
              </a:spcAft>
              <a:buClr>
                <a:srgbClr val="D9277E"/>
              </a:buClr>
              <a:buSzPts val="900"/>
              <a:buFont typeface="Montserrat"/>
              <a:buChar char="●"/>
            </a:pPr>
            <a:r>
              <a:rPr b="0" i="0" lang="en" sz="900" u="none" cap="none" strike="noStrike">
                <a:solidFill>
                  <a:srgbClr val="000000"/>
                </a:solidFill>
                <a:latin typeface="Montserrat"/>
                <a:ea typeface="Montserrat"/>
                <a:cs typeface="Montserrat"/>
                <a:sym typeface="Montserrat"/>
              </a:rPr>
              <a:t>Search and View Profile Pages for Tracks, Jockeys, Trainers, and Runners</a:t>
            </a:r>
            <a:endParaRPr b="0" i="0" sz="900" u="none" cap="none" strike="noStrike">
              <a:solidFill>
                <a:srgbClr val="000000"/>
              </a:solidFill>
              <a:latin typeface="Montserrat"/>
              <a:ea typeface="Montserrat"/>
              <a:cs typeface="Montserrat"/>
              <a:sym typeface="Montserrat"/>
            </a:endParaRPr>
          </a:p>
          <a:p>
            <a:pPr indent="0" lvl="0" marL="34290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Montserrat"/>
              <a:ea typeface="Montserrat"/>
              <a:cs typeface="Montserrat"/>
              <a:sym typeface="Montserrat"/>
            </a:endParaRPr>
          </a:p>
          <a:p>
            <a:pPr indent="0" lvl="0" marL="34290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Montserrat"/>
              <a:ea typeface="Montserrat"/>
              <a:cs typeface="Montserrat"/>
              <a:sym typeface="Montserrat"/>
            </a:endParaRPr>
          </a:p>
          <a:p>
            <a:pPr indent="0" lvl="0" marL="34290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Montserrat"/>
              <a:ea typeface="Montserrat"/>
              <a:cs typeface="Montserrat"/>
              <a:sym typeface="Montserrat"/>
            </a:endParaRPr>
          </a:p>
          <a:p>
            <a:pPr indent="0" lvl="0" marL="3429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6F3A93"/>
              </a:solidFill>
              <a:latin typeface="Montserrat SemiBold"/>
              <a:ea typeface="Montserrat SemiBold"/>
              <a:cs typeface="Montserrat SemiBold"/>
              <a:sym typeface="Montserrat SemiBold"/>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6F3A93"/>
              </a:solidFill>
              <a:latin typeface="Montserrat SemiBold"/>
              <a:ea typeface="Montserrat SemiBold"/>
              <a:cs typeface="Montserrat SemiBold"/>
              <a:sym typeface="Montserrat SemiBold"/>
            </a:endParaRPr>
          </a:p>
        </p:txBody>
      </p:sp>
      <p:sp>
        <p:nvSpPr>
          <p:cNvPr id="223" name="Google Shape;223;p6"/>
          <p:cNvSpPr/>
          <p:nvPr/>
        </p:nvSpPr>
        <p:spPr>
          <a:xfrm>
            <a:off x="299125" y="706239"/>
            <a:ext cx="2734200" cy="2008800"/>
          </a:xfrm>
          <a:prstGeom prst="snip1Rect">
            <a:avLst>
              <a:gd fmla="val 12360"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
              <a:buFont typeface="Arial"/>
              <a:buNone/>
            </a:pPr>
            <a:r>
              <a:rPr b="0" i="0" lang="en" sz="1000" u="none" cap="none" strike="noStrike">
                <a:solidFill>
                  <a:srgbClr val="6F3A93"/>
                </a:solidFill>
                <a:latin typeface="Montserrat SemiBold"/>
                <a:ea typeface="Montserrat SemiBold"/>
                <a:cs typeface="Montserrat SemiBold"/>
                <a:sym typeface="Montserrat SemiBold"/>
              </a:rPr>
              <a:t>User Access &amp; Account Management</a:t>
            </a:r>
            <a:r>
              <a:rPr b="0" i="0" lang="en" sz="1100" u="none" cap="none" strike="noStrike">
                <a:solidFill>
                  <a:srgbClr val="6F3A93"/>
                </a:solidFill>
                <a:latin typeface="Montserrat SemiBold"/>
                <a:ea typeface="Montserrat SemiBold"/>
                <a:cs typeface="Montserrat SemiBold"/>
                <a:sym typeface="Montserrat SemiBold"/>
              </a:rPr>
              <a:t> </a:t>
            </a:r>
            <a:endParaRPr b="0" i="0" sz="1400" u="none" cap="none" strike="noStrike">
              <a:solidFill>
                <a:srgbClr val="6F3A93"/>
              </a:solidFill>
              <a:latin typeface="Montserrat SemiBold"/>
              <a:ea typeface="Montserrat SemiBold"/>
              <a:cs typeface="Montserrat SemiBold"/>
              <a:sym typeface="Montserrat SemiBold"/>
            </a:endParaRPr>
          </a:p>
          <a:p>
            <a:pPr indent="-222250" lvl="0" marL="342900" marR="0" rtl="0" algn="l">
              <a:lnSpc>
                <a:spcPct val="100000"/>
              </a:lnSpc>
              <a:spcBef>
                <a:spcPts val="1000"/>
              </a:spcBef>
              <a:spcAft>
                <a:spcPts val="0"/>
              </a:spcAft>
              <a:buClr>
                <a:srgbClr val="D41883"/>
              </a:buClr>
              <a:buSzPts val="900"/>
              <a:buFont typeface="Montserrat"/>
              <a:buChar char="●"/>
            </a:pPr>
            <a:r>
              <a:rPr b="0" i="0" lang="en" sz="900" u="none" cap="none" strike="noStrike">
                <a:solidFill>
                  <a:srgbClr val="000000"/>
                </a:solidFill>
                <a:latin typeface="Montserrat"/>
                <a:ea typeface="Montserrat"/>
                <a:cs typeface="Montserrat"/>
                <a:sym typeface="Montserrat"/>
              </a:rPr>
              <a:t>User Registration</a:t>
            </a:r>
            <a:endParaRPr b="0" i="0" sz="900" u="none" cap="none" strike="noStrike">
              <a:solidFill>
                <a:srgbClr val="000000"/>
              </a:solidFill>
              <a:latin typeface="Montserrat"/>
              <a:ea typeface="Montserrat"/>
              <a:cs typeface="Montserrat"/>
              <a:sym typeface="Montserrat"/>
            </a:endParaRPr>
          </a:p>
          <a:p>
            <a:pPr indent="-222250" lvl="0" marL="342900" marR="0" rtl="0" algn="l">
              <a:lnSpc>
                <a:spcPct val="100000"/>
              </a:lnSpc>
              <a:spcBef>
                <a:spcPts val="0"/>
              </a:spcBef>
              <a:spcAft>
                <a:spcPts val="0"/>
              </a:spcAft>
              <a:buClr>
                <a:srgbClr val="D41883"/>
              </a:buClr>
              <a:buSzPts val="900"/>
              <a:buFont typeface="Montserrat"/>
              <a:buChar char="●"/>
            </a:pPr>
            <a:r>
              <a:rPr b="0" i="0" lang="en" sz="900" u="none" cap="none" strike="noStrike">
                <a:solidFill>
                  <a:srgbClr val="000000"/>
                </a:solidFill>
                <a:latin typeface="Montserrat"/>
                <a:ea typeface="Montserrat"/>
                <a:cs typeface="Montserrat"/>
                <a:sym typeface="Montserrat"/>
              </a:rPr>
              <a:t>User Login</a:t>
            </a:r>
            <a:endParaRPr b="0" i="0" sz="900" u="none" cap="none" strike="noStrike">
              <a:solidFill>
                <a:srgbClr val="000000"/>
              </a:solidFill>
              <a:latin typeface="Montserrat"/>
              <a:ea typeface="Montserrat"/>
              <a:cs typeface="Montserrat"/>
              <a:sym typeface="Montserrat"/>
            </a:endParaRPr>
          </a:p>
          <a:p>
            <a:pPr indent="-222250" lvl="0" marL="342900" marR="0" rtl="0" algn="l">
              <a:lnSpc>
                <a:spcPct val="100000"/>
              </a:lnSpc>
              <a:spcBef>
                <a:spcPts val="0"/>
              </a:spcBef>
              <a:spcAft>
                <a:spcPts val="0"/>
              </a:spcAft>
              <a:buClr>
                <a:srgbClr val="D41883"/>
              </a:buClr>
              <a:buSzPts val="900"/>
              <a:buFont typeface="Montserrat"/>
              <a:buChar char="●"/>
            </a:pPr>
            <a:r>
              <a:rPr b="0" i="0" lang="en" sz="900" u="none" cap="none" strike="noStrike">
                <a:solidFill>
                  <a:srgbClr val="000000"/>
                </a:solidFill>
                <a:latin typeface="Montserrat"/>
                <a:ea typeface="Montserrat"/>
                <a:cs typeface="Montserrat"/>
                <a:sym typeface="Montserrat"/>
              </a:rPr>
              <a:t>Forgot Password</a:t>
            </a:r>
            <a:endParaRPr b="0" i="0" sz="900" u="none" cap="none" strike="noStrike">
              <a:solidFill>
                <a:srgbClr val="000000"/>
              </a:solidFill>
              <a:latin typeface="Montserrat"/>
              <a:ea typeface="Montserrat"/>
              <a:cs typeface="Montserrat"/>
              <a:sym typeface="Montserrat"/>
            </a:endParaRPr>
          </a:p>
          <a:p>
            <a:pPr indent="-222250" lvl="0" marL="342900" marR="0" rtl="0" algn="l">
              <a:lnSpc>
                <a:spcPct val="100000"/>
              </a:lnSpc>
              <a:spcBef>
                <a:spcPts val="0"/>
              </a:spcBef>
              <a:spcAft>
                <a:spcPts val="0"/>
              </a:spcAft>
              <a:buClr>
                <a:srgbClr val="D41883"/>
              </a:buClr>
              <a:buSzPts val="900"/>
              <a:buFont typeface="Montserrat"/>
              <a:buChar char="●"/>
            </a:pPr>
            <a:r>
              <a:rPr b="0" i="0" lang="en" sz="900" u="none" cap="none" strike="noStrike">
                <a:solidFill>
                  <a:srgbClr val="000000"/>
                </a:solidFill>
                <a:latin typeface="Montserrat"/>
                <a:ea typeface="Montserrat"/>
                <a:cs typeface="Montserrat"/>
                <a:sym typeface="Montserrat"/>
              </a:rPr>
              <a:t>Show Account Details </a:t>
            </a:r>
            <a:endParaRPr b="0" i="0" sz="900" u="none" cap="none" strike="noStrike">
              <a:solidFill>
                <a:srgbClr val="000000"/>
              </a:solidFill>
              <a:latin typeface="Montserrat"/>
              <a:ea typeface="Montserrat"/>
              <a:cs typeface="Montserrat"/>
              <a:sym typeface="Montserrat"/>
            </a:endParaRPr>
          </a:p>
          <a:p>
            <a:pPr indent="-222250" lvl="0" marL="342900" marR="0" rtl="0" algn="l">
              <a:lnSpc>
                <a:spcPct val="100000"/>
              </a:lnSpc>
              <a:spcBef>
                <a:spcPts val="0"/>
              </a:spcBef>
              <a:spcAft>
                <a:spcPts val="0"/>
              </a:spcAft>
              <a:buClr>
                <a:srgbClr val="D41883"/>
              </a:buClr>
              <a:buSzPts val="900"/>
              <a:buFont typeface="Montserrat"/>
              <a:buChar char="●"/>
            </a:pPr>
            <a:r>
              <a:rPr b="0" i="0" lang="en" sz="900" u="none" cap="none" strike="noStrike">
                <a:solidFill>
                  <a:srgbClr val="000000"/>
                </a:solidFill>
                <a:latin typeface="Montserrat"/>
                <a:ea typeface="Montserrat"/>
                <a:cs typeface="Montserrat"/>
                <a:sym typeface="Montserrat"/>
              </a:rPr>
              <a:t>Add Jockeys and Trainers  to Blackbook</a:t>
            </a:r>
            <a:endParaRPr b="0" i="0" sz="900" u="none" cap="none" strike="noStrike">
              <a:solidFill>
                <a:srgbClr val="000000"/>
              </a:solidFill>
              <a:latin typeface="Montserrat"/>
              <a:ea typeface="Montserrat"/>
              <a:cs typeface="Montserrat"/>
              <a:sym typeface="Montserrat"/>
            </a:endParaRPr>
          </a:p>
          <a:p>
            <a:pPr indent="-222250" lvl="0" marL="342900" marR="0" rtl="0" algn="l">
              <a:lnSpc>
                <a:spcPct val="100000"/>
              </a:lnSpc>
              <a:spcBef>
                <a:spcPts val="0"/>
              </a:spcBef>
              <a:spcAft>
                <a:spcPts val="0"/>
              </a:spcAft>
              <a:buClr>
                <a:srgbClr val="D41883"/>
              </a:buClr>
              <a:buSzPts val="900"/>
              <a:buFont typeface="Montserrat"/>
              <a:buChar char="●"/>
            </a:pPr>
            <a:r>
              <a:rPr b="0" i="0" lang="en" sz="900" u="none" cap="none" strike="noStrike">
                <a:solidFill>
                  <a:srgbClr val="000000"/>
                </a:solidFill>
                <a:latin typeface="Montserrat"/>
                <a:ea typeface="Montserrat"/>
                <a:cs typeface="Montserrat"/>
                <a:sym typeface="Montserrat"/>
              </a:rPr>
              <a:t>Show Blackbook Activities</a:t>
            </a:r>
            <a:endParaRPr b="0" i="0" sz="900" u="none" cap="none" strike="noStrike">
              <a:solidFill>
                <a:srgbClr val="000000"/>
              </a:solidFill>
              <a:latin typeface="Montserrat"/>
              <a:ea typeface="Montserrat"/>
              <a:cs typeface="Montserrat"/>
              <a:sym typeface="Montserrat"/>
            </a:endParaRPr>
          </a:p>
          <a:p>
            <a:pPr indent="0" lvl="0" marL="342900" marR="0" rtl="0" algn="l">
              <a:lnSpc>
                <a:spcPct val="100000"/>
              </a:lnSpc>
              <a:spcBef>
                <a:spcPts val="0"/>
              </a:spcBef>
              <a:spcAft>
                <a:spcPts val="0"/>
              </a:spcAft>
              <a:buClr>
                <a:srgbClr val="000000"/>
              </a:buClr>
              <a:buSzPts val="1100"/>
              <a:buFont typeface="Arial"/>
              <a:buNone/>
            </a:pPr>
            <a:r>
              <a:t/>
            </a:r>
            <a:endParaRPr b="0" i="0" sz="900" u="none" cap="none" strike="noStrike">
              <a:solidFill>
                <a:srgbClr val="000000"/>
              </a:solidFill>
              <a:latin typeface="Montserrat"/>
              <a:ea typeface="Montserrat"/>
              <a:cs typeface="Montserrat"/>
              <a:sym typeface="Montserrat"/>
            </a:endParaRPr>
          </a:p>
          <a:p>
            <a:pPr indent="0" lvl="0" marL="3429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6F3A93"/>
              </a:solidFill>
              <a:latin typeface="Montserrat SemiBold"/>
              <a:ea typeface="Montserrat SemiBold"/>
              <a:cs typeface="Montserrat SemiBold"/>
              <a:sym typeface="Montserrat SemiBold"/>
            </a:endParaRPr>
          </a:p>
        </p:txBody>
      </p:sp>
      <p:cxnSp>
        <p:nvCxnSpPr>
          <p:cNvPr id="224" name="Google Shape;224;p6"/>
          <p:cNvCxnSpPr/>
          <p:nvPr/>
        </p:nvCxnSpPr>
        <p:spPr>
          <a:xfrm>
            <a:off x="299130" y="706238"/>
            <a:ext cx="0" cy="2007300"/>
          </a:xfrm>
          <a:prstGeom prst="straightConnector1">
            <a:avLst/>
          </a:prstGeom>
          <a:noFill/>
          <a:ln cap="flat" cmpd="sng" w="19050">
            <a:solidFill>
              <a:srgbClr val="12519C"/>
            </a:solidFill>
            <a:prstDash val="solid"/>
            <a:round/>
            <a:headEnd len="sm" w="sm" type="none"/>
            <a:tailEnd len="sm" w="sm" type="none"/>
          </a:ln>
        </p:spPr>
      </p:cxnSp>
      <p:cxnSp>
        <p:nvCxnSpPr>
          <p:cNvPr id="225" name="Google Shape;225;p6"/>
          <p:cNvCxnSpPr/>
          <p:nvPr/>
        </p:nvCxnSpPr>
        <p:spPr>
          <a:xfrm>
            <a:off x="3204907" y="706238"/>
            <a:ext cx="0" cy="2007300"/>
          </a:xfrm>
          <a:prstGeom prst="straightConnector1">
            <a:avLst/>
          </a:prstGeom>
          <a:noFill/>
          <a:ln cap="flat" cmpd="sng" w="19050">
            <a:solidFill>
              <a:srgbClr val="12519C"/>
            </a:solidFill>
            <a:prstDash val="solid"/>
            <a:round/>
            <a:headEnd len="sm" w="sm" type="none"/>
            <a:tailEnd len="sm" w="sm" type="none"/>
          </a:ln>
        </p:spPr>
      </p:cxnSp>
      <p:sp>
        <p:nvSpPr>
          <p:cNvPr id="226" name="Google Shape;226;p6"/>
          <p:cNvSpPr/>
          <p:nvPr/>
        </p:nvSpPr>
        <p:spPr>
          <a:xfrm>
            <a:off x="6110675" y="704926"/>
            <a:ext cx="2734200" cy="2008800"/>
          </a:xfrm>
          <a:prstGeom prst="snip1Rect">
            <a:avLst>
              <a:gd fmla="val 12360"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
              <a:buFont typeface="Arial"/>
              <a:buNone/>
            </a:pPr>
            <a:r>
              <a:rPr b="0" i="0" lang="en" sz="1000" u="none" cap="none" strike="noStrike">
                <a:solidFill>
                  <a:srgbClr val="6F3A93"/>
                </a:solidFill>
                <a:latin typeface="Montserrat SemiBold"/>
                <a:ea typeface="Montserrat SemiBold"/>
                <a:cs typeface="Montserrat SemiBold"/>
                <a:sym typeface="Montserrat SemiBold"/>
              </a:rPr>
              <a:t>Race</a:t>
            </a:r>
            <a:r>
              <a:rPr b="0" i="0" lang="en" sz="1000" u="none" cap="none" strike="noStrike">
                <a:solidFill>
                  <a:schemeClr val="accent3"/>
                </a:solidFill>
                <a:latin typeface="Montserrat SemiBold"/>
                <a:ea typeface="Montserrat SemiBold"/>
                <a:cs typeface="Montserrat SemiBold"/>
                <a:sym typeface="Montserrat SemiBold"/>
              </a:rPr>
              <a:t> Calendar &amp; Planner</a:t>
            </a:r>
            <a:endParaRPr b="0" i="0" sz="1000" u="none" cap="none" strike="noStrike">
              <a:solidFill>
                <a:schemeClr val="accent3"/>
              </a:solidFill>
              <a:latin typeface="Montserrat SemiBold"/>
              <a:ea typeface="Montserrat SemiBold"/>
              <a:cs typeface="Montserrat SemiBold"/>
              <a:sym typeface="Montserrat SemiBold"/>
            </a:endParaRPr>
          </a:p>
          <a:p>
            <a:pPr indent="-222250" lvl="0" marL="342900" marR="0" rtl="0" algn="l">
              <a:lnSpc>
                <a:spcPct val="100000"/>
              </a:lnSpc>
              <a:spcBef>
                <a:spcPts val="1000"/>
              </a:spcBef>
              <a:spcAft>
                <a:spcPts val="0"/>
              </a:spcAft>
              <a:buClr>
                <a:srgbClr val="D9167F"/>
              </a:buClr>
              <a:buSzPts val="900"/>
              <a:buFont typeface="Montserrat"/>
              <a:buChar char="●"/>
            </a:pPr>
            <a:r>
              <a:rPr b="0" i="0" lang="en" sz="900" u="none" cap="none" strike="noStrike">
                <a:solidFill>
                  <a:schemeClr val="dk1"/>
                </a:solidFill>
                <a:latin typeface="Montserrat"/>
                <a:ea typeface="Montserrat"/>
                <a:cs typeface="Montserrat"/>
                <a:sym typeface="Montserrat"/>
              </a:rPr>
              <a:t>View Race Details  for Upcoming and Past Races using the Race Calendar </a:t>
            </a:r>
            <a:endParaRPr b="0" i="0" sz="900" u="none" cap="none" strike="noStrike">
              <a:solidFill>
                <a:schemeClr val="dk1"/>
              </a:solidFill>
              <a:latin typeface="Montserrat"/>
              <a:ea typeface="Montserrat"/>
              <a:cs typeface="Montserrat"/>
              <a:sym typeface="Montserrat"/>
            </a:endParaRPr>
          </a:p>
          <a:p>
            <a:pPr indent="-222250" lvl="0" marL="342900" marR="0" rtl="0" algn="l">
              <a:lnSpc>
                <a:spcPct val="100000"/>
              </a:lnSpc>
              <a:spcBef>
                <a:spcPts val="0"/>
              </a:spcBef>
              <a:spcAft>
                <a:spcPts val="0"/>
              </a:spcAft>
              <a:buClr>
                <a:srgbClr val="D9167F"/>
              </a:buClr>
              <a:buSzPts val="900"/>
              <a:buFont typeface="Montserrat"/>
              <a:buChar char="●"/>
            </a:pPr>
            <a:r>
              <a:rPr b="0" i="0" lang="en" sz="900" u="none" cap="none" strike="noStrike">
                <a:solidFill>
                  <a:schemeClr val="dk1"/>
                </a:solidFill>
                <a:latin typeface="Montserrat"/>
                <a:ea typeface="Montserrat"/>
                <a:cs typeface="Montserrat"/>
                <a:sym typeface="Montserrat"/>
              </a:rPr>
              <a:t>Search, Filter and Export Race Details using Race Planner</a:t>
            </a:r>
            <a:endParaRPr b="0" i="0" sz="900" u="none" cap="none" strike="noStrike">
              <a:solidFill>
                <a:schemeClr val="dk1"/>
              </a:solidFill>
              <a:latin typeface="Montserrat"/>
              <a:ea typeface="Montserrat"/>
              <a:cs typeface="Montserrat"/>
              <a:sym typeface="Montserrat"/>
            </a:endParaRPr>
          </a:p>
          <a:p>
            <a:pPr indent="0" lvl="0" marL="342900" marR="0" rtl="0" algn="l">
              <a:lnSpc>
                <a:spcPct val="100000"/>
              </a:lnSpc>
              <a:spcBef>
                <a:spcPts val="0"/>
              </a:spcBef>
              <a:spcAft>
                <a:spcPts val="0"/>
              </a:spcAft>
              <a:buClr>
                <a:schemeClr val="dk1"/>
              </a:buClr>
              <a:buSzPts val="1100"/>
              <a:buFont typeface="Arial"/>
              <a:buNone/>
            </a:pPr>
            <a:r>
              <a:t/>
            </a:r>
            <a:endParaRPr b="0" i="0" sz="1000" u="none" cap="none" strike="noStrike">
              <a:solidFill>
                <a:schemeClr val="dk1"/>
              </a:solidFill>
              <a:latin typeface="Montserrat"/>
              <a:ea typeface="Montserrat"/>
              <a:cs typeface="Montserrat"/>
              <a:sym typeface="Montserrat"/>
            </a:endParaRPr>
          </a:p>
          <a:p>
            <a:pPr indent="0" lvl="0" marL="342900" marR="0" rtl="0" algn="l">
              <a:lnSpc>
                <a:spcPct val="100000"/>
              </a:lnSpc>
              <a:spcBef>
                <a:spcPts val="0"/>
              </a:spcBef>
              <a:spcAft>
                <a:spcPts val="0"/>
              </a:spcAft>
              <a:buClr>
                <a:schemeClr val="dk1"/>
              </a:buClr>
              <a:buSzPts val="1100"/>
              <a:buFont typeface="Arial"/>
              <a:buNone/>
            </a:pPr>
            <a:r>
              <a:t/>
            </a:r>
            <a:endParaRPr b="0" i="0" sz="1000" u="none" cap="none" strike="noStrike">
              <a:solidFill>
                <a:schemeClr val="dk1"/>
              </a:solidFill>
              <a:latin typeface="Montserrat"/>
              <a:ea typeface="Montserrat"/>
              <a:cs typeface="Montserrat"/>
              <a:sym typeface="Montserrat"/>
            </a:endParaRPr>
          </a:p>
          <a:p>
            <a:pPr indent="0" lvl="0" marL="342900" marR="0" rtl="0" algn="l">
              <a:lnSpc>
                <a:spcPct val="100000"/>
              </a:lnSpc>
              <a:spcBef>
                <a:spcPts val="0"/>
              </a:spcBef>
              <a:spcAft>
                <a:spcPts val="0"/>
              </a:spcAft>
              <a:buClr>
                <a:schemeClr val="dk1"/>
              </a:buClr>
              <a:buSzPts val="1100"/>
              <a:buFont typeface="Arial"/>
              <a:buNone/>
            </a:pPr>
            <a:r>
              <a:t/>
            </a:r>
            <a:endParaRPr b="0" i="0" sz="1100" u="none" cap="none" strike="noStrike">
              <a:solidFill>
                <a:schemeClr val="accent3"/>
              </a:solidFill>
              <a:latin typeface="Montserrat SemiBold"/>
              <a:ea typeface="Montserrat SemiBold"/>
              <a:cs typeface="Montserrat SemiBold"/>
              <a:sym typeface="Montserrat SemiBold"/>
            </a:endParaRPr>
          </a:p>
          <a:p>
            <a:pPr indent="0" lvl="0" marL="0" marR="0" rtl="0" algn="l">
              <a:lnSpc>
                <a:spcPct val="100000"/>
              </a:lnSpc>
              <a:spcBef>
                <a:spcPts val="0"/>
              </a:spcBef>
              <a:spcAft>
                <a:spcPts val="0"/>
              </a:spcAft>
              <a:buClr>
                <a:schemeClr val="dk1"/>
              </a:buClr>
              <a:buSzPts val="1100"/>
              <a:buFont typeface="Arial"/>
              <a:buNone/>
            </a:pPr>
            <a:r>
              <a:t/>
            </a:r>
            <a:endParaRPr b="0" i="0" sz="1100" u="none" cap="none" strike="noStrike">
              <a:solidFill>
                <a:schemeClr val="accent3"/>
              </a:solidFill>
              <a:latin typeface="Montserrat SemiBold"/>
              <a:ea typeface="Montserrat SemiBold"/>
              <a:cs typeface="Montserrat SemiBold"/>
              <a:sym typeface="Montserrat SemiBold"/>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6F3A93"/>
              </a:solidFill>
              <a:latin typeface="Montserrat SemiBold"/>
              <a:ea typeface="Montserrat SemiBold"/>
              <a:cs typeface="Montserrat SemiBold"/>
              <a:sym typeface="Montserrat SemiBold"/>
            </a:endParaRPr>
          </a:p>
        </p:txBody>
      </p:sp>
      <p:cxnSp>
        <p:nvCxnSpPr>
          <p:cNvPr id="227" name="Google Shape;227;p6"/>
          <p:cNvCxnSpPr/>
          <p:nvPr/>
        </p:nvCxnSpPr>
        <p:spPr>
          <a:xfrm>
            <a:off x="6110681" y="704925"/>
            <a:ext cx="0" cy="2007300"/>
          </a:xfrm>
          <a:prstGeom prst="straightConnector1">
            <a:avLst/>
          </a:prstGeom>
          <a:noFill/>
          <a:ln cap="flat" cmpd="sng" w="19050">
            <a:solidFill>
              <a:srgbClr val="12519C"/>
            </a:solidFill>
            <a:prstDash val="solid"/>
            <a:round/>
            <a:headEnd len="sm" w="sm" type="none"/>
            <a:tailEnd len="sm" w="sm" type="none"/>
          </a:ln>
        </p:spPr>
      </p:cxnSp>
      <p:sp>
        <p:nvSpPr>
          <p:cNvPr id="228" name="Google Shape;228;p6"/>
          <p:cNvSpPr/>
          <p:nvPr/>
        </p:nvSpPr>
        <p:spPr>
          <a:xfrm>
            <a:off x="299125" y="2942679"/>
            <a:ext cx="2734200" cy="2008800"/>
          </a:xfrm>
          <a:prstGeom prst="snip1Rect">
            <a:avLst>
              <a:gd fmla="val 12360"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
              <a:buFont typeface="Arial"/>
              <a:buNone/>
            </a:pPr>
            <a:r>
              <a:rPr b="0" i="0" lang="en" sz="1000" u="none" cap="none" strike="noStrike">
                <a:solidFill>
                  <a:schemeClr val="accent3"/>
                </a:solidFill>
                <a:latin typeface="Montserrat SemiBold"/>
                <a:ea typeface="Montserrat SemiBold"/>
                <a:cs typeface="Montserrat SemiBold"/>
                <a:sym typeface="Montserrat SemiBold"/>
              </a:rPr>
              <a:t>Races, Results &amp; </a:t>
            </a:r>
            <a:r>
              <a:rPr b="0" i="0" lang="en" sz="1000" u="none" cap="none" strike="noStrike">
                <a:solidFill>
                  <a:srgbClr val="6F3A93"/>
                </a:solidFill>
                <a:latin typeface="Montserrat SemiBold"/>
                <a:ea typeface="Montserrat SemiBold"/>
                <a:cs typeface="Montserrat SemiBold"/>
                <a:sym typeface="Montserrat SemiBold"/>
              </a:rPr>
              <a:t>Replays</a:t>
            </a:r>
            <a:r>
              <a:rPr b="0" i="0" lang="en" sz="1000" u="none" cap="none" strike="noStrike">
                <a:solidFill>
                  <a:schemeClr val="accent3"/>
                </a:solidFill>
                <a:latin typeface="Montserrat SemiBold"/>
                <a:ea typeface="Montserrat SemiBold"/>
                <a:cs typeface="Montserrat SemiBold"/>
                <a:sym typeface="Montserrat SemiBold"/>
              </a:rPr>
              <a:t> </a:t>
            </a:r>
            <a:endParaRPr b="0" i="0" sz="1000" u="none" cap="none" strike="noStrike">
              <a:solidFill>
                <a:schemeClr val="accent3"/>
              </a:solidFill>
              <a:latin typeface="Montserrat SemiBold"/>
              <a:ea typeface="Montserrat SemiBold"/>
              <a:cs typeface="Montserrat SemiBold"/>
              <a:sym typeface="Montserrat SemiBold"/>
            </a:endParaRPr>
          </a:p>
          <a:p>
            <a:pPr indent="-222250" lvl="0" marL="342900" marR="0" rtl="0" algn="l">
              <a:lnSpc>
                <a:spcPct val="100000"/>
              </a:lnSpc>
              <a:spcBef>
                <a:spcPts val="1000"/>
              </a:spcBef>
              <a:spcAft>
                <a:spcPts val="0"/>
              </a:spcAft>
              <a:buClr>
                <a:srgbClr val="D9167F"/>
              </a:buClr>
              <a:buSzPts val="900"/>
              <a:buFont typeface="Montserrat"/>
              <a:buChar char="●"/>
            </a:pPr>
            <a:r>
              <a:rPr b="0" i="0" lang="en" sz="900" u="none" cap="none" strike="noStrike">
                <a:solidFill>
                  <a:schemeClr val="dk1"/>
                </a:solidFill>
                <a:latin typeface="Montserrat"/>
                <a:ea typeface="Montserrat"/>
                <a:cs typeface="Montserrat"/>
                <a:sym typeface="Montserrat"/>
              </a:rPr>
              <a:t>Stream Races and Replay Feeds in-app  from Betting Partners.</a:t>
            </a:r>
            <a:endParaRPr b="0" i="0" sz="900" u="none" cap="none" strike="noStrike">
              <a:solidFill>
                <a:schemeClr val="dk1"/>
              </a:solidFill>
              <a:latin typeface="Montserrat"/>
              <a:ea typeface="Montserrat"/>
              <a:cs typeface="Montserrat"/>
              <a:sym typeface="Montserrat"/>
            </a:endParaRPr>
          </a:p>
          <a:p>
            <a:pPr indent="-222250" lvl="0" marL="342900" marR="0" rtl="0" algn="l">
              <a:lnSpc>
                <a:spcPct val="100000"/>
              </a:lnSpc>
              <a:spcBef>
                <a:spcPts val="0"/>
              </a:spcBef>
              <a:spcAft>
                <a:spcPts val="0"/>
              </a:spcAft>
              <a:buClr>
                <a:srgbClr val="D9167F"/>
              </a:buClr>
              <a:buSzPts val="900"/>
              <a:buFont typeface="Montserrat"/>
              <a:buChar char="●"/>
            </a:pPr>
            <a:r>
              <a:rPr b="0" i="0" lang="en" sz="900" u="none" cap="none" strike="noStrike">
                <a:solidFill>
                  <a:schemeClr val="dk1"/>
                </a:solidFill>
                <a:latin typeface="Montserrat"/>
                <a:ea typeface="Montserrat"/>
                <a:cs typeface="Montserrat"/>
                <a:sym typeface="Montserrat"/>
              </a:rPr>
              <a:t>Redirect to Queensland Non-TAB Racing  YouTube channel to Stream Replay Feeds from other sources..</a:t>
            </a:r>
            <a:endParaRPr b="0" i="0" sz="900" u="none" cap="none" strike="noStrike">
              <a:solidFill>
                <a:schemeClr val="dk1"/>
              </a:solidFill>
              <a:latin typeface="Montserrat"/>
              <a:ea typeface="Montserrat"/>
              <a:cs typeface="Montserrat"/>
              <a:sym typeface="Montserrat"/>
            </a:endParaRPr>
          </a:p>
          <a:p>
            <a:pPr indent="-222250" lvl="0" marL="342900" marR="0" rtl="0" algn="l">
              <a:lnSpc>
                <a:spcPct val="100000"/>
              </a:lnSpc>
              <a:spcBef>
                <a:spcPts val="0"/>
              </a:spcBef>
              <a:spcAft>
                <a:spcPts val="0"/>
              </a:spcAft>
              <a:buClr>
                <a:srgbClr val="D9167F"/>
              </a:buClr>
              <a:buSzPts val="900"/>
              <a:buFont typeface="Montserrat"/>
              <a:buChar char="●"/>
            </a:pPr>
            <a:r>
              <a:rPr b="0" i="0" lang="en" sz="900" u="none" cap="none" strike="noStrike">
                <a:solidFill>
                  <a:schemeClr val="dk1"/>
                </a:solidFill>
                <a:latin typeface="Montserrat"/>
                <a:ea typeface="Montserrat"/>
                <a:cs typeface="Montserrat"/>
                <a:sym typeface="Montserrat"/>
              </a:rPr>
              <a:t>Show Real-Time Race Results.</a:t>
            </a:r>
            <a:endParaRPr b="0" i="0" sz="900" u="none" cap="none" strike="noStrike">
              <a:solidFill>
                <a:schemeClr val="dk1"/>
              </a:solidFill>
              <a:latin typeface="Montserrat"/>
              <a:ea typeface="Montserrat"/>
              <a:cs typeface="Montserrat"/>
              <a:sym typeface="Montserrat"/>
            </a:endParaRPr>
          </a:p>
          <a:p>
            <a:pPr indent="-222250" lvl="0" marL="342900" marR="0" rtl="0" algn="l">
              <a:lnSpc>
                <a:spcPct val="100000"/>
              </a:lnSpc>
              <a:spcBef>
                <a:spcPts val="0"/>
              </a:spcBef>
              <a:spcAft>
                <a:spcPts val="0"/>
              </a:spcAft>
              <a:buClr>
                <a:srgbClr val="D9167F"/>
              </a:buClr>
              <a:buSzPts val="900"/>
              <a:buFont typeface="Montserrat"/>
              <a:buChar char="●"/>
            </a:pPr>
            <a:r>
              <a:rPr b="0" i="0" lang="en" sz="900" u="none" cap="none" strike="noStrike">
                <a:solidFill>
                  <a:schemeClr val="dk1"/>
                </a:solidFill>
                <a:latin typeface="Montserrat"/>
                <a:ea typeface="Montserrat"/>
                <a:cs typeface="Montserrat"/>
                <a:sym typeface="Montserrat"/>
              </a:rPr>
              <a:t>View and Download Steward and Sectional Reports.</a:t>
            </a:r>
            <a:endParaRPr b="0" i="0" sz="900" u="none" cap="none" strike="noStrike">
              <a:solidFill>
                <a:schemeClr val="dk1"/>
              </a:solidFill>
              <a:latin typeface="Montserrat"/>
              <a:ea typeface="Montserrat"/>
              <a:cs typeface="Montserrat"/>
              <a:sym typeface="Montserrat"/>
            </a:endParaRPr>
          </a:p>
          <a:p>
            <a:pPr indent="0" lvl="0" marL="342900" marR="0" rtl="0" algn="l">
              <a:lnSpc>
                <a:spcPct val="100000"/>
              </a:lnSpc>
              <a:spcBef>
                <a:spcPts val="0"/>
              </a:spcBef>
              <a:spcAft>
                <a:spcPts val="0"/>
              </a:spcAft>
              <a:buClr>
                <a:schemeClr val="dk1"/>
              </a:buClr>
              <a:buSzPts val="1100"/>
              <a:buFont typeface="Arial"/>
              <a:buNone/>
            </a:pPr>
            <a:r>
              <a:t/>
            </a:r>
            <a:endParaRPr b="0" i="0" sz="1000" u="none" cap="none" strike="noStrike">
              <a:solidFill>
                <a:schemeClr val="dk1"/>
              </a:solidFill>
              <a:latin typeface="Montserrat"/>
              <a:ea typeface="Montserrat"/>
              <a:cs typeface="Montserrat"/>
              <a:sym typeface="Montserrat"/>
            </a:endParaRPr>
          </a:p>
          <a:p>
            <a:pPr indent="0" lvl="0" marL="342900" marR="0" rtl="0" algn="l">
              <a:lnSpc>
                <a:spcPct val="100000"/>
              </a:lnSpc>
              <a:spcBef>
                <a:spcPts val="0"/>
              </a:spcBef>
              <a:spcAft>
                <a:spcPts val="0"/>
              </a:spcAft>
              <a:buClr>
                <a:schemeClr val="dk1"/>
              </a:buClr>
              <a:buSzPts val="1100"/>
              <a:buFont typeface="Arial"/>
              <a:buNone/>
            </a:pPr>
            <a:r>
              <a:t/>
            </a:r>
            <a:endParaRPr b="0" i="0" sz="1000" u="none" cap="none" strike="noStrike">
              <a:solidFill>
                <a:schemeClr val="dk1"/>
              </a:solidFill>
              <a:latin typeface="Montserrat"/>
              <a:ea typeface="Montserrat"/>
              <a:cs typeface="Montserrat"/>
              <a:sym typeface="Montserrat"/>
            </a:endParaRPr>
          </a:p>
          <a:p>
            <a:pPr indent="0" lvl="0" marL="342900" marR="0" rtl="0" algn="l">
              <a:lnSpc>
                <a:spcPct val="100000"/>
              </a:lnSpc>
              <a:spcBef>
                <a:spcPts val="0"/>
              </a:spcBef>
              <a:spcAft>
                <a:spcPts val="0"/>
              </a:spcAft>
              <a:buClr>
                <a:schemeClr val="dk1"/>
              </a:buClr>
              <a:buSzPts val="1100"/>
              <a:buFont typeface="Arial"/>
              <a:buNone/>
            </a:pPr>
            <a:r>
              <a:t/>
            </a:r>
            <a:endParaRPr b="0" i="0" sz="1100" u="none" cap="none" strike="noStrike">
              <a:solidFill>
                <a:schemeClr val="accent3"/>
              </a:solidFill>
              <a:latin typeface="Montserrat SemiBold"/>
              <a:ea typeface="Montserrat SemiBold"/>
              <a:cs typeface="Montserrat SemiBold"/>
              <a:sym typeface="Montserrat SemiBold"/>
            </a:endParaRPr>
          </a:p>
          <a:p>
            <a:pPr indent="0" lvl="0" marL="0" marR="0" rtl="0" algn="l">
              <a:lnSpc>
                <a:spcPct val="100000"/>
              </a:lnSpc>
              <a:spcBef>
                <a:spcPts val="0"/>
              </a:spcBef>
              <a:spcAft>
                <a:spcPts val="0"/>
              </a:spcAft>
              <a:buClr>
                <a:schemeClr val="dk1"/>
              </a:buClr>
              <a:buSzPts val="1100"/>
              <a:buFont typeface="Arial"/>
              <a:buNone/>
            </a:pPr>
            <a:r>
              <a:t/>
            </a:r>
            <a:endParaRPr b="0" i="0" sz="1100" u="none" cap="none" strike="noStrike">
              <a:solidFill>
                <a:schemeClr val="accent3"/>
              </a:solidFill>
              <a:latin typeface="Montserrat SemiBold"/>
              <a:ea typeface="Montserrat SemiBold"/>
              <a:cs typeface="Montserrat SemiBold"/>
              <a:sym typeface="Montserrat SemiBold"/>
            </a:endParaRPr>
          </a:p>
          <a:p>
            <a:pPr indent="0" lvl="0" marL="3429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6F3A93"/>
              </a:solidFill>
              <a:latin typeface="Montserrat SemiBold"/>
              <a:ea typeface="Montserrat SemiBold"/>
              <a:cs typeface="Montserrat SemiBold"/>
              <a:sym typeface="Montserrat SemiBold"/>
            </a:endParaRPr>
          </a:p>
        </p:txBody>
      </p:sp>
      <p:cxnSp>
        <p:nvCxnSpPr>
          <p:cNvPr id="229" name="Google Shape;229;p6"/>
          <p:cNvCxnSpPr/>
          <p:nvPr/>
        </p:nvCxnSpPr>
        <p:spPr>
          <a:xfrm>
            <a:off x="299130" y="2942678"/>
            <a:ext cx="0" cy="2007300"/>
          </a:xfrm>
          <a:prstGeom prst="straightConnector1">
            <a:avLst/>
          </a:prstGeom>
          <a:noFill/>
          <a:ln cap="flat" cmpd="sng" w="19050">
            <a:solidFill>
              <a:srgbClr val="12519C"/>
            </a:solidFill>
            <a:prstDash val="solid"/>
            <a:round/>
            <a:headEnd len="sm" w="sm" type="none"/>
            <a:tailEnd len="sm" w="sm" type="none"/>
          </a:ln>
        </p:spPr>
      </p:cxnSp>
      <p:sp>
        <p:nvSpPr>
          <p:cNvPr id="230" name="Google Shape;230;p6"/>
          <p:cNvSpPr/>
          <p:nvPr/>
        </p:nvSpPr>
        <p:spPr>
          <a:xfrm>
            <a:off x="3204902" y="2942679"/>
            <a:ext cx="2734200" cy="2008800"/>
          </a:xfrm>
          <a:prstGeom prst="snip1Rect">
            <a:avLst>
              <a:gd fmla="val 12360"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t" bIns="91425" lIns="91425" spcFirstLastPara="1" rIns="91425" wrap="square" tIns="91425">
            <a:noAutofit/>
          </a:bodyPr>
          <a:lstStyle/>
          <a:p>
            <a:r>
              <a:t>Our proposed solution combines a decoupled frontend with backend services via REST/GraphQL APIs, ensuring scalability and maintainability. We will implement secure, password-protected portals with custom price tiers and bulk ordering workflows. The solution will be built to meet WCAG 2.1 AA accessibility standards and will integrate with SAP for real-time inventory and order management. Additionally, we will leverage our experience with CRM and email platforms to automate customer flows, ensuring a cohesive and efficient retail ecosystem.</a:t>
            </a:r>
          </a:p>
        </p:txBody>
      </p:sp>
      <p:cxnSp>
        <p:nvCxnSpPr>
          <p:cNvPr id="231" name="Google Shape;231;p6"/>
          <p:cNvCxnSpPr/>
          <p:nvPr/>
        </p:nvCxnSpPr>
        <p:spPr>
          <a:xfrm>
            <a:off x="3204907" y="2942678"/>
            <a:ext cx="0" cy="2007300"/>
          </a:xfrm>
          <a:prstGeom prst="straightConnector1">
            <a:avLst/>
          </a:prstGeom>
          <a:noFill/>
          <a:ln cap="flat" cmpd="sng" w="19050">
            <a:solidFill>
              <a:srgbClr val="12519C"/>
            </a:solidFill>
            <a:prstDash val="solid"/>
            <a:round/>
            <a:headEnd len="sm" w="sm" type="none"/>
            <a:tailEnd len="sm" w="sm" type="none"/>
          </a:ln>
        </p:spPr>
      </p:cxnSp>
      <p:sp>
        <p:nvSpPr>
          <p:cNvPr id="232" name="Google Shape;232;p6"/>
          <p:cNvSpPr/>
          <p:nvPr/>
        </p:nvSpPr>
        <p:spPr>
          <a:xfrm>
            <a:off x="6110675" y="2941366"/>
            <a:ext cx="2734200" cy="2008800"/>
          </a:xfrm>
          <a:prstGeom prst="snip1Rect">
            <a:avLst>
              <a:gd fmla="val 12360"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
              <a:buFont typeface="Arial"/>
              <a:buNone/>
            </a:pPr>
            <a:r>
              <a:rPr b="0" i="0" lang="en" sz="1000" u="none" cap="none" strike="noStrike">
                <a:solidFill>
                  <a:schemeClr val="accent3"/>
                </a:solidFill>
                <a:latin typeface="Montserrat SemiBold"/>
                <a:ea typeface="Montserrat SemiBold"/>
                <a:cs typeface="Montserrat SemiBold"/>
                <a:sym typeface="Montserrat SemiBold"/>
              </a:rPr>
              <a:t>News</a:t>
            </a:r>
            <a:r>
              <a:rPr b="0" i="0" lang="en" sz="1000" u="none" cap="none" strike="noStrike">
                <a:solidFill>
                  <a:srgbClr val="6F3A93"/>
                </a:solidFill>
                <a:latin typeface="Montserrat SemiBold"/>
                <a:ea typeface="Montserrat SemiBold"/>
                <a:cs typeface="Montserrat SemiBold"/>
                <a:sym typeface="Montserrat SemiBold"/>
              </a:rPr>
              <a:t> </a:t>
            </a:r>
            <a:r>
              <a:rPr b="0" i="0" lang="en" sz="1000" u="none" cap="none" strike="noStrike">
                <a:solidFill>
                  <a:schemeClr val="accent3"/>
                </a:solidFill>
                <a:latin typeface="Montserrat SemiBold"/>
                <a:ea typeface="Montserrat SemiBold"/>
                <a:cs typeface="Montserrat SemiBold"/>
                <a:sym typeface="Montserrat SemiBold"/>
              </a:rPr>
              <a:t>&amp; Notifications </a:t>
            </a:r>
            <a:endParaRPr b="0" i="0" sz="1000" u="none" cap="none" strike="noStrike">
              <a:solidFill>
                <a:schemeClr val="accent3"/>
              </a:solidFill>
              <a:latin typeface="Montserrat SemiBold"/>
              <a:ea typeface="Montserrat SemiBold"/>
              <a:cs typeface="Montserrat SemiBold"/>
              <a:sym typeface="Montserrat SemiBold"/>
            </a:endParaRPr>
          </a:p>
          <a:p>
            <a:pPr indent="-222250" lvl="0" marL="342900" marR="0" rtl="0" algn="l">
              <a:lnSpc>
                <a:spcPct val="100000"/>
              </a:lnSpc>
              <a:spcBef>
                <a:spcPts val="1000"/>
              </a:spcBef>
              <a:spcAft>
                <a:spcPts val="0"/>
              </a:spcAft>
              <a:buClr>
                <a:srgbClr val="D9167F"/>
              </a:buClr>
              <a:buSzPts val="900"/>
              <a:buFont typeface="Montserrat"/>
              <a:buChar char="●"/>
            </a:pPr>
            <a:r>
              <a:rPr b="0" i="0" lang="en" sz="900" u="none" cap="none" strike="noStrike">
                <a:solidFill>
                  <a:schemeClr val="dk1"/>
                </a:solidFill>
                <a:latin typeface="Montserrat"/>
                <a:ea typeface="Montserrat"/>
                <a:cs typeface="Montserrat"/>
                <a:sym typeface="Montserrat"/>
              </a:rPr>
              <a:t>Search and View Racing News Items </a:t>
            </a:r>
            <a:endParaRPr b="0" i="0" sz="900" u="none" cap="none" strike="noStrike">
              <a:solidFill>
                <a:schemeClr val="dk1"/>
              </a:solidFill>
              <a:latin typeface="Montserrat"/>
              <a:ea typeface="Montserrat"/>
              <a:cs typeface="Montserrat"/>
              <a:sym typeface="Montserrat"/>
            </a:endParaRPr>
          </a:p>
          <a:p>
            <a:pPr indent="-222250" lvl="0" marL="342900" marR="0" rtl="0" algn="l">
              <a:lnSpc>
                <a:spcPct val="100000"/>
              </a:lnSpc>
              <a:spcBef>
                <a:spcPts val="0"/>
              </a:spcBef>
              <a:spcAft>
                <a:spcPts val="0"/>
              </a:spcAft>
              <a:buClr>
                <a:srgbClr val="D9167F"/>
              </a:buClr>
              <a:buSzPts val="900"/>
              <a:buFont typeface="Montserrat"/>
              <a:buChar char="●"/>
            </a:pPr>
            <a:r>
              <a:rPr b="0" i="0" lang="en" sz="900" u="none" cap="none" strike="noStrike">
                <a:solidFill>
                  <a:schemeClr val="dk1"/>
                </a:solidFill>
                <a:latin typeface="Montserrat"/>
                <a:ea typeface="Montserrat"/>
                <a:cs typeface="Montserrat"/>
                <a:sym typeface="Montserrat"/>
              </a:rPr>
              <a:t>Search and View Business Awareness pages such as Ownership, Career &amp; Training, Infrastructure, Open API details etc.</a:t>
            </a:r>
            <a:endParaRPr b="0" i="0" sz="900" u="none" cap="none" strike="noStrike">
              <a:solidFill>
                <a:schemeClr val="dk1"/>
              </a:solidFill>
              <a:latin typeface="Montserrat"/>
              <a:ea typeface="Montserrat"/>
              <a:cs typeface="Montserrat"/>
              <a:sym typeface="Montserrat"/>
            </a:endParaRPr>
          </a:p>
          <a:p>
            <a:pPr indent="-222250" lvl="0" marL="342900" marR="0" rtl="0" algn="l">
              <a:lnSpc>
                <a:spcPct val="100000"/>
              </a:lnSpc>
              <a:spcBef>
                <a:spcPts val="0"/>
              </a:spcBef>
              <a:spcAft>
                <a:spcPts val="0"/>
              </a:spcAft>
              <a:buClr>
                <a:srgbClr val="D9167F"/>
              </a:buClr>
              <a:buSzPts val="900"/>
              <a:buFont typeface="Montserrat"/>
              <a:buChar char="●"/>
            </a:pPr>
            <a:r>
              <a:rPr b="0" i="0" lang="en" sz="900" u="none" cap="none" strike="noStrike">
                <a:solidFill>
                  <a:schemeClr val="dk1"/>
                </a:solidFill>
                <a:latin typeface="Montserrat"/>
                <a:ea typeface="Montserrat"/>
                <a:cs typeface="Montserrat"/>
                <a:sym typeface="Montserrat"/>
              </a:rPr>
              <a:t>Get Push Notifications for Race Alerts &amp; Updates.</a:t>
            </a:r>
            <a:endParaRPr b="0" i="0" sz="900" u="none" cap="none" strike="noStrike">
              <a:solidFill>
                <a:schemeClr val="dk1"/>
              </a:solidFill>
              <a:latin typeface="Montserrat"/>
              <a:ea typeface="Montserrat"/>
              <a:cs typeface="Montserrat"/>
              <a:sym typeface="Montserrat"/>
            </a:endParaRPr>
          </a:p>
          <a:p>
            <a:pPr indent="0" lvl="0" marL="342900" marR="0" rtl="0" algn="l">
              <a:lnSpc>
                <a:spcPct val="100000"/>
              </a:lnSpc>
              <a:spcBef>
                <a:spcPts val="0"/>
              </a:spcBef>
              <a:spcAft>
                <a:spcPts val="0"/>
              </a:spcAft>
              <a:buClr>
                <a:schemeClr val="dk1"/>
              </a:buClr>
              <a:buSzPts val="1100"/>
              <a:buFont typeface="Arial"/>
              <a:buNone/>
            </a:pPr>
            <a:r>
              <a:t/>
            </a:r>
            <a:endParaRPr b="0" i="0" sz="1000" u="none" cap="none" strike="noStrike">
              <a:solidFill>
                <a:schemeClr val="dk1"/>
              </a:solidFill>
              <a:latin typeface="Montserrat"/>
              <a:ea typeface="Montserrat"/>
              <a:cs typeface="Montserrat"/>
              <a:sym typeface="Montserrat"/>
            </a:endParaRPr>
          </a:p>
          <a:p>
            <a:pPr indent="0" lvl="0" marL="342900" marR="0" rtl="0" algn="l">
              <a:lnSpc>
                <a:spcPct val="100000"/>
              </a:lnSpc>
              <a:spcBef>
                <a:spcPts val="0"/>
              </a:spcBef>
              <a:spcAft>
                <a:spcPts val="0"/>
              </a:spcAft>
              <a:buClr>
                <a:schemeClr val="dk1"/>
              </a:buClr>
              <a:buSzPts val="1100"/>
              <a:buFont typeface="Arial"/>
              <a:buNone/>
            </a:pPr>
            <a:r>
              <a:t/>
            </a:r>
            <a:endParaRPr b="0" i="0" sz="1000" u="none" cap="none" strike="noStrike">
              <a:solidFill>
                <a:schemeClr val="dk1"/>
              </a:solidFill>
              <a:latin typeface="Montserrat"/>
              <a:ea typeface="Montserrat"/>
              <a:cs typeface="Montserrat"/>
              <a:sym typeface="Montserrat"/>
            </a:endParaRPr>
          </a:p>
          <a:p>
            <a:pPr indent="0" lvl="0" marL="342900" marR="0" rtl="0" algn="l">
              <a:lnSpc>
                <a:spcPct val="100000"/>
              </a:lnSpc>
              <a:spcBef>
                <a:spcPts val="0"/>
              </a:spcBef>
              <a:spcAft>
                <a:spcPts val="0"/>
              </a:spcAft>
              <a:buClr>
                <a:schemeClr val="dk1"/>
              </a:buClr>
              <a:buSzPts val="1100"/>
              <a:buFont typeface="Arial"/>
              <a:buNone/>
            </a:pPr>
            <a:r>
              <a:t/>
            </a:r>
            <a:endParaRPr b="0" i="0" sz="1100" u="none" cap="none" strike="noStrike">
              <a:solidFill>
                <a:schemeClr val="accent3"/>
              </a:solidFill>
              <a:latin typeface="Montserrat SemiBold"/>
              <a:ea typeface="Montserrat SemiBold"/>
              <a:cs typeface="Montserrat SemiBold"/>
              <a:sym typeface="Montserrat SemiBold"/>
            </a:endParaRPr>
          </a:p>
          <a:p>
            <a:pPr indent="0" lvl="0" marL="0" marR="0" rtl="0" algn="l">
              <a:lnSpc>
                <a:spcPct val="100000"/>
              </a:lnSpc>
              <a:spcBef>
                <a:spcPts val="0"/>
              </a:spcBef>
              <a:spcAft>
                <a:spcPts val="0"/>
              </a:spcAft>
              <a:buClr>
                <a:schemeClr val="dk1"/>
              </a:buClr>
              <a:buSzPts val="1100"/>
              <a:buFont typeface="Arial"/>
              <a:buNone/>
            </a:pPr>
            <a:r>
              <a:t/>
            </a:r>
            <a:endParaRPr b="0" i="0" sz="1100" u="none" cap="none" strike="noStrike">
              <a:solidFill>
                <a:schemeClr val="accent3"/>
              </a:solidFill>
              <a:latin typeface="Montserrat SemiBold"/>
              <a:ea typeface="Montserrat SemiBold"/>
              <a:cs typeface="Montserrat SemiBold"/>
              <a:sym typeface="Montserrat SemiBold"/>
            </a:endParaRPr>
          </a:p>
          <a:p>
            <a:pPr indent="0" lvl="0" marL="3429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6F3A93"/>
              </a:solidFill>
              <a:latin typeface="Montserrat SemiBold"/>
              <a:ea typeface="Montserrat SemiBold"/>
              <a:cs typeface="Montserrat SemiBold"/>
              <a:sym typeface="Montserrat SemiBold"/>
            </a:endParaRPr>
          </a:p>
        </p:txBody>
      </p:sp>
      <p:cxnSp>
        <p:nvCxnSpPr>
          <p:cNvPr id="233" name="Google Shape;233;p6"/>
          <p:cNvCxnSpPr/>
          <p:nvPr/>
        </p:nvCxnSpPr>
        <p:spPr>
          <a:xfrm>
            <a:off x="6110681" y="2941365"/>
            <a:ext cx="0" cy="2007300"/>
          </a:xfrm>
          <a:prstGeom prst="straightConnector1">
            <a:avLst/>
          </a:prstGeom>
          <a:noFill/>
          <a:ln cap="flat" cmpd="sng" w="19050">
            <a:solidFill>
              <a:srgbClr val="12519C"/>
            </a:solidFill>
            <a:prstDash val="solid"/>
            <a:round/>
            <a:headEnd len="sm" w="sm" type="none"/>
            <a:tailEnd len="sm" w="sm" type="none"/>
          </a:ln>
        </p:spPr>
      </p:cxnSp>
      <p:sp>
        <p:nvSpPr>
          <p:cNvPr id="234" name="Google Shape;234;p6"/>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sz="1000"/>
              <a:t>‹#›</a:t>
            </a:fld>
            <a:endParaRPr sz="10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p7"/>
          <p:cNvSpPr txBox="1"/>
          <p:nvPr>
            <p:ph type="title"/>
          </p:nvPr>
        </p:nvSpPr>
        <p:spPr>
          <a:xfrm>
            <a:off x="104500" y="141850"/>
            <a:ext cx="7723200" cy="3573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000"/>
              <a:buNone/>
            </a:pPr>
            <a:r>
              <a:rPr lang="en">
                <a:solidFill>
                  <a:schemeClr val="dk1"/>
                </a:solidFill>
              </a:rPr>
              <a:t>Non Functional Requirements</a:t>
            </a:r>
            <a:endParaRPr>
              <a:solidFill>
                <a:schemeClr val="dk1"/>
              </a:solidFill>
            </a:endParaRPr>
          </a:p>
        </p:txBody>
      </p:sp>
      <p:sp>
        <p:nvSpPr>
          <p:cNvPr id="240" name="Google Shape;240;p7"/>
          <p:cNvSpPr txBox="1"/>
          <p:nvPr>
            <p:ph idx="12" type="sldNum"/>
          </p:nvPr>
        </p:nvSpPr>
        <p:spPr>
          <a:xfrm>
            <a:off x="8556784" y="6333134"/>
            <a:ext cx="548700" cy="5250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800"/>
              <a:buNone/>
            </a:pPr>
            <a:fld id="{00000000-1234-1234-1234-123412341234}" type="slidenum">
              <a:rPr lang="en" sz="800"/>
              <a:t>‹#›</a:t>
            </a:fld>
            <a:endParaRPr sz="800"/>
          </a:p>
        </p:txBody>
      </p:sp>
      <p:sp>
        <p:nvSpPr>
          <p:cNvPr id="241" name="Google Shape;241;p7"/>
          <p:cNvSpPr/>
          <p:nvPr/>
        </p:nvSpPr>
        <p:spPr>
          <a:xfrm>
            <a:off x="347850" y="904575"/>
            <a:ext cx="8442300" cy="3878700"/>
          </a:xfrm>
          <a:prstGeom prst="snip1Rect">
            <a:avLst>
              <a:gd fmla="val 12360"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t" bIns="0" lIns="91425" spcFirstLastPara="1" rIns="91425" wrap="square" tIns="0">
            <a:noAutofit/>
          </a:bodyPr>
          <a:lstStyle/>
          <a:p>
            <a:r>
              <a:t>Our technical approach leverages a microservices architecture to support scalable faceted search and instant filtering for up to 50,000+ SKUs. The solution decouples the frontend (Next.js/React) from backend services via REST/GraphQL APIs, ensuring scalability and maintainability. We integrate headless CMS platforms like Sanity or Strapi to empower marketing teams to update Business Awareness pages dynamically, while also supporting secure, password-protected portals with custom price tiers and bulk ordering workflows.</a:t>
            </a:r>
          </a:p>
        </p:txBody>
      </p:sp>
      <p:cxnSp>
        <p:nvCxnSpPr>
          <p:cNvPr id="242" name="Google Shape;242;p7"/>
          <p:cNvCxnSpPr/>
          <p:nvPr/>
        </p:nvCxnSpPr>
        <p:spPr>
          <a:xfrm>
            <a:off x="353817" y="911950"/>
            <a:ext cx="14400" cy="3842100"/>
          </a:xfrm>
          <a:prstGeom prst="straightConnector1">
            <a:avLst/>
          </a:prstGeom>
          <a:noFill/>
          <a:ln cap="flat" cmpd="sng" w="19050">
            <a:solidFill>
              <a:srgbClr val="12519C"/>
            </a:solidFill>
            <a:prstDash val="solid"/>
            <a:round/>
            <a:headEnd len="sm" w="sm" type="none"/>
            <a:tailEnd len="sm" w="sm" type="none"/>
          </a:ln>
        </p:spPr>
      </p:cxnSp>
      <p:sp>
        <p:nvSpPr>
          <p:cNvPr id="243" name="Google Shape;243;p7"/>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228600" lvl="0" marL="342900" marR="0" rtl="0" algn="l">
              <a:lnSpc>
                <a:spcPct val="200000"/>
              </a:lnSpc>
              <a:spcBef>
                <a:spcPts val="0"/>
              </a:spcBef>
              <a:spcAft>
                <a:spcPts val="0"/>
              </a:spcAft>
              <a:buClr>
                <a:srgbClr val="E7E6E6"/>
              </a:buClr>
              <a:buSzPts val="1000"/>
              <a:buFont typeface="Montserrat"/>
              <a:buChar char="●"/>
            </a:pPr>
            <a:fld id="{00000000-1234-1234-1234-123412341234}" type="slidenum">
              <a:rPr lang="en" sz="1000"/>
              <a:t>‹#›</a:t>
            </a:fld>
            <a:endParaRPr sz="10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8"/>
          <p:cNvSpPr txBox="1"/>
          <p:nvPr>
            <p:ph type="title"/>
          </p:nvPr>
        </p:nvSpPr>
        <p:spPr>
          <a:xfrm>
            <a:off x="104500" y="141850"/>
            <a:ext cx="7723200" cy="3573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000"/>
              <a:buNone/>
            </a:pPr>
            <a:r>
              <a:rPr lang="en">
                <a:solidFill>
                  <a:schemeClr val="dk1"/>
                </a:solidFill>
              </a:rPr>
              <a:t>Non Functional Requirements</a:t>
            </a:r>
            <a:endParaRPr>
              <a:solidFill>
                <a:schemeClr val="dk1"/>
              </a:solidFill>
            </a:endParaRPr>
          </a:p>
        </p:txBody>
      </p:sp>
      <p:sp>
        <p:nvSpPr>
          <p:cNvPr id="249" name="Google Shape;249;p8"/>
          <p:cNvSpPr txBox="1"/>
          <p:nvPr>
            <p:ph idx="12" type="sldNum"/>
          </p:nvPr>
        </p:nvSpPr>
        <p:spPr>
          <a:xfrm>
            <a:off x="8556784" y="6333134"/>
            <a:ext cx="548700" cy="5250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800"/>
              <a:buNone/>
            </a:pPr>
            <a:fld id="{00000000-1234-1234-1234-123412341234}" type="slidenum">
              <a:rPr lang="en" sz="800"/>
              <a:t>‹#›</a:t>
            </a:fld>
            <a:endParaRPr sz="800"/>
          </a:p>
        </p:txBody>
      </p:sp>
      <p:sp>
        <p:nvSpPr>
          <p:cNvPr id="250" name="Google Shape;250;p8"/>
          <p:cNvSpPr/>
          <p:nvPr/>
        </p:nvSpPr>
        <p:spPr>
          <a:xfrm>
            <a:off x="347850" y="904575"/>
            <a:ext cx="8442300" cy="3878700"/>
          </a:xfrm>
          <a:prstGeom prst="snip1Rect">
            <a:avLst>
              <a:gd fmla="val 12360"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t" bIns="0" lIns="91425" spcFirstLastPara="1" rIns="91425" wrap="square" tIns="0">
            <a:noAutofit/>
          </a:bodyPr>
          <a:lstStyle/>
          <a:p>
            <a:r>
              <a:t>The solution is fully compliant with PCI-DSS Level 1 through tokenized card data flows via Stripe and secure payment processing. GDPR and CCPA compliance are also ensured through data encryption, user consent management, and secure data storage practices. The solution is built to meet WCAG 2.1 AA accessibility guidelines, including support for screen readers, keyboard navigation, and semantic HTML, ensuring inclusive access for all users.</a:t>
            </a:r>
          </a:p>
        </p:txBody>
      </p:sp>
      <p:cxnSp>
        <p:nvCxnSpPr>
          <p:cNvPr id="251" name="Google Shape;251;p8"/>
          <p:cNvCxnSpPr/>
          <p:nvPr/>
        </p:nvCxnSpPr>
        <p:spPr>
          <a:xfrm>
            <a:off x="353817" y="911950"/>
            <a:ext cx="14400" cy="3842100"/>
          </a:xfrm>
          <a:prstGeom prst="straightConnector1">
            <a:avLst/>
          </a:prstGeom>
          <a:noFill/>
          <a:ln cap="flat" cmpd="sng" w="19050">
            <a:solidFill>
              <a:srgbClr val="12519C"/>
            </a:solidFill>
            <a:prstDash val="solid"/>
            <a:round/>
            <a:headEnd len="sm" w="sm" type="none"/>
            <a:tailEnd len="sm" w="sm" type="none"/>
          </a:ln>
        </p:spPr>
      </p:cxnSp>
      <p:sp>
        <p:nvSpPr>
          <p:cNvPr id="252" name="Google Shape;252;p8"/>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228600" lvl="0" marL="342900" marR="0" rtl="0" algn="l">
              <a:lnSpc>
                <a:spcPct val="200000"/>
              </a:lnSpc>
              <a:spcBef>
                <a:spcPts val="0"/>
              </a:spcBef>
              <a:spcAft>
                <a:spcPts val="0"/>
              </a:spcAft>
              <a:buClr>
                <a:srgbClr val="E7E6E6"/>
              </a:buClr>
              <a:buSzPts val="1000"/>
              <a:buFont typeface="Montserrat"/>
              <a:buChar char="●"/>
            </a:pPr>
            <a:fld id="{00000000-1234-1234-1234-123412341234}" type="slidenum">
              <a:rPr lang="en" sz="1000"/>
              <a:t>‹#›</a:t>
            </a:fld>
            <a:endParaRPr sz="10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p9"/>
          <p:cNvSpPr/>
          <p:nvPr/>
        </p:nvSpPr>
        <p:spPr>
          <a:xfrm>
            <a:off x="0" y="144000"/>
            <a:ext cx="47400" cy="3573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8" name="Google Shape;258;p9"/>
          <p:cNvSpPr txBox="1"/>
          <p:nvPr>
            <p:ph type="title"/>
          </p:nvPr>
        </p:nvSpPr>
        <p:spPr>
          <a:xfrm>
            <a:off x="104500" y="141850"/>
            <a:ext cx="7426200" cy="3573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000"/>
              <a:buNone/>
            </a:pPr>
            <a:r>
              <a:rPr lang="en">
                <a:solidFill>
                  <a:schemeClr val="dk1"/>
                </a:solidFill>
              </a:rPr>
              <a:t>Key Assumptions and Dependencies</a:t>
            </a:r>
            <a:endParaRPr/>
          </a:p>
        </p:txBody>
      </p:sp>
      <p:sp>
        <p:nvSpPr>
          <p:cNvPr id="259" name="Google Shape;259;p9"/>
          <p:cNvSpPr/>
          <p:nvPr/>
        </p:nvSpPr>
        <p:spPr>
          <a:xfrm>
            <a:off x="223850" y="746325"/>
            <a:ext cx="8690100" cy="4003500"/>
          </a:xfrm>
          <a:prstGeom prst="snip1Rect">
            <a:avLst>
              <a:gd fmla="val 16333"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t" bIns="121875" lIns="121875" spcFirstLastPara="1" rIns="121875" wrap="square" tIns="27425">
            <a:noAutofit/>
          </a:bodyPr>
          <a:lstStyle/>
          <a:p>
            <a:r>
              <a:t>We assume that the required integration points, such as SAP, Stripe, and CRM platforms, will be available and accessible for integration. We also assume that the necessary data structures and APIs will be provided to enable seamless communication between systems. Furthermore, we assume that the security and compliance requirements, including PCI-DSS, GDPR, and CCPA, will be aligned with our existing implementation standards.</a:t>
            </a:r>
          </a:p>
        </p:txBody>
      </p:sp>
      <p:cxnSp>
        <p:nvCxnSpPr>
          <p:cNvPr id="260" name="Google Shape;260;p9"/>
          <p:cNvCxnSpPr/>
          <p:nvPr/>
        </p:nvCxnSpPr>
        <p:spPr>
          <a:xfrm flipH="1">
            <a:off x="243425" y="736325"/>
            <a:ext cx="10200" cy="3997800"/>
          </a:xfrm>
          <a:prstGeom prst="straightConnector1">
            <a:avLst/>
          </a:prstGeom>
          <a:noFill/>
          <a:ln cap="flat" cmpd="sng" w="19050">
            <a:solidFill>
              <a:srgbClr val="12519C"/>
            </a:solidFill>
            <a:prstDash val="solid"/>
            <a:round/>
            <a:headEnd len="sm" w="sm" type="none"/>
            <a:tailEnd len="sm" w="sm" type="none"/>
          </a:ln>
        </p:spPr>
      </p:cxnSp>
      <p:sp>
        <p:nvSpPr>
          <p:cNvPr id="261" name="Google Shape;261;p9"/>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sz="1000"/>
              <a:t>‹#›</a:t>
            </a:fld>
            <a:endParaRPr sz="10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p10"/>
          <p:cNvSpPr/>
          <p:nvPr/>
        </p:nvSpPr>
        <p:spPr>
          <a:xfrm>
            <a:off x="0" y="144000"/>
            <a:ext cx="47400" cy="3573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7" name="Google Shape;267;p10"/>
          <p:cNvSpPr txBox="1"/>
          <p:nvPr>
            <p:ph type="title"/>
          </p:nvPr>
        </p:nvSpPr>
        <p:spPr>
          <a:xfrm>
            <a:off x="104500" y="141850"/>
            <a:ext cx="7426200" cy="3573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000"/>
              <a:buNone/>
            </a:pPr>
            <a:r>
              <a:rPr lang="en">
                <a:solidFill>
                  <a:schemeClr val="dk1"/>
                </a:solidFill>
              </a:rPr>
              <a:t>In Scope and Out of Scope</a:t>
            </a:r>
            <a:endParaRPr/>
          </a:p>
        </p:txBody>
      </p:sp>
      <p:sp>
        <p:nvSpPr>
          <p:cNvPr id="268" name="Google Shape;268;p10"/>
          <p:cNvSpPr/>
          <p:nvPr/>
        </p:nvSpPr>
        <p:spPr>
          <a:xfrm>
            <a:off x="396575" y="1028850"/>
            <a:ext cx="4084800" cy="3675900"/>
          </a:xfrm>
          <a:prstGeom prst="snip1Rect">
            <a:avLst>
              <a:gd fmla="val 7022"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800"/>
              <a:buFont typeface="Arial"/>
              <a:buNone/>
            </a:pPr>
            <a:r>
              <a:t/>
            </a:r>
            <a:endParaRPr b="0" i="0" sz="800" u="none" cap="none" strike="noStrike">
              <a:solidFill>
                <a:srgbClr val="000000"/>
              </a:solidFill>
              <a:latin typeface="Montserrat"/>
              <a:ea typeface="Montserrat"/>
              <a:cs typeface="Montserrat"/>
              <a:sym typeface="Montserrat"/>
            </a:endParaRPr>
          </a:p>
        </p:txBody>
      </p:sp>
      <p:sp>
        <p:nvSpPr>
          <p:cNvPr id="269" name="Google Shape;269;p10"/>
          <p:cNvSpPr/>
          <p:nvPr/>
        </p:nvSpPr>
        <p:spPr>
          <a:xfrm>
            <a:off x="400818" y="898163"/>
            <a:ext cx="4084800" cy="476100"/>
          </a:xfrm>
          <a:prstGeom prst="snip1Rect">
            <a:avLst>
              <a:gd fmla="val 21756" name="adj"/>
            </a:avLst>
          </a:prstGeom>
          <a:solidFill>
            <a:srgbClr val="F0EFFF"/>
          </a:solid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i="0" lang="en" sz="1100" u="none" cap="none" strike="noStrike">
                <a:solidFill>
                  <a:srgbClr val="6F3A93"/>
                </a:solidFill>
                <a:latin typeface="Montserrat"/>
                <a:ea typeface="Montserrat"/>
                <a:cs typeface="Montserrat"/>
                <a:sym typeface="Montserrat"/>
              </a:rPr>
              <a:t>In Scope</a:t>
            </a:r>
            <a:endParaRPr b="1" i="0" sz="1100" u="none" cap="none" strike="noStrike">
              <a:solidFill>
                <a:srgbClr val="6F3A93"/>
              </a:solidFill>
              <a:latin typeface="Montserrat"/>
              <a:ea typeface="Montserrat"/>
              <a:cs typeface="Montserrat"/>
              <a:sym typeface="Montserrat"/>
            </a:endParaRPr>
          </a:p>
        </p:txBody>
      </p:sp>
      <p:sp>
        <p:nvSpPr>
          <p:cNvPr id="270" name="Google Shape;270;p10"/>
          <p:cNvSpPr/>
          <p:nvPr/>
        </p:nvSpPr>
        <p:spPr>
          <a:xfrm>
            <a:off x="4658375" y="900350"/>
            <a:ext cx="4084800" cy="3804300"/>
          </a:xfrm>
          <a:prstGeom prst="snip1Rect">
            <a:avLst>
              <a:gd fmla="val 10616"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800"/>
              <a:buFont typeface="Arial"/>
              <a:buNone/>
            </a:pPr>
            <a:r>
              <a:t/>
            </a:r>
            <a:endParaRPr b="0" i="0" sz="800" u="none" cap="none" strike="noStrike">
              <a:solidFill>
                <a:srgbClr val="000000"/>
              </a:solidFill>
              <a:latin typeface="Montserrat"/>
              <a:ea typeface="Montserrat"/>
              <a:cs typeface="Montserrat"/>
              <a:sym typeface="Montserrat"/>
            </a:endParaRPr>
          </a:p>
        </p:txBody>
      </p:sp>
      <p:sp>
        <p:nvSpPr>
          <p:cNvPr id="271" name="Google Shape;271;p10"/>
          <p:cNvSpPr/>
          <p:nvPr/>
        </p:nvSpPr>
        <p:spPr>
          <a:xfrm>
            <a:off x="4662635" y="898172"/>
            <a:ext cx="4084800" cy="476100"/>
          </a:xfrm>
          <a:prstGeom prst="snip1Rect">
            <a:avLst>
              <a:gd fmla="val 21756" name="adj"/>
            </a:avLst>
          </a:prstGeom>
          <a:solidFill>
            <a:srgbClr val="F0EFFF"/>
          </a:solid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i="0" lang="en" sz="1100" u="none" cap="none" strike="noStrike">
                <a:solidFill>
                  <a:srgbClr val="6F3A93"/>
                </a:solidFill>
                <a:latin typeface="Montserrat"/>
                <a:ea typeface="Montserrat"/>
                <a:cs typeface="Montserrat"/>
                <a:sym typeface="Montserrat"/>
              </a:rPr>
              <a:t>Not Estimated</a:t>
            </a:r>
            <a:endParaRPr b="1" i="0" sz="1100" u="none" cap="none" strike="noStrike">
              <a:solidFill>
                <a:srgbClr val="6F3A93"/>
              </a:solidFill>
              <a:latin typeface="Montserrat"/>
              <a:ea typeface="Montserrat"/>
              <a:cs typeface="Montserrat"/>
              <a:sym typeface="Montserrat"/>
            </a:endParaRPr>
          </a:p>
        </p:txBody>
      </p:sp>
      <p:sp>
        <p:nvSpPr>
          <p:cNvPr id="272" name="Google Shape;272;p10"/>
          <p:cNvSpPr txBox="1"/>
          <p:nvPr/>
        </p:nvSpPr>
        <p:spPr>
          <a:xfrm>
            <a:off x="4662575" y="1374275"/>
            <a:ext cx="4084800" cy="3274800"/>
          </a:xfrm>
          <a:prstGeom prst="rect">
            <a:avLst/>
          </a:prstGeom>
          <a:noFill/>
          <a:ln>
            <a:noFill/>
          </a:ln>
        </p:spPr>
        <p:txBody>
          <a:bodyPr anchorCtr="0" anchor="t" bIns="91425" lIns="91425" spcFirstLastPara="1" rIns="91425" wrap="square" tIns="91425">
            <a:spAutoFit/>
          </a:bodyPr>
          <a:lstStyle/>
          <a:p>
            <a:r>
              <a:t>We assume that the required integration points, such as SAP, Stripe, and CRM platforms, will be available and accessible for integration. We also assume that the necessary data structures and APIs will be provided to enable seamless communication between systems. Furthermore, we assume that the security and compliance requirements, including PCI-DSS, GDPR, and CCPA, will be aligned with our existing implementation standards.</a:t>
            </a:r>
          </a:p>
        </p:txBody>
      </p:sp>
      <p:sp>
        <p:nvSpPr>
          <p:cNvPr id="273" name="Google Shape;273;p10"/>
          <p:cNvSpPr txBox="1"/>
          <p:nvPr/>
        </p:nvSpPr>
        <p:spPr>
          <a:xfrm>
            <a:off x="400819" y="1406088"/>
            <a:ext cx="4084800" cy="1911600"/>
          </a:xfrm>
          <a:prstGeom prst="rect">
            <a:avLst/>
          </a:prstGeom>
          <a:noFill/>
          <a:ln>
            <a:noFill/>
          </a:ln>
        </p:spPr>
        <p:txBody>
          <a:bodyPr anchorCtr="0" anchor="t" bIns="91425" lIns="91425" spcFirstLastPara="1" rIns="91425" wrap="square" tIns="91425">
            <a:spAutoFit/>
          </a:bodyPr>
          <a:lstStyle/>
          <a:p>
            <a:pPr indent="-298450" lvl="0" marL="457200" marR="0" rtl="0" algn="l">
              <a:lnSpc>
                <a:spcPct val="115000"/>
              </a:lnSpc>
              <a:spcBef>
                <a:spcPts val="0"/>
              </a:spcBef>
              <a:spcAft>
                <a:spcPts val="0"/>
              </a:spcAft>
              <a:buClr>
                <a:schemeClr val="accent1"/>
              </a:buClr>
              <a:buSzPts val="1100"/>
              <a:buFont typeface="Montserrat"/>
              <a:buChar char="●"/>
            </a:pPr>
            <a:r>
              <a:rPr b="0" i="0" lang="en" sz="1100" u="none" cap="none" strike="noStrike">
                <a:solidFill>
                  <a:srgbClr val="000000"/>
                </a:solidFill>
                <a:latin typeface="Montserrat"/>
                <a:ea typeface="Montserrat"/>
                <a:cs typeface="Montserrat"/>
                <a:sym typeface="Montserrat"/>
              </a:rPr>
              <a:t>Project Discovery, Design, Development and Deployment.</a:t>
            </a:r>
            <a:endParaRPr b="0" i="0" sz="1100" u="none" cap="none" strike="noStrike">
              <a:solidFill>
                <a:srgbClr val="000000"/>
              </a:solidFill>
              <a:latin typeface="Montserrat"/>
              <a:ea typeface="Montserrat"/>
              <a:cs typeface="Montserrat"/>
              <a:sym typeface="Montserrat"/>
            </a:endParaRPr>
          </a:p>
          <a:p>
            <a:pPr indent="-298450" lvl="1" marL="914400" marR="0" rtl="0" algn="l">
              <a:lnSpc>
                <a:spcPct val="115000"/>
              </a:lnSpc>
              <a:spcBef>
                <a:spcPts val="0"/>
              </a:spcBef>
              <a:spcAft>
                <a:spcPts val="0"/>
              </a:spcAft>
              <a:buClr>
                <a:srgbClr val="000000"/>
              </a:buClr>
              <a:buSzPts val="1100"/>
              <a:buFont typeface="Montserrat"/>
              <a:buChar char="○"/>
            </a:pPr>
            <a:r>
              <a:rPr b="0" i="0" lang="en" sz="1100" u="none" cap="none" strike="noStrike">
                <a:solidFill>
                  <a:srgbClr val="000000"/>
                </a:solidFill>
                <a:latin typeface="Montserrat"/>
                <a:ea typeface="Montserrat"/>
                <a:cs typeface="Montserrat"/>
                <a:sym typeface="Montserrat"/>
              </a:rPr>
              <a:t>Mobile Application Development</a:t>
            </a:r>
            <a:endParaRPr b="0" i="0" sz="1100" u="none" cap="none" strike="noStrike">
              <a:solidFill>
                <a:srgbClr val="000000"/>
              </a:solidFill>
              <a:latin typeface="Montserrat"/>
              <a:ea typeface="Montserrat"/>
              <a:cs typeface="Montserrat"/>
              <a:sym typeface="Montserrat"/>
            </a:endParaRPr>
          </a:p>
          <a:p>
            <a:pPr indent="-298450" lvl="0" marL="457200" marR="0" rtl="0" algn="l">
              <a:lnSpc>
                <a:spcPct val="115000"/>
              </a:lnSpc>
              <a:spcBef>
                <a:spcPts val="0"/>
              </a:spcBef>
              <a:spcAft>
                <a:spcPts val="0"/>
              </a:spcAft>
              <a:buClr>
                <a:schemeClr val="accent1"/>
              </a:buClr>
              <a:buSzPts val="1100"/>
              <a:buFont typeface="Montserrat"/>
              <a:buChar char="●"/>
            </a:pPr>
            <a:r>
              <a:rPr b="0" i="0" lang="en" sz="1100" u="none" cap="none" strike="noStrike">
                <a:solidFill>
                  <a:srgbClr val="000000"/>
                </a:solidFill>
                <a:latin typeface="Montserrat"/>
                <a:ea typeface="Montserrat"/>
                <a:cs typeface="Montserrat"/>
                <a:sym typeface="Montserrat"/>
              </a:rPr>
              <a:t>UX and Visual Designs of all the screens</a:t>
            </a:r>
            <a:endParaRPr b="0" i="0" sz="1100" u="none" cap="none" strike="noStrike">
              <a:solidFill>
                <a:srgbClr val="000000"/>
              </a:solidFill>
              <a:latin typeface="Montserrat"/>
              <a:ea typeface="Montserrat"/>
              <a:cs typeface="Montserrat"/>
              <a:sym typeface="Montserrat"/>
            </a:endParaRPr>
          </a:p>
          <a:p>
            <a:pPr indent="-298450" lvl="0" marL="457200" marR="0" rtl="0" algn="l">
              <a:lnSpc>
                <a:spcPct val="115000"/>
              </a:lnSpc>
              <a:spcBef>
                <a:spcPts val="0"/>
              </a:spcBef>
              <a:spcAft>
                <a:spcPts val="0"/>
              </a:spcAft>
              <a:buClr>
                <a:schemeClr val="accent1"/>
              </a:buClr>
              <a:buSzPts val="1100"/>
              <a:buFont typeface="Montserrat"/>
              <a:buChar char="●"/>
            </a:pPr>
            <a:r>
              <a:rPr b="0" i="0" lang="en" sz="1100" u="none" cap="none" strike="noStrike">
                <a:solidFill>
                  <a:srgbClr val="000000"/>
                </a:solidFill>
                <a:latin typeface="Montserrat"/>
                <a:ea typeface="Montserrat"/>
                <a:cs typeface="Montserrat"/>
                <a:sym typeface="Montserrat"/>
              </a:rPr>
              <a:t>Manual QA Testing for the developed features</a:t>
            </a:r>
            <a:endParaRPr b="0" i="0" sz="1100" u="none" cap="none" strike="noStrike">
              <a:solidFill>
                <a:srgbClr val="000000"/>
              </a:solidFill>
              <a:latin typeface="Montserrat"/>
              <a:ea typeface="Montserrat"/>
              <a:cs typeface="Montserrat"/>
              <a:sym typeface="Montserrat"/>
            </a:endParaRPr>
          </a:p>
          <a:p>
            <a:pPr indent="-298450" lvl="0" marL="457200" marR="0" rtl="0" algn="l">
              <a:lnSpc>
                <a:spcPct val="115000"/>
              </a:lnSpc>
              <a:spcBef>
                <a:spcPts val="0"/>
              </a:spcBef>
              <a:spcAft>
                <a:spcPts val="0"/>
              </a:spcAft>
              <a:buClr>
                <a:schemeClr val="accent1"/>
              </a:buClr>
              <a:buSzPts val="1100"/>
              <a:buFont typeface="Montserrat"/>
              <a:buChar char="●"/>
            </a:pPr>
            <a:r>
              <a:rPr b="0" i="0" lang="en" sz="1100" u="none" cap="none" strike="noStrike">
                <a:solidFill>
                  <a:srgbClr val="000000"/>
                </a:solidFill>
                <a:latin typeface="Montserrat"/>
                <a:ea typeface="Montserrat"/>
                <a:cs typeface="Montserrat"/>
                <a:sym typeface="Montserrat"/>
              </a:rPr>
              <a:t>CI/CD Implementation</a:t>
            </a:r>
            <a:endParaRPr b="0" i="0" sz="1100" u="none" cap="none" strike="noStrike">
              <a:solidFill>
                <a:srgbClr val="000000"/>
              </a:solidFill>
              <a:latin typeface="Montserrat"/>
              <a:ea typeface="Montserrat"/>
              <a:cs typeface="Montserrat"/>
              <a:sym typeface="Montserrat"/>
            </a:endParaRPr>
          </a:p>
          <a:p>
            <a:pPr indent="-298450" lvl="0" marL="457200" marR="0" rtl="0" algn="l">
              <a:lnSpc>
                <a:spcPct val="115000"/>
              </a:lnSpc>
              <a:spcBef>
                <a:spcPts val="0"/>
              </a:spcBef>
              <a:spcAft>
                <a:spcPts val="0"/>
              </a:spcAft>
              <a:buClr>
                <a:schemeClr val="accent1"/>
              </a:buClr>
              <a:buSzPts val="1100"/>
              <a:buFont typeface="Montserrat"/>
              <a:buChar char="●"/>
            </a:pPr>
            <a:r>
              <a:rPr b="0" i="0" lang="en" sz="1100" u="none" cap="none" strike="noStrike">
                <a:solidFill>
                  <a:srgbClr val="000000"/>
                </a:solidFill>
                <a:latin typeface="Montserrat"/>
                <a:ea typeface="Montserrat"/>
                <a:cs typeface="Montserrat"/>
                <a:sym typeface="Montserrat"/>
              </a:rPr>
              <a:t>UAT support and deployment</a:t>
            </a:r>
            <a:endParaRPr b="0" i="0" sz="1100" u="none" cap="none" strike="noStrike">
              <a:solidFill>
                <a:srgbClr val="000000"/>
              </a:solidFill>
              <a:latin typeface="Montserrat"/>
              <a:ea typeface="Montserrat"/>
              <a:cs typeface="Montserrat"/>
              <a:sym typeface="Montserrat"/>
            </a:endParaRPr>
          </a:p>
          <a:p>
            <a:pPr indent="-298450" lvl="0" marL="457200" marR="0" rtl="0" algn="l">
              <a:lnSpc>
                <a:spcPct val="115000"/>
              </a:lnSpc>
              <a:spcBef>
                <a:spcPts val="0"/>
              </a:spcBef>
              <a:spcAft>
                <a:spcPts val="0"/>
              </a:spcAft>
              <a:buClr>
                <a:schemeClr val="accent1"/>
              </a:buClr>
              <a:buSzPts val="1100"/>
              <a:buFont typeface="Montserrat"/>
              <a:buChar char="●"/>
            </a:pPr>
            <a:r>
              <a:rPr b="0" i="0" lang="en" sz="1100" u="none" cap="none" strike="noStrike">
                <a:solidFill>
                  <a:srgbClr val="000000"/>
                </a:solidFill>
                <a:latin typeface="Montserrat"/>
                <a:ea typeface="Montserrat"/>
                <a:cs typeface="Montserrat"/>
                <a:sym typeface="Montserrat"/>
              </a:rPr>
              <a:t>Go-Live Support</a:t>
            </a:r>
            <a:endParaRPr b="0" i="0" sz="1100" u="none" cap="none" strike="noStrike">
              <a:solidFill>
                <a:srgbClr val="000000"/>
              </a:solidFill>
              <a:latin typeface="Montserrat"/>
              <a:ea typeface="Montserrat"/>
              <a:cs typeface="Montserrat"/>
              <a:sym typeface="Montserrat"/>
            </a:endParaRPr>
          </a:p>
          <a:p>
            <a:pPr indent="-298450" lvl="0" marL="457200" marR="0" rtl="0" algn="l">
              <a:lnSpc>
                <a:spcPct val="115000"/>
              </a:lnSpc>
              <a:spcBef>
                <a:spcPts val="0"/>
              </a:spcBef>
              <a:spcAft>
                <a:spcPts val="0"/>
              </a:spcAft>
              <a:buClr>
                <a:schemeClr val="accent1"/>
              </a:buClr>
              <a:buSzPts val="1100"/>
              <a:buFont typeface="Montserrat"/>
              <a:buChar char="●"/>
            </a:pPr>
            <a:r>
              <a:rPr b="0" i="0" lang="en" sz="1100" u="none" cap="none" strike="noStrike">
                <a:solidFill>
                  <a:srgbClr val="000000"/>
                </a:solidFill>
                <a:latin typeface="Montserrat"/>
                <a:ea typeface="Montserrat"/>
                <a:cs typeface="Montserrat"/>
                <a:sym typeface="Montserrat"/>
              </a:rPr>
              <a:t>Hypercare /Warranty Support(2 Weeks)</a:t>
            </a:r>
            <a:endParaRPr b="0" i="0" sz="1100" u="none" cap="none" strike="noStrike">
              <a:solidFill>
                <a:srgbClr val="000000"/>
              </a:solidFill>
              <a:latin typeface="Montserrat"/>
              <a:ea typeface="Montserrat"/>
              <a:cs typeface="Montserrat"/>
              <a:sym typeface="Montserrat"/>
            </a:endParaRPr>
          </a:p>
        </p:txBody>
      </p:sp>
      <p:sp>
        <p:nvSpPr>
          <p:cNvPr id="274" name="Google Shape;274;p10"/>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sz="1000"/>
              <a:t>‹#›</a:t>
            </a:fld>
            <a:endParaRPr sz="10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sp>
        <p:nvSpPr>
          <p:cNvPr id="279" name="Google Shape;279;p11"/>
          <p:cNvSpPr/>
          <p:nvPr/>
        </p:nvSpPr>
        <p:spPr>
          <a:xfrm>
            <a:off x="0" y="144000"/>
            <a:ext cx="47400" cy="3573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0" name="Google Shape;280;p11"/>
          <p:cNvSpPr txBox="1"/>
          <p:nvPr>
            <p:ph type="title"/>
          </p:nvPr>
        </p:nvSpPr>
        <p:spPr>
          <a:xfrm>
            <a:off x="104500" y="141850"/>
            <a:ext cx="6703800" cy="3573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000"/>
              <a:buNone/>
            </a:pPr>
            <a:r>
              <a:rPr lang="en"/>
              <a:t>Agenda</a:t>
            </a:r>
            <a:endParaRPr/>
          </a:p>
        </p:txBody>
      </p:sp>
      <p:sp>
        <p:nvSpPr>
          <p:cNvPr id="281" name="Google Shape;281;p11"/>
          <p:cNvSpPr/>
          <p:nvPr/>
        </p:nvSpPr>
        <p:spPr>
          <a:xfrm>
            <a:off x="1358763" y="1111025"/>
            <a:ext cx="6654600" cy="376800"/>
          </a:xfrm>
          <a:prstGeom prst="snip1Rect">
            <a:avLst>
              <a:gd fmla="val 35537"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200"/>
              <a:buFont typeface="Arial"/>
              <a:buNone/>
            </a:pPr>
            <a:r>
              <a:rPr b="0" i="0" lang="en" sz="1200" u="none" cap="none" strike="noStrike">
                <a:solidFill>
                  <a:srgbClr val="000000"/>
                </a:solidFill>
                <a:latin typeface="Montserrat"/>
                <a:ea typeface="Montserrat"/>
                <a:cs typeface="Montserrat"/>
                <a:sym typeface="Montserrat"/>
              </a:rPr>
              <a:t>Executive Summary and Our Understanding of Project Requirements</a:t>
            </a:r>
            <a:endParaRPr b="0" i="0" sz="1200" u="none" cap="none" strike="noStrike">
              <a:solidFill>
                <a:srgbClr val="000000"/>
              </a:solidFill>
              <a:latin typeface="Montserrat"/>
              <a:ea typeface="Montserrat"/>
              <a:cs typeface="Montserrat"/>
              <a:sym typeface="Montserrat"/>
            </a:endParaRPr>
          </a:p>
        </p:txBody>
      </p:sp>
      <p:sp>
        <p:nvSpPr>
          <p:cNvPr id="282" name="Google Shape;282;p11"/>
          <p:cNvSpPr/>
          <p:nvPr/>
        </p:nvSpPr>
        <p:spPr>
          <a:xfrm>
            <a:off x="1358763" y="1678410"/>
            <a:ext cx="6654600" cy="376800"/>
          </a:xfrm>
          <a:prstGeom prst="snip1Rect">
            <a:avLst>
              <a:gd fmla="val 35537"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200"/>
              <a:buFont typeface="Arial"/>
              <a:buNone/>
            </a:pPr>
            <a:r>
              <a:rPr b="1" i="0" lang="en" sz="1200" u="none" cap="none" strike="noStrike">
                <a:solidFill>
                  <a:srgbClr val="D71B7F"/>
                </a:solidFill>
                <a:latin typeface="Montserrat"/>
                <a:ea typeface="Montserrat"/>
                <a:cs typeface="Montserrat"/>
                <a:sym typeface="Montserrat"/>
              </a:rPr>
              <a:t>Proposed Technical Solution Approach</a:t>
            </a:r>
            <a:endParaRPr b="1" i="0" sz="1200" u="none" cap="none" strike="noStrike">
              <a:solidFill>
                <a:srgbClr val="D71B7F"/>
              </a:solidFill>
              <a:latin typeface="Montserrat"/>
              <a:ea typeface="Montserrat"/>
              <a:cs typeface="Montserrat"/>
              <a:sym typeface="Montserrat"/>
            </a:endParaRPr>
          </a:p>
        </p:txBody>
      </p:sp>
      <p:sp>
        <p:nvSpPr>
          <p:cNvPr id="283" name="Google Shape;283;p11"/>
          <p:cNvSpPr/>
          <p:nvPr/>
        </p:nvSpPr>
        <p:spPr>
          <a:xfrm>
            <a:off x="1358763" y="3289875"/>
            <a:ext cx="6654600" cy="376800"/>
          </a:xfrm>
          <a:prstGeom prst="snip1Rect">
            <a:avLst>
              <a:gd fmla="val 35537"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100"/>
              <a:buFont typeface="Arial"/>
              <a:buNone/>
            </a:pPr>
            <a:r>
              <a:rPr b="0" i="0" lang="en" sz="1200" u="none" cap="none" strike="noStrike">
                <a:solidFill>
                  <a:srgbClr val="000000"/>
                </a:solidFill>
                <a:latin typeface="Montserrat"/>
                <a:ea typeface="Montserrat"/>
                <a:cs typeface="Montserrat"/>
                <a:sym typeface="Montserrat"/>
              </a:rPr>
              <a:t>Success Stories</a:t>
            </a:r>
            <a:endParaRPr b="0" i="0" sz="1200" u="none" cap="none" strike="noStrike">
              <a:solidFill>
                <a:srgbClr val="000000"/>
              </a:solidFill>
              <a:latin typeface="Montserrat"/>
              <a:ea typeface="Montserrat"/>
              <a:cs typeface="Montserrat"/>
              <a:sym typeface="Montserrat"/>
            </a:endParaRPr>
          </a:p>
        </p:txBody>
      </p:sp>
      <p:cxnSp>
        <p:nvCxnSpPr>
          <p:cNvPr id="284" name="Google Shape;284;p11"/>
          <p:cNvCxnSpPr/>
          <p:nvPr/>
        </p:nvCxnSpPr>
        <p:spPr>
          <a:xfrm>
            <a:off x="1367196" y="1108050"/>
            <a:ext cx="0" cy="382200"/>
          </a:xfrm>
          <a:prstGeom prst="straightConnector1">
            <a:avLst/>
          </a:prstGeom>
          <a:noFill/>
          <a:ln cap="flat" cmpd="sng" w="19050">
            <a:solidFill>
              <a:srgbClr val="12519C"/>
            </a:solidFill>
            <a:prstDash val="solid"/>
            <a:round/>
            <a:headEnd len="sm" w="sm" type="none"/>
            <a:tailEnd len="sm" w="sm" type="none"/>
          </a:ln>
        </p:spPr>
      </p:cxnSp>
      <p:cxnSp>
        <p:nvCxnSpPr>
          <p:cNvPr id="285" name="Google Shape;285;p11"/>
          <p:cNvCxnSpPr/>
          <p:nvPr/>
        </p:nvCxnSpPr>
        <p:spPr>
          <a:xfrm>
            <a:off x="1367196" y="1675436"/>
            <a:ext cx="0" cy="382200"/>
          </a:xfrm>
          <a:prstGeom prst="straightConnector1">
            <a:avLst/>
          </a:prstGeom>
          <a:noFill/>
          <a:ln cap="flat" cmpd="sng" w="19050">
            <a:solidFill>
              <a:srgbClr val="12519C"/>
            </a:solidFill>
            <a:prstDash val="solid"/>
            <a:round/>
            <a:headEnd len="sm" w="sm" type="none"/>
            <a:tailEnd len="sm" w="sm" type="none"/>
          </a:ln>
        </p:spPr>
      </p:cxnSp>
      <p:cxnSp>
        <p:nvCxnSpPr>
          <p:cNvPr id="286" name="Google Shape;286;p11"/>
          <p:cNvCxnSpPr/>
          <p:nvPr/>
        </p:nvCxnSpPr>
        <p:spPr>
          <a:xfrm>
            <a:off x="1367196" y="3288390"/>
            <a:ext cx="0" cy="382200"/>
          </a:xfrm>
          <a:prstGeom prst="straightConnector1">
            <a:avLst/>
          </a:prstGeom>
          <a:noFill/>
          <a:ln cap="flat" cmpd="sng" w="19050">
            <a:solidFill>
              <a:srgbClr val="12519C"/>
            </a:solidFill>
            <a:prstDash val="solid"/>
            <a:round/>
            <a:headEnd len="sm" w="sm" type="none"/>
            <a:tailEnd len="sm" w="sm" type="none"/>
          </a:ln>
        </p:spPr>
      </p:cxnSp>
      <p:sp>
        <p:nvSpPr>
          <p:cNvPr id="287" name="Google Shape;287;p11"/>
          <p:cNvSpPr/>
          <p:nvPr/>
        </p:nvSpPr>
        <p:spPr>
          <a:xfrm>
            <a:off x="1048238" y="1260478"/>
            <a:ext cx="79200" cy="77400"/>
          </a:xfrm>
          <a:prstGeom prst="ellipse">
            <a:avLst/>
          </a:prstGeom>
          <a:solidFill>
            <a:srgbClr val="D71B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8" name="Google Shape;288;p11"/>
          <p:cNvSpPr/>
          <p:nvPr/>
        </p:nvSpPr>
        <p:spPr>
          <a:xfrm>
            <a:off x="1048238" y="1827880"/>
            <a:ext cx="79200" cy="77400"/>
          </a:xfrm>
          <a:prstGeom prst="ellipse">
            <a:avLst/>
          </a:prstGeom>
          <a:solidFill>
            <a:srgbClr val="D71B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9" name="Google Shape;289;p11"/>
          <p:cNvSpPr/>
          <p:nvPr/>
        </p:nvSpPr>
        <p:spPr>
          <a:xfrm>
            <a:off x="1048238" y="3439362"/>
            <a:ext cx="79200" cy="77400"/>
          </a:xfrm>
          <a:prstGeom prst="ellipse">
            <a:avLst/>
          </a:prstGeom>
          <a:solidFill>
            <a:srgbClr val="D71B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0" name="Google Shape;290;p11"/>
          <p:cNvSpPr/>
          <p:nvPr/>
        </p:nvSpPr>
        <p:spPr>
          <a:xfrm>
            <a:off x="1358763" y="2245805"/>
            <a:ext cx="6654600" cy="376800"/>
          </a:xfrm>
          <a:prstGeom prst="snip1Rect">
            <a:avLst>
              <a:gd fmla="val 35537"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100"/>
              <a:buFont typeface="Arial"/>
              <a:buNone/>
            </a:pPr>
            <a:r>
              <a:rPr b="0" i="0" lang="en" sz="1200" u="none" cap="none" strike="noStrike">
                <a:solidFill>
                  <a:srgbClr val="000000"/>
                </a:solidFill>
                <a:latin typeface="Montserrat"/>
                <a:ea typeface="Montserrat"/>
                <a:cs typeface="Montserrat"/>
                <a:sym typeface="Montserrat"/>
              </a:rPr>
              <a:t>Project Plan and Key Deliverables</a:t>
            </a:r>
            <a:endParaRPr b="0" i="0" sz="1200" u="none" cap="none" strike="noStrike">
              <a:solidFill>
                <a:srgbClr val="000000"/>
              </a:solidFill>
              <a:latin typeface="Montserrat"/>
              <a:ea typeface="Montserrat"/>
              <a:cs typeface="Montserrat"/>
              <a:sym typeface="Montserrat"/>
            </a:endParaRPr>
          </a:p>
        </p:txBody>
      </p:sp>
      <p:cxnSp>
        <p:nvCxnSpPr>
          <p:cNvPr id="291" name="Google Shape;291;p11"/>
          <p:cNvCxnSpPr/>
          <p:nvPr/>
        </p:nvCxnSpPr>
        <p:spPr>
          <a:xfrm>
            <a:off x="1367196" y="2242832"/>
            <a:ext cx="0" cy="382200"/>
          </a:xfrm>
          <a:prstGeom prst="straightConnector1">
            <a:avLst/>
          </a:prstGeom>
          <a:noFill/>
          <a:ln cap="flat" cmpd="sng" w="19050">
            <a:solidFill>
              <a:srgbClr val="12519C"/>
            </a:solidFill>
            <a:prstDash val="solid"/>
            <a:round/>
            <a:headEnd len="sm" w="sm" type="none"/>
            <a:tailEnd len="sm" w="sm" type="none"/>
          </a:ln>
        </p:spPr>
      </p:cxnSp>
      <p:sp>
        <p:nvSpPr>
          <p:cNvPr id="292" name="Google Shape;292;p11"/>
          <p:cNvSpPr/>
          <p:nvPr/>
        </p:nvSpPr>
        <p:spPr>
          <a:xfrm>
            <a:off x="1048238" y="2395275"/>
            <a:ext cx="79200" cy="77400"/>
          </a:xfrm>
          <a:prstGeom prst="ellipse">
            <a:avLst/>
          </a:prstGeom>
          <a:solidFill>
            <a:srgbClr val="D71B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3" name="Google Shape;293;p11"/>
          <p:cNvSpPr/>
          <p:nvPr/>
        </p:nvSpPr>
        <p:spPr>
          <a:xfrm>
            <a:off x="1358763" y="2755885"/>
            <a:ext cx="6654600" cy="376800"/>
          </a:xfrm>
          <a:prstGeom prst="snip1Rect">
            <a:avLst>
              <a:gd fmla="val 35537"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100"/>
              <a:buFont typeface="Arial"/>
              <a:buNone/>
            </a:pPr>
            <a:r>
              <a:rPr b="0" i="0" lang="en" sz="1200" u="none" cap="none" strike="noStrike">
                <a:solidFill>
                  <a:srgbClr val="000000"/>
                </a:solidFill>
                <a:latin typeface="Montserrat"/>
                <a:ea typeface="Montserrat"/>
                <a:cs typeface="Montserrat"/>
                <a:sym typeface="Montserrat"/>
              </a:rPr>
              <a:t>Commercial Summary</a:t>
            </a:r>
            <a:endParaRPr b="0" i="0" sz="1200" u="none" cap="none" strike="noStrike">
              <a:solidFill>
                <a:srgbClr val="000000"/>
              </a:solidFill>
              <a:latin typeface="Montserrat"/>
              <a:ea typeface="Montserrat"/>
              <a:cs typeface="Montserrat"/>
              <a:sym typeface="Montserrat"/>
            </a:endParaRPr>
          </a:p>
        </p:txBody>
      </p:sp>
      <p:cxnSp>
        <p:nvCxnSpPr>
          <p:cNvPr id="294" name="Google Shape;294;p11"/>
          <p:cNvCxnSpPr/>
          <p:nvPr/>
        </p:nvCxnSpPr>
        <p:spPr>
          <a:xfrm>
            <a:off x="1367196" y="2752912"/>
            <a:ext cx="0" cy="382200"/>
          </a:xfrm>
          <a:prstGeom prst="straightConnector1">
            <a:avLst/>
          </a:prstGeom>
          <a:noFill/>
          <a:ln cap="flat" cmpd="sng" w="19050">
            <a:solidFill>
              <a:srgbClr val="12519C"/>
            </a:solidFill>
            <a:prstDash val="solid"/>
            <a:round/>
            <a:headEnd len="sm" w="sm" type="none"/>
            <a:tailEnd len="sm" w="sm" type="none"/>
          </a:ln>
        </p:spPr>
      </p:cxnSp>
      <p:sp>
        <p:nvSpPr>
          <p:cNvPr id="295" name="Google Shape;295;p11"/>
          <p:cNvSpPr/>
          <p:nvPr/>
        </p:nvSpPr>
        <p:spPr>
          <a:xfrm>
            <a:off x="1048238" y="2905355"/>
            <a:ext cx="79200" cy="77400"/>
          </a:xfrm>
          <a:prstGeom prst="ellipse">
            <a:avLst/>
          </a:prstGeom>
          <a:solidFill>
            <a:srgbClr val="D71B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6" name="Google Shape;296;p11"/>
          <p:cNvSpPr txBox="1"/>
          <p:nvPr>
            <p:ph idx="4294967295"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sz="1000"/>
              <a:t>‹#›</a:t>
            </a:fld>
            <a:endParaRPr sz="10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sp>
        <p:nvSpPr>
          <p:cNvPr id="301" name="Google Shape;301;p12"/>
          <p:cNvSpPr/>
          <p:nvPr/>
        </p:nvSpPr>
        <p:spPr>
          <a:xfrm>
            <a:off x="226950" y="740900"/>
            <a:ext cx="8690100" cy="4113300"/>
          </a:xfrm>
          <a:prstGeom prst="snip1Rect">
            <a:avLst>
              <a:gd fmla="val 16333"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t" bIns="0" lIns="121875" spcFirstLastPara="1" rIns="121875" wrap="square" tIns="0">
            <a:noAutofit/>
          </a:bodyPr>
          <a:lstStyle/>
          <a:p>
            <a:pPr indent="0" lvl="0" marL="0" marR="0" rtl="0" algn="just">
              <a:lnSpc>
                <a:spcPct val="115000"/>
              </a:lnSpc>
              <a:spcBef>
                <a:spcPts val="0"/>
              </a:spcBef>
              <a:spcAft>
                <a:spcPts val="0"/>
              </a:spcAft>
              <a:buClr>
                <a:srgbClr val="000000"/>
              </a:buClr>
              <a:buSzPts val="1100"/>
              <a:buFont typeface="Arial"/>
              <a:buNone/>
            </a:pPr>
            <a:r>
              <a:t/>
            </a:r>
            <a:endParaRPr b="1" i="0" sz="1000" u="none" cap="none" strike="noStrike">
              <a:solidFill>
                <a:srgbClr val="D71B7F"/>
              </a:solidFill>
              <a:latin typeface="Montserrat"/>
              <a:ea typeface="Montserrat"/>
              <a:cs typeface="Montserrat"/>
              <a:sym typeface="Montserrat"/>
            </a:endParaRPr>
          </a:p>
        </p:txBody>
      </p:sp>
      <p:cxnSp>
        <p:nvCxnSpPr>
          <p:cNvPr id="302" name="Google Shape;302;p12"/>
          <p:cNvCxnSpPr/>
          <p:nvPr/>
        </p:nvCxnSpPr>
        <p:spPr>
          <a:xfrm>
            <a:off x="249444" y="751302"/>
            <a:ext cx="0" cy="4113300"/>
          </a:xfrm>
          <a:prstGeom prst="straightConnector1">
            <a:avLst/>
          </a:prstGeom>
          <a:noFill/>
          <a:ln cap="flat" cmpd="sng" w="19050">
            <a:solidFill>
              <a:srgbClr val="12519C"/>
            </a:solidFill>
            <a:prstDash val="solid"/>
            <a:round/>
            <a:headEnd len="sm" w="sm" type="none"/>
            <a:tailEnd len="sm" w="sm" type="none"/>
          </a:ln>
        </p:spPr>
      </p:cxnSp>
      <p:sp>
        <p:nvSpPr>
          <p:cNvPr id="303" name="Google Shape;303;p12"/>
          <p:cNvSpPr txBox="1"/>
          <p:nvPr>
            <p:ph type="title"/>
          </p:nvPr>
        </p:nvSpPr>
        <p:spPr>
          <a:xfrm>
            <a:off x="104500" y="141850"/>
            <a:ext cx="7723200" cy="3573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000"/>
              <a:buNone/>
            </a:pPr>
            <a:r>
              <a:rPr lang="en">
                <a:solidFill>
                  <a:schemeClr val="dk1"/>
                </a:solidFill>
              </a:rPr>
              <a:t>Solutioning Highlights</a:t>
            </a:r>
            <a:endParaRPr/>
          </a:p>
        </p:txBody>
      </p:sp>
      <p:sp>
        <p:nvSpPr>
          <p:cNvPr id="304" name="Google Shape;304;p12"/>
          <p:cNvSpPr txBox="1"/>
          <p:nvPr/>
        </p:nvSpPr>
        <p:spPr>
          <a:xfrm>
            <a:off x="340550" y="993438"/>
            <a:ext cx="8196900" cy="4032900"/>
          </a:xfrm>
          <a:prstGeom prst="rect">
            <a:avLst/>
          </a:prstGeom>
          <a:noFill/>
          <a:ln>
            <a:noFill/>
          </a:ln>
        </p:spPr>
        <p:txBody>
          <a:bodyPr anchorCtr="0" anchor="t" bIns="91425" lIns="91425" spcFirstLastPara="1" rIns="91425" wrap="square" tIns="91425">
            <a:spAutoFit/>
          </a:bodyPr>
          <a:lstStyle/>
          <a:p>
            <a:r>
              <a:t>Our proposed solution combines a decoupled frontend with backend services via REST/GraphQL APIs, ensuring scalability and maintainability. We will implement secure, password-protected portals with custom price tiers and bulk ordering workflows. The solution will be built to meet WCAG 2.1 AA accessibility standards and will integrate with SAP for real-time inventory and order management. Additionally, we will leverage our experience with CRM and email platforms to automate customer flows, ensuring a cohesive and efficient retail ecosystem.</a:t>
            </a:r>
          </a:p>
        </p:txBody>
      </p:sp>
      <p:sp>
        <p:nvSpPr>
          <p:cNvPr id="305" name="Google Shape;305;p12"/>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sz="1000"/>
              <a:t>‹#›</a:t>
            </a:fld>
            <a:endParaRPr sz="10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sp>
        <p:nvSpPr>
          <p:cNvPr id="310" name="Google Shape;310;p13"/>
          <p:cNvSpPr txBox="1"/>
          <p:nvPr>
            <p:ph type="title"/>
          </p:nvPr>
        </p:nvSpPr>
        <p:spPr>
          <a:xfrm>
            <a:off x="104500" y="141850"/>
            <a:ext cx="7723200" cy="3573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000"/>
              <a:buNone/>
            </a:pPr>
            <a:r>
              <a:rPr lang="en">
                <a:solidFill>
                  <a:schemeClr val="dk1"/>
                </a:solidFill>
              </a:rPr>
              <a:t>Proposed High Level Architecture</a:t>
            </a:r>
            <a:endParaRPr/>
          </a:p>
        </p:txBody>
      </p:sp>
      <p:sp>
        <p:nvSpPr>
          <p:cNvPr id="311" name="Google Shape;311;p13"/>
          <p:cNvSpPr/>
          <p:nvPr/>
        </p:nvSpPr>
        <p:spPr>
          <a:xfrm>
            <a:off x="2397150" y="887625"/>
            <a:ext cx="3813600" cy="3699300"/>
          </a:xfrm>
          <a:prstGeom prst="snip1Rect">
            <a:avLst>
              <a:gd fmla="val 8329" name="adj"/>
            </a:avLst>
          </a:prstGeom>
          <a:noFill/>
          <a:ln cap="flat" cmpd="sng" w="9525">
            <a:solidFill>
              <a:srgbClr val="6F3A93"/>
            </a:solidFill>
            <a:prstDash val="solid"/>
            <a:round/>
            <a:headEnd len="sm" w="sm" type="none"/>
            <a:tailEnd len="sm" w="sm" type="none"/>
          </a:ln>
        </p:spPr>
        <p:txBody>
          <a:bodyPr anchorCtr="0" anchor="t" bIns="91425" lIns="0" spcFirstLastPara="1" rIns="0" wrap="square" tIns="0">
            <a:no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6F3A93"/>
                </a:solidFill>
                <a:latin typeface="Montserrat"/>
                <a:ea typeface="Montserrat"/>
                <a:cs typeface="Montserrat"/>
                <a:sym typeface="Montserrat"/>
              </a:rPr>
              <a:t>Mobile Application</a:t>
            </a:r>
            <a:endParaRPr b="1" i="0" sz="900" u="none" cap="none" strike="noStrike">
              <a:solidFill>
                <a:srgbClr val="6F3A93"/>
              </a:solidFill>
              <a:latin typeface="Montserrat"/>
              <a:ea typeface="Montserrat"/>
              <a:cs typeface="Montserrat"/>
              <a:sym typeface="Montserrat"/>
            </a:endParaRPr>
          </a:p>
        </p:txBody>
      </p:sp>
      <p:sp>
        <p:nvSpPr>
          <p:cNvPr id="312" name="Google Shape;312;p13"/>
          <p:cNvSpPr/>
          <p:nvPr/>
        </p:nvSpPr>
        <p:spPr>
          <a:xfrm>
            <a:off x="756125" y="2252475"/>
            <a:ext cx="922800" cy="969600"/>
          </a:xfrm>
          <a:prstGeom prst="snip1Rect">
            <a:avLst>
              <a:gd fmla="val 8329" name="adj"/>
            </a:avLst>
          </a:prstGeom>
          <a:noFill/>
          <a:ln cap="flat" cmpd="sng" w="9525">
            <a:solidFill>
              <a:srgbClr val="12519C"/>
            </a:solidFill>
            <a:prstDash val="solid"/>
            <a:round/>
            <a:headEnd len="sm" w="sm" type="none"/>
            <a:tailEnd len="sm" w="sm" type="none"/>
          </a:ln>
        </p:spPr>
        <p:txBody>
          <a:bodyPr anchorCtr="0" anchor="t" bIns="91425" lIns="0" spcFirstLastPara="1" rIns="0" wrap="square" tIns="91425">
            <a:noAutofit/>
          </a:bodyPr>
          <a:lstStyle/>
          <a:p>
            <a:pPr indent="0" lvl="0" marL="0" marR="0" rtl="0" algn="ctr">
              <a:lnSpc>
                <a:spcPct val="100000"/>
              </a:lnSpc>
              <a:spcBef>
                <a:spcPts val="0"/>
              </a:spcBef>
              <a:spcAft>
                <a:spcPts val="0"/>
              </a:spcAft>
              <a:buClr>
                <a:srgbClr val="000000"/>
              </a:buClr>
              <a:buSzPts val="900"/>
              <a:buFont typeface="Arial"/>
              <a:buNone/>
            </a:pPr>
            <a:r>
              <a:t/>
            </a:r>
            <a:endParaRPr b="1" i="0" sz="900" u="none" cap="none" strike="noStrike">
              <a:solidFill>
                <a:srgbClr val="D71B7F"/>
              </a:solidFill>
              <a:latin typeface="Montserrat"/>
              <a:ea typeface="Montserrat"/>
              <a:cs typeface="Montserrat"/>
              <a:sym typeface="Montserrat"/>
            </a:endParaRPr>
          </a:p>
        </p:txBody>
      </p:sp>
      <p:sp>
        <p:nvSpPr>
          <p:cNvPr id="313" name="Google Shape;313;p13"/>
          <p:cNvSpPr/>
          <p:nvPr/>
        </p:nvSpPr>
        <p:spPr>
          <a:xfrm>
            <a:off x="2549550" y="1316100"/>
            <a:ext cx="3508800" cy="305700"/>
          </a:xfrm>
          <a:prstGeom prst="snip1Rect">
            <a:avLst>
              <a:gd fmla="val 8329" name="adj"/>
            </a:avLst>
          </a:prstGeom>
          <a:solidFill>
            <a:srgbClr val="F6F6F6"/>
          </a:solidFill>
          <a:ln cap="flat" cmpd="sng" w="9525">
            <a:solidFill>
              <a:srgbClr val="E7E6E6"/>
            </a:solidFill>
            <a:prstDash val="solid"/>
            <a:round/>
            <a:headEnd len="sm" w="sm" type="none"/>
            <a:tailEnd len="sm" w="sm" type="none"/>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12519C"/>
                </a:solidFill>
                <a:latin typeface="Montserrat"/>
                <a:ea typeface="Montserrat"/>
                <a:cs typeface="Montserrat"/>
                <a:sym typeface="Montserrat"/>
              </a:rPr>
              <a:t>UI layer Screens</a:t>
            </a:r>
            <a:endParaRPr b="1" i="0" sz="900" u="none" cap="none" strike="noStrike">
              <a:solidFill>
                <a:srgbClr val="12519C"/>
              </a:solidFill>
              <a:latin typeface="Montserrat"/>
              <a:ea typeface="Montserrat"/>
              <a:cs typeface="Montserrat"/>
              <a:sym typeface="Montserrat"/>
            </a:endParaRPr>
          </a:p>
        </p:txBody>
      </p:sp>
      <p:sp>
        <p:nvSpPr>
          <p:cNvPr id="314" name="Google Shape;314;p13"/>
          <p:cNvSpPr txBox="1"/>
          <p:nvPr/>
        </p:nvSpPr>
        <p:spPr>
          <a:xfrm>
            <a:off x="744425" y="2826663"/>
            <a:ext cx="946200" cy="4311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12519C"/>
                </a:solidFill>
                <a:latin typeface="Montserrat"/>
                <a:ea typeface="Montserrat"/>
                <a:cs typeface="Montserrat"/>
                <a:sym typeface="Montserrat"/>
              </a:rPr>
              <a:t>Mobile </a:t>
            </a:r>
            <a:endParaRPr b="1" i="0" sz="800" u="none" cap="none" strike="noStrike">
              <a:solidFill>
                <a:srgbClr val="12519C"/>
              </a:solidFill>
              <a:latin typeface="Montserrat"/>
              <a:ea typeface="Montserrat"/>
              <a:cs typeface="Montserrat"/>
              <a:sym typeface="Montserrat"/>
            </a:endParaRPr>
          </a:p>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12519C"/>
                </a:solidFill>
                <a:latin typeface="Montserrat"/>
                <a:ea typeface="Montserrat"/>
                <a:cs typeface="Montserrat"/>
                <a:sym typeface="Montserrat"/>
              </a:rPr>
              <a:t>User</a:t>
            </a:r>
            <a:endParaRPr b="1" i="0" sz="800" u="none" cap="none" strike="noStrike">
              <a:solidFill>
                <a:srgbClr val="12519C"/>
              </a:solidFill>
              <a:latin typeface="Montserrat"/>
              <a:ea typeface="Montserrat"/>
              <a:cs typeface="Montserrat"/>
              <a:sym typeface="Montserrat"/>
            </a:endParaRPr>
          </a:p>
        </p:txBody>
      </p:sp>
      <p:sp>
        <p:nvSpPr>
          <p:cNvPr id="315" name="Google Shape;315;p13"/>
          <p:cNvSpPr/>
          <p:nvPr/>
        </p:nvSpPr>
        <p:spPr>
          <a:xfrm>
            <a:off x="7069675" y="1671550"/>
            <a:ext cx="1329900" cy="882000"/>
          </a:xfrm>
          <a:prstGeom prst="snip1Rect">
            <a:avLst>
              <a:gd fmla="val 16667" name="adj"/>
            </a:avLst>
          </a:prstGeom>
          <a:solidFill>
            <a:srgbClr val="D9D2E9"/>
          </a:solidFill>
          <a:ln cap="flat" cmpd="sng" w="9525">
            <a:solidFill>
              <a:srgbClr val="D9D9D9"/>
            </a:solidFill>
            <a:prstDash val="solid"/>
            <a:round/>
            <a:headEnd len="sm" w="sm" type="none"/>
            <a:tailEnd len="sm" w="sm" type="none"/>
          </a:ln>
        </p:spPr>
        <p:txBody>
          <a:bodyPr anchorCtr="0" anchor="b"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525252"/>
                </a:solidFill>
                <a:latin typeface="Montserrat"/>
                <a:ea typeface="Montserrat"/>
                <a:cs typeface="Montserrat"/>
                <a:sym typeface="Montserrat"/>
              </a:rPr>
              <a:t>Backend APIs</a:t>
            </a:r>
            <a:endParaRPr b="1" i="0" sz="800" u="none" cap="none" strike="noStrike">
              <a:solidFill>
                <a:srgbClr val="525252"/>
              </a:solidFill>
              <a:latin typeface="Montserrat"/>
              <a:ea typeface="Montserrat"/>
              <a:cs typeface="Montserrat"/>
              <a:sym typeface="Montserrat"/>
            </a:endParaRPr>
          </a:p>
        </p:txBody>
      </p:sp>
      <p:sp>
        <p:nvSpPr>
          <p:cNvPr id="316" name="Google Shape;316;p13"/>
          <p:cNvSpPr/>
          <p:nvPr/>
        </p:nvSpPr>
        <p:spPr>
          <a:xfrm>
            <a:off x="7069675" y="2847049"/>
            <a:ext cx="1329900" cy="882000"/>
          </a:xfrm>
          <a:prstGeom prst="snip1Rect">
            <a:avLst>
              <a:gd fmla="val 16667" name="adj"/>
            </a:avLst>
          </a:prstGeom>
          <a:solidFill>
            <a:srgbClr val="D9D2E9"/>
          </a:solidFill>
          <a:ln cap="flat" cmpd="sng" w="9525">
            <a:solidFill>
              <a:srgbClr val="D9D9D9"/>
            </a:solidFill>
            <a:prstDash val="solid"/>
            <a:round/>
            <a:headEnd len="sm" w="sm" type="none"/>
            <a:tailEnd len="sm" w="sm" type="none"/>
          </a:ln>
        </p:spPr>
        <p:txBody>
          <a:bodyPr anchorCtr="0" anchor="b"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525252"/>
                </a:solidFill>
                <a:latin typeface="Montserrat"/>
                <a:ea typeface="Montserrat"/>
                <a:cs typeface="Montserrat"/>
                <a:sym typeface="Montserrat"/>
              </a:rPr>
              <a:t>Firebase</a:t>
            </a:r>
            <a:endParaRPr b="1" i="0" sz="800" u="none" cap="none" strike="noStrike">
              <a:solidFill>
                <a:srgbClr val="525252"/>
              </a:solidFill>
              <a:latin typeface="Montserrat"/>
              <a:ea typeface="Montserrat"/>
              <a:cs typeface="Montserrat"/>
              <a:sym typeface="Montserrat"/>
            </a:endParaRPr>
          </a:p>
        </p:txBody>
      </p:sp>
      <p:pic>
        <p:nvPicPr>
          <p:cNvPr id="317" name="Google Shape;317;p13"/>
          <p:cNvPicPr preferRelativeResize="0"/>
          <p:nvPr/>
        </p:nvPicPr>
        <p:blipFill rotWithShape="1">
          <a:blip r:embed="rId3">
            <a:alphaModFix/>
          </a:blip>
          <a:srcRect b="0" l="0" r="0" t="0"/>
          <a:stretch/>
        </p:blipFill>
        <p:spPr>
          <a:xfrm>
            <a:off x="1016525" y="2379875"/>
            <a:ext cx="401999" cy="401999"/>
          </a:xfrm>
          <a:prstGeom prst="rect">
            <a:avLst/>
          </a:prstGeom>
          <a:noFill/>
          <a:ln>
            <a:noFill/>
          </a:ln>
        </p:spPr>
      </p:pic>
      <p:sp>
        <p:nvSpPr>
          <p:cNvPr id="318" name="Google Shape;318;p13"/>
          <p:cNvSpPr/>
          <p:nvPr/>
        </p:nvSpPr>
        <p:spPr>
          <a:xfrm>
            <a:off x="2549550" y="1959698"/>
            <a:ext cx="3508800" cy="305700"/>
          </a:xfrm>
          <a:prstGeom prst="snip1Rect">
            <a:avLst>
              <a:gd fmla="val 8329" name="adj"/>
            </a:avLst>
          </a:prstGeom>
          <a:solidFill>
            <a:srgbClr val="F6F6F6"/>
          </a:solidFill>
          <a:ln cap="flat" cmpd="sng" w="9525">
            <a:solidFill>
              <a:srgbClr val="E7E6E6"/>
            </a:solidFill>
            <a:prstDash val="solid"/>
            <a:round/>
            <a:headEnd len="sm" w="sm" type="none"/>
            <a:tailEnd len="sm" w="sm" type="none"/>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12519C"/>
                </a:solidFill>
                <a:latin typeface="Montserrat"/>
                <a:ea typeface="Montserrat"/>
                <a:cs typeface="Montserrat"/>
                <a:sym typeface="Montserrat"/>
              </a:rPr>
              <a:t>Business Logic Layer</a:t>
            </a:r>
            <a:endParaRPr b="1" i="0" sz="900" u="none" cap="none" strike="noStrike">
              <a:solidFill>
                <a:srgbClr val="12519C"/>
              </a:solidFill>
              <a:latin typeface="Montserrat"/>
              <a:ea typeface="Montserrat"/>
              <a:cs typeface="Montserrat"/>
              <a:sym typeface="Montserrat"/>
            </a:endParaRPr>
          </a:p>
        </p:txBody>
      </p:sp>
      <p:sp>
        <p:nvSpPr>
          <p:cNvPr id="319" name="Google Shape;319;p13"/>
          <p:cNvSpPr/>
          <p:nvPr/>
        </p:nvSpPr>
        <p:spPr>
          <a:xfrm>
            <a:off x="2549550" y="2603300"/>
            <a:ext cx="3508800" cy="612000"/>
          </a:xfrm>
          <a:prstGeom prst="snip1Rect">
            <a:avLst>
              <a:gd fmla="val 16667" name="adj"/>
            </a:avLst>
          </a:prstGeom>
          <a:solidFill>
            <a:srgbClr val="E7F2F8"/>
          </a:solidFill>
          <a:ln cap="flat" cmpd="sng" w="9525">
            <a:solidFill>
              <a:srgbClr val="D9D9D9"/>
            </a:solidFill>
            <a:prstDash val="solid"/>
            <a:round/>
            <a:headEnd len="sm" w="sm" type="none"/>
            <a:tailEnd len="sm" w="sm" type="none"/>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rgbClr val="000000"/>
              </a:buClr>
              <a:buSzPts val="700"/>
              <a:buFont typeface="Arial"/>
              <a:buNone/>
            </a:pPr>
            <a:r>
              <a:t/>
            </a:r>
            <a:endParaRPr b="1" i="0" sz="700" u="none" cap="none" strike="noStrike">
              <a:solidFill>
                <a:srgbClr val="12519C"/>
              </a:solidFill>
              <a:latin typeface="Montserrat"/>
              <a:ea typeface="Montserrat"/>
              <a:cs typeface="Montserrat"/>
              <a:sym typeface="Montserrat"/>
            </a:endParaRPr>
          </a:p>
        </p:txBody>
      </p:sp>
      <p:sp>
        <p:nvSpPr>
          <p:cNvPr id="320" name="Google Shape;320;p13"/>
          <p:cNvSpPr/>
          <p:nvPr/>
        </p:nvSpPr>
        <p:spPr>
          <a:xfrm>
            <a:off x="2975075" y="2890671"/>
            <a:ext cx="1231500" cy="253500"/>
          </a:xfrm>
          <a:prstGeom prst="roundRect">
            <a:avLst>
              <a:gd fmla="val 6288" name="adj"/>
            </a:avLst>
          </a:prstGeom>
          <a:solidFill>
            <a:srgbClr val="FFFFFF"/>
          </a:solidFill>
          <a:ln cap="flat" cmpd="sng" w="9525">
            <a:solidFill>
              <a:srgbClr val="D9D9D9"/>
            </a:solidFill>
            <a:prstDash val="dash"/>
            <a:round/>
            <a:headEnd len="sm" w="sm" type="none"/>
            <a:tailEnd len="sm" w="sm" type="none"/>
          </a:ln>
        </p:spPr>
        <p:txBody>
          <a:bodyPr anchorCtr="0" anchor="ctr" bIns="91425" lIns="9125" spcFirstLastPara="1" rIns="9125" wrap="square" tIns="91425">
            <a:noAutofit/>
          </a:bodyPr>
          <a:lstStyle/>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12519C"/>
                </a:solidFill>
                <a:latin typeface="Montserrat"/>
                <a:ea typeface="Montserrat"/>
                <a:cs typeface="Montserrat"/>
                <a:sym typeface="Montserrat"/>
              </a:rPr>
              <a:t>Network Service</a:t>
            </a:r>
            <a:endParaRPr b="1" i="0" sz="800" u="none" cap="none" strike="noStrike">
              <a:solidFill>
                <a:srgbClr val="525252"/>
              </a:solidFill>
              <a:latin typeface="Montserrat"/>
              <a:ea typeface="Montserrat"/>
              <a:cs typeface="Montserrat"/>
              <a:sym typeface="Montserrat"/>
            </a:endParaRPr>
          </a:p>
        </p:txBody>
      </p:sp>
      <p:sp>
        <p:nvSpPr>
          <p:cNvPr id="321" name="Google Shape;321;p13"/>
          <p:cNvSpPr/>
          <p:nvPr/>
        </p:nvSpPr>
        <p:spPr>
          <a:xfrm>
            <a:off x="4481025" y="2890671"/>
            <a:ext cx="1231500" cy="253500"/>
          </a:xfrm>
          <a:prstGeom prst="roundRect">
            <a:avLst>
              <a:gd fmla="val 6288" name="adj"/>
            </a:avLst>
          </a:prstGeom>
          <a:solidFill>
            <a:srgbClr val="FFFFFF"/>
          </a:solidFill>
          <a:ln cap="flat" cmpd="sng" w="9525">
            <a:solidFill>
              <a:srgbClr val="D9D9D9"/>
            </a:solidFill>
            <a:prstDash val="dash"/>
            <a:round/>
            <a:headEnd len="sm" w="sm" type="none"/>
            <a:tailEnd len="sm" w="sm" type="none"/>
          </a:ln>
        </p:spPr>
        <p:txBody>
          <a:bodyPr anchorCtr="0" anchor="ctr" bIns="91425" lIns="9125" spcFirstLastPara="1" rIns="9125" wrap="square" tIns="91425">
            <a:noAutofit/>
          </a:bodyPr>
          <a:lstStyle/>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12519C"/>
                </a:solidFill>
                <a:latin typeface="Montserrat"/>
                <a:ea typeface="Montserrat"/>
                <a:cs typeface="Montserrat"/>
                <a:sym typeface="Montserrat"/>
              </a:rPr>
              <a:t>Local Storage</a:t>
            </a:r>
            <a:endParaRPr b="1" i="0" sz="800" u="none" cap="none" strike="noStrike">
              <a:solidFill>
                <a:srgbClr val="525252"/>
              </a:solidFill>
              <a:latin typeface="Montserrat"/>
              <a:ea typeface="Montserrat"/>
              <a:cs typeface="Montserrat"/>
              <a:sym typeface="Montserrat"/>
            </a:endParaRPr>
          </a:p>
        </p:txBody>
      </p:sp>
      <p:sp>
        <p:nvSpPr>
          <p:cNvPr id="322" name="Google Shape;322;p13"/>
          <p:cNvSpPr/>
          <p:nvPr/>
        </p:nvSpPr>
        <p:spPr>
          <a:xfrm>
            <a:off x="2549550" y="3553200"/>
            <a:ext cx="3508800" cy="882000"/>
          </a:xfrm>
          <a:prstGeom prst="snip1Rect">
            <a:avLst>
              <a:gd fmla="val 16667" name="adj"/>
            </a:avLst>
          </a:prstGeom>
          <a:solidFill>
            <a:srgbClr val="E7F2F8"/>
          </a:solidFill>
          <a:ln cap="flat" cmpd="sng" w="9525">
            <a:solidFill>
              <a:srgbClr val="D9D9D9"/>
            </a:solidFill>
            <a:prstDash val="solid"/>
            <a:round/>
            <a:headEnd len="sm" w="sm" type="none"/>
            <a:tailEnd len="sm" w="sm" type="none"/>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rgbClr val="000000"/>
              </a:buClr>
              <a:buSzPts val="700"/>
              <a:buFont typeface="Arial"/>
              <a:buNone/>
            </a:pPr>
            <a:r>
              <a:t/>
            </a:r>
            <a:endParaRPr b="1" i="0" sz="700" u="none" cap="none" strike="noStrike">
              <a:solidFill>
                <a:srgbClr val="12519C"/>
              </a:solidFill>
              <a:latin typeface="Montserrat"/>
              <a:ea typeface="Montserrat"/>
              <a:cs typeface="Montserrat"/>
              <a:sym typeface="Montserrat"/>
            </a:endParaRPr>
          </a:p>
        </p:txBody>
      </p:sp>
      <p:sp>
        <p:nvSpPr>
          <p:cNvPr id="323" name="Google Shape;323;p13"/>
          <p:cNvSpPr/>
          <p:nvPr/>
        </p:nvSpPr>
        <p:spPr>
          <a:xfrm>
            <a:off x="2641000" y="3864854"/>
            <a:ext cx="1038000" cy="365400"/>
          </a:xfrm>
          <a:prstGeom prst="roundRect">
            <a:avLst>
              <a:gd fmla="val 6288" name="adj"/>
            </a:avLst>
          </a:prstGeom>
          <a:solidFill>
            <a:srgbClr val="FFFFFF"/>
          </a:solidFill>
          <a:ln cap="flat" cmpd="sng" w="9525">
            <a:solidFill>
              <a:srgbClr val="D9D9D9"/>
            </a:solidFill>
            <a:prstDash val="dash"/>
            <a:round/>
            <a:headEnd len="sm" w="sm" type="none"/>
            <a:tailEnd len="sm" w="sm" type="none"/>
          </a:ln>
        </p:spPr>
        <p:txBody>
          <a:bodyPr anchorCtr="0" anchor="ctr" bIns="91425" lIns="9125" spcFirstLastPara="1" rIns="9125" wrap="square" tIns="91425">
            <a:noAutofit/>
          </a:bodyPr>
          <a:lstStyle/>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12519C"/>
                </a:solidFill>
                <a:latin typeface="Montserrat"/>
                <a:ea typeface="Montserrat"/>
                <a:cs typeface="Montserrat"/>
                <a:sym typeface="Montserrat"/>
              </a:rPr>
              <a:t>Analytics</a:t>
            </a:r>
            <a:endParaRPr b="1" i="0" sz="800" u="none" cap="none" strike="noStrike">
              <a:solidFill>
                <a:srgbClr val="525252"/>
              </a:solidFill>
              <a:latin typeface="Montserrat"/>
              <a:ea typeface="Montserrat"/>
              <a:cs typeface="Montserrat"/>
              <a:sym typeface="Montserrat"/>
            </a:endParaRPr>
          </a:p>
        </p:txBody>
      </p:sp>
      <p:sp>
        <p:nvSpPr>
          <p:cNvPr id="324" name="Google Shape;324;p13"/>
          <p:cNvSpPr/>
          <p:nvPr/>
        </p:nvSpPr>
        <p:spPr>
          <a:xfrm>
            <a:off x="3788308" y="3864854"/>
            <a:ext cx="1038000" cy="365400"/>
          </a:xfrm>
          <a:prstGeom prst="roundRect">
            <a:avLst>
              <a:gd fmla="val 6288" name="adj"/>
            </a:avLst>
          </a:prstGeom>
          <a:solidFill>
            <a:srgbClr val="FFFFFF"/>
          </a:solidFill>
          <a:ln cap="flat" cmpd="sng" w="9525">
            <a:solidFill>
              <a:srgbClr val="D9D9D9"/>
            </a:solidFill>
            <a:prstDash val="dash"/>
            <a:round/>
            <a:headEnd len="sm" w="sm" type="none"/>
            <a:tailEnd len="sm" w="sm" type="none"/>
          </a:ln>
        </p:spPr>
        <p:txBody>
          <a:bodyPr anchorCtr="0" anchor="ctr" bIns="91425" lIns="9125" spcFirstLastPara="1" rIns="9125" wrap="square" tIns="91425">
            <a:noAutofit/>
          </a:bodyPr>
          <a:lstStyle/>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12519C"/>
                </a:solidFill>
                <a:latin typeface="Montserrat"/>
                <a:ea typeface="Montserrat"/>
                <a:cs typeface="Montserrat"/>
                <a:sym typeface="Montserrat"/>
              </a:rPr>
              <a:t>Push </a:t>
            </a:r>
            <a:endParaRPr b="1" i="0" sz="800" u="none" cap="none" strike="noStrike">
              <a:solidFill>
                <a:srgbClr val="12519C"/>
              </a:solidFill>
              <a:latin typeface="Montserrat"/>
              <a:ea typeface="Montserrat"/>
              <a:cs typeface="Montserrat"/>
              <a:sym typeface="Montserrat"/>
            </a:endParaRPr>
          </a:p>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12519C"/>
                </a:solidFill>
                <a:latin typeface="Montserrat"/>
                <a:ea typeface="Montserrat"/>
                <a:cs typeface="Montserrat"/>
                <a:sym typeface="Montserrat"/>
              </a:rPr>
              <a:t>Notifications</a:t>
            </a:r>
            <a:endParaRPr b="1" i="0" sz="800" u="none" cap="none" strike="noStrike">
              <a:solidFill>
                <a:srgbClr val="525252"/>
              </a:solidFill>
              <a:latin typeface="Montserrat"/>
              <a:ea typeface="Montserrat"/>
              <a:cs typeface="Montserrat"/>
              <a:sym typeface="Montserrat"/>
            </a:endParaRPr>
          </a:p>
        </p:txBody>
      </p:sp>
      <p:sp>
        <p:nvSpPr>
          <p:cNvPr id="325" name="Google Shape;325;p13"/>
          <p:cNvSpPr/>
          <p:nvPr/>
        </p:nvSpPr>
        <p:spPr>
          <a:xfrm>
            <a:off x="4935616" y="3864854"/>
            <a:ext cx="1038000" cy="365400"/>
          </a:xfrm>
          <a:prstGeom prst="roundRect">
            <a:avLst>
              <a:gd fmla="val 6288" name="adj"/>
            </a:avLst>
          </a:prstGeom>
          <a:solidFill>
            <a:srgbClr val="FFFFFF"/>
          </a:solidFill>
          <a:ln cap="flat" cmpd="sng" w="9525">
            <a:solidFill>
              <a:srgbClr val="D9D9D9"/>
            </a:solidFill>
            <a:prstDash val="dash"/>
            <a:round/>
            <a:headEnd len="sm" w="sm" type="none"/>
            <a:tailEnd len="sm" w="sm" type="none"/>
          </a:ln>
        </p:spPr>
        <p:txBody>
          <a:bodyPr anchorCtr="0" anchor="ctr" bIns="91425" lIns="9125" spcFirstLastPara="1" rIns="9125" wrap="square" tIns="91425">
            <a:noAutofit/>
          </a:bodyPr>
          <a:lstStyle/>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12519C"/>
                </a:solidFill>
                <a:latin typeface="Montserrat"/>
                <a:ea typeface="Montserrat"/>
                <a:cs typeface="Montserrat"/>
                <a:sym typeface="Montserrat"/>
              </a:rPr>
              <a:t>Crash </a:t>
            </a:r>
            <a:endParaRPr b="1" i="0" sz="800" u="none" cap="none" strike="noStrike">
              <a:solidFill>
                <a:srgbClr val="12519C"/>
              </a:solidFill>
              <a:latin typeface="Montserrat"/>
              <a:ea typeface="Montserrat"/>
              <a:cs typeface="Montserrat"/>
              <a:sym typeface="Montserrat"/>
            </a:endParaRPr>
          </a:p>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12519C"/>
                </a:solidFill>
                <a:latin typeface="Montserrat"/>
                <a:ea typeface="Montserrat"/>
                <a:cs typeface="Montserrat"/>
                <a:sym typeface="Montserrat"/>
              </a:rPr>
              <a:t>Reporting</a:t>
            </a:r>
            <a:endParaRPr b="1" i="0" sz="800" u="none" cap="none" strike="noStrike">
              <a:solidFill>
                <a:srgbClr val="525252"/>
              </a:solidFill>
              <a:latin typeface="Montserrat"/>
              <a:ea typeface="Montserrat"/>
              <a:cs typeface="Montserrat"/>
              <a:sym typeface="Montserrat"/>
            </a:endParaRPr>
          </a:p>
        </p:txBody>
      </p:sp>
      <p:pic>
        <p:nvPicPr>
          <p:cNvPr id="326" name="Google Shape;326;p13"/>
          <p:cNvPicPr preferRelativeResize="0"/>
          <p:nvPr/>
        </p:nvPicPr>
        <p:blipFill rotWithShape="1">
          <a:blip r:embed="rId4">
            <a:alphaModFix/>
          </a:blip>
          <a:srcRect b="0" l="0" r="0" t="0"/>
          <a:stretch/>
        </p:blipFill>
        <p:spPr>
          <a:xfrm>
            <a:off x="7544462" y="3032873"/>
            <a:ext cx="283233" cy="357299"/>
          </a:xfrm>
          <a:prstGeom prst="rect">
            <a:avLst/>
          </a:prstGeom>
          <a:noFill/>
          <a:ln>
            <a:noFill/>
          </a:ln>
        </p:spPr>
      </p:pic>
      <p:cxnSp>
        <p:nvCxnSpPr>
          <p:cNvPr id="327" name="Google Shape;327;p13"/>
          <p:cNvCxnSpPr>
            <a:stCxn id="312" idx="0"/>
            <a:endCxn id="311" idx="2"/>
          </p:cNvCxnSpPr>
          <p:nvPr/>
        </p:nvCxnSpPr>
        <p:spPr>
          <a:xfrm>
            <a:off x="1678925" y="2737275"/>
            <a:ext cx="718200" cy="0"/>
          </a:xfrm>
          <a:prstGeom prst="straightConnector1">
            <a:avLst/>
          </a:prstGeom>
          <a:noFill/>
          <a:ln cap="flat" cmpd="sng" w="9525">
            <a:solidFill>
              <a:srgbClr val="D9D9D9"/>
            </a:solidFill>
            <a:prstDash val="solid"/>
            <a:round/>
            <a:headEnd len="sm" w="sm" type="none"/>
            <a:tailEnd len="med" w="med" type="triangle"/>
          </a:ln>
        </p:spPr>
      </p:cxnSp>
      <p:cxnSp>
        <p:nvCxnSpPr>
          <p:cNvPr id="328" name="Google Shape;328;p13"/>
          <p:cNvCxnSpPr>
            <a:stCxn id="313" idx="1"/>
            <a:endCxn id="318" idx="3"/>
          </p:cNvCxnSpPr>
          <p:nvPr/>
        </p:nvCxnSpPr>
        <p:spPr>
          <a:xfrm>
            <a:off x="4303950" y="1621800"/>
            <a:ext cx="0" cy="337800"/>
          </a:xfrm>
          <a:prstGeom prst="straightConnector1">
            <a:avLst/>
          </a:prstGeom>
          <a:noFill/>
          <a:ln cap="flat" cmpd="sng" w="9525">
            <a:solidFill>
              <a:srgbClr val="D9D9D9"/>
            </a:solidFill>
            <a:prstDash val="solid"/>
            <a:round/>
            <a:headEnd len="med" w="med" type="triangle"/>
            <a:tailEnd len="med" w="med" type="triangle"/>
          </a:ln>
        </p:spPr>
      </p:cxnSp>
      <p:cxnSp>
        <p:nvCxnSpPr>
          <p:cNvPr id="329" name="Google Shape;329;p13"/>
          <p:cNvCxnSpPr>
            <a:stCxn id="318" idx="1"/>
            <a:endCxn id="319" idx="3"/>
          </p:cNvCxnSpPr>
          <p:nvPr/>
        </p:nvCxnSpPr>
        <p:spPr>
          <a:xfrm>
            <a:off x="4303950" y="2265398"/>
            <a:ext cx="0" cy="337800"/>
          </a:xfrm>
          <a:prstGeom prst="straightConnector1">
            <a:avLst/>
          </a:prstGeom>
          <a:noFill/>
          <a:ln cap="flat" cmpd="sng" w="9525">
            <a:solidFill>
              <a:srgbClr val="D9D9D9"/>
            </a:solidFill>
            <a:prstDash val="solid"/>
            <a:round/>
            <a:headEnd len="med" w="med" type="triangle"/>
            <a:tailEnd len="med" w="med" type="triangle"/>
          </a:ln>
        </p:spPr>
      </p:cxnSp>
      <p:sp>
        <p:nvSpPr>
          <p:cNvPr id="330" name="Google Shape;330;p13"/>
          <p:cNvSpPr txBox="1"/>
          <p:nvPr/>
        </p:nvSpPr>
        <p:spPr>
          <a:xfrm>
            <a:off x="3872500" y="2603296"/>
            <a:ext cx="946200" cy="323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12519C"/>
                </a:solidFill>
                <a:latin typeface="Montserrat"/>
                <a:ea typeface="Montserrat"/>
                <a:cs typeface="Montserrat"/>
                <a:sym typeface="Montserrat"/>
              </a:rPr>
              <a:t>Data Layer</a:t>
            </a:r>
            <a:endParaRPr b="1" i="0" sz="900" u="none" cap="none" strike="noStrike">
              <a:solidFill>
                <a:srgbClr val="12519C"/>
              </a:solidFill>
              <a:latin typeface="Montserrat"/>
              <a:ea typeface="Montserrat"/>
              <a:cs typeface="Montserrat"/>
              <a:sym typeface="Montserrat"/>
            </a:endParaRPr>
          </a:p>
        </p:txBody>
      </p:sp>
      <p:cxnSp>
        <p:nvCxnSpPr>
          <p:cNvPr id="331" name="Google Shape;331;p13"/>
          <p:cNvCxnSpPr>
            <a:stCxn id="319" idx="1"/>
            <a:endCxn id="322" idx="3"/>
          </p:cNvCxnSpPr>
          <p:nvPr/>
        </p:nvCxnSpPr>
        <p:spPr>
          <a:xfrm>
            <a:off x="4303950" y="3215300"/>
            <a:ext cx="0" cy="337800"/>
          </a:xfrm>
          <a:prstGeom prst="straightConnector1">
            <a:avLst/>
          </a:prstGeom>
          <a:noFill/>
          <a:ln cap="flat" cmpd="sng" w="9525">
            <a:solidFill>
              <a:srgbClr val="D9D9D9"/>
            </a:solidFill>
            <a:prstDash val="solid"/>
            <a:round/>
            <a:headEnd len="med" w="med" type="triangle"/>
            <a:tailEnd len="med" w="med" type="triangle"/>
          </a:ln>
        </p:spPr>
      </p:cxnSp>
      <p:sp>
        <p:nvSpPr>
          <p:cNvPr id="332" name="Google Shape;332;p13"/>
          <p:cNvSpPr txBox="1"/>
          <p:nvPr/>
        </p:nvSpPr>
        <p:spPr>
          <a:xfrm>
            <a:off x="3925088" y="3553196"/>
            <a:ext cx="946200" cy="323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12519C"/>
                </a:solidFill>
                <a:latin typeface="Montserrat"/>
                <a:ea typeface="Montserrat"/>
                <a:cs typeface="Montserrat"/>
                <a:sym typeface="Montserrat"/>
              </a:rPr>
              <a:t>3rd Party</a:t>
            </a:r>
            <a:endParaRPr b="1" i="0" sz="900" u="none" cap="none" strike="noStrike">
              <a:solidFill>
                <a:srgbClr val="12519C"/>
              </a:solidFill>
              <a:latin typeface="Montserrat"/>
              <a:ea typeface="Montserrat"/>
              <a:cs typeface="Montserrat"/>
              <a:sym typeface="Montserrat"/>
            </a:endParaRPr>
          </a:p>
        </p:txBody>
      </p:sp>
      <p:cxnSp>
        <p:nvCxnSpPr>
          <p:cNvPr id="333" name="Google Shape;333;p13"/>
          <p:cNvCxnSpPr>
            <a:stCxn id="311" idx="0"/>
            <a:endCxn id="315" idx="2"/>
          </p:cNvCxnSpPr>
          <p:nvPr/>
        </p:nvCxnSpPr>
        <p:spPr>
          <a:xfrm flipH="1" rot="10800000">
            <a:off x="6210750" y="2112675"/>
            <a:ext cx="858900" cy="624600"/>
          </a:xfrm>
          <a:prstGeom prst="bentConnector3">
            <a:avLst>
              <a:gd fmla="val 50001" name="adj1"/>
            </a:avLst>
          </a:prstGeom>
          <a:noFill/>
          <a:ln cap="flat" cmpd="sng" w="9525">
            <a:solidFill>
              <a:srgbClr val="D9D9D9"/>
            </a:solidFill>
            <a:prstDash val="solid"/>
            <a:round/>
            <a:headEnd len="sm" w="sm" type="none"/>
            <a:tailEnd len="med" w="med" type="triangle"/>
          </a:ln>
        </p:spPr>
      </p:cxnSp>
      <p:cxnSp>
        <p:nvCxnSpPr>
          <p:cNvPr id="334" name="Google Shape;334;p13"/>
          <p:cNvCxnSpPr>
            <a:stCxn id="311" idx="0"/>
            <a:endCxn id="316" idx="2"/>
          </p:cNvCxnSpPr>
          <p:nvPr/>
        </p:nvCxnSpPr>
        <p:spPr>
          <a:xfrm>
            <a:off x="6210750" y="2737275"/>
            <a:ext cx="858900" cy="550800"/>
          </a:xfrm>
          <a:prstGeom prst="bentConnector3">
            <a:avLst>
              <a:gd fmla="val 50001" name="adj1"/>
            </a:avLst>
          </a:prstGeom>
          <a:noFill/>
          <a:ln cap="flat" cmpd="sng" w="9525">
            <a:solidFill>
              <a:srgbClr val="D9D9D9"/>
            </a:solidFill>
            <a:prstDash val="solid"/>
            <a:round/>
            <a:headEnd len="sm" w="sm" type="none"/>
            <a:tailEnd len="med" w="med" type="triangle"/>
          </a:ln>
        </p:spPr>
      </p:cxnSp>
      <p:sp>
        <p:nvSpPr>
          <p:cNvPr id="335" name="Google Shape;335;p13"/>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sz="1000"/>
              <a:t>‹#›</a:t>
            </a:fld>
            <a:endParaRPr sz="100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9" name="Shape 339"/>
        <p:cNvGrpSpPr/>
        <p:nvPr/>
      </p:nvGrpSpPr>
      <p:grpSpPr>
        <a:xfrm>
          <a:off x="0" y="0"/>
          <a:ext cx="0" cy="0"/>
          <a:chOff x="0" y="0"/>
          <a:chExt cx="0" cy="0"/>
        </a:xfrm>
      </p:grpSpPr>
      <p:sp>
        <p:nvSpPr>
          <p:cNvPr id="340" name="Google Shape;340;p14"/>
          <p:cNvSpPr txBox="1"/>
          <p:nvPr>
            <p:ph type="title"/>
          </p:nvPr>
        </p:nvSpPr>
        <p:spPr>
          <a:xfrm>
            <a:off x="104500" y="141850"/>
            <a:ext cx="7723200" cy="3573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000"/>
              <a:buNone/>
            </a:pPr>
            <a:r>
              <a:rPr lang="en">
                <a:solidFill>
                  <a:schemeClr val="dk1"/>
                </a:solidFill>
              </a:rPr>
              <a:t>Architecture Considerations</a:t>
            </a:r>
            <a:endParaRPr/>
          </a:p>
        </p:txBody>
      </p:sp>
      <p:graphicFrame>
        <p:nvGraphicFramePr>
          <p:cNvPr id="341" name="Google Shape;341;p14"/>
          <p:cNvGraphicFramePr/>
          <p:nvPr/>
        </p:nvGraphicFramePr>
        <p:xfrm>
          <a:off x="264425" y="755775"/>
          <a:ext cx="3000000" cy="3000000"/>
        </p:xfrm>
        <a:graphic>
          <a:graphicData uri="http://schemas.openxmlformats.org/drawingml/2006/table">
            <a:tbl>
              <a:tblPr>
                <a:noFill/>
                <a:tableStyleId>{0D1BC328-F04A-43E0-85B5-ED5C37AF30D6}</a:tableStyleId>
              </a:tblPr>
              <a:tblGrid>
                <a:gridCol w="1855975"/>
                <a:gridCol w="6695125"/>
              </a:tblGrid>
              <a:tr h="288100">
                <a:tc>
                  <a:txBody>
                    <a:bodyPr/>
                    <a:lstStyle/>
                    <a:p>
                      <a:pPr indent="0" lvl="0" marL="0" marR="0" rtl="0" algn="l">
                        <a:lnSpc>
                          <a:spcPct val="100000"/>
                        </a:lnSpc>
                        <a:spcBef>
                          <a:spcPts val="0"/>
                        </a:spcBef>
                        <a:spcAft>
                          <a:spcPts val="0"/>
                        </a:spcAft>
                        <a:buClr>
                          <a:srgbClr val="000000"/>
                        </a:buClr>
                        <a:buSzPts val="1000"/>
                        <a:buFont typeface="Arial"/>
                        <a:buNone/>
                      </a:pPr>
                      <a:r>
                        <a:rPr b="1" lang="en" sz="1000" u="none" cap="none" strike="noStrike">
                          <a:solidFill>
                            <a:srgbClr val="FFFFFF"/>
                          </a:solidFill>
                          <a:latin typeface="Montserrat"/>
                          <a:ea typeface="Montserrat"/>
                          <a:cs typeface="Montserrat"/>
                          <a:sym typeface="Montserrat"/>
                        </a:rPr>
                        <a:t>Component</a:t>
                      </a:r>
                      <a:endParaRPr b="1" sz="1000" u="none" cap="none" strike="noStrike">
                        <a:solidFill>
                          <a:srgbClr val="FFFFFF"/>
                        </a:solidFill>
                        <a:latin typeface="Montserrat"/>
                        <a:ea typeface="Montserrat"/>
                        <a:cs typeface="Montserrat"/>
                        <a:sym typeface="Montserrat"/>
                      </a:endParaRPr>
                    </a:p>
                  </a:txBody>
                  <a:tcPr marT="91425" marB="91425" marR="91425" marL="91425"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rgbClr val="12519C"/>
                    </a:solidFill>
                  </a:tcPr>
                </a:tc>
                <a:tc>
                  <a:txBody>
                    <a:bodyPr/>
                    <a:lstStyle/>
                    <a:p>
                      <a:pPr indent="0" lvl="0" marL="0" marR="0" rtl="0" algn="l">
                        <a:lnSpc>
                          <a:spcPct val="100000"/>
                        </a:lnSpc>
                        <a:spcBef>
                          <a:spcPts val="0"/>
                        </a:spcBef>
                        <a:spcAft>
                          <a:spcPts val="0"/>
                        </a:spcAft>
                        <a:buClr>
                          <a:srgbClr val="000000"/>
                        </a:buClr>
                        <a:buSzPts val="1000"/>
                        <a:buFont typeface="Arial"/>
                        <a:buNone/>
                      </a:pPr>
                      <a:r>
                        <a:rPr b="1" lang="en" sz="1000" u="none" cap="none" strike="noStrike">
                          <a:solidFill>
                            <a:srgbClr val="FFFFFF"/>
                          </a:solidFill>
                          <a:latin typeface="Montserrat"/>
                          <a:ea typeface="Montserrat"/>
                          <a:cs typeface="Montserrat"/>
                          <a:sym typeface="Montserrat"/>
                        </a:rPr>
                        <a:t>Key Considerations</a:t>
                      </a:r>
                      <a:endParaRPr b="1" sz="1000" u="none" cap="none" strike="noStrike">
                        <a:solidFill>
                          <a:srgbClr val="FFFFFF"/>
                        </a:solidFill>
                        <a:latin typeface="Montserrat"/>
                        <a:ea typeface="Montserrat"/>
                        <a:cs typeface="Montserrat"/>
                        <a:sym typeface="Montserrat"/>
                      </a:endParaRPr>
                    </a:p>
                  </a:txBody>
                  <a:tcPr marT="91425" marB="91425" marR="91425" marL="91425">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rgbClr val="12519C"/>
                    </a:solidFill>
                  </a:tcPr>
                </a:tc>
              </a:tr>
              <a:tr h="670500">
                <a:tc>
                  <a:txBody>
                    <a:bodyPr/>
                    <a:lstStyle/>
                    <a:p>
                      <a:pPr indent="0" lvl="0" marL="0" marR="0" rtl="0" algn="l">
                        <a:lnSpc>
                          <a:spcPct val="100000"/>
                        </a:lnSpc>
                        <a:spcBef>
                          <a:spcPts val="0"/>
                        </a:spcBef>
                        <a:spcAft>
                          <a:spcPts val="0"/>
                        </a:spcAft>
                        <a:buClr>
                          <a:srgbClr val="000000"/>
                        </a:buClr>
                        <a:buSzPts val="1000"/>
                        <a:buFont typeface="Arial"/>
                        <a:buNone/>
                      </a:pPr>
                      <a:r>
                        <a:rPr b="1" lang="en" sz="1000" u="none" cap="none" strike="noStrike">
                          <a:latin typeface="Montserrat"/>
                          <a:ea typeface="Montserrat"/>
                          <a:cs typeface="Montserrat"/>
                          <a:sym typeface="Montserrat"/>
                        </a:rPr>
                        <a:t>Mobile Application Development Platform</a:t>
                      </a:r>
                      <a:endParaRPr b="1" sz="1000" u="none" cap="none" strike="noStrike">
                        <a:latin typeface="Montserrat"/>
                        <a:ea typeface="Montserrat"/>
                        <a:cs typeface="Montserrat"/>
                        <a:sym typeface="Montserrat"/>
                      </a:endParaRPr>
                    </a:p>
                  </a:txBody>
                  <a:tcPr marT="91425" marB="91425" marR="91425" marL="91425">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000"/>
                        <a:buFont typeface="Arial"/>
                        <a:buNone/>
                      </a:pPr>
                      <a:r>
                        <a:rPr lang="en" sz="1000" u="none" cap="none" strike="noStrike">
                          <a:latin typeface="Montserrat"/>
                          <a:ea typeface="Montserrat"/>
                          <a:cs typeface="Montserrat"/>
                          <a:sym typeface="Montserrat"/>
                        </a:rPr>
                        <a:t>Cross-platform technologies like Flutter or React Native to be considered for mobile application development. They will enable us to use a single codebase for both Android and iOS, reducing development time and costs while increasing code reuse and maintainability.</a:t>
                      </a:r>
                      <a:endParaRPr sz="1000" u="none" cap="none" strike="noStrike">
                        <a:latin typeface="Montserrat"/>
                        <a:ea typeface="Montserrat"/>
                        <a:cs typeface="Montserrat"/>
                        <a:sym typeface="Montserrat"/>
                      </a:endParaRPr>
                    </a:p>
                  </a:txBody>
                  <a:tcPr marT="91425" marB="91425" marR="91425" marL="91425">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r>
              <a:tr h="602400">
                <a:tc>
                  <a:txBody>
                    <a:bodyPr/>
                    <a:lstStyle/>
                    <a:p>
                      <a:pPr indent="0" lvl="0" marL="0" marR="0" rtl="0" algn="l">
                        <a:lnSpc>
                          <a:spcPct val="115000"/>
                        </a:lnSpc>
                        <a:spcBef>
                          <a:spcPts val="0"/>
                        </a:spcBef>
                        <a:spcAft>
                          <a:spcPts val="0"/>
                        </a:spcAft>
                        <a:buClr>
                          <a:schemeClr val="dk1"/>
                        </a:buClr>
                        <a:buSzPts val="1100"/>
                        <a:buFont typeface="Arial"/>
                        <a:buNone/>
                      </a:pPr>
                      <a:r>
                        <a:rPr b="1" lang="en" sz="1000" u="none" cap="none" strike="noStrike">
                          <a:latin typeface="Montserrat"/>
                          <a:ea typeface="Montserrat"/>
                          <a:cs typeface="Montserrat"/>
                          <a:sym typeface="Montserrat"/>
                        </a:rPr>
                        <a:t>On-the-fly Deployment</a:t>
                      </a:r>
                      <a:r>
                        <a:rPr lang="en" sz="1000" u="none" cap="none" strike="noStrike">
                          <a:solidFill>
                            <a:schemeClr val="dk1"/>
                          </a:solidFill>
                          <a:latin typeface="Montserrat"/>
                          <a:ea typeface="Montserrat"/>
                          <a:cs typeface="Montserrat"/>
                          <a:sym typeface="Montserrat"/>
                        </a:rPr>
                        <a:t> </a:t>
                      </a:r>
                      <a:endParaRPr b="1" sz="1000" u="none" cap="none" strike="noStrike">
                        <a:solidFill>
                          <a:schemeClr val="dk1"/>
                        </a:solidFill>
                        <a:latin typeface="Montserrat"/>
                        <a:ea typeface="Montserrat"/>
                        <a:cs typeface="Montserrat"/>
                        <a:sym typeface="Montserrat"/>
                      </a:endParaRPr>
                    </a:p>
                  </a:txBody>
                  <a:tcPr marT="91425" marB="91425" marR="91425" marL="91425">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000"/>
                        <a:buFont typeface="Arial"/>
                        <a:buNone/>
                      </a:pPr>
                      <a:r>
                        <a:rPr lang="en" sz="1000" u="none" cap="none" strike="noStrike">
                          <a:latin typeface="Montserrat"/>
                          <a:ea typeface="Montserrat"/>
                          <a:cs typeface="Montserrat"/>
                          <a:sym typeface="Montserrat"/>
                        </a:rPr>
                        <a:t>On-the-fly deployment enables pushing app updates without app store resubmission-natively supported in React Native via CodePush and achievable in Flutter using Shorebird. This is particularly useful for hot-fixes and minor changes</a:t>
                      </a:r>
                      <a:r>
                        <a:rPr lang="en" sz="1100" u="none" cap="none" strike="noStrike">
                          <a:solidFill>
                            <a:schemeClr val="dk1"/>
                          </a:solidFill>
                        </a:rPr>
                        <a:t>.</a:t>
                      </a:r>
                      <a:endParaRPr sz="1000" u="none" cap="none" strike="noStrike">
                        <a:latin typeface="Montserrat"/>
                        <a:ea typeface="Montserrat"/>
                        <a:cs typeface="Montserrat"/>
                        <a:sym typeface="Montserrat"/>
                      </a:endParaRPr>
                    </a:p>
                  </a:txBody>
                  <a:tcPr marT="91425" marB="91425" marR="91425" marL="91425">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r>
              <a:tr h="419075">
                <a:tc>
                  <a:txBody>
                    <a:bodyPr/>
                    <a:lstStyle/>
                    <a:p>
                      <a:pPr indent="0" lvl="0" marL="0" marR="0" rtl="0" algn="l">
                        <a:lnSpc>
                          <a:spcPct val="100000"/>
                        </a:lnSpc>
                        <a:spcBef>
                          <a:spcPts val="0"/>
                        </a:spcBef>
                        <a:spcAft>
                          <a:spcPts val="0"/>
                        </a:spcAft>
                        <a:buClr>
                          <a:srgbClr val="000000"/>
                        </a:buClr>
                        <a:buSzPts val="1000"/>
                        <a:buFont typeface="Arial"/>
                        <a:buNone/>
                      </a:pPr>
                      <a:r>
                        <a:rPr b="1" lang="en" sz="1000" u="none" cap="none" strike="noStrike">
                          <a:solidFill>
                            <a:schemeClr val="dk1"/>
                          </a:solidFill>
                          <a:latin typeface="Montserrat"/>
                          <a:ea typeface="Montserrat"/>
                          <a:cs typeface="Montserrat"/>
                          <a:sym typeface="Montserrat"/>
                        </a:rPr>
                        <a:t>Performance Optimisation</a:t>
                      </a:r>
                      <a:endParaRPr b="1" sz="1000" u="none" cap="none" strike="noStrike">
                        <a:solidFill>
                          <a:schemeClr val="dk1"/>
                        </a:solidFill>
                        <a:latin typeface="Montserrat"/>
                        <a:ea typeface="Montserrat"/>
                        <a:cs typeface="Montserrat"/>
                        <a:sym typeface="Montserrat"/>
                      </a:endParaRPr>
                    </a:p>
                  </a:txBody>
                  <a:tcPr marT="91425" marB="91425" marR="91425" marL="91425">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rPr lang="en" sz="1000" u="none" cap="none" strike="noStrike">
                          <a:latin typeface="Montserrat"/>
                          <a:ea typeface="Montserrat"/>
                          <a:cs typeface="Montserrat"/>
                          <a:sym typeface="Montserrat"/>
                        </a:rPr>
                        <a:t>Responsive UI and smooth animations, lazy loading of images, pagination and optimised asset management. </a:t>
                      </a:r>
                      <a:endParaRPr sz="1000" u="none" cap="none" strike="noStrike">
                        <a:latin typeface="Montserrat"/>
                        <a:ea typeface="Montserrat"/>
                        <a:cs typeface="Montserrat"/>
                        <a:sym typeface="Montserrat"/>
                      </a:endParaRPr>
                    </a:p>
                  </a:txBody>
                  <a:tcPr marT="91425" marB="91425" marR="91425" marL="91425">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r>
              <a:tr h="367200">
                <a:tc>
                  <a:txBody>
                    <a:bodyPr/>
                    <a:lstStyle/>
                    <a:p>
                      <a:pPr indent="0" lvl="0" marL="0" marR="0" rtl="0" algn="l">
                        <a:lnSpc>
                          <a:spcPct val="100000"/>
                        </a:lnSpc>
                        <a:spcBef>
                          <a:spcPts val="0"/>
                        </a:spcBef>
                        <a:spcAft>
                          <a:spcPts val="0"/>
                        </a:spcAft>
                        <a:buClr>
                          <a:schemeClr val="dk1"/>
                        </a:buClr>
                        <a:buSzPts val="1100"/>
                        <a:buFont typeface="Arial"/>
                        <a:buNone/>
                      </a:pPr>
                      <a:r>
                        <a:rPr b="1" lang="en" sz="1000" u="none" cap="none" strike="noStrike">
                          <a:solidFill>
                            <a:schemeClr val="dk1"/>
                          </a:solidFill>
                          <a:latin typeface="Montserrat"/>
                          <a:ea typeface="Montserrat"/>
                          <a:cs typeface="Montserrat"/>
                          <a:sym typeface="Montserrat"/>
                        </a:rPr>
                        <a:t>API Integration</a:t>
                      </a:r>
                      <a:endParaRPr b="1" sz="1000" u="none" cap="none" strike="noStrike">
                        <a:latin typeface="Montserrat"/>
                        <a:ea typeface="Montserrat"/>
                        <a:cs typeface="Montserrat"/>
                        <a:sym typeface="Montserrat"/>
                      </a:endParaRPr>
                    </a:p>
                  </a:txBody>
                  <a:tcPr marT="91425" marB="91425" marR="91425" marL="91425">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rPr lang="en" sz="1000" u="none" cap="none" strike="noStrike">
                          <a:latin typeface="Montserrat"/>
                          <a:ea typeface="Montserrat"/>
                          <a:cs typeface="Montserrat"/>
                          <a:sym typeface="Montserrat"/>
                        </a:rPr>
                        <a:t>RESTful API integration using the existing APIs utilised by the Web platform.</a:t>
                      </a:r>
                      <a:endParaRPr sz="1000" u="none" cap="none" strike="noStrike">
                        <a:latin typeface="Montserrat"/>
                        <a:ea typeface="Montserrat"/>
                        <a:cs typeface="Montserrat"/>
                        <a:sym typeface="Montserrat"/>
                      </a:endParaRPr>
                    </a:p>
                  </a:txBody>
                  <a:tcPr marT="91425" marB="91425" marR="91425" marL="91425">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r>
              <a:tr h="465250">
                <a:tc>
                  <a:txBody>
                    <a:bodyPr/>
                    <a:lstStyle/>
                    <a:p>
                      <a:pPr indent="0" lvl="0" marL="0" marR="0" rtl="0" algn="l">
                        <a:lnSpc>
                          <a:spcPct val="100000"/>
                        </a:lnSpc>
                        <a:spcBef>
                          <a:spcPts val="0"/>
                        </a:spcBef>
                        <a:spcAft>
                          <a:spcPts val="0"/>
                        </a:spcAft>
                        <a:buClr>
                          <a:srgbClr val="000000"/>
                        </a:buClr>
                        <a:buSzPts val="1000"/>
                        <a:buFont typeface="Arial"/>
                        <a:buNone/>
                      </a:pPr>
                      <a:r>
                        <a:rPr b="1" lang="en" sz="1000" u="none" cap="none" strike="noStrike">
                          <a:latin typeface="Montserrat"/>
                          <a:ea typeface="Montserrat"/>
                          <a:cs typeface="Montserrat"/>
                          <a:sym typeface="Montserrat"/>
                        </a:rPr>
                        <a:t>Security &amp; Data Protection</a:t>
                      </a:r>
                      <a:endParaRPr b="1" sz="1000" u="none" cap="none" strike="noStrike">
                        <a:latin typeface="Montserrat"/>
                        <a:ea typeface="Montserrat"/>
                        <a:cs typeface="Montserrat"/>
                        <a:sym typeface="Montserrat"/>
                      </a:endParaRPr>
                    </a:p>
                  </a:txBody>
                  <a:tcPr marT="91425" marB="91425" marR="91425" marL="91425">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rPr lang="en" sz="1000" u="none" cap="none" strike="noStrike">
                          <a:latin typeface="Montserrat"/>
                          <a:ea typeface="Montserrat"/>
                          <a:cs typeface="Montserrat"/>
                          <a:sym typeface="Montserrat"/>
                        </a:rPr>
                        <a:t>Any user data to be securely stored in keychain and encryption if required. Secure communication using HTTPS. Authentication using existing backend architecture.</a:t>
                      </a:r>
                      <a:endParaRPr sz="1000" u="none" cap="none" strike="noStrike">
                        <a:latin typeface="Montserrat"/>
                        <a:ea typeface="Montserrat"/>
                        <a:cs typeface="Montserrat"/>
                        <a:sym typeface="Montserrat"/>
                      </a:endParaRPr>
                    </a:p>
                  </a:txBody>
                  <a:tcPr marT="91425" marB="91425" marR="91425" marL="91425">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r>
              <a:tr h="465250">
                <a:tc>
                  <a:txBody>
                    <a:bodyPr/>
                    <a:lstStyle/>
                    <a:p>
                      <a:pPr indent="0" lvl="0" marL="0" marR="0" rtl="0" algn="l">
                        <a:lnSpc>
                          <a:spcPct val="100000"/>
                        </a:lnSpc>
                        <a:spcBef>
                          <a:spcPts val="0"/>
                        </a:spcBef>
                        <a:spcAft>
                          <a:spcPts val="0"/>
                        </a:spcAft>
                        <a:buClr>
                          <a:srgbClr val="000000"/>
                        </a:buClr>
                        <a:buSzPts val="1000"/>
                        <a:buFont typeface="Arial"/>
                        <a:buNone/>
                      </a:pPr>
                      <a:r>
                        <a:rPr b="1" lang="en" sz="1000" u="none" cap="none" strike="noStrike">
                          <a:latin typeface="Montserrat"/>
                          <a:ea typeface="Montserrat"/>
                          <a:cs typeface="Montserrat"/>
                          <a:sym typeface="Montserrat"/>
                        </a:rPr>
                        <a:t>Analytics &amp; Crash Monitoring</a:t>
                      </a:r>
                      <a:endParaRPr b="1" sz="1000" u="none" cap="none" strike="noStrike">
                        <a:latin typeface="Montserrat"/>
                        <a:ea typeface="Montserrat"/>
                        <a:cs typeface="Montserrat"/>
                        <a:sym typeface="Montserrat"/>
                      </a:endParaRPr>
                    </a:p>
                  </a:txBody>
                  <a:tcPr marT="91425" marB="91425" marR="91425" marL="91425">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rPr lang="en" sz="1000" u="none" cap="none" strike="noStrike">
                          <a:latin typeface="Montserrat"/>
                          <a:ea typeface="Montserrat"/>
                          <a:cs typeface="Montserrat"/>
                          <a:sym typeface="Montserrat"/>
                        </a:rPr>
                        <a:t>Firebase Analytics(or any other preferred tool) to be utilised for analysing user behavior, page views and clicks. Crash reporting and error monitoring to be dove via Firebase Crashlytics.</a:t>
                      </a:r>
                      <a:endParaRPr sz="1000" u="none" cap="none" strike="noStrike">
                        <a:latin typeface="Montserrat"/>
                        <a:ea typeface="Montserrat"/>
                        <a:cs typeface="Montserrat"/>
                        <a:sym typeface="Montserrat"/>
                      </a:endParaRPr>
                    </a:p>
                  </a:txBody>
                  <a:tcPr marT="91425" marB="91425" marR="91425" marL="91425">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r>
              <a:tr h="555075">
                <a:tc>
                  <a:txBody>
                    <a:bodyPr/>
                    <a:lstStyle/>
                    <a:p>
                      <a:pPr indent="0" lvl="0" marL="0" marR="0" rtl="0" algn="l">
                        <a:lnSpc>
                          <a:spcPct val="100000"/>
                        </a:lnSpc>
                        <a:spcBef>
                          <a:spcPts val="0"/>
                        </a:spcBef>
                        <a:spcAft>
                          <a:spcPts val="0"/>
                        </a:spcAft>
                        <a:buClr>
                          <a:srgbClr val="000000"/>
                        </a:buClr>
                        <a:buSzPts val="1000"/>
                        <a:buFont typeface="Arial"/>
                        <a:buNone/>
                      </a:pPr>
                      <a:r>
                        <a:rPr b="1" lang="en" sz="1000" u="none" cap="none" strike="noStrike">
                          <a:latin typeface="Montserrat"/>
                          <a:ea typeface="Montserrat"/>
                          <a:cs typeface="Montserrat"/>
                          <a:sym typeface="Montserrat"/>
                        </a:rPr>
                        <a:t>Deployment Strategy</a:t>
                      </a:r>
                      <a:endParaRPr b="1" sz="1000" u="none" cap="none" strike="noStrike">
                        <a:latin typeface="Montserrat"/>
                        <a:ea typeface="Montserrat"/>
                        <a:cs typeface="Montserrat"/>
                        <a:sym typeface="Montserrat"/>
                      </a:endParaRPr>
                    </a:p>
                  </a:txBody>
                  <a:tcPr marT="91425" marB="91425" marR="91425" marL="91425">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rPr lang="en" sz="1000" u="none" cap="none" strike="noStrike">
                          <a:latin typeface="Montserrat"/>
                          <a:ea typeface="Montserrat"/>
                          <a:cs typeface="Montserrat"/>
                          <a:sym typeface="Montserrat"/>
                        </a:rPr>
                        <a:t>App Store and Play store guidelines compliance.</a:t>
                      </a:r>
                      <a:endParaRPr sz="1000" u="none" cap="none" strike="noStrike">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000"/>
                        <a:buFont typeface="Arial"/>
                        <a:buNone/>
                      </a:pPr>
                      <a:r>
                        <a:rPr lang="en" sz="1000" u="none" cap="none" strike="noStrike">
                          <a:latin typeface="Montserrat"/>
                          <a:ea typeface="Montserrat"/>
                          <a:cs typeface="Montserrat"/>
                          <a:sym typeface="Montserrat"/>
                        </a:rPr>
                        <a:t>CI/CD pipeline for automated deployment for different environments.</a:t>
                      </a:r>
                      <a:endParaRPr sz="1000" u="none" cap="none" strike="noStrike">
                        <a:latin typeface="Montserrat"/>
                        <a:ea typeface="Montserrat"/>
                        <a:cs typeface="Montserrat"/>
                        <a:sym typeface="Montserrat"/>
                      </a:endParaRPr>
                    </a:p>
                  </a:txBody>
                  <a:tcPr marT="91425" marB="91425" marR="91425" marL="91425">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r>
            </a:tbl>
          </a:graphicData>
        </a:graphic>
      </p:graphicFrame>
      <p:sp>
        <p:nvSpPr>
          <p:cNvPr id="342" name="Google Shape;342;p14"/>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sz="1000"/>
              <a:t>‹#›</a:t>
            </a:fld>
            <a:endParaRPr sz="100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6" name="Shape 346"/>
        <p:cNvGrpSpPr/>
        <p:nvPr/>
      </p:nvGrpSpPr>
      <p:grpSpPr>
        <a:xfrm>
          <a:off x="0" y="0"/>
          <a:ext cx="0" cy="0"/>
          <a:chOff x="0" y="0"/>
          <a:chExt cx="0" cy="0"/>
        </a:xfrm>
      </p:grpSpPr>
      <p:sp>
        <p:nvSpPr>
          <p:cNvPr id="347" name="Google Shape;347;p15"/>
          <p:cNvSpPr/>
          <p:nvPr/>
        </p:nvSpPr>
        <p:spPr>
          <a:xfrm>
            <a:off x="0" y="144000"/>
            <a:ext cx="47400" cy="3573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8" name="Google Shape;348;p15"/>
          <p:cNvSpPr txBox="1"/>
          <p:nvPr>
            <p:ph type="title"/>
          </p:nvPr>
        </p:nvSpPr>
        <p:spPr>
          <a:xfrm>
            <a:off x="104500" y="141850"/>
            <a:ext cx="7467900" cy="3573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000"/>
              <a:buNone/>
            </a:pPr>
            <a:r>
              <a:rPr lang="en">
                <a:solidFill>
                  <a:schemeClr val="dk1"/>
                </a:solidFill>
              </a:rPr>
              <a:t>Mobile Development Platform - Comparison</a:t>
            </a:r>
            <a:endParaRPr>
              <a:solidFill>
                <a:schemeClr val="dk1"/>
              </a:solidFill>
            </a:endParaRPr>
          </a:p>
        </p:txBody>
      </p:sp>
      <p:sp>
        <p:nvSpPr>
          <p:cNvPr id="349" name="Google Shape;349;p15"/>
          <p:cNvSpPr txBox="1"/>
          <p:nvPr>
            <p:ph idx="12" type="sldNum"/>
          </p:nvPr>
        </p:nvSpPr>
        <p:spPr>
          <a:xfrm>
            <a:off x="8556784" y="6333134"/>
            <a:ext cx="548700" cy="5250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sz="1000">
                <a:latin typeface="Montserrat"/>
                <a:ea typeface="Montserrat"/>
                <a:cs typeface="Montserrat"/>
                <a:sym typeface="Montserrat"/>
              </a:rPr>
              <a:t>‹#›</a:t>
            </a:fld>
            <a:endParaRPr sz="1000">
              <a:latin typeface="Montserrat"/>
              <a:ea typeface="Montserrat"/>
              <a:cs typeface="Montserrat"/>
              <a:sym typeface="Montserrat"/>
            </a:endParaRPr>
          </a:p>
        </p:txBody>
      </p:sp>
      <p:sp>
        <p:nvSpPr>
          <p:cNvPr id="350" name="Google Shape;350;p15"/>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sz="1000"/>
              <a:t>‹#›</a:t>
            </a:fld>
            <a:endParaRPr sz="1000"/>
          </a:p>
        </p:txBody>
      </p:sp>
      <p:graphicFrame>
        <p:nvGraphicFramePr>
          <p:cNvPr id="351" name="Google Shape;351;p15"/>
          <p:cNvGraphicFramePr/>
          <p:nvPr/>
        </p:nvGraphicFramePr>
        <p:xfrm>
          <a:off x="189880" y="722548"/>
          <a:ext cx="3000000" cy="3000000"/>
        </p:xfrm>
        <a:graphic>
          <a:graphicData uri="http://schemas.openxmlformats.org/drawingml/2006/table">
            <a:tbl>
              <a:tblPr bandRow="1" firstRow="1">
                <a:noFill/>
                <a:tableStyleId>{E4DFB4FF-8893-4974-80CE-CFFE3B34FB83}</a:tableStyleId>
              </a:tblPr>
              <a:tblGrid>
                <a:gridCol w="4210000"/>
                <a:gridCol w="2933625"/>
                <a:gridCol w="1567950"/>
              </a:tblGrid>
              <a:tr h="260600">
                <a:tc>
                  <a:txBody>
                    <a:bodyPr/>
                    <a:lstStyle/>
                    <a:p>
                      <a:pPr indent="0" lvl="0" marL="63500" marR="0" rtl="0" algn="l">
                        <a:lnSpc>
                          <a:spcPct val="100000"/>
                        </a:lnSpc>
                        <a:spcBef>
                          <a:spcPts val="0"/>
                        </a:spcBef>
                        <a:spcAft>
                          <a:spcPts val="0"/>
                        </a:spcAft>
                        <a:buClr>
                          <a:srgbClr val="FFFFFF"/>
                        </a:buClr>
                        <a:buSzPts val="900"/>
                        <a:buFont typeface="Arial"/>
                        <a:buNone/>
                      </a:pPr>
                      <a:r>
                        <a:rPr lang="en" sz="1100" u="none" cap="none" strike="noStrike">
                          <a:latin typeface="Montserrat"/>
                          <a:ea typeface="Montserrat"/>
                          <a:cs typeface="Montserrat"/>
                          <a:sym typeface="Montserrat"/>
                        </a:rPr>
                        <a:t>Factors</a:t>
                      </a:r>
                      <a:endParaRPr sz="1100" u="none" cap="none" strike="noStrike">
                        <a:solidFill>
                          <a:srgbClr val="FFFFFF"/>
                        </a:solidFill>
                        <a:latin typeface="Montserrat"/>
                        <a:ea typeface="Montserrat"/>
                        <a:cs typeface="Montserrat"/>
                        <a:sym typeface="Montserrat"/>
                      </a:endParaRPr>
                    </a:p>
                  </a:txBody>
                  <a:tcPr marT="46050" marB="46050" marR="46050" marL="4605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accent2"/>
                    </a:solidFill>
                  </a:tcPr>
                </a:tc>
                <a:tc>
                  <a:txBody>
                    <a:bodyPr/>
                    <a:lstStyle/>
                    <a:p>
                      <a:pPr indent="0" lvl="0" marL="63500" marR="0" rtl="0" algn="ctr">
                        <a:lnSpc>
                          <a:spcPct val="100000"/>
                        </a:lnSpc>
                        <a:spcBef>
                          <a:spcPts val="0"/>
                        </a:spcBef>
                        <a:spcAft>
                          <a:spcPts val="0"/>
                        </a:spcAft>
                        <a:buClr>
                          <a:srgbClr val="FFFFFF"/>
                        </a:buClr>
                        <a:buSzPts val="900"/>
                        <a:buFont typeface="Arial"/>
                        <a:buNone/>
                      </a:pPr>
                      <a:r>
                        <a:rPr lang="en" sz="1100" u="none" cap="none" strike="noStrike">
                          <a:solidFill>
                            <a:srgbClr val="FFFFFF"/>
                          </a:solidFill>
                          <a:latin typeface="Montserrat"/>
                          <a:ea typeface="Montserrat"/>
                          <a:cs typeface="Montserrat"/>
                          <a:sym typeface="Montserrat"/>
                        </a:rPr>
                        <a:t>REACT NATIVE</a:t>
                      </a:r>
                      <a:endParaRPr sz="1100" u="none" cap="none" strike="noStrike">
                        <a:solidFill>
                          <a:srgbClr val="FFFFFF"/>
                        </a:solidFill>
                        <a:latin typeface="Montserrat"/>
                        <a:ea typeface="Montserrat"/>
                        <a:cs typeface="Montserrat"/>
                        <a:sym typeface="Montserrat"/>
                      </a:endParaRPr>
                    </a:p>
                  </a:txBody>
                  <a:tcPr marT="46050" marB="46050" marR="46050" marL="4605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accent2"/>
                    </a:solidFill>
                  </a:tcPr>
                </a:tc>
                <a:tc>
                  <a:txBody>
                    <a:bodyPr/>
                    <a:lstStyle/>
                    <a:p>
                      <a:pPr indent="0" lvl="0" marL="63500" marR="0" rtl="0" algn="ctr">
                        <a:lnSpc>
                          <a:spcPct val="100000"/>
                        </a:lnSpc>
                        <a:spcBef>
                          <a:spcPts val="0"/>
                        </a:spcBef>
                        <a:spcAft>
                          <a:spcPts val="0"/>
                        </a:spcAft>
                        <a:buClr>
                          <a:srgbClr val="FFFFFF"/>
                        </a:buClr>
                        <a:buSzPts val="900"/>
                        <a:buFont typeface="Arial"/>
                        <a:buNone/>
                      </a:pPr>
                      <a:r>
                        <a:rPr lang="en" sz="1100" u="none" cap="none" strike="noStrike">
                          <a:solidFill>
                            <a:srgbClr val="FFFFFF"/>
                          </a:solidFill>
                          <a:latin typeface="Montserrat"/>
                          <a:ea typeface="Montserrat"/>
                          <a:cs typeface="Montserrat"/>
                          <a:sym typeface="Montserrat"/>
                        </a:rPr>
                        <a:t>Flutter</a:t>
                      </a:r>
                      <a:endParaRPr sz="1100" u="none" cap="none" strike="noStrike">
                        <a:solidFill>
                          <a:srgbClr val="FFFFFF"/>
                        </a:solidFill>
                        <a:latin typeface="Montserrat"/>
                        <a:ea typeface="Montserrat"/>
                        <a:cs typeface="Montserrat"/>
                        <a:sym typeface="Montserrat"/>
                      </a:endParaRPr>
                    </a:p>
                  </a:txBody>
                  <a:tcPr marT="46050" marB="46050" marR="46050" marL="4605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accent2"/>
                    </a:solidFill>
                  </a:tcPr>
                </a:tc>
              </a:tr>
              <a:tr h="307700">
                <a:tc>
                  <a:txBody>
                    <a:bodyPr/>
                    <a:lstStyle/>
                    <a:p>
                      <a:pPr indent="0" lvl="0" marL="63500" marR="0" rtl="0" algn="l">
                        <a:lnSpc>
                          <a:spcPct val="141666"/>
                        </a:lnSpc>
                        <a:spcBef>
                          <a:spcPts val="0"/>
                        </a:spcBef>
                        <a:spcAft>
                          <a:spcPts val="0"/>
                        </a:spcAft>
                        <a:buClr>
                          <a:srgbClr val="3F3F3F"/>
                        </a:buClr>
                        <a:buSzPts val="900"/>
                        <a:buFont typeface="Arial"/>
                        <a:buNone/>
                      </a:pPr>
                      <a:r>
                        <a:rPr b="1" lang="en" sz="1000" u="none" cap="none" strike="noStrike">
                          <a:latin typeface="Montserrat"/>
                          <a:ea typeface="Montserrat"/>
                          <a:cs typeface="Montserrat"/>
                          <a:sym typeface="Montserrat"/>
                        </a:rPr>
                        <a:t>Performance/Speed</a:t>
                      </a:r>
                      <a:endParaRPr sz="1000" u="none" cap="none" strike="noStrike">
                        <a:latin typeface="Montserrat"/>
                        <a:ea typeface="Montserrat"/>
                        <a:cs typeface="Montserrat"/>
                        <a:sym typeface="Montserrat"/>
                      </a:endParaRPr>
                    </a:p>
                  </a:txBody>
                  <a:tcPr marT="46050" marB="46050" marR="46050" marL="46050"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FFFFF"/>
                    </a:solidFill>
                  </a:tcPr>
                </a:tc>
                <a:tc>
                  <a:txBody>
                    <a:bodyPr/>
                    <a:lstStyle/>
                    <a:p>
                      <a:pPr indent="0" lvl="0" marL="0" marR="0" rtl="0" algn="ctr">
                        <a:lnSpc>
                          <a:spcPct val="141666"/>
                        </a:lnSpc>
                        <a:spcBef>
                          <a:spcPts val="0"/>
                        </a:spcBef>
                        <a:spcAft>
                          <a:spcPts val="0"/>
                        </a:spcAft>
                        <a:buClr>
                          <a:srgbClr val="000000"/>
                        </a:buClr>
                        <a:buSzPts val="1000"/>
                        <a:buFont typeface="Arial"/>
                        <a:buNone/>
                      </a:pPr>
                      <a:r>
                        <a:rPr lang="en" sz="1000" u="none" cap="none" strike="noStrike">
                          <a:latin typeface="Montserrat"/>
                          <a:ea typeface="Montserrat"/>
                          <a:cs typeface="Montserrat"/>
                          <a:sym typeface="Montserrat"/>
                        </a:rPr>
                        <a:t>High</a:t>
                      </a:r>
                      <a:endParaRPr sz="1000" u="none" cap="none" strike="noStrike">
                        <a:latin typeface="Montserrat"/>
                        <a:ea typeface="Montserrat"/>
                        <a:cs typeface="Montserrat"/>
                        <a:sym typeface="Montserrat"/>
                      </a:endParaRPr>
                    </a:p>
                  </a:txBody>
                  <a:tcPr marT="46050" marB="46050" marR="46050" marL="46050"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FFFFF"/>
                    </a:solidFill>
                  </a:tcPr>
                </a:tc>
                <a:tc>
                  <a:txBody>
                    <a:bodyPr/>
                    <a:lstStyle/>
                    <a:p>
                      <a:pPr indent="0" lvl="0" marL="0" marR="0" rtl="0" algn="ctr">
                        <a:lnSpc>
                          <a:spcPct val="141666"/>
                        </a:lnSpc>
                        <a:spcBef>
                          <a:spcPts val="0"/>
                        </a:spcBef>
                        <a:spcAft>
                          <a:spcPts val="0"/>
                        </a:spcAft>
                        <a:buClr>
                          <a:srgbClr val="000000"/>
                        </a:buClr>
                        <a:buSzPts val="1000"/>
                        <a:buFont typeface="Arial"/>
                        <a:buNone/>
                      </a:pPr>
                      <a:r>
                        <a:rPr lang="en" sz="1000" u="none" cap="none" strike="noStrike">
                          <a:latin typeface="Montserrat"/>
                          <a:ea typeface="Montserrat"/>
                          <a:cs typeface="Montserrat"/>
                          <a:sym typeface="Montserrat"/>
                        </a:rPr>
                        <a:t>High</a:t>
                      </a:r>
                      <a:endParaRPr sz="1000" u="none" cap="none" strike="noStrike">
                        <a:latin typeface="Montserrat"/>
                        <a:ea typeface="Montserrat"/>
                        <a:cs typeface="Montserrat"/>
                        <a:sym typeface="Montserrat"/>
                      </a:endParaRPr>
                    </a:p>
                  </a:txBody>
                  <a:tcPr marT="46050" marB="46050" marR="46050" marL="46050"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FFFFF"/>
                    </a:solidFill>
                  </a:tcPr>
                </a:tc>
              </a:tr>
              <a:tr h="307700">
                <a:tc>
                  <a:txBody>
                    <a:bodyPr/>
                    <a:lstStyle/>
                    <a:p>
                      <a:pPr indent="0" lvl="0" marL="63500" marR="0" rtl="0" algn="l">
                        <a:lnSpc>
                          <a:spcPct val="141666"/>
                        </a:lnSpc>
                        <a:spcBef>
                          <a:spcPts val="0"/>
                        </a:spcBef>
                        <a:spcAft>
                          <a:spcPts val="0"/>
                        </a:spcAft>
                        <a:buClr>
                          <a:srgbClr val="3F3F3F"/>
                        </a:buClr>
                        <a:buSzPts val="900"/>
                        <a:buFont typeface="Arial"/>
                        <a:buNone/>
                      </a:pPr>
                      <a:r>
                        <a:rPr b="1" lang="en" sz="1000" u="none" cap="none" strike="noStrike">
                          <a:latin typeface="Montserrat"/>
                          <a:ea typeface="Montserrat"/>
                          <a:cs typeface="Montserrat"/>
                          <a:sym typeface="Montserrat"/>
                        </a:rPr>
                        <a:t>OTA Updates  (Without going through App Store)</a:t>
                      </a:r>
                      <a:endParaRPr sz="1000" u="none" cap="none" strike="noStrike">
                        <a:latin typeface="Montserrat"/>
                        <a:ea typeface="Montserrat"/>
                        <a:cs typeface="Montserrat"/>
                        <a:sym typeface="Montserrat"/>
                      </a:endParaRPr>
                    </a:p>
                  </a:txBody>
                  <a:tcPr marT="46050" marB="46050" marR="46050" marL="46050"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FFFFF"/>
                    </a:solidFill>
                  </a:tcPr>
                </a:tc>
                <a:tc>
                  <a:txBody>
                    <a:bodyPr/>
                    <a:lstStyle/>
                    <a:p>
                      <a:pPr indent="0" lvl="0" marL="0" marR="0" rtl="0" algn="ctr">
                        <a:lnSpc>
                          <a:spcPct val="141666"/>
                        </a:lnSpc>
                        <a:spcBef>
                          <a:spcPts val="0"/>
                        </a:spcBef>
                        <a:spcAft>
                          <a:spcPts val="0"/>
                        </a:spcAft>
                        <a:buClr>
                          <a:srgbClr val="000000"/>
                        </a:buClr>
                        <a:buSzPts val="1000"/>
                        <a:buFont typeface="Arial"/>
                        <a:buNone/>
                      </a:pPr>
                      <a:r>
                        <a:rPr lang="en" sz="1000" u="none" cap="none" strike="noStrike">
                          <a:latin typeface="Montserrat"/>
                          <a:ea typeface="Montserrat"/>
                          <a:cs typeface="Montserrat"/>
                          <a:sym typeface="Montserrat"/>
                        </a:rPr>
                        <a:t>Possible (Using Codepush or Expo)</a:t>
                      </a:r>
                      <a:endParaRPr sz="1000" u="none" cap="none" strike="noStrike">
                        <a:latin typeface="Montserrat"/>
                        <a:ea typeface="Montserrat"/>
                        <a:cs typeface="Montserrat"/>
                        <a:sym typeface="Montserrat"/>
                      </a:endParaRPr>
                    </a:p>
                  </a:txBody>
                  <a:tcPr marT="46050" marB="46050" marR="46050" marL="46050"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FFFFF"/>
                    </a:solidFill>
                  </a:tcPr>
                </a:tc>
                <a:tc>
                  <a:txBody>
                    <a:bodyPr/>
                    <a:lstStyle/>
                    <a:p>
                      <a:pPr indent="0" lvl="0" marL="0" marR="0" rtl="0" algn="ctr">
                        <a:lnSpc>
                          <a:spcPct val="141666"/>
                        </a:lnSpc>
                        <a:spcBef>
                          <a:spcPts val="0"/>
                        </a:spcBef>
                        <a:spcAft>
                          <a:spcPts val="0"/>
                        </a:spcAft>
                        <a:buClr>
                          <a:srgbClr val="000000"/>
                        </a:buClr>
                        <a:buSzPts val="1000"/>
                        <a:buFont typeface="Arial"/>
                        <a:buNone/>
                      </a:pPr>
                      <a:r>
                        <a:rPr lang="en" sz="1000" u="none" cap="none" strike="noStrike">
                          <a:latin typeface="Montserrat"/>
                          <a:ea typeface="Montserrat"/>
                          <a:cs typeface="Montserrat"/>
                          <a:sym typeface="Montserrat"/>
                        </a:rPr>
                        <a:t>Possible</a:t>
                      </a:r>
                      <a:endParaRPr sz="1000" u="none" cap="none" strike="noStrike">
                        <a:latin typeface="Montserrat"/>
                        <a:ea typeface="Montserrat"/>
                        <a:cs typeface="Montserrat"/>
                        <a:sym typeface="Montserrat"/>
                      </a:endParaRPr>
                    </a:p>
                  </a:txBody>
                  <a:tcPr marT="46050" marB="46050" marR="46050" marL="46050"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FFFFF"/>
                    </a:solidFill>
                  </a:tcPr>
                </a:tc>
              </a:tr>
              <a:tr h="341775">
                <a:tc>
                  <a:txBody>
                    <a:bodyPr/>
                    <a:lstStyle/>
                    <a:p>
                      <a:pPr indent="0" lvl="0" marL="63500" marR="0" rtl="0" algn="l">
                        <a:lnSpc>
                          <a:spcPct val="141666"/>
                        </a:lnSpc>
                        <a:spcBef>
                          <a:spcPts val="0"/>
                        </a:spcBef>
                        <a:spcAft>
                          <a:spcPts val="0"/>
                        </a:spcAft>
                        <a:buClr>
                          <a:srgbClr val="3F3F3F"/>
                        </a:buClr>
                        <a:buSzPts val="900"/>
                        <a:buFont typeface="Arial"/>
                        <a:buNone/>
                      </a:pPr>
                      <a:r>
                        <a:rPr b="1" lang="en" sz="1000" u="none" cap="none" strike="noStrike">
                          <a:latin typeface="Montserrat"/>
                          <a:ea typeface="Montserrat"/>
                          <a:cs typeface="Montserrat"/>
                          <a:sym typeface="Montserrat"/>
                        </a:rPr>
                        <a:t>Technologies Used</a:t>
                      </a:r>
                      <a:endParaRPr sz="1000" u="none" cap="none" strike="noStrike">
                        <a:latin typeface="Montserrat"/>
                        <a:ea typeface="Montserrat"/>
                        <a:cs typeface="Montserrat"/>
                        <a:sym typeface="Montserrat"/>
                      </a:endParaRPr>
                    </a:p>
                  </a:txBody>
                  <a:tcPr marT="46050" marB="46050" marR="46050" marL="46050"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FFFFF"/>
                    </a:solidFill>
                  </a:tcPr>
                </a:tc>
                <a:tc>
                  <a:txBody>
                    <a:bodyPr/>
                    <a:lstStyle/>
                    <a:p>
                      <a:pPr indent="0" lvl="0" marL="0" marR="0" rtl="0" algn="ctr">
                        <a:lnSpc>
                          <a:spcPct val="141666"/>
                        </a:lnSpc>
                        <a:spcBef>
                          <a:spcPts val="0"/>
                        </a:spcBef>
                        <a:spcAft>
                          <a:spcPts val="0"/>
                        </a:spcAft>
                        <a:buClr>
                          <a:srgbClr val="000000"/>
                        </a:buClr>
                        <a:buSzPts val="1000"/>
                        <a:buFont typeface="Arial"/>
                        <a:buNone/>
                      </a:pPr>
                      <a:r>
                        <a:rPr lang="en" sz="1000" u="none" cap="none" strike="noStrike">
                          <a:latin typeface="Montserrat"/>
                          <a:ea typeface="Montserrat"/>
                          <a:cs typeface="Montserrat"/>
                          <a:sym typeface="Montserrat"/>
                        </a:rPr>
                        <a:t>React/ React-Native/ Native Components</a:t>
                      </a:r>
                      <a:endParaRPr sz="1000" u="none" cap="none" strike="noStrike">
                        <a:latin typeface="Montserrat"/>
                        <a:ea typeface="Montserrat"/>
                        <a:cs typeface="Montserrat"/>
                        <a:sym typeface="Montserrat"/>
                      </a:endParaRPr>
                    </a:p>
                  </a:txBody>
                  <a:tcPr marT="46050" marB="46050" marR="46050" marL="46050"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FFFFF"/>
                    </a:solidFill>
                  </a:tcPr>
                </a:tc>
                <a:tc>
                  <a:txBody>
                    <a:bodyPr/>
                    <a:lstStyle/>
                    <a:p>
                      <a:pPr indent="0" lvl="0" marL="0" marR="0" rtl="0" algn="ctr">
                        <a:lnSpc>
                          <a:spcPct val="141666"/>
                        </a:lnSpc>
                        <a:spcBef>
                          <a:spcPts val="0"/>
                        </a:spcBef>
                        <a:spcAft>
                          <a:spcPts val="0"/>
                        </a:spcAft>
                        <a:buClr>
                          <a:srgbClr val="000000"/>
                        </a:buClr>
                        <a:buSzPts val="1000"/>
                        <a:buFont typeface="Arial"/>
                        <a:buNone/>
                      </a:pPr>
                      <a:r>
                        <a:rPr lang="en" sz="1000" u="none" cap="none" strike="noStrike">
                          <a:latin typeface="Montserrat"/>
                          <a:ea typeface="Montserrat"/>
                          <a:cs typeface="Montserrat"/>
                          <a:sym typeface="Montserrat"/>
                        </a:rPr>
                        <a:t>Dart</a:t>
                      </a:r>
                      <a:endParaRPr sz="1000" u="none" cap="none" strike="noStrike">
                        <a:latin typeface="Montserrat"/>
                        <a:ea typeface="Montserrat"/>
                        <a:cs typeface="Montserrat"/>
                        <a:sym typeface="Montserrat"/>
                      </a:endParaRPr>
                    </a:p>
                  </a:txBody>
                  <a:tcPr marT="46050" marB="46050" marR="46050" marL="46050"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FFFFF"/>
                    </a:solidFill>
                  </a:tcPr>
                </a:tc>
              </a:tr>
              <a:tr h="315350">
                <a:tc>
                  <a:txBody>
                    <a:bodyPr/>
                    <a:lstStyle/>
                    <a:p>
                      <a:pPr indent="0" lvl="0" marL="63500" marR="0" rtl="0" algn="l">
                        <a:lnSpc>
                          <a:spcPct val="141666"/>
                        </a:lnSpc>
                        <a:spcBef>
                          <a:spcPts val="0"/>
                        </a:spcBef>
                        <a:spcAft>
                          <a:spcPts val="0"/>
                        </a:spcAft>
                        <a:buClr>
                          <a:srgbClr val="3F3F3F"/>
                        </a:buClr>
                        <a:buSzPts val="900"/>
                        <a:buFont typeface="Arial"/>
                        <a:buNone/>
                      </a:pPr>
                      <a:r>
                        <a:rPr b="1" lang="en" sz="1000" u="none" cap="none" strike="noStrike">
                          <a:latin typeface="Montserrat"/>
                          <a:ea typeface="Montserrat"/>
                          <a:cs typeface="Montserrat"/>
                          <a:sym typeface="Montserrat"/>
                        </a:rPr>
                        <a:t>Development Time</a:t>
                      </a:r>
                      <a:endParaRPr sz="1000" u="none" cap="none" strike="noStrike">
                        <a:latin typeface="Montserrat"/>
                        <a:ea typeface="Montserrat"/>
                        <a:cs typeface="Montserrat"/>
                        <a:sym typeface="Montserrat"/>
                      </a:endParaRPr>
                    </a:p>
                  </a:txBody>
                  <a:tcPr marT="46050" marB="46050" marR="46050" marL="46050"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FFFFF"/>
                    </a:solidFill>
                  </a:tcPr>
                </a:tc>
                <a:tc>
                  <a:txBody>
                    <a:bodyPr/>
                    <a:lstStyle/>
                    <a:p>
                      <a:pPr indent="0" lvl="0" marL="0" marR="0" rtl="0" algn="ctr">
                        <a:lnSpc>
                          <a:spcPct val="141666"/>
                        </a:lnSpc>
                        <a:spcBef>
                          <a:spcPts val="0"/>
                        </a:spcBef>
                        <a:spcAft>
                          <a:spcPts val="0"/>
                        </a:spcAft>
                        <a:buClr>
                          <a:srgbClr val="000000"/>
                        </a:buClr>
                        <a:buSzPts val="1000"/>
                        <a:buFont typeface="Arial"/>
                        <a:buNone/>
                      </a:pPr>
                      <a:r>
                        <a:rPr lang="en" sz="1000" u="none" cap="none" strike="noStrike">
                          <a:latin typeface="Montserrat"/>
                          <a:ea typeface="Montserrat"/>
                          <a:cs typeface="Montserrat"/>
                          <a:sym typeface="Montserrat"/>
                        </a:rPr>
                        <a:t>Medium</a:t>
                      </a:r>
                      <a:endParaRPr sz="1000" u="none" cap="none" strike="noStrike">
                        <a:latin typeface="Montserrat"/>
                        <a:ea typeface="Montserrat"/>
                        <a:cs typeface="Montserrat"/>
                        <a:sym typeface="Montserrat"/>
                      </a:endParaRPr>
                    </a:p>
                  </a:txBody>
                  <a:tcPr marT="46050" marB="46050" marR="46050" marL="46050"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FFFFF"/>
                    </a:solidFill>
                  </a:tcPr>
                </a:tc>
                <a:tc>
                  <a:txBody>
                    <a:bodyPr/>
                    <a:lstStyle/>
                    <a:p>
                      <a:pPr indent="0" lvl="0" marL="0" marR="0" rtl="0" algn="ctr">
                        <a:lnSpc>
                          <a:spcPct val="141666"/>
                        </a:lnSpc>
                        <a:spcBef>
                          <a:spcPts val="0"/>
                        </a:spcBef>
                        <a:spcAft>
                          <a:spcPts val="0"/>
                        </a:spcAft>
                        <a:buClr>
                          <a:srgbClr val="000000"/>
                        </a:buClr>
                        <a:buSzPts val="1000"/>
                        <a:buFont typeface="Arial"/>
                        <a:buNone/>
                      </a:pPr>
                      <a:r>
                        <a:rPr lang="en" sz="1000" u="none" cap="none" strike="noStrike">
                          <a:latin typeface="Montserrat"/>
                          <a:ea typeface="Montserrat"/>
                          <a:cs typeface="Montserrat"/>
                          <a:sym typeface="Montserrat"/>
                        </a:rPr>
                        <a:t>Medium</a:t>
                      </a:r>
                      <a:endParaRPr sz="1000" u="none" cap="none" strike="noStrike">
                        <a:latin typeface="Montserrat"/>
                        <a:ea typeface="Montserrat"/>
                        <a:cs typeface="Montserrat"/>
                        <a:sym typeface="Montserrat"/>
                      </a:endParaRPr>
                    </a:p>
                  </a:txBody>
                  <a:tcPr marT="46050" marB="46050" marR="46050" marL="46050"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FFFFF"/>
                    </a:solidFill>
                  </a:tcPr>
                </a:tc>
              </a:tr>
              <a:tr h="315350">
                <a:tc>
                  <a:txBody>
                    <a:bodyPr/>
                    <a:lstStyle/>
                    <a:p>
                      <a:pPr indent="0" lvl="0" marL="63500" marR="0" rtl="0" algn="l">
                        <a:lnSpc>
                          <a:spcPct val="141666"/>
                        </a:lnSpc>
                        <a:spcBef>
                          <a:spcPts val="0"/>
                        </a:spcBef>
                        <a:spcAft>
                          <a:spcPts val="0"/>
                        </a:spcAft>
                        <a:buClr>
                          <a:srgbClr val="3F3F3F"/>
                        </a:buClr>
                        <a:buSzPts val="900"/>
                        <a:buFont typeface="Arial"/>
                        <a:buNone/>
                      </a:pPr>
                      <a:r>
                        <a:rPr b="1" lang="en" sz="1000" u="none" cap="none" strike="noStrike">
                          <a:latin typeface="Montserrat"/>
                          <a:ea typeface="Montserrat"/>
                          <a:cs typeface="Montserrat"/>
                          <a:sym typeface="Montserrat"/>
                        </a:rPr>
                        <a:t>Debugging</a:t>
                      </a:r>
                      <a:endParaRPr sz="1000" u="none" cap="none" strike="noStrike">
                        <a:latin typeface="Montserrat"/>
                        <a:ea typeface="Montserrat"/>
                        <a:cs typeface="Montserrat"/>
                        <a:sym typeface="Montserrat"/>
                      </a:endParaRPr>
                    </a:p>
                  </a:txBody>
                  <a:tcPr marT="46050" marB="46050" marR="46050" marL="46050"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FFFFF"/>
                    </a:solidFill>
                  </a:tcPr>
                </a:tc>
                <a:tc>
                  <a:txBody>
                    <a:bodyPr/>
                    <a:lstStyle/>
                    <a:p>
                      <a:pPr indent="0" lvl="0" marL="0" marR="0" rtl="0" algn="ctr">
                        <a:lnSpc>
                          <a:spcPct val="141666"/>
                        </a:lnSpc>
                        <a:spcBef>
                          <a:spcPts val="0"/>
                        </a:spcBef>
                        <a:spcAft>
                          <a:spcPts val="0"/>
                        </a:spcAft>
                        <a:buClr>
                          <a:srgbClr val="000000"/>
                        </a:buClr>
                        <a:buSzPts val="1000"/>
                        <a:buFont typeface="Arial"/>
                        <a:buNone/>
                      </a:pPr>
                      <a:r>
                        <a:rPr lang="en" sz="1000" u="none" cap="none" strike="noStrike">
                          <a:latin typeface="Montserrat"/>
                          <a:ea typeface="Montserrat"/>
                          <a:cs typeface="Montserrat"/>
                          <a:sym typeface="Montserrat"/>
                        </a:rPr>
                        <a:t>Easy</a:t>
                      </a:r>
                      <a:endParaRPr sz="1000" u="none" cap="none" strike="noStrike">
                        <a:latin typeface="Montserrat"/>
                        <a:ea typeface="Montserrat"/>
                        <a:cs typeface="Montserrat"/>
                        <a:sym typeface="Montserrat"/>
                      </a:endParaRPr>
                    </a:p>
                  </a:txBody>
                  <a:tcPr marT="46050" marB="46050" marR="46050" marL="46050"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FFFFF"/>
                    </a:solidFill>
                  </a:tcPr>
                </a:tc>
                <a:tc>
                  <a:txBody>
                    <a:bodyPr/>
                    <a:lstStyle/>
                    <a:p>
                      <a:pPr indent="0" lvl="0" marL="0" marR="0" rtl="0" algn="ctr">
                        <a:lnSpc>
                          <a:spcPct val="141666"/>
                        </a:lnSpc>
                        <a:spcBef>
                          <a:spcPts val="0"/>
                        </a:spcBef>
                        <a:spcAft>
                          <a:spcPts val="0"/>
                        </a:spcAft>
                        <a:buClr>
                          <a:srgbClr val="000000"/>
                        </a:buClr>
                        <a:buSzPts val="1000"/>
                        <a:buFont typeface="Arial"/>
                        <a:buNone/>
                      </a:pPr>
                      <a:r>
                        <a:rPr lang="en" sz="1000" u="none" cap="none" strike="noStrike">
                          <a:latin typeface="Montserrat"/>
                          <a:ea typeface="Montserrat"/>
                          <a:cs typeface="Montserrat"/>
                          <a:sym typeface="Montserrat"/>
                        </a:rPr>
                        <a:t>Easy</a:t>
                      </a:r>
                      <a:endParaRPr sz="1000" u="none" cap="none" strike="noStrike">
                        <a:latin typeface="Montserrat"/>
                        <a:ea typeface="Montserrat"/>
                        <a:cs typeface="Montserrat"/>
                        <a:sym typeface="Montserrat"/>
                      </a:endParaRPr>
                    </a:p>
                  </a:txBody>
                  <a:tcPr marT="46050" marB="46050" marR="46050" marL="46050"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FFFFF"/>
                    </a:solidFill>
                  </a:tcPr>
                </a:tc>
              </a:tr>
              <a:tr h="315350">
                <a:tc>
                  <a:txBody>
                    <a:bodyPr/>
                    <a:lstStyle/>
                    <a:p>
                      <a:pPr indent="0" lvl="0" marL="63500" marR="0" rtl="0" algn="l">
                        <a:lnSpc>
                          <a:spcPct val="141666"/>
                        </a:lnSpc>
                        <a:spcBef>
                          <a:spcPts val="0"/>
                        </a:spcBef>
                        <a:spcAft>
                          <a:spcPts val="0"/>
                        </a:spcAft>
                        <a:buClr>
                          <a:srgbClr val="3F3F3F"/>
                        </a:buClr>
                        <a:buSzPts val="900"/>
                        <a:buFont typeface="Arial"/>
                        <a:buNone/>
                      </a:pPr>
                      <a:r>
                        <a:rPr b="1" lang="en" sz="1000" u="none" cap="none" strike="noStrike">
                          <a:latin typeface="Montserrat"/>
                          <a:ea typeface="Montserrat"/>
                          <a:cs typeface="Montserrat"/>
                          <a:sym typeface="Montserrat"/>
                        </a:rPr>
                        <a:t>Community Support</a:t>
                      </a:r>
                      <a:endParaRPr sz="1000" u="none" cap="none" strike="noStrike">
                        <a:latin typeface="Montserrat"/>
                        <a:ea typeface="Montserrat"/>
                        <a:cs typeface="Montserrat"/>
                        <a:sym typeface="Montserrat"/>
                      </a:endParaRPr>
                    </a:p>
                  </a:txBody>
                  <a:tcPr marT="46050" marB="46050" marR="46050" marL="46050"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FFFFF"/>
                    </a:solidFill>
                  </a:tcPr>
                </a:tc>
                <a:tc>
                  <a:txBody>
                    <a:bodyPr/>
                    <a:lstStyle/>
                    <a:p>
                      <a:pPr indent="0" lvl="0" marL="0" marR="0" rtl="0" algn="ctr">
                        <a:lnSpc>
                          <a:spcPct val="141666"/>
                        </a:lnSpc>
                        <a:spcBef>
                          <a:spcPts val="0"/>
                        </a:spcBef>
                        <a:spcAft>
                          <a:spcPts val="0"/>
                        </a:spcAft>
                        <a:buClr>
                          <a:srgbClr val="000000"/>
                        </a:buClr>
                        <a:buSzPts val="1000"/>
                        <a:buFont typeface="Arial"/>
                        <a:buNone/>
                      </a:pPr>
                      <a:r>
                        <a:rPr lang="en" sz="1000" u="none" cap="none" strike="noStrike">
                          <a:latin typeface="Montserrat"/>
                          <a:ea typeface="Montserrat"/>
                          <a:cs typeface="Montserrat"/>
                          <a:sym typeface="Montserrat"/>
                        </a:rPr>
                        <a:t>High</a:t>
                      </a:r>
                      <a:endParaRPr sz="1000" u="none" cap="none" strike="noStrike">
                        <a:latin typeface="Montserrat"/>
                        <a:ea typeface="Montserrat"/>
                        <a:cs typeface="Montserrat"/>
                        <a:sym typeface="Montserrat"/>
                      </a:endParaRPr>
                    </a:p>
                  </a:txBody>
                  <a:tcPr marT="46050" marB="46050" marR="46050" marL="46050"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FFFFF"/>
                    </a:solidFill>
                  </a:tcPr>
                </a:tc>
                <a:tc>
                  <a:txBody>
                    <a:bodyPr/>
                    <a:lstStyle/>
                    <a:p>
                      <a:pPr indent="0" lvl="0" marL="0" marR="0" rtl="0" algn="ctr">
                        <a:lnSpc>
                          <a:spcPct val="141666"/>
                        </a:lnSpc>
                        <a:spcBef>
                          <a:spcPts val="0"/>
                        </a:spcBef>
                        <a:spcAft>
                          <a:spcPts val="0"/>
                        </a:spcAft>
                        <a:buClr>
                          <a:srgbClr val="000000"/>
                        </a:buClr>
                        <a:buSzPts val="1000"/>
                        <a:buFont typeface="Arial"/>
                        <a:buNone/>
                      </a:pPr>
                      <a:r>
                        <a:rPr lang="en" sz="1000" u="none" cap="none" strike="noStrike">
                          <a:latin typeface="Montserrat"/>
                          <a:ea typeface="Montserrat"/>
                          <a:cs typeface="Montserrat"/>
                          <a:sym typeface="Montserrat"/>
                        </a:rPr>
                        <a:t>High</a:t>
                      </a:r>
                      <a:endParaRPr sz="1000" u="none" cap="none" strike="noStrike">
                        <a:latin typeface="Montserrat"/>
                        <a:ea typeface="Montserrat"/>
                        <a:cs typeface="Montserrat"/>
                        <a:sym typeface="Montserrat"/>
                      </a:endParaRPr>
                    </a:p>
                  </a:txBody>
                  <a:tcPr marT="46050" marB="46050" marR="46050" marL="46050"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FFFFF"/>
                    </a:solidFill>
                  </a:tcPr>
                </a:tc>
              </a:tr>
              <a:tr h="307700">
                <a:tc>
                  <a:txBody>
                    <a:bodyPr/>
                    <a:lstStyle/>
                    <a:p>
                      <a:pPr indent="0" lvl="0" marL="63500" marR="0" rtl="0" algn="l">
                        <a:lnSpc>
                          <a:spcPct val="141666"/>
                        </a:lnSpc>
                        <a:spcBef>
                          <a:spcPts val="0"/>
                        </a:spcBef>
                        <a:spcAft>
                          <a:spcPts val="0"/>
                        </a:spcAft>
                        <a:buClr>
                          <a:srgbClr val="3F3F3F"/>
                        </a:buClr>
                        <a:buSzPts val="900"/>
                        <a:buFont typeface="Arial"/>
                        <a:buNone/>
                      </a:pPr>
                      <a:r>
                        <a:rPr b="1" lang="en" sz="1000" u="none" cap="none" strike="noStrike">
                          <a:latin typeface="Montserrat"/>
                          <a:ea typeface="Montserrat"/>
                          <a:cs typeface="Montserrat"/>
                          <a:sym typeface="Montserrat"/>
                        </a:rPr>
                        <a:t>Backed By</a:t>
                      </a:r>
                      <a:endParaRPr sz="1000" u="none" cap="none" strike="noStrike">
                        <a:latin typeface="Montserrat"/>
                        <a:ea typeface="Montserrat"/>
                        <a:cs typeface="Montserrat"/>
                        <a:sym typeface="Montserrat"/>
                      </a:endParaRPr>
                    </a:p>
                  </a:txBody>
                  <a:tcPr marT="46050" marB="46050" marR="46050" marL="46050"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FFFFF"/>
                    </a:solidFill>
                  </a:tcPr>
                </a:tc>
                <a:tc>
                  <a:txBody>
                    <a:bodyPr/>
                    <a:lstStyle/>
                    <a:p>
                      <a:pPr indent="0" lvl="0" marL="0" marR="0" rtl="0" algn="ctr">
                        <a:lnSpc>
                          <a:spcPct val="141666"/>
                        </a:lnSpc>
                        <a:spcBef>
                          <a:spcPts val="0"/>
                        </a:spcBef>
                        <a:spcAft>
                          <a:spcPts val="0"/>
                        </a:spcAft>
                        <a:buClr>
                          <a:srgbClr val="000000"/>
                        </a:buClr>
                        <a:buSzPts val="1000"/>
                        <a:buFont typeface="Arial"/>
                        <a:buNone/>
                      </a:pPr>
                      <a:r>
                        <a:rPr lang="en" sz="1000" u="none" cap="none" strike="noStrike">
                          <a:latin typeface="Montserrat"/>
                          <a:ea typeface="Montserrat"/>
                          <a:cs typeface="Montserrat"/>
                          <a:sym typeface="Montserrat"/>
                        </a:rPr>
                        <a:t>Facebook/ Open Source</a:t>
                      </a:r>
                      <a:endParaRPr sz="1000" u="none" cap="none" strike="noStrike">
                        <a:latin typeface="Montserrat"/>
                        <a:ea typeface="Montserrat"/>
                        <a:cs typeface="Montserrat"/>
                        <a:sym typeface="Montserrat"/>
                      </a:endParaRPr>
                    </a:p>
                  </a:txBody>
                  <a:tcPr marT="46050" marB="46050" marR="46050" marL="46050"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FFFFF"/>
                    </a:solidFill>
                  </a:tcPr>
                </a:tc>
                <a:tc>
                  <a:txBody>
                    <a:bodyPr/>
                    <a:lstStyle/>
                    <a:p>
                      <a:pPr indent="0" lvl="0" marL="0" marR="0" rtl="0" algn="ctr">
                        <a:lnSpc>
                          <a:spcPct val="141666"/>
                        </a:lnSpc>
                        <a:spcBef>
                          <a:spcPts val="0"/>
                        </a:spcBef>
                        <a:spcAft>
                          <a:spcPts val="0"/>
                        </a:spcAft>
                        <a:buClr>
                          <a:srgbClr val="000000"/>
                        </a:buClr>
                        <a:buSzPts val="1000"/>
                        <a:buFont typeface="Arial"/>
                        <a:buNone/>
                      </a:pPr>
                      <a:r>
                        <a:rPr lang="en" sz="1000" u="none" cap="none" strike="noStrike">
                          <a:latin typeface="Montserrat"/>
                          <a:ea typeface="Montserrat"/>
                          <a:cs typeface="Montserrat"/>
                          <a:sym typeface="Montserrat"/>
                        </a:rPr>
                        <a:t>Google/ Open Source</a:t>
                      </a:r>
                      <a:endParaRPr sz="1000" u="none" cap="none" strike="noStrike">
                        <a:latin typeface="Montserrat"/>
                        <a:ea typeface="Montserrat"/>
                        <a:cs typeface="Montserrat"/>
                        <a:sym typeface="Montserrat"/>
                      </a:endParaRPr>
                    </a:p>
                  </a:txBody>
                  <a:tcPr marT="46050" marB="46050" marR="46050" marL="46050"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FFFFF"/>
                    </a:solidFill>
                  </a:tcPr>
                </a:tc>
              </a:tr>
              <a:tr h="307700">
                <a:tc>
                  <a:txBody>
                    <a:bodyPr/>
                    <a:lstStyle/>
                    <a:p>
                      <a:pPr indent="0" lvl="0" marL="63500" marR="0" rtl="0" algn="l">
                        <a:lnSpc>
                          <a:spcPct val="141666"/>
                        </a:lnSpc>
                        <a:spcBef>
                          <a:spcPts val="0"/>
                        </a:spcBef>
                        <a:spcAft>
                          <a:spcPts val="0"/>
                        </a:spcAft>
                        <a:buClr>
                          <a:srgbClr val="000000"/>
                        </a:buClr>
                        <a:buSzPts val="1000"/>
                        <a:buFont typeface="Arial"/>
                        <a:buNone/>
                      </a:pPr>
                      <a:r>
                        <a:rPr b="1" lang="en" sz="1000" u="none" cap="none" strike="noStrike">
                          <a:latin typeface="Montserrat"/>
                          <a:ea typeface="Montserrat"/>
                          <a:cs typeface="Montserrat"/>
                          <a:sym typeface="Montserrat"/>
                        </a:rPr>
                        <a:t>Build Size</a:t>
                      </a:r>
                      <a:endParaRPr b="1" sz="1000" u="none" cap="none" strike="noStrike">
                        <a:latin typeface="Montserrat"/>
                        <a:ea typeface="Montserrat"/>
                        <a:cs typeface="Montserrat"/>
                        <a:sym typeface="Montserrat"/>
                      </a:endParaRPr>
                    </a:p>
                  </a:txBody>
                  <a:tcPr marT="46050" marB="46050" marR="46050" marL="46050"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ctr">
                        <a:lnSpc>
                          <a:spcPct val="141666"/>
                        </a:lnSpc>
                        <a:spcBef>
                          <a:spcPts val="0"/>
                        </a:spcBef>
                        <a:spcAft>
                          <a:spcPts val="0"/>
                        </a:spcAft>
                        <a:buClr>
                          <a:srgbClr val="000000"/>
                        </a:buClr>
                        <a:buSzPts val="1000"/>
                        <a:buFont typeface="Arial"/>
                        <a:buNone/>
                      </a:pPr>
                      <a:r>
                        <a:rPr lang="en" sz="1000" u="none" cap="none" strike="noStrike">
                          <a:latin typeface="Montserrat"/>
                          <a:ea typeface="Montserrat"/>
                          <a:cs typeface="Montserrat"/>
                          <a:sym typeface="Montserrat"/>
                        </a:rPr>
                        <a:t>Medium</a:t>
                      </a:r>
                      <a:endParaRPr sz="1000" u="none" cap="none" strike="noStrike">
                        <a:latin typeface="Montserrat"/>
                        <a:ea typeface="Montserrat"/>
                        <a:cs typeface="Montserrat"/>
                        <a:sym typeface="Montserrat"/>
                      </a:endParaRPr>
                    </a:p>
                  </a:txBody>
                  <a:tcPr marT="46050" marB="46050" marR="46050" marL="46050"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ctr">
                        <a:lnSpc>
                          <a:spcPct val="141666"/>
                        </a:lnSpc>
                        <a:spcBef>
                          <a:spcPts val="0"/>
                        </a:spcBef>
                        <a:spcAft>
                          <a:spcPts val="0"/>
                        </a:spcAft>
                        <a:buClr>
                          <a:srgbClr val="000000"/>
                        </a:buClr>
                        <a:buSzPts val="1000"/>
                        <a:buFont typeface="Arial"/>
                        <a:buNone/>
                      </a:pPr>
                      <a:r>
                        <a:rPr lang="en" sz="1000" u="none" cap="none" strike="noStrike">
                          <a:latin typeface="Montserrat"/>
                          <a:ea typeface="Montserrat"/>
                          <a:cs typeface="Montserrat"/>
                          <a:sym typeface="Montserrat"/>
                        </a:rPr>
                        <a:t>Highest</a:t>
                      </a:r>
                      <a:endParaRPr sz="1000" u="none" cap="none" strike="noStrike">
                        <a:latin typeface="Montserrat"/>
                        <a:ea typeface="Montserrat"/>
                        <a:cs typeface="Montserrat"/>
                        <a:sym typeface="Montserrat"/>
                      </a:endParaRPr>
                    </a:p>
                  </a:txBody>
                  <a:tcPr marT="46050" marB="46050" marR="46050" marL="46050"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307700">
                <a:tc>
                  <a:txBody>
                    <a:bodyPr/>
                    <a:lstStyle/>
                    <a:p>
                      <a:pPr indent="0" lvl="0" marL="63500" marR="0" rtl="0" algn="l">
                        <a:lnSpc>
                          <a:spcPct val="141666"/>
                        </a:lnSpc>
                        <a:spcBef>
                          <a:spcPts val="0"/>
                        </a:spcBef>
                        <a:spcAft>
                          <a:spcPts val="0"/>
                        </a:spcAft>
                        <a:buClr>
                          <a:srgbClr val="3F3F3F"/>
                        </a:buClr>
                        <a:buSzPts val="900"/>
                        <a:buFont typeface="Arial"/>
                        <a:buNone/>
                      </a:pPr>
                      <a:r>
                        <a:rPr b="1" lang="en" sz="1000" u="none" cap="none" strike="noStrike">
                          <a:latin typeface="Montserrat"/>
                          <a:ea typeface="Montserrat"/>
                          <a:cs typeface="Montserrat"/>
                          <a:sym typeface="Montserrat"/>
                        </a:rPr>
                        <a:t>Code Reuse between Platforms</a:t>
                      </a:r>
                      <a:endParaRPr b="1" sz="1000" u="none" cap="none" strike="noStrike">
                        <a:latin typeface="Montserrat"/>
                        <a:ea typeface="Montserrat"/>
                        <a:cs typeface="Montserrat"/>
                        <a:sym typeface="Montserrat"/>
                      </a:endParaRPr>
                    </a:p>
                  </a:txBody>
                  <a:tcPr marT="46050" marB="46050" marR="46050" marL="4605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ctr">
                        <a:lnSpc>
                          <a:spcPct val="141666"/>
                        </a:lnSpc>
                        <a:spcBef>
                          <a:spcPts val="0"/>
                        </a:spcBef>
                        <a:spcAft>
                          <a:spcPts val="0"/>
                        </a:spcAft>
                        <a:buClr>
                          <a:srgbClr val="000000"/>
                        </a:buClr>
                        <a:buSzPts val="1000"/>
                        <a:buFont typeface="Arial"/>
                        <a:buNone/>
                      </a:pPr>
                      <a:r>
                        <a:rPr lang="en" sz="1000" u="none" cap="none" strike="noStrike">
                          <a:latin typeface="Montserrat"/>
                          <a:ea typeface="Montserrat"/>
                          <a:cs typeface="Montserrat"/>
                          <a:sym typeface="Montserrat"/>
                        </a:rPr>
                        <a:t>70-80%</a:t>
                      </a:r>
                      <a:endParaRPr sz="1000" u="none" cap="none" strike="noStrike">
                        <a:latin typeface="Montserrat"/>
                        <a:ea typeface="Montserrat"/>
                        <a:cs typeface="Montserrat"/>
                        <a:sym typeface="Montserrat"/>
                      </a:endParaRPr>
                    </a:p>
                  </a:txBody>
                  <a:tcPr marT="46050" marB="46050" marR="46050" marL="4605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ctr">
                        <a:lnSpc>
                          <a:spcPct val="141666"/>
                        </a:lnSpc>
                        <a:spcBef>
                          <a:spcPts val="0"/>
                        </a:spcBef>
                        <a:spcAft>
                          <a:spcPts val="0"/>
                        </a:spcAft>
                        <a:buClr>
                          <a:srgbClr val="000000"/>
                        </a:buClr>
                        <a:buSzPts val="1000"/>
                        <a:buFont typeface="Arial"/>
                        <a:buNone/>
                      </a:pPr>
                      <a:r>
                        <a:rPr lang="en" sz="1000" u="none" cap="none" strike="noStrike">
                          <a:latin typeface="Montserrat"/>
                          <a:ea typeface="Montserrat"/>
                          <a:cs typeface="Montserrat"/>
                          <a:sym typeface="Montserrat"/>
                        </a:rPr>
                        <a:t>70-80%</a:t>
                      </a:r>
                      <a:endParaRPr sz="1000" u="none" cap="none" strike="noStrike">
                        <a:latin typeface="Montserrat"/>
                        <a:ea typeface="Montserrat"/>
                        <a:cs typeface="Montserrat"/>
                        <a:sym typeface="Montserrat"/>
                      </a:endParaRPr>
                    </a:p>
                  </a:txBody>
                  <a:tcPr marT="46050" marB="46050" marR="46050" marL="4605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307700">
                <a:tc>
                  <a:txBody>
                    <a:bodyPr/>
                    <a:lstStyle/>
                    <a:p>
                      <a:pPr indent="0" lvl="0" marL="63500" marR="0" rtl="0" algn="l">
                        <a:lnSpc>
                          <a:spcPct val="141666"/>
                        </a:lnSpc>
                        <a:spcBef>
                          <a:spcPts val="0"/>
                        </a:spcBef>
                        <a:spcAft>
                          <a:spcPts val="0"/>
                        </a:spcAft>
                        <a:buClr>
                          <a:srgbClr val="3F3F3F"/>
                        </a:buClr>
                        <a:buSzPts val="900"/>
                        <a:buFont typeface="Arial"/>
                        <a:buNone/>
                      </a:pPr>
                      <a:r>
                        <a:rPr b="1" lang="en" sz="1000" u="none" cap="none" strike="noStrike">
                          <a:latin typeface="Montserrat"/>
                          <a:ea typeface="Montserrat"/>
                          <a:cs typeface="Montserrat"/>
                          <a:sym typeface="Montserrat"/>
                        </a:rPr>
                        <a:t>Support for OS Upgrades</a:t>
                      </a:r>
                      <a:endParaRPr b="1" sz="1000" u="none" cap="none" strike="noStrike">
                        <a:latin typeface="Montserrat"/>
                        <a:ea typeface="Montserrat"/>
                        <a:cs typeface="Montserrat"/>
                        <a:sym typeface="Montserrat"/>
                      </a:endParaRPr>
                    </a:p>
                  </a:txBody>
                  <a:tcPr marT="46050" marB="46050" marR="46050" marL="4605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ctr">
                        <a:lnSpc>
                          <a:spcPct val="141666"/>
                        </a:lnSpc>
                        <a:spcBef>
                          <a:spcPts val="0"/>
                        </a:spcBef>
                        <a:spcAft>
                          <a:spcPts val="0"/>
                        </a:spcAft>
                        <a:buClr>
                          <a:srgbClr val="000000"/>
                        </a:buClr>
                        <a:buSzPts val="1000"/>
                        <a:buFont typeface="Arial"/>
                        <a:buNone/>
                      </a:pPr>
                      <a:r>
                        <a:rPr lang="en" sz="1000" u="none" cap="none" strike="noStrike">
                          <a:latin typeface="Montserrat"/>
                          <a:ea typeface="Montserrat"/>
                          <a:cs typeface="Montserrat"/>
                          <a:sym typeface="Montserrat"/>
                        </a:rPr>
                        <a:t>Medium</a:t>
                      </a:r>
                      <a:endParaRPr sz="1000" u="none" cap="none" strike="noStrike">
                        <a:latin typeface="Montserrat"/>
                        <a:ea typeface="Montserrat"/>
                        <a:cs typeface="Montserrat"/>
                        <a:sym typeface="Montserrat"/>
                      </a:endParaRPr>
                    </a:p>
                  </a:txBody>
                  <a:tcPr marT="46050" marB="46050" marR="46050" marL="4605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ctr">
                        <a:lnSpc>
                          <a:spcPct val="141666"/>
                        </a:lnSpc>
                        <a:spcBef>
                          <a:spcPts val="0"/>
                        </a:spcBef>
                        <a:spcAft>
                          <a:spcPts val="0"/>
                        </a:spcAft>
                        <a:buClr>
                          <a:srgbClr val="000000"/>
                        </a:buClr>
                        <a:buSzPts val="1000"/>
                        <a:buFont typeface="Arial"/>
                        <a:buNone/>
                      </a:pPr>
                      <a:r>
                        <a:rPr lang="en" sz="1000" u="none" cap="none" strike="noStrike">
                          <a:latin typeface="Montserrat"/>
                          <a:ea typeface="Montserrat"/>
                          <a:cs typeface="Montserrat"/>
                          <a:sym typeface="Montserrat"/>
                        </a:rPr>
                        <a:t>High</a:t>
                      </a:r>
                      <a:endParaRPr sz="1000" u="none" cap="none" strike="noStrike">
                        <a:latin typeface="Montserrat"/>
                        <a:ea typeface="Montserrat"/>
                        <a:cs typeface="Montserrat"/>
                        <a:sym typeface="Montserrat"/>
                      </a:endParaRPr>
                    </a:p>
                  </a:txBody>
                  <a:tcPr marT="46050" marB="46050" marR="46050" marL="4605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307700">
                <a:tc>
                  <a:txBody>
                    <a:bodyPr/>
                    <a:lstStyle/>
                    <a:p>
                      <a:pPr indent="0" lvl="0" marL="63500" marR="0" rtl="0" algn="l">
                        <a:lnSpc>
                          <a:spcPct val="141666"/>
                        </a:lnSpc>
                        <a:spcBef>
                          <a:spcPts val="0"/>
                        </a:spcBef>
                        <a:spcAft>
                          <a:spcPts val="0"/>
                        </a:spcAft>
                        <a:buClr>
                          <a:srgbClr val="3F3F3F"/>
                        </a:buClr>
                        <a:buSzPts val="900"/>
                        <a:buFont typeface="Arial"/>
                        <a:buNone/>
                      </a:pPr>
                      <a:r>
                        <a:rPr b="1" lang="en" sz="1000" u="none" cap="none" strike="noStrike">
                          <a:latin typeface="Montserrat"/>
                          <a:ea typeface="Montserrat"/>
                          <a:cs typeface="Montserrat"/>
                          <a:sym typeface="Montserrat"/>
                        </a:rPr>
                        <a:t>Ability &amp; Support for 3</a:t>
                      </a:r>
                      <a:r>
                        <a:rPr b="1" baseline="30000" lang="en" sz="1000" u="none" cap="none" strike="noStrike">
                          <a:latin typeface="Montserrat"/>
                          <a:ea typeface="Montserrat"/>
                          <a:cs typeface="Montserrat"/>
                          <a:sym typeface="Montserrat"/>
                        </a:rPr>
                        <a:t>rd</a:t>
                      </a:r>
                      <a:r>
                        <a:rPr b="1" lang="en" sz="1000" u="none" cap="none" strike="noStrike">
                          <a:latin typeface="Montserrat"/>
                          <a:ea typeface="Montserrat"/>
                          <a:cs typeface="Montserrat"/>
                          <a:sym typeface="Montserrat"/>
                        </a:rPr>
                        <a:t> party hardware / SDK</a:t>
                      </a:r>
                      <a:endParaRPr b="1" sz="1000" u="none" cap="none" strike="noStrike">
                        <a:latin typeface="Montserrat"/>
                        <a:ea typeface="Montserrat"/>
                        <a:cs typeface="Montserrat"/>
                        <a:sym typeface="Montserrat"/>
                      </a:endParaRPr>
                    </a:p>
                  </a:txBody>
                  <a:tcPr marT="46050" marB="46050" marR="46050" marL="4605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ctr">
                        <a:lnSpc>
                          <a:spcPct val="141666"/>
                        </a:lnSpc>
                        <a:spcBef>
                          <a:spcPts val="0"/>
                        </a:spcBef>
                        <a:spcAft>
                          <a:spcPts val="0"/>
                        </a:spcAft>
                        <a:buClr>
                          <a:srgbClr val="000000"/>
                        </a:buClr>
                        <a:buSzPts val="1000"/>
                        <a:buFont typeface="Arial"/>
                        <a:buNone/>
                      </a:pPr>
                      <a:r>
                        <a:rPr lang="en" sz="1000" u="none" cap="none" strike="noStrike">
                          <a:latin typeface="Montserrat"/>
                          <a:ea typeface="Montserrat"/>
                          <a:cs typeface="Montserrat"/>
                          <a:sym typeface="Montserrat"/>
                        </a:rPr>
                        <a:t>Medium</a:t>
                      </a:r>
                      <a:endParaRPr sz="1000" u="none" cap="none" strike="noStrike">
                        <a:latin typeface="Montserrat"/>
                        <a:ea typeface="Montserrat"/>
                        <a:cs typeface="Montserrat"/>
                        <a:sym typeface="Montserrat"/>
                      </a:endParaRPr>
                    </a:p>
                  </a:txBody>
                  <a:tcPr marT="46050" marB="46050" marR="46050" marL="4605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ctr">
                        <a:lnSpc>
                          <a:spcPct val="141666"/>
                        </a:lnSpc>
                        <a:spcBef>
                          <a:spcPts val="0"/>
                        </a:spcBef>
                        <a:spcAft>
                          <a:spcPts val="0"/>
                        </a:spcAft>
                        <a:buClr>
                          <a:srgbClr val="000000"/>
                        </a:buClr>
                        <a:buSzPts val="1000"/>
                        <a:buFont typeface="Arial"/>
                        <a:buNone/>
                      </a:pPr>
                      <a:r>
                        <a:rPr lang="en" sz="1000" u="none" cap="none" strike="noStrike">
                          <a:latin typeface="Montserrat"/>
                          <a:ea typeface="Montserrat"/>
                          <a:cs typeface="Montserrat"/>
                          <a:sym typeface="Montserrat"/>
                        </a:rPr>
                        <a:t>Medium</a:t>
                      </a:r>
                      <a:endParaRPr sz="1000" u="none" cap="none" strike="noStrike">
                        <a:latin typeface="Montserrat"/>
                        <a:ea typeface="Montserrat"/>
                        <a:cs typeface="Montserrat"/>
                        <a:sym typeface="Montserrat"/>
                      </a:endParaRPr>
                    </a:p>
                  </a:txBody>
                  <a:tcPr marT="46050" marB="46050" marR="46050" marL="4605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bl>
          </a:graphicData>
        </a:graphic>
      </p:graphicFrame>
      <p:sp>
        <p:nvSpPr>
          <p:cNvPr id="352" name="Google Shape;352;p15"/>
          <p:cNvSpPr txBox="1"/>
          <p:nvPr/>
        </p:nvSpPr>
        <p:spPr>
          <a:xfrm>
            <a:off x="0" y="4485550"/>
            <a:ext cx="9144000" cy="495000"/>
          </a:xfrm>
          <a:prstGeom prst="rect">
            <a:avLst/>
          </a:prstGeom>
          <a:solidFill>
            <a:srgbClr val="FFFFFF"/>
          </a:solidFill>
          <a:ln>
            <a:noFill/>
          </a:ln>
        </p:spPr>
        <p:txBody>
          <a:bodyPr anchorCtr="0" anchor="t" bIns="91425" lIns="91425" spcFirstLastPara="1" rIns="91425" wrap="square" tIns="91425">
            <a:noAutofit/>
          </a:bodyPr>
          <a:lstStyle/>
          <a:p>
            <a:r>
              <a:t>Our technical approach leverages a microservices architecture to support scalable faceted search and instant filtering for up to 50,000+ SKUs. The solution decouples the frontend (Next.js/React) from backend services via REST/GraphQL APIs, ensuring scalability and maintainability. We integrate headless CMS platforms like Sanity or Strapi to empower marketing teams to update Business Awareness pages dynamically, while also supporting secure, password-protected portals with custom price tiers and bulk ordering workflows.</a:t>
            </a: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6" name="Shape 356"/>
        <p:cNvGrpSpPr/>
        <p:nvPr/>
      </p:nvGrpSpPr>
      <p:grpSpPr>
        <a:xfrm>
          <a:off x="0" y="0"/>
          <a:ext cx="0" cy="0"/>
          <a:chOff x="0" y="0"/>
          <a:chExt cx="0" cy="0"/>
        </a:xfrm>
      </p:grpSpPr>
      <p:sp>
        <p:nvSpPr>
          <p:cNvPr id="357" name="Google Shape;357;p16"/>
          <p:cNvSpPr/>
          <p:nvPr/>
        </p:nvSpPr>
        <p:spPr>
          <a:xfrm>
            <a:off x="0" y="144000"/>
            <a:ext cx="47400" cy="3573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8" name="Google Shape;358;p16"/>
          <p:cNvSpPr txBox="1"/>
          <p:nvPr>
            <p:ph type="title"/>
          </p:nvPr>
        </p:nvSpPr>
        <p:spPr>
          <a:xfrm>
            <a:off x="104500" y="141850"/>
            <a:ext cx="6703800" cy="3573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000"/>
              <a:buNone/>
            </a:pPr>
            <a:r>
              <a:rPr lang="en"/>
              <a:t>Agenda</a:t>
            </a:r>
            <a:endParaRPr/>
          </a:p>
        </p:txBody>
      </p:sp>
      <p:sp>
        <p:nvSpPr>
          <p:cNvPr id="359" name="Google Shape;359;p16"/>
          <p:cNvSpPr/>
          <p:nvPr/>
        </p:nvSpPr>
        <p:spPr>
          <a:xfrm>
            <a:off x="1358763" y="1111025"/>
            <a:ext cx="6654600" cy="376800"/>
          </a:xfrm>
          <a:prstGeom prst="snip1Rect">
            <a:avLst>
              <a:gd fmla="val 35537"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200"/>
              <a:buFont typeface="Arial"/>
              <a:buNone/>
            </a:pPr>
            <a:r>
              <a:rPr b="0" i="0" lang="en" sz="1200" u="none" cap="none" strike="noStrike">
                <a:solidFill>
                  <a:srgbClr val="000000"/>
                </a:solidFill>
                <a:latin typeface="Montserrat"/>
                <a:ea typeface="Montserrat"/>
                <a:cs typeface="Montserrat"/>
                <a:sym typeface="Montserrat"/>
              </a:rPr>
              <a:t>Executive Summary and Our Understanding of Project Requirements</a:t>
            </a:r>
            <a:endParaRPr b="0" i="0" sz="1200" u="none" cap="none" strike="noStrike">
              <a:solidFill>
                <a:srgbClr val="000000"/>
              </a:solidFill>
              <a:latin typeface="Montserrat"/>
              <a:ea typeface="Montserrat"/>
              <a:cs typeface="Montserrat"/>
              <a:sym typeface="Montserrat"/>
            </a:endParaRPr>
          </a:p>
        </p:txBody>
      </p:sp>
      <p:sp>
        <p:nvSpPr>
          <p:cNvPr id="360" name="Google Shape;360;p16"/>
          <p:cNvSpPr/>
          <p:nvPr/>
        </p:nvSpPr>
        <p:spPr>
          <a:xfrm>
            <a:off x="1358763" y="1678410"/>
            <a:ext cx="6654600" cy="376800"/>
          </a:xfrm>
          <a:prstGeom prst="snip1Rect">
            <a:avLst>
              <a:gd fmla="val 35537"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200"/>
              <a:buFont typeface="Arial"/>
              <a:buNone/>
            </a:pPr>
            <a:r>
              <a:rPr b="0" i="0" lang="en" sz="1200" u="none" cap="none" strike="noStrike">
                <a:solidFill>
                  <a:srgbClr val="000000"/>
                </a:solidFill>
                <a:latin typeface="Montserrat"/>
                <a:ea typeface="Montserrat"/>
                <a:cs typeface="Montserrat"/>
                <a:sym typeface="Montserrat"/>
              </a:rPr>
              <a:t>Proposed Technical Solution Approach</a:t>
            </a:r>
            <a:endParaRPr b="0" i="0" sz="1200" u="none" cap="none" strike="noStrike">
              <a:solidFill>
                <a:srgbClr val="000000"/>
              </a:solidFill>
              <a:latin typeface="Montserrat"/>
              <a:ea typeface="Montserrat"/>
              <a:cs typeface="Montserrat"/>
              <a:sym typeface="Montserrat"/>
            </a:endParaRPr>
          </a:p>
        </p:txBody>
      </p:sp>
      <p:sp>
        <p:nvSpPr>
          <p:cNvPr id="361" name="Google Shape;361;p16"/>
          <p:cNvSpPr/>
          <p:nvPr/>
        </p:nvSpPr>
        <p:spPr>
          <a:xfrm>
            <a:off x="1358763" y="3289875"/>
            <a:ext cx="6654600" cy="376800"/>
          </a:xfrm>
          <a:prstGeom prst="snip1Rect">
            <a:avLst>
              <a:gd fmla="val 35537"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100"/>
              <a:buFont typeface="Arial"/>
              <a:buNone/>
            </a:pPr>
            <a:r>
              <a:rPr b="0" i="0" lang="en" sz="1200" u="none" cap="none" strike="noStrike">
                <a:solidFill>
                  <a:srgbClr val="000000"/>
                </a:solidFill>
                <a:latin typeface="Montserrat"/>
                <a:ea typeface="Montserrat"/>
                <a:cs typeface="Montserrat"/>
                <a:sym typeface="Montserrat"/>
              </a:rPr>
              <a:t>Success Stories</a:t>
            </a:r>
            <a:endParaRPr b="0" i="0" sz="1200" u="none" cap="none" strike="noStrike">
              <a:solidFill>
                <a:srgbClr val="000000"/>
              </a:solidFill>
              <a:latin typeface="Montserrat"/>
              <a:ea typeface="Montserrat"/>
              <a:cs typeface="Montserrat"/>
              <a:sym typeface="Montserrat"/>
            </a:endParaRPr>
          </a:p>
        </p:txBody>
      </p:sp>
      <p:cxnSp>
        <p:nvCxnSpPr>
          <p:cNvPr id="362" name="Google Shape;362;p16"/>
          <p:cNvCxnSpPr/>
          <p:nvPr/>
        </p:nvCxnSpPr>
        <p:spPr>
          <a:xfrm>
            <a:off x="1367196" y="1108050"/>
            <a:ext cx="0" cy="382200"/>
          </a:xfrm>
          <a:prstGeom prst="straightConnector1">
            <a:avLst/>
          </a:prstGeom>
          <a:noFill/>
          <a:ln cap="flat" cmpd="sng" w="19050">
            <a:solidFill>
              <a:srgbClr val="12519C"/>
            </a:solidFill>
            <a:prstDash val="solid"/>
            <a:round/>
            <a:headEnd len="sm" w="sm" type="none"/>
            <a:tailEnd len="sm" w="sm" type="none"/>
          </a:ln>
        </p:spPr>
      </p:cxnSp>
      <p:cxnSp>
        <p:nvCxnSpPr>
          <p:cNvPr id="363" name="Google Shape;363;p16"/>
          <p:cNvCxnSpPr/>
          <p:nvPr/>
        </p:nvCxnSpPr>
        <p:spPr>
          <a:xfrm>
            <a:off x="1367196" y="1675436"/>
            <a:ext cx="0" cy="382200"/>
          </a:xfrm>
          <a:prstGeom prst="straightConnector1">
            <a:avLst/>
          </a:prstGeom>
          <a:noFill/>
          <a:ln cap="flat" cmpd="sng" w="19050">
            <a:solidFill>
              <a:srgbClr val="12519C"/>
            </a:solidFill>
            <a:prstDash val="solid"/>
            <a:round/>
            <a:headEnd len="sm" w="sm" type="none"/>
            <a:tailEnd len="sm" w="sm" type="none"/>
          </a:ln>
        </p:spPr>
      </p:cxnSp>
      <p:cxnSp>
        <p:nvCxnSpPr>
          <p:cNvPr id="364" name="Google Shape;364;p16"/>
          <p:cNvCxnSpPr/>
          <p:nvPr/>
        </p:nvCxnSpPr>
        <p:spPr>
          <a:xfrm>
            <a:off x="1367196" y="3288390"/>
            <a:ext cx="0" cy="382200"/>
          </a:xfrm>
          <a:prstGeom prst="straightConnector1">
            <a:avLst/>
          </a:prstGeom>
          <a:noFill/>
          <a:ln cap="flat" cmpd="sng" w="19050">
            <a:solidFill>
              <a:srgbClr val="12519C"/>
            </a:solidFill>
            <a:prstDash val="solid"/>
            <a:round/>
            <a:headEnd len="sm" w="sm" type="none"/>
            <a:tailEnd len="sm" w="sm" type="none"/>
          </a:ln>
        </p:spPr>
      </p:cxnSp>
      <p:sp>
        <p:nvSpPr>
          <p:cNvPr id="365" name="Google Shape;365;p16"/>
          <p:cNvSpPr/>
          <p:nvPr/>
        </p:nvSpPr>
        <p:spPr>
          <a:xfrm>
            <a:off x="1048238" y="1260478"/>
            <a:ext cx="79200" cy="77400"/>
          </a:xfrm>
          <a:prstGeom prst="ellipse">
            <a:avLst/>
          </a:prstGeom>
          <a:solidFill>
            <a:srgbClr val="D71B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6" name="Google Shape;366;p16"/>
          <p:cNvSpPr/>
          <p:nvPr/>
        </p:nvSpPr>
        <p:spPr>
          <a:xfrm>
            <a:off x="1048238" y="1827880"/>
            <a:ext cx="79200" cy="77400"/>
          </a:xfrm>
          <a:prstGeom prst="ellipse">
            <a:avLst/>
          </a:prstGeom>
          <a:solidFill>
            <a:srgbClr val="D71B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7" name="Google Shape;367;p16"/>
          <p:cNvSpPr/>
          <p:nvPr/>
        </p:nvSpPr>
        <p:spPr>
          <a:xfrm>
            <a:off x="1048238" y="3439362"/>
            <a:ext cx="79200" cy="77400"/>
          </a:xfrm>
          <a:prstGeom prst="ellipse">
            <a:avLst/>
          </a:prstGeom>
          <a:solidFill>
            <a:srgbClr val="D71B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8" name="Google Shape;368;p16"/>
          <p:cNvSpPr/>
          <p:nvPr/>
        </p:nvSpPr>
        <p:spPr>
          <a:xfrm>
            <a:off x="1358763" y="2245805"/>
            <a:ext cx="6654600" cy="376800"/>
          </a:xfrm>
          <a:prstGeom prst="snip1Rect">
            <a:avLst>
              <a:gd fmla="val 35537"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200"/>
              <a:buFont typeface="Arial"/>
              <a:buNone/>
            </a:pPr>
            <a:r>
              <a:rPr b="1" i="0" lang="en" sz="1200" u="none" cap="none" strike="noStrike">
                <a:solidFill>
                  <a:srgbClr val="D71B7F"/>
                </a:solidFill>
                <a:latin typeface="Montserrat"/>
                <a:ea typeface="Montserrat"/>
                <a:cs typeface="Montserrat"/>
                <a:sym typeface="Montserrat"/>
              </a:rPr>
              <a:t>Project Plan and Key Deliverables</a:t>
            </a:r>
            <a:endParaRPr b="1" i="0" sz="1200" u="none" cap="none" strike="noStrike">
              <a:solidFill>
                <a:srgbClr val="D71B7F"/>
              </a:solidFill>
              <a:latin typeface="Montserrat"/>
              <a:ea typeface="Montserrat"/>
              <a:cs typeface="Montserrat"/>
              <a:sym typeface="Montserrat"/>
            </a:endParaRPr>
          </a:p>
        </p:txBody>
      </p:sp>
      <p:cxnSp>
        <p:nvCxnSpPr>
          <p:cNvPr id="369" name="Google Shape;369;p16"/>
          <p:cNvCxnSpPr/>
          <p:nvPr/>
        </p:nvCxnSpPr>
        <p:spPr>
          <a:xfrm>
            <a:off x="1367196" y="2242832"/>
            <a:ext cx="0" cy="382200"/>
          </a:xfrm>
          <a:prstGeom prst="straightConnector1">
            <a:avLst/>
          </a:prstGeom>
          <a:noFill/>
          <a:ln cap="flat" cmpd="sng" w="19050">
            <a:solidFill>
              <a:srgbClr val="12519C"/>
            </a:solidFill>
            <a:prstDash val="solid"/>
            <a:round/>
            <a:headEnd len="sm" w="sm" type="none"/>
            <a:tailEnd len="sm" w="sm" type="none"/>
          </a:ln>
        </p:spPr>
      </p:cxnSp>
      <p:sp>
        <p:nvSpPr>
          <p:cNvPr id="370" name="Google Shape;370;p16"/>
          <p:cNvSpPr/>
          <p:nvPr/>
        </p:nvSpPr>
        <p:spPr>
          <a:xfrm>
            <a:off x="1048238" y="2395275"/>
            <a:ext cx="79200" cy="77400"/>
          </a:xfrm>
          <a:prstGeom prst="ellipse">
            <a:avLst/>
          </a:prstGeom>
          <a:solidFill>
            <a:srgbClr val="D71B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1" name="Google Shape;371;p16"/>
          <p:cNvSpPr/>
          <p:nvPr/>
        </p:nvSpPr>
        <p:spPr>
          <a:xfrm>
            <a:off x="1358763" y="2755885"/>
            <a:ext cx="6654600" cy="376800"/>
          </a:xfrm>
          <a:prstGeom prst="snip1Rect">
            <a:avLst>
              <a:gd fmla="val 35537"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100"/>
              <a:buFont typeface="Arial"/>
              <a:buNone/>
            </a:pPr>
            <a:r>
              <a:rPr b="0" i="0" lang="en" sz="1200" u="none" cap="none" strike="noStrike">
                <a:solidFill>
                  <a:srgbClr val="000000"/>
                </a:solidFill>
                <a:latin typeface="Montserrat"/>
                <a:ea typeface="Montserrat"/>
                <a:cs typeface="Montserrat"/>
                <a:sym typeface="Montserrat"/>
              </a:rPr>
              <a:t>Commercial Summary</a:t>
            </a:r>
            <a:endParaRPr b="0" i="0" sz="1200" u="none" cap="none" strike="noStrike">
              <a:solidFill>
                <a:srgbClr val="000000"/>
              </a:solidFill>
              <a:latin typeface="Montserrat"/>
              <a:ea typeface="Montserrat"/>
              <a:cs typeface="Montserrat"/>
              <a:sym typeface="Montserrat"/>
            </a:endParaRPr>
          </a:p>
        </p:txBody>
      </p:sp>
      <p:cxnSp>
        <p:nvCxnSpPr>
          <p:cNvPr id="372" name="Google Shape;372;p16"/>
          <p:cNvCxnSpPr/>
          <p:nvPr/>
        </p:nvCxnSpPr>
        <p:spPr>
          <a:xfrm>
            <a:off x="1367196" y="2752912"/>
            <a:ext cx="0" cy="382200"/>
          </a:xfrm>
          <a:prstGeom prst="straightConnector1">
            <a:avLst/>
          </a:prstGeom>
          <a:noFill/>
          <a:ln cap="flat" cmpd="sng" w="19050">
            <a:solidFill>
              <a:srgbClr val="12519C"/>
            </a:solidFill>
            <a:prstDash val="solid"/>
            <a:round/>
            <a:headEnd len="sm" w="sm" type="none"/>
            <a:tailEnd len="sm" w="sm" type="none"/>
          </a:ln>
        </p:spPr>
      </p:cxnSp>
      <p:sp>
        <p:nvSpPr>
          <p:cNvPr id="373" name="Google Shape;373;p16"/>
          <p:cNvSpPr/>
          <p:nvPr/>
        </p:nvSpPr>
        <p:spPr>
          <a:xfrm>
            <a:off x="1048238" y="2905355"/>
            <a:ext cx="79200" cy="77400"/>
          </a:xfrm>
          <a:prstGeom prst="ellipse">
            <a:avLst/>
          </a:prstGeom>
          <a:solidFill>
            <a:srgbClr val="D71B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4" name="Google Shape;374;p16"/>
          <p:cNvSpPr txBox="1"/>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000000"/>
              </a:buClr>
              <a:buSzPts val="1000"/>
              <a:buFont typeface="Arial"/>
              <a:buNone/>
            </a:pPr>
            <a:fld id="{00000000-1234-1234-1234-123412341234}" type="slidenum">
              <a:rPr b="0" i="0" lang="en" sz="1000" u="none" cap="none" strike="noStrike">
                <a:solidFill>
                  <a:srgbClr val="000000"/>
                </a:solidFill>
                <a:latin typeface="Montserrat"/>
                <a:ea typeface="Montserrat"/>
                <a:cs typeface="Montserrat"/>
                <a:sym typeface="Montserrat"/>
              </a:rPr>
              <a:t>‹#›</a:t>
            </a:fld>
            <a:endParaRPr b="0" i="0" sz="1000" u="none" cap="none" strike="noStrike">
              <a:solidFill>
                <a:srgbClr val="000000"/>
              </a:solidFill>
              <a:latin typeface="Montserrat"/>
              <a:ea typeface="Montserrat"/>
              <a:cs typeface="Montserrat"/>
              <a:sym typeface="Montserrat"/>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8" name="Shape 378"/>
        <p:cNvGrpSpPr/>
        <p:nvPr/>
      </p:nvGrpSpPr>
      <p:grpSpPr>
        <a:xfrm>
          <a:off x="0" y="0"/>
          <a:ext cx="0" cy="0"/>
          <a:chOff x="0" y="0"/>
          <a:chExt cx="0" cy="0"/>
        </a:xfrm>
      </p:grpSpPr>
      <p:sp>
        <p:nvSpPr>
          <p:cNvPr id="379" name="Google Shape;379;p17"/>
          <p:cNvSpPr/>
          <p:nvPr/>
        </p:nvSpPr>
        <p:spPr>
          <a:xfrm>
            <a:off x="1623100" y="934600"/>
            <a:ext cx="7355400" cy="3713100"/>
          </a:xfrm>
          <a:prstGeom prst="snip1Rect">
            <a:avLst>
              <a:gd fmla="val 8163" name="adj"/>
            </a:avLst>
          </a:prstGeom>
          <a:solidFill>
            <a:srgbClr val="FFFFFF"/>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200"/>
              <a:buFont typeface="Arial"/>
              <a:buNone/>
            </a:pPr>
            <a:r>
              <a:t/>
            </a:r>
            <a:endParaRPr b="0" i="0" sz="1200" u="none" cap="none" strike="noStrike">
              <a:solidFill>
                <a:schemeClr val="dk1"/>
              </a:solidFill>
              <a:latin typeface="Montserrat"/>
              <a:ea typeface="Montserrat"/>
              <a:cs typeface="Montserrat"/>
              <a:sym typeface="Montserrat"/>
            </a:endParaRPr>
          </a:p>
        </p:txBody>
      </p:sp>
      <p:sp>
        <p:nvSpPr>
          <p:cNvPr id="380" name="Google Shape;380;p17"/>
          <p:cNvSpPr/>
          <p:nvPr/>
        </p:nvSpPr>
        <p:spPr>
          <a:xfrm>
            <a:off x="236853" y="1505825"/>
            <a:ext cx="1877400" cy="2588100"/>
          </a:xfrm>
          <a:prstGeom prst="snip1Rect">
            <a:avLst>
              <a:gd fmla="val 8163" name="adj"/>
            </a:avLst>
          </a:prstGeom>
          <a:solidFill>
            <a:srgbClr val="FFFFFF"/>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200"/>
              <a:buFont typeface="Arial"/>
              <a:buNone/>
            </a:pPr>
            <a:r>
              <a:t/>
            </a:r>
            <a:endParaRPr b="0" i="0" sz="1200" u="none" cap="none" strike="noStrike">
              <a:solidFill>
                <a:schemeClr val="dk1"/>
              </a:solidFill>
              <a:latin typeface="Montserrat"/>
              <a:ea typeface="Montserrat"/>
              <a:cs typeface="Montserrat"/>
              <a:sym typeface="Montserrat"/>
            </a:endParaRPr>
          </a:p>
        </p:txBody>
      </p:sp>
      <p:sp>
        <p:nvSpPr>
          <p:cNvPr id="381" name="Google Shape;381;p17"/>
          <p:cNvSpPr txBox="1"/>
          <p:nvPr/>
        </p:nvSpPr>
        <p:spPr>
          <a:xfrm>
            <a:off x="105040" y="143994"/>
            <a:ext cx="6765900" cy="3573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1" i="0" lang="en" sz="2000" u="none" cap="none" strike="noStrike">
                <a:solidFill>
                  <a:schemeClr val="dk1"/>
                </a:solidFill>
                <a:latin typeface="Montserrat"/>
                <a:ea typeface="Montserrat"/>
                <a:cs typeface="Montserrat"/>
                <a:sym typeface="Montserrat"/>
              </a:rPr>
              <a:t>Project Management Approach</a:t>
            </a:r>
            <a:endParaRPr b="1" i="0" sz="2000" u="none" cap="none" strike="noStrike">
              <a:solidFill>
                <a:schemeClr val="dk1"/>
              </a:solidFill>
              <a:latin typeface="Montserrat"/>
              <a:ea typeface="Montserrat"/>
              <a:cs typeface="Montserrat"/>
              <a:sym typeface="Montserrat"/>
            </a:endParaRPr>
          </a:p>
        </p:txBody>
      </p:sp>
      <p:sp>
        <p:nvSpPr>
          <p:cNvPr id="382" name="Google Shape;382;p17"/>
          <p:cNvSpPr/>
          <p:nvPr/>
        </p:nvSpPr>
        <p:spPr>
          <a:xfrm>
            <a:off x="2303501" y="2698629"/>
            <a:ext cx="1202100" cy="1327200"/>
          </a:xfrm>
          <a:prstGeom prst="rect">
            <a:avLst/>
          </a:prstGeom>
          <a:noFill/>
          <a:ln cap="flat" cmpd="sng" w="9525">
            <a:solidFill>
              <a:srgbClr val="D8D8D8"/>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383" name="Google Shape;383;p17"/>
          <p:cNvSpPr/>
          <p:nvPr/>
        </p:nvSpPr>
        <p:spPr>
          <a:xfrm>
            <a:off x="3799228" y="2698629"/>
            <a:ext cx="1202100" cy="1366800"/>
          </a:xfrm>
          <a:prstGeom prst="rect">
            <a:avLst/>
          </a:prstGeom>
          <a:noFill/>
          <a:ln cap="flat" cmpd="sng" w="9525">
            <a:solidFill>
              <a:srgbClr val="D8D8D8"/>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384" name="Google Shape;384;p17"/>
          <p:cNvSpPr/>
          <p:nvPr/>
        </p:nvSpPr>
        <p:spPr>
          <a:xfrm>
            <a:off x="2303500" y="1677712"/>
            <a:ext cx="1177200" cy="795000"/>
          </a:xfrm>
          <a:prstGeom prst="rect">
            <a:avLst/>
          </a:prstGeom>
          <a:solidFill>
            <a:srgbClr val="FFFFFF"/>
          </a:solidFill>
          <a:ln>
            <a:noFill/>
          </a:ln>
          <a:effectLst>
            <a:outerShdw blurRad="157163" rotWithShape="0" algn="bl" dir="9060000" dist="9525">
              <a:srgbClr val="000000">
                <a:alpha val="14118"/>
              </a:srgbClr>
            </a:outerShdw>
          </a:effectLst>
        </p:spPr>
        <p:txBody>
          <a:bodyPr anchorCtr="0" anchor="b"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616161"/>
                </a:solidFill>
                <a:latin typeface="Montserrat"/>
                <a:ea typeface="Montserrat"/>
                <a:cs typeface="Montserrat"/>
                <a:sym typeface="Montserrat"/>
              </a:rPr>
              <a:t>Engagement </a:t>
            </a:r>
            <a:endParaRPr b="1" i="0" sz="900" u="none" cap="none" strike="noStrike">
              <a:solidFill>
                <a:srgbClr val="616161"/>
              </a:solidFill>
              <a:latin typeface="Montserrat"/>
              <a:ea typeface="Montserrat"/>
              <a:cs typeface="Montserrat"/>
              <a:sym typeface="Montserrat"/>
            </a:endParaRPr>
          </a:p>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616161"/>
                </a:solidFill>
                <a:latin typeface="Montserrat"/>
                <a:ea typeface="Montserrat"/>
                <a:cs typeface="Montserrat"/>
                <a:sym typeface="Montserrat"/>
              </a:rPr>
              <a:t>Kick off &amp; Discovery</a:t>
            </a:r>
            <a:endParaRPr b="1" i="0" sz="900" u="none" cap="none" strike="noStrike">
              <a:solidFill>
                <a:srgbClr val="616161"/>
              </a:solidFill>
              <a:latin typeface="Montserrat"/>
              <a:ea typeface="Montserrat"/>
              <a:cs typeface="Montserrat"/>
              <a:sym typeface="Montserrat"/>
            </a:endParaRPr>
          </a:p>
        </p:txBody>
      </p:sp>
      <p:sp>
        <p:nvSpPr>
          <p:cNvPr id="385" name="Google Shape;385;p17"/>
          <p:cNvSpPr/>
          <p:nvPr/>
        </p:nvSpPr>
        <p:spPr>
          <a:xfrm>
            <a:off x="3814239" y="1677712"/>
            <a:ext cx="1177200" cy="795000"/>
          </a:xfrm>
          <a:prstGeom prst="rect">
            <a:avLst/>
          </a:prstGeom>
          <a:solidFill>
            <a:srgbClr val="FFFFFF"/>
          </a:solidFill>
          <a:ln>
            <a:noFill/>
          </a:ln>
          <a:effectLst>
            <a:outerShdw blurRad="157163" rotWithShape="0" algn="bl" dir="9060000" dist="9525">
              <a:srgbClr val="000000">
                <a:alpha val="14118"/>
              </a:srgbClr>
            </a:outerShdw>
          </a:effectLst>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616161"/>
                </a:solidFill>
                <a:latin typeface="Montserrat"/>
                <a:ea typeface="Montserrat"/>
                <a:cs typeface="Montserrat"/>
                <a:sym typeface="Montserrat"/>
              </a:rPr>
              <a:t>Iterative</a:t>
            </a:r>
            <a:br>
              <a:rPr b="1" i="0" lang="en" sz="900" u="none" cap="none" strike="noStrike">
                <a:solidFill>
                  <a:srgbClr val="616161"/>
                </a:solidFill>
                <a:latin typeface="Montserrat"/>
                <a:ea typeface="Montserrat"/>
                <a:cs typeface="Montserrat"/>
                <a:sym typeface="Montserrat"/>
              </a:rPr>
            </a:br>
            <a:r>
              <a:rPr b="1" i="0" lang="en" sz="900" u="none" cap="none" strike="noStrike">
                <a:solidFill>
                  <a:srgbClr val="616161"/>
                </a:solidFill>
                <a:latin typeface="Montserrat"/>
                <a:ea typeface="Montserrat"/>
                <a:cs typeface="Montserrat"/>
                <a:sym typeface="Montserrat"/>
              </a:rPr>
              <a:t>Development</a:t>
            </a:r>
            <a:endParaRPr b="1" i="0" sz="900" u="none" cap="none" strike="noStrike">
              <a:solidFill>
                <a:srgbClr val="616161"/>
              </a:solidFill>
              <a:latin typeface="Montserrat"/>
              <a:ea typeface="Montserrat"/>
              <a:cs typeface="Montserrat"/>
              <a:sym typeface="Montserrat"/>
            </a:endParaRPr>
          </a:p>
          <a:p>
            <a:pPr indent="0" lvl="0" marL="0" marR="0" rtl="0" algn="ctr">
              <a:lnSpc>
                <a:spcPct val="100000"/>
              </a:lnSpc>
              <a:spcBef>
                <a:spcPts val="0"/>
              </a:spcBef>
              <a:spcAft>
                <a:spcPts val="0"/>
              </a:spcAft>
              <a:buClr>
                <a:srgbClr val="000000"/>
              </a:buClr>
              <a:buSzPts val="900"/>
              <a:buFont typeface="Arial"/>
              <a:buNone/>
            </a:pPr>
            <a:br>
              <a:rPr b="1" i="0" lang="en" sz="900" u="none" cap="none" strike="noStrike">
                <a:solidFill>
                  <a:srgbClr val="616161"/>
                </a:solidFill>
                <a:latin typeface="Montserrat"/>
                <a:ea typeface="Montserrat"/>
                <a:cs typeface="Montserrat"/>
                <a:sym typeface="Montserrat"/>
              </a:rPr>
            </a:br>
            <a:r>
              <a:rPr b="1" i="0" lang="en" sz="900" u="none" cap="none" strike="noStrike">
                <a:solidFill>
                  <a:srgbClr val="616161"/>
                </a:solidFill>
                <a:latin typeface="Montserrat"/>
                <a:ea typeface="Montserrat"/>
                <a:cs typeface="Montserrat"/>
                <a:sym typeface="Montserrat"/>
              </a:rPr>
              <a:t>1     2    3    .   .</a:t>
            </a:r>
            <a:endParaRPr b="1" i="0" sz="900" u="none" cap="none" strike="noStrike">
              <a:solidFill>
                <a:srgbClr val="616161"/>
              </a:solidFill>
              <a:latin typeface="Montserrat"/>
              <a:ea typeface="Montserrat"/>
              <a:cs typeface="Montserrat"/>
              <a:sym typeface="Montserrat"/>
            </a:endParaRPr>
          </a:p>
        </p:txBody>
      </p:sp>
      <p:grpSp>
        <p:nvGrpSpPr>
          <p:cNvPr id="386" name="Google Shape;386;p17"/>
          <p:cNvGrpSpPr/>
          <p:nvPr/>
        </p:nvGrpSpPr>
        <p:grpSpPr>
          <a:xfrm>
            <a:off x="3934107" y="2120825"/>
            <a:ext cx="817618" cy="72728"/>
            <a:chOff x="3198956" y="2429934"/>
            <a:chExt cx="1353000" cy="149400"/>
          </a:xfrm>
        </p:grpSpPr>
        <p:sp>
          <p:nvSpPr>
            <p:cNvPr id="387" name="Google Shape;387;p17"/>
            <p:cNvSpPr/>
            <p:nvPr/>
          </p:nvSpPr>
          <p:spPr>
            <a:xfrm flipH="1">
              <a:off x="3198956" y="2429934"/>
              <a:ext cx="133800" cy="149400"/>
            </a:xfrm>
            <a:prstGeom prst="star5">
              <a:avLst>
                <a:gd fmla="val 19098" name="adj"/>
                <a:gd fmla="val 105146" name="hf"/>
                <a:gd fmla="val 110557" name="vf"/>
              </a:avLst>
            </a:prstGeom>
            <a:solidFill>
              <a:srgbClr val="C55A11"/>
            </a:solidFill>
            <a:ln cap="flat" cmpd="sng" w="9525">
              <a:solidFill>
                <a:srgbClr val="C55A11"/>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500"/>
                <a:buFont typeface="Arial"/>
                <a:buNone/>
              </a:pPr>
              <a:r>
                <a:t/>
              </a:r>
              <a:endParaRPr b="0" i="0" sz="1500" u="none" cap="none" strike="noStrike">
                <a:solidFill>
                  <a:srgbClr val="FFFFFF"/>
                </a:solidFill>
                <a:latin typeface="Century Gothic"/>
                <a:ea typeface="Century Gothic"/>
                <a:cs typeface="Century Gothic"/>
                <a:sym typeface="Century Gothic"/>
              </a:endParaRPr>
            </a:p>
          </p:txBody>
        </p:sp>
        <p:sp>
          <p:nvSpPr>
            <p:cNvPr id="388" name="Google Shape;388;p17"/>
            <p:cNvSpPr/>
            <p:nvPr/>
          </p:nvSpPr>
          <p:spPr>
            <a:xfrm flipH="1">
              <a:off x="3503756" y="2429934"/>
              <a:ext cx="133800" cy="149400"/>
            </a:xfrm>
            <a:prstGeom prst="star5">
              <a:avLst>
                <a:gd fmla="val 19098" name="adj"/>
                <a:gd fmla="val 105146" name="hf"/>
                <a:gd fmla="val 110557" name="vf"/>
              </a:avLst>
            </a:prstGeom>
            <a:solidFill>
              <a:srgbClr val="C55A11"/>
            </a:solidFill>
            <a:ln cap="flat" cmpd="sng" w="9525">
              <a:solidFill>
                <a:srgbClr val="C55A11"/>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500"/>
                <a:buFont typeface="Arial"/>
                <a:buNone/>
              </a:pPr>
              <a:r>
                <a:t/>
              </a:r>
              <a:endParaRPr b="0" i="0" sz="1500" u="none" cap="none" strike="noStrike">
                <a:solidFill>
                  <a:srgbClr val="FFFFFF"/>
                </a:solidFill>
                <a:latin typeface="Century Gothic"/>
                <a:ea typeface="Century Gothic"/>
                <a:cs typeface="Century Gothic"/>
                <a:sym typeface="Century Gothic"/>
              </a:endParaRPr>
            </a:p>
          </p:txBody>
        </p:sp>
        <p:sp>
          <p:nvSpPr>
            <p:cNvPr id="389" name="Google Shape;389;p17"/>
            <p:cNvSpPr/>
            <p:nvPr/>
          </p:nvSpPr>
          <p:spPr>
            <a:xfrm flipH="1">
              <a:off x="3808556" y="2429934"/>
              <a:ext cx="133800" cy="149400"/>
            </a:xfrm>
            <a:prstGeom prst="star5">
              <a:avLst>
                <a:gd fmla="val 19098" name="adj"/>
                <a:gd fmla="val 105146" name="hf"/>
                <a:gd fmla="val 110557" name="vf"/>
              </a:avLst>
            </a:prstGeom>
            <a:solidFill>
              <a:srgbClr val="C55A11"/>
            </a:solidFill>
            <a:ln cap="flat" cmpd="sng" w="9525">
              <a:solidFill>
                <a:srgbClr val="C55A11"/>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500"/>
                <a:buFont typeface="Arial"/>
                <a:buNone/>
              </a:pPr>
              <a:r>
                <a:t/>
              </a:r>
              <a:endParaRPr b="0" i="0" sz="1500" u="none" cap="none" strike="noStrike">
                <a:solidFill>
                  <a:srgbClr val="FFFFFF"/>
                </a:solidFill>
                <a:latin typeface="Century Gothic"/>
                <a:ea typeface="Century Gothic"/>
                <a:cs typeface="Century Gothic"/>
                <a:sym typeface="Century Gothic"/>
              </a:endParaRPr>
            </a:p>
          </p:txBody>
        </p:sp>
        <p:sp>
          <p:nvSpPr>
            <p:cNvPr id="390" name="Google Shape;390;p17"/>
            <p:cNvSpPr/>
            <p:nvPr/>
          </p:nvSpPr>
          <p:spPr>
            <a:xfrm flipH="1">
              <a:off x="4113356" y="2429934"/>
              <a:ext cx="133800" cy="149400"/>
            </a:xfrm>
            <a:prstGeom prst="star5">
              <a:avLst>
                <a:gd fmla="val 19098" name="adj"/>
                <a:gd fmla="val 105146" name="hf"/>
                <a:gd fmla="val 110557" name="vf"/>
              </a:avLst>
            </a:prstGeom>
            <a:solidFill>
              <a:srgbClr val="C55A11"/>
            </a:solidFill>
            <a:ln cap="flat" cmpd="sng" w="9525">
              <a:solidFill>
                <a:srgbClr val="C55A11"/>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500"/>
                <a:buFont typeface="Arial"/>
                <a:buNone/>
              </a:pPr>
              <a:r>
                <a:t/>
              </a:r>
              <a:endParaRPr b="0" i="0" sz="1500" u="none" cap="none" strike="noStrike">
                <a:solidFill>
                  <a:srgbClr val="FFFFFF"/>
                </a:solidFill>
                <a:latin typeface="Century Gothic"/>
                <a:ea typeface="Century Gothic"/>
                <a:cs typeface="Century Gothic"/>
                <a:sym typeface="Century Gothic"/>
              </a:endParaRPr>
            </a:p>
          </p:txBody>
        </p:sp>
        <p:sp>
          <p:nvSpPr>
            <p:cNvPr id="391" name="Google Shape;391;p17"/>
            <p:cNvSpPr/>
            <p:nvPr/>
          </p:nvSpPr>
          <p:spPr>
            <a:xfrm flipH="1">
              <a:off x="4418156" y="2429934"/>
              <a:ext cx="133800" cy="149400"/>
            </a:xfrm>
            <a:prstGeom prst="star5">
              <a:avLst>
                <a:gd fmla="val 19098" name="adj"/>
                <a:gd fmla="val 105146" name="hf"/>
                <a:gd fmla="val 110557" name="vf"/>
              </a:avLst>
            </a:prstGeom>
            <a:solidFill>
              <a:srgbClr val="C55A11"/>
            </a:solidFill>
            <a:ln cap="flat" cmpd="sng" w="9525">
              <a:solidFill>
                <a:srgbClr val="C55A11"/>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500"/>
                <a:buFont typeface="Arial"/>
                <a:buNone/>
              </a:pPr>
              <a:r>
                <a:t/>
              </a:r>
              <a:endParaRPr b="0" i="0" sz="1500" u="none" cap="none" strike="noStrike">
                <a:solidFill>
                  <a:srgbClr val="FFFFFF"/>
                </a:solidFill>
                <a:latin typeface="Century Gothic"/>
                <a:ea typeface="Century Gothic"/>
                <a:cs typeface="Century Gothic"/>
                <a:sym typeface="Century Gothic"/>
              </a:endParaRPr>
            </a:p>
          </p:txBody>
        </p:sp>
      </p:grpSp>
      <p:cxnSp>
        <p:nvCxnSpPr>
          <p:cNvPr id="392" name="Google Shape;392;p17"/>
          <p:cNvCxnSpPr>
            <a:stCxn id="384" idx="3"/>
            <a:endCxn id="385" idx="1"/>
          </p:cNvCxnSpPr>
          <p:nvPr/>
        </p:nvCxnSpPr>
        <p:spPr>
          <a:xfrm>
            <a:off x="3480700" y="2075212"/>
            <a:ext cx="333600" cy="0"/>
          </a:xfrm>
          <a:prstGeom prst="straightConnector1">
            <a:avLst/>
          </a:prstGeom>
          <a:noFill/>
          <a:ln cap="flat" cmpd="sng" w="9525">
            <a:solidFill>
              <a:srgbClr val="44546A"/>
            </a:solidFill>
            <a:prstDash val="solid"/>
            <a:round/>
            <a:headEnd len="sm" w="sm" type="none"/>
            <a:tailEnd len="med" w="med" type="triangle"/>
          </a:ln>
        </p:spPr>
      </p:cxnSp>
      <p:sp>
        <p:nvSpPr>
          <p:cNvPr id="393" name="Google Shape;393;p17"/>
          <p:cNvSpPr/>
          <p:nvPr/>
        </p:nvSpPr>
        <p:spPr>
          <a:xfrm>
            <a:off x="3721678" y="1352950"/>
            <a:ext cx="1306500" cy="262800"/>
          </a:xfrm>
          <a:prstGeom prst="rect">
            <a:avLst/>
          </a:prstGeom>
          <a:noFill/>
          <a:ln>
            <a:noFill/>
          </a:ln>
        </p:spPr>
        <p:txBody>
          <a:bodyPr anchorCtr="0" anchor="t" bIns="34275" lIns="68575" spcFirstLastPara="1" rIns="68575" wrap="square" tIns="34275">
            <a:noAutofit/>
          </a:bodyPr>
          <a:lstStyle/>
          <a:p>
            <a:pPr indent="0" lvl="0" marL="0" marR="0" rtl="0" algn="ctr">
              <a:lnSpc>
                <a:spcPct val="115000"/>
              </a:lnSpc>
              <a:spcBef>
                <a:spcPts val="0"/>
              </a:spcBef>
              <a:spcAft>
                <a:spcPts val="0"/>
              </a:spcAft>
              <a:buClr>
                <a:srgbClr val="000000"/>
              </a:buClr>
              <a:buSzPts val="700"/>
              <a:buFont typeface="Arial"/>
              <a:buNone/>
            </a:pPr>
            <a:r>
              <a:rPr b="0" i="0" lang="en" sz="700" u="none" cap="none" strike="noStrike">
                <a:solidFill>
                  <a:srgbClr val="000000"/>
                </a:solidFill>
                <a:latin typeface="Montserrat"/>
                <a:ea typeface="Montserrat"/>
                <a:cs typeface="Montserrat"/>
                <a:sym typeface="Montserrat"/>
              </a:rPr>
              <a:t>Continuous Evolution of Working Software</a:t>
            </a:r>
            <a:endParaRPr b="0" i="0" sz="700" u="none" cap="none" strike="noStrike">
              <a:solidFill>
                <a:srgbClr val="000000"/>
              </a:solidFill>
              <a:latin typeface="Montserrat"/>
              <a:ea typeface="Montserrat"/>
              <a:cs typeface="Montserrat"/>
              <a:sym typeface="Montserrat"/>
            </a:endParaRPr>
          </a:p>
        </p:txBody>
      </p:sp>
      <p:sp>
        <p:nvSpPr>
          <p:cNvPr id="394" name="Google Shape;394;p17"/>
          <p:cNvSpPr/>
          <p:nvPr/>
        </p:nvSpPr>
        <p:spPr>
          <a:xfrm>
            <a:off x="5324975" y="1677700"/>
            <a:ext cx="789300" cy="795000"/>
          </a:xfrm>
          <a:prstGeom prst="rect">
            <a:avLst/>
          </a:prstGeom>
          <a:solidFill>
            <a:srgbClr val="FFFFFF"/>
          </a:solidFill>
          <a:ln>
            <a:noFill/>
          </a:ln>
          <a:effectLst>
            <a:outerShdw blurRad="157163" rotWithShape="0" algn="bl" dir="9060000" dist="9525">
              <a:srgbClr val="000000">
                <a:alpha val="14118"/>
              </a:srgbClr>
            </a:outerShdw>
          </a:effectLst>
        </p:spPr>
        <p:txBody>
          <a:bodyPr anchorCtr="0" anchor="b" bIns="68575" lIns="68575" spcFirstLastPara="1" rIns="68575" wrap="square" tIns="68575">
            <a:noAutofit/>
          </a:bodyPr>
          <a:lstStyle/>
          <a:p>
            <a:pPr indent="0" lvl="0" marL="0" marR="0" rtl="0" algn="ctr">
              <a:lnSpc>
                <a:spcPct val="115000"/>
              </a:lnSpc>
              <a:spcBef>
                <a:spcPts val="0"/>
              </a:spcBef>
              <a:spcAft>
                <a:spcPts val="0"/>
              </a:spcAft>
              <a:buClr>
                <a:srgbClr val="000000"/>
              </a:buClr>
              <a:buSzPts val="900"/>
              <a:buFont typeface="Arial"/>
              <a:buNone/>
            </a:pPr>
            <a:r>
              <a:rPr b="1" i="0" lang="en" sz="900" u="none" cap="none" strike="noStrike">
                <a:solidFill>
                  <a:srgbClr val="616161"/>
                </a:solidFill>
                <a:latin typeface="Montserrat"/>
                <a:ea typeface="Montserrat"/>
                <a:cs typeface="Montserrat"/>
                <a:sym typeface="Montserrat"/>
              </a:rPr>
              <a:t>UAT</a:t>
            </a:r>
            <a:endParaRPr b="1" i="0" sz="900" u="none" cap="none" strike="noStrike">
              <a:solidFill>
                <a:srgbClr val="616161"/>
              </a:solidFill>
              <a:latin typeface="Montserrat"/>
              <a:ea typeface="Montserrat"/>
              <a:cs typeface="Montserrat"/>
              <a:sym typeface="Montserrat"/>
            </a:endParaRPr>
          </a:p>
        </p:txBody>
      </p:sp>
      <p:cxnSp>
        <p:nvCxnSpPr>
          <p:cNvPr id="395" name="Google Shape;395;p17"/>
          <p:cNvCxnSpPr>
            <a:stCxn id="385" idx="3"/>
            <a:endCxn id="394" idx="1"/>
          </p:cNvCxnSpPr>
          <p:nvPr/>
        </p:nvCxnSpPr>
        <p:spPr>
          <a:xfrm>
            <a:off x="4991439" y="2075212"/>
            <a:ext cx="333600" cy="0"/>
          </a:xfrm>
          <a:prstGeom prst="straightConnector1">
            <a:avLst/>
          </a:prstGeom>
          <a:noFill/>
          <a:ln cap="flat" cmpd="sng" w="9525">
            <a:solidFill>
              <a:srgbClr val="44546A"/>
            </a:solidFill>
            <a:prstDash val="solid"/>
            <a:round/>
            <a:headEnd len="sm" w="sm" type="none"/>
            <a:tailEnd len="med" w="med" type="triangle"/>
          </a:ln>
        </p:spPr>
      </p:cxnSp>
      <p:sp>
        <p:nvSpPr>
          <p:cNvPr id="396" name="Google Shape;396;p17"/>
          <p:cNvSpPr/>
          <p:nvPr/>
        </p:nvSpPr>
        <p:spPr>
          <a:xfrm>
            <a:off x="6447800" y="1694125"/>
            <a:ext cx="789300" cy="756900"/>
          </a:xfrm>
          <a:prstGeom prst="rect">
            <a:avLst/>
          </a:prstGeom>
          <a:solidFill>
            <a:srgbClr val="FFFFFF"/>
          </a:solidFill>
          <a:ln>
            <a:noFill/>
          </a:ln>
          <a:effectLst>
            <a:outerShdw blurRad="157163" rotWithShape="0" algn="bl" dir="9060000" dist="9525">
              <a:srgbClr val="000000">
                <a:alpha val="14118"/>
              </a:srgbClr>
            </a:outerShdw>
          </a:effectLst>
        </p:spPr>
        <p:txBody>
          <a:bodyPr anchorCtr="0" anchor="b" bIns="68575" lIns="68575" spcFirstLastPara="1" rIns="68575" wrap="square" tIns="68575">
            <a:noAutofit/>
          </a:bodyPr>
          <a:lstStyle/>
          <a:p>
            <a:pPr indent="0" lvl="0" marL="0" marR="0" rtl="0" algn="ctr">
              <a:lnSpc>
                <a:spcPct val="115000"/>
              </a:lnSpc>
              <a:spcBef>
                <a:spcPts val="0"/>
              </a:spcBef>
              <a:spcAft>
                <a:spcPts val="0"/>
              </a:spcAft>
              <a:buClr>
                <a:srgbClr val="000000"/>
              </a:buClr>
              <a:buSzPts val="900"/>
              <a:buFont typeface="Arial"/>
              <a:buNone/>
            </a:pPr>
            <a:r>
              <a:rPr b="1" i="0" lang="en" sz="900" u="none" cap="none" strike="noStrike">
                <a:solidFill>
                  <a:srgbClr val="616161"/>
                </a:solidFill>
                <a:latin typeface="Montserrat"/>
                <a:ea typeface="Montserrat"/>
                <a:cs typeface="Montserrat"/>
                <a:sym typeface="Montserrat"/>
              </a:rPr>
              <a:t>Go-Live</a:t>
            </a:r>
            <a:endParaRPr b="1" i="0" sz="900" u="none" cap="none" strike="noStrike">
              <a:solidFill>
                <a:srgbClr val="616161"/>
              </a:solidFill>
              <a:latin typeface="Montserrat"/>
              <a:ea typeface="Montserrat"/>
              <a:cs typeface="Montserrat"/>
              <a:sym typeface="Montserrat"/>
            </a:endParaRPr>
          </a:p>
        </p:txBody>
      </p:sp>
      <p:cxnSp>
        <p:nvCxnSpPr>
          <p:cNvPr id="397" name="Google Shape;397;p17"/>
          <p:cNvCxnSpPr>
            <a:stCxn id="394" idx="3"/>
            <a:endCxn id="396" idx="1"/>
          </p:cNvCxnSpPr>
          <p:nvPr/>
        </p:nvCxnSpPr>
        <p:spPr>
          <a:xfrm flipH="1" rot="10800000">
            <a:off x="6114275" y="2072500"/>
            <a:ext cx="333600" cy="2700"/>
          </a:xfrm>
          <a:prstGeom prst="straightConnector1">
            <a:avLst/>
          </a:prstGeom>
          <a:noFill/>
          <a:ln cap="flat" cmpd="sng" w="9525">
            <a:solidFill>
              <a:srgbClr val="44546A"/>
            </a:solidFill>
            <a:prstDash val="solid"/>
            <a:round/>
            <a:headEnd len="sm" w="sm" type="none"/>
            <a:tailEnd len="med" w="med" type="triangle"/>
          </a:ln>
        </p:spPr>
      </p:cxnSp>
      <p:sp>
        <p:nvSpPr>
          <p:cNvPr id="398" name="Google Shape;398;p17"/>
          <p:cNvSpPr/>
          <p:nvPr/>
        </p:nvSpPr>
        <p:spPr>
          <a:xfrm>
            <a:off x="7633975" y="1683488"/>
            <a:ext cx="1197000" cy="795000"/>
          </a:xfrm>
          <a:prstGeom prst="rect">
            <a:avLst/>
          </a:prstGeom>
          <a:solidFill>
            <a:srgbClr val="FFFFFF"/>
          </a:solidFill>
          <a:ln>
            <a:noFill/>
          </a:ln>
          <a:effectLst>
            <a:outerShdw blurRad="157163" rotWithShape="0" algn="bl" dir="9060000" dist="9525">
              <a:srgbClr val="000000">
                <a:alpha val="14118"/>
              </a:srgbClr>
            </a:outerShdw>
          </a:effectLst>
        </p:spPr>
        <p:txBody>
          <a:bodyPr anchorCtr="0" anchor="b"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616161"/>
                </a:solidFill>
                <a:latin typeface="Montserrat"/>
                <a:ea typeface="Montserrat"/>
                <a:cs typeface="Montserrat"/>
                <a:sym typeface="Montserrat"/>
              </a:rPr>
              <a:t>Hypercare</a:t>
            </a:r>
            <a:endParaRPr b="1" i="0" sz="900" u="none" cap="none" strike="noStrike">
              <a:solidFill>
                <a:srgbClr val="616161"/>
              </a:solidFill>
              <a:latin typeface="Montserrat"/>
              <a:ea typeface="Montserrat"/>
              <a:cs typeface="Montserrat"/>
              <a:sym typeface="Montserrat"/>
            </a:endParaRPr>
          </a:p>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616161"/>
                </a:solidFill>
                <a:latin typeface="Montserrat"/>
                <a:ea typeface="Montserrat"/>
                <a:cs typeface="Montserrat"/>
                <a:sym typeface="Montserrat"/>
              </a:rPr>
              <a:t>Support</a:t>
            </a:r>
            <a:endParaRPr b="1" i="0" sz="900" u="none" cap="none" strike="noStrike">
              <a:solidFill>
                <a:srgbClr val="616161"/>
              </a:solidFill>
              <a:latin typeface="Montserrat"/>
              <a:ea typeface="Montserrat"/>
              <a:cs typeface="Montserrat"/>
              <a:sym typeface="Montserrat"/>
            </a:endParaRPr>
          </a:p>
        </p:txBody>
      </p:sp>
      <p:cxnSp>
        <p:nvCxnSpPr>
          <p:cNvPr id="399" name="Google Shape;399;p17"/>
          <p:cNvCxnSpPr/>
          <p:nvPr/>
        </p:nvCxnSpPr>
        <p:spPr>
          <a:xfrm>
            <a:off x="7237088" y="2071309"/>
            <a:ext cx="365700" cy="7800"/>
          </a:xfrm>
          <a:prstGeom prst="straightConnector1">
            <a:avLst/>
          </a:prstGeom>
          <a:noFill/>
          <a:ln cap="flat" cmpd="sng" w="9525">
            <a:solidFill>
              <a:srgbClr val="44546A"/>
            </a:solidFill>
            <a:prstDash val="solid"/>
            <a:round/>
            <a:headEnd len="sm" w="sm" type="none"/>
            <a:tailEnd len="med" w="med" type="triangle"/>
          </a:ln>
        </p:spPr>
      </p:cxnSp>
      <p:sp>
        <p:nvSpPr>
          <p:cNvPr id="400" name="Google Shape;400;p17"/>
          <p:cNvSpPr/>
          <p:nvPr/>
        </p:nvSpPr>
        <p:spPr>
          <a:xfrm>
            <a:off x="2374525" y="2817019"/>
            <a:ext cx="1054200" cy="320400"/>
          </a:xfrm>
          <a:prstGeom prst="rect">
            <a:avLst/>
          </a:prstGeom>
          <a:solidFill>
            <a:srgbClr val="F2F2F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401" name="Google Shape;401;p17"/>
          <p:cNvSpPr/>
          <p:nvPr/>
        </p:nvSpPr>
        <p:spPr>
          <a:xfrm>
            <a:off x="2374517" y="3276841"/>
            <a:ext cx="1054200" cy="320400"/>
          </a:xfrm>
          <a:prstGeom prst="rect">
            <a:avLst/>
          </a:prstGeom>
          <a:solidFill>
            <a:srgbClr val="F2F2F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402" name="Google Shape;402;p17"/>
          <p:cNvSpPr/>
          <p:nvPr/>
        </p:nvSpPr>
        <p:spPr>
          <a:xfrm>
            <a:off x="2374517" y="3727228"/>
            <a:ext cx="1054200" cy="204000"/>
          </a:xfrm>
          <a:prstGeom prst="rect">
            <a:avLst/>
          </a:prstGeom>
          <a:solidFill>
            <a:srgbClr val="F2F2F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403" name="Google Shape;403;p17"/>
          <p:cNvSpPr/>
          <p:nvPr/>
        </p:nvSpPr>
        <p:spPr>
          <a:xfrm>
            <a:off x="4131026" y="3035164"/>
            <a:ext cx="620700" cy="161400"/>
          </a:xfrm>
          <a:prstGeom prst="rect">
            <a:avLst/>
          </a:prstGeom>
          <a:solidFill>
            <a:srgbClr val="F2F2F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404" name="Google Shape;404;p17"/>
          <p:cNvSpPr/>
          <p:nvPr/>
        </p:nvSpPr>
        <p:spPr>
          <a:xfrm>
            <a:off x="4131026" y="3299908"/>
            <a:ext cx="620700" cy="161400"/>
          </a:xfrm>
          <a:prstGeom prst="rect">
            <a:avLst/>
          </a:prstGeom>
          <a:solidFill>
            <a:srgbClr val="F2F2F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405" name="Google Shape;405;p17"/>
          <p:cNvSpPr/>
          <p:nvPr/>
        </p:nvSpPr>
        <p:spPr>
          <a:xfrm>
            <a:off x="4131026" y="3560703"/>
            <a:ext cx="620700" cy="161400"/>
          </a:xfrm>
          <a:prstGeom prst="rect">
            <a:avLst/>
          </a:prstGeom>
          <a:solidFill>
            <a:srgbClr val="F2F2F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406" name="Google Shape;406;p17"/>
          <p:cNvSpPr/>
          <p:nvPr/>
        </p:nvSpPr>
        <p:spPr>
          <a:xfrm>
            <a:off x="4131026" y="3813593"/>
            <a:ext cx="620700" cy="161400"/>
          </a:xfrm>
          <a:prstGeom prst="rect">
            <a:avLst/>
          </a:prstGeom>
          <a:solidFill>
            <a:srgbClr val="F2F2F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407" name="Google Shape;407;p17"/>
          <p:cNvSpPr/>
          <p:nvPr/>
        </p:nvSpPr>
        <p:spPr>
          <a:xfrm>
            <a:off x="4131026" y="2766471"/>
            <a:ext cx="620700" cy="161400"/>
          </a:xfrm>
          <a:prstGeom prst="rect">
            <a:avLst/>
          </a:prstGeom>
          <a:solidFill>
            <a:srgbClr val="F2F2F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cxnSp>
        <p:nvCxnSpPr>
          <p:cNvPr id="408" name="Google Shape;408;p17"/>
          <p:cNvCxnSpPr/>
          <p:nvPr/>
        </p:nvCxnSpPr>
        <p:spPr>
          <a:xfrm>
            <a:off x="3992919" y="2867471"/>
            <a:ext cx="0" cy="1011600"/>
          </a:xfrm>
          <a:prstGeom prst="straightConnector1">
            <a:avLst/>
          </a:prstGeom>
          <a:noFill/>
          <a:ln cap="flat" cmpd="sng" w="12700">
            <a:solidFill>
              <a:srgbClr val="7F7F7F"/>
            </a:solidFill>
            <a:prstDash val="solid"/>
            <a:miter lim="8000"/>
            <a:headEnd len="sm" w="sm" type="none"/>
            <a:tailEnd len="sm" w="sm" type="none"/>
          </a:ln>
        </p:spPr>
      </p:cxnSp>
      <p:sp>
        <p:nvSpPr>
          <p:cNvPr id="409" name="Google Shape;409;p17"/>
          <p:cNvSpPr/>
          <p:nvPr/>
        </p:nvSpPr>
        <p:spPr>
          <a:xfrm>
            <a:off x="3804525" y="4077663"/>
            <a:ext cx="1202100" cy="433800"/>
          </a:xfrm>
          <a:prstGeom prst="rect">
            <a:avLst/>
          </a:prstGeom>
          <a:solidFill>
            <a:srgbClr val="F2F2F2"/>
          </a:solidFill>
          <a:ln cap="flat" cmpd="sng" w="9525">
            <a:solidFill>
              <a:srgbClr val="D8D8D8"/>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Montserrat"/>
                <a:ea typeface="Montserrat"/>
                <a:cs typeface="Montserrat"/>
                <a:sym typeface="Montserrat"/>
              </a:rPr>
              <a:t>Iterative &amp; Incremental </a:t>
            </a:r>
            <a:endParaRPr b="0" i="0" sz="700" u="none" cap="none" strike="noStrike">
              <a:solidFill>
                <a:srgbClr val="000000"/>
              </a:solidFill>
              <a:latin typeface="Montserrat"/>
              <a:ea typeface="Montserrat"/>
              <a:cs typeface="Montserrat"/>
              <a:sym typeface="Montserrat"/>
            </a:endParaRPr>
          </a:p>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Montserrat"/>
                <a:ea typeface="Montserrat"/>
                <a:cs typeface="Montserrat"/>
                <a:sym typeface="Montserrat"/>
              </a:rPr>
              <a:t>Collaboration</a:t>
            </a:r>
            <a:endParaRPr b="0" i="0" sz="700" u="none" cap="none" strike="noStrike">
              <a:solidFill>
                <a:srgbClr val="FFFFFF"/>
              </a:solidFill>
              <a:latin typeface="Montserrat"/>
              <a:ea typeface="Montserrat"/>
              <a:cs typeface="Montserrat"/>
              <a:sym typeface="Montserrat"/>
            </a:endParaRPr>
          </a:p>
        </p:txBody>
      </p:sp>
      <p:sp>
        <p:nvSpPr>
          <p:cNvPr id="410" name="Google Shape;410;p17"/>
          <p:cNvSpPr/>
          <p:nvPr/>
        </p:nvSpPr>
        <p:spPr>
          <a:xfrm>
            <a:off x="2304491" y="3293825"/>
            <a:ext cx="1054200" cy="297900"/>
          </a:xfrm>
          <a:prstGeom prst="rect">
            <a:avLst/>
          </a:prstGeom>
          <a:noFill/>
          <a:ln>
            <a:noFill/>
          </a:ln>
        </p:spPr>
        <p:txBody>
          <a:bodyPr anchorCtr="0" anchor="t"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Montserrat"/>
                <a:ea typeface="Montserrat"/>
                <a:cs typeface="Montserrat"/>
                <a:sym typeface="Montserrat"/>
              </a:rPr>
              <a:t>Test Framework Setup</a:t>
            </a:r>
            <a:endParaRPr b="0" i="0" sz="700" u="none" cap="none" strike="noStrike">
              <a:solidFill>
                <a:srgbClr val="000000"/>
              </a:solidFill>
              <a:latin typeface="Montserrat"/>
              <a:ea typeface="Montserrat"/>
              <a:cs typeface="Montserrat"/>
              <a:sym typeface="Montserrat"/>
            </a:endParaRPr>
          </a:p>
        </p:txBody>
      </p:sp>
      <p:sp>
        <p:nvSpPr>
          <p:cNvPr id="411" name="Google Shape;411;p17"/>
          <p:cNvSpPr/>
          <p:nvPr/>
        </p:nvSpPr>
        <p:spPr>
          <a:xfrm>
            <a:off x="2463228" y="3738183"/>
            <a:ext cx="897300" cy="175200"/>
          </a:xfrm>
          <a:prstGeom prst="rect">
            <a:avLst/>
          </a:prstGeom>
          <a:noFill/>
          <a:ln>
            <a:noFill/>
          </a:ln>
        </p:spPr>
        <p:txBody>
          <a:bodyPr anchorCtr="0" anchor="t"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Montserrat"/>
                <a:ea typeface="Montserrat"/>
                <a:cs typeface="Montserrat"/>
                <a:sym typeface="Montserrat"/>
              </a:rPr>
              <a:t>Dev &amp; CI Setup</a:t>
            </a:r>
            <a:endParaRPr b="0" i="0" sz="700" u="none" cap="none" strike="noStrike">
              <a:solidFill>
                <a:srgbClr val="000000"/>
              </a:solidFill>
              <a:latin typeface="Montserrat"/>
              <a:ea typeface="Montserrat"/>
              <a:cs typeface="Montserrat"/>
              <a:sym typeface="Montserrat"/>
            </a:endParaRPr>
          </a:p>
        </p:txBody>
      </p:sp>
      <p:sp>
        <p:nvSpPr>
          <p:cNvPr id="412" name="Google Shape;412;p17"/>
          <p:cNvSpPr/>
          <p:nvPr/>
        </p:nvSpPr>
        <p:spPr>
          <a:xfrm>
            <a:off x="2308793" y="4041178"/>
            <a:ext cx="1202100" cy="433800"/>
          </a:xfrm>
          <a:prstGeom prst="rect">
            <a:avLst/>
          </a:prstGeom>
          <a:solidFill>
            <a:srgbClr val="F2F2F2"/>
          </a:solidFill>
          <a:ln cap="flat" cmpd="sng" w="9525">
            <a:solidFill>
              <a:srgbClr val="D8D8D8"/>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Montserrat"/>
                <a:ea typeface="Montserrat"/>
                <a:cs typeface="Montserrat"/>
                <a:sym typeface="Montserrat"/>
              </a:rPr>
              <a:t>Project Setup &amp; Preparation</a:t>
            </a:r>
            <a:endParaRPr b="0" i="0" sz="700" u="none" cap="none" strike="noStrike">
              <a:solidFill>
                <a:srgbClr val="FFFFFF"/>
              </a:solidFill>
              <a:latin typeface="Montserrat"/>
              <a:ea typeface="Montserrat"/>
              <a:cs typeface="Montserrat"/>
              <a:sym typeface="Montserrat"/>
            </a:endParaRPr>
          </a:p>
        </p:txBody>
      </p:sp>
      <p:sp>
        <p:nvSpPr>
          <p:cNvPr id="413" name="Google Shape;413;p17"/>
          <p:cNvSpPr/>
          <p:nvPr/>
        </p:nvSpPr>
        <p:spPr>
          <a:xfrm>
            <a:off x="4155819" y="2755171"/>
            <a:ext cx="576900" cy="175200"/>
          </a:xfrm>
          <a:prstGeom prst="rect">
            <a:avLst/>
          </a:prstGeom>
          <a:noFill/>
          <a:ln>
            <a:noFill/>
          </a:ln>
        </p:spPr>
        <p:txBody>
          <a:bodyPr anchorCtr="0" anchor="t"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Montserrat"/>
                <a:ea typeface="Montserrat"/>
                <a:cs typeface="Montserrat"/>
                <a:sym typeface="Montserrat"/>
              </a:rPr>
              <a:t>Analyse</a:t>
            </a:r>
            <a:endParaRPr b="0" i="0" sz="700" u="none" cap="none" strike="noStrike">
              <a:solidFill>
                <a:srgbClr val="000000"/>
              </a:solidFill>
              <a:latin typeface="Montserrat"/>
              <a:ea typeface="Montserrat"/>
              <a:cs typeface="Montserrat"/>
              <a:sym typeface="Montserrat"/>
            </a:endParaRPr>
          </a:p>
        </p:txBody>
      </p:sp>
      <p:sp>
        <p:nvSpPr>
          <p:cNvPr id="414" name="Google Shape;414;p17"/>
          <p:cNvSpPr/>
          <p:nvPr/>
        </p:nvSpPr>
        <p:spPr>
          <a:xfrm>
            <a:off x="4190073" y="3018350"/>
            <a:ext cx="508500" cy="175200"/>
          </a:xfrm>
          <a:prstGeom prst="rect">
            <a:avLst/>
          </a:prstGeom>
          <a:noFill/>
          <a:ln>
            <a:noFill/>
          </a:ln>
        </p:spPr>
        <p:txBody>
          <a:bodyPr anchorCtr="0" anchor="t"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Montserrat"/>
                <a:ea typeface="Montserrat"/>
                <a:cs typeface="Montserrat"/>
                <a:sym typeface="Montserrat"/>
              </a:rPr>
              <a:t>Design</a:t>
            </a:r>
            <a:endParaRPr b="0" i="0" sz="700" u="none" cap="none" strike="noStrike">
              <a:solidFill>
                <a:srgbClr val="000000"/>
              </a:solidFill>
              <a:latin typeface="Montserrat"/>
              <a:ea typeface="Montserrat"/>
              <a:cs typeface="Montserrat"/>
              <a:sym typeface="Montserrat"/>
            </a:endParaRPr>
          </a:p>
        </p:txBody>
      </p:sp>
      <p:sp>
        <p:nvSpPr>
          <p:cNvPr id="415" name="Google Shape;415;p17"/>
          <p:cNvSpPr/>
          <p:nvPr/>
        </p:nvSpPr>
        <p:spPr>
          <a:xfrm>
            <a:off x="4125640" y="3285549"/>
            <a:ext cx="648000" cy="175200"/>
          </a:xfrm>
          <a:prstGeom prst="rect">
            <a:avLst/>
          </a:prstGeom>
          <a:noFill/>
          <a:ln>
            <a:noFill/>
          </a:ln>
        </p:spPr>
        <p:txBody>
          <a:bodyPr anchorCtr="0" anchor="t"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Montserrat"/>
                <a:ea typeface="Montserrat"/>
                <a:cs typeface="Montserrat"/>
                <a:sym typeface="Montserrat"/>
              </a:rPr>
              <a:t>Code</a:t>
            </a:r>
            <a:endParaRPr b="0" i="0" sz="700" u="none" cap="none" strike="noStrike">
              <a:solidFill>
                <a:srgbClr val="000000"/>
              </a:solidFill>
              <a:latin typeface="Montserrat"/>
              <a:ea typeface="Montserrat"/>
              <a:cs typeface="Montserrat"/>
              <a:sym typeface="Montserrat"/>
            </a:endParaRPr>
          </a:p>
        </p:txBody>
      </p:sp>
      <p:sp>
        <p:nvSpPr>
          <p:cNvPr id="416" name="Google Shape;416;p17"/>
          <p:cNvSpPr/>
          <p:nvPr/>
        </p:nvSpPr>
        <p:spPr>
          <a:xfrm>
            <a:off x="4279537" y="3537980"/>
            <a:ext cx="329400" cy="175200"/>
          </a:xfrm>
          <a:prstGeom prst="rect">
            <a:avLst/>
          </a:prstGeom>
          <a:noFill/>
          <a:ln>
            <a:noFill/>
          </a:ln>
        </p:spPr>
        <p:txBody>
          <a:bodyPr anchorCtr="0" anchor="t"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Montserrat"/>
                <a:ea typeface="Montserrat"/>
                <a:cs typeface="Montserrat"/>
                <a:sym typeface="Montserrat"/>
              </a:rPr>
              <a:t>Test</a:t>
            </a:r>
            <a:endParaRPr b="0" i="0" sz="700" u="none" cap="none" strike="noStrike">
              <a:solidFill>
                <a:srgbClr val="000000"/>
              </a:solidFill>
              <a:latin typeface="Montserrat"/>
              <a:ea typeface="Montserrat"/>
              <a:cs typeface="Montserrat"/>
              <a:sym typeface="Montserrat"/>
            </a:endParaRPr>
          </a:p>
        </p:txBody>
      </p:sp>
      <p:sp>
        <p:nvSpPr>
          <p:cNvPr id="417" name="Google Shape;417;p17"/>
          <p:cNvSpPr/>
          <p:nvPr/>
        </p:nvSpPr>
        <p:spPr>
          <a:xfrm>
            <a:off x="4156461" y="3790409"/>
            <a:ext cx="536100" cy="175200"/>
          </a:xfrm>
          <a:prstGeom prst="rect">
            <a:avLst/>
          </a:prstGeom>
          <a:noFill/>
          <a:ln>
            <a:noFill/>
          </a:ln>
        </p:spPr>
        <p:txBody>
          <a:bodyPr anchorCtr="0" anchor="t"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Montserrat"/>
                <a:ea typeface="Montserrat"/>
                <a:cs typeface="Montserrat"/>
                <a:sym typeface="Montserrat"/>
              </a:rPr>
              <a:t>Deploy</a:t>
            </a:r>
            <a:endParaRPr b="0" i="0" sz="700" u="none" cap="none" strike="noStrike">
              <a:solidFill>
                <a:srgbClr val="000000"/>
              </a:solidFill>
              <a:latin typeface="Montserrat"/>
              <a:ea typeface="Montserrat"/>
              <a:cs typeface="Montserrat"/>
              <a:sym typeface="Montserrat"/>
            </a:endParaRPr>
          </a:p>
        </p:txBody>
      </p:sp>
      <p:cxnSp>
        <p:nvCxnSpPr>
          <p:cNvPr id="418" name="Google Shape;418;p17"/>
          <p:cNvCxnSpPr/>
          <p:nvPr/>
        </p:nvCxnSpPr>
        <p:spPr>
          <a:xfrm flipH="1">
            <a:off x="4443986" y="2927883"/>
            <a:ext cx="1200" cy="105000"/>
          </a:xfrm>
          <a:prstGeom prst="straightConnector1">
            <a:avLst/>
          </a:prstGeom>
          <a:noFill/>
          <a:ln cap="flat" cmpd="sng" w="9525">
            <a:solidFill>
              <a:srgbClr val="616161"/>
            </a:solidFill>
            <a:prstDash val="solid"/>
            <a:miter lim="8000"/>
            <a:headEnd len="sm" w="sm" type="none"/>
            <a:tailEnd len="med" w="med" type="triangle"/>
          </a:ln>
        </p:spPr>
      </p:cxnSp>
      <p:cxnSp>
        <p:nvCxnSpPr>
          <p:cNvPr id="419" name="Google Shape;419;p17"/>
          <p:cNvCxnSpPr/>
          <p:nvPr/>
        </p:nvCxnSpPr>
        <p:spPr>
          <a:xfrm>
            <a:off x="3995621" y="2867471"/>
            <a:ext cx="147900" cy="0"/>
          </a:xfrm>
          <a:prstGeom prst="straightConnector1">
            <a:avLst/>
          </a:prstGeom>
          <a:noFill/>
          <a:ln cap="flat" cmpd="sng" w="9525">
            <a:solidFill>
              <a:srgbClr val="616161"/>
            </a:solidFill>
            <a:prstDash val="solid"/>
            <a:miter lim="8000"/>
            <a:headEnd len="sm" w="sm" type="none"/>
            <a:tailEnd len="med" w="med" type="triangle"/>
          </a:ln>
        </p:spPr>
      </p:cxnSp>
      <p:cxnSp>
        <p:nvCxnSpPr>
          <p:cNvPr id="420" name="Google Shape;420;p17"/>
          <p:cNvCxnSpPr/>
          <p:nvPr/>
        </p:nvCxnSpPr>
        <p:spPr>
          <a:xfrm>
            <a:off x="3992919" y="3881063"/>
            <a:ext cx="150900" cy="0"/>
          </a:xfrm>
          <a:prstGeom prst="straightConnector1">
            <a:avLst/>
          </a:prstGeom>
          <a:noFill/>
          <a:ln cap="flat" cmpd="sng" w="12700">
            <a:solidFill>
              <a:srgbClr val="7F7F7F"/>
            </a:solidFill>
            <a:prstDash val="solid"/>
            <a:miter lim="8000"/>
            <a:headEnd len="sm" w="sm" type="none"/>
            <a:tailEnd len="sm" w="sm" type="none"/>
          </a:ln>
        </p:spPr>
      </p:cxnSp>
      <p:sp>
        <p:nvSpPr>
          <p:cNvPr id="421" name="Google Shape;421;p17"/>
          <p:cNvSpPr/>
          <p:nvPr/>
        </p:nvSpPr>
        <p:spPr>
          <a:xfrm rot="-5400000">
            <a:off x="3694246" y="3254831"/>
            <a:ext cx="452400" cy="162600"/>
          </a:xfrm>
          <a:prstGeom prst="rect">
            <a:avLst/>
          </a:prstGeom>
          <a:noFill/>
          <a:ln>
            <a:noFill/>
          </a:ln>
        </p:spPr>
        <p:txBody>
          <a:bodyPr anchorCtr="0" anchor="t"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600"/>
              <a:buFont typeface="Arial"/>
              <a:buNone/>
            </a:pPr>
            <a:r>
              <a:rPr b="0" i="0" lang="en" sz="600" u="none" cap="none" strike="noStrike">
                <a:solidFill>
                  <a:srgbClr val="000000"/>
                </a:solidFill>
                <a:latin typeface="Century Gothic"/>
                <a:ea typeface="Century Gothic"/>
                <a:cs typeface="Century Gothic"/>
                <a:sym typeface="Century Gothic"/>
              </a:rPr>
              <a:t>Repeat</a:t>
            </a:r>
            <a:endParaRPr b="0" i="0" sz="600" u="none" cap="none" strike="noStrike">
              <a:solidFill>
                <a:srgbClr val="000000"/>
              </a:solidFill>
              <a:latin typeface="Century Gothic"/>
              <a:ea typeface="Century Gothic"/>
              <a:cs typeface="Century Gothic"/>
              <a:sym typeface="Century Gothic"/>
            </a:endParaRPr>
          </a:p>
        </p:txBody>
      </p:sp>
      <p:cxnSp>
        <p:nvCxnSpPr>
          <p:cNvPr id="422" name="Google Shape;422;p17"/>
          <p:cNvCxnSpPr/>
          <p:nvPr/>
        </p:nvCxnSpPr>
        <p:spPr>
          <a:xfrm flipH="1">
            <a:off x="4443986" y="3192628"/>
            <a:ext cx="1200" cy="105000"/>
          </a:xfrm>
          <a:prstGeom prst="straightConnector1">
            <a:avLst/>
          </a:prstGeom>
          <a:noFill/>
          <a:ln cap="flat" cmpd="sng" w="9525">
            <a:solidFill>
              <a:srgbClr val="616161"/>
            </a:solidFill>
            <a:prstDash val="solid"/>
            <a:miter lim="8000"/>
            <a:headEnd len="sm" w="sm" type="none"/>
            <a:tailEnd len="med" w="med" type="triangle"/>
          </a:ln>
        </p:spPr>
      </p:cxnSp>
      <p:cxnSp>
        <p:nvCxnSpPr>
          <p:cNvPr id="423" name="Google Shape;423;p17"/>
          <p:cNvCxnSpPr/>
          <p:nvPr/>
        </p:nvCxnSpPr>
        <p:spPr>
          <a:xfrm flipH="1">
            <a:off x="4443986" y="3457373"/>
            <a:ext cx="1200" cy="105000"/>
          </a:xfrm>
          <a:prstGeom prst="straightConnector1">
            <a:avLst/>
          </a:prstGeom>
          <a:noFill/>
          <a:ln cap="flat" cmpd="sng" w="9525">
            <a:solidFill>
              <a:srgbClr val="616161"/>
            </a:solidFill>
            <a:prstDash val="solid"/>
            <a:miter lim="8000"/>
            <a:headEnd len="sm" w="sm" type="none"/>
            <a:tailEnd len="med" w="med" type="triangle"/>
          </a:ln>
        </p:spPr>
      </p:cxnSp>
      <p:cxnSp>
        <p:nvCxnSpPr>
          <p:cNvPr id="424" name="Google Shape;424;p17"/>
          <p:cNvCxnSpPr/>
          <p:nvPr/>
        </p:nvCxnSpPr>
        <p:spPr>
          <a:xfrm flipH="1">
            <a:off x="4443986" y="3714215"/>
            <a:ext cx="1200" cy="105000"/>
          </a:xfrm>
          <a:prstGeom prst="straightConnector1">
            <a:avLst/>
          </a:prstGeom>
          <a:noFill/>
          <a:ln cap="flat" cmpd="sng" w="9525">
            <a:solidFill>
              <a:srgbClr val="616161"/>
            </a:solidFill>
            <a:prstDash val="solid"/>
            <a:miter lim="8000"/>
            <a:headEnd len="sm" w="sm" type="none"/>
            <a:tailEnd len="med" w="med" type="triangle"/>
          </a:ln>
        </p:spPr>
      </p:cxnSp>
      <p:pic>
        <p:nvPicPr>
          <p:cNvPr id="425" name="Google Shape;425;p17"/>
          <p:cNvPicPr preferRelativeResize="0"/>
          <p:nvPr/>
        </p:nvPicPr>
        <p:blipFill rotWithShape="1">
          <a:blip r:embed="rId3">
            <a:alphaModFix/>
          </a:blip>
          <a:srcRect b="20805" l="17274" r="12333" t="17276"/>
          <a:stretch/>
        </p:blipFill>
        <p:spPr>
          <a:xfrm>
            <a:off x="2755125" y="1771113"/>
            <a:ext cx="228668" cy="211275"/>
          </a:xfrm>
          <a:prstGeom prst="rect">
            <a:avLst/>
          </a:prstGeom>
          <a:noFill/>
          <a:ln>
            <a:noFill/>
          </a:ln>
        </p:spPr>
      </p:pic>
      <p:pic>
        <p:nvPicPr>
          <p:cNvPr id="426" name="Google Shape;426;p17"/>
          <p:cNvPicPr preferRelativeResize="0"/>
          <p:nvPr/>
        </p:nvPicPr>
        <p:blipFill rotWithShape="1">
          <a:blip r:embed="rId4">
            <a:alphaModFix/>
          </a:blip>
          <a:srcRect b="0" l="0" r="0" t="0"/>
          <a:stretch/>
        </p:blipFill>
        <p:spPr>
          <a:xfrm>
            <a:off x="5605313" y="1880725"/>
            <a:ext cx="228675" cy="228675"/>
          </a:xfrm>
          <a:prstGeom prst="rect">
            <a:avLst/>
          </a:prstGeom>
          <a:noFill/>
          <a:ln>
            <a:noFill/>
          </a:ln>
        </p:spPr>
      </p:pic>
      <p:pic>
        <p:nvPicPr>
          <p:cNvPr id="427" name="Google Shape;427;p17"/>
          <p:cNvPicPr preferRelativeResize="0"/>
          <p:nvPr/>
        </p:nvPicPr>
        <p:blipFill rotWithShape="1">
          <a:blip r:embed="rId5">
            <a:alphaModFix/>
          </a:blip>
          <a:srcRect b="0" l="0" r="0" t="0"/>
          <a:stretch/>
        </p:blipFill>
        <p:spPr>
          <a:xfrm>
            <a:off x="6691264" y="1886352"/>
            <a:ext cx="365700" cy="217409"/>
          </a:xfrm>
          <a:prstGeom prst="rect">
            <a:avLst/>
          </a:prstGeom>
          <a:noFill/>
          <a:ln>
            <a:noFill/>
          </a:ln>
        </p:spPr>
      </p:pic>
      <p:pic>
        <p:nvPicPr>
          <p:cNvPr id="428" name="Google Shape;428;p17"/>
          <p:cNvPicPr preferRelativeResize="0"/>
          <p:nvPr/>
        </p:nvPicPr>
        <p:blipFill rotWithShape="1">
          <a:blip r:embed="rId6">
            <a:alphaModFix/>
          </a:blip>
          <a:srcRect b="0" l="0" r="0" t="0"/>
          <a:stretch/>
        </p:blipFill>
        <p:spPr>
          <a:xfrm>
            <a:off x="8118138" y="1785736"/>
            <a:ext cx="228675" cy="228675"/>
          </a:xfrm>
          <a:prstGeom prst="rect">
            <a:avLst/>
          </a:prstGeom>
          <a:noFill/>
          <a:ln>
            <a:noFill/>
          </a:ln>
        </p:spPr>
      </p:pic>
      <p:grpSp>
        <p:nvGrpSpPr>
          <p:cNvPr id="429" name="Google Shape;429;p17"/>
          <p:cNvGrpSpPr/>
          <p:nvPr/>
        </p:nvGrpSpPr>
        <p:grpSpPr>
          <a:xfrm>
            <a:off x="308754" y="1982358"/>
            <a:ext cx="1734192" cy="256660"/>
            <a:chOff x="530597" y="1659894"/>
            <a:chExt cx="1541778" cy="210931"/>
          </a:xfrm>
        </p:grpSpPr>
        <p:sp>
          <p:nvSpPr>
            <p:cNvPr id="430" name="Google Shape;430;p17"/>
            <p:cNvSpPr txBox="1"/>
            <p:nvPr/>
          </p:nvSpPr>
          <p:spPr>
            <a:xfrm>
              <a:off x="765875" y="1666825"/>
              <a:ext cx="1306500" cy="204000"/>
            </a:xfrm>
            <a:prstGeom prst="rect">
              <a:avLst/>
            </a:prstGeom>
            <a:solidFill>
              <a:srgbClr val="F3F3F3"/>
            </a:solidFill>
            <a:ln cap="flat" cmpd="sng" w="9525">
              <a:solidFill>
                <a:srgbClr val="EFEFE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000000"/>
                  </a:solidFill>
                  <a:latin typeface="Montserrat"/>
                  <a:ea typeface="Montserrat"/>
                  <a:cs typeface="Montserrat"/>
                  <a:sym typeface="Montserrat"/>
                </a:rPr>
                <a:t>Project Manager/Business Analyst</a:t>
              </a:r>
              <a:endParaRPr b="0" i="0" sz="800" u="none" cap="none" strike="noStrike">
                <a:solidFill>
                  <a:srgbClr val="000000"/>
                </a:solidFill>
                <a:latin typeface="Montserrat"/>
                <a:ea typeface="Montserrat"/>
                <a:cs typeface="Montserrat"/>
                <a:sym typeface="Montserrat"/>
              </a:endParaRPr>
            </a:p>
          </p:txBody>
        </p:sp>
        <p:pic>
          <p:nvPicPr>
            <p:cNvPr id="431" name="Google Shape;431;p17"/>
            <p:cNvPicPr preferRelativeResize="0"/>
            <p:nvPr/>
          </p:nvPicPr>
          <p:blipFill rotWithShape="1">
            <a:blip r:embed="rId7">
              <a:alphaModFix/>
            </a:blip>
            <a:srcRect b="0" l="0" r="0" t="0"/>
            <a:stretch/>
          </p:blipFill>
          <p:spPr>
            <a:xfrm>
              <a:off x="530597" y="1659894"/>
              <a:ext cx="156625" cy="197711"/>
            </a:xfrm>
            <a:prstGeom prst="rect">
              <a:avLst/>
            </a:prstGeom>
            <a:noFill/>
            <a:ln>
              <a:noFill/>
            </a:ln>
          </p:spPr>
        </p:pic>
      </p:grpSp>
      <p:sp>
        <p:nvSpPr>
          <p:cNvPr id="432" name="Google Shape;432;p17"/>
          <p:cNvSpPr txBox="1"/>
          <p:nvPr/>
        </p:nvSpPr>
        <p:spPr>
          <a:xfrm>
            <a:off x="2538875" y="980525"/>
            <a:ext cx="4908300" cy="3387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000"/>
              <a:buFont typeface="Arial"/>
              <a:buNone/>
            </a:pPr>
            <a:r>
              <a:rPr b="1" i="0" lang="en" sz="1000" u="none" cap="none" strike="noStrike">
                <a:solidFill>
                  <a:schemeClr val="accent2"/>
                </a:solidFill>
                <a:latin typeface="Montserrat"/>
                <a:ea typeface="Montserrat"/>
                <a:cs typeface="Montserrat"/>
                <a:sym typeface="Montserrat"/>
              </a:rPr>
              <a:t>Agile Based iterative Development Approach</a:t>
            </a:r>
            <a:endParaRPr b="1" i="0" sz="1000" u="none" cap="none" strike="noStrike">
              <a:solidFill>
                <a:schemeClr val="accent2"/>
              </a:solidFill>
              <a:latin typeface="Montserrat"/>
              <a:ea typeface="Montserrat"/>
              <a:cs typeface="Montserrat"/>
              <a:sym typeface="Montserrat"/>
            </a:endParaRPr>
          </a:p>
        </p:txBody>
      </p:sp>
      <p:sp>
        <p:nvSpPr>
          <p:cNvPr id="433" name="Google Shape;433;p17"/>
          <p:cNvSpPr txBox="1"/>
          <p:nvPr/>
        </p:nvSpPr>
        <p:spPr>
          <a:xfrm>
            <a:off x="-241825" y="1505825"/>
            <a:ext cx="3000000" cy="3231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chemeClr val="accent2"/>
                </a:solidFill>
                <a:latin typeface="Montserrat"/>
                <a:ea typeface="Montserrat"/>
                <a:cs typeface="Montserrat"/>
                <a:sym typeface="Montserrat"/>
              </a:rPr>
              <a:t>TTN Engineering Team</a:t>
            </a:r>
            <a:endParaRPr b="1" i="0" sz="900" u="none" cap="none" strike="noStrike">
              <a:solidFill>
                <a:schemeClr val="accent2"/>
              </a:solidFill>
              <a:latin typeface="Montserrat"/>
              <a:ea typeface="Montserrat"/>
              <a:cs typeface="Montserrat"/>
              <a:sym typeface="Montserrat"/>
            </a:endParaRPr>
          </a:p>
        </p:txBody>
      </p:sp>
      <p:sp>
        <p:nvSpPr>
          <p:cNvPr id="434" name="Google Shape;434;p17"/>
          <p:cNvSpPr/>
          <p:nvPr/>
        </p:nvSpPr>
        <p:spPr>
          <a:xfrm>
            <a:off x="2344200" y="2880388"/>
            <a:ext cx="1013700" cy="262800"/>
          </a:xfrm>
          <a:prstGeom prst="rect">
            <a:avLst/>
          </a:prstGeom>
          <a:noFill/>
          <a:ln>
            <a:noFill/>
          </a:ln>
        </p:spPr>
        <p:txBody>
          <a:bodyPr anchorCtr="0" anchor="t"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Montserrat"/>
                <a:ea typeface="Montserrat"/>
                <a:cs typeface="Montserrat"/>
                <a:sym typeface="Montserrat"/>
              </a:rPr>
              <a:t>Tech &amp; Functional Discovery</a:t>
            </a:r>
            <a:endParaRPr b="0" i="0" sz="700" u="none" cap="none" strike="noStrike">
              <a:solidFill>
                <a:srgbClr val="000000"/>
              </a:solidFill>
              <a:latin typeface="Montserrat"/>
              <a:ea typeface="Montserrat"/>
              <a:cs typeface="Montserrat"/>
              <a:sym typeface="Montserrat"/>
            </a:endParaRPr>
          </a:p>
        </p:txBody>
      </p:sp>
      <p:grpSp>
        <p:nvGrpSpPr>
          <p:cNvPr id="435" name="Google Shape;435;p17"/>
          <p:cNvGrpSpPr/>
          <p:nvPr/>
        </p:nvGrpSpPr>
        <p:grpSpPr>
          <a:xfrm>
            <a:off x="298800" y="2292174"/>
            <a:ext cx="1734192" cy="256660"/>
            <a:chOff x="530597" y="1659894"/>
            <a:chExt cx="1541778" cy="210931"/>
          </a:xfrm>
        </p:grpSpPr>
        <p:sp>
          <p:nvSpPr>
            <p:cNvPr id="436" name="Google Shape;436;p17"/>
            <p:cNvSpPr txBox="1"/>
            <p:nvPr/>
          </p:nvSpPr>
          <p:spPr>
            <a:xfrm>
              <a:off x="765875" y="1666825"/>
              <a:ext cx="1306500" cy="204000"/>
            </a:xfrm>
            <a:prstGeom prst="rect">
              <a:avLst/>
            </a:prstGeom>
            <a:solidFill>
              <a:srgbClr val="F3F3F3"/>
            </a:solidFill>
            <a:ln cap="flat" cmpd="sng" w="9525">
              <a:solidFill>
                <a:srgbClr val="EFEFE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000000"/>
                  </a:solidFill>
                  <a:latin typeface="Montserrat"/>
                  <a:ea typeface="Montserrat"/>
                  <a:cs typeface="Montserrat"/>
                  <a:sym typeface="Montserrat"/>
                </a:rPr>
                <a:t>Technical lead</a:t>
              </a:r>
              <a:endParaRPr b="0" i="0" sz="800" u="none" cap="none" strike="noStrike">
                <a:solidFill>
                  <a:srgbClr val="000000"/>
                </a:solidFill>
                <a:latin typeface="Montserrat"/>
                <a:ea typeface="Montserrat"/>
                <a:cs typeface="Montserrat"/>
                <a:sym typeface="Montserrat"/>
              </a:endParaRPr>
            </a:p>
          </p:txBody>
        </p:sp>
        <p:pic>
          <p:nvPicPr>
            <p:cNvPr id="437" name="Google Shape;437;p17"/>
            <p:cNvPicPr preferRelativeResize="0"/>
            <p:nvPr/>
          </p:nvPicPr>
          <p:blipFill rotWithShape="1">
            <a:blip r:embed="rId7">
              <a:alphaModFix/>
            </a:blip>
            <a:srcRect b="0" l="0" r="0" t="0"/>
            <a:stretch/>
          </p:blipFill>
          <p:spPr>
            <a:xfrm>
              <a:off x="530597" y="1659894"/>
              <a:ext cx="156625" cy="197711"/>
            </a:xfrm>
            <a:prstGeom prst="rect">
              <a:avLst/>
            </a:prstGeom>
            <a:noFill/>
            <a:ln>
              <a:noFill/>
            </a:ln>
          </p:spPr>
        </p:pic>
      </p:grpSp>
      <p:grpSp>
        <p:nvGrpSpPr>
          <p:cNvPr id="438" name="Google Shape;438;p17"/>
          <p:cNvGrpSpPr/>
          <p:nvPr/>
        </p:nvGrpSpPr>
        <p:grpSpPr>
          <a:xfrm>
            <a:off x="308757" y="2617640"/>
            <a:ext cx="1734192" cy="256660"/>
            <a:chOff x="530597" y="1659894"/>
            <a:chExt cx="1541778" cy="210931"/>
          </a:xfrm>
        </p:grpSpPr>
        <p:sp>
          <p:nvSpPr>
            <p:cNvPr id="439" name="Google Shape;439;p17"/>
            <p:cNvSpPr txBox="1"/>
            <p:nvPr/>
          </p:nvSpPr>
          <p:spPr>
            <a:xfrm>
              <a:off x="765875" y="1666825"/>
              <a:ext cx="1306500" cy="204000"/>
            </a:xfrm>
            <a:prstGeom prst="rect">
              <a:avLst/>
            </a:prstGeom>
            <a:solidFill>
              <a:srgbClr val="F3F3F3"/>
            </a:solidFill>
            <a:ln cap="flat" cmpd="sng" w="9525">
              <a:solidFill>
                <a:srgbClr val="EFEFE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000000"/>
                  </a:solidFill>
                  <a:latin typeface="Montserrat"/>
                  <a:ea typeface="Montserrat"/>
                  <a:cs typeface="Montserrat"/>
                  <a:sym typeface="Montserrat"/>
                </a:rPr>
                <a:t>DevOps Experts</a:t>
              </a:r>
              <a:endParaRPr b="0" i="0" sz="800" u="none" cap="none" strike="noStrike">
                <a:solidFill>
                  <a:srgbClr val="000000"/>
                </a:solidFill>
                <a:latin typeface="Montserrat"/>
                <a:ea typeface="Montserrat"/>
                <a:cs typeface="Montserrat"/>
                <a:sym typeface="Montserrat"/>
              </a:endParaRPr>
            </a:p>
          </p:txBody>
        </p:sp>
        <p:pic>
          <p:nvPicPr>
            <p:cNvPr id="440" name="Google Shape;440;p17"/>
            <p:cNvPicPr preferRelativeResize="0"/>
            <p:nvPr/>
          </p:nvPicPr>
          <p:blipFill rotWithShape="1">
            <a:blip r:embed="rId7">
              <a:alphaModFix/>
            </a:blip>
            <a:srcRect b="0" l="0" r="0" t="0"/>
            <a:stretch/>
          </p:blipFill>
          <p:spPr>
            <a:xfrm>
              <a:off x="530597" y="1659894"/>
              <a:ext cx="156625" cy="197711"/>
            </a:xfrm>
            <a:prstGeom prst="rect">
              <a:avLst/>
            </a:prstGeom>
            <a:noFill/>
            <a:ln>
              <a:noFill/>
            </a:ln>
          </p:spPr>
        </p:pic>
      </p:grpSp>
      <p:grpSp>
        <p:nvGrpSpPr>
          <p:cNvPr id="441" name="Google Shape;441;p17"/>
          <p:cNvGrpSpPr/>
          <p:nvPr/>
        </p:nvGrpSpPr>
        <p:grpSpPr>
          <a:xfrm>
            <a:off x="298803" y="2943091"/>
            <a:ext cx="1734192" cy="256660"/>
            <a:chOff x="530597" y="1659894"/>
            <a:chExt cx="1541778" cy="210931"/>
          </a:xfrm>
        </p:grpSpPr>
        <p:sp>
          <p:nvSpPr>
            <p:cNvPr id="442" name="Google Shape;442;p17"/>
            <p:cNvSpPr txBox="1"/>
            <p:nvPr/>
          </p:nvSpPr>
          <p:spPr>
            <a:xfrm>
              <a:off x="765875" y="1666825"/>
              <a:ext cx="1306500" cy="204000"/>
            </a:xfrm>
            <a:prstGeom prst="rect">
              <a:avLst/>
            </a:prstGeom>
            <a:solidFill>
              <a:srgbClr val="F3F3F3"/>
            </a:solidFill>
            <a:ln cap="flat" cmpd="sng" w="9525">
              <a:solidFill>
                <a:srgbClr val="EFEFE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000000"/>
                  </a:solidFill>
                  <a:latin typeface="Montserrat"/>
                  <a:ea typeface="Montserrat"/>
                  <a:cs typeface="Montserrat"/>
                  <a:sym typeface="Montserrat"/>
                </a:rPr>
                <a:t>Ui/UX Expert</a:t>
              </a:r>
              <a:endParaRPr b="0" i="0" sz="800" u="none" cap="none" strike="noStrike">
                <a:solidFill>
                  <a:srgbClr val="000000"/>
                </a:solidFill>
                <a:latin typeface="Montserrat"/>
                <a:ea typeface="Montserrat"/>
                <a:cs typeface="Montserrat"/>
                <a:sym typeface="Montserrat"/>
              </a:endParaRPr>
            </a:p>
          </p:txBody>
        </p:sp>
        <p:pic>
          <p:nvPicPr>
            <p:cNvPr id="443" name="Google Shape;443;p17"/>
            <p:cNvPicPr preferRelativeResize="0"/>
            <p:nvPr/>
          </p:nvPicPr>
          <p:blipFill rotWithShape="1">
            <a:blip r:embed="rId7">
              <a:alphaModFix/>
            </a:blip>
            <a:srcRect b="0" l="0" r="0" t="0"/>
            <a:stretch/>
          </p:blipFill>
          <p:spPr>
            <a:xfrm>
              <a:off x="530597" y="1659894"/>
              <a:ext cx="156625" cy="197711"/>
            </a:xfrm>
            <a:prstGeom prst="rect">
              <a:avLst/>
            </a:prstGeom>
            <a:noFill/>
            <a:ln>
              <a:noFill/>
            </a:ln>
          </p:spPr>
        </p:pic>
      </p:grpSp>
      <p:grpSp>
        <p:nvGrpSpPr>
          <p:cNvPr id="444" name="Google Shape;444;p17"/>
          <p:cNvGrpSpPr/>
          <p:nvPr/>
        </p:nvGrpSpPr>
        <p:grpSpPr>
          <a:xfrm>
            <a:off x="298803" y="3281643"/>
            <a:ext cx="1734192" cy="256660"/>
            <a:chOff x="530597" y="1659894"/>
            <a:chExt cx="1541778" cy="210931"/>
          </a:xfrm>
        </p:grpSpPr>
        <p:sp>
          <p:nvSpPr>
            <p:cNvPr id="445" name="Google Shape;445;p17"/>
            <p:cNvSpPr txBox="1"/>
            <p:nvPr/>
          </p:nvSpPr>
          <p:spPr>
            <a:xfrm>
              <a:off x="765875" y="1666825"/>
              <a:ext cx="1306500" cy="204000"/>
            </a:xfrm>
            <a:prstGeom prst="rect">
              <a:avLst/>
            </a:prstGeom>
            <a:solidFill>
              <a:srgbClr val="F3F3F3"/>
            </a:solidFill>
            <a:ln cap="flat" cmpd="sng" w="9525">
              <a:solidFill>
                <a:srgbClr val="EFEFE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000000"/>
                  </a:solidFill>
                  <a:latin typeface="Montserrat"/>
                  <a:ea typeface="Montserrat"/>
                  <a:cs typeface="Montserrat"/>
                  <a:sym typeface="Montserrat"/>
                </a:rPr>
                <a:t>Mobility Developer</a:t>
              </a:r>
              <a:endParaRPr b="0" i="0" sz="800" u="none" cap="none" strike="noStrike">
                <a:solidFill>
                  <a:srgbClr val="000000"/>
                </a:solidFill>
                <a:latin typeface="Montserrat"/>
                <a:ea typeface="Montserrat"/>
                <a:cs typeface="Montserrat"/>
                <a:sym typeface="Montserrat"/>
              </a:endParaRPr>
            </a:p>
          </p:txBody>
        </p:sp>
        <p:pic>
          <p:nvPicPr>
            <p:cNvPr id="446" name="Google Shape;446;p17"/>
            <p:cNvPicPr preferRelativeResize="0"/>
            <p:nvPr/>
          </p:nvPicPr>
          <p:blipFill rotWithShape="1">
            <a:blip r:embed="rId7">
              <a:alphaModFix/>
            </a:blip>
            <a:srcRect b="0" l="0" r="0" t="0"/>
            <a:stretch/>
          </p:blipFill>
          <p:spPr>
            <a:xfrm>
              <a:off x="530597" y="1659894"/>
              <a:ext cx="156625" cy="197711"/>
            </a:xfrm>
            <a:prstGeom prst="rect">
              <a:avLst/>
            </a:prstGeom>
            <a:noFill/>
            <a:ln>
              <a:noFill/>
            </a:ln>
          </p:spPr>
        </p:pic>
      </p:grpSp>
      <p:grpSp>
        <p:nvGrpSpPr>
          <p:cNvPr id="447" name="Google Shape;447;p17"/>
          <p:cNvGrpSpPr/>
          <p:nvPr/>
        </p:nvGrpSpPr>
        <p:grpSpPr>
          <a:xfrm>
            <a:off x="298803" y="3624423"/>
            <a:ext cx="1734192" cy="256660"/>
            <a:chOff x="530597" y="1659894"/>
            <a:chExt cx="1541778" cy="210931"/>
          </a:xfrm>
        </p:grpSpPr>
        <p:sp>
          <p:nvSpPr>
            <p:cNvPr id="448" name="Google Shape;448;p17"/>
            <p:cNvSpPr txBox="1"/>
            <p:nvPr/>
          </p:nvSpPr>
          <p:spPr>
            <a:xfrm>
              <a:off x="765875" y="1666825"/>
              <a:ext cx="1306500" cy="204000"/>
            </a:xfrm>
            <a:prstGeom prst="rect">
              <a:avLst/>
            </a:prstGeom>
            <a:solidFill>
              <a:srgbClr val="F3F3F3"/>
            </a:solidFill>
            <a:ln cap="flat" cmpd="sng" w="9525">
              <a:solidFill>
                <a:srgbClr val="EFEFE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000000"/>
                  </a:solidFill>
                  <a:latin typeface="Montserrat"/>
                  <a:ea typeface="Montserrat"/>
                  <a:cs typeface="Montserrat"/>
                  <a:sym typeface="Montserrat"/>
                </a:rPr>
                <a:t>Quality Analyst</a:t>
              </a:r>
              <a:endParaRPr b="0" i="0" sz="800" u="none" cap="none" strike="noStrike">
                <a:solidFill>
                  <a:srgbClr val="000000"/>
                </a:solidFill>
                <a:latin typeface="Montserrat"/>
                <a:ea typeface="Montserrat"/>
                <a:cs typeface="Montserrat"/>
                <a:sym typeface="Montserrat"/>
              </a:endParaRPr>
            </a:p>
          </p:txBody>
        </p:sp>
        <p:pic>
          <p:nvPicPr>
            <p:cNvPr id="449" name="Google Shape;449;p17"/>
            <p:cNvPicPr preferRelativeResize="0"/>
            <p:nvPr/>
          </p:nvPicPr>
          <p:blipFill rotWithShape="1">
            <a:blip r:embed="rId7">
              <a:alphaModFix/>
            </a:blip>
            <a:srcRect b="0" l="0" r="0" t="0"/>
            <a:stretch/>
          </p:blipFill>
          <p:spPr>
            <a:xfrm>
              <a:off x="530597" y="1659894"/>
              <a:ext cx="156625" cy="197711"/>
            </a:xfrm>
            <a:prstGeom prst="rect">
              <a:avLst/>
            </a:prstGeom>
            <a:noFill/>
            <a:ln>
              <a:noFill/>
            </a:ln>
          </p:spPr>
        </p:pic>
      </p:grpSp>
      <p:sp>
        <p:nvSpPr>
          <p:cNvPr id="450" name="Google Shape;450;p17"/>
          <p:cNvSpPr txBox="1"/>
          <p:nvPr/>
        </p:nvSpPr>
        <p:spPr>
          <a:xfrm>
            <a:off x="5325050" y="2625250"/>
            <a:ext cx="3480300" cy="1313700"/>
          </a:xfrm>
          <a:prstGeom prst="rect">
            <a:avLst/>
          </a:prstGeom>
          <a:solidFill>
            <a:srgbClr val="FFFFFF"/>
          </a:solidFill>
          <a:ln cap="flat" cmpd="sng" w="9525">
            <a:solidFill>
              <a:srgbClr val="EFEFEF"/>
            </a:solidFill>
            <a:prstDash val="solid"/>
            <a:round/>
            <a:headEnd len="sm" w="sm" type="none"/>
            <a:tailEnd len="sm" w="sm" type="none"/>
          </a:ln>
          <a:effectLst>
            <a:outerShdw blurRad="157163" rotWithShape="0" algn="bl" dir="9060000" dist="9525">
              <a:srgbClr val="000000">
                <a:alpha val="14118"/>
              </a:srgbClr>
            </a:outerShdw>
          </a:effectLst>
        </p:spPr>
        <p:txBody>
          <a:bodyPr anchorCtr="0" anchor="t" bIns="91425" lIns="91425" spcFirstLastPara="1" rIns="91425" wrap="square" tIns="91425">
            <a:spAutoFit/>
          </a:bodyPr>
          <a:lstStyle/>
          <a:p>
            <a:r>
              <a:t>We follow a structured implementation methodology that prioritizes seamless integration with existing systems such as SAP for real-time inventory and order management, and Stripe, PayPal, and Afterpay for multi-currency checkout. Our React Native-based Self-Care app provides a unified customer experience with features like order tracking, returns, and saved payment methods. We ensure compliance with PCI-DSS Level 1 through tokenized card data flows and GDPR/CCPA standards, while also building for WCAG 2.1 AA accessibility guidelines.</a:t>
            </a:r>
          </a:p>
        </p:txBody>
      </p:sp>
      <p:sp>
        <p:nvSpPr>
          <p:cNvPr id="451" name="Google Shape;451;p17"/>
          <p:cNvSpPr txBox="1"/>
          <p:nvPr>
            <p:ph idx="12" type="sldNum"/>
          </p:nvPr>
        </p:nvSpPr>
        <p:spPr>
          <a:xfrm>
            <a:off x="8556784" y="6333134"/>
            <a:ext cx="548700" cy="5250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sz="1000">
                <a:latin typeface="Montserrat"/>
                <a:ea typeface="Montserrat"/>
                <a:cs typeface="Montserrat"/>
                <a:sym typeface="Montserrat"/>
              </a:rPr>
              <a:t>‹#›</a:t>
            </a:fld>
            <a:endParaRPr sz="1000">
              <a:latin typeface="Montserrat"/>
              <a:ea typeface="Montserrat"/>
              <a:cs typeface="Montserrat"/>
              <a:sym typeface="Montserrat"/>
            </a:endParaRPr>
          </a:p>
        </p:txBody>
      </p:sp>
      <p:sp>
        <p:nvSpPr>
          <p:cNvPr id="452" name="Google Shape;452;p17"/>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sz="1000"/>
              <a:t>‹#›</a:t>
            </a:fld>
            <a:endParaRPr sz="1000"/>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6" name="Shape 456"/>
        <p:cNvGrpSpPr/>
        <p:nvPr/>
      </p:nvGrpSpPr>
      <p:grpSpPr>
        <a:xfrm>
          <a:off x="0" y="0"/>
          <a:ext cx="0" cy="0"/>
          <a:chOff x="0" y="0"/>
          <a:chExt cx="0" cy="0"/>
        </a:xfrm>
      </p:grpSpPr>
      <p:sp>
        <p:nvSpPr>
          <p:cNvPr id="457" name="Google Shape;457;p18"/>
          <p:cNvSpPr txBox="1"/>
          <p:nvPr/>
        </p:nvSpPr>
        <p:spPr>
          <a:xfrm>
            <a:off x="105040" y="143994"/>
            <a:ext cx="6765900" cy="3573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1" i="0" lang="en" sz="2000" u="none" cap="none" strike="noStrike">
                <a:solidFill>
                  <a:schemeClr val="dk1"/>
                </a:solidFill>
                <a:latin typeface="Montserrat"/>
                <a:ea typeface="Montserrat"/>
                <a:cs typeface="Montserrat"/>
                <a:sym typeface="Montserrat"/>
              </a:rPr>
              <a:t>Project Governance Model</a:t>
            </a:r>
            <a:endParaRPr b="1" i="0" sz="2000" u="none" cap="none" strike="noStrike">
              <a:solidFill>
                <a:schemeClr val="dk1"/>
              </a:solidFill>
              <a:latin typeface="Montserrat"/>
              <a:ea typeface="Montserrat"/>
              <a:cs typeface="Montserrat"/>
              <a:sym typeface="Montserrat"/>
            </a:endParaRPr>
          </a:p>
        </p:txBody>
      </p:sp>
      <p:sp>
        <p:nvSpPr>
          <p:cNvPr id="458" name="Google Shape;458;p18"/>
          <p:cNvSpPr/>
          <p:nvPr/>
        </p:nvSpPr>
        <p:spPr>
          <a:xfrm>
            <a:off x="406550" y="2890925"/>
            <a:ext cx="8032800" cy="2023500"/>
          </a:xfrm>
          <a:prstGeom prst="snip1Rect">
            <a:avLst>
              <a:gd fmla="val 8163" name="adj"/>
            </a:avLst>
          </a:prstGeom>
          <a:solidFill>
            <a:srgbClr val="FFFFFF"/>
          </a:solidFill>
          <a:ln cap="flat" cmpd="sng" w="9525">
            <a:solidFill>
              <a:srgbClr val="6F3A93"/>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200"/>
              <a:buFont typeface="Arial"/>
              <a:buNone/>
            </a:pPr>
            <a:r>
              <a:t/>
            </a:r>
            <a:endParaRPr b="0" i="0" sz="1200" u="none" cap="none" strike="noStrike">
              <a:solidFill>
                <a:srgbClr val="000000"/>
              </a:solidFill>
              <a:latin typeface="Montserrat"/>
              <a:ea typeface="Montserrat"/>
              <a:cs typeface="Montserrat"/>
              <a:sym typeface="Montserrat"/>
            </a:endParaRPr>
          </a:p>
        </p:txBody>
      </p:sp>
      <p:sp>
        <p:nvSpPr>
          <p:cNvPr id="459" name="Google Shape;459;p18"/>
          <p:cNvSpPr/>
          <p:nvPr/>
        </p:nvSpPr>
        <p:spPr>
          <a:xfrm>
            <a:off x="6340857" y="3106350"/>
            <a:ext cx="1684800" cy="1701600"/>
          </a:xfrm>
          <a:prstGeom prst="snip1Rect">
            <a:avLst>
              <a:gd fmla="val 8163"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200"/>
              <a:buFont typeface="Arial"/>
              <a:buNone/>
            </a:pPr>
            <a:r>
              <a:t/>
            </a:r>
            <a:endParaRPr b="0" i="0" sz="1200" u="none" cap="none" strike="noStrike">
              <a:solidFill>
                <a:srgbClr val="000000"/>
              </a:solidFill>
              <a:latin typeface="Montserrat"/>
              <a:ea typeface="Montserrat"/>
              <a:cs typeface="Montserrat"/>
              <a:sym typeface="Montserrat"/>
            </a:endParaRPr>
          </a:p>
        </p:txBody>
      </p:sp>
      <p:sp>
        <p:nvSpPr>
          <p:cNvPr id="460" name="Google Shape;460;p18"/>
          <p:cNvSpPr/>
          <p:nvPr/>
        </p:nvSpPr>
        <p:spPr>
          <a:xfrm>
            <a:off x="6822582" y="1602888"/>
            <a:ext cx="2121000" cy="801000"/>
          </a:xfrm>
          <a:prstGeom prst="snip1Rect">
            <a:avLst>
              <a:gd fmla="val 8163"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200"/>
              <a:buFont typeface="Arial"/>
              <a:buNone/>
            </a:pPr>
            <a:r>
              <a:t/>
            </a:r>
            <a:endParaRPr b="0" i="0" sz="1200" u="none" cap="none" strike="noStrike">
              <a:solidFill>
                <a:srgbClr val="000000"/>
              </a:solidFill>
              <a:latin typeface="Montserrat"/>
              <a:ea typeface="Montserrat"/>
              <a:cs typeface="Montserrat"/>
              <a:sym typeface="Montserrat"/>
            </a:endParaRPr>
          </a:p>
        </p:txBody>
      </p:sp>
      <p:sp>
        <p:nvSpPr>
          <p:cNvPr id="461" name="Google Shape;461;p18"/>
          <p:cNvSpPr/>
          <p:nvPr/>
        </p:nvSpPr>
        <p:spPr>
          <a:xfrm>
            <a:off x="330332" y="2029610"/>
            <a:ext cx="6291000" cy="497400"/>
          </a:xfrm>
          <a:prstGeom prst="snip1Rect">
            <a:avLst>
              <a:gd fmla="val 8163"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200"/>
              <a:buFont typeface="Arial"/>
              <a:buNone/>
            </a:pPr>
            <a:r>
              <a:t/>
            </a:r>
            <a:endParaRPr b="0" i="0" sz="1200" u="none" cap="none" strike="noStrike">
              <a:solidFill>
                <a:srgbClr val="000000"/>
              </a:solidFill>
              <a:latin typeface="Montserrat"/>
              <a:ea typeface="Montserrat"/>
              <a:cs typeface="Montserrat"/>
              <a:sym typeface="Montserrat"/>
            </a:endParaRPr>
          </a:p>
        </p:txBody>
      </p:sp>
      <p:sp>
        <p:nvSpPr>
          <p:cNvPr id="462" name="Google Shape;462;p18"/>
          <p:cNvSpPr/>
          <p:nvPr/>
        </p:nvSpPr>
        <p:spPr>
          <a:xfrm>
            <a:off x="317407" y="1296319"/>
            <a:ext cx="6291000" cy="444300"/>
          </a:xfrm>
          <a:prstGeom prst="snip1Rect">
            <a:avLst>
              <a:gd fmla="val 8163"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200"/>
              <a:buFont typeface="Arial"/>
              <a:buNone/>
            </a:pPr>
            <a:r>
              <a:t/>
            </a:r>
            <a:endParaRPr b="0" i="0" sz="1200" u="none" cap="none" strike="noStrike">
              <a:solidFill>
                <a:srgbClr val="000000"/>
              </a:solidFill>
              <a:latin typeface="Montserrat"/>
              <a:ea typeface="Montserrat"/>
              <a:cs typeface="Montserrat"/>
              <a:sym typeface="Montserrat"/>
            </a:endParaRPr>
          </a:p>
        </p:txBody>
      </p:sp>
      <p:cxnSp>
        <p:nvCxnSpPr>
          <p:cNvPr id="463" name="Google Shape;463;p18"/>
          <p:cNvCxnSpPr/>
          <p:nvPr/>
        </p:nvCxnSpPr>
        <p:spPr>
          <a:xfrm rot="10800000">
            <a:off x="6694101" y="1402153"/>
            <a:ext cx="1177500" cy="211500"/>
          </a:xfrm>
          <a:prstGeom prst="bentConnector3">
            <a:avLst>
              <a:gd fmla="val -748" name="adj1"/>
            </a:avLst>
          </a:prstGeom>
          <a:noFill/>
          <a:ln cap="flat" cmpd="sng" w="9525">
            <a:solidFill>
              <a:srgbClr val="B7B7B7"/>
            </a:solidFill>
            <a:prstDash val="solid"/>
            <a:round/>
            <a:headEnd len="med" w="med" type="oval"/>
            <a:tailEnd len="med" w="med" type="oval"/>
          </a:ln>
        </p:spPr>
      </p:cxnSp>
      <p:sp>
        <p:nvSpPr>
          <p:cNvPr id="464" name="Google Shape;464;p18"/>
          <p:cNvSpPr/>
          <p:nvPr/>
        </p:nvSpPr>
        <p:spPr>
          <a:xfrm>
            <a:off x="1641650" y="3353226"/>
            <a:ext cx="4595100" cy="1180800"/>
          </a:xfrm>
          <a:prstGeom prst="roundRect">
            <a:avLst>
              <a:gd fmla="val 5116" name="adj"/>
            </a:avLst>
          </a:prstGeom>
          <a:solidFill>
            <a:srgbClr val="F3F3F3"/>
          </a:solidFill>
          <a:ln cap="flat" cmpd="sng" w="9525">
            <a:solidFill>
              <a:srgbClr val="F3F3F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5" name="Google Shape;465;p18"/>
          <p:cNvSpPr/>
          <p:nvPr/>
        </p:nvSpPr>
        <p:spPr>
          <a:xfrm>
            <a:off x="1988934" y="3446717"/>
            <a:ext cx="1334100" cy="1014300"/>
          </a:xfrm>
          <a:prstGeom prst="roundRect">
            <a:avLst>
              <a:gd fmla="val 5116" name="adj"/>
            </a:avLst>
          </a:prstGeom>
          <a:solidFill>
            <a:srgbClr val="FFFFFF"/>
          </a:solidFill>
          <a:ln cap="flat" cmpd="sng" w="9525">
            <a:solidFill>
              <a:srgbClr val="CC006C"/>
            </a:solidFill>
            <a:prstDash val="dot"/>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6" name="Google Shape;466;p18"/>
          <p:cNvSpPr txBox="1"/>
          <p:nvPr/>
        </p:nvSpPr>
        <p:spPr>
          <a:xfrm>
            <a:off x="1988925" y="3507010"/>
            <a:ext cx="1334100" cy="4311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000000"/>
                </a:solidFill>
                <a:latin typeface="Montserrat"/>
                <a:ea typeface="Montserrat"/>
                <a:cs typeface="Montserrat"/>
                <a:sym typeface="Montserrat"/>
              </a:rPr>
              <a:t>Racing Queensland Stakeholders</a:t>
            </a:r>
            <a:endParaRPr b="1" i="0" sz="800" u="none" cap="none" strike="noStrike">
              <a:solidFill>
                <a:srgbClr val="000000"/>
              </a:solidFill>
              <a:latin typeface="Montserrat"/>
              <a:ea typeface="Montserrat"/>
              <a:cs typeface="Montserrat"/>
              <a:sym typeface="Montserrat"/>
            </a:endParaRPr>
          </a:p>
        </p:txBody>
      </p:sp>
      <p:pic>
        <p:nvPicPr>
          <p:cNvPr id="467" name="Google Shape;467;p18"/>
          <p:cNvPicPr preferRelativeResize="0"/>
          <p:nvPr/>
        </p:nvPicPr>
        <p:blipFill rotWithShape="1">
          <a:blip r:embed="rId3">
            <a:alphaModFix/>
          </a:blip>
          <a:srcRect b="0" l="0" r="0" t="0"/>
          <a:stretch/>
        </p:blipFill>
        <p:spPr>
          <a:xfrm>
            <a:off x="2396311" y="3951547"/>
            <a:ext cx="519140" cy="306875"/>
          </a:xfrm>
          <a:prstGeom prst="rect">
            <a:avLst/>
          </a:prstGeom>
          <a:noFill/>
          <a:ln>
            <a:noFill/>
          </a:ln>
        </p:spPr>
      </p:pic>
      <p:pic>
        <p:nvPicPr>
          <p:cNvPr id="468" name="Google Shape;468;p18"/>
          <p:cNvPicPr preferRelativeResize="0"/>
          <p:nvPr/>
        </p:nvPicPr>
        <p:blipFill rotWithShape="1">
          <a:blip r:embed="rId4">
            <a:alphaModFix/>
          </a:blip>
          <a:srcRect b="0" l="0" r="0" t="0"/>
          <a:stretch/>
        </p:blipFill>
        <p:spPr>
          <a:xfrm>
            <a:off x="3599434" y="3917769"/>
            <a:ext cx="252974" cy="257791"/>
          </a:xfrm>
          <a:prstGeom prst="rect">
            <a:avLst/>
          </a:prstGeom>
          <a:noFill/>
          <a:ln>
            <a:noFill/>
          </a:ln>
        </p:spPr>
      </p:pic>
      <p:cxnSp>
        <p:nvCxnSpPr>
          <p:cNvPr id="469" name="Google Shape;469;p18"/>
          <p:cNvCxnSpPr/>
          <p:nvPr/>
        </p:nvCxnSpPr>
        <p:spPr>
          <a:xfrm rot="10800000">
            <a:off x="3852626" y="4030223"/>
            <a:ext cx="276600" cy="0"/>
          </a:xfrm>
          <a:prstGeom prst="straightConnector1">
            <a:avLst/>
          </a:prstGeom>
          <a:noFill/>
          <a:ln cap="flat" cmpd="sng" w="9525">
            <a:solidFill>
              <a:srgbClr val="999999"/>
            </a:solidFill>
            <a:prstDash val="solid"/>
            <a:round/>
            <a:headEnd len="sm" w="sm" type="none"/>
            <a:tailEnd len="sm" w="sm" type="none"/>
          </a:ln>
        </p:spPr>
      </p:cxnSp>
      <p:sp>
        <p:nvSpPr>
          <p:cNvPr id="470" name="Google Shape;470;p18"/>
          <p:cNvSpPr/>
          <p:nvPr/>
        </p:nvSpPr>
        <p:spPr>
          <a:xfrm>
            <a:off x="7325193" y="3938946"/>
            <a:ext cx="291000" cy="222900"/>
          </a:xfrm>
          <a:custGeom>
            <a:rect b="b" l="l" r="r" t="t"/>
            <a:pathLst>
              <a:path extrusionOk="0" h="120000" w="120000">
                <a:moveTo>
                  <a:pt x="102419" y="17574"/>
                </a:moveTo>
                <a:cubicBezTo>
                  <a:pt x="125853" y="41002"/>
                  <a:pt x="125853" y="78991"/>
                  <a:pt x="102419" y="102419"/>
                </a:cubicBezTo>
                <a:cubicBezTo>
                  <a:pt x="78991" y="125853"/>
                  <a:pt x="41002" y="125853"/>
                  <a:pt x="17574" y="102419"/>
                </a:cubicBezTo>
                <a:cubicBezTo>
                  <a:pt x="-5860" y="78991"/>
                  <a:pt x="-5860" y="41002"/>
                  <a:pt x="17574" y="17574"/>
                </a:cubicBezTo>
                <a:cubicBezTo>
                  <a:pt x="41002" y="-5860"/>
                  <a:pt x="78991" y="-5860"/>
                  <a:pt x="102419" y="17574"/>
                </a:cubicBezTo>
                <a:close/>
              </a:path>
            </a:pathLst>
          </a:custGeom>
          <a:solidFill>
            <a:srgbClr val="99BDEA"/>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00"/>
              <a:buFont typeface="Arial"/>
              <a:buNone/>
            </a:pPr>
            <a:r>
              <a:t/>
            </a:r>
            <a:endParaRPr b="0" i="0" sz="1300" u="none" cap="none" strike="noStrike">
              <a:solidFill>
                <a:srgbClr val="000000"/>
              </a:solidFill>
              <a:latin typeface="Calibri"/>
              <a:ea typeface="Calibri"/>
              <a:cs typeface="Calibri"/>
              <a:sym typeface="Calibri"/>
            </a:endParaRPr>
          </a:p>
        </p:txBody>
      </p:sp>
      <p:sp>
        <p:nvSpPr>
          <p:cNvPr id="471" name="Google Shape;471;p18"/>
          <p:cNvSpPr/>
          <p:nvPr/>
        </p:nvSpPr>
        <p:spPr>
          <a:xfrm>
            <a:off x="7182882" y="4191775"/>
            <a:ext cx="660900" cy="90300"/>
          </a:xfrm>
          <a:prstGeom prst="rect">
            <a:avLst/>
          </a:prstGeom>
          <a:noFill/>
          <a:ln>
            <a:noFill/>
          </a:ln>
        </p:spPr>
        <p:txBody>
          <a:bodyPr anchorCtr="0" anchor="t" bIns="33475" lIns="33475" spcFirstLastPara="1" rIns="33475" wrap="square" tIns="33475">
            <a:noAutofit/>
          </a:bodyPr>
          <a:lstStyle/>
          <a:p>
            <a:pPr indent="0" lvl="0" marL="0" marR="0" rtl="0" algn="ctr">
              <a:lnSpc>
                <a:spcPct val="100000"/>
              </a:lnSpc>
              <a:spcBef>
                <a:spcPts val="0"/>
              </a:spcBef>
              <a:spcAft>
                <a:spcPts val="0"/>
              </a:spcAft>
              <a:buClr>
                <a:srgbClr val="000000"/>
              </a:buClr>
              <a:buSzPts val="700"/>
              <a:buFont typeface="Arial"/>
              <a:buNone/>
            </a:pPr>
            <a:r>
              <a:rPr b="1" i="0" lang="en" sz="700" u="none" cap="none" strike="noStrike">
                <a:solidFill>
                  <a:srgbClr val="000000"/>
                </a:solidFill>
                <a:latin typeface="Montserrat"/>
                <a:ea typeface="Montserrat"/>
                <a:cs typeface="Montserrat"/>
                <a:sym typeface="Montserrat"/>
              </a:rPr>
              <a:t>Month Demo</a:t>
            </a:r>
            <a:endParaRPr b="1" i="0" sz="700" u="none" cap="none" strike="noStrike">
              <a:solidFill>
                <a:srgbClr val="000000"/>
              </a:solidFill>
              <a:latin typeface="Montserrat"/>
              <a:ea typeface="Montserrat"/>
              <a:cs typeface="Montserrat"/>
              <a:sym typeface="Montserrat"/>
            </a:endParaRPr>
          </a:p>
        </p:txBody>
      </p:sp>
      <p:sp>
        <p:nvSpPr>
          <p:cNvPr id="472" name="Google Shape;472;p18"/>
          <p:cNvSpPr/>
          <p:nvPr/>
        </p:nvSpPr>
        <p:spPr>
          <a:xfrm>
            <a:off x="7325208" y="3356749"/>
            <a:ext cx="291000" cy="222900"/>
          </a:xfrm>
          <a:custGeom>
            <a:rect b="b" l="l" r="r" t="t"/>
            <a:pathLst>
              <a:path extrusionOk="0" h="120000" w="120000">
                <a:moveTo>
                  <a:pt x="102419" y="17574"/>
                </a:moveTo>
                <a:cubicBezTo>
                  <a:pt x="125853" y="41002"/>
                  <a:pt x="125853" y="78991"/>
                  <a:pt x="102419" y="102419"/>
                </a:cubicBezTo>
                <a:cubicBezTo>
                  <a:pt x="78991" y="125853"/>
                  <a:pt x="41002" y="125853"/>
                  <a:pt x="17574" y="102419"/>
                </a:cubicBezTo>
                <a:cubicBezTo>
                  <a:pt x="-5860" y="78991"/>
                  <a:pt x="-5860" y="41002"/>
                  <a:pt x="17574" y="17574"/>
                </a:cubicBezTo>
                <a:cubicBezTo>
                  <a:pt x="41002" y="-5860"/>
                  <a:pt x="78991" y="-5860"/>
                  <a:pt x="102419" y="17574"/>
                </a:cubicBezTo>
                <a:close/>
              </a:path>
            </a:pathLst>
          </a:custGeom>
          <a:solidFill>
            <a:srgbClr val="99BDEA"/>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00"/>
              <a:buFont typeface="Arial"/>
              <a:buNone/>
            </a:pPr>
            <a:r>
              <a:t/>
            </a:r>
            <a:endParaRPr b="0" i="0" sz="1300" u="none" cap="none" strike="noStrike">
              <a:solidFill>
                <a:srgbClr val="000000"/>
              </a:solidFill>
              <a:latin typeface="Calibri"/>
              <a:ea typeface="Calibri"/>
              <a:cs typeface="Calibri"/>
              <a:sym typeface="Calibri"/>
            </a:endParaRPr>
          </a:p>
        </p:txBody>
      </p:sp>
      <p:sp>
        <p:nvSpPr>
          <p:cNvPr id="473" name="Google Shape;473;p18"/>
          <p:cNvSpPr/>
          <p:nvPr/>
        </p:nvSpPr>
        <p:spPr>
          <a:xfrm>
            <a:off x="7182897" y="3586774"/>
            <a:ext cx="575400" cy="147000"/>
          </a:xfrm>
          <a:prstGeom prst="rect">
            <a:avLst/>
          </a:prstGeom>
          <a:noFill/>
          <a:ln>
            <a:noFill/>
          </a:ln>
        </p:spPr>
        <p:txBody>
          <a:bodyPr anchorCtr="0" anchor="t" bIns="33475" lIns="33475" spcFirstLastPara="1" rIns="33475" wrap="square" tIns="33475">
            <a:noAutofit/>
          </a:bodyPr>
          <a:lstStyle/>
          <a:p>
            <a:pPr indent="0" lvl="0" marL="0" marR="0" rtl="0" algn="ctr">
              <a:lnSpc>
                <a:spcPct val="100000"/>
              </a:lnSpc>
              <a:spcBef>
                <a:spcPts val="0"/>
              </a:spcBef>
              <a:spcAft>
                <a:spcPts val="0"/>
              </a:spcAft>
              <a:buClr>
                <a:srgbClr val="000000"/>
              </a:buClr>
              <a:buSzPts val="700"/>
              <a:buFont typeface="Arial"/>
              <a:buNone/>
            </a:pPr>
            <a:r>
              <a:rPr b="1" i="0" lang="en" sz="700" u="none" cap="none" strike="noStrike">
                <a:solidFill>
                  <a:srgbClr val="000000"/>
                </a:solidFill>
                <a:latin typeface="Montserrat"/>
                <a:ea typeface="Montserrat"/>
                <a:cs typeface="Montserrat"/>
                <a:sym typeface="Montserrat"/>
              </a:rPr>
              <a:t>Month Planning </a:t>
            </a:r>
            <a:endParaRPr b="0" i="0" sz="700" u="none" cap="none" strike="noStrike">
              <a:solidFill>
                <a:srgbClr val="000000"/>
              </a:solidFill>
              <a:latin typeface="Montserrat"/>
              <a:ea typeface="Montserrat"/>
              <a:cs typeface="Montserrat"/>
              <a:sym typeface="Montserrat"/>
            </a:endParaRPr>
          </a:p>
        </p:txBody>
      </p:sp>
      <p:pic>
        <p:nvPicPr>
          <p:cNvPr id="474" name="Google Shape;474;p18"/>
          <p:cNvPicPr preferRelativeResize="0"/>
          <p:nvPr/>
        </p:nvPicPr>
        <p:blipFill rotWithShape="1">
          <a:blip r:embed="rId5">
            <a:alphaModFix/>
          </a:blip>
          <a:srcRect b="0" l="0" r="0" t="0"/>
          <a:stretch/>
        </p:blipFill>
        <p:spPr>
          <a:xfrm>
            <a:off x="7386594" y="3407623"/>
            <a:ext cx="168328" cy="121270"/>
          </a:xfrm>
          <a:prstGeom prst="rect">
            <a:avLst/>
          </a:prstGeom>
          <a:noFill/>
          <a:ln>
            <a:noFill/>
          </a:ln>
        </p:spPr>
      </p:pic>
      <p:sp>
        <p:nvSpPr>
          <p:cNvPr id="475" name="Google Shape;475;p18"/>
          <p:cNvSpPr/>
          <p:nvPr/>
        </p:nvSpPr>
        <p:spPr>
          <a:xfrm>
            <a:off x="6635482" y="3359668"/>
            <a:ext cx="291000" cy="222900"/>
          </a:xfrm>
          <a:custGeom>
            <a:rect b="b" l="l" r="r" t="t"/>
            <a:pathLst>
              <a:path extrusionOk="0" h="120000" w="120000">
                <a:moveTo>
                  <a:pt x="102419" y="17574"/>
                </a:moveTo>
                <a:cubicBezTo>
                  <a:pt x="125853" y="41002"/>
                  <a:pt x="125853" y="78991"/>
                  <a:pt x="102419" y="102419"/>
                </a:cubicBezTo>
                <a:cubicBezTo>
                  <a:pt x="78991" y="125853"/>
                  <a:pt x="41002" y="125853"/>
                  <a:pt x="17574" y="102419"/>
                </a:cubicBezTo>
                <a:cubicBezTo>
                  <a:pt x="-5860" y="78991"/>
                  <a:pt x="-5860" y="41002"/>
                  <a:pt x="17574" y="17574"/>
                </a:cubicBezTo>
                <a:cubicBezTo>
                  <a:pt x="41002" y="-5860"/>
                  <a:pt x="78991" y="-5860"/>
                  <a:pt x="102419" y="17574"/>
                </a:cubicBezTo>
                <a:close/>
              </a:path>
            </a:pathLst>
          </a:custGeom>
          <a:solidFill>
            <a:srgbClr val="99BDEA"/>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00"/>
              <a:buFont typeface="Arial"/>
              <a:buNone/>
            </a:pPr>
            <a:r>
              <a:t/>
            </a:r>
            <a:endParaRPr b="0" i="0" sz="1300" u="none" cap="none" strike="noStrike">
              <a:solidFill>
                <a:srgbClr val="000000"/>
              </a:solidFill>
              <a:latin typeface="Calibri"/>
              <a:ea typeface="Calibri"/>
              <a:cs typeface="Calibri"/>
              <a:sym typeface="Calibri"/>
            </a:endParaRPr>
          </a:p>
        </p:txBody>
      </p:sp>
      <p:sp>
        <p:nvSpPr>
          <p:cNvPr id="476" name="Google Shape;476;p18"/>
          <p:cNvSpPr/>
          <p:nvPr/>
        </p:nvSpPr>
        <p:spPr>
          <a:xfrm>
            <a:off x="6493150" y="3584986"/>
            <a:ext cx="575400" cy="153000"/>
          </a:xfrm>
          <a:prstGeom prst="rect">
            <a:avLst/>
          </a:prstGeom>
          <a:noFill/>
          <a:ln>
            <a:noFill/>
          </a:ln>
        </p:spPr>
        <p:txBody>
          <a:bodyPr anchorCtr="0" anchor="t" bIns="33475" lIns="33475" spcFirstLastPara="1" rIns="33475" wrap="square" tIns="33475">
            <a:noAutofit/>
          </a:bodyPr>
          <a:lstStyle/>
          <a:p>
            <a:pPr indent="0" lvl="0" marL="0" marR="0" rtl="0" algn="ctr">
              <a:lnSpc>
                <a:spcPct val="100000"/>
              </a:lnSpc>
              <a:spcBef>
                <a:spcPts val="0"/>
              </a:spcBef>
              <a:spcAft>
                <a:spcPts val="0"/>
              </a:spcAft>
              <a:buClr>
                <a:srgbClr val="000000"/>
              </a:buClr>
              <a:buSzPts val="700"/>
              <a:buFont typeface="Arial"/>
              <a:buNone/>
            </a:pPr>
            <a:r>
              <a:rPr b="1" i="0" lang="en" sz="700" u="none" cap="none" strike="noStrike">
                <a:solidFill>
                  <a:srgbClr val="000000"/>
                </a:solidFill>
                <a:latin typeface="Montserrat"/>
                <a:ea typeface="Montserrat"/>
                <a:cs typeface="Montserrat"/>
                <a:sym typeface="Montserrat"/>
              </a:rPr>
              <a:t>Daily Stand-ups</a:t>
            </a:r>
            <a:endParaRPr b="0" i="0" sz="700" u="none" cap="none" strike="noStrike">
              <a:solidFill>
                <a:srgbClr val="000000"/>
              </a:solidFill>
              <a:latin typeface="Montserrat"/>
              <a:ea typeface="Montserrat"/>
              <a:cs typeface="Montserrat"/>
              <a:sym typeface="Montserrat"/>
            </a:endParaRPr>
          </a:p>
        </p:txBody>
      </p:sp>
      <p:pic>
        <p:nvPicPr>
          <p:cNvPr id="477" name="Google Shape;477;p18"/>
          <p:cNvPicPr preferRelativeResize="0"/>
          <p:nvPr/>
        </p:nvPicPr>
        <p:blipFill rotWithShape="1">
          <a:blip r:embed="rId6">
            <a:alphaModFix/>
          </a:blip>
          <a:srcRect b="0" l="0" r="0" t="0"/>
          <a:stretch/>
        </p:blipFill>
        <p:spPr>
          <a:xfrm>
            <a:off x="6687109" y="3399220"/>
            <a:ext cx="187848" cy="143913"/>
          </a:xfrm>
          <a:prstGeom prst="rect">
            <a:avLst/>
          </a:prstGeom>
          <a:noFill/>
          <a:ln>
            <a:noFill/>
          </a:ln>
        </p:spPr>
      </p:pic>
      <p:pic>
        <p:nvPicPr>
          <p:cNvPr id="478" name="Google Shape;478;p18"/>
          <p:cNvPicPr preferRelativeResize="0"/>
          <p:nvPr/>
        </p:nvPicPr>
        <p:blipFill rotWithShape="1">
          <a:blip r:embed="rId7">
            <a:alphaModFix/>
          </a:blip>
          <a:srcRect b="0" l="0" r="0" t="0"/>
          <a:stretch/>
        </p:blipFill>
        <p:spPr>
          <a:xfrm>
            <a:off x="7378788" y="3981126"/>
            <a:ext cx="183912" cy="138659"/>
          </a:xfrm>
          <a:prstGeom prst="rect">
            <a:avLst/>
          </a:prstGeom>
          <a:noFill/>
          <a:ln>
            <a:noFill/>
          </a:ln>
        </p:spPr>
      </p:pic>
      <p:cxnSp>
        <p:nvCxnSpPr>
          <p:cNvPr id="479" name="Google Shape;479;p18"/>
          <p:cNvCxnSpPr/>
          <p:nvPr/>
        </p:nvCxnSpPr>
        <p:spPr>
          <a:xfrm rot="10800000">
            <a:off x="6608487" y="3903739"/>
            <a:ext cx="1217400" cy="5100"/>
          </a:xfrm>
          <a:prstGeom prst="straightConnector1">
            <a:avLst/>
          </a:prstGeom>
          <a:noFill/>
          <a:ln cap="flat" cmpd="sng" w="19050">
            <a:solidFill>
              <a:srgbClr val="999999"/>
            </a:solidFill>
            <a:prstDash val="dot"/>
            <a:miter lim="80"/>
            <a:headEnd len="sm" w="sm" type="oval"/>
            <a:tailEnd len="sm" w="sm" type="oval"/>
          </a:ln>
        </p:spPr>
      </p:cxnSp>
      <p:cxnSp>
        <p:nvCxnSpPr>
          <p:cNvPr id="480" name="Google Shape;480;p18"/>
          <p:cNvCxnSpPr/>
          <p:nvPr/>
        </p:nvCxnSpPr>
        <p:spPr>
          <a:xfrm>
            <a:off x="7149754" y="3492278"/>
            <a:ext cx="900" cy="902700"/>
          </a:xfrm>
          <a:prstGeom prst="straightConnector1">
            <a:avLst/>
          </a:prstGeom>
          <a:noFill/>
          <a:ln cap="flat" cmpd="sng" w="19050">
            <a:solidFill>
              <a:srgbClr val="999999"/>
            </a:solidFill>
            <a:prstDash val="dot"/>
            <a:miter lim="80"/>
            <a:headEnd len="sm" w="sm" type="oval"/>
            <a:tailEnd len="sm" w="sm" type="oval"/>
          </a:ln>
        </p:spPr>
      </p:cxnSp>
      <p:sp>
        <p:nvSpPr>
          <p:cNvPr id="481" name="Google Shape;481;p18"/>
          <p:cNvSpPr/>
          <p:nvPr/>
        </p:nvSpPr>
        <p:spPr>
          <a:xfrm>
            <a:off x="6635482" y="3941925"/>
            <a:ext cx="291000" cy="222900"/>
          </a:xfrm>
          <a:custGeom>
            <a:rect b="b" l="l" r="r" t="t"/>
            <a:pathLst>
              <a:path extrusionOk="0" h="120000" w="120000">
                <a:moveTo>
                  <a:pt x="102419" y="17574"/>
                </a:moveTo>
                <a:cubicBezTo>
                  <a:pt x="125853" y="41002"/>
                  <a:pt x="125853" y="78991"/>
                  <a:pt x="102419" y="102419"/>
                </a:cubicBezTo>
                <a:cubicBezTo>
                  <a:pt x="78991" y="125853"/>
                  <a:pt x="41002" y="125853"/>
                  <a:pt x="17574" y="102419"/>
                </a:cubicBezTo>
                <a:cubicBezTo>
                  <a:pt x="-5860" y="78991"/>
                  <a:pt x="-5860" y="41002"/>
                  <a:pt x="17574" y="17574"/>
                </a:cubicBezTo>
                <a:cubicBezTo>
                  <a:pt x="41002" y="-5860"/>
                  <a:pt x="78991" y="-5860"/>
                  <a:pt x="102419" y="17574"/>
                </a:cubicBezTo>
                <a:close/>
              </a:path>
            </a:pathLst>
          </a:custGeom>
          <a:solidFill>
            <a:srgbClr val="99BDEA"/>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00"/>
              <a:buFont typeface="Arial"/>
              <a:buNone/>
            </a:pPr>
            <a:r>
              <a:t/>
            </a:r>
            <a:endParaRPr b="0" i="0" sz="1300" u="none" cap="none" strike="noStrike">
              <a:solidFill>
                <a:srgbClr val="000000"/>
              </a:solidFill>
              <a:latin typeface="Calibri"/>
              <a:ea typeface="Calibri"/>
              <a:cs typeface="Calibri"/>
              <a:sym typeface="Calibri"/>
            </a:endParaRPr>
          </a:p>
        </p:txBody>
      </p:sp>
      <p:sp>
        <p:nvSpPr>
          <p:cNvPr id="482" name="Google Shape;482;p18"/>
          <p:cNvSpPr/>
          <p:nvPr/>
        </p:nvSpPr>
        <p:spPr>
          <a:xfrm>
            <a:off x="6493929" y="4191765"/>
            <a:ext cx="575400" cy="90300"/>
          </a:xfrm>
          <a:prstGeom prst="rect">
            <a:avLst/>
          </a:prstGeom>
          <a:noFill/>
          <a:ln>
            <a:noFill/>
          </a:ln>
        </p:spPr>
        <p:txBody>
          <a:bodyPr anchorCtr="0" anchor="t" bIns="33475" lIns="33475" spcFirstLastPara="1" rIns="33475" wrap="square" tIns="33475">
            <a:noAutofit/>
          </a:bodyPr>
          <a:lstStyle/>
          <a:p>
            <a:pPr indent="0" lvl="0" marL="0" marR="0" rtl="0" algn="ctr">
              <a:lnSpc>
                <a:spcPct val="100000"/>
              </a:lnSpc>
              <a:spcBef>
                <a:spcPts val="0"/>
              </a:spcBef>
              <a:spcAft>
                <a:spcPts val="0"/>
              </a:spcAft>
              <a:buClr>
                <a:srgbClr val="000000"/>
              </a:buClr>
              <a:buSzPts val="700"/>
              <a:buFont typeface="Arial"/>
              <a:buNone/>
            </a:pPr>
            <a:r>
              <a:rPr b="1" i="0" lang="en" sz="700" u="none" cap="none" strike="noStrike">
                <a:solidFill>
                  <a:srgbClr val="000000"/>
                </a:solidFill>
                <a:latin typeface="Montserrat"/>
                <a:ea typeface="Montserrat"/>
                <a:cs typeface="Montserrat"/>
                <a:sym typeface="Montserrat"/>
              </a:rPr>
              <a:t>Joint Retrospective</a:t>
            </a:r>
            <a:endParaRPr b="0" i="0" sz="700" u="none" cap="none" strike="noStrike">
              <a:solidFill>
                <a:srgbClr val="000000"/>
              </a:solidFill>
              <a:latin typeface="Montserrat"/>
              <a:ea typeface="Montserrat"/>
              <a:cs typeface="Montserrat"/>
              <a:sym typeface="Montserrat"/>
            </a:endParaRPr>
          </a:p>
        </p:txBody>
      </p:sp>
      <p:sp>
        <p:nvSpPr>
          <p:cNvPr id="483" name="Google Shape;483;p18"/>
          <p:cNvSpPr txBox="1"/>
          <p:nvPr/>
        </p:nvSpPr>
        <p:spPr>
          <a:xfrm>
            <a:off x="6281307" y="3099123"/>
            <a:ext cx="1684800" cy="3078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000000"/>
                </a:solidFill>
                <a:latin typeface="Montserrat"/>
                <a:ea typeface="Montserrat"/>
                <a:cs typeface="Montserrat"/>
                <a:sym typeface="Montserrat"/>
              </a:rPr>
              <a:t>Engagement Highlights </a:t>
            </a:r>
            <a:endParaRPr b="1" i="0" sz="800" u="none" cap="none" strike="noStrike">
              <a:solidFill>
                <a:srgbClr val="000000"/>
              </a:solidFill>
              <a:latin typeface="Montserrat"/>
              <a:ea typeface="Montserrat"/>
              <a:cs typeface="Montserrat"/>
              <a:sym typeface="Montserrat"/>
            </a:endParaRPr>
          </a:p>
        </p:txBody>
      </p:sp>
      <p:sp>
        <p:nvSpPr>
          <p:cNvPr id="484" name="Google Shape;484;p18"/>
          <p:cNvSpPr txBox="1"/>
          <p:nvPr/>
        </p:nvSpPr>
        <p:spPr>
          <a:xfrm>
            <a:off x="4479247" y="1409956"/>
            <a:ext cx="1809900" cy="278100"/>
          </a:xfrm>
          <a:prstGeom prst="rect">
            <a:avLst/>
          </a:prstGeom>
          <a:solidFill>
            <a:srgbClr val="1251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FFFFFF"/>
                </a:solidFill>
                <a:latin typeface="Montserrat"/>
                <a:ea typeface="Montserrat"/>
                <a:cs typeface="Montserrat"/>
                <a:sym typeface="Montserrat"/>
              </a:rPr>
              <a:t>TTN Executive Leadership and Business Unit Head </a:t>
            </a:r>
            <a:endParaRPr b="1" i="0" sz="800" u="none" cap="none" strike="noStrike">
              <a:solidFill>
                <a:srgbClr val="336666"/>
              </a:solidFill>
              <a:latin typeface="Montserrat"/>
              <a:ea typeface="Montserrat"/>
              <a:cs typeface="Montserrat"/>
              <a:sym typeface="Montserrat"/>
            </a:endParaRPr>
          </a:p>
        </p:txBody>
      </p:sp>
      <p:sp>
        <p:nvSpPr>
          <p:cNvPr id="485" name="Google Shape;485;p18"/>
          <p:cNvSpPr txBox="1"/>
          <p:nvPr/>
        </p:nvSpPr>
        <p:spPr>
          <a:xfrm>
            <a:off x="1629325" y="1419354"/>
            <a:ext cx="2121000" cy="259800"/>
          </a:xfrm>
          <a:prstGeom prst="rect">
            <a:avLst/>
          </a:prstGeom>
          <a:solidFill>
            <a:srgbClr val="B7B7B7"/>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FFFFFF"/>
                </a:solidFill>
                <a:latin typeface="Montserrat"/>
                <a:ea typeface="Montserrat"/>
                <a:cs typeface="Montserrat"/>
                <a:sym typeface="Montserrat"/>
              </a:rPr>
              <a:t>Racing Queensland  Executive</a:t>
            </a:r>
            <a:endParaRPr b="1" i="0" sz="800" u="none" cap="none" strike="noStrike">
              <a:solidFill>
                <a:srgbClr val="FFFFFF"/>
              </a:solidFill>
              <a:latin typeface="Montserrat"/>
              <a:ea typeface="Montserrat"/>
              <a:cs typeface="Montserrat"/>
              <a:sym typeface="Montserrat"/>
            </a:endParaRPr>
          </a:p>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FFFFFF"/>
                </a:solidFill>
                <a:latin typeface="Montserrat"/>
                <a:ea typeface="Montserrat"/>
                <a:cs typeface="Montserrat"/>
                <a:sym typeface="Montserrat"/>
              </a:rPr>
              <a:t>Leadership</a:t>
            </a:r>
            <a:endParaRPr b="1" i="0" sz="800" u="none" cap="none" strike="noStrike">
              <a:solidFill>
                <a:srgbClr val="FFFFFF"/>
              </a:solidFill>
              <a:latin typeface="Montserrat"/>
              <a:ea typeface="Montserrat"/>
              <a:cs typeface="Montserrat"/>
              <a:sym typeface="Montserrat"/>
            </a:endParaRPr>
          </a:p>
        </p:txBody>
      </p:sp>
      <p:sp>
        <p:nvSpPr>
          <p:cNvPr id="486" name="Google Shape;486;p18"/>
          <p:cNvSpPr txBox="1"/>
          <p:nvPr/>
        </p:nvSpPr>
        <p:spPr>
          <a:xfrm>
            <a:off x="4479247" y="2090204"/>
            <a:ext cx="1809900" cy="278100"/>
          </a:xfrm>
          <a:prstGeom prst="rect">
            <a:avLst/>
          </a:prstGeom>
          <a:solidFill>
            <a:srgbClr val="1251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FFFFFF"/>
                </a:solidFill>
                <a:latin typeface="Montserrat"/>
                <a:ea typeface="Montserrat"/>
                <a:cs typeface="Montserrat"/>
                <a:sym typeface="Montserrat"/>
              </a:rPr>
              <a:t>TTN Delivery Director /</a:t>
            </a:r>
            <a:endParaRPr b="1" i="0" sz="800" u="none" cap="none" strike="noStrike">
              <a:solidFill>
                <a:srgbClr val="FFFFFF"/>
              </a:solidFill>
              <a:latin typeface="Montserrat"/>
              <a:ea typeface="Montserrat"/>
              <a:cs typeface="Montserrat"/>
              <a:sym typeface="Montserrat"/>
            </a:endParaRPr>
          </a:p>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FFFFFF"/>
                </a:solidFill>
                <a:latin typeface="Montserrat"/>
                <a:ea typeface="Montserrat"/>
                <a:cs typeface="Montserrat"/>
                <a:sym typeface="Montserrat"/>
              </a:rPr>
              <a:t> Project Manager</a:t>
            </a:r>
            <a:endParaRPr b="1" i="0" sz="800" u="none" cap="none" strike="noStrike">
              <a:solidFill>
                <a:srgbClr val="336666"/>
              </a:solidFill>
              <a:latin typeface="Montserrat"/>
              <a:ea typeface="Montserrat"/>
              <a:cs typeface="Montserrat"/>
              <a:sym typeface="Montserrat"/>
            </a:endParaRPr>
          </a:p>
        </p:txBody>
      </p:sp>
      <p:sp>
        <p:nvSpPr>
          <p:cNvPr id="487" name="Google Shape;487;p18"/>
          <p:cNvSpPr/>
          <p:nvPr/>
        </p:nvSpPr>
        <p:spPr>
          <a:xfrm>
            <a:off x="2548207" y="1079370"/>
            <a:ext cx="205500" cy="240900"/>
          </a:xfrm>
          <a:prstGeom prst="downArrow">
            <a:avLst>
              <a:gd fmla="val 50000" name="adj1"/>
              <a:gd fmla="val 50000" name="adj2"/>
            </a:avLst>
          </a:prstGeom>
          <a:solidFill>
            <a:srgbClr val="B7B7B7"/>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Century Gothic"/>
              <a:ea typeface="Century Gothic"/>
              <a:cs typeface="Century Gothic"/>
              <a:sym typeface="Century Gothic"/>
            </a:endParaRPr>
          </a:p>
        </p:txBody>
      </p:sp>
      <p:sp>
        <p:nvSpPr>
          <p:cNvPr id="488" name="Google Shape;488;p18"/>
          <p:cNvSpPr/>
          <p:nvPr/>
        </p:nvSpPr>
        <p:spPr>
          <a:xfrm>
            <a:off x="5320907" y="1073100"/>
            <a:ext cx="205500" cy="240900"/>
          </a:xfrm>
          <a:prstGeom prst="downArrow">
            <a:avLst>
              <a:gd fmla="val 50000" name="adj1"/>
              <a:gd fmla="val 50000" name="adj2"/>
            </a:avLst>
          </a:prstGeom>
          <a:solidFill>
            <a:srgbClr val="12519C"/>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Century Gothic"/>
              <a:ea typeface="Century Gothic"/>
              <a:cs typeface="Century Gothic"/>
              <a:sym typeface="Century Gothic"/>
            </a:endParaRPr>
          </a:p>
        </p:txBody>
      </p:sp>
      <p:cxnSp>
        <p:nvCxnSpPr>
          <p:cNvPr id="489" name="Google Shape;489;p18"/>
          <p:cNvCxnSpPr/>
          <p:nvPr/>
        </p:nvCxnSpPr>
        <p:spPr>
          <a:xfrm rot="10800000">
            <a:off x="2632112" y="1752704"/>
            <a:ext cx="0" cy="231900"/>
          </a:xfrm>
          <a:prstGeom prst="straightConnector1">
            <a:avLst/>
          </a:prstGeom>
          <a:noFill/>
          <a:ln cap="flat" cmpd="sng" w="25400">
            <a:solidFill>
              <a:srgbClr val="B7B7B7"/>
            </a:solidFill>
            <a:prstDash val="solid"/>
            <a:miter lim="8000"/>
            <a:headEnd len="sm" w="sm" type="none"/>
            <a:tailEnd len="med" w="med" type="triangle"/>
          </a:ln>
        </p:spPr>
      </p:cxnSp>
      <p:sp>
        <p:nvSpPr>
          <p:cNvPr id="490" name="Google Shape;490;p18"/>
          <p:cNvSpPr txBox="1"/>
          <p:nvPr/>
        </p:nvSpPr>
        <p:spPr>
          <a:xfrm>
            <a:off x="4374390" y="1777945"/>
            <a:ext cx="955500" cy="1881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Montserrat"/>
                <a:ea typeface="Montserrat"/>
                <a:cs typeface="Montserrat"/>
                <a:sym typeface="Montserrat"/>
              </a:rPr>
              <a:t>Direction &amp; Program Updates</a:t>
            </a:r>
            <a:endParaRPr b="0" i="0" sz="700" u="none" cap="none" strike="noStrike">
              <a:solidFill>
                <a:srgbClr val="336666"/>
              </a:solidFill>
              <a:latin typeface="Montserrat"/>
              <a:ea typeface="Montserrat"/>
              <a:cs typeface="Montserrat"/>
              <a:sym typeface="Montserrat"/>
            </a:endParaRPr>
          </a:p>
        </p:txBody>
      </p:sp>
      <p:cxnSp>
        <p:nvCxnSpPr>
          <p:cNvPr id="491" name="Google Shape;491;p18"/>
          <p:cNvCxnSpPr/>
          <p:nvPr/>
        </p:nvCxnSpPr>
        <p:spPr>
          <a:xfrm>
            <a:off x="5423642" y="1772254"/>
            <a:ext cx="0" cy="231900"/>
          </a:xfrm>
          <a:prstGeom prst="straightConnector1">
            <a:avLst/>
          </a:prstGeom>
          <a:noFill/>
          <a:ln cap="flat" cmpd="sng" w="25400">
            <a:solidFill>
              <a:srgbClr val="B7B7B7"/>
            </a:solidFill>
            <a:prstDash val="solid"/>
            <a:miter lim="8000"/>
            <a:headEnd len="sm" w="sm" type="none"/>
            <a:tailEnd len="med" w="med" type="triangle"/>
          </a:ln>
        </p:spPr>
      </p:cxnSp>
      <p:sp>
        <p:nvSpPr>
          <p:cNvPr id="492" name="Google Shape;492;p18"/>
          <p:cNvSpPr txBox="1"/>
          <p:nvPr/>
        </p:nvSpPr>
        <p:spPr>
          <a:xfrm>
            <a:off x="4336415" y="2517264"/>
            <a:ext cx="981600" cy="151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Montserrat"/>
                <a:ea typeface="Montserrat"/>
                <a:cs typeface="Montserrat"/>
                <a:sym typeface="Montserrat"/>
              </a:rPr>
              <a:t>Direction &amp; Program Updates</a:t>
            </a:r>
            <a:endParaRPr b="0" i="0" sz="700" u="none" cap="none" strike="noStrike">
              <a:solidFill>
                <a:srgbClr val="336666"/>
              </a:solidFill>
              <a:latin typeface="Montserrat"/>
              <a:ea typeface="Montserrat"/>
              <a:cs typeface="Montserrat"/>
              <a:sym typeface="Montserrat"/>
            </a:endParaRPr>
          </a:p>
        </p:txBody>
      </p:sp>
      <p:cxnSp>
        <p:nvCxnSpPr>
          <p:cNvPr id="493" name="Google Shape;493;p18"/>
          <p:cNvCxnSpPr/>
          <p:nvPr/>
        </p:nvCxnSpPr>
        <p:spPr>
          <a:xfrm>
            <a:off x="5423650" y="2504893"/>
            <a:ext cx="0" cy="332700"/>
          </a:xfrm>
          <a:prstGeom prst="straightConnector1">
            <a:avLst/>
          </a:prstGeom>
          <a:noFill/>
          <a:ln cap="flat" cmpd="sng" w="25400">
            <a:solidFill>
              <a:srgbClr val="B7B7B7"/>
            </a:solidFill>
            <a:prstDash val="solid"/>
            <a:miter lim="8000"/>
            <a:headEnd len="sm" w="sm" type="none"/>
            <a:tailEnd len="med" w="med" type="triangle"/>
          </a:ln>
        </p:spPr>
      </p:cxnSp>
      <p:cxnSp>
        <p:nvCxnSpPr>
          <p:cNvPr id="494" name="Google Shape;494;p18"/>
          <p:cNvCxnSpPr>
            <a:stCxn id="485" idx="3"/>
            <a:endCxn id="484" idx="1"/>
          </p:cNvCxnSpPr>
          <p:nvPr/>
        </p:nvCxnSpPr>
        <p:spPr>
          <a:xfrm flipH="1" rot="10800000">
            <a:off x="3750325" y="1548954"/>
            <a:ext cx="729000" cy="300"/>
          </a:xfrm>
          <a:prstGeom prst="straightConnector1">
            <a:avLst/>
          </a:prstGeom>
          <a:noFill/>
          <a:ln cap="flat" cmpd="sng" w="9525">
            <a:solidFill>
              <a:srgbClr val="B7B7B7"/>
            </a:solidFill>
            <a:prstDash val="solid"/>
            <a:miter lim="8000"/>
            <a:headEnd len="med" w="med" type="triangle"/>
            <a:tailEnd len="med" w="med" type="triangle"/>
          </a:ln>
        </p:spPr>
      </p:cxnSp>
      <p:cxnSp>
        <p:nvCxnSpPr>
          <p:cNvPr id="495" name="Google Shape;495;p18"/>
          <p:cNvCxnSpPr>
            <a:stCxn id="496" idx="3"/>
            <a:endCxn id="486" idx="1"/>
          </p:cNvCxnSpPr>
          <p:nvPr/>
        </p:nvCxnSpPr>
        <p:spPr>
          <a:xfrm>
            <a:off x="3750325" y="2229258"/>
            <a:ext cx="729000" cy="0"/>
          </a:xfrm>
          <a:prstGeom prst="straightConnector1">
            <a:avLst/>
          </a:prstGeom>
          <a:noFill/>
          <a:ln cap="flat" cmpd="sng" w="9525">
            <a:solidFill>
              <a:srgbClr val="B7B7B7"/>
            </a:solidFill>
            <a:prstDash val="solid"/>
            <a:miter lim="8000"/>
            <a:headEnd len="med" w="med" type="triangle"/>
            <a:tailEnd len="med" w="med" type="triangle"/>
          </a:ln>
        </p:spPr>
      </p:cxnSp>
      <p:sp>
        <p:nvSpPr>
          <p:cNvPr id="496" name="Google Shape;496;p18"/>
          <p:cNvSpPr txBox="1"/>
          <p:nvPr/>
        </p:nvSpPr>
        <p:spPr>
          <a:xfrm>
            <a:off x="1629325" y="2090208"/>
            <a:ext cx="2121000" cy="278100"/>
          </a:xfrm>
          <a:prstGeom prst="rect">
            <a:avLst/>
          </a:prstGeom>
          <a:solidFill>
            <a:srgbClr val="B7B7B7"/>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FFFFFF"/>
                </a:solidFill>
                <a:latin typeface="Montserrat"/>
                <a:ea typeface="Montserrat"/>
                <a:cs typeface="Montserrat"/>
                <a:sym typeface="Montserrat"/>
              </a:rPr>
              <a:t>Product Manager, Racing Queensland </a:t>
            </a:r>
            <a:endParaRPr b="1" i="0" sz="800" u="none" cap="none" strike="noStrike">
              <a:solidFill>
                <a:srgbClr val="FFFFFF"/>
              </a:solidFill>
              <a:latin typeface="Montserrat"/>
              <a:ea typeface="Montserrat"/>
              <a:cs typeface="Montserrat"/>
              <a:sym typeface="Montserrat"/>
            </a:endParaRPr>
          </a:p>
        </p:txBody>
      </p:sp>
      <p:sp>
        <p:nvSpPr>
          <p:cNvPr id="497" name="Google Shape;497;p18"/>
          <p:cNvSpPr txBox="1"/>
          <p:nvPr/>
        </p:nvSpPr>
        <p:spPr>
          <a:xfrm>
            <a:off x="2864276" y="2533538"/>
            <a:ext cx="660900" cy="151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Montserrat"/>
                <a:ea typeface="Montserrat"/>
                <a:cs typeface="Montserrat"/>
                <a:sym typeface="Montserrat"/>
              </a:rPr>
              <a:t>Escalate Risks &amp; Issues</a:t>
            </a:r>
            <a:endParaRPr b="0" i="0" sz="700" u="none" cap="none" strike="noStrike">
              <a:solidFill>
                <a:srgbClr val="336666"/>
              </a:solidFill>
              <a:latin typeface="Montserrat"/>
              <a:ea typeface="Montserrat"/>
              <a:cs typeface="Montserrat"/>
              <a:sym typeface="Montserrat"/>
            </a:endParaRPr>
          </a:p>
        </p:txBody>
      </p:sp>
      <p:cxnSp>
        <p:nvCxnSpPr>
          <p:cNvPr id="498" name="Google Shape;498;p18"/>
          <p:cNvCxnSpPr/>
          <p:nvPr/>
        </p:nvCxnSpPr>
        <p:spPr>
          <a:xfrm rot="10800000">
            <a:off x="2632100" y="2507218"/>
            <a:ext cx="0" cy="365700"/>
          </a:xfrm>
          <a:prstGeom prst="straightConnector1">
            <a:avLst/>
          </a:prstGeom>
          <a:noFill/>
          <a:ln cap="flat" cmpd="sng" w="25400">
            <a:solidFill>
              <a:srgbClr val="B7B7B7"/>
            </a:solidFill>
            <a:prstDash val="solid"/>
            <a:miter lim="8000"/>
            <a:headEnd len="sm" w="sm" type="none"/>
            <a:tailEnd len="med" w="med" type="triangle"/>
          </a:ln>
        </p:spPr>
      </p:cxnSp>
      <p:cxnSp>
        <p:nvCxnSpPr>
          <p:cNvPr id="499" name="Google Shape;499;p18"/>
          <p:cNvCxnSpPr>
            <a:stCxn id="483" idx="0"/>
            <a:endCxn id="464" idx="0"/>
          </p:cNvCxnSpPr>
          <p:nvPr/>
        </p:nvCxnSpPr>
        <p:spPr>
          <a:xfrm rot="5400000">
            <a:off x="5404407" y="1633923"/>
            <a:ext cx="254100" cy="3184500"/>
          </a:xfrm>
          <a:prstGeom prst="bentConnector3">
            <a:avLst>
              <a:gd fmla="val -93713" name="adj1"/>
            </a:avLst>
          </a:prstGeom>
          <a:noFill/>
          <a:ln cap="flat" cmpd="sng" w="9525">
            <a:solidFill>
              <a:srgbClr val="B7B7B7"/>
            </a:solidFill>
            <a:prstDash val="solid"/>
            <a:round/>
            <a:headEnd len="med" w="med" type="oval"/>
            <a:tailEnd len="med" w="med" type="oval"/>
          </a:ln>
        </p:spPr>
      </p:cxnSp>
      <p:sp>
        <p:nvSpPr>
          <p:cNvPr id="500" name="Google Shape;500;p18"/>
          <p:cNvSpPr/>
          <p:nvPr/>
        </p:nvSpPr>
        <p:spPr>
          <a:xfrm>
            <a:off x="7182432" y="1935141"/>
            <a:ext cx="1401300" cy="444300"/>
          </a:xfrm>
          <a:prstGeom prst="rect">
            <a:avLst/>
          </a:prstGeom>
          <a:noFill/>
          <a:ln>
            <a:noFill/>
          </a:ln>
        </p:spPr>
        <p:txBody>
          <a:bodyPr anchorCtr="0" anchor="ctr" bIns="121900" lIns="60925" spcFirstLastPara="1" rIns="60925" wrap="square" tIns="121900">
            <a:noAutofit/>
          </a:bodyPr>
          <a:lstStyle/>
          <a:p>
            <a:pPr indent="0" lvl="0" marL="0" marR="0" rtl="0" algn="ctr">
              <a:lnSpc>
                <a:spcPct val="100000"/>
              </a:lnSpc>
              <a:spcBef>
                <a:spcPts val="0"/>
              </a:spcBef>
              <a:spcAft>
                <a:spcPts val="0"/>
              </a:spcAft>
              <a:buClr>
                <a:srgbClr val="000000"/>
              </a:buClr>
              <a:buSzPts val="1300"/>
              <a:buFont typeface="Arial"/>
              <a:buNone/>
            </a:pPr>
            <a:r>
              <a:rPr b="1" i="0" lang="en" sz="700" u="none" cap="none" strike="noStrike">
                <a:solidFill>
                  <a:srgbClr val="191919"/>
                </a:solidFill>
                <a:latin typeface="Montserrat"/>
                <a:ea typeface="Montserrat"/>
                <a:cs typeface="Montserrat"/>
                <a:sym typeface="Montserrat"/>
              </a:rPr>
              <a:t>Monthly Governance Checkpoints (SteerCo)</a:t>
            </a:r>
            <a:endParaRPr b="1" i="0" sz="700" u="none" cap="none" strike="noStrike">
              <a:solidFill>
                <a:srgbClr val="191919"/>
              </a:solidFill>
              <a:latin typeface="Montserrat"/>
              <a:ea typeface="Montserrat"/>
              <a:cs typeface="Montserrat"/>
              <a:sym typeface="Montserrat"/>
            </a:endParaRPr>
          </a:p>
        </p:txBody>
      </p:sp>
      <p:sp>
        <p:nvSpPr>
          <p:cNvPr id="501" name="Google Shape;501;p18"/>
          <p:cNvSpPr/>
          <p:nvPr/>
        </p:nvSpPr>
        <p:spPr>
          <a:xfrm>
            <a:off x="7712458" y="1639644"/>
            <a:ext cx="318300" cy="311700"/>
          </a:xfrm>
          <a:custGeom>
            <a:rect b="b" l="l" r="r" t="t"/>
            <a:pathLst>
              <a:path extrusionOk="0" h="120000" w="120000">
                <a:moveTo>
                  <a:pt x="102419" y="17574"/>
                </a:moveTo>
                <a:cubicBezTo>
                  <a:pt x="125853" y="41002"/>
                  <a:pt x="125853" y="78991"/>
                  <a:pt x="102419" y="102419"/>
                </a:cubicBezTo>
                <a:cubicBezTo>
                  <a:pt x="78991" y="125853"/>
                  <a:pt x="41002" y="125853"/>
                  <a:pt x="17574" y="102419"/>
                </a:cubicBezTo>
                <a:cubicBezTo>
                  <a:pt x="-5860" y="78991"/>
                  <a:pt x="-5860" y="41002"/>
                  <a:pt x="17574" y="17574"/>
                </a:cubicBezTo>
                <a:cubicBezTo>
                  <a:pt x="41002" y="-5860"/>
                  <a:pt x="78991" y="-5860"/>
                  <a:pt x="102419" y="17574"/>
                </a:cubicBezTo>
                <a:close/>
              </a:path>
            </a:pathLst>
          </a:custGeom>
          <a:solidFill>
            <a:srgbClr val="99BDEA"/>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00"/>
              <a:buFont typeface="Arial"/>
              <a:buNone/>
            </a:pPr>
            <a:r>
              <a:t/>
            </a:r>
            <a:endParaRPr b="0" i="0" sz="1300" u="none" cap="none" strike="noStrike">
              <a:solidFill>
                <a:srgbClr val="000000"/>
              </a:solidFill>
              <a:latin typeface="Calibri"/>
              <a:ea typeface="Calibri"/>
              <a:cs typeface="Calibri"/>
              <a:sym typeface="Calibri"/>
            </a:endParaRPr>
          </a:p>
        </p:txBody>
      </p:sp>
      <p:sp>
        <p:nvSpPr>
          <p:cNvPr id="502" name="Google Shape;502;p18"/>
          <p:cNvSpPr/>
          <p:nvPr/>
        </p:nvSpPr>
        <p:spPr>
          <a:xfrm>
            <a:off x="4196599" y="3403869"/>
            <a:ext cx="1334100" cy="941700"/>
          </a:xfrm>
          <a:prstGeom prst="roundRect">
            <a:avLst>
              <a:gd fmla="val 5116" name="adj"/>
            </a:avLst>
          </a:prstGeom>
          <a:solidFill>
            <a:srgbClr val="FFFFFF"/>
          </a:solidFill>
          <a:ln cap="flat" cmpd="sng" w="9525">
            <a:solidFill>
              <a:srgbClr val="CC006C"/>
            </a:solidFill>
            <a:prstDash val="dot"/>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503" name="Google Shape;503;p18"/>
          <p:cNvPicPr preferRelativeResize="0"/>
          <p:nvPr/>
        </p:nvPicPr>
        <p:blipFill rotWithShape="1">
          <a:blip r:embed="rId8">
            <a:alphaModFix/>
          </a:blip>
          <a:srcRect b="0" l="0" r="0" t="0"/>
          <a:stretch/>
        </p:blipFill>
        <p:spPr>
          <a:xfrm>
            <a:off x="7756651" y="1712375"/>
            <a:ext cx="229899" cy="166176"/>
          </a:xfrm>
          <a:prstGeom prst="rect">
            <a:avLst/>
          </a:prstGeom>
          <a:noFill/>
          <a:ln>
            <a:noFill/>
          </a:ln>
        </p:spPr>
      </p:pic>
      <p:sp>
        <p:nvSpPr>
          <p:cNvPr id="504" name="Google Shape;504;p18"/>
          <p:cNvSpPr/>
          <p:nvPr/>
        </p:nvSpPr>
        <p:spPr>
          <a:xfrm>
            <a:off x="4128891" y="3446717"/>
            <a:ext cx="1334100" cy="1014300"/>
          </a:xfrm>
          <a:prstGeom prst="roundRect">
            <a:avLst>
              <a:gd fmla="val 5116" name="adj"/>
            </a:avLst>
          </a:prstGeom>
          <a:solidFill>
            <a:srgbClr val="FFFFFF"/>
          </a:solidFill>
          <a:ln cap="flat" cmpd="sng" w="9525">
            <a:solidFill>
              <a:srgbClr val="CC006C"/>
            </a:solidFill>
            <a:prstDash val="dot"/>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505" name="Google Shape;505;p18"/>
          <p:cNvPicPr preferRelativeResize="0"/>
          <p:nvPr/>
        </p:nvPicPr>
        <p:blipFill rotWithShape="1">
          <a:blip r:embed="rId9">
            <a:alphaModFix/>
          </a:blip>
          <a:srcRect b="18198" l="21766" r="23601" t="16993"/>
          <a:stretch/>
        </p:blipFill>
        <p:spPr>
          <a:xfrm>
            <a:off x="4259212" y="4081790"/>
            <a:ext cx="193693" cy="181710"/>
          </a:xfrm>
          <a:prstGeom prst="rect">
            <a:avLst/>
          </a:prstGeom>
          <a:noFill/>
          <a:ln>
            <a:noFill/>
          </a:ln>
        </p:spPr>
      </p:pic>
      <p:sp>
        <p:nvSpPr>
          <p:cNvPr id="506" name="Google Shape;506;p18"/>
          <p:cNvSpPr txBox="1"/>
          <p:nvPr/>
        </p:nvSpPr>
        <p:spPr>
          <a:xfrm>
            <a:off x="4380925" y="3505629"/>
            <a:ext cx="830100" cy="3078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000000"/>
                </a:solidFill>
                <a:latin typeface="Montserrat"/>
                <a:ea typeface="Montserrat"/>
                <a:cs typeface="Montserrat"/>
                <a:sym typeface="Montserrat"/>
              </a:rPr>
              <a:t>TTN Team</a:t>
            </a:r>
            <a:endParaRPr b="1" i="0" sz="800" u="none" cap="none" strike="noStrike">
              <a:solidFill>
                <a:srgbClr val="000000"/>
              </a:solidFill>
              <a:latin typeface="Montserrat"/>
              <a:ea typeface="Montserrat"/>
              <a:cs typeface="Montserrat"/>
              <a:sym typeface="Montserrat"/>
            </a:endParaRPr>
          </a:p>
        </p:txBody>
      </p:sp>
      <p:sp>
        <p:nvSpPr>
          <p:cNvPr id="507" name="Google Shape;507;p18"/>
          <p:cNvSpPr txBox="1"/>
          <p:nvPr/>
        </p:nvSpPr>
        <p:spPr>
          <a:xfrm>
            <a:off x="4232743" y="3979995"/>
            <a:ext cx="1261800" cy="4002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700"/>
              <a:buFont typeface="Arial"/>
              <a:buNone/>
            </a:pPr>
            <a:r>
              <a:rPr b="1" i="0" lang="en" sz="700" u="none" cap="none" strike="noStrike">
                <a:solidFill>
                  <a:srgbClr val="000000"/>
                </a:solidFill>
                <a:latin typeface="Century Gothic"/>
                <a:ea typeface="Century Gothic"/>
                <a:cs typeface="Century Gothic"/>
                <a:sym typeface="Century Gothic"/>
              </a:rPr>
              <a:t>TTN Engineering </a:t>
            </a:r>
            <a:endParaRPr b="1" i="0" sz="700" u="none" cap="none" strike="noStrike">
              <a:solidFill>
                <a:srgbClr val="000000"/>
              </a:solidFill>
              <a:latin typeface="Century Gothic"/>
              <a:ea typeface="Century Gothic"/>
              <a:cs typeface="Century Gothic"/>
              <a:sym typeface="Century Gothic"/>
            </a:endParaRPr>
          </a:p>
          <a:p>
            <a:pPr indent="0" lvl="0" marL="0" marR="0" rtl="0" algn="ctr">
              <a:lnSpc>
                <a:spcPct val="100000"/>
              </a:lnSpc>
              <a:spcBef>
                <a:spcPts val="0"/>
              </a:spcBef>
              <a:spcAft>
                <a:spcPts val="0"/>
              </a:spcAft>
              <a:buClr>
                <a:srgbClr val="000000"/>
              </a:buClr>
              <a:buSzPts val="700"/>
              <a:buFont typeface="Arial"/>
              <a:buNone/>
            </a:pPr>
            <a:r>
              <a:rPr b="1" i="0" lang="en" sz="700" u="none" cap="none" strike="noStrike">
                <a:solidFill>
                  <a:srgbClr val="000000"/>
                </a:solidFill>
                <a:latin typeface="Century Gothic"/>
                <a:ea typeface="Century Gothic"/>
                <a:cs typeface="Century Gothic"/>
                <a:sym typeface="Century Gothic"/>
              </a:rPr>
              <a:t>Team</a:t>
            </a:r>
            <a:endParaRPr b="1" i="0" sz="700" u="none" cap="none" strike="noStrike">
              <a:solidFill>
                <a:srgbClr val="000000"/>
              </a:solidFill>
              <a:latin typeface="Century Gothic"/>
              <a:ea typeface="Century Gothic"/>
              <a:cs typeface="Century Gothic"/>
              <a:sym typeface="Century Gothic"/>
            </a:endParaRPr>
          </a:p>
        </p:txBody>
      </p:sp>
      <p:pic>
        <p:nvPicPr>
          <p:cNvPr id="508" name="Google Shape;508;p18"/>
          <p:cNvPicPr preferRelativeResize="0"/>
          <p:nvPr/>
        </p:nvPicPr>
        <p:blipFill rotWithShape="1">
          <a:blip r:embed="rId9">
            <a:alphaModFix/>
          </a:blip>
          <a:srcRect b="18198" l="21766" r="23601" t="16993"/>
          <a:stretch/>
        </p:blipFill>
        <p:spPr>
          <a:xfrm>
            <a:off x="4271897" y="3802253"/>
            <a:ext cx="168324" cy="180046"/>
          </a:xfrm>
          <a:prstGeom prst="rect">
            <a:avLst/>
          </a:prstGeom>
          <a:noFill/>
          <a:ln>
            <a:noFill/>
          </a:ln>
        </p:spPr>
      </p:pic>
      <p:sp>
        <p:nvSpPr>
          <p:cNvPr id="509" name="Google Shape;509;p18"/>
          <p:cNvSpPr txBox="1"/>
          <p:nvPr/>
        </p:nvSpPr>
        <p:spPr>
          <a:xfrm>
            <a:off x="4388911" y="3821314"/>
            <a:ext cx="981600" cy="290700"/>
          </a:xfrm>
          <a:prstGeom prst="rect">
            <a:avLst/>
          </a:prstGeom>
          <a:noFill/>
          <a:ln>
            <a:noFill/>
          </a:ln>
        </p:spPr>
        <p:txBody>
          <a:bodyPr anchorCtr="0" anchor="b" bIns="91425" lIns="91425" spcFirstLastPara="1" rIns="91425" wrap="square" tIns="91425">
            <a:noAutofit/>
          </a:bodyPr>
          <a:lstStyle/>
          <a:p>
            <a:pPr indent="0" lvl="0" marL="0" marR="0" rtl="0" algn="ctr">
              <a:lnSpc>
                <a:spcPct val="80000"/>
              </a:lnSpc>
              <a:spcBef>
                <a:spcPts val="0"/>
              </a:spcBef>
              <a:spcAft>
                <a:spcPts val="0"/>
              </a:spcAft>
              <a:buClr>
                <a:srgbClr val="000000"/>
              </a:buClr>
              <a:buSzPts val="700"/>
              <a:buFont typeface="Arial"/>
              <a:buNone/>
            </a:pPr>
            <a:r>
              <a:rPr b="1" i="0" lang="en" sz="700" u="none" cap="none" strike="noStrike">
                <a:solidFill>
                  <a:srgbClr val="000000"/>
                </a:solidFill>
                <a:latin typeface="Century Gothic"/>
                <a:ea typeface="Century Gothic"/>
                <a:cs typeface="Century Gothic"/>
                <a:sym typeface="Century Gothic"/>
              </a:rPr>
              <a:t>Project Manager</a:t>
            </a:r>
            <a:endParaRPr b="1" i="0" sz="700" u="none" cap="none" strike="noStrike">
              <a:solidFill>
                <a:srgbClr val="000000"/>
              </a:solidFill>
              <a:latin typeface="Century Gothic"/>
              <a:ea typeface="Century Gothic"/>
              <a:cs typeface="Century Gothic"/>
              <a:sym typeface="Century Gothic"/>
            </a:endParaRPr>
          </a:p>
        </p:txBody>
      </p:sp>
      <p:cxnSp>
        <p:nvCxnSpPr>
          <p:cNvPr id="510" name="Google Shape;510;p18"/>
          <p:cNvCxnSpPr/>
          <p:nvPr/>
        </p:nvCxnSpPr>
        <p:spPr>
          <a:xfrm rot="10800000">
            <a:off x="3316313" y="4030223"/>
            <a:ext cx="276600" cy="0"/>
          </a:xfrm>
          <a:prstGeom prst="straightConnector1">
            <a:avLst/>
          </a:prstGeom>
          <a:noFill/>
          <a:ln cap="flat" cmpd="sng" w="9525">
            <a:solidFill>
              <a:srgbClr val="999999"/>
            </a:solidFill>
            <a:prstDash val="solid"/>
            <a:round/>
            <a:headEnd len="sm" w="sm" type="none"/>
            <a:tailEnd len="sm" w="sm" type="none"/>
          </a:ln>
        </p:spPr>
      </p:cxnSp>
      <p:pic>
        <p:nvPicPr>
          <p:cNvPr id="511" name="Google Shape;511;p18"/>
          <p:cNvPicPr preferRelativeResize="0"/>
          <p:nvPr/>
        </p:nvPicPr>
        <p:blipFill rotWithShape="1">
          <a:blip r:embed="rId8">
            <a:alphaModFix/>
          </a:blip>
          <a:srcRect b="0" l="0" r="0" t="0"/>
          <a:stretch/>
        </p:blipFill>
        <p:spPr>
          <a:xfrm>
            <a:off x="6699607" y="3982434"/>
            <a:ext cx="183925" cy="135766"/>
          </a:xfrm>
          <a:prstGeom prst="rect">
            <a:avLst/>
          </a:prstGeom>
          <a:noFill/>
          <a:ln>
            <a:noFill/>
          </a:ln>
        </p:spPr>
      </p:pic>
      <p:sp>
        <p:nvSpPr>
          <p:cNvPr id="512" name="Google Shape;512;p18"/>
          <p:cNvSpPr txBox="1"/>
          <p:nvPr/>
        </p:nvSpPr>
        <p:spPr>
          <a:xfrm>
            <a:off x="359857" y="1281370"/>
            <a:ext cx="1175700" cy="431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800"/>
              <a:buFont typeface="Arial"/>
              <a:buNone/>
            </a:pPr>
            <a:r>
              <a:rPr b="1" i="0" lang="en" sz="800" u="none" cap="none" strike="noStrike">
                <a:solidFill>
                  <a:srgbClr val="12519C"/>
                </a:solidFill>
                <a:latin typeface="Montserrat"/>
                <a:ea typeface="Montserrat"/>
                <a:cs typeface="Montserrat"/>
                <a:sym typeface="Montserrat"/>
              </a:rPr>
              <a:t>Steering</a:t>
            </a:r>
            <a:endParaRPr b="0" i="0" sz="800" u="none" cap="none" strike="noStrike">
              <a:solidFill>
                <a:srgbClr val="12519C"/>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800"/>
              <a:buFont typeface="Arial"/>
              <a:buNone/>
            </a:pPr>
            <a:r>
              <a:rPr b="1" i="0" lang="en" sz="800" u="none" cap="none" strike="noStrike">
                <a:solidFill>
                  <a:srgbClr val="12519C"/>
                </a:solidFill>
                <a:latin typeface="Montserrat"/>
                <a:ea typeface="Montserrat"/>
                <a:cs typeface="Montserrat"/>
                <a:sym typeface="Montserrat"/>
              </a:rPr>
              <a:t>Committee</a:t>
            </a:r>
            <a:endParaRPr b="0" i="0" sz="800" u="none" cap="none" strike="noStrike">
              <a:solidFill>
                <a:srgbClr val="12519C"/>
              </a:solidFill>
              <a:latin typeface="Montserrat"/>
              <a:ea typeface="Montserrat"/>
              <a:cs typeface="Montserrat"/>
              <a:sym typeface="Montserrat"/>
            </a:endParaRPr>
          </a:p>
        </p:txBody>
      </p:sp>
      <p:sp>
        <p:nvSpPr>
          <p:cNvPr id="513" name="Google Shape;513;p18"/>
          <p:cNvSpPr txBox="1"/>
          <p:nvPr/>
        </p:nvSpPr>
        <p:spPr>
          <a:xfrm>
            <a:off x="409932" y="2011328"/>
            <a:ext cx="981600" cy="554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800"/>
              <a:buFont typeface="Arial"/>
              <a:buNone/>
            </a:pPr>
            <a:r>
              <a:rPr b="1" i="0" lang="en" sz="800" u="none" cap="none" strike="noStrike">
                <a:solidFill>
                  <a:srgbClr val="12519C"/>
                </a:solidFill>
                <a:latin typeface="Montserrat"/>
                <a:ea typeface="Montserrat"/>
                <a:cs typeface="Montserrat"/>
                <a:sym typeface="Montserrat"/>
              </a:rPr>
              <a:t>Program</a:t>
            </a:r>
            <a:endParaRPr b="0" i="0" sz="800" u="none" cap="none" strike="noStrike">
              <a:solidFill>
                <a:srgbClr val="12519C"/>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800"/>
              <a:buFont typeface="Arial"/>
              <a:buNone/>
            </a:pPr>
            <a:r>
              <a:rPr b="1" i="0" lang="en" sz="800" u="none" cap="none" strike="noStrike">
                <a:solidFill>
                  <a:srgbClr val="12519C"/>
                </a:solidFill>
                <a:latin typeface="Montserrat"/>
                <a:ea typeface="Montserrat"/>
                <a:cs typeface="Montserrat"/>
                <a:sym typeface="Montserrat"/>
              </a:rPr>
              <a:t>Management</a:t>
            </a:r>
            <a:endParaRPr b="0" i="0" sz="800" u="none" cap="none" strike="noStrike">
              <a:solidFill>
                <a:srgbClr val="12519C"/>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800"/>
              <a:buFont typeface="Arial"/>
              <a:buNone/>
            </a:pPr>
            <a:r>
              <a:rPr b="1" i="0" lang="en" sz="800" u="none" cap="none" strike="noStrike">
                <a:solidFill>
                  <a:srgbClr val="12519C"/>
                </a:solidFill>
                <a:latin typeface="Montserrat"/>
                <a:ea typeface="Montserrat"/>
                <a:cs typeface="Montserrat"/>
                <a:sym typeface="Montserrat"/>
              </a:rPr>
              <a:t>Committee</a:t>
            </a:r>
            <a:endParaRPr b="0" i="0" sz="800" u="none" cap="none" strike="noStrike">
              <a:solidFill>
                <a:srgbClr val="12519C"/>
              </a:solidFill>
              <a:latin typeface="Montserrat"/>
              <a:ea typeface="Montserrat"/>
              <a:cs typeface="Montserrat"/>
              <a:sym typeface="Montserrat"/>
            </a:endParaRPr>
          </a:p>
        </p:txBody>
      </p:sp>
      <p:cxnSp>
        <p:nvCxnSpPr>
          <p:cNvPr id="514" name="Google Shape;514;p18"/>
          <p:cNvCxnSpPr>
            <a:stCxn id="500" idx="2"/>
          </p:cNvCxnSpPr>
          <p:nvPr/>
        </p:nvCxnSpPr>
        <p:spPr>
          <a:xfrm flipH="1" rot="5400000">
            <a:off x="7211532" y="1707891"/>
            <a:ext cx="81300" cy="1261800"/>
          </a:xfrm>
          <a:prstGeom prst="bentConnector4">
            <a:avLst>
              <a:gd fmla="val -292897" name="adj1"/>
              <a:gd fmla="val 77764" name="adj2"/>
            </a:avLst>
          </a:prstGeom>
          <a:noFill/>
          <a:ln cap="flat" cmpd="sng" w="9525">
            <a:solidFill>
              <a:srgbClr val="B7B7B7"/>
            </a:solidFill>
            <a:prstDash val="solid"/>
            <a:round/>
            <a:headEnd len="med" w="med" type="oval"/>
            <a:tailEnd len="med" w="med" type="oval"/>
          </a:ln>
        </p:spPr>
      </p:cxnSp>
      <p:sp>
        <p:nvSpPr>
          <p:cNvPr id="515" name="Google Shape;515;p18"/>
          <p:cNvSpPr txBox="1"/>
          <p:nvPr/>
        </p:nvSpPr>
        <p:spPr>
          <a:xfrm>
            <a:off x="428857" y="3563900"/>
            <a:ext cx="3000000" cy="554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800"/>
              <a:buFont typeface="Arial"/>
              <a:buNone/>
            </a:pPr>
            <a:r>
              <a:rPr b="1" i="0" lang="en" sz="800" u="none" cap="none" strike="noStrike">
                <a:solidFill>
                  <a:srgbClr val="12519C"/>
                </a:solidFill>
                <a:latin typeface="Montserrat"/>
                <a:ea typeface="Montserrat"/>
                <a:cs typeface="Montserrat"/>
                <a:sym typeface="Montserrat"/>
              </a:rPr>
              <a:t>Program </a:t>
            </a:r>
            <a:endParaRPr b="0" i="0" sz="800" u="none" cap="none" strike="noStrike">
              <a:solidFill>
                <a:srgbClr val="12519C"/>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800"/>
              <a:buFont typeface="Arial"/>
              <a:buNone/>
            </a:pPr>
            <a:r>
              <a:rPr b="1" i="0" lang="en" sz="800" u="none" cap="none" strike="noStrike">
                <a:solidFill>
                  <a:srgbClr val="12519C"/>
                </a:solidFill>
                <a:latin typeface="Montserrat"/>
                <a:ea typeface="Montserrat"/>
                <a:cs typeface="Montserrat"/>
                <a:sym typeface="Montserrat"/>
              </a:rPr>
              <a:t>Execution </a:t>
            </a:r>
            <a:endParaRPr b="0" i="0" sz="800" u="none" cap="none" strike="noStrike">
              <a:solidFill>
                <a:srgbClr val="12519C"/>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800"/>
              <a:buFont typeface="Arial"/>
              <a:buNone/>
            </a:pPr>
            <a:r>
              <a:rPr b="1" i="0" lang="en" sz="800" u="none" cap="none" strike="noStrike">
                <a:solidFill>
                  <a:srgbClr val="12519C"/>
                </a:solidFill>
                <a:latin typeface="Montserrat"/>
                <a:ea typeface="Montserrat"/>
                <a:cs typeface="Montserrat"/>
                <a:sym typeface="Montserrat"/>
              </a:rPr>
              <a:t>Team</a:t>
            </a:r>
            <a:endParaRPr b="0" i="0" sz="800" u="none" cap="none" strike="noStrike">
              <a:solidFill>
                <a:srgbClr val="12519C"/>
              </a:solidFill>
              <a:latin typeface="Montserrat"/>
              <a:ea typeface="Montserrat"/>
              <a:cs typeface="Montserrat"/>
              <a:sym typeface="Montserrat"/>
            </a:endParaRPr>
          </a:p>
        </p:txBody>
      </p:sp>
      <p:pic>
        <p:nvPicPr>
          <p:cNvPr descr="TTN Logo.png" id="516" name="Google Shape;516;p18"/>
          <p:cNvPicPr preferRelativeResize="0"/>
          <p:nvPr/>
        </p:nvPicPr>
        <p:blipFill rotWithShape="1">
          <a:blip r:embed="rId10">
            <a:alphaModFix/>
          </a:blip>
          <a:srcRect b="0" l="0" r="0" t="0"/>
          <a:stretch/>
        </p:blipFill>
        <p:spPr>
          <a:xfrm>
            <a:off x="5110881" y="612478"/>
            <a:ext cx="625544" cy="349439"/>
          </a:xfrm>
          <a:prstGeom prst="rect">
            <a:avLst/>
          </a:prstGeom>
          <a:noFill/>
          <a:ln>
            <a:noFill/>
          </a:ln>
        </p:spPr>
      </p:pic>
      <p:sp>
        <p:nvSpPr>
          <p:cNvPr id="518" name="Google Shape;518;p18"/>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sz="1000"/>
              <a:t>‹#›</a:t>
            </a:fld>
            <a:endParaRPr sz="1000"/>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2" name="Shape 522"/>
        <p:cNvGrpSpPr/>
        <p:nvPr/>
      </p:nvGrpSpPr>
      <p:grpSpPr>
        <a:xfrm>
          <a:off x="0" y="0"/>
          <a:ext cx="0" cy="0"/>
          <a:chOff x="0" y="0"/>
          <a:chExt cx="0" cy="0"/>
        </a:xfrm>
      </p:grpSpPr>
      <p:sp>
        <p:nvSpPr>
          <p:cNvPr id="523" name="Google Shape;523;p19"/>
          <p:cNvSpPr txBox="1"/>
          <p:nvPr/>
        </p:nvSpPr>
        <p:spPr>
          <a:xfrm>
            <a:off x="105040" y="143994"/>
            <a:ext cx="6765900" cy="3573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1" i="0" lang="en" sz="2000" u="none" cap="none" strike="noStrike">
                <a:solidFill>
                  <a:schemeClr val="dk1"/>
                </a:solidFill>
                <a:latin typeface="Montserrat"/>
                <a:ea typeface="Montserrat"/>
                <a:cs typeface="Montserrat"/>
                <a:sym typeface="Montserrat"/>
              </a:rPr>
              <a:t>Project Plan</a:t>
            </a:r>
            <a:endParaRPr b="1" i="0" sz="2000" u="none" cap="none" strike="noStrike">
              <a:solidFill>
                <a:schemeClr val="dk1"/>
              </a:solidFill>
              <a:latin typeface="Montserrat"/>
              <a:ea typeface="Montserrat"/>
              <a:cs typeface="Montserrat"/>
              <a:sym typeface="Montserrat"/>
            </a:endParaRPr>
          </a:p>
        </p:txBody>
      </p:sp>
      <p:graphicFrame>
        <p:nvGraphicFramePr>
          <p:cNvPr id="524" name="Google Shape;524;p19"/>
          <p:cNvGraphicFramePr/>
          <p:nvPr/>
        </p:nvGraphicFramePr>
        <p:xfrm>
          <a:off x="232325" y="700950"/>
          <a:ext cx="3000000" cy="3000000"/>
        </p:xfrm>
        <a:graphic>
          <a:graphicData uri="http://schemas.openxmlformats.org/drawingml/2006/table">
            <a:tbl>
              <a:tblPr>
                <a:noFill/>
                <a:tableStyleId>{8E411067-61D8-4564-84A8-C3C864F6D0E8}</a:tableStyleId>
              </a:tblPr>
              <a:tblGrid>
                <a:gridCol w="1256925"/>
                <a:gridCol w="461550"/>
                <a:gridCol w="476475"/>
                <a:gridCol w="453325"/>
                <a:gridCol w="498275"/>
                <a:gridCol w="464450"/>
                <a:gridCol w="457375"/>
                <a:gridCol w="517625"/>
                <a:gridCol w="517625"/>
                <a:gridCol w="517625"/>
                <a:gridCol w="517625"/>
                <a:gridCol w="517625"/>
                <a:gridCol w="517625"/>
                <a:gridCol w="517625"/>
                <a:gridCol w="517625"/>
                <a:gridCol w="517625"/>
              </a:tblGrid>
              <a:tr h="320750">
                <a:tc>
                  <a:txBody>
                    <a:bodyPr/>
                    <a:lstStyle/>
                    <a:p>
                      <a:pPr indent="0" lvl="0" marL="0" marR="0" rtl="0" algn="ctr">
                        <a:lnSpc>
                          <a:spcPct val="100000"/>
                        </a:lnSpc>
                        <a:spcBef>
                          <a:spcPts val="0"/>
                        </a:spcBef>
                        <a:spcAft>
                          <a:spcPts val="0"/>
                        </a:spcAft>
                        <a:buClr>
                          <a:srgbClr val="000000"/>
                        </a:buClr>
                        <a:buSzPts val="900"/>
                        <a:buFont typeface="Arial"/>
                        <a:buNone/>
                      </a:pPr>
                      <a:r>
                        <a:rPr b="1" lang="en" sz="900" u="none" cap="none" strike="noStrike">
                          <a:solidFill>
                            <a:srgbClr val="FFFFFF"/>
                          </a:solidFill>
                          <a:latin typeface="Montserrat"/>
                          <a:ea typeface="Montserrat"/>
                          <a:cs typeface="Montserrat"/>
                          <a:sym typeface="Montserrat"/>
                        </a:rPr>
                        <a:t>Activities /Timelines</a:t>
                      </a:r>
                      <a:endParaRPr b="1" sz="900" u="none" cap="none" strike="noStrike">
                        <a:solidFill>
                          <a:srgbClr val="FFFFFF"/>
                        </a:solidFill>
                        <a:latin typeface="Montserrat"/>
                        <a:ea typeface="Montserrat"/>
                        <a:cs typeface="Montserrat"/>
                        <a:sym typeface="Montserrat"/>
                      </a:endParaRPr>
                    </a:p>
                  </a:txBody>
                  <a:tcPr marT="0" marB="0" marR="0" marL="0" anchor="ctr">
                    <a:lnL cap="flat" cmpd="sng" w="9525">
                      <a:solidFill>
                        <a:srgbClr val="EFEFEF"/>
                      </a:solidFill>
                      <a:prstDash val="solid"/>
                      <a:round/>
                      <a:headEnd len="sm" w="sm" type="none"/>
                      <a:tailEnd len="sm" w="sm" type="none"/>
                    </a:lnL>
                    <a:lnR cap="flat" cmpd="sng" w="9525">
                      <a:solidFill>
                        <a:srgbClr val="EFEFEF"/>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2519C"/>
                    </a:solidFill>
                  </a:tcPr>
                </a:tc>
                <a:tc>
                  <a:txBody>
                    <a:bodyPr/>
                    <a:lstStyle/>
                    <a:p>
                      <a:pPr indent="0" lvl="0" marL="0" marR="0" rtl="0" algn="ctr">
                        <a:lnSpc>
                          <a:spcPct val="115000"/>
                        </a:lnSpc>
                        <a:spcBef>
                          <a:spcPts val="0"/>
                        </a:spcBef>
                        <a:spcAft>
                          <a:spcPts val="0"/>
                        </a:spcAft>
                        <a:buClr>
                          <a:srgbClr val="000000"/>
                        </a:buClr>
                        <a:buSzPts val="900"/>
                        <a:buFont typeface="Arial"/>
                        <a:buNone/>
                      </a:pPr>
                      <a:r>
                        <a:rPr b="1" lang="en" sz="900" u="none" cap="none" strike="noStrike">
                          <a:solidFill>
                            <a:srgbClr val="FFFFFF"/>
                          </a:solidFill>
                          <a:latin typeface="Montserrat"/>
                          <a:ea typeface="Montserrat"/>
                          <a:cs typeface="Montserrat"/>
                          <a:sym typeface="Montserrat"/>
                        </a:rPr>
                        <a:t>Week 1</a:t>
                      </a:r>
                      <a:endParaRPr b="1" sz="900" u="none" cap="none" strike="noStrike">
                        <a:solidFill>
                          <a:srgbClr val="FFFFFF"/>
                        </a:solidFill>
                        <a:latin typeface="Montserrat"/>
                        <a:ea typeface="Montserrat"/>
                        <a:cs typeface="Montserrat"/>
                        <a:sym typeface="Montserrat"/>
                      </a:endParaRPr>
                    </a:p>
                  </a:txBody>
                  <a:tcPr marT="0" marB="0" marR="0" marL="0" anchor="ctr">
                    <a:lnL cap="flat" cmpd="sng" w="9525">
                      <a:solidFill>
                        <a:srgbClr val="EFEFEF"/>
                      </a:solidFill>
                      <a:prstDash val="solid"/>
                      <a:round/>
                      <a:headEnd len="sm" w="sm" type="none"/>
                      <a:tailEnd len="sm" w="sm" type="none"/>
                    </a:lnL>
                    <a:lnR cap="flat" cmpd="sng" w="9525">
                      <a:solidFill>
                        <a:srgbClr val="EFEFEF"/>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2519C"/>
                    </a:solidFill>
                  </a:tcPr>
                </a:tc>
                <a:tc>
                  <a:txBody>
                    <a:bodyPr/>
                    <a:lstStyle/>
                    <a:p>
                      <a:pPr indent="0" lvl="0" marL="0" marR="0" rtl="0" algn="ctr">
                        <a:lnSpc>
                          <a:spcPct val="115000"/>
                        </a:lnSpc>
                        <a:spcBef>
                          <a:spcPts val="0"/>
                        </a:spcBef>
                        <a:spcAft>
                          <a:spcPts val="0"/>
                        </a:spcAft>
                        <a:buClr>
                          <a:srgbClr val="000000"/>
                        </a:buClr>
                        <a:buSzPts val="900"/>
                        <a:buFont typeface="Arial"/>
                        <a:buNone/>
                      </a:pPr>
                      <a:r>
                        <a:rPr b="1" lang="en" sz="900" u="none" cap="none" strike="noStrike">
                          <a:solidFill>
                            <a:srgbClr val="FFFFFF"/>
                          </a:solidFill>
                          <a:latin typeface="Montserrat"/>
                          <a:ea typeface="Montserrat"/>
                          <a:cs typeface="Montserrat"/>
                          <a:sym typeface="Montserrat"/>
                        </a:rPr>
                        <a:t>Week 2</a:t>
                      </a:r>
                      <a:endParaRPr sz="900" u="none" cap="none" strike="noStrike">
                        <a:solidFill>
                          <a:srgbClr val="FFFFFF"/>
                        </a:solidFill>
                        <a:latin typeface="Montserrat"/>
                        <a:ea typeface="Montserrat"/>
                        <a:cs typeface="Montserrat"/>
                        <a:sym typeface="Montserrat"/>
                      </a:endParaRPr>
                    </a:p>
                  </a:txBody>
                  <a:tcPr marT="0" marB="0" marR="0" marL="0" anchor="ctr">
                    <a:lnL cap="flat" cmpd="sng" w="9525">
                      <a:solidFill>
                        <a:srgbClr val="EFEFEF"/>
                      </a:solidFill>
                      <a:prstDash val="solid"/>
                      <a:round/>
                      <a:headEnd len="sm" w="sm" type="none"/>
                      <a:tailEnd len="sm" w="sm" type="none"/>
                    </a:lnL>
                    <a:lnR cap="flat" cmpd="sng" w="9525">
                      <a:solidFill>
                        <a:srgbClr val="EFEFEF"/>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2519C"/>
                    </a:solidFill>
                  </a:tcPr>
                </a:tc>
                <a:tc>
                  <a:txBody>
                    <a:bodyPr/>
                    <a:lstStyle/>
                    <a:p>
                      <a:pPr indent="0" lvl="0" marL="0" marR="0" rtl="0" algn="ctr">
                        <a:lnSpc>
                          <a:spcPct val="115000"/>
                        </a:lnSpc>
                        <a:spcBef>
                          <a:spcPts val="0"/>
                        </a:spcBef>
                        <a:spcAft>
                          <a:spcPts val="0"/>
                        </a:spcAft>
                        <a:buClr>
                          <a:srgbClr val="000000"/>
                        </a:buClr>
                        <a:buSzPts val="900"/>
                        <a:buFont typeface="Arial"/>
                        <a:buNone/>
                      </a:pPr>
                      <a:r>
                        <a:rPr b="1" lang="en" sz="900" u="none" cap="none" strike="noStrike">
                          <a:solidFill>
                            <a:srgbClr val="FFFFFF"/>
                          </a:solidFill>
                          <a:latin typeface="Montserrat"/>
                          <a:ea typeface="Montserrat"/>
                          <a:cs typeface="Montserrat"/>
                          <a:sym typeface="Montserrat"/>
                        </a:rPr>
                        <a:t>Week 3</a:t>
                      </a:r>
                      <a:endParaRPr sz="900" u="none" cap="none" strike="noStrike">
                        <a:solidFill>
                          <a:srgbClr val="FFFFFF"/>
                        </a:solidFill>
                        <a:latin typeface="Montserrat"/>
                        <a:ea typeface="Montserrat"/>
                        <a:cs typeface="Montserrat"/>
                        <a:sym typeface="Montserrat"/>
                      </a:endParaRPr>
                    </a:p>
                  </a:txBody>
                  <a:tcPr marT="0" marB="0" marR="0" marL="0" anchor="ctr">
                    <a:lnL cap="flat" cmpd="sng" w="9525">
                      <a:solidFill>
                        <a:srgbClr val="EFEFEF"/>
                      </a:solidFill>
                      <a:prstDash val="solid"/>
                      <a:round/>
                      <a:headEnd len="sm" w="sm" type="none"/>
                      <a:tailEnd len="sm" w="sm" type="none"/>
                    </a:lnL>
                    <a:lnR cap="flat" cmpd="sng" w="9525">
                      <a:solidFill>
                        <a:srgbClr val="EFEFEF"/>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2519C"/>
                    </a:solidFill>
                  </a:tcPr>
                </a:tc>
                <a:tc>
                  <a:txBody>
                    <a:bodyPr/>
                    <a:lstStyle/>
                    <a:p>
                      <a:pPr indent="0" lvl="0" marL="0" marR="0" rtl="0" algn="ctr">
                        <a:lnSpc>
                          <a:spcPct val="115000"/>
                        </a:lnSpc>
                        <a:spcBef>
                          <a:spcPts val="0"/>
                        </a:spcBef>
                        <a:spcAft>
                          <a:spcPts val="0"/>
                        </a:spcAft>
                        <a:buClr>
                          <a:srgbClr val="000000"/>
                        </a:buClr>
                        <a:buSzPts val="900"/>
                        <a:buFont typeface="Arial"/>
                        <a:buNone/>
                      </a:pPr>
                      <a:r>
                        <a:rPr b="1" lang="en" sz="900" u="none" cap="none" strike="noStrike">
                          <a:solidFill>
                            <a:srgbClr val="FFFFFF"/>
                          </a:solidFill>
                          <a:latin typeface="Montserrat"/>
                          <a:ea typeface="Montserrat"/>
                          <a:cs typeface="Montserrat"/>
                          <a:sym typeface="Montserrat"/>
                        </a:rPr>
                        <a:t>Week 4</a:t>
                      </a:r>
                      <a:endParaRPr sz="900" u="none" cap="none" strike="noStrike">
                        <a:solidFill>
                          <a:srgbClr val="FFFFFF"/>
                        </a:solidFill>
                        <a:latin typeface="Montserrat"/>
                        <a:ea typeface="Montserrat"/>
                        <a:cs typeface="Montserrat"/>
                        <a:sym typeface="Montserrat"/>
                      </a:endParaRPr>
                    </a:p>
                  </a:txBody>
                  <a:tcPr marT="0" marB="0" marR="0" marL="0" anchor="ctr">
                    <a:lnL cap="flat" cmpd="sng" w="9525">
                      <a:solidFill>
                        <a:srgbClr val="EFEFEF"/>
                      </a:solidFill>
                      <a:prstDash val="solid"/>
                      <a:round/>
                      <a:headEnd len="sm" w="sm" type="none"/>
                      <a:tailEnd len="sm" w="sm" type="none"/>
                    </a:lnL>
                    <a:lnR cap="flat" cmpd="sng" w="9525">
                      <a:solidFill>
                        <a:srgbClr val="EFEFEF"/>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2519C"/>
                    </a:solidFill>
                  </a:tcPr>
                </a:tc>
                <a:tc>
                  <a:txBody>
                    <a:bodyPr/>
                    <a:lstStyle/>
                    <a:p>
                      <a:pPr indent="0" lvl="0" marL="0" marR="0" rtl="0" algn="ctr">
                        <a:lnSpc>
                          <a:spcPct val="115000"/>
                        </a:lnSpc>
                        <a:spcBef>
                          <a:spcPts val="0"/>
                        </a:spcBef>
                        <a:spcAft>
                          <a:spcPts val="0"/>
                        </a:spcAft>
                        <a:buClr>
                          <a:srgbClr val="000000"/>
                        </a:buClr>
                        <a:buSzPts val="900"/>
                        <a:buFont typeface="Arial"/>
                        <a:buNone/>
                      </a:pPr>
                      <a:r>
                        <a:rPr b="1" lang="en" sz="900" u="none" cap="none" strike="noStrike">
                          <a:solidFill>
                            <a:srgbClr val="FFFFFF"/>
                          </a:solidFill>
                          <a:latin typeface="Montserrat"/>
                          <a:ea typeface="Montserrat"/>
                          <a:cs typeface="Montserrat"/>
                          <a:sym typeface="Montserrat"/>
                        </a:rPr>
                        <a:t>Week 5</a:t>
                      </a:r>
                      <a:endParaRPr sz="900" u="none" cap="none" strike="noStrike">
                        <a:solidFill>
                          <a:srgbClr val="FFFFFF"/>
                        </a:solidFill>
                        <a:latin typeface="Montserrat"/>
                        <a:ea typeface="Montserrat"/>
                        <a:cs typeface="Montserrat"/>
                        <a:sym typeface="Montserrat"/>
                      </a:endParaRPr>
                    </a:p>
                  </a:txBody>
                  <a:tcPr marT="0" marB="0" marR="0" marL="0" anchor="ctr">
                    <a:lnL cap="flat" cmpd="sng" w="9525">
                      <a:solidFill>
                        <a:srgbClr val="EFEFEF"/>
                      </a:solidFill>
                      <a:prstDash val="solid"/>
                      <a:round/>
                      <a:headEnd len="sm" w="sm" type="none"/>
                      <a:tailEnd len="sm" w="sm" type="none"/>
                    </a:lnL>
                    <a:lnR cap="flat" cmpd="sng" w="9525">
                      <a:solidFill>
                        <a:srgbClr val="EFEFEF"/>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2519C"/>
                    </a:solidFill>
                  </a:tcPr>
                </a:tc>
                <a:tc>
                  <a:txBody>
                    <a:bodyPr/>
                    <a:lstStyle/>
                    <a:p>
                      <a:pPr indent="0" lvl="0" marL="0" marR="0" rtl="0" algn="ctr">
                        <a:lnSpc>
                          <a:spcPct val="115000"/>
                        </a:lnSpc>
                        <a:spcBef>
                          <a:spcPts val="0"/>
                        </a:spcBef>
                        <a:spcAft>
                          <a:spcPts val="0"/>
                        </a:spcAft>
                        <a:buClr>
                          <a:srgbClr val="000000"/>
                        </a:buClr>
                        <a:buSzPts val="900"/>
                        <a:buFont typeface="Arial"/>
                        <a:buNone/>
                      </a:pPr>
                      <a:r>
                        <a:rPr b="1" lang="en" sz="900" u="none" cap="none" strike="noStrike">
                          <a:solidFill>
                            <a:srgbClr val="FFFFFF"/>
                          </a:solidFill>
                          <a:latin typeface="Montserrat"/>
                          <a:ea typeface="Montserrat"/>
                          <a:cs typeface="Montserrat"/>
                          <a:sym typeface="Montserrat"/>
                        </a:rPr>
                        <a:t>Week 6</a:t>
                      </a:r>
                      <a:endParaRPr sz="900" u="none" cap="none" strike="noStrike">
                        <a:solidFill>
                          <a:srgbClr val="FFFFFF"/>
                        </a:solidFill>
                        <a:latin typeface="Montserrat"/>
                        <a:ea typeface="Montserrat"/>
                        <a:cs typeface="Montserrat"/>
                        <a:sym typeface="Montserrat"/>
                      </a:endParaRPr>
                    </a:p>
                  </a:txBody>
                  <a:tcPr marT="0" marB="0" marR="0" marL="0" anchor="ctr">
                    <a:lnL cap="flat" cmpd="sng" w="9525">
                      <a:solidFill>
                        <a:srgbClr val="EFEFEF"/>
                      </a:solidFill>
                      <a:prstDash val="solid"/>
                      <a:round/>
                      <a:headEnd len="sm" w="sm" type="none"/>
                      <a:tailEnd len="sm" w="sm" type="none"/>
                    </a:lnL>
                    <a:lnR cap="flat" cmpd="sng" w="9525">
                      <a:solidFill>
                        <a:srgbClr val="EFEFEF"/>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2519C"/>
                    </a:solidFill>
                  </a:tcPr>
                </a:tc>
                <a:tc>
                  <a:txBody>
                    <a:bodyPr/>
                    <a:lstStyle/>
                    <a:p>
                      <a:pPr indent="0" lvl="0" marL="0" marR="0" rtl="0" algn="ctr">
                        <a:lnSpc>
                          <a:spcPct val="115000"/>
                        </a:lnSpc>
                        <a:spcBef>
                          <a:spcPts val="0"/>
                        </a:spcBef>
                        <a:spcAft>
                          <a:spcPts val="0"/>
                        </a:spcAft>
                        <a:buClr>
                          <a:srgbClr val="000000"/>
                        </a:buClr>
                        <a:buSzPts val="900"/>
                        <a:buFont typeface="Arial"/>
                        <a:buNone/>
                      </a:pPr>
                      <a:r>
                        <a:rPr b="1" lang="en" sz="900" u="none" cap="none" strike="noStrike">
                          <a:solidFill>
                            <a:srgbClr val="FFFFFF"/>
                          </a:solidFill>
                          <a:latin typeface="Montserrat"/>
                          <a:ea typeface="Montserrat"/>
                          <a:cs typeface="Montserrat"/>
                          <a:sym typeface="Montserrat"/>
                        </a:rPr>
                        <a:t>Week 7</a:t>
                      </a:r>
                      <a:endParaRPr sz="900" u="none" cap="none" strike="noStrike">
                        <a:solidFill>
                          <a:srgbClr val="FFFFFF"/>
                        </a:solidFill>
                        <a:latin typeface="Montserrat"/>
                        <a:ea typeface="Montserrat"/>
                        <a:cs typeface="Montserrat"/>
                        <a:sym typeface="Montserrat"/>
                      </a:endParaRPr>
                    </a:p>
                  </a:txBody>
                  <a:tcPr marT="0" marB="0" marR="0" marL="0" anchor="ctr">
                    <a:lnL cap="flat" cmpd="sng" w="9525">
                      <a:solidFill>
                        <a:srgbClr val="EFEFEF"/>
                      </a:solidFill>
                      <a:prstDash val="solid"/>
                      <a:round/>
                      <a:headEnd len="sm" w="sm" type="none"/>
                      <a:tailEnd len="sm" w="sm" type="none"/>
                    </a:lnL>
                    <a:lnR cap="flat" cmpd="sng" w="9525">
                      <a:solidFill>
                        <a:srgbClr val="EFEFEF"/>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2519C"/>
                    </a:solidFill>
                  </a:tcPr>
                </a:tc>
                <a:tc>
                  <a:txBody>
                    <a:bodyPr/>
                    <a:lstStyle/>
                    <a:p>
                      <a:pPr indent="0" lvl="0" marL="0" marR="0" rtl="0" algn="ctr">
                        <a:lnSpc>
                          <a:spcPct val="115000"/>
                        </a:lnSpc>
                        <a:spcBef>
                          <a:spcPts val="0"/>
                        </a:spcBef>
                        <a:spcAft>
                          <a:spcPts val="0"/>
                        </a:spcAft>
                        <a:buClr>
                          <a:srgbClr val="000000"/>
                        </a:buClr>
                        <a:buSzPts val="900"/>
                        <a:buFont typeface="Arial"/>
                        <a:buNone/>
                      </a:pPr>
                      <a:r>
                        <a:rPr b="1" lang="en" sz="900" u="none" cap="none" strike="noStrike">
                          <a:solidFill>
                            <a:srgbClr val="FFFFFF"/>
                          </a:solidFill>
                          <a:latin typeface="Montserrat"/>
                          <a:ea typeface="Montserrat"/>
                          <a:cs typeface="Montserrat"/>
                          <a:sym typeface="Montserrat"/>
                        </a:rPr>
                        <a:t>Week 8</a:t>
                      </a:r>
                      <a:endParaRPr b="1" sz="900" u="none" cap="none" strike="noStrike">
                        <a:solidFill>
                          <a:srgbClr val="FFFFFF"/>
                        </a:solidFill>
                        <a:latin typeface="Montserrat"/>
                        <a:ea typeface="Montserrat"/>
                        <a:cs typeface="Montserrat"/>
                        <a:sym typeface="Montserrat"/>
                      </a:endParaRPr>
                    </a:p>
                  </a:txBody>
                  <a:tcPr marT="0" marB="0" marR="0" marL="0" anchor="ctr">
                    <a:lnL cap="flat" cmpd="sng" w="9525">
                      <a:solidFill>
                        <a:srgbClr val="EFEFEF"/>
                      </a:solidFill>
                      <a:prstDash val="solid"/>
                      <a:round/>
                      <a:headEnd len="sm" w="sm" type="none"/>
                      <a:tailEnd len="sm" w="sm" type="none"/>
                    </a:lnL>
                    <a:lnR cap="flat" cmpd="sng" w="9525">
                      <a:solidFill>
                        <a:srgbClr val="EFEFEF"/>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2519C"/>
                    </a:solidFill>
                  </a:tcPr>
                </a:tc>
                <a:tc>
                  <a:txBody>
                    <a:bodyPr/>
                    <a:lstStyle/>
                    <a:p>
                      <a:pPr indent="0" lvl="0" marL="0" marR="0" rtl="0" algn="ctr">
                        <a:lnSpc>
                          <a:spcPct val="115000"/>
                        </a:lnSpc>
                        <a:spcBef>
                          <a:spcPts val="0"/>
                        </a:spcBef>
                        <a:spcAft>
                          <a:spcPts val="0"/>
                        </a:spcAft>
                        <a:buClr>
                          <a:srgbClr val="000000"/>
                        </a:buClr>
                        <a:buSzPts val="900"/>
                        <a:buFont typeface="Arial"/>
                        <a:buNone/>
                      </a:pPr>
                      <a:r>
                        <a:rPr b="1" lang="en" sz="900" u="none" cap="none" strike="noStrike">
                          <a:solidFill>
                            <a:srgbClr val="FFFFFF"/>
                          </a:solidFill>
                          <a:latin typeface="Montserrat"/>
                          <a:ea typeface="Montserrat"/>
                          <a:cs typeface="Montserrat"/>
                          <a:sym typeface="Montserrat"/>
                        </a:rPr>
                        <a:t>Week 9</a:t>
                      </a:r>
                      <a:endParaRPr b="1" sz="900" u="none" cap="none" strike="noStrike">
                        <a:solidFill>
                          <a:srgbClr val="FFFFFF"/>
                        </a:solidFill>
                        <a:latin typeface="Montserrat"/>
                        <a:ea typeface="Montserrat"/>
                        <a:cs typeface="Montserrat"/>
                        <a:sym typeface="Montserrat"/>
                      </a:endParaRPr>
                    </a:p>
                  </a:txBody>
                  <a:tcPr marT="0" marB="0" marR="0" marL="0" anchor="ctr">
                    <a:lnL cap="flat" cmpd="sng" w="9525">
                      <a:solidFill>
                        <a:srgbClr val="EFEFEF"/>
                      </a:solidFill>
                      <a:prstDash val="solid"/>
                      <a:round/>
                      <a:headEnd len="sm" w="sm" type="none"/>
                      <a:tailEnd len="sm" w="sm" type="none"/>
                    </a:lnL>
                    <a:lnR cap="flat" cmpd="sng" w="9525">
                      <a:solidFill>
                        <a:srgbClr val="EFEFEF"/>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2519C"/>
                    </a:solidFill>
                  </a:tcPr>
                </a:tc>
                <a:tc>
                  <a:txBody>
                    <a:bodyPr/>
                    <a:lstStyle/>
                    <a:p>
                      <a:pPr indent="0" lvl="0" marL="0" marR="0" rtl="0" algn="ctr">
                        <a:lnSpc>
                          <a:spcPct val="115000"/>
                        </a:lnSpc>
                        <a:spcBef>
                          <a:spcPts val="0"/>
                        </a:spcBef>
                        <a:spcAft>
                          <a:spcPts val="0"/>
                        </a:spcAft>
                        <a:buClr>
                          <a:srgbClr val="000000"/>
                        </a:buClr>
                        <a:buSzPts val="1100"/>
                        <a:buFont typeface="Arial"/>
                        <a:buNone/>
                      </a:pPr>
                      <a:r>
                        <a:rPr b="1" lang="en" sz="900" u="none" cap="none" strike="noStrike">
                          <a:solidFill>
                            <a:srgbClr val="FFFFFF"/>
                          </a:solidFill>
                          <a:latin typeface="Montserrat"/>
                          <a:ea typeface="Montserrat"/>
                          <a:cs typeface="Montserrat"/>
                          <a:sym typeface="Montserrat"/>
                        </a:rPr>
                        <a:t>Week 10</a:t>
                      </a:r>
                      <a:endParaRPr b="1" sz="900" u="none" cap="none" strike="noStrike">
                        <a:solidFill>
                          <a:srgbClr val="FFFFFF"/>
                        </a:solidFill>
                        <a:latin typeface="Montserrat"/>
                        <a:ea typeface="Montserrat"/>
                        <a:cs typeface="Montserrat"/>
                        <a:sym typeface="Montserrat"/>
                      </a:endParaRPr>
                    </a:p>
                  </a:txBody>
                  <a:tcPr marT="0" marB="0" marR="0" marL="0" anchor="ctr">
                    <a:lnL cap="flat" cmpd="sng" w="9525">
                      <a:solidFill>
                        <a:srgbClr val="EFEFEF"/>
                      </a:solidFill>
                      <a:prstDash val="solid"/>
                      <a:round/>
                      <a:headEnd len="sm" w="sm" type="none"/>
                      <a:tailEnd len="sm" w="sm" type="none"/>
                    </a:lnL>
                    <a:lnR cap="flat" cmpd="sng" w="9525">
                      <a:solidFill>
                        <a:srgbClr val="EFEFEF"/>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2519C"/>
                    </a:solidFill>
                  </a:tcPr>
                </a:tc>
                <a:tc>
                  <a:txBody>
                    <a:bodyPr/>
                    <a:lstStyle/>
                    <a:p>
                      <a:pPr indent="0" lvl="0" marL="0" marR="0" rtl="0" algn="ctr">
                        <a:lnSpc>
                          <a:spcPct val="115000"/>
                        </a:lnSpc>
                        <a:spcBef>
                          <a:spcPts val="0"/>
                        </a:spcBef>
                        <a:spcAft>
                          <a:spcPts val="0"/>
                        </a:spcAft>
                        <a:buClr>
                          <a:srgbClr val="000000"/>
                        </a:buClr>
                        <a:buSzPts val="1100"/>
                        <a:buFont typeface="Arial"/>
                        <a:buNone/>
                      </a:pPr>
                      <a:r>
                        <a:rPr b="1" lang="en" sz="900" u="none" cap="none" strike="noStrike">
                          <a:solidFill>
                            <a:srgbClr val="FFFFFF"/>
                          </a:solidFill>
                          <a:latin typeface="Montserrat"/>
                          <a:ea typeface="Montserrat"/>
                          <a:cs typeface="Montserrat"/>
                          <a:sym typeface="Montserrat"/>
                        </a:rPr>
                        <a:t>Week 11</a:t>
                      </a:r>
                      <a:endParaRPr b="1" sz="900" u="none" cap="none" strike="noStrike">
                        <a:solidFill>
                          <a:srgbClr val="FFFFFF"/>
                        </a:solidFill>
                        <a:latin typeface="Montserrat"/>
                        <a:ea typeface="Montserrat"/>
                        <a:cs typeface="Montserrat"/>
                        <a:sym typeface="Montserrat"/>
                      </a:endParaRPr>
                    </a:p>
                  </a:txBody>
                  <a:tcPr marT="0" marB="0" marR="0" marL="0" anchor="ctr">
                    <a:lnL cap="flat" cmpd="sng" w="9525">
                      <a:solidFill>
                        <a:srgbClr val="EFEFEF"/>
                      </a:solidFill>
                      <a:prstDash val="solid"/>
                      <a:round/>
                      <a:headEnd len="sm" w="sm" type="none"/>
                      <a:tailEnd len="sm" w="sm" type="none"/>
                    </a:lnL>
                    <a:lnR cap="flat" cmpd="sng" w="9525">
                      <a:solidFill>
                        <a:srgbClr val="EFEFEF"/>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2519C"/>
                    </a:solidFill>
                  </a:tcPr>
                </a:tc>
                <a:tc>
                  <a:txBody>
                    <a:bodyPr/>
                    <a:lstStyle/>
                    <a:p>
                      <a:pPr indent="0" lvl="0" marL="0" marR="0" rtl="0" algn="ctr">
                        <a:lnSpc>
                          <a:spcPct val="115000"/>
                        </a:lnSpc>
                        <a:spcBef>
                          <a:spcPts val="0"/>
                        </a:spcBef>
                        <a:spcAft>
                          <a:spcPts val="0"/>
                        </a:spcAft>
                        <a:buClr>
                          <a:srgbClr val="000000"/>
                        </a:buClr>
                        <a:buSzPts val="1100"/>
                        <a:buFont typeface="Arial"/>
                        <a:buNone/>
                      </a:pPr>
                      <a:r>
                        <a:rPr b="1" lang="en" sz="900" u="none" cap="none" strike="noStrike">
                          <a:solidFill>
                            <a:srgbClr val="FFFFFF"/>
                          </a:solidFill>
                          <a:latin typeface="Montserrat"/>
                          <a:ea typeface="Montserrat"/>
                          <a:cs typeface="Montserrat"/>
                          <a:sym typeface="Montserrat"/>
                        </a:rPr>
                        <a:t>Week 12</a:t>
                      </a:r>
                      <a:endParaRPr b="1" sz="900" u="none" cap="none" strike="noStrike">
                        <a:solidFill>
                          <a:srgbClr val="FFFFFF"/>
                        </a:solidFill>
                        <a:latin typeface="Montserrat"/>
                        <a:ea typeface="Montserrat"/>
                        <a:cs typeface="Montserrat"/>
                        <a:sym typeface="Montserrat"/>
                      </a:endParaRPr>
                    </a:p>
                  </a:txBody>
                  <a:tcPr marT="0" marB="0" marR="0" marL="0" anchor="ctr">
                    <a:lnL cap="flat" cmpd="sng" w="9525">
                      <a:solidFill>
                        <a:srgbClr val="EFEFEF"/>
                      </a:solidFill>
                      <a:prstDash val="solid"/>
                      <a:round/>
                      <a:headEnd len="sm" w="sm" type="none"/>
                      <a:tailEnd len="sm" w="sm" type="none"/>
                    </a:lnL>
                    <a:lnR cap="flat" cmpd="sng" w="9525">
                      <a:solidFill>
                        <a:srgbClr val="EFEFEF"/>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2519C"/>
                    </a:solidFill>
                  </a:tcPr>
                </a:tc>
                <a:tc>
                  <a:txBody>
                    <a:bodyPr/>
                    <a:lstStyle/>
                    <a:p>
                      <a:pPr indent="0" lvl="0" marL="0" marR="0" rtl="0" algn="ctr">
                        <a:lnSpc>
                          <a:spcPct val="115000"/>
                        </a:lnSpc>
                        <a:spcBef>
                          <a:spcPts val="0"/>
                        </a:spcBef>
                        <a:spcAft>
                          <a:spcPts val="0"/>
                        </a:spcAft>
                        <a:buClr>
                          <a:srgbClr val="000000"/>
                        </a:buClr>
                        <a:buSzPts val="900"/>
                        <a:buFont typeface="Arial"/>
                        <a:buNone/>
                      </a:pPr>
                      <a:r>
                        <a:rPr b="1" lang="en" sz="900" u="none" cap="none" strike="noStrike">
                          <a:solidFill>
                            <a:srgbClr val="FFFFFF"/>
                          </a:solidFill>
                          <a:latin typeface="Montserrat"/>
                          <a:ea typeface="Montserrat"/>
                          <a:cs typeface="Montserrat"/>
                          <a:sym typeface="Montserrat"/>
                        </a:rPr>
                        <a:t>Week 13</a:t>
                      </a:r>
                      <a:endParaRPr b="1" sz="900" u="none" cap="none" strike="noStrike">
                        <a:solidFill>
                          <a:srgbClr val="FFFFFF"/>
                        </a:solidFill>
                        <a:latin typeface="Montserrat"/>
                        <a:ea typeface="Montserrat"/>
                        <a:cs typeface="Montserrat"/>
                        <a:sym typeface="Montserrat"/>
                      </a:endParaRPr>
                    </a:p>
                  </a:txBody>
                  <a:tcPr marT="0" marB="0" marR="0" marL="0" anchor="ctr">
                    <a:lnL cap="flat" cmpd="sng" w="9525">
                      <a:solidFill>
                        <a:srgbClr val="EFEFEF"/>
                      </a:solidFill>
                      <a:prstDash val="solid"/>
                      <a:round/>
                      <a:headEnd len="sm" w="sm" type="none"/>
                      <a:tailEnd len="sm" w="sm" type="none"/>
                    </a:lnL>
                    <a:lnR cap="flat" cmpd="sng" w="9525">
                      <a:solidFill>
                        <a:srgbClr val="EFEFEF"/>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2519C"/>
                    </a:solidFill>
                  </a:tcPr>
                </a:tc>
                <a:tc>
                  <a:txBody>
                    <a:bodyPr/>
                    <a:lstStyle/>
                    <a:p>
                      <a:pPr indent="0" lvl="0" marL="0" marR="0" rtl="0" algn="ctr">
                        <a:lnSpc>
                          <a:spcPct val="115000"/>
                        </a:lnSpc>
                        <a:spcBef>
                          <a:spcPts val="0"/>
                        </a:spcBef>
                        <a:spcAft>
                          <a:spcPts val="0"/>
                        </a:spcAft>
                        <a:buClr>
                          <a:srgbClr val="000000"/>
                        </a:buClr>
                        <a:buSzPts val="1100"/>
                        <a:buFont typeface="Arial"/>
                        <a:buNone/>
                      </a:pPr>
                      <a:r>
                        <a:rPr b="1" lang="en" sz="900" u="none" cap="none" strike="noStrike">
                          <a:solidFill>
                            <a:srgbClr val="FFFFFF"/>
                          </a:solidFill>
                          <a:latin typeface="Montserrat"/>
                          <a:ea typeface="Montserrat"/>
                          <a:cs typeface="Montserrat"/>
                          <a:sym typeface="Montserrat"/>
                        </a:rPr>
                        <a:t>Week 14</a:t>
                      </a:r>
                      <a:endParaRPr b="1" sz="900" u="none" cap="none" strike="noStrike">
                        <a:solidFill>
                          <a:srgbClr val="FFFFFF"/>
                        </a:solidFill>
                        <a:latin typeface="Montserrat"/>
                        <a:ea typeface="Montserrat"/>
                        <a:cs typeface="Montserrat"/>
                        <a:sym typeface="Montserrat"/>
                      </a:endParaRPr>
                    </a:p>
                  </a:txBody>
                  <a:tcPr marT="0" marB="0" marR="0" marL="0" anchor="ctr">
                    <a:lnL cap="flat" cmpd="sng" w="9525">
                      <a:solidFill>
                        <a:srgbClr val="EFEFEF"/>
                      </a:solidFill>
                      <a:prstDash val="solid"/>
                      <a:round/>
                      <a:headEnd len="sm" w="sm" type="none"/>
                      <a:tailEnd len="sm" w="sm" type="none"/>
                    </a:lnL>
                    <a:lnR cap="flat" cmpd="sng" w="9525">
                      <a:solidFill>
                        <a:srgbClr val="EFEFEF"/>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2519C"/>
                    </a:solidFill>
                  </a:tcPr>
                </a:tc>
                <a:tc>
                  <a:txBody>
                    <a:bodyPr/>
                    <a:lstStyle/>
                    <a:p>
                      <a:pPr indent="0" lvl="0" marL="0" marR="0" rtl="0" algn="ctr">
                        <a:lnSpc>
                          <a:spcPct val="115000"/>
                        </a:lnSpc>
                        <a:spcBef>
                          <a:spcPts val="0"/>
                        </a:spcBef>
                        <a:spcAft>
                          <a:spcPts val="0"/>
                        </a:spcAft>
                        <a:buClr>
                          <a:srgbClr val="000000"/>
                        </a:buClr>
                        <a:buSzPts val="1100"/>
                        <a:buFont typeface="Arial"/>
                        <a:buNone/>
                      </a:pPr>
                      <a:r>
                        <a:rPr b="1" lang="en" sz="900" u="none" cap="none" strike="noStrike">
                          <a:solidFill>
                            <a:srgbClr val="FFFFFF"/>
                          </a:solidFill>
                          <a:latin typeface="Montserrat"/>
                          <a:ea typeface="Montserrat"/>
                          <a:cs typeface="Montserrat"/>
                          <a:sym typeface="Montserrat"/>
                        </a:rPr>
                        <a:t>Week 15</a:t>
                      </a:r>
                      <a:endParaRPr b="1" sz="900" u="none" cap="none" strike="noStrike">
                        <a:solidFill>
                          <a:srgbClr val="FFFFFF"/>
                        </a:solidFill>
                        <a:latin typeface="Montserrat"/>
                        <a:ea typeface="Montserrat"/>
                        <a:cs typeface="Montserrat"/>
                        <a:sym typeface="Montserrat"/>
                      </a:endParaRPr>
                    </a:p>
                  </a:txBody>
                  <a:tcPr marT="0" marB="0" marR="0" marL="0" anchor="ctr">
                    <a:lnL cap="flat" cmpd="sng" w="9525">
                      <a:solidFill>
                        <a:srgbClr val="EFEFEF"/>
                      </a:solidFill>
                      <a:prstDash val="solid"/>
                      <a:round/>
                      <a:headEnd len="sm" w="sm" type="none"/>
                      <a:tailEnd len="sm" w="sm" type="none"/>
                    </a:lnL>
                    <a:lnR cap="flat" cmpd="sng" w="9525">
                      <a:solidFill>
                        <a:srgbClr val="EFEFEF"/>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2519C"/>
                    </a:solidFill>
                  </a:tcPr>
                </a:tc>
              </a:tr>
              <a:tr h="654150">
                <a:tc>
                  <a:txBody>
                    <a:bodyPr/>
                    <a:lstStyle/>
                    <a:p>
                      <a:pPr indent="0" lvl="0" marL="0" marR="0" rtl="0" algn="l">
                        <a:lnSpc>
                          <a:spcPct val="100000"/>
                        </a:lnSpc>
                        <a:spcBef>
                          <a:spcPts val="0"/>
                        </a:spcBef>
                        <a:spcAft>
                          <a:spcPts val="0"/>
                        </a:spcAft>
                        <a:buClr>
                          <a:srgbClr val="000000"/>
                        </a:buClr>
                        <a:buSzPts val="1000"/>
                        <a:buFont typeface="Arial"/>
                        <a:buNone/>
                      </a:pPr>
                      <a:r>
                        <a:rPr b="1" lang="en" sz="1000" u="none" cap="none" strike="noStrike">
                          <a:solidFill>
                            <a:srgbClr val="434343"/>
                          </a:solidFill>
                          <a:latin typeface="Montserrat"/>
                          <a:ea typeface="Montserrat"/>
                          <a:cs typeface="Montserrat"/>
                          <a:sym typeface="Montserrat"/>
                        </a:rPr>
                        <a:t>Design &amp; Discovery Phase</a:t>
                      </a:r>
                      <a:endParaRPr b="1" sz="1000" u="none" cap="none" strike="noStrike">
                        <a:solidFill>
                          <a:srgbClr val="434343"/>
                        </a:solidFill>
                        <a:latin typeface="Montserrat"/>
                        <a:ea typeface="Montserrat"/>
                        <a:cs typeface="Montserrat"/>
                        <a:sym typeface="Montserrat"/>
                      </a:endParaRPr>
                    </a:p>
                  </a:txBody>
                  <a:tcPr marT="19050" marB="19050" marR="0"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740700">
                <a:tc>
                  <a:txBody>
                    <a:bodyPr/>
                    <a:lstStyle/>
                    <a:p>
                      <a:pPr indent="0" lvl="0" marL="0" marR="0" rtl="0" algn="l">
                        <a:lnSpc>
                          <a:spcPct val="115000"/>
                        </a:lnSpc>
                        <a:spcBef>
                          <a:spcPts val="0"/>
                        </a:spcBef>
                        <a:spcAft>
                          <a:spcPts val="0"/>
                        </a:spcAft>
                        <a:buClr>
                          <a:srgbClr val="000000"/>
                        </a:buClr>
                        <a:buSzPts val="1000"/>
                        <a:buFont typeface="Arial"/>
                        <a:buNone/>
                      </a:pPr>
                      <a:r>
                        <a:rPr b="1" lang="en" sz="1000" u="none" cap="none" strike="noStrike">
                          <a:solidFill>
                            <a:srgbClr val="434343"/>
                          </a:solidFill>
                          <a:latin typeface="Montserrat"/>
                          <a:ea typeface="Montserrat"/>
                          <a:cs typeface="Montserrat"/>
                          <a:sym typeface="Montserrat"/>
                        </a:rPr>
                        <a:t>Agile based Iterative Development and Testing ( end to end features)</a:t>
                      </a:r>
                      <a:endParaRPr b="1" sz="1000" u="none" cap="none" strike="noStrike">
                        <a:solidFill>
                          <a:srgbClr val="434343"/>
                        </a:solidFill>
                        <a:latin typeface="Montserrat"/>
                        <a:ea typeface="Montserrat"/>
                        <a:cs typeface="Montserrat"/>
                        <a:sym typeface="Montserrat"/>
                      </a:endParaRPr>
                    </a:p>
                  </a:txBody>
                  <a:tcPr marT="19050" marB="19050" marR="0"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550375">
                <a:tc>
                  <a:txBody>
                    <a:bodyPr/>
                    <a:lstStyle/>
                    <a:p>
                      <a:pPr indent="0" lvl="0" marL="0" marR="0" rtl="0" algn="l">
                        <a:lnSpc>
                          <a:spcPct val="115000"/>
                        </a:lnSpc>
                        <a:spcBef>
                          <a:spcPts val="0"/>
                        </a:spcBef>
                        <a:spcAft>
                          <a:spcPts val="0"/>
                        </a:spcAft>
                        <a:buClr>
                          <a:srgbClr val="000000"/>
                        </a:buClr>
                        <a:buSzPts val="1000"/>
                        <a:buFont typeface="Arial"/>
                        <a:buNone/>
                      </a:pPr>
                      <a:r>
                        <a:rPr b="1" lang="en" sz="1000" u="none" cap="none" strike="noStrike">
                          <a:solidFill>
                            <a:srgbClr val="434343"/>
                          </a:solidFill>
                          <a:latin typeface="Montserrat"/>
                          <a:ea typeface="Montserrat"/>
                          <a:cs typeface="Montserrat"/>
                          <a:sym typeface="Montserrat"/>
                        </a:rPr>
                        <a:t>UAT and Go Live (2 Weeks)</a:t>
                      </a:r>
                      <a:endParaRPr b="1" sz="1000" u="none" cap="none" strike="noStrike">
                        <a:solidFill>
                          <a:srgbClr val="434343"/>
                        </a:solidFill>
                        <a:latin typeface="Montserrat"/>
                        <a:ea typeface="Montserrat"/>
                        <a:cs typeface="Montserrat"/>
                        <a:sym typeface="Montserrat"/>
                      </a:endParaRPr>
                    </a:p>
                  </a:txBody>
                  <a:tcPr marT="19050" marB="19050" marR="0"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598850">
                <a:tc>
                  <a:txBody>
                    <a:bodyPr/>
                    <a:lstStyle/>
                    <a:p>
                      <a:pPr indent="0" lvl="0" marL="0" marR="0" rtl="0" algn="l">
                        <a:lnSpc>
                          <a:spcPct val="115000"/>
                        </a:lnSpc>
                        <a:spcBef>
                          <a:spcPts val="0"/>
                        </a:spcBef>
                        <a:spcAft>
                          <a:spcPts val="0"/>
                        </a:spcAft>
                        <a:buClr>
                          <a:srgbClr val="000000"/>
                        </a:buClr>
                        <a:buSzPts val="1000"/>
                        <a:buFont typeface="Arial"/>
                        <a:buNone/>
                      </a:pPr>
                      <a:r>
                        <a:rPr b="1" lang="en" sz="1000" u="none" cap="none" strike="noStrike">
                          <a:solidFill>
                            <a:srgbClr val="434343"/>
                          </a:solidFill>
                          <a:latin typeface="Montserrat"/>
                          <a:ea typeface="Montserrat"/>
                          <a:cs typeface="Montserrat"/>
                          <a:sym typeface="Montserrat"/>
                        </a:rPr>
                        <a:t>Hypercare Support ( For 2 Weeks Post Go-Live)</a:t>
                      </a:r>
                      <a:endParaRPr b="1" sz="1000" u="none" cap="none" strike="noStrike">
                        <a:solidFill>
                          <a:srgbClr val="434343"/>
                        </a:solidFill>
                        <a:latin typeface="Montserrat"/>
                        <a:ea typeface="Montserrat"/>
                        <a:cs typeface="Montserrat"/>
                        <a:sym typeface="Montserrat"/>
                      </a:endParaRPr>
                    </a:p>
                  </a:txBody>
                  <a:tcPr marT="19050" marB="19050" marR="0"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bl>
          </a:graphicData>
        </a:graphic>
      </p:graphicFrame>
      <p:sp>
        <p:nvSpPr>
          <p:cNvPr id="525" name="Google Shape;525;p19"/>
          <p:cNvSpPr/>
          <p:nvPr/>
        </p:nvSpPr>
        <p:spPr>
          <a:xfrm>
            <a:off x="1489250" y="1136263"/>
            <a:ext cx="938100" cy="164700"/>
          </a:xfrm>
          <a:prstGeom prst="homePlate">
            <a:avLst>
              <a:gd fmla="val 50000" name="adj"/>
            </a:avLst>
          </a:prstGeom>
          <a:solidFill>
            <a:srgbClr val="F5B6D7"/>
          </a:solidFill>
          <a:ln cap="flat" cmpd="sng" w="9525">
            <a:solidFill>
              <a:srgbClr val="F5B6D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000000"/>
                </a:solidFill>
                <a:latin typeface="Montserrat"/>
                <a:ea typeface="Montserrat"/>
                <a:cs typeface="Montserrat"/>
                <a:sym typeface="Montserrat"/>
              </a:rPr>
              <a:t>Discovery</a:t>
            </a:r>
            <a:endParaRPr b="1" i="0" sz="800" u="none" cap="none" strike="noStrike">
              <a:solidFill>
                <a:srgbClr val="000000"/>
              </a:solidFill>
              <a:latin typeface="Montserrat"/>
              <a:ea typeface="Montserrat"/>
              <a:cs typeface="Montserrat"/>
              <a:sym typeface="Montserrat"/>
            </a:endParaRPr>
          </a:p>
        </p:txBody>
      </p:sp>
      <p:sp>
        <p:nvSpPr>
          <p:cNvPr id="526" name="Google Shape;526;p19"/>
          <p:cNvSpPr/>
          <p:nvPr/>
        </p:nvSpPr>
        <p:spPr>
          <a:xfrm>
            <a:off x="2427275" y="1935925"/>
            <a:ext cx="4443600" cy="307800"/>
          </a:xfrm>
          <a:prstGeom prst="homePlate">
            <a:avLst>
              <a:gd fmla="val 50000" name="adj"/>
            </a:avLst>
          </a:prstGeom>
          <a:solidFill>
            <a:srgbClr val="D71B7F"/>
          </a:solidFill>
          <a:ln cap="flat" cmpd="sng" w="9525">
            <a:solidFill>
              <a:srgbClr val="F5B6D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7" name="Google Shape;527;p19"/>
          <p:cNvSpPr/>
          <p:nvPr/>
        </p:nvSpPr>
        <p:spPr>
          <a:xfrm>
            <a:off x="6888825" y="2711775"/>
            <a:ext cx="1035300" cy="307800"/>
          </a:xfrm>
          <a:prstGeom prst="homePlate">
            <a:avLst>
              <a:gd fmla="val 50000" name="adj"/>
            </a:avLst>
          </a:prstGeom>
          <a:solidFill>
            <a:srgbClr val="6AA84F"/>
          </a:solidFill>
          <a:ln cap="flat" cmpd="sng" w="9525">
            <a:solidFill>
              <a:srgbClr val="6AA84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528" name="Google Shape;528;p19"/>
          <p:cNvPicPr preferRelativeResize="0"/>
          <p:nvPr/>
        </p:nvPicPr>
        <p:blipFill rotWithShape="1">
          <a:blip r:embed="rId3">
            <a:alphaModFix/>
          </a:blip>
          <a:srcRect b="0" l="0" r="0" t="0"/>
          <a:stretch/>
        </p:blipFill>
        <p:spPr>
          <a:xfrm>
            <a:off x="6818825" y="2550325"/>
            <a:ext cx="240600" cy="240600"/>
          </a:xfrm>
          <a:prstGeom prst="rect">
            <a:avLst/>
          </a:prstGeom>
          <a:noFill/>
          <a:ln>
            <a:noFill/>
          </a:ln>
        </p:spPr>
      </p:pic>
      <p:sp>
        <p:nvSpPr>
          <p:cNvPr id="529" name="Google Shape;529;p19"/>
          <p:cNvSpPr/>
          <p:nvPr/>
        </p:nvSpPr>
        <p:spPr>
          <a:xfrm>
            <a:off x="7924075" y="3444925"/>
            <a:ext cx="1035300" cy="307800"/>
          </a:xfrm>
          <a:prstGeom prst="homePlate">
            <a:avLst>
              <a:gd fmla="val 50000" name="adj"/>
            </a:avLst>
          </a:prstGeom>
          <a:solidFill>
            <a:srgbClr val="FF9900"/>
          </a:solidFill>
          <a:ln cap="flat" cmpd="sng" w="9525">
            <a:solidFill>
              <a:srgbClr val="F5B6D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530" name="Google Shape;530;p19"/>
          <p:cNvPicPr preferRelativeResize="0"/>
          <p:nvPr/>
        </p:nvPicPr>
        <p:blipFill rotWithShape="1">
          <a:blip r:embed="rId3">
            <a:alphaModFix/>
          </a:blip>
          <a:srcRect b="0" l="0" r="0" t="0"/>
          <a:stretch/>
        </p:blipFill>
        <p:spPr>
          <a:xfrm>
            <a:off x="7877075" y="3184775"/>
            <a:ext cx="240600" cy="240600"/>
          </a:xfrm>
          <a:prstGeom prst="rect">
            <a:avLst/>
          </a:prstGeom>
          <a:noFill/>
          <a:ln>
            <a:noFill/>
          </a:ln>
        </p:spPr>
      </p:pic>
      <p:sp>
        <p:nvSpPr>
          <p:cNvPr id="531" name="Google Shape;531;p19"/>
          <p:cNvSpPr txBox="1"/>
          <p:nvPr/>
        </p:nvSpPr>
        <p:spPr>
          <a:xfrm>
            <a:off x="266700" y="4399275"/>
            <a:ext cx="8596200" cy="646500"/>
          </a:xfrm>
          <a:prstGeom prst="rect">
            <a:avLst/>
          </a:prstGeom>
          <a:noFill/>
          <a:ln>
            <a:noFill/>
          </a:ln>
        </p:spPr>
        <p:txBody>
          <a:bodyPr anchorCtr="0" anchor="t" bIns="91425" lIns="91425" spcFirstLastPara="1" rIns="91425" wrap="square" tIns="91425">
            <a:spAutoFit/>
          </a:bodyPr>
          <a:lstStyle/>
          <a:p>
            <a:r>
              <a:t>We follow a structured implementation methodology that prioritizes seamless integration with existing systems such as SAP for real-time inventory and order management, and Stripe, PayPal, and Afterpay for multi-currency checkout. Our React Native-based Self-Care app provides a unified customer experience with features like order tracking, returns, and saved payment methods. We ensure compliance with PCI-DSS Level 1 through tokenized card data flows and GDPR/CCPA standards, while also building for WCAG 2.1 AA accessibility guidelines.</a:t>
            </a:r>
          </a:p>
        </p:txBody>
      </p:sp>
      <p:sp>
        <p:nvSpPr>
          <p:cNvPr id="532" name="Google Shape;532;p19"/>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sz="1000"/>
              <a:t>‹#›</a:t>
            </a:fld>
            <a:endParaRPr sz="1000"/>
          </a:p>
        </p:txBody>
      </p:sp>
      <p:pic>
        <p:nvPicPr>
          <p:cNvPr id="533" name="Google Shape;533;p19"/>
          <p:cNvPicPr preferRelativeResize="0"/>
          <p:nvPr/>
        </p:nvPicPr>
        <p:blipFill rotWithShape="1">
          <a:blip r:embed="rId4">
            <a:alphaModFix/>
          </a:blip>
          <a:srcRect b="0" l="0" r="0" t="0"/>
          <a:stretch/>
        </p:blipFill>
        <p:spPr>
          <a:xfrm>
            <a:off x="3326050" y="1736975"/>
            <a:ext cx="240600" cy="240600"/>
          </a:xfrm>
          <a:prstGeom prst="rect">
            <a:avLst/>
          </a:prstGeom>
          <a:noFill/>
          <a:ln>
            <a:noFill/>
          </a:ln>
        </p:spPr>
      </p:pic>
      <p:pic>
        <p:nvPicPr>
          <p:cNvPr id="534" name="Google Shape;534;p19"/>
          <p:cNvPicPr preferRelativeResize="0"/>
          <p:nvPr/>
        </p:nvPicPr>
        <p:blipFill rotWithShape="1">
          <a:blip r:embed="rId4">
            <a:alphaModFix/>
          </a:blip>
          <a:srcRect b="0" l="0" r="0" t="0"/>
          <a:stretch/>
        </p:blipFill>
        <p:spPr>
          <a:xfrm>
            <a:off x="4238225" y="1736975"/>
            <a:ext cx="240600" cy="240600"/>
          </a:xfrm>
          <a:prstGeom prst="rect">
            <a:avLst/>
          </a:prstGeom>
          <a:noFill/>
          <a:ln>
            <a:noFill/>
          </a:ln>
        </p:spPr>
      </p:pic>
      <p:pic>
        <p:nvPicPr>
          <p:cNvPr id="535" name="Google Shape;535;p19"/>
          <p:cNvPicPr preferRelativeResize="0"/>
          <p:nvPr/>
        </p:nvPicPr>
        <p:blipFill rotWithShape="1">
          <a:blip r:embed="rId4">
            <a:alphaModFix/>
          </a:blip>
          <a:srcRect b="0" l="0" r="0" t="0"/>
          <a:stretch/>
        </p:blipFill>
        <p:spPr>
          <a:xfrm>
            <a:off x="5275350" y="1736975"/>
            <a:ext cx="240600" cy="240600"/>
          </a:xfrm>
          <a:prstGeom prst="rect">
            <a:avLst/>
          </a:prstGeom>
          <a:noFill/>
          <a:ln>
            <a:noFill/>
          </a:ln>
        </p:spPr>
      </p:pic>
      <p:pic>
        <p:nvPicPr>
          <p:cNvPr id="536" name="Google Shape;536;p19"/>
          <p:cNvPicPr preferRelativeResize="0"/>
          <p:nvPr/>
        </p:nvPicPr>
        <p:blipFill rotWithShape="1">
          <a:blip r:embed="rId4">
            <a:alphaModFix/>
          </a:blip>
          <a:srcRect b="0" l="0" r="0" t="0"/>
          <a:stretch/>
        </p:blipFill>
        <p:spPr>
          <a:xfrm>
            <a:off x="6312475" y="1736975"/>
            <a:ext cx="240600" cy="240600"/>
          </a:xfrm>
          <a:prstGeom prst="rect">
            <a:avLst/>
          </a:prstGeom>
          <a:noFill/>
          <a:ln>
            <a:noFill/>
          </a:ln>
        </p:spPr>
      </p:pic>
      <p:pic>
        <p:nvPicPr>
          <p:cNvPr id="537" name="Google Shape;537;p19"/>
          <p:cNvPicPr preferRelativeResize="0"/>
          <p:nvPr/>
        </p:nvPicPr>
        <p:blipFill rotWithShape="1">
          <a:blip r:embed="rId4">
            <a:alphaModFix/>
          </a:blip>
          <a:srcRect b="0" l="0" r="0" t="0"/>
          <a:stretch/>
        </p:blipFill>
        <p:spPr>
          <a:xfrm>
            <a:off x="594350" y="3950950"/>
            <a:ext cx="240600" cy="240600"/>
          </a:xfrm>
          <a:prstGeom prst="rect">
            <a:avLst/>
          </a:prstGeom>
          <a:noFill/>
          <a:ln>
            <a:noFill/>
          </a:ln>
        </p:spPr>
      </p:pic>
      <p:sp>
        <p:nvSpPr>
          <p:cNvPr id="538" name="Google Shape;538;p19"/>
          <p:cNvSpPr txBox="1"/>
          <p:nvPr/>
        </p:nvSpPr>
        <p:spPr>
          <a:xfrm>
            <a:off x="758750" y="3909700"/>
            <a:ext cx="2000100" cy="323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000000"/>
                </a:solidFill>
                <a:latin typeface="Montserrat"/>
                <a:ea typeface="Montserrat"/>
                <a:cs typeface="Montserrat"/>
                <a:sym typeface="Montserrat"/>
              </a:rPr>
              <a:t>Product Increment Review</a:t>
            </a:r>
            <a:endParaRPr b="0" i="0" sz="900" u="none" cap="none" strike="noStrike">
              <a:solidFill>
                <a:srgbClr val="000000"/>
              </a:solidFill>
              <a:latin typeface="Montserrat"/>
              <a:ea typeface="Montserrat"/>
              <a:cs typeface="Montserrat"/>
              <a:sym typeface="Montserrat"/>
            </a:endParaRPr>
          </a:p>
        </p:txBody>
      </p:sp>
      <p:pic>
        <p:nvPicPr>
          <p:cNvPr id="539" name="Google Shape;539;p19"/>
          <p:cNvPicPr preferRelativeResize="0"/>
          <p:nvPr/>
        </p:nvPicPr>
        <p:blipFill rotWithShape="1">
          <a:blip r:embed="rId3">
            <a:alphaModFix/>
          </a:blip>
          <a:srcRect b="0" l="0" r="0" t="0"/>
          <a:stretch/>
        </p:blipFill>
        <p:spPr>
          <a:xfrm>
            <a:off x="2973050" y="3950950"/>
            <a:ext cx="240600" cy="240600"/>
          </a:xfrm>
          <a:prstGeom prst="rect">
            <a:avLst/>
          </a:prstGeom>
          <a:noFill/>
          <a:ln>
            <a:noFill/>
          </a:ln>
        </p:spPr>
      </p:pic>
      <p:sp>
        <p:nvSpPr>
          <p:cNvPr id="540" name="Google Shape;540;p19"/>
          <p:cNvSpPr txBox="1"/>
          <p:nvPr/>
        </p:nvSpPr>
        <p:spPr>
          <a:xfrm>
            <a:off x="3120950" y="3909700"/>
            <a:ext cx="2000100" cy="323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000000"/>
                </a:solidFill>
                <a:latin typeface="Montserrat"/>
                <a:ea typeface="Montserrat"/>
                <a:cs typeface="Montserrat"/>
                <a:sym typeface="Montserrat"/>
              </a:rPr>
              <a:t>UAT and Go-Live</a:t>
            </a:r>
            <a:endParaRPr b="0" i="0" sz="900" u="none" cap="none" strike="noStrike">
              <a:solidFill>
                <a:srgbClr val="000000"/>
              </a:solidFill>
              <a:latin typeface="Montserrat"/>
              <a:ea typeface="Montserrat"/>
              <a:cs typeface="Montserrat"/>
              <a:sym typeface="Montserrat"/>
            </a:endParaRPr>
          </a:p>
        </p:txBody>
      </p:sp>
      <p:sp>
        <p:nvSpPr>
          <p:cNvPr id="541" name="Google Shape;541;p19"/>
          <p:cNvSpPr/>
          <p:nvPr/>
        </p:nvSpPr>
        <p:spPr>
          <a:xfrm>
            <a:off x="1489250" y="1392800"/>
            <a:ext cx="2811600" cy="164700"/>
          </a:xfrm>
          <a:prstGeom prst="homePlate">
            <a:avLst>
              <a:gd fmla="val 50000" name="adj"/>
            </a:avLst>
          </a:prstGeom>
          <a:solidFill>
            <a:srgbClr val="F5B6D7"/>
          </a:solidFill>
          <a:ln cap="flat" cmpd="sng" w="9525">
            <a:solidFill>
              <a:srgbClr val="F5B6D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000000"/>
                </a:solidFill>
                <a:latin typeface="Montserrat"/>
                <a:ea typeface="Montserrat"/>
                <a:cs typeface="Montserrat"/>
                <a:sym typeface="Montserrat"/>
              </a:rPr>
              <a:t>Design Phase</a:t>
            </a:r>
            <a:endParaRPr b="1" i="0" sz="800" u="none" cap="none" strike="noStrike">
              <a:solidFill>
                <a:srgbClr val="000000"/>
              </a:solidFill>
              <a:latin typeface="Montserrat"/>
              <a:ea typeface="Montserrat"/>
              <a:cs typeface="Montserrat"/>
              <a:sym typeface="Montserrat"/>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5" name="Shape 545"/>
        <p:cNvGrpSpPr/>
        <p:nvPr/>
      </p:nvGrpSpPr>
      <p:grpSpPr>
        <a:xfrm>
          <a:off x="0" y="0"/>
          <a:ext cx="0" cy="0"/>
          <a:chOff x="0" y="0"/>
          <a:chExt cx="0" cy="0"/>
        </a:xfrm>
      </p:grpSpPr>
      <p:sp>
        <p:nvSpPr>
          <p:cNvPr id="546" name="Google Shape;546;p20"/>
          <p:cNvSpPr/>
          <p:nvPr/>
        </p:nvSpPr>
        <p:spPr>
          <a:xfrm>
            <a:off x="0" y="144000"/>
            <a:ext cx="47400" cy="3573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7" name="Google Shape;547;p20"/>
          <p:cNvSpPr txBox="1"/>
          <p:nvPr>
            <p:ph type="title"/>
          </p:nvPr>
        </p:nvSpPr>
        <p:spPr>
          <a:xfrm>
            <a:off x="104500" y="141850"/>
            <a:ext cx="6703800" cy="3573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000"/>
              <a:buNone/>
            </a:pPr>
            <a:r>
              <a:rPr lang="en"/>
              <a:t>Agenda</a:t>
            </a:r>
            <a:endParaRPr/>
          </a:p>
        </p:txBody>
      </p:sp>
      <p:sp>
        <p:nvSpPr>
          <p:cNvPr id="548" name="Google Shape;548;p20"/>
          <p:cNvSpPr/>
          <p:nvPr/>
        </p:nvSpPr>
        <p:spPr>
          <a:xfrm>
            <a:off x="1358763" y="1111025"/>
            <a:ext cx="6654600" cy="376800"/>
          </a:xfrm>
          <a:prstGeom prst="snip1Rect">
            <a:avLst>
              <a:gd fmla="val 35537"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200"/>
              <a:buFont typeface="Arial"/>
              <a:buNone/>
            </a:pPr>
            <a:r>
              <a:rPr b="0" i="0" lang="en" sz="1200" u="none" cap="none" strike="noStrike">
                <a:solidFill>
                  <a:srgbClr val="000000"/>
                </a:solidFill>
                <a:latin typeface="Montserrat"/>
                <a:ea typeface="Montserrat"/>
                <a:cs typeface="Montserrat"/>
                <a:sym typeface="Montserrat"/>
              </a:rPr>
              <a:t>Executive Summary and Our Understanding of Project Requirements</a:t>
            </a:r>
            <a:endParaRPr b="0" i="0" sz="1200" u="none" cap="none" strike="noStrike">
              <a:solidFill>
                <a:srgbClr val="000000"/>
              </a:solidFill>
              <a:latin typeface="Montserrat"/>
              <a:ea typeface="Montserrat"/>
              <a:cs typeface="Montserrat"/>
              <a:sym typeface="Montserrat"/>
            </a:endParaRPr>
          </a:p>
        </p:txBody>
      </p:sp>
      <p:sp>
        <p:nvSpPr>
          <p:cNvPr id="549" name="Google Shape;549;p20"/>
          <p:cNvSpPr/>
          <p:nvPr/>
        </p:nvSpPr>
        <p:spPr>
          <a:xfrm>
            <a:off x="1358763" y="1678410"/>
            <a:ext cx="6654600" cy="376800"/>
          </a:xfrm>
          <a:prstGeom prst="snip1Rect">
            <a:avLst>
              <a:gd fmla="val 35537"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200"/>
              <a:buFont typeface="Arial"/>
              <a:buNone/>
            </a:pPr>
            <a:r>
              <a:rPr b="0" i="0" lang="en" sz="1200" u="none" cap="none" strike="noStrike">
                <a:solidFill>
                  <a:srgbClr val="000000"/>
                </a:solidFill>
                <a:latin typeface="Montserrat"/>
                <a:ea typeface="Montserrat"/>
                <a:cs typeface="Montserrat"/>
                <a:sym typeface="Montserrat"/>
              </a:rPr>
              <a:t>Proposed Technical Solution Approach</a:t>
            </a:r>
            <a:endParaRPr b="0" i="0" sz="1200" u="none" cap="none" strike="noStrike">
              <a:solidFill>
                <a:srgbClr val="000000"/>
              </a:solidFill>
              <a:latin typeface="Montserrat"/>
              <a:ea typeface="Montserrat"/>
              <a:cs typeface="Montserrat"/>
              <a:sym typeface="Montserrat"/>
            </a:endParaRPr>
          </a:p>
        </p:txBody>
      </p:sp>
      <p:sp>
        <p:nvSpPr>
          <p:cNvPr id="550" name="Google Shape;550;p20"/>
          <p:cNvSpPr/>
          <p:nvPr/>
        </p:nvSpPr>
        <p:spPr>
          <a:xfrm>
            <a:off x="1358763" y="3289875"/>
            <a:ext cx="6654600" cy="376800"/>
          </a:xfrm>
          <a:prstGeom prst="snip1Rect">
            <a:avLst>
              <a:gd fmla="val 35537"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100"/>
              <a:buFont typeface="Arial"/>
              <a:buNone/>
            </a:pPr>
            <a:r>
              <a:rPr b="0" i="0" lang="en" sz="1200" u="none" cap="none" strike="noStrike">
                <a:solidFill>
                  <a:srgbClr val="000000"/>
                </a:solidFill>
                <a:latin typeface="Montserrat"/>
                <a:ea typeface="Montserrat"/>
                <a:cs typeface="Montserrat"/>
                <a:sym typeface="Montserrat"/>
              </a:rPr>
              <a:t>Success Stories</a:t>
            </a:r>
            <a:endParaRPr b="0" i="0" sz="1200" u="none" cap="none" strike="noStrike">
              <a:solidFill>
                <a:srgbClr val="000000"/>
              </a:solidFill>
              <a:latin typeface="Montserrat"/>
              <a:ea typeface="Montserrat"/>
              <a:cs typeface="Montserrat"/>
              <a:sym typeface="Montserrat"/>
            </a:endParaRPr>
          </a:p>
        </p:txBody>
      </p:sp>
      <p:cxnSp>
        <p:nvCxnSpPr>
          <p:cNvPr id="551" name="Google Shape;551;p20"/>
          <p:cNvCxnSpPr/>
          <p:nvPr/>
        </p:nvCxnSpPr>
        <p:spPr>
          <a:xfrm>
            <a:off x="1367196" y="1108050"/>
            <a:ext cx="0" cy="382200"/>
          </a:xfrm>
          <a:prstGeom prst="straightConnector1">
            <a:avLst/>
          </a:prstGeom>
          <a:noFill/>
          <a:ln cap="flat" cmpd="sng" w="19050">
            <a:solidFill>
              <a:srgbClr val="12519C"/>
            </a:solidFill>
            <a:prstDash val="solid"/>
            <a:round/>
            <a:headEnd len="sm" w="sm" type="none"/>
            <a:tailEnd len="sm" w="sm" type="none"/>
          </a:ln>
        </p:spPr>
      </p:cxnSp>
      <p:cxnSp>
        <p:nvCxnSpPr>
          <p:cNvPr id="552" name="Google Shape;552;p20"/>
          <p:cNvCxnSpPr/>
          <p:nvPr/>
        </p:nvCxnSpPr>
        <p:spPr>
          <a:xfrm>
            <a:off x="1367196" y="1675436"/>
            <a:ext cx="0" cy="382200"/>
          </a:xfrm>
          <a:prstGeom prst="straightConnector1">
            <a:avLst/>
          </a:prstGeom>
          <a:noFill/>
          <a:ln cap="flat" cmpd="sng" w="19050">
            <a:solidFill>
              <a:srgbClr val="12519C"/>
            </a:solidFill>
            <a:prstDash val="solid"/>
            <a:round/>
            <a:headEnd len="sm" w="sm" type="none"/>
            <a:tailEnd len="sm" w="sm" type="none"/>
          </a:ln>
        </p:spPr>
      </p:cxnSp>
      <p:cxnSp>
        <p:nvCxnSpPr>
          <p:cNvPr id="553" name="Google Shape;553;p20"/>
          <p:cNvCxnSpPr/>
          <p:nvPr/>
        </p:nvCxnSpPr>
        <p:spPr>
          <a:xfrm>
            <a:off x="1367196" y="3288390"/>
            <a:ext cx="0" cy="382200"/>
          </a:xfrm>
          <a:prstGeom prst="straightConnector1">
            <a:avLst/>
          </a:prstGeom>
          <a:noFill/>
          <a:ln cap="flat" cmpd="sng" w="19050">
            <a:solidFill>
              <a:srgbClr val="12519C"/>
            </a:solidFill>
            <a:prstDash val="solid"/>
            <a:round/>
            <a:headEnd len="sm" w="sm" type="none"/>
            <a:tailEnd len="sm" w="sm" type="none"/>
          </a:ln>
        </p:spPr>
      </p:cxnSp>
      <p:sp>
        <p:nvSpPr>
          <p:cNvPr id="554" name="Google Shape;554;p20"/>
          <p:cNvSpPr/>
          <p:nvPr/>
        </p:nvSpPr>
        <p:spPr>
          <a:xfrm>
            <a:off x="1048238" y="1260478"/>
            <a:ext cx="79200" cy="77400"/>
          </a:xfrm>
          <a:prstGeom prst="ellipse">
            <a:avLst/>
          </a:prstGeom>
          <a:solidFill>
            <a:srgbClr val="D71B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5" name="Google Shape;555;p20"/>
          <p:cNvSpPr/>
          <p:nvPr/>
        </p:nvSpPr>
        <p:spPr>
          <a:xfrm>
            <a:off x="1048238" y="1827880"/>
            <a:ext cx="79200" cy="77400"/>
          </a:xfrm>
          <a:prstGeom prst="ellipse">
            <a:avLst/>
          </a:prstGeom>
          <a:solidFill>
            <a:srgbClr val="D71B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6" name="Google Shape;556;p20"/>
          <p:cNvSpPr/>
          <p:nvPr/>
        </p:nvSpPr>
        <p:spPr>
          <a:xfrm>
            <a:off x="1048238" y="3439362"/>
            <a:ext cx="79200" cy="77400"/>
          </a:xfrm>
          <a:prstGeom prst="ellipse">
            <a:avLst/>
          </a:prstGeom>
          <a:solidFill>
            <a:srgbClr val="D71B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7" name="Google Shape;557;p20"/>
          <p:cNvSpPr/>
          <p:nvPr/>
        </p:nvSpPr>
        <p:spPr>
          <a:xfrm>
            <a:off x="1358763" y="2245805"/>
            <a:ext cx="6654600" cy="376800"/>
          </a:xfrm>
          <a:prstGeom prst="snip1Rect">
            <a:avLst>
              <a:gd fmla="val 35537"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200"/>
              <a:buFont typeface="Arial"/>
              <a:buNone/>
            </a:pPr>
            <a:r>
              <a:rPr b="0" i="0" lang="en" sz="1200" u="none" cap="none" strike="noStrike">
                <a:solidFill>
                  <a:srgbClr val="000000"/>
                </a:solidFill>
                <a:latin typeface="Montserrat"/>
                <a:ea typeface="Montserrat"/>
                <a:cs typeface="Montserrat"/>
                <a:sym typeface="Montserrat"/>
              </a:rPr>
              <a:t>Project Plan and Key Deliverables</a:t>
            </a:r>
            <a:endParaRPr b="0" i="0" sz="1200" u="none" cap="none" strike="noStrike">
              <a:solidFill>
                <a:srgbClr val="000000"/>
              </a:solidFill>
              <a:latin typeface="Montserrat"/>
              <a:ea typeface="Montserrat"/>
              <a:cs typeface="Montserrat"/>
              <a:sym typeface="Montserrat"/>
            </a:endParaRPr>
          </a:p>
        </p:txBody>
      </p:sp>
      <p:cxnSp>
        <p:nvCxnSpPr>
          <p:cNvPr id="558" name="Google Shape;558;p20"/>
          <p:cNvCxnSpPr/>
          <p:nvPr/>
        </p:nvCxnSpPr>
        <p:spPr>
          <a:xfrm>
            <a:off x="1367196" y="2242832"/>
            <a:ext cx="0" cy="382200"/>
          </a:xfrm>
          <a:prstGeom prst="straightConnector1">
            <a:avLst/>
          </a:prstGeom>
          <a:noFill/>
          <a:ln cap="flat" cmpd="sng" w="19050">
            <a:solidFill>
              <a:srgbClr val="12519C"/>
            </a:solidFill>
            <a:prstDash val="solid"/>
            <a:round/>
            <a:headEnd len="sm" w="sm" type="none"/>
            <a:tailEnd len="sm" w="sm" type="none"/>
          </a:ln>
        </p:spPr>
      </p:cxnSp>
      <p:sp>
        <p:nvSpPr>
          <p:cNvPr id="559" name="Google Shape;559;p20"/>
          <p:cNvSpPr/>
          <p:nvPr/>
        </p:nvSpPr>
        <p:spPr>
          <a:xfrm>
            <a:off x="1048238" y="2395275"/>
            <a:ext cx="79200" cy="77400"/>
          </a:xfrm>
          <a:prstGeom prst="ellipse">
            <a:avLst/>
          </a:prstGeom>
          <a:solidFill>
            <a:srgbClr val="D71B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0" name="Google Shape;560;p20"/>
          <p:cNvSpPr/>
          <p:nvPr/>
        </p:nvSpPr>
        <p:spPr>
          <a:xfrm>
            <a:off x="1358763" y="2755885"/>
            <a:ext cx="6654600" cy="376800"/>
          </a:xfrm>
          <a:prstGeom prst="snip1Rect">
            <a:avLst>
              <a:gd fmla="val 35537"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200"/>
              <a:buFont typeface="Arial"/>
              <a:buNone/>
            </a:pPr>
            <a:r>
              <a:rPr b="1" i="0" lang="en" sz="1200" u="none" cap="none" strike="noStrike">
                <a:solidFill>
                  <a:srgbClr val="D71B7F"/>
                </a:solidFill>
                <a:latin typeface="Montserrat"/>
                <a:ea typeface="Montserrat"/>
                <a:cs typeface="Montserrat"/>
                <a:sym typeface="Montserrat"/>
              </a:rPr>
              <a:t>Commercial Summary</a:t>
            </a:r>
            <a:endParaRPr b="1" i="0" sz="1200" u="none" cap="none" strike="noStrike">
              <a:solidFill>
                <a:srgbClr val="D71B7F"/>
              </a:solidFill>
              <a:latin typeface="Montserrat"/>
              <a:ea typeface="Montserrat"/>
              <a:cs typeface="Montserrat"/>
              <a:sym typeface="Montserrat"/>
            </a:endParaRPr>
          </a:p>
        </p:txBody>
      </p:sp>
      <p:cxnSp>
        <p:nvCxnSpPr>
          <p:cNvPr id="561" name="Google Shape;561;p20"/>
          <p:cNvCxnSpPr/>
          <p:nvPr/>
        </p:nvCxnSpPr>
        <p:spPr>
          <a:xfrm>
            <a:off x="1367196" y="2752912"/>
            <a:ext cx="0" cy="382200"/>
          </a:xfrm>
          <a:prstGeom prst="straightConnector1">
            <a:avLst/>
          </a:prstGeom>
          <a:noFill/>
          <a:ln cap="flat" cmpd="sng" w="19050">
            <a:solidFill>
              <a:srgbClr val="12519C"/>
            </a:solidFill>
            <a:prstDash val="solid"/>
            <a:round/>
            <a:headEnd len="sm" w="sm" type="none"/>
            <a:tailEnd len="sm" w="sm" type="none"/>
          </a:ln>
        </p:spPr>
      </p:cxnSp>
      <p:sp>
        <p:nvSpPr>
          <p:cNvPr id="562" name="Google Shape;562;p20"/>
          <p:cNvSpPr/>
          <p:nvPr/>
        </p:nvSpPr>
        <p:spPr>
          <a:xfrm>
            <a:off x="1048238" y="2905355"/>
            <a:ext cx="79200" cy="77400"/>
          </a:xfrm>
          <a:prstGeom prst="ellipse">
            <a:avLst/>
          </a:prstGeom>
          <a:solidFill>
            <a:srgbClr val="D71B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3" name="Google Shape;563;p20"/>
          <p:cNvSpPr txBox="1"/>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000000"/>
              </a:buClr>
              <a:buSzPts val="1000"/>
              <a:buFont typeface="Arial"/>
              <a:buNone/>
            </a:pPr>
            <a:fld id="{00000000-1234-1234-1234-123412341234}" type="slidenum">
              <a:rPr b="0" i="0" lang="en" sz="1000" u="none" cap="none" strike="noStrike">
                <a:solidFill>
                  <a:srgbClr val="000000"/>
                </a:solidFill>
                <a:latin typeface="Montserrat"/>
                <a:ea typeface="Montserrat"/>
                <a:cs typeface="Montserrat"/>
                <a:sym typeface="Montserrat"/>
              </a:rPr>
              <a:t>‹#›</a:t>
            </a:fld>
            <a:endParaRPr b="0" i="0" sz="1000" u="none" cap="none" strike="noStrike">
              <a:solidFill>
                <a:srgbClr val="000000"/>
              </a:solidFill>
              <a:latin typeface="Montserrat"/>
              <a:ea typeface="Montserrat"/>
              <a:cs typeface="Montserrat"/>
              <a:sym typeface="Montserrat"/>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7" name="Shape 567"/>
        <p:cNvGrpSpPr/>
        <p:nvPr/>
      </p:nvGrpSpPr>
      <p:grpSpPr>
        <a:xfrm>
          <a:off x="0" y="0"/>
          <a:ext cx="0" cy="0"/>
          <a:chOff x="0" y="0"/>
          <a:chExt cx="0" cy="0"/>
        </a:xfrm>
      </p:grpSpPr>
      <p:sp>
        <p:nvSpPr>
          <p:cNvPr id="568" name="Google Shape;568;p21"/>
          <p:cNvSpPr txBox="1"/>
          <p:nvPr/>
        </p:nvSpPr>
        <p:spPr>
          <a:xfrm>
            <a:off x="105040" y="143994"/>
            <a:ext cx="6765900" cy="3573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1" i="0" lang="en" sz="2000" u="none" cap="none" strike="noStrike">
                <a:solidFill>
                  <a:schemeClr val="dk1"/>
                </a:solidFill>
                <a:latin typeface="Montserrat"/>
                <a:ea typeface="Montserrat"/>
                <a:cs typeface="Montserrat"/>
                <a:sym typeface="Montserrat"/>
              </a:rPr>
              <a:t>Proposed Engagement Model</a:t>
            </a:r>
            <a:endParaRPr b="1" i="0" sz="2000" u="none" cap="none" strike="noStrike">
              <a:solidFill>
                <a:schemeClr val="dk1"/>
              </a:solidFill>
              <a:latin typeface="Montserrat"/>
              <a:ea typeface="Montserrat"/>
              <a:cs typeface="Montserrat"/>
              <a:sym typeface="Montserrat"/>
            </a:endParaRPr>
          </a:p>
        </p:txBody>
      </p:sp>
      <p:sp>
        <p:nvSpPr>
          <p:cNvPr id="569" name="Google Shape;569;p21"/>
          <p:cNvSpPr/>
          <p:nvPr/>
        </p:nvSpPr>
        <p:spPr>
          <a:xfrm>
            <a:off x="268738" y="861370"/>
            <a:ext cx="4201500" cy="3718200"/>
          </a:xfrm>
          <a:prstGeom prst="snip1Rect">
            <a:avLst>
              <a:gd fmla="val 14134"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t" bIns="91425" lIns="91425" spcFirstLastPara="1" rIns="0" wrap="square" tIns="91425">
            <a:noAutofit/>
          </a:bodyPr>
          <a:lstStyle/>
          <a:p>
            <a:pPr indent="0" lvl="0" marL="0" marR="0" rtl="0" algn="l">
              <a:lnSpc>
                <a:spcPct val="115000"/>
              </a:lnSpc>
              <a:spcBef>
                <a:spcPts val="0"/>
              </a:spcBef>
              <a:spcAft>
                <a:spcPts val="0"/>
              </a:spcAft>
              <a:buClr>
                <a:srgbClr val="000000"/>
              </a:buClr>
              <a:buSzPts val="1100"/>
              <a:buFont typeface="Arial"/>
              <a:buNone/>
            </a:pPr>
            <a:r>
              <a:t/>
            </a:r>
            <a:endParaRPr b="0" i="0" sz="1100" u="none" cap="none" strike="noStrike">
              <a:solidFill>
                <a:srgbClr val="000000"/>
              </a:solidFill>
              <a:latin typeface="Montserrat"/>
              <a:ea typeface="Montserrat"/>
              <a:cs typeface="Montserrat"/>
              <a:sym typeface="Montserrat"/>
            </a:endParaRPr>
          </a:p>
          <a:p>
            <a:pPr indent="-292100" lvl="0" marL="457200" marR="0" rtl="0" algn="l">
              <a:lnSpc>
                <a:spcPct val="115000"/>
              </a:lnSpc>
              <a:spcBef>
                <a:spcPts val="0"/>
              </a:spcBef>
              <a:spcAft>
                <a:spcPts val="0"/>
              </a:spcAft>
              <a:buClr>
                <a:srgbClr val="E7E6E6"/>
              </a:buClr>
              <a:buSzPts val="1000"/>
              <a:buFont typeface="Montserrat"/>
              <a:buChar char="●"/>
            </a:pPr>
            <a:r>
              <a:rPr b="0" i="0" lang="en" sz="1100" u="none" cap="none" strike="noStrike">
                <a:solidFill>
                  <a:srgbClr val="000000"/>
                </a:solidFill>
                <a:latin typeface="Montserrat"/>
                <a:ea typeface="Montserrat"/>
                <a:cs typeface="Montserrat"/>
                <a:sym typeface="Montserrat"/>
              </a:rPr>
              <a:t>Project will be executed in Iterative Agile manner for each phase  with the following iterations-</a:t>
            </a:r>
            <a:endParaRPr b="0" i="0" sz="1100" u="none" cap="none" strike="noStrike">
              <a:solidFill>
                <a:srgbClr val="000000"/>
              </a:solidFill>
              <a:latin typeface="Montserrat"/>
              <a:ea typeface="Montserrat"/>
              <a:cs typeface="Montserrat"/>
              <a:sym typeface="Montserrat"/>
            </a:endParaRPr>
          </a:p>
          <a:p>
            <a:pPr indent="-292100" lvl="1" marL="914400" marR="0" rtl="0" algn="l">
              <a:lnSpc>
                <a:spcPct val="115000"/>
              </a:lnSpc>
              <a:spcBef>
                <a:spcPts val="0"/>
              </a:spcBef>
              <a:spcAft>
                <a:spcPts val="0"/>
              </a:spcAft>
              <a:buClr>
                <a:srgbClr val="000000"/>
              </a:buClr>
              <a:buSzPts val="1000"/>
              <a:buFont typeface="Montserrat"/>
              <a:buChar char="○"/>
            </a:pPr>
            <a:r>
              <a:rPr b="0" i="0" lang="en" sz="1100" u="none" cap="none" strike="noStrike">
                <a:solidFill>
                  <a:srgbClr val="000000"/>
                </a:solidFill>
                <a:latin typeface="Montserrat"/>
                <a:ea typeface="Montserrat"/>
                <a:cs typeface="Montserrat"/>
                <a:sym typeface="Montserrat"/>
              </a:rPr>
              <a:t>Agile-based Development </a:t>
            </a:r>
            <a:endParaRPr b="0" i="0" sz="1100" u="none" cap="none" strike="noStrike">
              <a:solidFill>
                <a:srgbClr val="000000"/>
              </a:solidFill>
              <a:latin typeface="Montserrat"/>
              <a:ea typeface="Montserrat"/>
              <a:cs typeface="Montserrat"/>
              <a:sym typeface="Montserrat"/>
            </a:endParaRPr>
          </a:p>
          <a:p>
            <a:pPr indent="-292100" lvl="1" marL="914400" marR="0" rtl="0" algn="l">
              <a:lnSpc>
                <a:spcPct val="115000"/>
              </a:lnSpc>
              <a:spcBef>
                <a:spcPts val="0"/>
              </a:spcBef>
              <a:spcAft>
                <a:spcPts val="0"/>
              </a:spcAft>
              <a:buClr>
                <a:srgbClr val="000000"/>
              </a:buClr>
              <a:buSzPts val="1000"/>
              <a:buFont typeface="Montserrat"/>
              <a:buChar char="○"/>
            </a:pPr>
            <a:r>
              <a:rPr b="0" i="0" lang="en" sz="1100" u="none" cap="none" strike="noStrike">
                <a:solidFill>
                  <a:srgbClr val="000000"/>
                </a:solidFill>
                <a:latin typeface="Montserrat"/>
                <a:ea typeface="Montserrat"/>
                <a:cs typeface="Montserrat"/>
                <a:sym typeface="Montserrat"/>
              </a:rPr>
              <a:t>UAT and Go-Live</a:t>
            </a:r>
            <a:endParaRPr b="0" i="0" sz="1100" u="none" cap="none" strike="noStrike">
              <a:solidFill>
                <a:srgbClr val="000000"/>
              </a:solidFill>
              <a:latin typeface="Montserrat"/>
              <a:ea typeface="Montserrat"/>
              <a:cs typeface="Montserrat"/>
              <a:sym typeface="Montserrat"/>
            </a:endParaRPr>
          </a:p>
          <a:p>
            <a:pPr indent="-292100" lvl="0" marL="457200" marR="0" rtl="0" algn="l">
              <a:lnSpc>
                <a:spcPct val="115000"/>
              </a:lnSpc>
              <a:spcBef>
                <a:spcPts val="0"/>
              </a:spcBef>
              <a:spcAft>
                <a:spcPts val="0"/>
              </a:spcAft>
              <a:buClr>
                <a:srgbClr val="E7E6E6"/>
              </a:buClr>
              <a:buSzPts val="1000"/>
              <a:buFont typeface="Montserrat"/>
              <a:buChar char="●"/>
            </a:pPr>
            <a:r>
              <a:rPr b="0" i="0" lang="en" sz="1100" u="none" cap="none" strike="noStrike">
                <a:solidFill>
                  <a:srgbClr val="000000"/>
                </a:solidFill>
                <a:latin typeface="Montserrat"/>
                <a:ea typeface="Montserrat"/>
                <a:cs typeface="Montserrat"/>
                <a:sym typeface="Montserrat"/>
              </a:rPr>
              <a:t>Any delay in project due to reasons beyond TTN will warrant a change request against the impacted man days</a:t>
            </a:r>
            <a:endParaRPr b="0" i="0" sz="1100" u="none" cap="none" strike="noStrike">
              <a:solidFill>
                <a:srgbClr val="000000"/>
              </a:solidFill>
              <a:latin typeface="Montserrat"/>
              <a:ea typeface="Montserrat"/>
              <a:cs typeface="Montserrat"/>
              <a:sym typeface="Montserrat"/>
            </a:endParaRPr>
          </a:p>
          <a:p>
            <a:pPr indent="-292100" lvl="0" marL="457200" marR="0" rtl="0" algn="l">
              <a:lnSpc>
                <a:spcPct val="115000"/>
              </a:lnSpc>
              <a:spcBef>
                <a:spcPts val="0"/>
              </a:spcBef>
              <a:spcAft>
                <a:spcPts val="0"/>
              </a:spcAft>
              <a:buClr>
                <a:srgbClr val="E7E6E6"/>
              </a:buClr>
              <a:buSzPts val="1000"/>
              <a:buFont typeface="Montserrat"/>
              <a:buChar char="●"/>
            </a:pPr>
            <a:r>
              <a:rPr b="0" i="0" lang="en" sz="1100" u="none" cap="none" strike="noStrike">
                <a:solidFill>
                  <a:srgbClr val="000000"/>
                </a:solidFill>
                <a:latin typeface="Montserrat"/>
                <a:ea typeface="Montserrat"/>
                <a:cs typeface="Montserrat"/>
                <a:sym typeface="Montserrat"/>
              </a:rPr>
              <a:t>If there are any changes to assumptions or delays caused due to dependencies from Racing Queensland, impact on effort, timelines and cost would need to be assessed and will go through change request process.</a:t>
            </a:r>
            <a:endParaRPr b="0" i="0" sz="1100" u="none" cap="none" strike="noStrike">
              <a:solidFill>
                <a:srgbClr val="000000"/>
              </a:solidFill>
              <a:latin typeface="Montserrat"/>
              <a:ea typeface="Montserrat"/>
              <a:cs typeface="Montserrat"/>
              <a:sym typeface="Montserrat"/>
            </a:endParaRPr>
          </a:p>
          <a:p>
            <a:pPr indent="0" lvl="0" marL="0" marR="0" rtl="0" algn="l">
              <a:lnSpc>
                <a:spcPct val="115000"/>
              </a:lnSpc>
              <a:spcBef>
                <a:spcPts val="0"/>
              </a:spcBef>
              <a:spcAft>
                <a:spcPts val="0"/>
              </a:spcAft>
              <a:buClr>
                <a:srgbClr val="000000"/>
              </a:buClr>
              <a:buSzPts val="1100"/>
              <a:buFont typeface="Arial"/>
              <a:buNone/>
            </a:pPr>
            <a:r>
              <a:t/>
            </a:r>
            <a:endParaRPr b="0" i="0" sz="1100" u="none" cap="none" strike="noStrike">
              <a:solidFill>
                <a:srgbClr val="000000"/>
              </a:solidFill>
              <a:latin typeface="Montserrat"/>
              <a:ea typeface="Montserrat"/>
              <a:cs typeface="Montserrat"/>
              <a:sym typeface="Montserrat"/>
            </a:endParaRPr>
          </a:p>
          <a:p>
            <a:pPr indent="0" lvl="0" marL="457200" marR="0" rtl="0" algn="l">
              <a:lnSpc>
                <a:spcPct val="115000"/>
              </a:lnSpc>
              <a:spcBef>
                <a:spcPts val="0"/>
              </a:spcBef>
              <a:spcAft>
                <a:spcPts val="0"/>
              </a:spcAft>
              <a:buClr>
                <a:srgbClr val="000000"/>
              </a:buClr>
              <a:buSzPts val="1100"/>
              <a:buFont typeface="Arial"/>
              <a:buNone/>
            </a:pPr>
            <a:r>
              <a:t/>
            </a:r>
            <a:endParaRPr b="0" i="0" sz="1100" u="none" cap="none" strike="noStrike">
              <a:solidFill>
                <a:srgbClr val="000000"/>
              </a:solidFill>
              <a:latin typeface="Montserrat"/>
              <a:ea typeface="Montserrat"/>
              <a:cs typeface="Montserrat"/>
              <a:sym typeface="Montserrat"/>
            </a:endParaRPr>
          </a:p>
          <a:p>
            <a:pPr indent="0" lvl="0" marL="457200" marR="0" rtl="0" algn="l">
              <a:lnSpc>
                <a:spcPct val="115000"/>
              </a:lnSpc>
              <a:spcBef>
                <a:spcPts val="0"/>
              </a:spcBef>
              <a:spcAft>
                <a:spcPts val="0"/>
              </a:spcAft>
              <a:buClr>
                <a:srgbClr val="000000"/>
              </a:buClr>
              <a:buSzPts val="1100"/>
              <a:buFont typeface="Arial"/>
              <a:buNone/>
            </a:pPr>
            <a:r>
              <a:t/>
            </a:r>
            <a:endParaRPr b="0" i="0" sz="1100" u="none" cap="none" strike="noStrike">
              <a:solidFill>
                <a:srgbClr val="000000"/>
              </a:solidFill>
              <a:latin typeface="Montserrat"/>
              <a:ea typeface="Montserrat"/>
              <a:cs typeface="Montserrat"/>
              <a:sym typeface="Montserrat"/>
            </a:endParaRPr>
          </a:p>
          <a:p>
            <a:pPr indent="0" lvl="0" marL="457200" marR="0" rtl="0" algn="l">
              <a:lnSpc>
                <a:spcPct val="115000"/>
              </a:lnSpc>
              <a:spcBef>
                <a:spcPts val="0"/>
              </a:spcBef>
              <a:spcAft>
                <a:spcPts val="0"/>
              </a:spcAft>
              <a:buClr>
                <a:srgbClr val="000000"/>
              </a:buClr>
              <a:buSzPts val="1100"/>
              <a:buFont typeface="Arial"/>
              <a:buNone/>
            </a:pPr>
            <a:r>
              <a:t/>
            </a:r>
            <a:endParaRPr b="0" i="0" sz="1100" u="none" cap="none" strike="noStrike">
              <a:solidFill>
                <a:srgbClr val="000000"/>
              </a:solidFill>
              <a:latin typeface="Montserrat"/>
              <a:ea typeface="Montserrat"/>
              <a:cs typeface="Montserrat"/>
              <a:sym typeface="Montserrat"/>
            </a:endParaRPr>
          </a:p>
        </p:txBody>
      </p:sp>
      <p:cxnSp>
        <p:nvCxnSpPr>
          <p:cNvPr id="570" name="Google Shape;570;p21"/>
          <p:cNvCxnSpPr/>
          <p:nvPr/>
        </p:nvCxnSpPr>
        <p:spPr>
          <a:xfrm>
            <a:off x="272290" y="855475"/>
            <a:ext cx="0" cy="3710400"/>
          </a:xfrm>
          <a:prstGeom prst="straightConnector1">
            <a:avLst/>
          </a:prstGeom>
          <a:noFill/>
          <a:ln cap="flat" cmpd="sng" w="19050">
            <a:solidFill>
              <a:srgbClr val="12519C"/>
            </a:solidFill>
            <a:prstDash val="solid"/>
            <a:round/>
            <a:headEnd len="sm" w="sm" type="none"/>
            <a:tailEnd len="sm" w="sm" type="none"/>
          </a:ln>
        </p:spPr>
      </p:cxnSp>
      <p:sp>
        <p:nvSpPr>
          <p:cNvPr id="571" name="Google Shape;571;p21"/>
          <p:cNvSpPr/>
          <p:nvPr/>
        </p:nvSpPr>
        <p:spPr>
          <a:xfrm>
            <a:off x="4673772" y="863998"/>
            <a:ext cx="4201500" cy="3704400"/>
          </a:xfrm>
          <a:prstGeom prst="snip1Rect">
            <a:avLst>
              <a:gd fmla="val 14134"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t" bIns="91425" lIns="91425" spcFirstLastPara="1" rIns="0" wrap="square" tIns="91425">
            <a:noAutofit/>
          </a:bodyPr>
          <a:lstStyle/>
          <a:p>
            <a:pPr indent="0" lvl="0" marL="0" marR="0" rtl="0" algn="l">
              <a:lnSpc>
                <a:spcPct val="115000"/>
              </a:lnSpc>
              <a:spcBef>
                <a:spcPts val="0"/>
              </a:spcBef>
              <a:spcAft>
                <a:spcPts val="0"/>
              </a:spcAft>
              <a:buClr>
                <a:srgbClr val="000000"/>
              </a:buClr>
              <a:buSzPts val="1100"/>
              <a:buFont typeface="Arial"/>
              <a:buNone/>
            </a:pPr>
            <a:r>
              <a:t/>
            </a:r>
            <a:endParaRPr b="0" i="0" sz="1100" u="none" cap="none" strike="noStrike">
              <a:solidFill>
                <a:srgbClr val="000000"/>
              </a:solidFill>
              <a:latin typeface="Montserrat"/>
              <a:ea typeface="Montserrat"/>
              <a:cs typeface="Montserrat"/>
              <a:sym typeface="Montserrat"/>
            </a:endParaRPr>
          </a:p>
          <a:p>
            <a:pPr indent="-292100" lvl="0" marL="457200" marR="0" rtl="0" algn="l">
              <a:lnSpc>
                <a:spcPct val="115000"/>
              </a:lnSpc>
              <a:spcBef>
                <a:spcPts val="0"/>
              </a:spcBef>
              <a:spcAft>
                <a:spcPts val="0"/>
              </a:spcAft>
              <a:buClr>
                <a:srgbClr val="E7E6E6"/>
              </a:buClr>
              <a:buSzPts val="1000"/>
              <a:buFont typeface="Montserrat"/>
              <a:buChar char="●"/>
            </a:pPr>
            <a:r>
              <a:rPr b="0" i="0" lang="en" sz="1100" u="none" cap="none" strike="noStrike">
                <a:solidFill>
                  <a:srgbClr val="000000"/>
                </a:solidFill>
                <a:latin typeface="Montserrat"/>
                <a:ea typeface="Montserrat"/>
                <a:cs typeface="Montserrat"/>
                <a:sym typeface="Montserrat"/>
              </a:rPr>
              <a:t>Total price for the entire project as per requirements outlined in the proposal would be: </a:t>
            </a:r>
            <a:endParaRPr b="1" i="0" sz="1100" u="none" cap="none" strike="noStrike">
              <a:solidFill>
                <a:srgbClr val="000000"/>
              </a:solidFill>
              <a:latin typeface="Montserrat"/>
              <a:ea typeface="Montserrat"/>
              <a:cs typeface="Montserrat"/>
              <a:sym typeface="Montserrat"/>
            </a:endParaRPr>
          </a:p>
          <a:p>
            <a:pPr indent="-109220" lvl="1" marL="731520" marR="0" rtl="0" algn="l">
              <a:lnSpc>
                <a:spcPct val="115000"/>
              </a:lnSpc>
              <a:spcBef>
                <a:spcPts val="0"/>
              </a:spcBef>
              <a:spcAft>
                <a:spcPts val="0"/>
              </a:spcAft>
              <a:buClr>
                <a:srgbClr val="D71B7F"/>
              </a:buClr>
              <a:buSzPts val="1000"/>
              <a:buFont typeface="Montserrat"/>
              <a:buChar char="○"/>
            </a:pPr>
            <a:r>
              <a:rPr b="1" i="0" lang="en" sz="1100" u="none" cap="none" strike="noStrike">
                <a:solidFill>
                  <a:srgbClr val="000000"/>
                </a:solidFill>
                <a:latin typeface="Montserrat"/>
                <a:ea typeface="Montserrat"/>
                <a:cs typeface="Montserrat"/>
                <a:sym typeface="Montserrat"/>
              </a:rPr>
              <a:t>Price Before dIscount : AUD </a:t>
            </a:r>
            <a:r>
              <a:rPr b="1" lang="en" sz="1100">
                <a:latin typeface="Montserrat"/>
                <a:ea typeface="Montserrat"/>
                <a:cs typeface="Montserrat"/>
                <a:sym typeface="Montserrat"/>
              </a:rPr>
              <a:t>80</a:t>
            </a:r>
            <a:r>
              <a:rPr b="1" i="0" lang="en" sz="1100" u="none" cap="none" strike="noStrike">
                <a:solidFill>
                  <a:srgbClr val="000000"/>
                </a:solidFill>
                <a:latin typeface="Montserrat"/>
                <a:ea typeface="Montserrat"/>
                <a:cs typeface="Montserrat"/>
                <a:sym typeface="Montserrat"/>
              </a:rPr>
              <a:t>,712.63</a:t>
            </a:r>
            <a:endParaRPr b="1" i="0" sz="1100" u="none" cap="none" strike="noStrike">
              <a:solidFill>
                <a:srgbClr val="000000"/>
              </a:solidFill>
              <a:latin typeface="Montserrat"/>
              <a:ea typeface="Montserrat"/>
              <a:cs typeface="Montserrat"/>
              <a:sym typeface="Montserrat"/>
            </a:endParaRPr>
          </a:p>
          <a:p>
            <a:pPr indent="-109220" lvl="1" marL="731520" marR="0" rtl="0" algn="l">
              <a:lnSpc>
                <a:spcPct val="115000"/>
              </a:lnSpc>
              <a:spcBef>
                <a:spcPts val="0"/>
              </a:spcBef>
              <a:spcAft>
                <a:spcPts val="0"/>
              </a:spcAft>
              <a:buClr>
                <a:srgbClr val="D71B7F"/>
              </a:buClr>
              <a:buSzPts val="1000"/>
              <a:buFont typeface="Montserrat"/>
              <a:buChar char="○"/>
            </a:pPr>
            <a:r>
              <a:rPr b="1" i="0" lang="en" sz="1100" u="none" cap="none" strike="noStrike">
                <a:solidFill>
                  <a:srgbClr val="000000"/>
                </a:solidFill>
                <a:latin typeface="Montserrat"/>
                <a:ea typeface="Montserrat"/>
                <a:cs typeface="Montserrat"/>
                <a:sym typeface="Montserrat"/>
              </a:rPr>
              <a:t>Discount : 5%</a:t>
            </a:r>
            <a:endParaRPr b="1" i="0" sz="1100" u="none" cap="none" strike="noStrike">
              <a:solidFill>
                <a:srgbClr val="000000"/>
              </a:solidFill>
              <a:latin typeface="Montserrat"/>
              <a:ea typeface="Montserrat"/>
              <a:cs typeface="Montserrat"/>
              <a:sym typeface="Montserrat"/>
            </a:endParaRPr>
          </a:p>
          <a:p>
            <a:pPr indent="-109220" lvl="1" marL="731520" marR="0" rtl="0" algn="l">
              <a:lnSpc>
                <a:spcPct val="115000"/>
              </a:lnSpc>
              <a:spcBef>
                <a:spcPts val="0"/>
              </a:spcBef>
              <a:spcAft>
                <a:spcPts val="0"/>
              </a:spcAft>
              <a:buClr>
                <a:srgbClr val="D71B7F"/>
              </a:buClr>
              <a:buSzPts val="1000"/>
              <a:buFont typeface="Montserrat"/>
              <a:buChar char="○"/>
            </a:pPr>
            <a:r>
              <a:rPr b="1" i="0" lang="en" sz="1100" u="none" cap="none" strike="noStrike">
                <a:solidFill>
                  <a:srgbClr val="000000"/>
                </a:solidFill>
                <a:latin typeface="Montserrat"/>
                <a:ea typeface="Montserrat"/>
                <a:cs typeface="Montserrat"/>
                <a:sym typeface="Montserrat"/>
              </a:rPr>
              <a:t>Final Price After discount : AUD </a:t>
            </a:r>
            <a:r>
              <a:rPr b="1" lang="en" sz="1100">
                <a:latin typeface="Montserrat"/>
                <a:ea typeface="Montserrat"/>
                <a:cs typeface="Montserrat"/>
                <a:sym typeface="Montserrat"/>
              </a:rPr>
              <a:t>78</a:t>
            </a:r>
            <a:r>
              <a:rPr b="1" i="0" lang="en" sz="1100" u="none" cap="none" strike="noStrike">
                <a:solidFill>
                  <a:srgbClr val="000000"/>
                </a:solidFill>
                <a:latin typeface="Montserrat"/>
                <a:ea typeface="Montserrat"/>
                <a:cs typeface="Montserrat"/>
                <a:sym typeface="Montserrat"/>
              </a:rPr>
              <a:t>,727.00</a:t>
            </a:r>
            <a:endParaRPr b="1" i="0" sz="1100" u="none" cap="none" strike="noStrike">
              <a:solidFill>
                <a:srgbClr val="000000"/>
              </a:solidFill>
              <a:latin typeface="Montserrat"/>
              <a:ea typeface="Montserrat"/>
              <a:cs typeface="Montserrat"/>
              <a:sym typeface="Montserrat"/>
            </a:endParaRPr>
          </a:p>
          <a:p>
            <a:pPr indent="-292100" lvl="0" marL="457200" marR="0" rtl="0" algn="l">
              <a:lnSpc>
                <a:spcPct val="115000"/>
              </a:lnSpc>
              <a:spcBef>
                <a:spcPts val="0"/>
              </a:spcBef>
              <a:spcAft>
                <a:spcPts val="0"/>
              </a:spcAft>
              <a:buClr>
                <a:srgbClr val="E7E6E6"/>
              </a:buClr>
              <a:buSzPts val="1000"/>
              <a:buFont typeface="Montserrat"/>
              <a:buChar char="●"/>
            </a:pPr>
            <a:r>
              <a:rPr b="0" i="0" lang="en" sz="1100" u="none" cap="none" strike="noStrike">
                <a:solidFill>
                  <a:srgbClr val="000000"/>
                </a:solidFill>
                <a:latin typeface="Montserrat"/>
                <a:ea typeface="Montserrat"/>
                <a:cs typeface="Montserrat"/>
                <a:sym typeface="Montserrat"/>
              </a:rPr>
              <a:t>All mentioned prices are exclusive of applicable taxes.</a:t>
            </a:r>
            <a:endParaRPr b="0" i="0" sz="1100" u="none" cap="none" strike="noStrike">
              <a:solidFill>
                <a:srgbClr val="000000"/>
              </a:solidFill>
              <a:latin typeface="Montserrat"/>
              <a:ea typeface="Montserrat"/>
              <a:cs typeface="Montserrat"/>
              <a:sym typeface="Montserrat"/>
            </a:endParaRPr>
          </a:p>
          <a:p>
            <a:pPr indent="-292100" lvl="0" marL="457200" marR="0" rtl="0" algn="l">
              <a:lnSpc>
                <a:spcPct val="115000"/>
              </a:lnSpc>
              <a:spcBef>
                <a:spcPts val="0"/>
              </a:spcBef>
              <a:spcAft>
                <a:spcPts val="0"/>
              </a:spcAft>
              <a:buClr>
                <a:srgbClr val="E7E6E6"/>
              </a:buClr>
              <a:buSzPts val="1000"/>
              <a:buFont typeface="Montserrat"/>
              <a:buChar char="●"/>
            </a:pPr>
            <a:r>
              <a:rPr b="0" i="0" lang="en" sz="1100" u="none" cap="none" strike="noStrike">
                <a:solidFill>
                  <a:srgbClr val="000000"/>
                </a:solidFill>
                <a:latin typeface="Montserrat"/>
                <a:ea typeface="Montserrat"/>
                <a:cs typeface="Montserrat"/>
                <a:sym typeface="Montserrat"/>
              </a:rPr>
              <a:t>Payment Milestones has been added in the following slide.</a:t>
            </a:r>
            <a:endParaRPr b="0" i="0" sz="1100" u="none" cap="none" strike="noStrike">
              <a:solidFill>
                <a:srgbClr val="000000"/>
              </a:solidFill>
              <a:latin typeface="Montserrat"/>
              <a:ea typeface="Montserrat"/>
              <a:cs typeface="Montserrat"/>
              <a:sym typeface="Montserrat"/>
            </a:endParaRPr>
          </a:p>
          <a:p>
            <a:pPr indent="-292100" lvl="0" marL="457200" marR="0" rtl="0" algn="l">
              <a:lnSpc>
                <a:spcPct val="115000"/>
              </a:lnSpc>
              <a:spcBef>
                <a:spcPts val="0"/>
              </a:spcBef>
              <a:spcAft>
                <a:spcPts val="0"/>
              </a:spcAft>
              <a:buClr>
                <a:srgbClr val="E7E6E6"/>
              </a:buClr>
              <a:buSzPts val="1000"/>
              <a:buFont typeface="Montserrat"/>
              <a:buChar char="●"/>
            </a:pPr>
            <a:r>
              <a:rPr b="0" i="0" lang="en" sz="1100" u="none" cap="none" strike="noStrike">
                <a:solidFill>
                  <a:srgbClr val="000000"/>
                </a:solidFill>
                <a:latin typeface="Montserrat"/>
                <a:ea typeface="Montserrat"/>
                <a:cs typeface="Montserrat"/>
                <a:sym typeface="Montserrat"/>
              </a:rPr>
              <a:t>All the invoices would be considered accepted by the customer if there is no objection in 5 days.</a:t>
            </a:r>
            <a:endParaRPr b="0" i="0" sz="1100" u="none" cap="none" strike="noStrike">
              <a:solidFill>
                <a:srgbClr val="000000"/>
              </a:solidFill>
              <a:latin typeface="Montserrat"/>
              <a:ea typeface="Montserrat"/>
              <a:cs typeface="Montserrat"/>
              <a:sym typeface="Montserrat"/>
            </a:endParaRPr>
          </a:p>
          <a:p>
            <a:pPr indent="-292100" lvl="0" marL="457200" marR="0" rtl="0" algn="l">
              <a:lnSpc>
                <a:spcPct val="115000"/>
              </a:lnSpc>
              <a:spcBef>
                <a:spcPts val="0"/>
              </a:spcBef>
              <a:spcAft>
                <a:spcPts val="0"/>
              </a:spcAft>
              <a:buClr>
                <a:srgbClr val="E7E6E6"/>
              </a:buClr>
              <a:buSzPts val="1000"/>
              <a:buFont typeface="Montserrat"/>
              <a:buChar char="●"/>
            </a:pPr>
            <a:r>
              <a:rPr b="0" i="0" lang="en" sz="1100" u="none" cap="none" strike="noStrike">
                <a:solidFill>
                  <a:srgbClr val="000000"/>
                </a:solidFill>
                <a:latin typeface="Montserrat"/>
                <a:ea typeface="Montserrat"/>
                <a:cs typeface="Montserrat"/>
                <a:sym typeface="Montserrat"/>
              </a:rPr>
              <a:t>Payment terms are 30 calendar days from the receipt of the invoice.</a:t>
            </a:r>
            <a:endParaRPr b="0" i="0" sz="1100" u="none" cap="none" strike="noStrike">
              <a:solidFill>
                <a:srgbClr val="000000"/>
              </a:solidFill>
              <a:latin typeface="Montserrat"/>
              <a:ea typeface="Montserrat"/>
              <a:cs typeface="Montserrat"/>
              <a:sym typeface="Montserrat"/>
            </a:endParaRPr>
          </a:p>
          <a:p>
            <a:pPr indent="0" lvl="0" marL="0" marR="0" rtl="0" algn="l">
              <a:lnSpc>
                <a:spcPct val="115000"/>
              </a:lnSpc>
              <a:spcBef>
                <a:spcPts val="0"/>
              </a:spcBef>
              <a:spcAft>
                <a:spcPts val="0"/>
              </a:spcAft>
              <a:buClr>
                <a:srgbClr val="000000"/>
              </a:buClr>
              <a:buSzPts val="1100"/>
              <a:buFont typeface="Arial"/>
              <a:buNone/>
            </a:pPr>
            <a:r>
              <a:t/>
            </a:r>
            <a:endParaRPr b="0" i="0" sz="1100" u="none" cap="none" strike="noStrike">
              <a:solidFill>
                <a:srgbClr val="000000"/>
              </a:solidFill>
              <a:latin typeface="Montserrat"/>
              <a:ea typeface="Montserrat"/>
              <a:cs typeface="Montserrat"/>
              <a:sym typeface="Montserrat"/>
            </a:endParaRPr>
          </a:p>
          <a:p>
            <a:pPr indent="0" lvl="0" marL="0" marR="0" rtl="0" algn="l">
              <a:lnSpc>
                <a:spcPct val="115000"/>
              </a:lnSpc>
              <a:spcBef>
                <a:spcPts val="0"/>
              </a:spcBef>
              <a:spcAft>
                <a:spcPts val="0"/>
              </a:spcAft>
              <a:buClr>
                <a:srgbClr val="000000"/>
              </a:buClr>
              <a:buSzPts val="1100"/>
              <a:buFont typeface="Arial"/>
              <a:buNone/>
            </a:pPr>
            <a:r>
              <a:t/>
            </a:r>
            <a:endParaRPr b="0" i="0" sz="1100" u="none" cap="none" strike="noStrike">
              <a:solidFill>
                <a:srgbClr val="000000"/>
              </a:solidFill>
              <a:latin typeface="Montserrat"/>
              <a:ea typeface="Montserrat"/>
              <a:cs typeface="Montserrat"/>
              <a:sym typeface="Montserrat"/>
            </a:endParaRPr>
          </a:p>
          <a:p>
            <a:pPr indent="0" lvl="0" marL="0" marR="0" rtl="0" algn="l">
              <a:lnSpc>
                <a:spcPct val="115000"/>
              </a:lnSpc>
              <a:spcBef>
                <a:spcPts val="0"/>
              </a:spcBef>
              <a:spcAft>
                <a:spcPts val="0"/>
              </a:spcAft>
              <a:buClr>
                <a:srgbClr val="000000"/>
              </a:buClr>
              <a:buSzPts val="1100"/>
              <a:buFont typeface="Arial"/>
              <a:buNone/>
            </a:pPr>
            <a:r>
              <a:t/>
            </a:r>
            <a:endParaRPr b="0" i="0" sz="1100" u="none" cap="none" strike="noStrike">
              <a:solidFill>
                <a:srgbClr val="000000"/>
              </a:solidFill>
              <a:latin typeface="Montserrat"/>
              <a:ea typeface="Montserrat"/>
              <a:cs typeface="Montserrat"/>
              <a:sym typeface="Montserrat"/>
            </a:endParaRPr>
          </a:p>
          <a:p>
            <a:pPr indent="0" lvl="0" marL="0" marR="0" rtl="0" algn="l">
              <a:lnSpc>
                <a:spcPct val="115000"/>
              </a:lnSpc>
              <a:spcBef>
                <a:spcPts val="0"/>
              </a:spcBef>
              <a:spcAft>
                <a:spcPts val="0"/>
              </a:spcAft>
              <a:buClr>
                <a:srgbClr val="000000"/>
              </a:buClr>
              <a:buSzPts val="1100"/>
              <a:buFont typeface="Arial"/>
              <a:buNone/>
            </a:pPr>
            <a:r>
              <a:t/>
            </a:r>
            <a:endParaRPr b="0" i="0" sz="1100" u="none" cap="none" strike="noStrike">
              <a:solidFill>
                <a:srgbClr val="000000"/>
              </a:solidFill>
              <a:latin typeface="Montserrat"/>
              <a:ea typeface="Montserrat"/>
              <a:cs typeface="Montserrat"/>
              <a:sym typeface="Montserrat"/>
            </a:endParaRPr>
          </a:p>
          <a:p>
            <a:pPr indent="0" lvl="0" marL="457200" marR="0" rtl="0" algn="l">
              <a:lnSpc>
                <a:spcPct val="115000"/>
              </a:lnSpc>
              <a:spcBef>
                <a:spcPts val="0"/>
              </a:spcBef>
              <a:spcAft>
                <a:spcPts val="0"/>
              </a:spcAft>
              <a:buClr>
                <a:srgbClr val="000000"/>
              </a:buClr>
              <a:buSzPts val="1100"/>
              <a:buFont typeface="Arial"/>
              <a:buNone/>
            </a:pPr>
            <a:r>
              <a:t/>
            </a:r>
            <a:endParaRPr b="0" i="0" sz="1100" u="none" cap="none" strike="noStrike">
              <a:solidFill>
                <a:srgbClr val="000000"/>
              </a:solidFill>
              <a:latin typeface="Montserrat"/>
              <a:ea typeface="Montserrat"/>
              <a:cs typeface="Montserrat"/>
              <a:sym typeface="Montserrat"/>
            </a:endParaRPr>
          </a:p>
          <a:p>
            <a:pPr indent="0" lvl="0" marL="0" marR="0" rtl="0" algn="l">
              <a:lnSpc>
                <a:spcPct val="115000"/>
              </a:lnSpc>
              <a:spcBef>
                <a:spcPts val="0"/>
              </a:spcBef>
              <a:spcAft>
                <a:spcPts val="0"/>
              </a:spcAft>
              <a:buClr>
                <a:srgbClr val="000000"/>
              </a:buClr>
              <a:buSzPts val="1100"/>
              <a:buFont typeface="Arial"/>
              <a:buNone/>
            </a:pPr>
            <a:r>
              <a:t/>
            </a:r>
            <a:endParaRPr b="0" i="0" sz="1100" u="none" cap="none" strike="noStrike">
              <a:solidFill>
                <a:srgbClr val="000000"/>
              </a:solidFill>
              <a:latin typeface="Montserrat"/>
              <a:ea typeface="Montserrat"/>
              <a:cs typeface="Montserrat"/>
              <a:sym typeface="Montserrat"/>
            </a:endParaRPr>
          </a:p>
          <a:p>
            <a:pPr indent="0" lvl="0" marL="0" marR="0" rtl="0" algn="l">
              <a:lnSpc>
                <a:spcPct val="115000"/>
              </a:lnSpc>
              <a:spcBef>
                <a:spcPts val="0"/>
              </a:spcBef>
              <a:spcAft>
                <a:spcPts val="0"/>
              </a:spcAft>
              <a:buClr>
                <a:srgbClr val="000000"/>
              </a:buClr>
              <a:buSzPts val="1100"/>
              <a:buFont typeface="Arial"/>
              <a:buNone/>
            </a:pPr>
            <a:r>
              <a:t/>
            </a:r>
            <a:endParaRPr b="0" i="0" sz="1100" u="none" cap="none" strike="noStrike">
              <a:solidFill>
                <a:srgbClr val="000000"/>
              </a:solidFill>
              <a:latin typeface="Montserrat"/>
              <a:ea typeface="Montserrat"/>
              <a:cs typeface="Montserrat"/>
              <a:sym typeface="Montserrat"/>
            </a:endParaRPr>
          </a:p>
        </p:txBody>
      </p:sp>
      <p:cxnSp>
        <p:nvCxnSpPr>
          <p:cNvPr id="572" name="Google Shape;572;p21"/>
          <p:cNvCxnSpPr/>
          <p:nvPr/>
        </p:nvCxnSpPr>
        <p:spPr>
          <a:xfrm>
            <a:off x="4677324" y="858123"/>
            <a:ext cx="0" cy="3697500"/>
          </a:xfrm>
          <a:prstGeom prst="straightConnector1">
            <a:avLst/>
          </a:prstGeom>
          <a:noFill/>
          <a:ln cap="flat" cmpd="sng" w="19050">
            <a:solidFill>
              <a:srgbClr val="D41883"/>
            </a:solidFill>
            <a:prstDash val="solid"/>
            <a:round/>
            <a:headEnd len="sm" w="sm" type="none"/>
            <a:tailEnd len="sm" w="sm" type="none"/>
          </a:ln>
        </p:spPr>
      </p:cxnSp>
      <p:sp>
        <p:nvSpPr>
          <p:cNvPr id="573" name="Google Shape;573;p21"/>
          <p:cNvSpPr txBox="1"/>
          <p:nvPr/>
        </p:nvSpPr>
        <p:spPr>
          <a:xfrm>
            <a:off x="554448" y="989025"/>
            <a:ext cx="3423000" cy="3540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100"/>
              <a:buFont typeface="Arial"/>
              <a:buNone/>
            </a:pPr>
            <a:r>
              <a:rPr b="1" i="0" lang="en" sz="1100" u="none" cap="none" strike="noStrike">
                <a:solidFill>
                  <a:srgbClr val="12519C"/>
                </a:solidFill>
                <a:latin typeface="Montserrat"/>
                <a:ea typeface="Montserrat"/>
                <a:cs typeface="Montserrat"/>
                <a:sym typeface="Montserrat"/>
              </a:rPr>
              <a:t>Fixed Price Fixed Scope Engagement</a:t>
            </a:r>
            <a:endParaRPr b="0" i="0" sz="1100" u="none" cap="none" strike="noStrike">
              <a:solidFill>
                <a:srgbClr val="12519C"/>
              </a:solidFill>
              <a:latin typeface="Montserrat"/>
              <a:ea typeface="Montserrat"/>
              <a:cs typeface="Montserrat"/>
              <a:sym typeface="Montserrat"/>
            </a:endParaRPr>
          </a:p>
        </p:txBody>
      </p:sp>
      <p:sp>
        <p:nvSpPr>
          <p:cNvPr id="574" name="Google Shape;574;p21"/>
          <p:cNvSpPr txBox="1"/>
          <p:nvPr/>
        </p:nvSpPr>
        <p:spPr>
          <a:xfrm>
            <a:off x="5322463" y="989017"/>
            <a:ext cx="2638200" cy="3540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100"/>
              <a:buFont typeface="Arial"/>
              <a:buNone/>
            </a:pPr>
            <a:r>
              <a:rPr b="1" i="0" lang="en" sz="1100" u="none" cap="none" strike="noStrike">
                <a:solidFill>
                  <a:srgbClr val="12519C"/>
                </a:solidFill>
                <a:latin typeface="Montserrat"/>
                <a:ea typeface="Montserrat"/>
                <a:cs typeface="Montserrat"/>
                <a:sym typeface="Montserrat"/>
              </a:rPr>
              <a:t>Commercial Summary</a:t>
            </a:r>
            <a:endParaRPr b="0" i="0" sz="1100" u="none" cap="none" strike="noStrike">
              <a:solidFill>
                <a:srgbClr val="12519C"/>
              </a:solidFill>
              <a:latin typeface="Montserrat"/>
              <a:ea typeface="Montserrat"/>
              <a:cs typeface="Montserrat"/>
              <a:sym typeface="Montserrat"/>
            </a:endParaRPr>
          </a:p>
        </p:txBody>
      </p:sp>
      <p:sp>
        <p:nvSpPr>
          <p:cNvPr id="575" name="Google Shape;575;p21"/>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sz="1000"/>
              <a:t>‹#›</a:t>
            </a:fld>
            <a:endParaRPr sz="1000"/>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9" name="Shape 579"/>
        <p:cNvGrpSpPr/>
        <p:nvPr/>
      </p:nvGrpSpPr>
      <p:grpSpPr>
        <a:xfrm>
          <a:off x="0" y="0"/>
          <a:ext cx="0" cy="0"/>
          <a:chOff x="0" y="0"/>
          <a:chExt cx="0" cy="0"/>
        </a:xfrm>
      </p:grpSpPr>
      <p:sp>
        <p:nvSpPr>
          <p:cNvPr id="580" name="Google Shape;580;p22"/>
          <p:cNvSpPr txBox="1"/>
          <p:nvPr/>
        </p:nvSpPr>
        <p:spPr>
          <a:xfrm>
            <a:off x="105040" y="143994"/>
            <a:ext cx="6765900" cy="3573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1" i="0" lang="en" sz="2000" u="none" cap="none" strike="noStrike">
                <a:solidFill>
                  <a:schemeClr val="dk1"/>
                </a:solidFill>
                <a:latin typeface="Montserrat"/>
                <a:ea typeface="Montserrat"/>
                <a:cs typeface="Montserrat"/>
                <a:sym typeface="Montserrat"/>
              </a:rPr>
              <a:t>Payment Milestones</a:t>
            </a:r>
            <a:endParaRPr b="1" i="0" sz="2000" u="none" cap="none" strike="noStrike">
              <a:solidFill>
                <a:schemeClr val="dk1"/>
              </a:solidFill>
              <a:latin typeface="Montserrat"/>
              <a:ea typeface="Montserrat"/>
              <a:cs typeface="Montserrat"/>
              <a:sym typeface="Montserrat"/>
            </a:endParaRPr>
          </a:p>
        </p:txBody>
      </p:sp>
      <p:graphicFrame>
        <p:nvGraphicFramePr>
          <p:cNvPr id="581" name="Google Shape;581;p22"/>
          <p:cNvGraphicFramePr/>
          <p:nvPr/>
        </p:nvGraphicFramePr>
        <p:xfrm>
          <a:off x="450100" y="877425"/>
          <a:ext cx="3000000" cy="3000000"/>
        </p:xfrm>
        <a:graphic>
          <a:graphicData uri="http://schemas.openxmlformats.org/drawingml/2006/table">
            <a:tbl>
              <a:tblPr>
                <a:noFill/>
                <a:tableStyleId>{D3CB79B0-8641-4349-AAA0-2024F650DA97}</a:tableStyleId>
              </a:tblPr>
              <a:tblGrid>
                <a:gridCol w="3532775"/>
                <a:gridCol w="2286950"/>
                <a:gridCol w="2286950"/>
              </a:tblGrid>
              <a:tr h="330475">
                <a:tc gridSpan="2">
                  <a:txBody>
                    <a:bodyPr/>
                    <a:lstStyle/>
                    <a:p>
                      <a:pPr indent="0" lvl="0" marL="0" marR="0" rtl="0" algn="ctr">
                        <a:lnSpc>
                          <a:spcPct val="100000"/>
                        </a:lnSpc>
                        <a:spcBef>
                          <a:spcPts val="0"/>
                        </a:spcBef>
                        <a:spcAft>
                          <a:spcPts val="0"/>
                        </a:spcAft>
                        <a:buClr>
                          <a:srgbClr val="000000"/>
                        </a:buClr>
                        <a:buSzPts val="1100"/>
                        <a:buFont typeface="Arial"/>
                        <a:buNone/>
                      </a:pPr>
                      <a:r>
                        <a:rPr b="1" lang="en" sz="1100" u="none" cap="none" strike="noStrike">
                          <a:solidFill>
                            <a:schemeClr val="lt1"/>
                          </a:solidFill>
                          <a:latin typeface="Montserrat"/>
                          <a:ea typeface="Montserrat"/>
                          <a:cs typeface="Montserrat"/>
                          <a:sym typeface="Montserrat"/>
                        </a:rPr>
                        <a:t>Payment Milestones</a:t>
                      </a:r>
                      <a:endParaRPr b="1" sz="1100" u="none" cap="none" strike="noStrike">
                        <a:solidFill>
                          <a:schemeClr val="lt1"/>
                        </a:solidFill>
                        <a:latin typeface="Montserrat"/>
                        <a:ea typeface="Montserrat"/>
                        <a:cs typeface="Montserrat"/>
                        <a:sym typeface="Montserrat"/>
                      </a:endParaRPr>
                    </a:p>
                  </a:txBody>
                  <a:tcPr marT="63500" marB="63500" marR="63500" marL="635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D9D9D9"/>
                      </a:solidFill>
                      <a:prstDash val="solid"/>
                      <a:round/>
                      <a:headEnd len="sm" w="sm" type="none"/>
                      <a:tailEnd len="sm" w="sm" type="none"/>
                    </a:lnB>
                    <a:solidFill>
                      <a:schemeClr val="accent2"/>
                    </a:solidFill>
                  </a:tcPr>
                </a:tc>
                <a:tc hMerge="1"/>
                <a:tc>
                  <a:txBody>
                    <a:bodyPr/>
                    <a:lstStyle/>
                    <a:p>
                      <a:pPr indent="0" lvl="0" marL="0" marR="0" rtl="0" algn="ctr">
                        <a:lnSpc>
                          <a:spcPct val="100000"/>
                        </a:lnSpc>
                        <a:spcBef>
                          <a:spcPts val="0"/>
                        </a:spcBef>
                        <a:spcAft>
                          <a:spcPts val="0"/>
                        </a:spcAft>
                        <a:buClr>
                          <a:srgbClr val="000000"/>
                        </a:buClr>
                        <a:buSzPts val="1100"/>
                        <a:buFont typeface="Arial"/>
                        <a:buNone/>
                      </a:pPr>
                      <a:r>
                        <a:rPr b="1" lang="en" sz="1100" u="none" cap="none" strike="noStrike">
                          <a:solidFill>
                            <a:schemeClr val="lt1"/>
                          </a:solidFill>
                          <a:latin typeface="Montserrat"/>
                          <a:ea typeface="Montserrat"/>
                          <a:cs typeface="Montserrat"/>
                          <a:sym typeface="Montserrat"/>
                        </a:rPr>
                        <a:t>Cost in AUD</a:t>
                      </a:r>
                      <a:endParaRPr b="1" sz="1100" u="none" cap="none" strike="noStrike">
                        <a:solidFill>
                          <a:schemeClr val="lt1"/>
                        </a:solidFill>
                        <a:latin typeface="Montserrat"/>
                        <a:ea typeface="Montserrat"/>
                        <a:cs typeface="Montserrat"/>
                        <a:sym typeface="Montserrat"/>
                      </a:endParaRPr>
                    </a:p>
                  </a:txBody>
                  <a:tcPr marT="63500" marB="63500" marR="63500" marL="635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accent2"/>
                    </a:solidFill>
                  </a:tcPr>
                </a:tc>
              </a:tr>
              <a:tr h="417825">
                <a:tc>
                  <a:txBody>
                    <a:bodyPr/>
                    <a:lstStyle/>
                    <a:p>
                      <a:pPr indent="0" lvl="0" marL="0" marR="0" rtl="0" algn="l">
                        <a:lnSpc>
                          <a:spcPct val="100000"/>
                        </a:lnSpc>
                        <a:spcBef>
                          <a:spcPts val="0"/>
                        </a:spcBef>
                        <a:spcAft>
                          <a:spcPts val="0"/>
                        </a:spcAft>
                        <a:buClr>
                          <a:srgbClr val="000000"/>
                        </a:buClr>
                        <a:buSzPts val="1100"/>
                        <a:buFont typeface="Arial"/>
                        <a:buNone/>
                      </a:pPr>
                      <a:r>
                        <a:rPr lang="en" sz="1100" u="none" cap="none" strike="noStrike">
                          <a:latin typeface="Montserrat"/>
                          <a:ea typeface="Montserrat"/>
                          <a:cs typeface="Montserrat"/>
                          <a:sym typeface="Montserrat"/>
                        </a:rPr>
                        <a:t>Kickoff</a:t>
                      </a:r>
                      <a:endParaRPr sz="1100" u="none" cap="none" strike="noStrike">
                        <a:latin typeface="Montserrat"/>
                        <a:ea typeface="Montserrat"/>
                        <a:cs typeface="Montserrat"/>
                        <a:sym typeface="Montserrat"/>
                      </a:endParaRPr>
                    </a:p>
                  </a:txBody>
                  <a:tcPr marT="19050" marB="19050" marR="28575" marL="91425"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100"/>
                        <a:buFont typeface="Arial"/>
                        <a:buNone/>
                      </a:pPr>
                      <a:r>
                        <a:rPr lang="en" sz="1100" u="none" cap="none" strike="noStrike">
                          <a:latin typeface="Montserrat"/>
                          <a:ea typeface="Montserrat"/>
                          <a:cs typeface="Montserrat"/>
                          <a:sym typeface="Montserrat"/>
                        </a:rPr>
                        <a:t>10% of total cost</a:t>
                      </a:r>
                      <a:endParaRPr sz="1100" u="none" cap="none" strike="noStrike">
                        <a:latin typeface="Montserrat"/>
                        <a:ea typeface="Montserrat"/>
                        <a:cs typeface="Montserrat"/>
                        <a:sym typeface="Montserrat"/>
                      </a:endParaRPr>
                    </a:p>
                  </a:txBody>
                  <a:tcPr marT="19050" marB="19050" marR="28575" marL="28575" anchor="ctr">
                    <a:lnL cap="flat" cmpd="sng" w="9525">
                      <a:solidFill>
                        <a:srgbClr val="D9D9D9"/>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100"/>
                        <a:buFont typeface="Arial"/>
                        <a:buNone/>
                      </a:pPr>
                      <a:r>
                        <a:rPr lang="en" sz="1100" u="none" cap="none" strike="noStrike">
                          <a:latin typeface="Montserrat"/>
                          <a:ea typeface="Montserrat"/>
                          <a:cs typeface="Montserrat"/>
                          <a:sym typeface="Montserrat"/>
                        </a:rPr>
                        <a:t> AUD </a:t>
                      </a:r>
                      <a:r>
                        <a:rPr lang="en" sz="1100">
                          <a:latin typeface="Montserrat"/>
                          <a:ea typeface="Montserrat"/>
                          <a:cs typeface="Montserrat"/>
                          <a:sym typeface="Montserrat"/>
                        </a:rPr>
                        <a:t>8</a:t>
                      </a:r>
                      <a:r>
                        <a:rPr lang="en" sz="1100" u="none" cap="none" strike="noStrike">
                          <a:latin typeface="Montserrat"/>
                          <a:ea typeface="Montserrat"/>
                          <a:cs typeface="Montserrat"/>
                          <a:sym typeface="Montserrat"/>
                        </a:rPr>
                        <a:t>,473</a:t>
                      </a:r>
                      <a:endParaRPr sz="1100" u="none" cap="none" strike="noStrike">
                        <a:latin typeface="Montserrat"/>
                        <a:ea typeface="Montserrat"/>
                        <a:cs typeface="Montserrat"/>
                        <a:sym typeface="Montserrat"/>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417825">
                <a:tc>
                  <a:txBody>
                    <a:bodyPr/>
                    <a:lstStyle/>
                    <a:p>
                      <a:pPr indent="0" lvl="0" marL="0" marR="0" rtl="0" algn="l">
                        <a:lnSpc>
                          <a:spcPct val="100000"/>
                        </a:lnSpc>
                        <a:spcBef>
                          <a:spcPts val="0"/>
                        </a:spcBef>
                        <a:spcAft>
                          <a:spcPts val="0"/>
                        </a:spcAft>
                        <a:buClr>
                          <a:srgbClr val="000000"/>
                        </a:buClr>
                        <a:buSzPts val="1100"/>
                        <a:buFont typeface="Arial"/>
                        <a:buNone/>
                      </a:pPr>
                      <a:r>
                        <a:rPr lang="en" sz="1100" u="none" cap="none" strike="noStrike">
                          <a:latin typeface="Montserrat"/>
                          <a:ea typeface="Montserrat"/>
                          <a:cs typeface="Montserrat"/>
                          <a:sym typeface="Montserrat"/>
                        </a:rPr>
                        <a:t>Discovery Phase ( 2 Weeks) Sign off</a:t>
                      </a:r>
                      <a:endParaRPr b="1" sz="1100" u="none" cap="none" strike="noStrike">
                        <a:solidFill>
                          <a:schemeClr val="lt1"/>
                        </a:solidFill>
                        <a:latin typeface="Montserrat"/>
                        <a:ea typeface="Montserrat"/>
                        <a:cs typeface="Montserrat"/>
                        <a:sym typeface="Montserrat"/>
                      </a:endParaRPr>
                    </a:p>
                  </a:txBody>
                  <a:tcPr marT="19050" marB="19050" marR="28575" marL="91425"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100"/>
                        <a:buFont typeface="Arial"/>
                        <a:buNone/>
                      </a:pPr>
                      <a:r>
                        <a:rPr lang="en" sz="1100" u="none" cap="none" strike="noStrike">
                          <a:solidFill>
                            <a:schemeClr val="dk1"/>
                          </a:solidFill>
                          <a:latin typeface="Montserrat"/>
                          <a:ea typeface="Montserrat"/>
                          <a:cs typeface="Montserrat"/>
                          <a:sym typeface="Montserrat"/>
                        </a:rPr>
                        <a:t>10% of total cost</a:t>
                      </a:r>
                      <a:endParaRPr sz="1100" u="none" cap="none" strike="noStrike">
                        <a:latin typeface="Montserrat"/>
                        <a:ea typeface="Montserrat"/>
                        <a:cs typeface="Montserrat"/>
                        <a:sym typeface="Montserrat"/>
                      </a:endParaRPr>
                    </a:p>
                  </a:txBody>
                  <a:tcPr marT="19050" marB="19050" marR="28575" marL="28575" anchor="ctr">
                    <a:lnL cap="flat" cmpd="sng" w="9525">
                      <a:solidFill>
                        <a:srgbClr val="D9D9D9"/>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100"/>
                        <a:buFont typeface="Arial"/>
                        <a:buNone/>
                      </a:pPr>
                      <a:r>
                        <a:rPr lang="en" sz="1100" u="none" cap="none" strike="noStrike">
                          <a:latin typeface="Montserrat"/>
                          <a:ea typeface="Montserrat"/>
                          <a:cs typeface="Montserrat"/>
                          <a:sym typeface="Montserrat"/>
                        </a:rPr>
                        <a:t>AUD </a:t>
                      </a:r>
                      <a:r>
                        <a:rPr lang="en" sz="1100">
                          <a:latin typeface="Montserrat"/>
                          <a:ea typeface="Montserrat"/>
                          <a:cs typeface="Montserrat"/>
                          <a:sym typeface="Montserrat"/>
                        </a:rPr>
                        <a:t>8</a:t>
                      </a:r>
                      <a:r>
                        <a:rPr lang="en" sz="1100" u="none" cap="none" strike="noStrike">
                          <a:latin typeface="Montserrat"/>
                          <a:ea typeface="Montserrat"/>
                          <a:cs typeface="Montserrat"/>
                          <a:sym typeface="Montserrat"/>
                        </a:rPr>
                        <a:t>,473</a:t>
                      </a:r>
                      <a:endParaRPr sz="1100" u="none" cap="none" strike="noStrike">
                        <a:latin typeface="Montserrat"/>
                        <a:ea typeface="Montserrat"/>
                        <a:cs typeface="Montserrat"/>
                        <a:sym typeface="Montserrat"/>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417825">
                <a:tc>
                  <a:txBody>
                    <a:bodyPr/>
                    <a:lstStyle/>
                    <a:p>
                      <a:pPr indent="0" lvl="0" marL="0" marR="0" rtl="0" algn="l">
                        <a:lnSpc>
                          <a:spcPct val="100000"/>
                        </a:lnSpc>
                        <a:spcBef>
                          <a:spcPts val="0"/>
                        </a:spcBef>
                        <a:spcAft>
                          <a:spcPts val="0"/>
                        </a:spcAft>
                        <a:buClr>
                          <a:srgbClr val="000000"/>
                        </a:buClr>
                        <a:buSzPts val="1100"/>
                        <a:buFont typeface="Arial"/>
                        <a:buNone/>
                      </a:pPr>
                      <a:r>
                        <a:rPr lang="en" sz="1100" u="none" cap="none" strike="noStrike">
                          <a:latin typeface="Montserrat"/>
                          <a:ea typeface="Montserrat"/>
                          <a:cs typeface="Montserrat"/>
                          <a:sym typeface="Montserrat"/>
                        </a:rPr>
                        <a:t>Week 6 Completion</a:t>
                      </a:r>
                      <a:endParaRPr b="1" sz="1100" u="none" cap="none" strike="noStrike">
                        <a:solidFill>
                          <a:schemeClr val="lt1"/>
                        </a:solidFill>
                        <a:latin typeface="Montserrat"/>
                        <a:ea typeface="Montserrat"/>
                        <a:cs typeface="Montserrat"/>
                        <a:sym typeface="Montserrat"/>
                      </a:endParaRPr>
                    </a:p>
                  </a:txBody>
                  <a:tcPr marT="19050" marB="19050" marR="28575" marL="91425"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100"/>
                        <a:buFont typeface="Arial"/>
                        <a:buNone/>
                      </a:pPr>
                      <a:r>
                        <a:rPr lang="en" sz="1100" u="none" cap="none" strike="noStrike">
                          <a:solidFill>
                            <a:schemeClr val="dk1"/>
                          </a:solidFill>
                          <a:latin typeface="Montserrat"/>
                          <a:ea typeface="Montserrat"/>
                          <a:cs typeface="Montserrat"/>
                          <a:sym typeface="Montserrat"/>
                        </a:rPr>
                        <a:t>25% of total cost</a:t>
                      </a:r>
                      <a:endParaRPr sz="1100" u="none" cap="none" strike="noStrike">
                        <a:latin typeface="Montserrat"/>
                        <a:ea typeface="Montserrat"/>
                        <a:cs typeface="Montserrat"/>
                        <a:sym typeface="Montserrat"/>
                      </a:endParaRPr>
                    </a:p>
                  </a:txBody>
                  <a:tcPr marT="19050" marB="19050" marR="28575" marL="28575" anchor="ctr">
                    <a:lnL cap="flat" cmpd="sng" w="9525">
                      <a:solidFill>
                        <a:srgbClr val="D9D9D9"/>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100"/>
                        <a:buFont typeface="Arial"/>
                        <a:buNone/>
                      </a:pPr>
                      <a:r>
                        <a:rPr lang="en" sz="1100" u="none" cap="none" strike="noStrike">
                          <a:latin typeface="Montserrat"/>
                          <a:ea typeface="Montserrat"/>
                          <a:cs typeface="Montserrat"/>
                          <a:sym typeface="Montserrat"/>
                        </a:rPr>
                        <a:t>AUD 2</a:t>
                      </a:r>
                      <a:r>
                        <a:rPr lang="en" sz="1100">
                          <a:latin typeface="Montserrat"/>
                          <a:ea typeface="Montserrat"/>
                          <a:cs typeface="Montserrat"/>
                          <a:sym typeface="Montserrat"/>
                        </a:rPr>
                        <a:t>1</a:t>
                      </a:r>
                      <a:r>
                        <a:rPr lang="en" sz="1100" u="none" cap="none" strike="noStrike">
                          <a:latin typeface="Montserrat"/>
                          <a:ea typeface="Montserrat"/>
                          <a:cs typeface="Montserrat"/>
                          <a:sym typeface="Montserrat"/>
                        </a:rPr>
                        <a:t>,682</a:t>
                      </a:r>
                      <a:endParaRPr sz="1100" u="none" cap="none" strike="noStrike">
                        <a:latin typeface="Montserrat"/>
                        <a:ea typeface="Montserrat"/>
                        <a:cs typeface="Montserrat"/>
                        <a:sym typeface="Montserrat"/>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417825">
                <a:tc>
                  <a:txBody>
                    <a:bodyPr/>
                    <a:lstStyle/>
                    <a:p>
                      <a:pPr indent="0" lvl="0" marL="0" marR="0" rtl="0" algn="l">
                        <a:lnSpc>
                          <a:spcPct val="100000"/>
                        </a:lnSpc>
                        <a:spcBef>
                          <a:spcPts val="0"/>
                        </a:spcBef>
                        <a:spcAft>
                          <a:spcPts val="0"/>
                        </a:spcAft>
                        <a:buClr>
                          <a:srgbClr val="000000"/>
                        </a:buClr>
                        <a:buSzPts val="1100"/>
                        <a:buFont typeface="Arial"/>
                        <a:buNone/>
                      </a:pPr>
                      <a:r>
                        <a:rPr lang="en" sz="1100" u="none" cap="none" strike="noStrike">
                          <a:latin typeface="Montserrat"/>
                          <a:ea typeface="Montserrat"/>
                          <a:cs typeface="Montserrat"/>
                          <a:sym typeface="Montserrat"/>
                        </a:rPr>
                        <a:t>Week 10 Completion</a:t>
                      </a:r>
                      <a:endParaRPr b="1" sz="1100" u="none" cap="none" strike="noStrike">
                        <a:solidFill>
                          <a:schemeClr val="lt1"/>
                        </a:solidFill>
                        <a:latin typeface="Montserrat"/>
                        <a:ea typeface="Montserrat"/>
                        <a:cs typeface="Montserrat"/>
                        <a:sym typeface="Montserrat"/>
                      </a:endParaRPr>
                    </a:p>
                  </a:txBody>
                  <a:tcPr marT="19050" marB="19050" marR="28575" marL="91425"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100"/>
                        <a:buFont typeface="Arial"/>
                        <a:buNone/>
                      </a:pPr>
                      <a:r>
                        <a:rPr lang="en" sz="1100" u="none" cap="none" strike="noStrike">
                          <a:solidFill>
                            <a:schemeClr val="dk1"/>
                          </a:solidFill>
                          <a:latin typeface="Montserrat"/>
                          <a:ea typeface="Montserrat"/>
                          <a:cs typeface="Montserrat"/>
                          <a:sym typeface="Montserrat"/>
                        </a:rPr>
                        <a:t>30% of total cost</a:t>
                      </a:r>
                      <a:endParaRPr sz="1100" u="none" cap="none" strike="noStrike">
                        <a:latin typeface="Montserrat"/>
                        <a:ea typeface="Montserrat"/>
                        <a:cs typeface="Montserrat"/>
                        <a:sym typeface="Montserrat"/>
                      </a:endParaRPr>
                    </a:p>
                  </a:txBody>
                  <a:tcPr marT="19050" marB="19050" marR="28575" marL="28575" anchor="ctr">
                    <a:lnL cap="flat" cmpd="sng" w="9525">
                      <a:solidFill>
                        <a:srgbClr val="D9D9D9"/>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100"/>
                        <a:buFont typeface="Arial"/>
                        <a:buNone/>
                      </a:pPr>
                      <a:r>
                        <a:rPr lang="en" sz="1100" u="none" cap="none" strike="noStrike">
                          <a:latin typeface="Montserrat"/>
                          <a:ea typeface="Montserrat"/>
                          <a:cs typeface="Montserrat"/>
                          <a:sym typeface="Montserrat"/>
                        </a:rPr>
                        <a:t>AUD 2</a:t>
                      </a:r>
                      <a:r>
                        <a:rPr lang="en" sz="1100">
                          <a:latin typeface="Montserrat"/>
                          <a:ea typeface="Montserrat"/>
                          <a:cs typeface="Montserrat"/>
                          <a:sym typeface="Montserrat"/>
                        </a:rPr>
                        <a:t>7</a:t>
                      </a:r>
                      <a:r>
                        <a:rPr lang="en" sz="1100" u="none" cap="none" strike="noStrike">
                          <a:latin typeface="Montserrat"/>
                          <a:ea typeface="Montserrat"/>
                          <a:cs typeface="Montserrat"/>
                          <a:sym typeface="Montserrat"/>
                        </a:rPr>
                        <a:t>,418</a:t>
                      </a:r>
                      <a:endParaRPr sz="1100" u="none" cap="none" strike="noStrike">
                        <a:latin typeface="Montserrat"/>
                        <a:ea typeface="Montserrat"/>
                        <a:cs typeface="Montserrat"/>
                        <a:sym typeface="Montserrat"/>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417825">
                <a:tc>
                  <a:txBody>
                    <a:bodyPr/>
                    <a:lstStyle/>
                    <a:p>
                      <a:pPr indent="0" lvl="0" marL="0" marR="0" rtl="0" algn="l">
                        <a:lnSpc>
                          <a:spcPct val="100000"/>
                        </a:lnSpc>
                        <a:spcBef>
                          <a:spcPts val="0"/>
                        </a:spcBef>
                        <a:spcAft>
                          <a:spcPts val="0"/>
                        </a:spcAft>
                        <a:buClr>
                          <a:srgbClr val="000000"/>
                        </a:buClr>
                        <a:buSzPts val="1100"/>
                        <a:buFont typeface="Arial"/>
                        <a:buNone/>
                      </a:pPr>
                      <a:r>
                        <a:rPr lang="en" sz="1100" u="none" cap="none" strike="noStrike">
                          <a:latin typeface="Montserrat"/>
                          <a:ea typeface="Montserrat"/>
                          <a:cs typeface="Montserrat"/>
                          <a:sym typeface="Montserrat"/>
                        </a:rPr>
                        <a:t>UAT Sign off</a:t>
                      </a:r>
                      <a:endParaRPr b="1" sz="1100" u="none" cap="none" strike="noStrike">
                        <a:solidFill>
                          <a:srgbClr val="000000"/>
                        </a:solidFill>
                        <a:latin typeface="Montserrat"/>
                        <a:ea typeface="Montserrat"/>
                        <a:cs typeface="Montserrat"/>
                        <a:sym typeface="Montserrat"/>
                      </a:endParaRPr>
                    </a:p>
                  </a:txBody>
                  <a:tcPr marT="19050" marB="19050" marR="28575" marL="91425"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100"/>
                        <a:buFont typeface="Arial"/>
                        <a:buNone/>
                      </a:pPr>
                      <a:r>
                        <a:rPr lang="en" sz="1100" u="none" cap="none" strike="noStrike">
                          <a:solidFill>
                            <a:schemeClr val="dk1"/>
                          </a:solidFill>
                          <a:latin typeface="Montserrat"/>
                          <a:ea typeface="Montserrat"/>
                          <a:cs typeface="Montserrat"/>
                          <a:sym typeface="Montserrat"/>
                        </a:rPr>
                        <a:t>20% of total cost</a:t>
                      </a:r>
                      <a:endParaRPr sz="1100" u="none" cap="none" strike="noStrike">
                        <a:latin typeface="Montserrat"/>
                        <a:ea typeface="Montserrat"/>
                        <a:cs typeface="Montserrat"/>
                        <a:sym typeface="Montserrat"/>
                      </a:endParaRPr>
                    </a:p>
                  </a:txBody>
                  <a:tcPr marT="19050" marB="19050" marR="28575" marL="28575" anchor="ctr">
                    <a:lnL cap="flat" cmpd="sng" w="9525">
                      <a:solidFill>
                        <a:srgbClr val="D9D9D9"/>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100"/>
                        <a:buFont typeface="Arial"/>
                        <a:buNone/>
                      </a:pPr>
                      <a:r>
                        <a:rPr lang="en" sz="1100" u="none" cap="none" strike="noStrike">
                          <a:latin typeface="Montserrat"/>
                          <a:ea typeface="Montserrat"/>
                          <a:cs typeface="Montserrat"/>
                          <a:sym typeface="Montserrat"/>
                        </a:rPr>
                        <a:t>AUD 1</a:t>
                      </a:r>
                      <a:r>
                        <a:rPr lang="en" sz="1100">
                          <a:latin typeface="Montserrat"/>
                          <a:ea typeface="Montserrat"/>
                          <a:cs typeface="Montserrat"/>
                          <a:sym typeface="Montserrat"/>
                        </a:rPr>
                        <a:t>7</a:t>
                      </a:r>
                      <a:r>
                        <a:rPr lang="en" sz="1100" u="none" cap="none" strike="noStrike">
                          <a:latin typeface="Montserrat"/>
                          <a:ea typeface="Montserrat"/>
                          <a:cs typeface="Montserrat"/>
                          <a:sym typeface="Montserrat"/>
                        </a:rPr>
                        <a:t>,945</a:t>
                      </a:r>
                      <a:endParaRPr sz="1100" u="none" cap="none" strike="noStrike">
                        <a:latin typeface="Montserrat"/>
                        <a:ea typeface="Montserrat"/>
                        <a:cs typeface="Montserrat"/>
                        <a:sym typeface="Montserrat"/>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417825">
                <a:tc>
                  <a:txBody>
                    <a:bodyPr/>
                    <a:lstStyle/>
                    <a:p>
                      <a:pPr indent="0" lvl="0" marL="0" marR="0" rtl="0" algn="l">
                        <a:lnSpc>
                          <a:spcPct val="100000"/>
                        </a:lnSpc>
                        <a:spcBef>
                          <a:spcPts val="0"/>
                        </a:spcBef>
                        <a:spcAft>
                          <a:spcPts val="0"/>
                        </a:spcAft>
                        <a:buClr>
                          <a:srgbClr val="000000"/>
                        </a:buClr>
                        <a:buSzPts val="1100"/>
                        <a:buFont typeface="Arial"/>
                        <a:buNone/>
                      </a:pPr>
                      <a:r>
                        <a:rPr lang="en" sz="1100" u="none" cap="none" strike="noStrike">
                          <a:latin typeface="Montserrat"/>
                          <a:ea typeface="Montserrat"/>
                          <a:cs typeface="Montserrat"/>
                          <a:sym typeface="Montserrat"/>
                        </a:rPr>
                        <a:t>Project Go-live</a:t>
                      </a:r>
                      <a:endParaRPr sz="1100" u="none" cap="none" strike="noStrike">
                        <a:latin typeface="Montserrat"/>
                        <a:ea typeface="Montserrat"/>
                        <a:cs typeface="Montserrat"/>
                        <a:sym typeface="Montserrat"/>
                      </a:endParaRPr>
                    </a:p>
                  </a:txBody>
                  <a:tcPr marT="19050" marB="19050" marR="28575" marL="91425"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100"/>
                        <a:buFont typeface="Arial"/>
                        <a:buNone/>
                      </a:pPr>
                      <a:r>
                        <a:rPr lang="en" sz="1100" u="none" cap="none" strike="noStrike">
                          <a:solidFill>
                            <a:schemeClr val="dk1"/>
                          </a:solidFill>
                          <a:latin typeface="Montserrat"/>
                          <a:ea typeface="Montserrat"/>
                          <a:cs typeface="Montserrat"/>
                          <a:sym typeface="Montserrat"/>
                        </a:rPr>
                        <a:t>5% of total cost</a:t>
                      </a:r>
                      <a:endParaRPr sz="1100" u="none" cap="none" strike="noStrike">
                        <a:solidFill>
                          <a:schemeClr val="dk1"/>
                        </a:solidFill>
                        <a:latin typeface="Montserrat"/>
                        <a:ea typeface="Montserrat"/>
                        <a:cs typeface="Montserrat"/>
                        <a:sym typeface="Montserrat"/>
                      </a:endParaRPr>
                    </a:p>
                  </a:txBody>
                  <a:tcPr marT="19050" marB="19050" marR="28575" marL="28575" anchor="ctr">
                    <a:lnL cap="flat" cmpd="sng" w="9525">
                      <a:solidFill>
                        <a:srgbClr val="D9D9D9"/>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100"/>
                        <a:buFont typeface="Arial"/>
                        <a:buNone/>
                      </a:pPr>
                      <a:r>
                        <a:rPr lang="en" sz="1100" u="none" cap="none" strike="noStrike">
                          <a:latin typeface="Montserrat"/>
                          <a:ea typeface="Montserrat"/>
                          <a:cs typeface="Montserrat"/>
                          <a:sym typeface="Montserrat"/>
                        </a:rPr>
                        <a:t>AUD </a:t>
                      </a:r>
                      <a:r>
                        <a:rPr lang="en" sz="1100">
                          <a:latin typeface="Montserrat"/>
                          <a:ea typeface="Montserrat"/>
                          <a:cs typeface="Montserrat"/>
                          <a:sym typeface="Montserrat"/>
                        </a:rPr>
                        <a:t>3</a:t>
                      </a:r>
                      <a:r>
                        <a:rPr lang="en" sz="1100" u="none" cap="none" strike="noStrike">
                          <a:latin typeface="Montserrat"/>
                          <a:ea typeface="Montserrat"/>
                          <a:cs typeface="Montserrat"/>
                          <a:sym typeface="Montserrat"/>
                        </a:rPr>
                        <a:t>,736</a:t>
                      </a:r>
                      <a:endParaRPr sz="1100" u="none" cap="none" strike="noStrike">
                        <a:latin typeface="Montserrat"/>
                        <a:ea typeface="Montserrat"/>
                        <a:cs typeface="Montserrat"/>
                        <a:sym typeface="Montserrat"/>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417825">
                <a:tc>
                  <a:txBody>
                    <a:bodyPr/>
                    <a:lstStyle/>
                    <a:p>
                      <a:pPr indent="0" lvl="0" marL="0" marR="0" rtl="0" algn="l">
                        <a:lnSpc>
                          <a:spcPct val="100000"/>
                        </a:lnSpc>
                        <a:spcBef>
                          <a:spcPts val="0"/>
                        </a:spcBef>
                        <a:spcAft>
                          <a:spcPts val="0"/>
                        </a:spcAft>
                        <a:buClr>
                          <a:srgbClr val="000000"/>
                        </a:buClr>
                        <a:buSzPts val="1100"/>
                        <a:buFont typeface="Arial"/>
                        <a:buNone/>
                      </a:pPr>
                      <a:r>
                        <a:rPr lang="en" sz="1100" u="none" cap="none" strike="noStrike">
                          <a:latin typeface="Montserrat"/>
                          <a:ea typeface="Montserrat"/>
                          <a:cs typeface="Montserrat"/>
                          <a:sym typeface="Montserrat"/>
                        </a:rPr>
                        <a:t>Hypercare </a:t>
                      </a:r>
                      <a:endParaRPr sz="1100" u="none" cap="none" strike="noStrike">
                        <a:solidFill>
                          <a:schemeClr val="lt1"/>
                        </a:solidFill>
                        <a:latin typeface="Montserrat"/>
                        <a:ea typeface="Montserrat"/>
                        <a:cs typeface="Montserrat"/>
                        <a:sym typeface="Montserrat"/>
                      </a:endParaRPr>
                    </a:p>
                  </a:txBody>
                  <a:tcPr marT="19050" marB="19050" marR="28575" marL="914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100" u="none" cap="none" strike="noStrike">
                          <a:latin typeface="Montserrat"/>
                          <a:ea typeface="Montserrat"/>
                          <a:cs typeface="Montserrat"/>
                          <a:sym typeface="Montserrat"/>
                        </a:rPr>
                        <a:t>TTN Investment</a:t>
                      </a:r>
                      <a:endParaRPr sz="1100" u="none" cap="none" strike="noStrike">
                        <a:solidFill>
                          <a:schemeClr val="lt1"/>
                        </a:solidFill>
                        <a:latin typeface="Montserrat"/>
                        <a:ea typeface="Montserrat"/>
                        <a:cs typeface="Montserrat"/>
                        <a:sym typeface="Montserrat"/>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100"/>
                        <a:buFont typeface="Arial"/>
                        <a:buNone/>
                      </a:pPr>
                      <a:r>
                        <a:rPr lang="en" sz="1100" u="none" cap="none" strike="noStrike">
                          <a:latin typeface="Montserrat"/>
                          <a:ea typeface="Montserrat"/>
                          <a:cs typeface="Montserrat"/>
                          <a:sym typeface="Montserrat"/>
                        </a:rPr>
                        <a:t>0</a:t>
                      </a:r>
                      <a:endParaRPr sz="1100" u="none" cap="none" strike="noStrike">
                        <a:latin typeface="Montserrat"/>
                        <a:ea typeface="Montserrat"/>
                        <a:cs typeface="Montserrat"/>
                        <a:sym typeface="Montserrat"/>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417825">
                <a:tc gridSpan="2">
                  <a:txBody>
                    <a:bodyPr/>
                    <a:lstStyle/>
                    <a:p>
                      <a:pPr indent="0" lvl="0" marL="0" marR="0" rtl="0" algn="r">
                        <a:lnSpc>
                          <a:spcPct val="100000"/>
                        </a:lnSpc>
                        <a:spcBef>
                          <a:spcPts val="0"/>
                        </a:spcBef>
                        <a:spcAft>
                          <a:spcPts val="0"/>
                        </a:spcAft>
                        <a:buClr>
                          <a:srgbClr val="000000"/>
                        </a:buClr>
                        <a:buSzPts val="1100"/>
                        <a:buFont typeface="Arial"/>
                        <a:buNone/>
                      </a:pPr>
                      <a:r>
                        <a:rPr b="1" lang="en" sz="1100" u="none" cap="none" strike="noStrike">
                          <a:latin typeface="Montserrat"/>
                          <a:ea typeface="Montserrat"/>
                          <a:cs typeface="Montserrat"/>
                          <a:sym typeface="Montserrat"/>
                        </a:rPr>
                        <a:t>Total Cost</a:t>
                      </a:r>
                      <a:endParaRPr b="1" sz="1100" u="none" cap="none" strike="noStrike">
                        <a:latin typeface="Montserrat"/>
                        <a:ea typeface="Montserrat"/>
                        <a:cs typeface="Montserrat"/>
                        <a:sym typeface="Montserrat"/>
                      </a:endParaRPr>
                    </a:p>
                  </a:txBody>
                  <a:tcPr marT="19050" marB="19050" marR="28575" marL="914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CCCCCC"/>
                      </a:solidFill>
                      <a:prstDash val="solid"/>
                      <a:round/>
                      <a:headEnd len="sm" w="sm" type="none"/>
                      <a:tailEnd len="sm" w="sm" type="none"/>
                    </a:lnB>
                    <a:solidFill>
                      <a:srgbClr val="E7F2F8"/>
                    </a:solidFill>
                  </a:tcPr>
                </a:tc>
                <a:tc hMerge="1"/>
                <a:tc>
                  <a:txBody>
                    <a:bodyPr/>
                    <a:lstStyle/>
                    <a:p>
                      <a:pPr indent="0" lvl="0" marL="0" marR="0" rtl="0" algn="ctr">
                        <a:lnSpc>
                          <a:spcPct val="100000"/>
                        </a:lnSpc>
                        <a:spcBef>
                          <a:spcPts val="0"/>
                        </a:spcBef>
                        <a:spcAft>
                          <a:spcPts val="0"/>
                        </a:spcAft>
                        <a:buClr>
                          <a:srgbClr val="000000"/>
                        </a:buClr>
                        <a:buSzPts val="1100"/>
                        <a:buFont typeface="Arial"/>
                        <a:buNone/>
                      </a:pPr>
                      <a:r>
                        <a:rPr b="1" lang="en" sz="1100" u="none" cap="none" strike="noStrike">
                          <a:latin typeface="Montserrat"/>
                          <a:ea typeface="Montserrat"/>
                          <a:cs typeface="Montserrat"/>
                          <a:sym typeface="Montserrat"/>
                        </a:rPr>
                        <a:t>AUD </a:t>
                      </a:r>
                      <a:r>
                        <a:rPr b="1" lang="en" sz="1100">
                          <a:latin typeface="Montserrat"/>
                          <a:ea typeface="Montserrat"/>
                          <a:cs typeface="Montserrat"/>
                          <a:sym typeface="Montserrat"/>
                        </a:rPr>
                        <a:t>87</a:t>
                      </a:r>
                      <a:r>
                        <a:rPr b="1" lang="en" sz="1100" u="none" cap="none" strike="noStrike">
                          <a:latin typeface="Montserrat"/>
                          <a:ea typeface="Montserrat"/>
                          <a:cs typeface="Montserrat"/>
                          <a:sym typeface="Montserrat"/>
                        </a:rPr>
                        <a:t>,727</a:t>
                      </a:r>
                      <a:endParaRPr b="1" sz="1100" u="none" cap="none" strike="noStrike">
                        <a:latin typeface="Montserrat"/>
                        <a:ea typeface="Montserrat"/>
                        <a:cs typeface="Montserrat"/>
                        <a:sym typeface="Montserrat"/>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E7F2F8"/>
                    </a:solidFill>
                  </a:tcPr>
                </a:tc>
              </a:tr>
            </a:tbl>
          </a:graphicData>
        </a:graphic>
      </p:graphicFrame>
      <p:sp>
        <p:nvSpPr>
          <p:cNvPr id="582" name="Google Shape;582;p22"/>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sz="1000"/>
              <a:t>‹#›</a:t>
            </a:fld>
            <a:endParaRPr sz="1000"/>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6" name="Shape 586"/>
        <p:cNvGrpSpPr/>
        <p:nvPr/>
      </p:nvGrpSpPr>
      <p:grpSpPr>
        <a:xfrm>
          <a:off x="0" y="0"/>
          <a:ext cx="0" cy="0"/>
          <a:chOff x="0" y="0"/>
          <a:chExt cx="0" cy="0"/>
        </a:xfrm>
      </p:grpSpPr>
      <p:sp>
        <p:nvSpPr>
          <p:cNvPr id="587" name="Google Shape;587;p23"/>
          <p:cNvSpPr/>
          <p:nvPr/>
        </p:nvSpPr>
        <p:spPr>
          <a:xfrm>
            <a:off x="0" y="144000"/>
            <a:ext cx="47400" cy="3573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8" name="Google Shape;588;p23"/>
          <p:cNvSpPr txBox="1"/>
          <p:nvPr>
            <p:ph type="title"/>
          </p:nvPr>
        </p:nvSpPr>
        <p:spPr>
          <a:xfrm>
            <a:off x="104500" y="141850"/>
            <a:ext cx="6703800" cy="3573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000"/>
              <a:buNone/>
            </a:pPr>
            <a:r>
              <a:rPr lang="en"/>
              <a:t>Agenda</a:t>
            </a:r>
            <a:endParaRPr/>
          </a:p>
        </p:txBody>
      </p:sp>
      <p:sp>
        <p:nvSpPr>
          <p:cNvPr id="589" name="Google Shape;589;p23"/>
          <p:cNvSpPr/>
          <p:nvPr/>
        </p:nvSpPr>
        <p:spPr>
          <a:xfrm>
            <a:off x="1358763" y="1111025"/>
            <a:ext cx="6654600" cy="376800"/>
          </a:xfrm>
          <a:prstGeom prst="snip1Rect">
            <a:avLst>
              <a:gd fmla="val 35537"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200"/>
              <a:buFont typeface="Arial"/>
              <a:buNone/>
            </a:pPr>
            <a:r>
              <a:rPr b="0" i="0" lang="en" sz="1200" u="none" cap="none" strike="noStrike">
                <a:solidFill>
                  <a:srgbClr val="000000"/>
                </a:solidFill>
                <a:latin typeface="Montserrat"/>
                <a:ea typeface="Montserrat"/>
                <a:cs typeface="Montserrat"/>
                <a:sym typeface="Montserrat"/>
              </a:rPr>
              <a:t>Executive Summary and Our Understanding of Project Requirements</a:t>
            </a:r>
            <a:endParaRPr b="0" i="0" sz="1200" u="none" cap="none" strike="noStrike">
              <a:solidFill>
                <a:srgbClr val="000000"/>
              </a:solidFill>
              <a:latin typeface="Montserrat"/>
              <a:ea typeface="Montserrat"/>
              <a:cs typeface="Montserrat"/>
              <a:sym typeface="Montserrat"/>
            </a:endParaRPr>
          </a:p>
        </p:txBody>
      </p:sp>
      <p:sp>
        <p:nvSpPr>
          <p:cNvPr id="590" name="Google Shape;590;p23"/>
          <p:cNvSpPr/>
          <p:nvPr/>
        </p:nvSpPr>
        <p:spPr>
          <a:xfrm>
            <a:off x="1358763" y="1678410"/>
            <a:ext cx="6654600" cy="376800"/>
          </a:xfrm>
          <a:prstGeom prst="snip1Rect">
            <a:avLst>
              <a:gd fmla="val 35537"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200"/>
              <a:buFont typeface="Arial"/>
              <a:buNone/>
            </a:pPr>
            <a:r>
              <a:rPr b="0" i="0" lang="en" sz="1200" u="none" cap="none" strike="noStrike">
                <a:solidFill>
                  <a:srgbClr val="000000"/>
                </a:solidFill>
                <a:latin typeface="Montserrat"/>
                <a:ea typeface="Montserrat"/>
                <a:cs typeface="Montserrat"/>
                <a:sym typeface="Montserrat"/>
              </a:rPr>
              <a:t>Proposed Technical Solution Approach</a:t>
            </a:r>
            <a:endParaRPr b="0" i="0" sz="1200" u="none" cap="none" strike="noStrike">
              <a:solidFill>
                <a:srgbClr val="000000"/>
              </a:solidFill>
              <a:latin typeface="Montserrat"/>
              <a:ea typeface="Montserrat"/>
              <a:cs typeface="Montserrat"/>
              <a:sym typeface="Montserrat"/>
            </a:endParaRPr>
          </a:p>
        </p:txBody>
      </p:sp>
      <p:sp>
        <p:nvSpPr>
          <p:cNvPr id="591" name="Google Shape;591;p23"/>
          <p:cNvSpPr/>
          <p:nvPr/>
        </p:nvSpPr>
        <p:spPr>
          <a:xfrm>
            <a:off x="1358763" y="3289875"/>
            <a:ext cx="6654600" cy="376800"/>
          </a:xfrm>
          <a:prstGeom prst="snip1Rect">
            <a:avLst>
              <a:gd fmla="val 35537"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200"/>
              <a:buFont typeface="Arial"/>
              <a:buNone/>
            </a:pPr>
            <a:r>
              <a:rPr b="1" i="0" lang="en" sz="1200" u="none" cap="none" strike="noStrike">
                <a:solidFill>
                  <a:srgbClr val="D71B7F"/>
                </a:solidFill>
                <a:latin typeface="Montserrat"/>
                <a:ea typeface="Montserrat"/>
                <a:cs typeface="Montserrat"/>
                <a:sym typeface="Montserrat"/>
              </a:rPr>
              <a:t>Success Stories</a:t>
            </a:r>
            <a:endParaRPr b="1" i="0" sz="1200" u="none" cap="none" strike="noStrike">
              <a:solidFill>
                <a:srgbClr val="D71B7F"/>
              </a:solidFill>
              <a:latin typeface="Montserrat"/>
              <a:ea typeface="Montserrat"/>
              <a:cs typeface="Montserrat"/>
              <a:sym typeface="Montserrat"/>
            </a:endParaRPr>
          </a:p>
        </p:txBody>
      </p:sp>
      <p:cxnSp>
        <p:nvCxnSpPr>
          <p:cNvPr id="592" name="Google Shape;592;p23"/>
          <p:cNvCxnSpPr/>
          <p:nvPr/>
        </p:nvCxnSpPr>
        <p:spPr>
          <a:xfrm>
            <a:off x="1367196" y="1108050"/>
            <a:ext cx="0" cy="382200"/>
          </a:xfrm>
          <a:prstGeom prst="straightConnector1">
            <a:avLst/>
          </a:prstGeom>
          <a:noFill/>
          <a:ln cap="flat" cmpd="sng" w="19050">
            <a:solidFill>
              <a:srgbClr val="12519C"/>
            </a:solidFill>
            <a:prstDash val="solid"/>
            <a:round/>
            <a:headEnd len="sm" w="sm" type="none"/>
            <a:tailEnd len="sm" w="sm" type="none"/>
          </a:ln>
        </p:spPr>
      </p:cxnSp>
      <p:cxnSp>
        <p:nvCxnSpPr>
          <p:cNvPr id="593" name="Google Shape;593;p23"/>
          <p:cNvCxnSpPr/>
          <p:nvPr/>
        </p:nvCxnSpPr>
        <p:spPr>
          <a:xfrm>
            <a:off x="1367196" y="1675436"/>
            <a:ext cx="0" cy="382200"/>
          </a:xfrm>
          <a:prstGeom prst="straightConnector1">
            <a:avLst/>
          </a:prstGeom>
          <a:noFill/>
          <a:ln cap="flat" cmpd="sng" w="19050">
            <a:solidFill>
              <a:srgbClr val="12519C"/>
            </a:solidFill>
            <a:prstDash val="solid"/>
            <a:round/>
            <a:headEnd len="sm" w="sm" type="none"/>
            <a:tailEnd len="sm" w="sm" type="none"/>
          </a:ln>
        </p:spPr>
      </p:cxnSp>
      <p:cxnSp>
        <p:nvCxnSpPr>
          <p:cNvPr id="594" name="Google Shape;594;p23"/>
          <p:cNvCxnSpPr/>
          <p:nvPr/>
        </p:nvCxnSpPr>
        <p:spPr>
          <a:xfrm>
            <a:off x="1367196" y="3288390"/>
            <a:ext cx="0" cy="382200"/>
          </a:xfrm>
          <a:prstGeom prst="straightConnector1">
            <a:avLst/>
          </a:prstGeom>
          <a:noFill/>
          <a:ln cap="flat" cmpd="sng" w="19050">
            <a:solidFill>
              <a:srgbClr val="12519C"/>
            </a:solidFill>
            <a:prstDash val="solid"/>
            <a:round/>
            <a:headEnd len="sm" w="sm" type="none"/>
            <a:tailEnd len="sm" w="sm" type="none"/>
          </a:ln>
        </p:spPr>
      </p:cxnSp>
      <p:sp>
        <p:nvSpPr>
          <p:cNvPr id="595" name="Google Shape;595;p23"/>
          <p:cNvSpPr/>
          <p:nvPr/>
        </p:nvSpPr>
        <p:spPr>
          <a:xfrm>
            <a:off x="1048238" y="1260478"/>
            <a:ext cx="79200" cy="77400"/>
          </a:xfrm>
          <a:prstGeom prst="ellipse">
            <a:avLst/>
          </a:prstGeom>
          <a:solidFill>
            <a:srgbClr val="D71B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6" name="Google Shape;596;p23"/>
          <p:cNvSpPr/>
          <p:nvPr/>
        </p:nvSpPr>
        <p:spPr>
          <a:xfrm>
            <a:off x="1048238" y="1827880"/>
            <a:ext cx="79200" cy="77400"/>
          </a:xfrm>
          <a:prstGeom prst="ellipse">
            <a:avLst/>
          </a:prstGeom>
          <a:solidFill>
            <a:srgbClr val="D71B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7" name="Google Shape;597;p23"/>
          <p:cNvSpPr/>
          <p:nvPr/>
        </p:nvSpPr>
        <p:spPr>
          <a:xfrm>
            <a:off x="1048238" y="3439362"/>
            <a:ext cx="79200" cy="77400"/>
          </a:xfrm>
          <a:prstGeom prst="ellipse">
            <a:avLst/>
          </a:prstGeom>
          <a:solidFill>
            <a:srgbClr val="D71B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8" name="Google Shape;598;p23"/>
          <p:cNvSpPr/>
          <p:nvPr/>
        </p:nvSpPr>
        <p:spPr>
          <a:xfrm>
            <a:off x="1358763" y="2245805"/>
            <a:ext cx="6654600" cy="376800"/>
          </a:xfrm>
          <a:prstGeom prst="snip1Rect">
            <a:avLst>
              <a:gd fmla="val 35537"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200"/>
              <a:buFont typeface="Arial"/>
              <a:buNone/>
            </a:pPr>
            <a:r>
              <a:rPr b="0" i="0" lang="en" sz="1200" u="none" cap="none" strike="noStrike">
                <a:solidFill>
                  <a:srgbClr val="000000"/>
                </a:solidFill>
                <a:latin typeface="Montserrat"/>
                <a:ea typeface="Montserrat"/>
                <a:cs typeface="Montserrat"/>
                <a:sym typeface="Montserrat"/>
              </a:rPr>
              <a:t>Project Plan and Key Deliverables</a:t>
            </a:r>
            <a:endParaRPr b="0" i="0" sz="1200" u="none" cap="none" strike="noStrike">
              <a:solidFill>
                <a:srgbClr val="000000"/>
              </a:solidFill>
              <a:latin typeface="Montserrat"/>
              <a:ea typeface="Montserrat"/>
              <a:cs typeface="Montserrat"/>
              <a:sym typeface="Montserrat"/>
            </a:endParaRPr>
          </a:p>
        </p:txBody>
      </p:sp>
      <p:cxnSp>
        <p:nvCxnSpPr>
          <p:cNvPr id="599" name="Google Shape;599;p23"/>
          <p:cNvCxnSpPr/>
          <p:nvPr/>
        </p:nvCxnSpPr>
        <p:spPr>
          <a:xfrm>
            <a:off x="1367196" y="2242832"/>
            <a:ext cx="0" cy="382200"/>
          </a:xfrm>
          <a:prstGeom prst="straightConnector1">
            <a:avLst/>
          </a:prstGeom>
          <a:noFill/>
          <a:ln cap="flat" cmpd="sng" w="19050">
            <a:solidFill>
              <a:srgbClr val="12519C"/>
            </a:solidFill>
            <a:prstDash val="solid"/>
            <a:round/>
            <a:headEnd len="sm" w="sm" type="none"/>
            <a:tailEnd len="sm" w="sm" type="none"/>
          </a:ln>
        </p:spPr>
      </p:cxnSp>
      <p:sp>
        <p:nvSpPr>
          <p:cNvPr id="600" name="Google Shape;600;p23"/>
          <p:cNvSpPr/>
          <p:nvPr/>
        </p:nvSpPr>
        <p:spPr>
          <a:xfrm>
            <a:off x="1048238" y="2395275"/>
            <a:ext cx="79200" cy="77400"/>
          </a:xfrm>
          <a:prstGeom prst="ellipse">
            <a:avLst/>
          </a:prstGeom>
          <a:solidFill>
            <a:srgbClr val="D71B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1" name="Google Shape;601;p23"/>
          <p:cNvSpPr/>
          <p:nvPr/>
        </p:nvSpPr>
        <p:spPr>
          <a:xfrm>
            <a:off x="1358763" y="2755885"/>
            <a:ext cx="6654600" cy="376800"/>
          </a:xfrm>
          <a:prstGeom prst="snip1Rect">
            <a:avLst>
              <a:gd fmla="val 35537"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200"/>
              <a:buFont typeface="Arial"/>
              <a:buNone/>
            </a:pPr>
            <a:r>
              <a:rPr b="0" i="0" lang="en" sz="1200" u="none" cap="none" strike="noStrike">
                <a:solidFill>
                  <a:srgbClr val="000000"/>
                </a:solidFill>
                <a:latin typeface="Montserrat"/>
                <a:ea typeface="Montserrat"/>
                <a:cs typeface="Montserrat"/>
                <a:sym typeface="Montserrat"/>
              </a:rPr>
              <a:t>Commercial Summary</a:t>
            </a:r>
            <a:endParaRPr b="0" i="0" sz="1200" u="none" cap="none" strike="noStrike">
              <a:solidFill>
                <a:srgbClr val="000000"/>
              </a:solidFill>
              <a:latin typeface="Montserrat"/>
              <a:ea typeface="Montserrat"/>
              <a:cs typeface="Montserrat"/>
              <a:sym typeface="Montserrat"/>
            </a:endParaRPr>
          </a:p>
        </p:txBody>
      </p:sp>
      <p:cxnSp>
        <p:nvCxnSpPr>
          <p:cNvPr id="602" name="Google Shape;602;p23"/>
          <p:cNvCxnSpPr/>
          <p:nvPr/>
        </p:nvCxnSpPr>
        <p:spPr>
          <a:xfrm>
            <a:off x="1367196" y="2752912"/>
            <a:ext cx="0" cy="382200"/>
          </a:xfrm>
          <a:prstGeom prst="straightConnector1">
            <a:avLst/>
          </a:prstGeom>
          <a:noFill/>
          <a:ln cap="flat" cmpd="sng" w="19050">
            <a:solidFill>
              <a:srgbClr val="12519C"/>
            </a:solidFill>
            <a:prstDash val="solid"/>
            <a:round/>
            <a:headEnd len="sm" w="sm" type="none"/>
            <a:tailEnd len="sm" w="sm" type="none"/>
          </a:ln>
        </p:spPr>
      </p:cxnSp>
      <p:sp>
        <p:nvSpPr>
          <p:cNvPr id="603" name="Google Shape;603;p23"/>
          <p:cNvSpPr/>
          <p:nvPr/>
        </p:nvSpPr>
        <p:spPr>
          <a:xfrm>
            <a:off x="1048238" y="2905355"/>
            <a:ext cx="79200" cy="77400"/>
          </a:xfrm>
          <a:prstGeom prst="ellipse">
            <a:avLst/>
          </a:prstGeom>
          <a:solidFill>
            <a:srgbClr val="D71B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4" name="Google Shape;604;p23"/>
          <p:cNvSpPr txBox="1"/>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000000"/>
              </a:buClr>
              <a:buSzPts val="1000"/>
              <a:buFont typeface="Arial"/>
              <a:buNone/>
            </a:pPr>
            <a:fld id="{00000000-1234-1234-1234-123412341234}" type="slidenum">
              <a:rPr b="0" i="0" lang="en" sz="1000" u="none" cap="none" strike="noStrike">
                <a:solidFill>
                  <a:srgbClr val="000000"/>
                </a:solidFill>
                <a:latin typeface="Montserrat"/>
                <a:ea typeface="Montserrat"/>
                <a:cs typeface="Montserrat"/>
                <a:sym typeface="Montserrat"/>
              </a:rPr>
              <a:t>‹#›</a:t>
            </a:fld>
            <a:endParaRPr b="0" i="0" sz="1000" u="none" cap="none" strike="noStrike">
              <a:solidFill>
                <a:srgbClr val="000000"/>
              </a:solidFill>
              <a:latin typeface="Montserrat"/>
              <a:ea typeface="Montserrat"/>
              <a:cs typeface="Montserrat"/>
              <a:sym typeface="Montserrat"/>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608" name="Shape 608"/>
        <p:cNvGrpSpPr/>
        <p:nvPr/>
      </p:nvGrpSpPr>
      <p:grpSpPr>
        <a:xfrm>
          <a:off x="0" y="0"/>
          <a:ext cx="0" cy="0"/>
          <a:chOff x="0" y="0"/>
          <a:chExt cx="0" cy="0"/>
        </a:xfrm>
      </p:grpSpPr>
      <p:sp>
        <p:nvSpPr>
          <p:cNvPr id="609" name="Google Shape;609;p24"/>
          <p:cNvSpPr/>
          <p:nvPr/>
        </p:nvSpPr>
        <p:spPr>
          <a:xfrm>
            <a:off x="0" y="144000"/>
            <a:ext cx="47400" cy="357300"/>
          </a:xfrm>
          <a:prstGeom prst="rect">
            <a:avLst/>
          </a:prstGeom>
          <a:solidFill>
            <a:srgbClr val="D71B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0" name="Google Shape;610;p24"/>
          <p:cNvSpPr txBox="1"/>
          <p:nvPr/>
        </p:nvSpPr>
        <p:spPr>
          <a:xfrm>
            <a:off x="6222488" y="959944"/>
            <a:ext cx="2693100" cy="2014200"/>
          </a:xfrm>
          <a:prstGeom prst="rect">
            <a:avLst/>
          </a:prstGeom>
          <a:noFill/>
          <a:ln>
            <a:noFill/>
          </a:ln>
          <a:effectLst>
            <a:outerShdw blurRad="228600" rotWithShape="0" algn="bl" dir="5400000" dist="57150">
              <a:srgbClr val="000000">
                <a:alpha val="10980"/>
              </a:srgbClr>
            </a:outerShdw>
          </a:effectLst>
        </p:spPr>
        <p:txBody>
          <a:bodyPr anchorCtr="0" anchor="t" bIns="91425" lIns="91425" spcFirstLastPara="1" rIns="91425" wrap="square" tIns="91425">
            <a:noAutofit/>
          </a:bodyPr>
          <a:lstStyle/>
          <a:p>
            <a:pPr indent="0" lvl="0" marL="0" marR="0" rtl="0" algn="l">
              <a:lnSpc>
                <a:spcPct val="150000"/>
              </a:lnSpc>
              <a:spcBef>
                <a:spcPts val="900"/>
              </a:spcBef>
              <a:spcAft>
                <a:spcPts val="0"/>
              </a:spcAft>
              <a:buClr>
                <a:schemeClr val="dk1"/>
              </a:buClr>
              <a:buSzPts val="800"/>
              <a:buFont typeface="Arial"/>
              <a:buNone/>
            </a:pPr>
            <a:r>
              <a:rPr b="0" i="0" lang="en" sz="700" u="none" cap="none" strike="noStrike">
                <a:solidFill>
                  <a:schemeClr val="dk1"/>
                </a:solidFill>
                <a:latin typeface="Montserrat"/>
                <a:ea typeface="Montserrat"/>
                <a:cs typeface="Montserrat"/>
                <a:sym typeface="Montserrat"/>
              </a:rPr>
              <a:t>Since 2018, TTN has been a strategic partner in Tabcorp’s transformation, evolving from supporting its digital arm to over 150 people enabling </a:t>
            </a:r>
            <a:r>
              <a:rPr b="1" i="0" lang="en" sz="700" u="none" cap="none" strike="noStrike">
                <a:solidFill>
                  <a:schemeClr val="dk1"/>
                </a:solidFill>
                <a:latin typeface="Montserrat"/>
                <a:ea typeface="Montserrat"/>
                <a:cs typeface="Montserrat"/>
                <a:sym typeface="Montserrat"/>
              </a:rPr>
              <a:t>digital, gaming, data, trackside, retail, </a:t>
            </a:r>
            <a:r>
              <a:rPr b="0" i="0" lang="en" sz="700" u="none" cap="none" strike="noStrike">
                <a:solidFill>
                  <a:schemeClr val="dk1"/>
                </a:solidFill>
                <a:latin typeface="Montserrat"/>
                <a:ea typeface="Montserrat"/>
                <a:cs typeface="Montserrat"/>
                <a:sym typeface="Montserrat"/>
              </a:rPr>
              <a:t>and</a:t>
            </a:r>
            <a:r>
              <a:rPr b="1" i="0" lang="en" sz="700" u="none" cap="none" strike="noStrike">
                <a:solidFill>
                  <a:schemeClr val="dk1"/>
                </a:solidFill>
                <a:latin typeface="Montserrat"/>
                <a:ea typeface="Montserrat"/>
                <a:cs typeface="Montserrat"/>
                <a:sym typeface="Montserrat"/>
              </a:rPr>
              <a:t> cybersecurity</a:t>
            </a:r>
            <a:r>
              <a:rPr b="0" i="0" lang="en" sz="700" u="none" cap="none" strike="noStrike">
                <a:solidFill>
                  <a:schemeClr val="dk1"/>
                </a:solidFill>
                <a:latin typeface="Montserrat"/>
                <a:ea typeface="Montserrat"/>
                <a:cs typeface="Montserrat"/>
                <a:sym typeface="Montserrat"/>
              </a:rPr>
              <a:t>. Together, we have delivered groundbreaking solutions at scale.</a:t>
            </a:r>
            <a:endParaRPr b="0" i="0" sz="700" u="none" cap="none" strike="noStrike">
              <a:solidFill>
                <a:schemeClr val="dk1"/>
              </a:solidFill>
              <a:latin typeface="Montserrat"/>
              <a:ea typeface="Montserrat"/>
              <a:cs typeface="Montserrat"/>
              <a:sym typeface="Montserrat"/>
            </a:endParaRPr>
          </a:p>
          <a:p>
            <a:pPr indent="0" lvl="0" marL="0" marR="0" rtl="0" algn="l">
              <a:lnSpc>
                <a:spcPct val="150000"/>
              </a:lnSpc>
              <a:spcBef>
                <a:spcPts val="900"/>
              </a:spcBef>
              <a:spcAft>
                <a:spcPts val="0"/>
              </a:spcAft>
              <a:buClr>
                <a:schemeClr val="dk1"/>
              </a:buClr>
              <a:buSzPts val="800"/>
              <a:buFont typeface="Arial"/>
              <a:buNone/>
            </a:pPr>
            <a:r>
              <a:rPr b="0" i="0" lang="en" sz="700" u="none" cap="none" strike="noStrike">
                <a:solidFill>
                  <a:schemeClr val="dk1"/>
                </a:solidFill>
                <a:latin typeface="Montserrat"/>
                <a:ea typeface="Montserrat"/>
                <a:cs typeface="Montserrat"/>
                <a:sym typeface="Montserrat"/>
              </a:rPr>
              <a:t>From omni-channel innovations like a </a:t>
            </a:r>
            <a:r>
              <a:rPr b="1" i="0" lang="en" sz="700" u="none" cap="none" strike="noStrike">
                <a:solidFill>
                  <a:schemeClr val="dk1"/>
                </a:solidFill>
                <a:latin typeface="Montserrat"/>
                <a:ea typeface="Montserrat"/>
                <a:cs typeface="Montserrat"/>
                <a:sym typeface="Montserrat"/>
              </a:rPr>
              <a:t>cross-platform betting app</a:t>
            </a:r>
            <a:r>
              <a:rPr b="0" i="0" lang="en" sz="700" u="none" cap="none" strike="noStrike">
                <a:solidFill>
                  <a:schemeClr val="dk1"/>
                </a:solidFill>
                <a:latin typeface="Montserrat"/>
                <a:ea typeface="Montserrat"/>
                <a:cs typeface="Montserrat"/>
                <a:sym typeface="Montserrat"/>
              </a:rPr>
              <a:t>, integrating </a:t>
            </a:r>
            <a:r>
              <a:rPr b="1" i="0" lang="en" sz="700" u="none" cap="none" strike="noStrike">
                <a:solidFill>
                  <a:schemeClr val="dk1"/>
                </a:solidFill>
                <a:latin typeface="Montserrat"/>
                <a:ea typeface="Montserrat"/>
                <a:cs typeface="Montserrat"/>
                <a:sym typeface="Montserrat"/>
              </a:rPr>
              <a:t>web</a:t>
            </a:r>
            <a:r>
              <a:rPr b="0" i="0" lang="en" sz="700" u="none" cap="none" strike="noStrike">
                <a:solidFill>
                  <a:schemeClr val="dk1"/>
                </a:solidFill>
                <a:latin typeface="Montserrat"/>
                <a:ea typeface="Montserrat"/>
                <a:cs typeface="Montserrat"/>
                <a:sym typeface="Montserrat"/>
              </a:rPr>
              <a:t> and mobile experiences, customer engagement and </a:t>
            </a:r>
            <a:r>
              <a:rPr b="1" i="0" lang="en" sz="700" u="none" cap="none" strike="noStrike">
                <a:solidFill>
                  <a:schemeClr val="dk1"/>
                </a:solidFill>
                <a:latin typeface="Montserrat"/>
                <a:ea typeface="Montserrat"/>
                <a:cs typeface="Montserrat"/>
                <a:sym typeface="Montserrat"/>
              </a:rPr>
              <a:t>personalisation</a:t>
            </a:r>
            <a:r>
              <a:rPr b="0" i="0" lang="en" sz="700" u="none" cap="none" strike="noStrike">
                <a:solidFill>
                  <a:schemeClr val="dk1"/>
                </a:solidFill>
                <a:latin typeface="Montserrat"/>
                <a:ea typeface="Montserrat"/>
                <a:cs typeface="Montserrat"/>
                <a:sym typeface="Montserrat"/>
              </a:rPr>
              <a:t> through </a:t>
            </a:r>
            <a:r>
              <a:rPr b="1" i="0" lang="en" sz="700" u="none" cap="none" strike="noStrike">
                <a:solidFill>
                  <a:schemeClr val="dk1"/>
                </a:solidFill>
                <a:latin typeface="Montserrat"/>
                <a:ea typeface="Montserrat"/>
                <a:cs typeface="Montserrat"/>
                <a:sym typeface="Montserrat"/>
              </a:rPr>
              <a:t>Adobe Target, Analytics, and AEM</a:t>
            </a:r>
            <a:r>
              <a:rPr b="0" i="0" lang="en" sz="700" u="none" cap="none" strike="noStrike">
                <a:solidFill>
                  <a:schemeClr val="dk1"/>
                </a:solidFill>
                <a:latin typeface="Montserrat"/>
                <a:ea typeface="Montserrat"/>
                <a:cs typeface="Montserrat"/>
                <a:sym typeface="Montserrat"/>
              </a:rPr>
              <a:t>, to infrastructure modernisation with</a:t>
            </a:r>
            <a:r>
              <a:rPr b="1" i="0" lang="en" sz="700" u="none" cap="none" strike="noStrike">
                <a:solidFill>
                  <a:schemeClr val="dk1"/>
                </a:solidFill>
                <a:latin typeface="Montserrat"/>
                <a:ea typeface="Montserrat"/>
                <a:cs typeface="Montserrat"/>
                <a:sym typeface="Montserrat"/>
              </a:rPr>
              <a:t> Infra as Code</a:t>
            </a:r>
            <a:r>
              <a:rPr b="0" i="0" lang="en" sz="700" u="none" cap="none" strike="noStrike">
                <a:solidFill>
                  <a:schemeClr val="dk1"/>
                </a:solidFill>
                <a:latin typeface="Montserrat"/>
                <a:ea typeface="Montserrat"/>
                <a:cs typeface="Montserrat"/>
                <a:sym typeface="Montserrat"/>
              </a:rPr>
              <a:t>, AWS Cloud optimisation, and </a:t>
            </a:r>
            <a:r>
              <a:rPr b="1" i="0" lang="en" sz="700" u="none" cap="none" strike="noStrike">
                <a:solidFill>
                  <a:schemeClr val="dk1"/>
                </a:solidFill>
                <a:latin typeface="Montserrat"/>
                <a:ea typeface="Montserrat"/>
                <a:cs typeface="Montserrat"/>
                <a:sym typeface="Montserrat"/>
              </a:rPr>
              <a:t>Graviton</a:t>
            </a:r>
            <a:r>
              <a:rPr b="0" i="0" lang="en" sz="700" u="none" cap="none" strike="noStrike">
                <a:solidFill>
                  <a:schemeClr val="dk1"/>
                </a:solidFill>
                <a:latin typeface="Montserrat"/>
                <a:ea typeface="Montserrat"/>
                <a:cs typeface="Montserrat"/>
                <a:sym typeface="Montserrat"/>
              </a:rPr>
              <a:t> migration, to reducing manual testing by 45% through </a:t>
            </a:r>
            <a:r>
              <a:rPr b="1" i="0" lang="en" sz="700" u="none" cap="none" strike="noStrike">
                <a:solidFill>
                  <a:schemeClr val="dk1"/>
                </a:solidFill>
                <a:latin typeface="Montserrat"/>
                <a:ea typeface="Montserrat"/>
                <a:cs typeface="Montserrat"/>
                <a:sym typeface="Montserrat"/>
              </a:rPr>
              <a:t>automation</a:t>
            </a:r>
            <a:r>
              <a:rPr b="0" i="0" lang="en" sz="700" u="none" cap="none" strike="noStrike">
                <a:solidFill>
                  <a:schemeClr val="dk1"/>
                </a:solidFill>
                <a:latin typeface="Montserrat"/>
                <a:ea typeface="Montserrat"/>
                <a:cs typeface="Montserrat"/>
                <a:sym typeface="Montserrat"/>
              </a:rPr>
              <a:t>.</a:t>
            </a:r>
            <a:endParaRPr b="0" i="0" sz="700" u="none" cap="none" strike="noStrike">
              <a:solidFill>
                <a:schemeClr val="dk1"/>
              </a:solidFill>
              <a:latin typeface="Montserrat"/>
              <a:ea typeface="Montserrat"/>
              <a:cs typeface="Montserrat"/>
              <a:sym typeface="Montserrat"/>
            </a:endParaRPr>
          </a:p>
          <a:p>
            <a:pPr indent="0" lvl="0" marL="0" marR="0" rtl="0" algn="l">
              <a:lnSpc>
                <a:spcPct val="150000"/>
              </a:lnSpc>
              <a:spcBef>
                <a:spcPts val="900"/>
              </a:spcBef>
              <a:spcAft>
                <a:spcPts val="0"/>
              </a:spcAft>
              <a:buClr>
                <a:schemeClr val="dk1"/>
              </a:buClr>
              <a:buSzPts val="800"/>
              <a:buFont typeface="Arial"/>
              <a:buNone/>
            </a:pPr>
            <a:r>
              <a:rPr b="0" i="0" lang="en" sz="700" u="none" cap="none" strike="noStrike">
                <a:solidFill>
                  <a:schemeClr val="dk1"/>
                </a:solidFill>
                <a:latin typeface="Montserrat"/>
                <a:ea typeface="Montserrat"/>
                <a:cs typeface="Montserrat"/>
                <a:sym typeface="Montserrat"/>
              </a:rPr>
              <a:t>We have enabled compliance adherence through </a:t>
            </a:r>
            <a:r>
              <a:rPr b="1" i="0" lang="en" sz="700" u="none" cap="none" strike="noStrike">
                <a:solidFill>
                  <a:schemeClr val="dk1"/>
                </a:solidFill>
                <a:latin typeface="Montserrat"/>
                <a:ea typeface="Montserrat"/>
                <a:cs typeface="Montserrat"/>
                <a:sym typeface="Montserrat"/>
              </a:rPr>
              <a:t>AML/CTF tools </a:t>
            </a:r>
            <a:r>
              <a:rPr b="0" i="0" lang="en" sz="700" u="none" cap="none" strike="noStrike">
                <a:solidFill>
                  <a:schemeClr val="dk1"/>
                </a:solidFill>
                <a:latin typeface="Montserrat"/>
                <a:ea typeface="Montserrat"/>
                <a:cs typeface="Montserrat"/>
                <a:sym typeface="Montserrat"/>
              </a:rPr>
              <a:t>for</a:t>
            </a:r>
            <a:r>
              <a:rPr b="1" i="0" lang="en" sz="700" u="none" cap="none" strike="noStrike">
                <a:solidFill>
                  <a:schemeClr val="dk1"/>
                </a:solidFill>
                <a:latin typeface="Montserrat"/>
                <a:ea typeface="Montserrat"/>
                <a:cs typeface="Montserrat"/>
                <a:sym typeface="Montserrat"/>
              </a:rPr>
              <a:t> Enhanced Customer Due Diligence</a:t>
            </a:r>
            <a:r>
              <a:rPr b="0" i="0" lang="en" sz="700" u="none" cap="none" strike="noStrike">
                <a:solidFill>
                  <a:schemeClr val="dk1"/>
                </a:solidFill>
                <a:latin typeface="Montserrat"/>
                <a:ea typeface="Montserrat"/>
                <a:cs typeface="Montserrat"/>
                <a:sym typeface="Montserrat"/>
              </a:rPr>
              <a:t> and </a:t>
            </a:r>
            <a:r>
              <a:rPr b="1" i="0" lang="en" sz="700" u="none" cap="none" strike="noStrike">
                <a:solidFill>
                  <a:schemeClr val="dk1"/>
                </a:solidFill>
                <a:latin typeface="Montserrat"/>
                <a:ea typeface="Montserrat"/>
                <a:cs typeface="Montserrat"/>
                <a:sym typeface="Montserrat"/>
              </a:rPr>
              <a:t>suppression</a:t>
            </a:r>
            <a:r>
              <a:rPr b="0" i="0" lang="en" sz="700" u="none" cap="none" strike="noStrike">
                <a:solidFill>
                  <a:schemeClr val="dk1"/>
                </a:solidFill>
                <a:latin typeface="Montserrat"/>
                <a:ea typeface="Montserrat"/>
                <a:cs typeface="Montserrat"/>
                <a:sym typeface="Montserrat"/>
              </a:rPr>
              <a:t> management.</a:t>
            </a:r>
            <a:endParaRPr b="0" i="0" sz="700" u="none" cap="none" strike="noStrike">
              <a:solidFill>
                <a:schemeClr val="dk1"/>
              </a:solidFill>
              <a:latin typeface="Montserrat"/>
              <a:ea typeface="Montserrat"/>
              <a:cs typeface="Montserrat"/>
              <a:sym typeface="Montserrat"/>
            </a:endParaRPr>
          </a:p>
          <a:p>
            <a:pPr indent="0" lvl="0" marL="0" marR="0" rtl="0" algn="l">
              <a:lnSpc>
                <a:spcPct val="150000"/>
              </a:lnSpc>
              <a:spcBef>
                <a:spcPts val="900"/>
              </a:spcBef>
              <a:spcAft>
                <a:spcPts val="0"/>
              </a:spcAft>
              <a:buClr>
                <a:schemeClr val="dk1"/>
              </a:buClr>
              <a:buSzPts val="800"/>
              <a:buFont typeface="Arial"/>
              <a:buNone/>
            </a:pPr>
            <a:r>
              <a:rPr b="0" i="0" lang="en" sz="700" u="none" cap="none" strike="noStrike">
                <a:solidFill>
                  <a:schemeClr val="dk1"/>
                </a:solidFill>
                <a:latin typeface="Montserrat"/>
                <a:ea typeface="Montserrat"/>
                <a:cs typeface="Montserrat"/>
                <a:sym typeface="Montserrat"/>
              </a:rPr>
              <a:t>Our work includes cutting-edge betting features like </a:t>
            </a:r>
            <a:r>
              <a:rPr b="1" i="0" lang="en" sz="700" u="none" cap="none" strike="noStrike">
                <a:solidFill>
                  <a:schemeClr val="dk1"/>
                </a:solidFill>
                <a:latin typeface="Montserrat"/>
                <a:ea typeface="Montserrat"/>
                <a:cs typeface="Montserrat"/>
                <a:sym typeface="Montserrat"/>
              </a:rPr>
              <a:t>Same Game Multi</a:t>
            </a:r>
            <a:r>
              <a:rPr b="0" i="0" lang="en" sz="700" u="none" cap="none" strike="noStrike">
                <a:solidFill>
                  <a:schemeClr val="dk1"/>
                </a:solidFill>
                <a:latin typeface="Montserrat"/>
                <a:ea typeface="Montserrat"/>
                <a:cs typeface="Montserrat"/>
                <a:sym typeface="Montserrat"/>
              </a:rPr>
              <a:t> for sports, </a:t>
            </a:r>
            <a:r>
              <a:rPr b="1" i="0" lang="en" sz="700" u="none" cap="none" strike="noStrike">
                <a:solidFill>
                  <a:schemeClr val="dk1"/>
                </a:solidFill>
                <a:latin typeface="Montserrat"/>
                <a:ea typeface="Montserrat"/>
                <a:cs typeface="Montserrat"/>
                <a:sym typeface="Montserrat"/>
              </a:rPr>
              <a:t>Blackbook</a:t>
            </a:r>
            <a:r>
              <a:rPr b="0" i="0" lang="en" sz="700" u="none" cap="none" strike="noStrike">
                <a:solidFill>
                  <a:schemeClr val="dk1"/>
                </a:solidFill>
                <a:latin typeface="Montserrat"/>
                <a:ea typeface="Montserrat"/>
                <a:cs typeface="Montserrat"/>
                <a:sym typeface="Montserrat"/>
              </a:rPr>
              <a:t> for racing, and </a:t>
            </a:r>
            <a:r>
              <a:rPr b="1" i="0" lang="en" sz="700" u="none" cap="none" strike="noStrike">
                <a:solidFill>
                  <a:schemeClr val="dk1"/>
                </a:solidFill>
                <a:latin typeface="Montserrat"/>
                <a:ea typeface="Montserrat"/>
                <a:cs typeface="Montserrat"/>
                <a:sym typeface="Montserrat"/>
              </a:rPr>
              <a:t>Retail in-play</a:t>
            </a:r>
            <a:r>
              <a:rPr b="0" i="0" lang="en" sz="700" u="none" cap="none" strike="noStrike">
                <a:solidFill>
                  <a:schemeClr val="dk1"/>
                </a:solidFill>
                <a:latin typeface="Montserrat"/>
                <a:ea typeface="Montserrat"/>
                <a:cs typeface="Montserrat"/>
                <a:sym typeface="Montserrat"/>
              </a:rPr>
              <a:t> initiatives to boost engagement and custom experiences.</a:t>
            </a:r>
            <a:endParaRPr b="0" i="0" sz="700" u="none" cap="none" strike="noStrike">
              <a:solidFill>
                <a:schemeClr val="dk1"/>
              </a:solidFill>
              <a:latin typeface="Montserrat"/>
              <a:ea typeface="Montserrat"/>
              <a:cs typeface="Montserrat"/>
              <a:sym typeface="Montserrat"/>
            </a:endParaRPr>
          </a:p>
          <a:p>
            <a:pPr indent="0" lvl="0" marL="0" marR="0" rtl="0" algn="l">
              <a:lnSpc>
                <a:spcPct val="150000"/>
              </a:lnSpc>
              <a:spcBef>
                <a:spcPts val="900"/>
              </a:spcBef>
              <a:spcAft>
                <a:spcPts val="0"/>
              </a:spcAft>
              <a:buClr>
                <a:schemeClr val="dk1"/>
              </a:buClr>
              <a:buSzPts val="800"/>
              <a:buFont typeface="Arial"/>
              <a:buNone/>
            </a:pPr>
            <a:r>
              <a:t/>
            </a:r>
            <a:endParaRPr b="0" i="0" sz="700" u="none" cap="none" strike="noStrike">
              <a:solidFill>
                <a:schemeClr val="dk1"/>
              </a:solidFill>
              <a:latin typeface="Montserrat"/>
              <a:ea typeface="Montserrat"/>
              <a:cs typeface="Montserrat"/>
              <a:sym typeface="Montserrat"/>
            </a:endParaRPr>
          </a:p>
          <a:p>
            <a:pPr indent="0" lvl="0" marL="0" marR="0" rtl="0" algn="l">
              <a:lnSpc>
                <a:spcPct val="150000"/>
              </a:lnSpc>
              <a:spcBef>
                <a:spcPts val="0"/>
              </a:spcBef>
              <a:spcAft>
                <a:spcPts val="0"/>
              </a:spcAft>
              <a:buClr>
                <a:schemeClr val="dk1"/>
              </a:buClr>
              <a:buSzPts val="1100"/>
              <a:buFont typeface="Arial"/>
              <a:buNone/>
            </a:pPr>
            <a:r>
              <a:t/>
            </a:r>
            <a:endParaRPr b="0" i="0" sz="700" u="none" cap="none" strike="noStrike">
              <a:solidFill>
                <a:srgbClr val="434343"/>
              </a:solidFill>
              <a:latin typeface="Montserrat"/>
              <a:ea typeface="Montserrat"/>
              <a:cs typeface="Montserrat"/>
              <a:sym typeface="Montserrat"/>
            </a:endParaRPr>
          </a:p>
        </p:txBody>
      </p:sp>
      <p:sp>
        <p:nvSpPr>
          <p:cNvPr id="611" name="Google Shape;611;p24"/>
          <p:cNvSpPr/>
          <p:nvPr/>
        </p:nvSpPr>
        <p:spPr>
          <a:xfrm>
            <a:off x="6123225" y="763069"/>
            <a:ext cx="2232300" cy="267900"/>
          </a:xfrm>
          <a:prstGeom prst="rect">
            <a:avLst/>
          </a:prstGeom>
          <a:solidFill>
            <a:srgbClr val="5C72B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chemeClr val="lt1"/>
                </a:solidFill>
                <a:latin typeface="Montserrat"/>
                <a:ea typeface="Montserrat"/>
                <a:cs typeface="Montserrat"/>
                <a:sym typeface="Montserrat"/>
              </a:rPr>
              <a:t>   Australia </a:t>
            </a:r>
            <a:endParaRPr b="0" i="0" sz="1000" u="none" cap="none" strike="noStrike">
              <a:solidFill>
                <a:schemeClr val="lt1"/>
              </a:solidFill>
              <a:latin typeface="Montserrat"/>
              <a:ea typeface="Montserrat"/>
              <a:cs typeface="Montserrat"/>
              <a:sym typeface="Montserrat"/>
            </a:endParaRPr>
          </a:p>
        </p:txBody>
      </p:sp>
      <p:pic>
        <p:nvPicPr>
          <p:cNvPr id="612" name="Google Shape;612;p24"/>
          <p:cNvPicPr preferRelativeResize="0"/>
          <p:nvPr/>
        </p:nvPicPr>
        <p:blipFill rotWithShape="1">
          <a:blip r:embed="rId4">
            <a:alphaModFix/>
          </a:blip>
          <a:srcRect b="0" l="0" r="0" t="0"/>
          <a:stretch/>
        </p:blipFill>
        <p:spPr>
          <a:xfrm>
            <a:off x="309115" y="1314638"/>
            <a:ext cx="4862602" cy="2662069"/>
          </a:xfrm>
          <a:prstGeom prst="rect">
            <a:avLst/>
          </a:prstGeom>
          <a:noFill/>
          <a:ln>
            <a:noFill/>
          </a:ln>
        </p:spPr>
      </p:pic>
      <p:pic>
        <p:nvPicPr>
          <p:cNvPr id="613" name="Google Shape;613;p24"/>
          <p:cNvPicPr preferRelativeResize="0"/>
          <p:nvPr/>
        </p:nvPicPr>
        <p:blipFill rotWithShape="1">
          <a:blip r:embed="rId5">
            <a:alphaModFix/>
          </a:blip>
          <a:srcRect b="10521" l="6650" r="11154" t="4633"/>
          <a:stretch/>
        </p:blipFill>
        <p:spPr>
          <a:xfrm>
            <a:off x="851944" y="1443453"/>
            <a:ext cx="3776945" cy="1955583"/>
          </a:xfrm>
          <a:prstGeom prst="rect">
            <a:avLst/>
          </a:prstGeom>
          <a:noFill/>
          <a:ln>
            <a:noFill/>
          </a:ln>
        </p:spPr>
      </p:pic>
      <p:pic>
        <p:nvPicPr>
          <p:cNvPr id="614" name="Google Shape;614;p24"/>
          <p:cNvPicPr preferRelativeResize="0"/>
          <p:nvPr/>
        </p:nvPicPr>
        <p:blipFill rotWithShape="1">
          <a:blip r:embed="rId6">
            <a:alphaModFix/>
          </a:blip>
          <a:srcRect b="51129" l="0" r="0" t="0"/>
          <a:stretch/>
        </p:blipFill>
        <p:spPr>
          <a:xfrm>
            <a:off x="851951" y="1443450"/>
            <a:ext cx="3776933" cy="2202435"/>
          </a:xfrm>
          <a:prstGeom prst="rect">
            <a:avLst/>
          </a:prstGeom>
          <a:noFill/>
          <a:ln>
            <a:noFill/>
          </a:ln>
        </p:spPr>
      </p:pic>
      <p:pic>
        <p:nvPicPr>
          <p:cNvPr id="615" name="Google Shape;615;p24"/>
          <p:cNvPicPr preferRelativeResize="0"/>
          <p:nvPr/>
        </p:nvPicPr>
        <p:blipFill rotWithShape="1">
          <a:blip r:embed="rId7">
            <a:alphaModFix/>
          </a:blip>
          <a:srcRect b="0" l="0" r="0" t="0"/>
          <a:stretch/>
        </p:blipFill>
        <p:spPr>
          <a:xfrm>
            <a:off x="4213317" y="1131394"/>
            <a:ext cx="1400655" cy="2780532"/>
          </a:xfrm>
          <a:prstGeom prst="rect">
            <a:avLst/>
          </a:prstGeom>
          <a:noFill/>
          <a:ln>
            <a:noFill/>
          </a:ln>
        </p:spPr>
      </p:pic>
      <p:pic>
        <p:nvPicPr>
          <p:cNvPr id="616" name="Google Shape;616;p24"/>
          <p:cNvPicPr preferRelativeResize="0"/>
          <p:nvPr/>
        </p:nvPicPr>
        <p:blipFill rotWithShape="1">
          <a:blip r:embed="rId8">
            <a:alphaModFix/>
          </a:blip>
          <a:srcRect b="0" l="0" r="0" t="0"/>
          <a:stretch/>
        </p:blipFill>
        <p:spPr>
          <a:xfrm>
            <a:off x="4298073" y="1209199"/>
            <a:ext cx="1236900" cy="2565600"/>
          </a:xfrm>
          <a:prstGeom prst="round2SameRect">
            <a:avLst>
              <a:gd fmla="val 10615" name="adj1"/>
              <a:gd fmla="val 0" name="adj2"/>
            </a:avLst>
          </a:prstGeom>
          <a:noFill/>
          <a:ln>
            <a:noFill/>
          </a:ln>
        </p:spPr>
      </p:pic>
      <p:pic>
        <p:nvPicPr>
          <p:cNvPr id="617" name="Google Shape;617;p24"/>
          <p:cNvPicPr preferRelativeResize="0"/>
          <p:nvPr/>
        </p:nvPicPr>
        <p:blipFill rotWithShape="1">
          <a:blip r:embed="rId9">
            <a:alphaModFix/>
          </a:blip>
          <a:srcRect b="0" l="0" r="0" t="0"/>
          <a:stretch/>
        </p:blipFill>
        <p:spPr>
          <a:xfrm>
            <a:off x="207877" y="179550"/>
            <a:ext cx="1531468" cy="286200"/>
          </a:xfrm>
          <a:prstGeom prst="rect">
            <a:avLst/>
          </a:prstGeom>
          <a:noFill/>
          <a:ln>
            <a:noFill/>
          </a:ln>
        </p:spPr>
      </p:pic>
      <p:pic>
        <p:nvPicPr>
          <p:cNvPr descr="TTN Logo.png" id="618" name="Google Shape;618;p24"/>
          <p:cNvPicPr preferRelativeResize="0"/>
          <p:nvPr/>
        </p:nvPicPr>
        <p:blipFill rotWithShape="1">
          <a:blip r:embed="rId10">
            <a:alphaModFix/>
          </a:blip>
          <a:srcRect b="0" l="0" r="0" t="0"/>
          <a:stretch/>
        </p:blipFill>
        <p:spPr>
          <a:xfrm>
            <a:off x="8414781" y="117828"/>
            <a:ext cx="625544" cy="349439"/>
          </a:xfrm>
          <a:prstGeom prst="rect">
            <a:avLst/>
          </a:prstGeom>
          <a:noFill/>
          <a:ln>
            <a:noFill/>
          </a:ln>
        </p:spPr>
      </p:pic>
      <p:sp>
        <p:nvSpPr>
          <p:cNvPr id="619" name="Google Shape;619;p24"/>
          <p:cNvSpPr txBox="1"/>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000000"/>
              </a:buClr>
              <a:buSzPts val="800"/>
              <a:buFont typeface="Arial"/>
              <a:buNone/>
            </a:pPr>
            <a:fld id="{00000000-1234-1234-1234-123412341234}" type="slidenum">
              <a:rPr b="0" i="0" lang="en" sz="800" u="none" cap="none" strike="noStrike">
                <a:solidFill>
                  <a:srgbClr val="000000"/>
                </a:solidFill>
                <a:latin typeface="Montserrat"/>
                <a:ea typeface="Montserrat"/>
                <a:cs typeface="Montserrat"/>
                <a:sym typeface="Montserrat"/>
              </a:rPr>
              <a:t>‹#›</a:t>
            </a:fld>
            <a:endParaRPr b="0" i="0" sz="800" u="none" cap="none" strike="noStrike">
              <a:solidFill>
                <a:srgbClr val="000000"/>
              </a:solidFill>
              <a:latin typeface="Montserrat"/>
              <a:ea typeface="Montserrat"/>
              <a:cs typeface="Montserrat"/>
              <a:sym typeface="Montserrat"/>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623" name="Shape 623"/>
        <p:cNvGrpSpPr/>
        <p:nvPr/>
      </p:nvGrpSpPr>
      <p:grpSpPr>
        <a:xfrm>
          <a:off x="0" y="0"/>
          <a:ext cx="0" cy="0"/>
          <a:chOff x="0" y="0"/>
          <a:chExt cx="0" cy="0"/>
        </a:xfrm>
      </p:grpSpPr>
      <p:sp>
        <p:nvSpPr>
          <p:cNvPr id="624" name="Google Shape;624;p25"/>
          <p:cNvSpPr/>
          <p:nvPr/>
        </p:nvSpPr>
        <p:spPr>
          <a:xfrm>
            <a:off x="0" y="144000"/>
            <a:ext cx="47400" cy="357300"/>
          </a:xfrm>
          <a:prstGeom prst="rect">
            <a:avLst/>
          </a:prstGeom>
          <a:solidFill>
            <a:srgbClr val="D71B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5" name="Google Shape;625;p25"/>
          <p:cNvSpPr txBox="1"/>
          <p:nvPr/>
        </p:nvSpPr>
        <p:spPr>
          <a:xfrm>
            <a:off x="6221063" y="1127906"/>
            <a:ext cx="2846400" cy="2014200"/>
          </a:xfrm>
          <a:prstGeom prst="rect">
            <a:avLst/>
          </a:prstGeom>
          <a:noFill/>
          <a:ln>
            <a:noFill/>
          </a:ln>
          <a:effectLst>
            <a:outerShdw blurRad="228600" rotWithShape="0" algn="bl" dir="5400000" dist="57150">
              <a:srgbClr val="000000">
                <a:alpha val="10980"/>
              </a:srgbClr>
            </a:outerShdw>
          </a:effectLst>
        </p:spPr>
        <p:txBody>
          <a:bodyPr anchorCtr="0" anchor="t" bIns="91425" lIns="91425" spcFirstLastPara="1" rIns="91425" wrap="square" tIns="91425">
            <a:noAutofit/>
          </a:bodyPr>
          <a:lstStyle/>
          <a:p>
            <a:pPr indent="0" lvl="0" marL="0" marR="0" rtl="0" algn="l">
              <a:lnSpc>
                <a:spcPct val="150000"/>
              </a:lnSpc>
              <a:spcBef>
                <a:spcPts val="0"/>
              </a:spcBef>
              <a:spcAft>
                <a:spcPts val="0"/>
              </a:spcAft>
              <a:buClr>
                <a:schemeClr val="dk1"/>
              </a:buClr>
              <a:buSzPts val="1100"/>
              <a:buFont typeface="Arial"/>
              <a:buNone/>
            </a:pPr>
            <a:r>
              <a:rPr b="0" i="0" lang="en" sz="900" u="none" cap="none" strike="noStrike">
                <a:solidFill>
                  <a:schemeClr val="dk1"/>
                </a:solidFill>
                <a:latin typeface="Montserrat"/>
                <a:ea typeface="Montserrat"/>
                <a:cs typeface="Montserrat"/>
                <a:sym typeface="Montserrat"/>
              </a:rPr>
              <a:t>TTN successfully </a:t>
            </a:r>
            <a:r>
              <a:rPr b="1" i="0" lang="en" sz="900" u="none" cap="none" strike="noStrike">
                <a:solidFill>
                  <a:schemeClr val="dk1"/>
                </a:solidFill>
                <a:latin typeface="Montserrat"/>
                <a:ea typeface="Montserrat"/>
                <a:cs typeface="Montserrat"/>
                <a:sym typeface="Montserrat"/>
              </a:rPr>
              <a:t>rebuilt</a:t>
            </a:r>
            <a:r>
              <a:rPr b="0" i="0" lang="en" sz="900" u="none" cap="none" strike="noStrike">
                <a:solidFill>
                  <a:schemeClr val="dk1"/>
                </a:solidFill>
                <a:latin typeface="Montserrat"/>
                <a:ea typeface="Montserrat"/>
                <a:cs typeface="Montserrat"/>
                <a:sym typeface="Montserrat"/>
              </a:rPr>
              <a:t> the entire </a:t>
            </a:r>
            <a:r>
              <a:rPr b="1" i="0" lang="en" sz="900" u="none" cap="none" strike="noStrike">
                <a:solidFill>
                  <a:schemeClr val="dk1"/>
                </a:solidFill>
                <a:latin typeface="Montserrat"/>
                <a:ea typeface="Montserrat"/>
                <a:cs typeface="Montserrat"/>
                <a:sym typeface="Montserrat"/>
              </a:rPr>
              <a:t>Sky</a:t>
            </a:r>
            <a:r>
              <a:rPr b="0" i="0" lang="en" sz="900" u="none" cap="none" strike="noStrike">
                <a:solidFill>
                  <a:schemeClr val="dk1"/>
                </a:solidFill>
                <a:latin typeface="Montserrat"/>
                <a:ea typeface="Montserrat"/>
                <a:cs typeface="Montserrat"/>
                <a:sym typeface="Montserrat"/>
              </a:rPr>
              <a:t> </a:t>
            </a:r>
            <a:r>
              <a:rPr b="1" i="0" lang="en" sz="900" u="none" cap="none" strike="noStrike">
                <a:solidFill>
                  <a:schemeClr val="dk1"/>
                </a:solidFill>
                <a:latin typeface="Montserrat"/>
                <a:ea typeface="Montserrat"/>
                <a:cs typeface="Montserrat"/>
                <a:sym typeface="Montserrat"/>
              </a:rPr>
              <a:t>Racing Website</a:t>
            </a:r>
            <a:r>
              <a:rPr b="0" i="0" lang="en" sz="900" u="none" cap="none" strike="noStrike">
                <a:solidFill>
                  <a:schemeClr val="dk1"/>
                </a:solidFill>
                <a:latin typeface="Montserrat"/>
                <a:ea typeface="Montserrat"/>
                <a:cs typeface="Montserrat"/>
                <a:sym typeface="Montserrat"/>
              </a:rPr>
              <a:t>, optimised for SEO, and implemented a microservices-based architecture that is highly resilient and scalable, hosted on AWS. </a:t>
            </a:r>
            <a:br>
              <a:rPr b="0" i="0" lang="en" sz="900" u="none" cap="none" strike="noStrike">
                <a:solidFill>
                  <a:schemeClr val="dk1"/>
                </a:solidFill>
                <a:latin typeface="Montserrat"/>
                <a:ea typeface="Montserrat"/>
                <a:cs typeface="Montserrat"/>
                <a:sym typeface="Montserrat"/>
              </a:rPr>
            </a:br>
            <a:br>
              <a:rPr b="0" i="0" lang="en" sz="900" u="none" cap="none" strike="noStrike">
                <a:solidFill>
                  <a:schemeClr val="dk1"/>
                </a:solidFill>
                <a:latin typeface="Montserrat"/>
                <a:ea typeface="Montserrat"/>
                <a:cs typeface="Montserrat"/>
                <a:sym typeface="Montserrat"/>
              </a:rPr>
            </a:br>
            <a:r>
              <a:rPr b="0" i="0" lang="en" sz="900" u="none" cap="none" strike="noStrike">
                <a:solidFill>
                  <a:schemeClr val="dk1"/>
                </a:solidFill>
                <a:latin typeface="Montserrat"/>
                <a:ea typeface="Montserrat"/>
                <a:cs typeface="Montserrat"/>
                <a:sym typeface="Montserrat"/>
              </a:rPr>
              <a:t>In addition to enhancing core digital properties, </a:t>
            </a:r>
            <a:r>
              <a:rPr b="1" i="0" lang="en" sz="900" u="none" cap="none" strike="noStrike">
                <a:solidFill>
                  <a:schemeClr val="dk1"/>
                </a:solidFill>
                <a:latin typeface="Montserrat"/>
                <a:ea typeface="Montserrat"/>
                <a:cs typeface="Montserrat"/>
                <a:sym typeface="Montserrat"/>
              </a:rPr>
              <a:t>TTN streamlined content curation</a:t>
            </a:r>
            <a:r>
              <a:rPr b="0" i="0" lang="en" sz="900" u="none" cap="none" strike="noStrike">
                <a:solidFill>
                  <a:schemeClr val="dk1"/>
                </a:solidFill>
                <a:latin typeface="Montserrat"/>
                <a:ea typeface="Montserrat"/>
                <a:cs typeface="Montserrat"/>
                <a:sym typeface="Montserrat"/>
              </a:rPr>
              <a:t> through a</a:t>
            </a:r>
            <a:r>
              <a:rPr b="1" i="0" lang="en" sz="900" u="none" cap="none" strike="noStrike">
                <a:solidFill>
                  <a:schemeClr val="dk1"/>
                </a:solidFill>
                <a:latin typeface="Montserrat"/>
                <a:ea typeface="Montserrat"/>
                <a:cs typeface="Montserrat"/>
                <a:sym typeface="Montserrat"/>
              </a:rPr>
              <a:t> custom-built CMS</a:t>
            </a:r>
            <a:r>
              <a:rPr b="0" i="0" lang="en" sz="900" u="none" cap="none" strike="noStrike">
                <a:solidFill>
                  <a:schemeClr val="dk1"/>
                </a:solidFill>
                <a:latin typeface="Montserrat"/>
                <a:ea typeface="Montserrat"/>
                <a:cs typeface="Montserrat"/>
                <a:sym typeface="Montserrat"/>
              </a:rPr>
              <a:t>, enabling auto and personalised playlists based on</a:t>
            </a:r>
            <a:r>
              <a:rPr b="1" i="0" lang="en" sz="900" u="none" cap="none" strike="noStrike">
                <a:solidFill>
                  <a:schemeClr val="dk1"/>
                </a:solidFill>
                <a:latin typeface="Montserrat"/>
                <a:ea typeface="Montserrat"/>
                <a:cs typeface="Montserrat"/>
                <a:sym typeface="Montserrat"/>
              </a:rPr>
              <a:t> user preferences</a:t>
            </a:r>
            <a:r>
              <a:rPr b="0" i="0" lang="en" sz="900" u="none" cap="none" strike="noStrike">
                <a:solidFill>
                  <a:schemeClr val="dk1"/>
                </a:solidFill>
                <a:latin typeface="Montserrat"/>
                <a:ea typeface="Montserrat"/>
                <a:cs typeface="Montserrat"/>
                <a:sym typeface="Montserrat"/>
              </a:rPr>
              <a:t>, which significantly improved </a:t>
            </a:r>
            <a:r>
              <a:rPr b="1" i="0" lang="en" sz="900" u="none" cap="none" strike="noStrike">
                <a:solidFill>
                  <a:schemeClr val="dk1"/>
                </a:solidFill>
                <a:latin typeface="Montserrat"/>
                <a:ea typeface="Montserrat"/>
                <a:cs typeface="Montserrat"/>
                <a:sym typeface="Montserrat"/>
              </a:rPr>
              <a:t>operational efficiency.</a:t>
            </a:r>
            <a:r>
              <a:rPr b="0" i="0" lang="en" sz="900" u="none" cap="none" strike="noStrike">
                <a:solidFill>
                  <a:schemeClr val="dk1"/>
                </a:solidFill>
                <a:latin typeface="Montserrat"/>
                <a:ea typeface="Montserrat"/>
                <a:cs typeface="Montserrat"/>
                <a:sym typeface="Montserrat"/>
              </a:rPr>
              <a:t> </a:t>
            </a:r>
            <a:br>
              <a:rPr b="0" i="0" lang="en" sz="900" u="none" cap="none" strike="noStrike">
                <a:solidFill>
                  <a:schemeClr val="dk1"/>
                </a:solidFill>
                <a:latin typeface="Montserrat"/>
                <a:ea typeface="Montserrat"/>
                <a:cs typeface="Montserrat"/>
                <a:sym typeface="Montserrat"/>
              </a:rPr>
            </a:br>
            <a:br>
              <a:rPr b="0" i="0" lang="en" sz="900" u="none" cap="none" strike="noStrike">
                <a:solidFill>
                  <a:schemeClr val="dk1"/>
                </a:solidFill>
                <a:latin typeface="Montserrat"/>
                <a:ea typeface="Montserrat"/>
                <a:cs typeface="Montserrat"/>
                <a:sym typeface="Montserrat"/>
              </a:rPr>
            </a:br>
            <a:r>
              <a:rPr b="0" i="0" lang="en" sz="900" u="none" cap="none" strike="noStrike">
                <a:solidFill>
                  <a:schemeClr val="dk1"/>
                </a:solidFill>
                <a:latin typeface="Montserrat"/>
                <a:ea typeface="Montserrat"/>
                <a:cs typeface="Montserrat"/>
                <a:sym typeface="Montserrat"/>
              </a:rPr>
              <a:t>The platform features live </a:t>
            </a:r>
            <a:r>
              <a:rPr b="1" i="0" lang="en" sz="900" u="none" cap="none" strike="noStrike">
                <a:solidFill>
                  <a:schemeClr val="dk1"/>
                </a:solidFill>
                <a:latin typeface="Montserrat"/>
                <a:ea typeface="Montserrat"/>
                <a:cs typeface="Montserrat"/>
                <a:sym typeface="Montserrat"/>
              </a:rPr>
              <a:t>race streaming and VOD content</a:t>
            </a:r>
            <a:r>
              <a:rPr b="0" i="0" lang="en" sz="900" u="none" cap="none" strike="noStrike">
                <a:solidFill>
                  <a:schemeClr val="dk1"/>
                </a:solidFill>
                <a:latin typeface="Montserrat"/>
                <a:ea typeface="Montserrat"/>
                <a:cs typeface="Montserrat"/>
                <a:sym typeface="Montserrat"/>
              </a:rPr>
              <a:t>, leveraging a comprehensive technology stack that includes Kotlin, Swift, Java, MongoDB, Spring Boot, and more.</a:t>
            </a:r>
            <a:endParaRPr b="1" i="0" sz="900" u="none" cap="none" strike="noStrike">
              <a:solidFill>
                <a:srgbClr val="D9187F"/>
              </a:solidFill>
              <a:latin typeface="Montserrat"/>
              <a:ea typeface="Montserrat"/>
              <a:cs typeface="Montserrat"/>
              <a:sym typeface="Montserrat"/>
            </a:endParaRPr>
          </a:p>
        </p:txBody>
      </p:sp>
      <p:pic>
        <p:nvPicPr>
          <p:cNvPr id="626" name="Google Shape;626;p25"/>
          <p:cNvPicPr preferRelativeResize="0"/>
          <p:nvPr/>
        </p:nvPicPr>
        <p:blipFill rotWithShape="1">
          <a:blip r:embed="rId4">
            <a:alphaModFix/>
          </a:blip>
          <a:srcRect b="0" l="0" r="0" t="0"/>
          <a:stretch/>
        </p:blipFill>
        <p:spPr>
          <a:xfrm>
            <a:off x="182896" y="156319"/>
            <a:ext cx="612506" cy="510431"/>
          </a:xfrm>
          <a:prstGeom prst="rect">
            <a:avLst/>
          </a:prstGeom>
          <a:noFill/>
          <a:ln>
            <a:noFill/>
          </a:ln>
        </p:spPr>
      </p:pic>
      <p:sp>
        <p:nvSpPr>
          <p:cNvPr id="627" name="Google Shape;627;p25"/>
          <p:cNvSpPr/>
          <p:nvPr/>
        </p:nvSpPr>
        <p:spPr>
          <a:xfrm>
            <a:off x="6123225" y="763069"/>
            <a:ext cx="2232300" cy="267900"/>
          </a:xfrm>
          <a:prstGeom prst="rect">
            <a:avLst/>
          </a:prstGeom>
          <a:solidFill>
            <a:srgbClr val="5C72B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chemeClr val="lt1"/>
                </a:solidFill>
                <a:latin typeface="Montserrat"/>
                <a:ea typeface="Montserrat"/>
                <a:cs typeface="Montserrat"/>
                <a:sym typeface="Montserrat"/>
              </a:rPr>
              <a:t>   Australia </a:t>
            </a:r>
            <a:endParaRPr b="0" i="0" sz="1000" u="none" cap="none" strike="noStrike">
              <a:solidFill>
                <a:schemeClr val="lt1"/>
              </a:solidFill>
              <a:latin typeface="Montserrat"/>
              <a:ea typeface="Montserrat"/>
              <a:cs typeface="Montserrat"/>
              <a:sym typeface="Montserrat"/>
            </a:endParaRPr>
          </a:p>
        </p:txBody>
      </p:sp>
      <p:pic>
        <p:nvPicPr>
          <p:cNvPr id="628" name="Google Shape;628;p25"/>
          <p:cNvPicPr preferRelativeResize="0"/>
          <p:nvPr/>
        </p:nvPicPr>
        <p:blipFill rotWithShape="1">
          <a:blip r:embed="rId5">
            <a:alphaModFix/>
          </a:blip>
          <a:srcRect b="0" l="0" r="0" t="0"/>
          <a:stretch/>
        </p:blipFill>
        <p:spPr>
          <a:xfrm>
            <a:off x="309115" y="1314638"/>
            <a:ext cx="4862602" cy="2662069"/>
          </a:xfrm>
          <a:prstGeom prst="rect">
            <a:avLst/>
          </a:prstGeom>
          <a:noFill/>
          <a:ln>
            <a:noFill/>
          </a:ln>
        </p:spPr>
      </p:pic>
      <p:pic>
        <p:nvPicPr>
          <p:cNvPr id="629" name="Google Shape;629;p25"/>
          <p:cNvPicPr preferRelativeResize="0"/>
          <p:nvPr/>
        </p:nvPicPr>
        <p:blipFill rotWithShape="1">
          <a:blip r:embed="rId6">
            <a:alphaModFix/>
          </a:blip>
          <a:srcRect b="10521" l="6650" r="11154" t="4633"/>
          <a:stretch/>
        </p:blipFill>
        <p:spPr>
          <a:xfrm>
            <a:off x="851944" y="1443453"/>
            <a:ext cx="3776945" cy="1955583"/>
          </a:xfrm>
          <a:prstGeom prst="rect">
            <a:avLst/>
          </a:prstGeom>
          <a:noFill/>
          <a:ln>
            <a:noFill/>
          </a:ln>
        </p:spPr>
      </p:pic>
      <p:pic>
        <p:nvPicPr>
          <p:cNvPr id="630" name="Google Shape;630;p25"/>
          <p:cNvPicPr preferRelativeResize="0"/>
          <p:nvPr/>
        </p:nvPicPr>
        <p:blipFill rotWithShape="1">
          <a:blip r:embed="rId7">
            <a:alphaModFix/>
          </a:blip>
          <a:srcRect b="0" l="0" r="0" t="0"/>
          <a:stretch/>
        </p:blipFill>
        <p:spPr>
          <a:xfrm>
            <a:off x="4213317" y="1131394"/>
            <a:ext cx="1400655" cy="2780532"/>
          </a:xfrm>
          <a:prstGeom prst="rect">
            <a:avLst/>
          </a:prstGeom>
          <a:noFill/>
          <a:ln>
            <a:noFill/>
          </a:ln>
        </p:spPr>
      </p:pic>
      <p:pic>
        <p:nvPicPr>
          <p:cNvPr id="631" name="Google Shape;631;p25"/>
          <p:cNvPicPr preferRelativeResize="0"/>
          <p:nvPr/>
        </p:nvPicPr>
        <p:blipFill rotWithShape="1">
          <a:blip r:embed="rId8">
            <a:alphaModFix/>
          </a:blip>
          <a:srcRect b="0" l="0" r="0" t="0"/>
          <a:stretch/>
        </p:blipFill>
        <p:spPr>
          <a:xfrm>
            <a:off x="4298073" y="1209199"/>
            <a:ext cx="1236900" cy="2565600"/>
          </a:xfrm>
          <a:prstGeom prst="round2SameRect">
            <a:avLst>
              <a:gd fmla="val 10615" name="adj1"/>
              <a:gd fmla="val 0" name="adj2"/>
            </a:avLst>
          </a:prstGeom>
          <a:noFill/>
          <a:ln>
            <a:noFill/>
          </a:ln>
        </p:spPr>
      </p:pic>
      <p:pic>
        <p:nvPicPr>
          <p:cNvPr id="632" name="Google Shape;632;p25"/>
          <p:cNvPicPr preferRelativeResize="0"/>
          <p:nvPr/>
        </p:nvPicPr>
        <p:blipFill rotWithShape="1">
          <a:blip r:embed="rId9">
            <a:alphaModFix/>
          </a:blip>
          <a:srcRect b="14288" l="0" r="0" t="0"/>
          <a:stretch/>
        </p:blipFill>
        <p:spPr>
          <a:xfrm>
            <a:off x="851951" y="1443450"/>
            <a:ext cx="3361367" cy="2148149"/>
          </a:xfrm>
          <a:prstGeom prst="rect">
            <a:avLst/>
          </a:prstGeom>
          <a:noFill/>
          <a:ln>
            <a:noFill/>
          </a:ln>
        </p:spPr>
      </p:pic>
      <p:pic>
        <p:nvPicPr>
          <p:cNvPr id="633" name="Google Shape;633;p25"/>
          <p:cNvPicPr preferRelativeResize="0"/>
          <p:nvPr/>
        </p:nvPicPr>
        <p:blipFill rotWithShape="1">
          <a:blip r:embed="rId10">
            <a:alphaModFix/>
          </a:blip>
          <a:srcRect b="0" l="0" r="0" t="0"/>
          <a:stretch/>
        </p:blipFill>
        <p:spPr>
          <a:xfrm>
            <a:off x="4298069" y="1177687"/>
            <a:ext cx="1236900" cy="2597100"/>
          </a:xfrm>
          <a:prstGeom prst="round2SameRect">
            <a:avLst>
              <a:gd fmla="val 13849" name="adj1"/>
              <a:gd fmla="val 0" name="adj2"/>
            </a:avLst>
          </a:prstGeom>
          <a:noFill/>
          <a:ln>
            <a:noFill/>
          </a:ln>
        </p:spPr>
      </p:pic>
      <p:pic>
        <p:nvPicPr>
          <p:cNvPr descr="TTN Logo.png" id="634" name="Google Shape;634;p25"/>
          <p:cNvPicPr preferRelativeResize="0"/>
          <p:nvPr/>
        </p:nvPicPr>
        <p:blipFill rotWithShape="1">
          <a:blip r:embed="rId11">
            <a:alphaModFix/>
          </a:blip>
          <a:srcRect b="0" l="0" r="0" t="0"/>
          <a:stretch/>
        </p:blipFill>
        <p:spPr>
          <a:xfrm>
            <a:off x="8414781" y="117828"/>
            <a:ext cx="625544" cy="349439"/>
          </a:xfrm>
          <a:prstGeom prst="rect">
            <a:avLst/>
          </a:prstGeom>
          <a:noFill/>
          <a:ln>
            <a:noFill/>
          </a:ln>
        </p:spPr>
      </p:pic>
      <p:sp>
        <p:nvSpPr>
          <p:cNvPr id="635" name="Google Shape;635;p25"/>
          <p:cNvSpPr txBox="1"/>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000000"/>
              </a:buClr>
              <a:buSzPts val="800"/>
              <a:buFont typeface="Arial"/>
              <a:buNone/>
            </a:pPr>
            <a:fld id="{00000000-1234-1234-1234-123412341234}" type="slidenum">
              <a:rPr b="0" i="0" lang="en" sz="800" u="none" cap="none" strike="noStrike">
                <a:solidFill>
                  <a:srgbClr val="000000"/>
                </a:solidFill>
                <a:latin typeface="Montserrat"/>
                <a:ea typeface="Montserrat"/>
                <a:cs typeface="Montserrat"/>
                <a:sym typeface="Montserrat"/>
              </a:rPr>
              <a:t>‹#›</a:t>
            </a:fld>
            <a:endParaRPr b="0" i="0" sz="800" u="none" cap="none" strike="noStrike">
              <a:solidFill>
                <a:srgbClr val="000000"/>
              </a:solidFill>
              <a:latin typeface="Montserrat"/>
              <a:ea typeface="Montserrat"/>
              <a:cs typeface="Montserrat"/>
              <a:sym typeface="Montserrat"/>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639" name="Shape 639"/>
        <p:cNvGrpSpPr/>
        <p:nvPr/>
      </p:nvGrpSpPr>
      <p:grpSpPr>
        <a:xfrm>
          <a:off x="0" y="0"/>
          <a:ext cx="0" cy="0"/>
          <a:chOff x="0" y="0"/>
          <a:chExt cx="0" cy="0"/>
        </a:xfrm>
      </p:grpSpPr>
      <p:sp>
        <p:nvSpPr>
          <p:cNvPr id="640" name="Google Shape;640;p26"/>
          <p:cNvSpPr/>
          <p:nvPr/>
        </p:nvSpPr>
        <p:spPr>
          <a:xfrm>
            <a:off x="0" y="144000"/>
            <a:ext cx="47400" cy="357300"/>
          </a:xfrm>
          <a:prstGeom prst="rect">
            <a:avLst/>
          </a:prstGeom>
          <a:solidFill>
            <a:srgbClr val="D71B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1" name="Google Shape;641;p26"/>
          <p:cNvSpPr txBox="1"/>
          <p:nvPr/>
        </p:nvSpPr>
        <p:spPr>
          <a:xfrm>
            <a:off x="6221063" y="1127906"/>
            <a:ext cx="2846400" cy="2014200"/>
          </a:xfrm>
          <a:prstGeom prst="rect">
            <a:avLst/>
          </a:prstGeom>
          <a:noFill/>
          <a:ln>
            <a:noFill/>
          </a:ln>
          <a:effectLst>
            <a:outerShdw blurRad="228600" rotWithShape="0" algn="bl" dir="5400000" dist="57150">
              <a:srgbClr val="000000">
                <a:alpha val="10980"/>
              </a:srgbClr>
            </a:outerShdw>
          </a:effectLst>
        </p:spPr>
        <p:txBody>
          <a:bodyPr anchorCtr="0" anchor="t" bIns="91425" lIns="91425" spcFirstLastPara="1" rIns="91425" wrap="square" tIns="91425">
            <a:noAutofit/>
          </a:bodyPr>
          <a:lstStyle/>
          <a:p>
            <a:pPr indent="0" lvl="0" marL="0" marR="0" rtl="0" algn="l">
              <a:lnSpc>
                <a:spcPct val="115000"/>
              </a:lnSpc>
              <a:spcBef>
                <a:spcPts val="1200"/>
              </a:spcBef>
              <a:spcAft>
                <a:spcPts val="0"/>
              </a:spcAft>
              <a:buClr>
                <a:schemeClr val="dk1"/>
              </a:buClr>
              <a:buSzPts val="1100"/>
              <a:buFont typeface="Arial"/>
              <a:buNone/>
            </a:pPr>
            <a:r>
              <a:rPr b="0" i="0" lang="en" sz="900" u="none" cap="none" strike="noStrike">
                <a:solidFill>
                  <a:schemeClr val="dk1"/>
                </a:solidFill>
                <a:latin typeface="Montserrat"/>
                <a:ea typeface="Montserrat"/>
                <a:cs typeface="Montserrat"/>
                <a:sym typeface="Montserrat"/>
              </a:rPr>
              <a:t>Tata Play partnered with us to reimagine their digital platforms - bringing innovation to both entertainment and customer self-service.</a:t>
            </a:r>
            <a:endParaRPr b="0" i="0" sz="900" u="none" cap="none" strike="noStrike">
              <a:solidFill>
                <a:schemeClr val="dk1"/>
              </a:solidFill>
              <a:latin typeface="Montserrat"/>
              <a:ea typeface="Montserrat"/>
              <a:cs typeface="Montserrat"/>
              <a:sym typeface="Montserrat"/>
            </a:endParaRPr>
          </a:p>
          <a:p>
            <a:pPr indent="0" lvl="0" marL="0" marR="0" rtl="0" algn="l">
              <a:lnSpc>
                <a:spcPct val="115000"/>
              </a:lnSpc>
              <a:spcBef>
                <a:spcPts val="1200"/>
              </a:spcBef>
              <a:spcAft>
                <a:spcPts val="0"/>
              </a:spcAft>
              <a:buClr>
                <a:schemeClr val="dk1"/>
              </a:buClr>
              <a:buSzPts val="1100"/>
              <a:buFont typeface="Arial"/>
              <a:buNone/>
            </a:pPr>
            <a:r>
              <a:rPr b="0" i="0" lang="en" sz="900" u="none" cap="none" strike="noStrike">
                <a:solidFill>
                  <a:schemeClr val="dk1"/>
                </a:solidFill>
                <a:latin typeface="Montserrat"/>
                <a:ea typeface="Montserrat"/>
                <a:cs typeface="Montserrat"/>
                <a:sym typeface="Montserrat"/>
              </a:rPr>
              <a:t>We engineered a secure OTT solution featuring </a:t>
            </a:r>
            <a:r>
              <a:rPr b="1" i="0" lang="en" sz="900" u="none" cap="none" strike="noStrike">
                <a:solidFill>
                  <a:schemeClr val="dk1"/>
                </a:solidFill>
                <a:latin typeface="Montserrat"/>
                <a:ea typeface="Montserrat"/>
                <a:cs typeface="Montserrat"/>
                <a:sym typeface="Montserrat"/>
              </a:rPr>
              <a:t>Live TV</a:t>
            </a:r>
            <a:r>
              <a:rPr b="0" i="0" lang="en" sz="900" u="none" cap="none" strike="noStrike">
                <a:solidFill>
                  <a:schemeClr val="dk1"/>
                </a:solidFill>
                <a:latin typeface="Montserrat"/>
                <a:ea typeface="Montserrat"/>
                <a:cs typeface="Montserrat"/>
                <a:sym typeface="Montserrat"/>
              </a:rPr>
              <a:t>, </a:t>
            </a:r>
            <a:r>
              <a:rPr b="1" i="0" lang="en" sz="900" u="none" cap="none" strike="noStrike">
                <a:solidFill>
                  <a:schemeClr val="dk1"/>
                </a:solidFill>
                <a:latin typeface="Montserrat"/>
                <a:ea typeface="Montserrat"/>
                <a:cs typeface="Montserrat"/>
                <a:sym typeface="Montserrat"/>
              </a:rPr>
              <a:t>VoD</a:t>
            </a:r>
            <a:r>
              <a:rPr b="0" i="0" lang="en" sz="900" u="none" cap="none" strike="noStrike">
                <a:solidFill>
                  <a:schemeClr val="dk1"/>
                </a:solidFill>
                <a:latin typeface="Montserrat"/>
                <a:ea typeface="Montserrat"/>
                <a:cs typeface="Montserrat"/>
                <a:sym typeface="Montserrat"/>
              </a:rPr>
              <a:t>, </a:t>
            </a:r>
            <a:r>
              <a:rPr b="1" i="0" lang="en" sz="900" u="none" cap="none" strike="noStrike">
                <a:solidFill>
                  <a:schemeClr val="dk1"/>
                </a:solidFill>
                <a:latin typeface="Montserrat"/>
                <a:ea typeface="Montserrat"/>
                <a:cs typeface="Montserrat"/>
                <a:sym typeface="Montserrat"/>
              </a:rPr>
              <a:t>DRM integration</a:t>
            </a:r>
            <a:r>
              <a:rPr b="0" i="0" lang="en" sz="900" u="none" cap="none" strike="noStrike">
                <a:solidFill>
                  <a:schemeClr val="dk1"/>
                </a:solidFill>
                <a:latin typeface="Montserrat"/>
                <a:ea typeface="Montserrat"/>
                <a:cs typeface="Montserrat"/>
                <a:sym typeface="Montserrat"/>
              </a:rPr>
              <a:t>, and user-friendly tools like </a:t>
            </a:r>
            <a:r>
              <a:rPr b="1" i="0" lang="en" sz="900" u="none" cap="none" strike="noStrike">
                <a:solidFill>
                  <a:schemeClr val="dk1"/>
                </a:solidFill>
                <a:latin typeface="Montserrat"/>
                <a:ea typeface="Montserrat"/>
                <a:cs typeface="Montserrat"/>
                <a:sym typeface="Montserrat"/>
              </a:rPr>
              <a:t>remote recording</a:t>
            </a:r>
            <a:r>
              <a:rPr b="0" i="0" lang="en" sz="900" u="none" cap="none" strike="noStrike">
                <a:solidFill>
                  <a:schemeClr val="dk1"/>
                </a:solidFill>
                <a:latin typeface="Montserrat"/>
                <a:ea typeface="Montserrat"/>
                <a:cs typeface="Montserrat"/>
                <a:sym typeface="Montserrat"/>
              </a:rPr>
              <a:t> and </a:t>
            </a:r>
            <a:r>
              <a:rPr b="1" i="0" lang="en" sz="900" u="none" cap="none" strike="noStrike">
                <a:solidFill>
                  <a:schemeClr val="dk1"/>
                </a:solidFill>
                <a:latin typeface="Montserrat"/>
                <a:ea typeface="Montserrat"/>
                <a:cs typeface="Montserrat"/>
                <a:sym typeface="Montserrat"/>
              </a:rPr>
              <a:t>rich analytics</a:t>
            </a:r>
            <a:r>
              <a:rPr b="0" i="0" lang="en" sz="900" u="none" cap="none" strike="noStrike">
                <a:solidFill>
                  <a:schemeClr val="dk1"/>
                </a:solidFill>
                <a:latin typeface="Montserrat"/>
                <a:ea typeface="Montserrat"/>
                <a:cs typeface="Montserrat"/>
                <a:sym typeface="Montserrat"/>
              </a:rPr>
              <a:t>. In parallel, we developed a </a:t>
            </a:r>
            <a:r>
              <a:rPr b="1" i="0" lang="en" sz="900" u="none" cap="none" strike="noStrike">
                <a:solidFill>
                  <a:schemeClr val="dk1"/>
                </a:solidFill>
                <a:latin typeface="Montserrat"/>
                <a:ea typeface="Montserrat"/>
                <a:cs typeface="Montserrat"/>
                <a:sym typeface="Montserrat"/>
              </a:rPr>
              <a:t>React Native-based Self-Care app</a:t>
            </a:r>
            <a:r>
              <a:rPr b="0" i="0" lang="en" sz="900" u="none" cap="none" strike="noStrike">
                <a:solidFill>
                  <a:schemeClr val="dk1"/>
                </a:solidFill>
                <a:latin typeface="Montserrat"/>
                <a:ea typeface="Montserrat"/>
                <a:cs typeface="Montserrat"/>
                <a:sym typeface="Montserrat"/>
              </a:rPr>
              <a:t> with a </a:t>
            </a:r>
            <a:r>
              <a:rPr b="1" i="0" lang="en" sz="900" u="none" cap="none" strike="noStrike">
                <a:solidFill>
                  <a:schemeClr val="dk1"/>
                </a:solidFill>
                <a:latin typeface="Montserrat"/>
                <a:ea typeface="Montserrat"/>
                <a:cs typeface="Montserrat"/>
                <a:sym typeface="Montserrat"/>
              </a:rPr>
              <a:t>unified Android/iOS codebase</a:t>
            </a:r>
            <a:r>
              <a:rPr b="0" i="0" lang="en" sz="900" u="none" cap="none" strike="noStrike">
                <a:solidFill>
                  <a:schemeClr val="dk1"/>
                </a:solidFill>
                <a:latin typeface="Montserrat"/>
                <a:ea typeface="Montserrat"/>
                <a:cs typeface="Montserrat"/>
                <a:sym typeface="Montserrat"/>
              </a:rPr>
              <a:t>, enabling faster releases and seamless </a:t>
            </a:r>
            <a:r>
              <a:rPr b="1" i="0" lang="en" sz="900" u="none" cap="none" strike="noStrike">
                <a:solidFill>
                  <a:schemeClr val="dk1"/>
                </a:solidFill>
                <a:latin typeface="Montserrat"/>
                <a:ea typeface="Montserrat"/>
                <a:cs typeface="Montserrat"/>
                <a:sym typeface="Montserrat"/>
              </a:rPr>
              <a:t>CRM/payment gateway integration</a:t>
            </a:r>
            <a:r>
              <a:rPr b="0" i="0" lang="en" sz="900" u="none" cap="none" strike="noStrike">
                <a:solidFill>
                  <a:schemeClr val="dk1"/>
                </a:solidFill>
                <a:latin typeface="Montserrat"/>
                <a:ea typeface="Montserrat"/>
                <a:cs typeface="Montserrat"/>
                <a:sym typeface="Montserrat"/>
              </a:rPr>
              <a:t>.</a:t>
            </a:r>
            <a:endParaRPr b="0" i="0" sz="900" u="none" cap="none" strike="noStrike">
              <a:solidFill>
                <a:schemeClr val="dk1"/>
              </a:solidFill>
              <a:latin typeface="Montserrat"/>
              <a:ea typeface="Montserrat"/>
              <a:cs typeface="Montserrat"/>
              <a:sym typeface="Montserrat"/>
            </a:endParaRPr>
          </a:p>
          <a:p>
            <a:pPr indent="0" lvl="0" marL="0" marR="0" rtl="0" algn="l">
              <a:lnSpc>
                <a:spcPct val="115000"/>
              </a:lnSpc>
              <a:spcBef>
                <a:spcPts val="1200"/>
              </a:spcBef>
              <a:spcAft>
                <a:spcPts val="0"/>
              </a:spcAft>
              <a:buClr>
                <a:schemeClr val="dk1"/>
              </a:buClr>
              <a:buSzPts val="1100"/>
              <a:buFont typeface="Arial"/>
              <a:buNone/>
            </a:pPr>
            <a:r>
              <a:rPr b="0" i="0" lang="en" sz="900" u="none" cap="none" strike="noStrike">
                <a:solidFill>
                  <a:schemeClr val="dk1"/>
                </a:solidFill>
                <a:latin typeface="Montserrat"/>
                <a:ea typeface="Montserrat"/>
                <a:cs typeface="Montserrat"/>
                <a:sym typeface="Montserrat"/>
              </a:rPr>
              <a:t>Powered by a </a:t>
            </a:r>
            <a:r>
              <a:rPr b="1" i="0" lang="en" sz="900" u="none" cap="none" strike="noStrike">
                <a:solidFill>
                  <a:schemeClr val="dk1"/>
                </a:solidFill>
                <a:latin typeface="Montserrat"/>
                <a:ea typeface="Montserrat"/>
                <a:cs typeface="Montserrat"/>
                <a:sym typeface="Montserrat"/>
              </a:rPr>
              <a:t>microservices architecture</a:t>
            </a:r>
            <a:r>
              <a:rPr b="0" i="0" lang="en" sz="900" u="none" cap="none" strike="noStrike">
                <a:solidFill>
                  <a:schemeClr val="dk1"/>
                </a:solidFill>
                <a:latin typeface="Montserrat"/>
                <a:ea typeface="Montserrat"/>
                <a:cs typeface="Montserrat"/>
                <a:sym typeface="Montserrat"/>
              </a:rPr>
              <a:t>, the platforms are scalable, resilient, and experience-driven.</a:t>
            </a:r>
            <a:endParaRPr b="0" i="0" sz="900" u="none" cap="none" strike="noStrike">
              <a:solidFill>
                <a:schemeClr val="dk1"/>
              </a:solidFill>
              <a:latin typeface="Montserrat"/>
              <a:ea typeface="Montserrat"/>
              <a:cs typeface="Montserrat"/>
              <a:sym typeface="Montserrat"/>
            </a:endParaRPr>
          </a:p>
          <a:p>
            <a:pPr indent="0" lvl="0" marL="0" marR="0" rtl="0" algn="l">
              <a:lnSpc>
                <a:spcPct val="115000"/>
              </a:lnSpc>
              <a:spcBef>
                <a:spcPts val="1200"/>
              </a:spcBef>
              <a:spcAft>
                <a:spcPts val="0"/>
              </a:spcAft>
              <a:buClr>
                <a:schemeClr val="dk1"/>
              </a:buClr>
              <a:buSzPts val="1100"/>
              <a:buFont typeface="Arial"/>
              <a:buNone/>
            </a:pPr>
            <a:r>
              <a:rPr b="0" i="0" lang="en" sz="900" u="none" cap="none" strike="noStrike">
                <a:solidFill>
                  <a:schemeClr val="dk1"/>
                </a:solidFill>
                <a:latin typeface="Montserrat"/>
                <a:ea typeface="Montserrat"/>
                <a:cs typeface="Montserrat"/>
                <a:sym typeface="Montserrat"/>
              </a:rPr>
              <a:t>Achieved </a:t>
            </a:r>
            <a:r>
              <a:rPr b="1" i="0" lang="en" sz="900" u="none" cap="none" strike="noStrike">
                <a:solidFill>
                  <a:schemeClr val="dk1"/>
                </a:solidFill>
                <a:latin typeface="Montserrat"/>
                <a:ea typeface="Montserrat"/>
                <a:cs typeface="Montserrat"/>
                <a:sym typeface="Montserrat"/>
              </a:rPr>
              <a:t>70%+ mobile engagement</a:t>
            </a:r>
            <a:r>
              <a:rPr b="0" i="0" lang="en" sz="900" u="none" cap="none" strike="noStrike">
                <a:solidFill>
                  <a:schemeClr val="dk1"/>
                </a:solidFill>
                <a:latin typeface="Montserrat"/>
                <a:ea typeface="Montserrat"/>
                <a:cs typeface="Montserrat"/>
                <a:sym typeface="Montserrat"/>
              </a:rPr>
              <a:t>, improved </a:t>
            </a:r>
            <a:r>
              <a:rPr b="1" i="0" lang="en" sz="900" u="none" cap="none" strike="noStrike">
                <a:solidFill>
                  <a:schemeClr val="dk1"/>
                </a:solidFill>
                <a:latin typeface="Montserrat"/>
                <a:ea typeface="Montserrat"/>
                <a:cs typeface="Montserrat"/>
                <a:sym typeface="Montserrat"/>
              </a:rPr>
              <a:t>app ratings</a:t>
            </a:r>
            <a:r>
              <a:rPr b="0" i="0" lang="en" sz="900" u="none" cap="none" strike="noStrike">
                <a:solidFill>
                  <a:schemeClr val="dk1"/>
                </a:solidFill>
                <a:latin typeface="Montserrat"/>
                <a:ea typeface="Montserrat"/>
                <a:cs typeface="Montserrat"/>
                <a:sym typeface="Montserrat"/>
              </a:rPr>
              <a:t>, higher </a:t>
            </a:r>
            <a:r>
              <a:rPr b="1" i="0" lang="en" sz="900" u="none" cap="none" strike="noStrike">
                <a:solidFill>
                  <a:schemeClr val="dk1"/>
                </a:solidFill>
                <a:latin typeface="Montserrat"/>
                <a:ea typeface="Montserrat"/>
                <a:cs typeface="Montserrat"/>
                <a:sym typeface="Montserrat"/>
              </a:rPr>
              <a:t>user adoption</a:t>
            </a:r>
            <a:r>
              <a:rPr b="0" i="0" lang="en" sz="900" u="none" cap="none" strike="noStrike">
                <a:solidFill>
                  <a:schemeClr val="dk1"/>
                </a:solidFill>
                <a:latin typeface="Montserrat"/>
                <a:ea typeface="Montserrat"/>
                <a:cs typeface="Montserrat"/>
                <a:sym typeface="Montserrat"/>
              </a:rPr>
              <a:t>, and increased </a:t>
            </a:r>
            <a:r>
              <a:rPr b="1" i="0" lang="en" sz="900" u="none" cap="none" strike="noStrike">
                <a:solidFill>
                  <a:schemeClr val="dk1"/>
                </a:solidFill>
                <a:latin typeface="Montserrat"/>
                <a:ea typeface="Montserrat"/>
                <a:cs typeface="Montserrat"/>
                <a:sym typeface="Montserrat"/>
              </a:rPr>
              <a:t>recharge and upsell conversions</a:t>
            </a:r>
            <a:r>
              <a:rPr b="0" i="0" lang="en" sz="900" u="none" cap="none" strike="noStrike">
                <a:solidFill>
                  <a:schemeClr val="dk1"/>
                </a:solidFill>
                <a:latin typeface="Montserrat"/>
                <a:ea typeface="Montserrat"/>
                <a:cs typeface="Montserrat"/>
                <a:sym typeface="Montserrat"/>
              </a:rPr>
              <a:t> across digital channels.</a:t>
            </a:r>
            <a:endParaRPr b="0" i="0" sz="900" u="none" cap="none" strike="noStrike">
              <a:solidFill>
                <a:schemeClr val="dk1"/>
              </a:solidFill>
              <a:latin typeface="Montserrat"/>
              <a:ea typeface="Montserrat"/>
              <a:cs typeface="Montserrat"/>
              <a:sym typeface="Montserrat"/>
            </a:endParaRPr>
          </a:p>
          <a:p>
            <a:pPr indent="0" lvl="0" marL="0" marR="0" rtl="0" algn="l">
              <a:lnSpc>
                <a:spcPct val="150000"/>
              </a:lnSpc>
              <a:spcBef>
                <a:spcPts val="1200"/>
              </a:spcBef>
              <a:spcAft>
                <a:spcPts val="0"/>
              </a:spcAft>
              <a:buClr>
                <a:schemeClr val="dk1"/>
              </a:buClr>
              <a:buSzPts val="1100"/>
              <a:buFont typeface="Arial"/>
              <a:buNone/>
            </a:pPr>
            <a:r>
              <a:t/>
            </a:r>
            <a:endParaRPr b="1" i="0" sz="900" u="none" cap="none" strike="noStrike">
              <a:solidFill>
                <a:schemeClr val="dk1"/>
              </a:solidFill>
              <a:latin typeface="Montserrat"/>
              <a:ea typeface="Montserrat"/>
              <a:cs typeface="Montserrat"/>
              <a:sym typeface="Montserrat"/>
            </a:endParaRPr>
          </a:p>
        </p:txBody>
      </p:sp>
      <p:sp>
        <p:nvSpPr>
          <p:cNvPr id="642" name="Google Shape;642;p26"/>
          <p:cNvSpPr/>
          <p:nvPr/>
        </p:nvSpPr>
        <p:spPr>
          <a:xfrm>
            <a:off x="6123225" y="763069"/>
            <a:ext cx="2232300" cy="267900"/>
          </a:xfrm>
          <a:prstGeom prst="rect">
            <a:avLst/>
          </a:prstGeom>
          <a:solidFill>
            <a:srgbClr val="5C72B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chemeClr val="lt1"/>
                </a:solidFill>
                <a:latin typeface="Montserrat"/>
                <a:ea typeface="Montserrat"/>
                <a:cs typeface="Montserrat"/>
                <a:sym typeface="Montserrat"/>
              </a:rPr>
              <a:t>   India</a:t>
            </a:r>
            <a:endParaRPr b="0" i="0" sz="1000" u="none" cap="none" strike="noStrike">
              <a:solidFill>
                <a:schemeClr val="lt1"/>
              </a:solidFill>
              <a:latin typeface="Montserrat"/>
              <a:ea typeface="Montserrat"/>
              <a:cs typeface="Montserrat"/>
              <a:sym typeface="Montserrat"/>
            </a:endParaRPr>
          </a:p>
        </p:txBody>
      </p:sp>
      <p:pic>
        <p:nvPicPr>
          <p:cNvPr id="643" name="Google Shape;643;p26"/>
          <p:cNvPicPr preferRelativeResize="0"/>
          <p:nvPr/>
        </p:nvPicPr>
        <p:blipFill rotWithShape="1">
          <a:blip r:embed="rId4">
            <a:alphaModFix/>
          </a:blip>
          <a:srcRect b="0" l="0" r="0" t="0"/>
          <a:stretch/>
        </p:blipFill>
        <p:spPr>
          <a:xfrm>
            <a:off x="309115" y="1314638"/>
            <a:ext cx="4862602" cy="2662069"/>
          </a:xfrm>
          <a:prstGeom prst="rect">
            <a:avLst/>
          </a:prstGeom>
          <a:noFill/>
          <a:ln>
            <a:noFill/>
          </a:ln>
        </p:spPr>
      </p:pic>
      <p:pic>
        <p:nvPicPr>
          <p:cNvPr id="644" name="Google Shape;644;p26"/>
          <p:cNvPicPr preferRelativeResize="0"/>
          <p:nvPr/>
        </p:nvPicPr>
        <p:blipFill rotWithShape="1">
          <a:blip r:embed="rId5">
            <a:alphaModFix/>
          </a:blip>
          <a:srcRect b="10521" l="6650" r="11154" t="4633"/>
          <a:stretch/>
        </p:blipFill>
        <p:spPr>
          <a:xfrm>
            <a:off x="851944" y="1443453"/>
            <a:ext cx="3776945" cy="1955583"/>
          </a:xfrm>
          <a:prstGeom prst="rect">
            <a:avLst/>
          </a:prstGeom>
          <a:noFill/>
          <a:ln>
            <a:noFill/>
          </a:ln>
        </p:spPr>
      </p:pic>
      <p:pic>
        <p:nvPicPr>
          <p:cNvPr id="645" name="Google Shape;645;p26"/>
          <p:cNvPicPr preferRelativeResize="0"/>
          <p:nvPr/>
        </p:nvPicPr>
        <p:blipFill rotWithShape="1">
          <a:blip r:embed="rId6">
            <a:alphaModFix/>
          </a:blip>
          <a:srcRect b="0" l="0" r="0" t="0"/>
          <a:stretch/>
        </p:blipFill>
        <p:spPr>
          <a:xfrm>
            <a:off x="4213317" y="1131394"/>
            <a:ext cx="1400655" cy="2780532"/>
          </a:xfrm>
          <a:prstGeom prst="rect">
            <a:avLst/>
          </a:prstGeom>
          <a:noFill/>
          <a:ln>
            <a:noFill/>
          </a:ln>
        </p:spPr>
      </p:pic>
      <p:pic>
        <p:nvPicPr>
          <p:cNvPr id="646" name="Google Shape;646;p26"/>
          <p:cNvPicPr preferRelativeResize="0"/>
          <p:nvPr/>
        </p:nvPicPr>
        <p:blipFill rotWithShape="1">
          <a:blip r:embed="rId7">
            <a:alphaModFix/>
          </a:blip>
          <a:srcRect b="0" l="0" r="0" t="0"/>
          <a:stretch/>
        </p:blipFill>
        <p:spPr>
          <a:xfrm>
            <a:off x="4298073" y="1209199"/>
            <a:ext cx="1236900" cy="2565600"/>
          </a:xfrm>
          <a:prstGeom prst="round2SameRect">
            <a:avLst>
              <a:gd fmla="val 10615" name="adj1"/>
              <a:gd fmla="val 0" name="adj2"/>
            </a:avLst>
          </a:prstGeom>
          <a:noFill/>
          <a:ln>
            <a:noFill/>
          </a:ln>
        </p:spPr>
      </p:pic>
      <p:pic>
        <p:nvPicPr>
          <p:cNvPr id="647" name="Google Shape;647;p26" title="Screenshot (11).png"/>
          <p:cNvPicPr preferRelativeResize="0"/>
          <p:nvPr/>
        </p:nvPicPr>
        <p:blipFill rotWithShape="1">
          <a:blip r:embed="rId8">
            <a:alphaModFix/>
          </a:blip>
          <a:srcRect b="0" l="8089" r="8089" t="0"/>
          <a:stretch/>
        </p:blipFill>
        <p:spPr>
          <a:xfrm>
            <a:off x="851951" y="1443450"/>
            <a:ext cx="3361368" cy="2148150"/>
          </a:xfrm>
          <a:prstGeom prst="rect">
            <a:avLst/>
          </a:prstGeom>
          <a:noFill/>
          <a:ln>
            <a:noFill/>
          </a:ln>
        </p:spPr>
      </p:pic>
      <p:pic>
        <p:nvPicPr>
          <p:cNvPr id="648" name="Google Shape;648;p26" title="Screenshot (12).png"/>
          <p:cNvPicPr preferRelativeResize="0"/>
          <p:nvPr/>
        </p:nvPicPr>
        <p:blipFill rotWithShape="1">
          <a:blip r:embed="rId9">
            <a:alphaModFix/>
          </a:blip>
          <a:srcRect b="1067" l="0" r="0" t="1057"/>
          <a:stretch/>
        </p:blipFill>
        <p:spPr>
          <a:xfrm>
            <a:off x="4298069" y="1177687"/>
            <a:ext cx="1236900" cy="2597100"/>
          </a:xfrm>
          <a:prstGeom prst="round2SameRect">
            <a:avLst>
              <a:gd fmla="val 13849" name="adj1"/>
              <a:gd fmla="val 0" name="adj2"/>
            </a:avLst>
          </a:prstGeom>
          <a:noFill/>
          <a:ln>
            <a:noFill/>
          </a:ln>
        </p:spPr>
      </p:pic>
      <p:pic>
        <p:nvPicPr>
          <p:cNvPr descr="TTN Logo.png" id="649" name="Google Shape;649;p26"/>
          <p:cNvPicPr preferRelativeResize="0"/>
          <p:nvPr/>
        </p:nvPicPr>
        <p:blipFill rotWithShape="1">
          <a:blip r:embed="rId10">
            <a:alphaModFix/>
          </a:blip>
          <a:srcRect b="0" l="0" r="0" t="0"/>
          <a:stretch/>
        </p:blipFill>
        <p:spPr>
          <a:xfrm>
            <a:off x="8414781" y="117828"/>
            <a:ext cx="625544" cy="349439"/>
          </a:xfrm>
          <a:prstGeom prst="rect">
            <a:avLst/>
          </a:prstGeom>
          <a:noFill/>
          <a:ln>
            <a:noFill/>
          </a:ln>
        </p:spPr>
      </p:pic>
      <p:sp>
        <p:nvSpPr>
          <p:cNvPr id="650" name="Google Shape;650;p26"/>
          <p:cNvSpPr txBox="1"/>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000000"/>
              </a:buClr>
              <a:buSzPts val="800"/>
              <a:buFont typeface="Arial"/>
              <a:buNone/>
            </a:pPr>
            <a:fld id="{00000000-1234-1234-1234-123412341234}" type="slidenum">
              <a:rPr b="0" i="0" lang="en" sz="800" u="none" cap="none" strike="noStrike">
                <a:solidFill>
                  <a:srgbClr val="000000"/>
                </a:solidFill>
                <a:latin typeface="Montserrat"/>
                <a:ea typeface="Montserrat"/>
                <a:cs typeface="Montserrat"/>
                <a:sym typeface="Montserrat"/>
              </a:rPr>
              <a:t>‹#›</a:t>
            </a:fld>
            <a:endParaRPr b="0" i="0" sz="800" u="none" cap="none" strike="noStrike">
              <a:solidFill>
                <a:srgbClr val="000000"/>
              </a:solidFill>
              <a:latin typeface="Montserrat"/>
              <a:ea typeface="Montserrat"/>
              <a:cs typeface="Montserrat"/>
              <a:sym typeface="Montserrat"/>
            </a:endParaRPr>
          </a:p>
        </p:txBody>
      </p:sp>
      <p:pic>
        <p:nvPicPr>
          <p:cNvPr id="651" name="Google Shape;651;p26"/>
          <p:cNvPicPr preferRelativeResize="0"/>
          <p:nvPr/>
        </p:nvPicPr>
        <p:blipFill rotWithShape="1">
          <a:blip r:embed="rId11">
            <a:alphaModFix/>
          </a:blip>
          <a:srcRect b="0" l="0" r="0" t="0"/>
          <a:stretch/>
        </p:blipFill>
        <p:spPr>
          <a:xfrm>
            <a:off x="222400" y="64450"/>
            <a:ext cx="516401" cy="516401"/>
          </a:xfrm>
          <a:prstGeom prst="rect">
            <a:avLst/>
          </a:prstGeom>
          <a:noFill/>
          <a:ln>
            <a:noFill/>
          </a:ln>
        </p:spPr>
      </p:pic>
      <p:pic>
        <p:nvPicPr>
          <p:cNvPr id="652" name="Google Shape;652;p26"/>
          <p:cNvPicPr preferRelativeResize="0"/>
          <p:nvPr/>
        </p:nvPicPr>
        <p:blipFill rotWithShape="1">
          <a:blip r:embed="rId12">
            <a:alphaModFix/>
          </a:blip>
          <a:srcRect b="21694" l="0" r="0" t="17945"/>
          <a:stretch/>
        </p:blipFill>
        <p:spPr>
          <a:xfrm>
            <a:off x="913800" y="64450"/>
            <a:ext cx="994426" cy="516401"/>
          </a:xfrm>
          <a:prstGeom prst="rect">
            <a:avLst/>
          </a:prstGeom>
          <a:noFill/>
          <a:ln>
            <a:noFill/>
          </a:ln>
        </p:spPr>
      </p:pic>
      <p:cxnSp>
        <p:nvCxnSpPr>
          <p:cNvPr id="653" name="Google Shape;653;p26"/>
          <p:cNvCxnSpPr/>
          <p:nvPr/>
        </p:nvCxnSpPr>
        <p:spPr>
          <a:xfrm>
            <a:off x="819193" y="153689"/>
            <a:ext cx="0" cy="324300"/>
          </a:xfrm>
          <a:prstGeom prst="straightConnector1">
            <a:avLst/>
          </a:prstGeom>
          <a:noFill/>
          <a:ln cap="flat" cmpd="sng" w="9525">
            <a:solidFill>
              <a:srgbClr val="595959"/>
            </a:solidFill>
            <a:prstDash val="solid"/>
            <a:round/>
            <a:headEnd len="sm" w="sm" type="none"/>
            <a:tailEnd len="sm" w="sm" type="none"/>
          </a:ln>
        </p:spPr>
      </p:cxnSp>
      <p:pic>
        <p:nvPicPr>
          <p:cNvPr id="654" name="Google Shape;654;p26" title="Screenshot 2025-05-29 at 10.49.36 AM.png"/>
          <p:cNvPicPr preferRelativeResize="0"/>
          <p:nvPr/>
        </p:nvPicPr>
        <p:blipFill rotWithShape="1">
          <a:blip r:embed="rId13">
            <a:alphaModFix/>
          </a:blip>
          <a:srcRect b="0" l="0" r="0" t="0"/>
          <a:stretch/>
        </p:blipFill>
        <p:spPr>
          <a:xfrm>
            <a:off x="4298075" y="1209175"/>
            <a:ext cx="1269475" cy="2565601"/>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8" name="Shape 658"/>
        <p:cNvGrpSpPr/>
        <p:nvPr/>
      </p:nvGrpSpPr>
      <p:grpSpPr>
        <a:xfrm>
          <a:off x="0" y="0"/>
          <a:ext cx="0" cy="0"/>
          <a:chOff x="0" y="0"/>
          <a:chExt cx="0" cy="0"/>
        </a:xfrm>
      </p:grpSpPr>
      <p:sp>
        <p:nvSpPr>
          <p:cNvPr id="659" name="Google Shape;659;p27"/>
          <p:cNvSpPr txBox="1"/>
          <p:nvPr/>
        </p:nvSpPr>
        <p:spPr>
          <a:xfrm>
            <a:off x="105040" y="143994"/>
            <a:ext cx="6765900" cy="3573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1" i="0" lang="en" sz="2000" u="none" cap="none" strike="noStrike">
                <a:solidFill>
                  <a:schemeClr val="dk1"/>
                </a:solidFill>
                <a:latin typeface="Montserrat"/>
                <a:ea typeface="Montserrat"/>
                <a:cs typeface="Montserrat"/>
                <a:sym typeface="Montserrat"/>
              </a:rPr>
              <a:t>Quick Recap</a:t>
            </a:r>
            <a:endParaRPr b="1" i="0" sz="2000" u="none" cap="none" strike="noStrike">
              <a:solidFill>
                <a:schemeClr val="dk1"/>
              </a:solidFill>
              <a:latin typeface="Montserrat"/>
              <a:ea typeface="Montserrat"/>
              <a:cs typeface="Montserrat"/>
              <a:sym typeface="Montserrat"/>
            </a:endParaRPr>
          </a:p>
        </p:txBody>
      </p:sp>
      <p:sp>
        <p:nvSpPr>
          <p:cNvPr id="660" name="Google Shape;660;p27"/>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sz="1000"/>
              <a:t>‹#›</a:t>
            </a:fld>
            <a:endParaRPr sz="1000"/>
          </a:p>
        </p:txBody>
      </p:sp>
      <p:sp>
        <p:nvSpPr>
          <p:cNvPr id="661" name="Google Shape;661;p27"/>
          <p:cNvSpPr/>
          <p:nvPr/>
        </p:nvSpPr>
        <p:spPr>
          <a:xfrm>
            <a:off x="226950" y="921038"/>
            <a:ext cx="8690100" cy="3293100"/>
          </a:xfrm>
          <a:prstGeom prst="snip1Rect">
            <a:avLst>
              <a:gd fmla="val 16333"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t" bIns="0" lIns="121875" spcFirstLastPara="1" rIns="121875" wrap="square" tIns="0">
            <a:noAutofit/>
          </a:bodyPr>
          <a:lstStyle/>
          <a:p>
            <a:pPr indent="0" lvl="0" marL="0" marR="0" rtl="0" algn="just">
              <a:lnSpc>
                <a:spcPct val="115000"/>
              </a:lnSpc>
              <a:spcBef>
                <a:spcPts val="0"/>
              </a:spcBef>
              <a:spcAft>
                <a:spcPts val="0"/>
              </a:spcAft>
              <a:buClr>
                <a:srgbClr val="000000"/>
              </a:buClr>
              <a:buSzPts val="1100"/>
              <a:buFont typeface="Arial"/>
              <a:buNone/>
            </a:pPr>
            <a:r>
              <a:t/>
            </a:r>
            <a:endParaRPr b="1" i="0" sz="1000" u="none" cap="none" strike="noStrike">
              <a:solidFill>
                <a:srgbClr val="D71B7F"/>
              </a:solidFill>
              <a:latin typeface="Montserrat"/>
              <a:ea typeface="Montserrat"/>
              <a:cs typeface="Montserrat"/>
              <a:sym typeface="Montserrat"/>
            </a:endParaRPr>
          </a:p>
        </p:txBody>
      </p:sp>
      <p:cxnSp>
        <p:nvCxnSpPr>
          <p:cNvPr id="662" name="Google Shape;662;p27"/>
          <p:cNvCxnSpPr/>
          <p:nvPr/>
        </p:nvCxnSpPr>
        <p:spPr>
          <a:xfrm>
            <a:off x="249444" y="929365"/>
            <a:ext cx="0" cy="3293100"/>
          </a:xfrm>
          <a:prstGeom prst="straightConnector1">
            <a:avLst/>
          </a:prstGeom>
          <a:noFill/>
          <a:ln cap="flat" cmpd="sng" w="19050">
            <a:solidFill>
              <a:srgbClr val="12519C"/>
            </a:solidFill>
            <a:prstDash val="solid"/>
            <a:round/>
            <a:headEnd len="sm" w="sm" type="none"/>
            <a:tailEnd len="sm" w="sm" type="none"/>
          </a:ln>
        </p:spPr>
      </p:cxnSp>
      <p:sp>
        <p:nvSpPr>
          <p:cNvPr id="663" name="Google Shape;663;p27"/>
          <p:cNvSpPr txBox="1"/>
          <p:nvPr/>
        </p:nvSpPr>
        <p:spPr>
          <a:xfrm>
            <a:off x="261425" y="987013"/>
            <a:ext cx="8127900" cy="3124500"/>
          </a:xfrm>
          <a:prstGeom prst="rect">
            <a:avLst/>
          </a:prstGeom>
          <a:noFill/>
          <a:ln>
            <a:noFill/>
          </a:ln>
        </p:spPr>
        <p:txBody>
          <a:bodyPr anchorCtr="0" anchor="t" bIns="91425" lIns="91425" spcFirstLastPara="1" rIns="91425" wrap="square" tIns="91425">
            <a:spAutoFit/>
          </a:bodyPr>
          <a:lstStyle/>
          <a:p>
            <a:r>
              <a:t>Apex Retail Solutions seeks a scalable, secure, and user-centric retail platform to enhance customer engagement and operational efficiency. Our solution is designed to meet the evolving needs of modern retail through a combination of advanced search capabilities, seamless payment integration, and a headless CMS approach. We bring extensive experience in building secure, accessible, and integrable systems that align with global compliance standards and support real-time data synchronization across key business functions.</a:t>
            </a: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7" name="Shape 667"/>
        <p:cNvGrpSpPr/>
        <p:nvPr/>
      </p:nvGrpSpPr>
      <p:grpSpPr>
        <a:xfrm>
          <a:off x="0" y="0"/>
          <a:ext cx="0" cy="0"/>
          <a:chOff x="0" y="0"/>
          <a:chExt cx="0" cy="0"/>
        </a:xfrm>
      </p:grpSpPr>
      <p:pic>
        <p:nvPicPr>
          <p:cNvPr id="668" name="Google Shape;668;p28"/>
          <p:cNvPicPr preferRelativeResize="0"/>
          <p:nvPr/>
        </p:nvPicPr>
        <p:blipFill rotWithShape="1">
          <a:blip r:embed="rId3">
            <a:alphaModFix/>
          </a:blip>
          <a:srcRect b="0" l="0" r="0" t="0"/>
          <a:stretch/>
        </p:blipFill>
        <p:spPr>
          <a:xfrm>
            <a:off x="249975" y="246249"/>
            <a:ext cx="1145175" cy="585599"/>
          </a:xfrm>
          <a:prstGeom prst="rect">
            <a:avLst/>
          </a:prstGeom>
          <a:noFill/>
          <a:ln>
            <a:noFill/>
          </a:ln>
        </p:spPr>
      </p:pic>
      <p:cxnSp>
        <p:nvCxnSpPr>
          <p:cNvPr id="670" name="Google Shape;670;p28"/>
          <p:cNvCxnSpPr/>
          <p:nvPr/>
        </p:nvCxnSpPr>
        <p:spPr>
          <a:xfrm>
            <a:off x="7475" y="3099589"/>
            <a:ext cx="3926700" cy="0"/>
          </a:xfrm>
          <a:prstGeom prst="straightConnector1">
            <a:avLst/>
          </a:prstGeom>
          <a:noFill/>
          <a:ln cap="flat" cmpd="sng" w="19050">
            <a:solidFill>
              <a:srgbClr val="D71B7F"/>
            </a:solidFill>
            <a:prstDash val="solid"/>
            <a:round/>
            <a:headEnd len="sm" w="sm" type="none"/>
            <a:tailEnd len="sm" w="sm" type="none"/>
          </a:ln>
        </p:spPr>
      </p:cxnSp>
    </p:spTree>
  </p:cSld>
  <p:clrMapOvr>
    <a:masterClrMapping/>
  </p:clrMapOvr>
</p:sld>
</file>

<file path=ppt/theme/theme1.xml><?xml version="1.0" encoding="utf-8"?>
<a:theme xmlns:a="http://schemas.openxmlformats.org/drawingml/2006/main" xmlns:r="http://schemas.openxmlformats.org/officeDocument/2006/relationships" name="Master">
  <a:themeElements>
    <a:clrScheme name="Custom 9">
      <a:dk1>
        <a:srgbClr val="000000"/>
      </a:dk1>
      <a:lt1>
        <a:srgbClr val="FFFFFF"/>
      </a:lt1>
      <a:dk2>
        <a:srgbClr val="44546A"/>
      </a:dk2>
      <a:lt2>
        <a:srgbClr val="E7E6E6"/>
      </a:lt2>
      <a:accent1>
        <a:srgbClr val="D71B7F"/>
      </a:accent1>
      <a:accent2>
        <a:srgbClr val="12519C"/>
      </a:accent2>
      <a:accent3>
        <a:srgbClr val="6F3A93"/>
      </a:accent3>
      <a:accent4>
        <a:srgbClr val="F5B6D7"/>
      </a:accent4>
      <a:accent5>
        <a:srgbClr val="99BDEA"/>
      </a:accent5>
      <a:accent6>
        <a:srgbClr val="70AD47"/>
      </a:accent6>
      <a:hlink>
        <a:srgbClr val="FFFFFF"/>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Master">
  <a:themeElements>
    <a:clrScheme name="Custom 9">
      <a:dk1>
        <a:srgbClr val="000000"/>
      </a:dk1>
      <a:lt1>
        <a:srgbClr val="FFFFFF"/>
      </a:lt1>
      <a:dk2>
        <a:srgbClr val="44546A"/>
      </a:dk2>
      <a:lt2>
        <a:srgbClr val="E7E6E6"/>
      </a:lt2>
      <a:accent1>
        <a:srgbClr val="D71B7F"/>
      </a:accent1>
      <a:accent2>
        <a:srgbClr val="12519C"/>
      </a:accent2>
      <a:accent3>
        <a:srgbClr val="6F3A93"/>
      </a:accent3>
      <a:accent4>
        <a:srgbClr val="F5B6D7"/>
      </a:accent4>
      <a:accent5>
        <a:srgbClr val="99BDEA"/>
      </a:accent5>
      <a:accent6>
        <a:srgbClr val="70AD47"/>
      </a:accent6>
      <a:hlink>
        <a:srgbClr val="FFFFFF"/>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