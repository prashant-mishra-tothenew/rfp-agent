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6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Tahoma"/>
      <p:regular r:id="rId49"/>
      <p:bold r:id="rId50"/>
    </p:embeddedFont>
    <p:embeddedFont>
      <p:font typeface="Montserrat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jrcQjjxTMEva7885HIDdwaADPV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76C36E-D2AD-4AE9-B92F-3330EE880BF7}">
  <a:tblStyle styleId="{4776C36E-D2AD-4AE9-B92F-3330EE880BF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59350B3-BBFF-4BFA-8656-60803C743C3A}"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486883CD-E40B-490B-9AF7-50432A68762B}"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0409FBF-130E-4C89-B222-25A7FCDD58EE}" styleName="Table_3">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font" Target="fonts/MontserratSemiBold-regular.fntdata"/><Relationship Id="rId38" Type="http://schemas.openxmlformats.org/officeDocument/2006/relationships/font" Target="fonts/MontserratSemiBold-bold.fntdata"/><Relationship Id="rId39" Type="http://schemas.openxmlformats.org/officeDocument/2006/relationships/font" Target="fonts/MontserratSemiBold-italic.fntdata"/><Relationship Id="rId40" Type="http://schemas.openxmlformats.org/officeDocument/2006/relationships/font" Target="fonts/MontserratSemiBold-boldItalic.fntdata"/><Relationship Id="rId41" Type="http://schemas.openxmlformats.org/officeDocument/2006/relationships/font" Target="fonts/Montserrat-regular.fntdata"/><Relationship Id="rId42" Type="http://schemas.openxmlformats.org/officeDocument/2006/relationships/font" Target="fonts/Montserrat-bold.fntdata"/><Relationship Id="rId43" Type="http://schemas.openxmlformats.org/officeDocument/2006/relationships/font" Target="fonts/Montserrat-italic.fntdata"/><Relationship Id="rId44" Type="http://schemas.openxmlformats.org/officeDocument/2006/relationships/font" Target="fonts/Montserrat-boldItalic.fntdata"/><Relationship Id="rId45" Type="http://schemas.openxmlformats.org/officeDocument/2006/relationships/font" Target="fonts/MontserratMedium-regular.fntdata"/><Relationship Id="rId46" Type="http://schemas.openxmlformats.org/officeDocument/2006/relationships/font" Target="fonts/MontserratMedium-bold.fntdata"/><Relationship Id="rId47" Type="http://schemas.openxmlformats.org/officeDocument/2006/relationships/font" Target="fonts/MontserratMedium-italic.fntdata"/><Relationship Id="rId48" Type="http://schemas.openxmlformats.org/officeDocument/2006/relationships/font" Target="fonts/MontserratMedium-boldItalic.fntdata"/><Relationship Id="rId49" Type="http://schemas.openxmlformats.org/officeDocument/2006/relationships/font" Target="fonts/Tahoma-regular.fntdata"/><Relationship Id="rId50" Type="http://schemas.openxmlformats.org/officeDocument/2006/relationships/font" Target="fonts/Tahoma-bold.fntdata"/><Relationship Id="rId51" Type="http://schemas.openxmlformats.org/officeDocument/2006/relationships/font" Target="fonts/MontserratLight-regular.fntdata"/><Relationship Id="rId52" Type="http://schemas.openxmlformats.org/officeDocument/2006/relationships/font" Target="fonts/MontserratLight-bold.fntdata"/><Relationship Id="rId53" Type="http://schemas.openxmlformats.org/officeDocument/2006/relationships/font" Target="fonts/MontserratLight-italic.fntdata"/><Relationship Id="rId54" Type="http://schemas.openxmlformats.org/officeDocument/2006/relationships/font" Target="fonts/MontserratLight-boldItalic.fntdata"/><Relationship Id="rId55" Type="http://schemas.openxmlformats.org/officeDocument/2006/relationships/font" Target="fonts/CenturyGothic-regular.fntdata"/><Relationship Id="rId56" Type="http://schemas.openxmlformats.org/officeDocument/2006/relationships/font" Target="fonts/CenturyGothic-bold.fntdata"/><Relationship Id="rId57" Type="http://schemas.openxmlformats.org/officeDocument/2006/relationships/font" Target="fonts/CenturyGothic-italic.fntdata"/><Relationship Id="rId58" Type="http://schemas.openxmlformats.org/officeDocument/2006/relationships/font" Target="fonts/CenturyGothic-boldItalic.fntdata"/><Relationship Id="rId5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 name="Google Shape;61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18" name="Google Shape;18;p3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 name="Shape 19"/>
        <p:cNvGrpSpPr/>
        <p:nvPr/>
      </p:nvGrpSpPr>
      <p:grpSpPr>
        <a:xfrm>
          <a:off x="0" y="0"/>
          <a:ext cx="0" cy="0"/>
          <a:chOff x="0" y="0"/>
          <a:chExt cx="0" cy="0"/>
        </a:xfrm>
      </p:grpSpPr>
      <p:pic>
        <p:nvPicPr>
          <p:cNvPr id="20" name="Google Shape;20;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1" name="Google Shape;21;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3" name="Shape 23"/>
        <p:cNvGrpSpPr/>
        <p:nvPr/>
      </p:nvGrpSpPr>
      <p:grpSpPr>
        <a:xfrm>
          <a:off x="0" y="0"/>
          <a:ext cx="0" cy="0"/>
          <a:chOff x="0" y="0"/>
          <a:chExt cx="0" cy="0"/>
        </a:xfrm>
      </p:grpSpPr>
      <p:pic>
        <p:nvPicPr>
          <p:cNvPr id="24" name="Google Shape;24;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5" name="Google Shape;25;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6" name="Google Shape;26;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1" name="Shape 31"/>
        <p:cNvGrpSpPr/>
        <p:nvPr/>
      </p:nvGrpSpPr>
      <p:grpSpPr>
        <a:xfrm>
          <a:off x="0" y="0"/>
          <a:ext cx="0" cy="0"/>
          <a:chOff x="0" y="0"/>
          <a:chExt cx="0" cy="0"/>
        </a:xfrm>
      </p:grpSpPr>
      <p:sp>
        <p:nvSpPr>
          <p:cNvPr id="32" name="Google Shape;32;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4" name="Google Shape;34;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5" name="Google Shape;35;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36" name="Google Shape;36;p33"/>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
        <p:nvSpPr>
          <p:cNvPr id="37" name="Google Shape;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8" name="Shape 38"/>
        <p:cNvGrpSpPr/>
        <p:nvPr/>
      </p:nvGrpSpPr>
      <p:grpSpPr>
        <a:xfrm>
          <a:off x="0" y="0"/>
          <a:ext cx="0" cy="0"/>
          <a:chOff x="0" y="0"/>
          <a:chExt cx="0" cy="0"/>
        </a:xfrm>
      </p:grpSpPr>
      <p:pic>
        <p:nvPicPr>
          <p:cNvPr id="39" name="Google Shape;39;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40" name="Google Shape;40;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2" name="Google Shape;42;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3" name="Google Shape;43;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44" name="Google Shape;44;p34"/>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5" name="Shape 45"/>
        <p:cNvGrpSpPr/>
        <p:nvPr/>
      </p:nvGrpSpPr>
      <p:grpSpPr>
        <a:xfrm>
          <a:off x="0" y="0"/>
          <a:ext cx="0" cy="0"/>
          <a:chOff x="0" y="0"/>
          <a:chExt cx="0" cy="0"/>
        </a:xfrm>
      </p:grpSpPr>
      <p:sp>
        <p:nvSpPr>
          <p:cNvPr id="46" name="Google Shape;46;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7" name="Google Shape;47;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9" name="Shape 49"/>
        <p:cNvGrpSpPr/>
        <p:nvPr/>
      </p:nvGrpSpPr>
      <p:grpSpPr>
        <a:xfrm>
          <a:off x="0" y="0"/>
          <a:ext cx="0" cy="0"/>
          <a:chOff x="0" y="0"/>
          <a:chExt cx="0" cy="0"/>
        </a:xfrm>
      </p:grpSpPr>
      <p:pic>
        <p:nvPicPr>
          <p:cNvPr id="50" name="Google Shape;50;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51" name="Google Shape;51;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3" name="Google Shape;53;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4" name="Google Shape;54;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5" name="Google Shape;55;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6" name="Google Shape;56;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7" name="Google Shape;57;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8" name="Google Shape;58;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9" name="Google Shape;59;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60" name="Google Shape;60;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61" name="Google Shape;61;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62" name="Google Shape;62;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3" name="Google Shape;63;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4" name="Google Shape;64;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5" name="Google Shape;65;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6" name="Google Shape;66;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7" name="Google Shape;67;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8" name="Shape 68"/>
        <p:cNvGrpSpPr/>
        <p:nvPr/>
      </p:nvGrpSpPr>
      <p:grpSpPr>
        <a:xfrm>
          <a:off x="0" y="0"/>
          <a:ext cx="0" cy="0"/>
          <a:chOff x="0" y="0"/>
          <a:chExt cx="0" cy="0"/>
        </a:xfrm>
      </p:grpSpPr>
      <p:pic>
        <p:nvPicPr>
          <p:cNvPr id="69" name="Google Shape;69;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70" name="Google Shape;70;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71" name="Google Shape;71;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72" name="Shape 72"/>
        <p:cNvGrpSpPr/>
        <p:nvPr/>
      </p:nvGrpSpPr>
      <p:grpSpPr>
        <a:xfrm>
          <a:off x="0" y="0"/>
          <a:ext cx="0" cy="0"/>
          <a:chOff x="0" y="0"/>
          <a:chExt cx="0" cy="0"/>
        </a:xfrm>
      </p:grpSpPr>
      <p:pic>
        <p:nvPicPr>
          <p:cNvPr id="73" name="Google Shape;73;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4" name="Google Shape;7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7" name="Google Shape;77;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8" name="Shape 78"/>
        <p:cNvGrpSpPr/>
        <p:nvPr/>
      </p:nvGrpSpPr>
      <p:grpSpPr>
        <a:xfrm>
          <a:off x="0" y="0"/>
          <a:ext cx="0" cy="0"/>
          <a:chOff x="0" y="0"/>
          <a:chExt cx="0" cy="0"/>
        </a:xfrm>
      </p:grpSpPr>
      <p:sp>
        <p:nvSpPr>
          <p:cNvPr id="79" name="Google Shape;79;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0" name="Google Shape;80;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1" name="Google Shape;81;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2" name="Google Shape;82;p40"/>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83" name="Shape 83"/>
        <p:cNvGrpSpPr/>
        <p:nvPr/>
      </p:nvGrpSpPr>
      <p:grpSpPr>
        <a:xfrm>
          <a:off x="0" y="0"/>
          <a:ext cx="0" cy="0"/>
          <a:chOff x="0" y="0"/>
          <a:chExt cx="0" cy="0"/>
        </a:xfrm>
      </p:grpSpPr>
      <p:sp>
        <p:nvSpPr>
          <p:cNvPr id="84" name="Google Shape;84;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6" name="Google Shape;86;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7" name="Google Shape;87;p4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8" name="Shape 88"/>
        <p:cNvGrpSpPr/>
        <p:nvPr/>
      </p:nvGrpSpPr>
      <p:grpSpPr>
        <a:xfrm>
          <a:off x="0" y="0"/>
          <a:ext cx="0" cy="0"/>
          <a:chOff x="0" y="0"/>
          <a:chExt cx="0" cy="0"/>
        </a:xfrm>
      </p:grpSpPr>
      <p:sp>
        <p:nvSpPr>
          <p:cNvPr id="89" name="Google Shape;89;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90" name="Google Shape;90;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91" name="Shape 91"/>
        <p:cNvGrpSpPr/>
        <p:nvPr/>
      </p:nvGrpSpPr>
      <p:grpSpPr>
        <a:xfrm>
          <a:off x="0" y="0"/>
          <a:ext cx="0" cy="0"/>
          <a:chOff x="0" y="0"/>
          <a:chExt cx="0" cy="0"/>
        </a:xfrm>
      </p:grpSpPr>
      <p:pic>
        <p:nvPicPr>
          <p:cNvPr id="92" name="Google Shape;92;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93" name="Google Shape;93;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5" name="Google Shape;95;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6" name="Google Shape;96;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7" name="Google Shape;97;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98" name="Google Shape;98;p43"/>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7" name="Google Shape;13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id="28" name="Google Shape;28;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9" name="Google Shape;29;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30" name="Google Shape;3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 name="Shape 99"/>
        <p:cNvGrpSpPr/>
        <p:nvPr/>
      </p:nvGrpSpPr>
      <p:grpSpPr>
        <a:xfrm>
          <a:off x="0" y="0"/>
          <a:ext cx="0" cy="0"/>
          <a:chOff x="0" y="0"/>
          <a:chExt cx="0" cy="0"/>
        </a:xfrm>
      </p:grpSpPr>
      <p:sp>
        <p:nvSpPr>
          <p:cNvPr id="100" name="Google Shape;10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20.png"/><Relationship Id="rId11"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28.png"/><Relationship Id="rId5" Type="http://schemas.openxmlformats.org/officeDocument/2006/relationships/image" Target="../media/image45.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image" Target="../media/image27.png"/><Relationship Id="rId9" Type="http://schemas.openxmlformats.org/officeDocument/2006/relationships/image" Target="../media/image35.png"/><Relationship Id="rId10" Type="http://schemas.openxmlformats.org/officeDocument/2006/relationships/image" Target="../media/image15.png"/><Relationship Id="rId1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38.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37.png"/><Relationship Id="rId10"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44.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43.png"/><Relationship Id="rId10" Type="http://schemas.openxmlformats.org/officeDocument/2006/relationships/image" Target="../media/image46.png"/><Relationship Id="rId11"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42.png"/><Relationship Id="rId7" Type="http://schemas.openxmlformats.org/officeDocument/2006/relationships/image" Target="../media/image41.png"/><Relationship Id="rId8" Type="http://schemas.openxmlformats.org/officeDocument/2006/relationships/image" Target="../media/image51.png"/><Relationship Id="rId9" Type="http://schemas.openxmlformats.org/officeDocument/2006/relationships/image" Target="../media/image49.png"/><Relationship Id="rId10" Type="http://schemas.openxmlformats.org/officeDocument/2006/relationships/image" Target="../media/image15.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150" name="Google Shape;150;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51" name="Google Shape;151;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52" name="Google Shape;152;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3" name="Google Shape;153;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54" name="Google Shape;154;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55" name="Google Shape;155;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56" name="Google Shape;156;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7" name="Google Shape;157;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58" name="Google Shape;158;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59" name="Google Shape;159;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60" name="Google Shape;160;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Apex Retail Solutions</a:t>
            </a:r>
          </a:p>
          <a:p>
            <a:r>
              <a:t>Date : 11 Sep 2026</a:t>
            </a:r>
          </a:p>
          <a:p>
            <a:r>
              <a:t>Ref : 23d172aa-70cf-4077-8af8-4444be977838</a:t>
            </a:r>
          </a:p>
        </p:txBody>
      </p:sp>
      <p:cxnSp>
        <p:nvCxnSpPr>
          <p:cNvPr id="161" name="Google Shape;161;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62" name="Google Shape;162;p1"/>
          <p:cNvPicPr preferRelativeResize="0"/>
          <p:nvPr/>
        </p:nvPicPr>
        <p:blipFill rotWithShape="1">
          <a:blip r:embed="rId9">
            <a:alphaModFix/>
          </a:blip>
          <a:srcRect b="3131" l="0" r="0" t="3122"/>
          <a:stretch/>
        </p:blipFill>
        <p:spPr>
          <a:xfrm>
            <a:off x="5213775" y="246250"/>
            <a:ext cx="3634284" cy="585600"/>
          </a:xfrm>
          <a:prstGeom prst="rect">
            <a:avLst/>
          </a:prstGeom>
          <a:noFill/>
          <a:ln>
            <a:noFill/>
          </a:ln>
        </p:spPr>
      </p:pic>
      <p:pic>
        <p:nvPicPr>
          <p:cNvPr id="163" name="Google Shape;163;p1"/>
          <p:cNvPicPr preferRelativeResize="0"/>
          <p:nvPr/>
        </p:nvPicPr>
        <p:blipFill rotWithShape="1">
          <a:blip r:embed="rId10">
            <a:alphaModFix/>
          </a:blip>
          <a:srcRect b="-10" l="-6921" r="-6910" t="10"/>
          <a:stretch/>
        </p:blipFill>
        <p:spPr>
          <a:xfrm>
            <a:off x="6287808" y="4668680"/>
            <a:ext cx="265774" cy="398125"/>
          </a:xfrm>
          <a:prstGeom prst="rect">
            <a:avLst/>
          </a:prstGeom>
          <a:noFill/>
          <a:ln>
            <a:noFill/>
          </a:ln>
        </p:spPr>
      </p:pic>
      <p:cxnSp>
        <p:nvCxnSpPr>
          <p:cNvPr id="164" name="Google Shape;164;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65" name="Google Shape;165;p1"/>
          <p:cNvPicPr preferRelativeResize="0"/>
          <p:nvPr/>
        </p:nvPicPr>
        <p:blipFill rotWithShape="1">
          <a:blip r:embed="rId11">
            <a:alphaModFix/>
          </a:blip>
          <a:srcRect b="0" l="0" r="0" t="0"/>
          <a:stretch/>
        </p:blipFill>
        <p:spPr>
          <a:xfrm>
            <a:off x="1593475" y="242835"/>
            <a:ext cx="1432800" cy="5924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72" name="Google Shape;172;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73" name="Google Shape;173;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74" name="Google Shape;174;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75" name="Google Shape;175;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76" name="Google Shape;176;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77" name="Google Shape;177;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78" name="Google Shape;178;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 name="Google Shape;181;p2"/>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182" name="Google Shape;182;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83" name="Google Shape;183;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84" name="Google Shape;184;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86" name="Google Shape;186;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87" name="Google Shape;187;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95" name="Google Shape;195;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r>
              <a:t>Apex Retail Solutions seeks a robust, scalable, and secure digital commerce platform to enhance their retail operations. Our solution offers a comprehensive suite of capabilities, including faceted search, multi-currency checkout, and headless CMS integration, all built on a microservices architecture. We have a proven track record in developing secure, accessible, and user-centric applications, with experience in integrating with major platforms such as SAP, Stripe, and React Native. Our approach ensures seamless scalability, compliance, and real-time synchronization to meet the evolving needs of modern retail.</a:t>
            </a:r>
          </a:p>
        </p:txBody>
      </p:sp>
      <p:cxnSp>
        <p:nvCxnSpPr>
          <p:cNvPr id="196" name="Google Shape;196;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97" name="Google Shape;197;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204" name="Google Shape;204;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205" name="Google Shape;205;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206" name="Google Shape;206;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207" name="Google Shape;207;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208" name="Google Shape;208;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14" name="Google Shape;214;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215" name="Google Shape;215;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216" name="Google Shape;216;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r>
              <a:t>We have reviewed the RFP and identified key requirements that align with our capabilities. Our solution supports faceted search and instant filtering for large SKUs, integrates with multiple payment gateways including Stripe, PayPal, and Afterpay, and includes a React Native-based Self-Care app for customer engagement. We also support headless CMS integration, secure portals with custom pricing, and compliance with PCI-DSS, GDPR, and CCPA. Our frontend is decoupled from backend services using REST/GraphQL APIs, and we have experience integrating with SAP and CRM platforms for real-time data synchronization.</a:t>
            </a:r>
          </a:p>
        </p:txBody>
      </p:sp>
      <p:sp>
        <p:nvSpPr>
          <p:cNvPr id="217" name="Google Shape;217;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18" name="Google Shape;218;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224" name="Google Shape;224;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225" name="Google Shape;225;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6" name="Google Shape;226;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227" name="Google Shape;227;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228" name="Google Shape;228;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9" name="Google Shape;229;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230" name="Google Shape;230;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1" name="Google Shape;231;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2" name="Google Shape;232;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r>
              <a:t>Our proposed solution is a scalable, secure, and user-centric digital commerce platform built on a microservices architecture. It includes a React Native-based Self-Care app for customer engagement, headless CMS integration for marketing flexibility, and secure payment processing compliant with PCI-DSS. The solution supports real-time inventory and order synchronization with SAP, and ensures accessibility compliance with WCAG 2.1 AA standards. We will implement a secure, password-protected portal with custom pricing tiers and bulk ordering workflows, while maintaining a decoupled frontend architecture for seamless integration and future scalability.</a:t>
            </a:r>
          </a:p>
        </p:txBody>
      </p:sp>
      <p:cxnSp>
        <p:nvCxnSpPr>
          <p:cNvPr id="233" name="Google Shape;233;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4" name="Google Shape;234;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5" name="Google Shape;235;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236" name="Google Shape;236;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2" name="Google Shape;242;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43" name="Google Shape;243;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Our technical approach leverages a microservices architecture to support scalable faceted search and instant filtering for up to 50,000+ SKUs. We utilize REST/GraphQL APIs to decouple frontend and backend services, ensuring flexibility and performance. The solution is built with React Native and Flutter, enabling cross-platform mobile experiences while integrating with headless CMS platforms like Sanity and Strapi for dynamic content management.</a:t>
            </a:r>
          </a:p>
        </p:txBody>
      </p:sp>
      <p:cxnSp>
        <p:nvCxnSpPr>
          <p:cNvPr id="244" name="Google Shape;244;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45" name="Google Shape;245;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51" name="Google Shape;251;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52" name="Google Shape;252;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The solution is fully compliant with PCI-DSS Level 1 through tokenized card data flows via Stripe and secure payment processing. GDPR and CCPA compliance are also ensured through data encryption, user consent management, and secure data storage practices. The solution is built to meet WCAG 2.1 AA accessibility guidelines, including support for screen readers, keyboard navigation, and semantic HTML.</a:t>
            </a:r>
          </a:p>
        </p:txBody>
      </p:sp>
      <p:cxnSp>
        <p:nvCxnSpPr>
          <p:cNvPr id="253" name="Google Shape;253;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54" name="Google Shape;254;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61" name="Google Shape;261;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r>
              <a:t>The solution supports faceted search and instant filtering through a microservices architecture, enabling scalability for 50,000+ SKUs. The integration with SAP for inventory and order management ensures real-time synchronization and streamlined workflows. While we have experience integrating CRM and email platforms, the extent of automation and specific workflows may require further clarification.</a:t>
            </a:r>
          </a:p>
        </p:txBody>
      </p:sp>
      <p:cxnSp>
        <p:nvCxnSpPr>
          <p:cNvPr id="262" name="Google Shape;262;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63" name="Google Shape;263;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70" name="Google Shape;270;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1" name="Google Shape;271;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72" name="Google Shape;272;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3" name="Google Shape;273;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74" name="Google Shape;274;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r>
              <a:t>The solution supports faceted search and instant filtering through a microservices architecture, enabling scalability for 50,000+ SKUs. The integration with SAP for inventory and order management ensures real-time synchronization and streamlined workflows. While we have experience integrating CRM and email platforms, the extent of automation and specific workflows may require further clarification.</a:t>
            </a:r>
          </a:p>
        </p:txBody>
      </p:sp>
      <p:sp>
        <p:nvSpPr>
          <p:cNvPr id="275" name="Google Shape;275;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76" name="Google Shape;276;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83" name="Google Shape;283;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84" name="Google Shape;284;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85" name="Google Shape;285;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86" name="Google Shape;286;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87" name="Google Shape;287;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88" name="Google Shape;288;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89" name="Google Shape;289;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2" name="Google Shape;292;p11"/>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293" name="Google Shape;293;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94" name="Google Shape;294;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95" name="Google Shape;295;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97" name="Google Shape;297;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98" name="Google Shape;298;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305" name="Google Shape;305;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306" name="Google Shape;306;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307" name="Google Shape;307;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r>
              <a:t>Our proposed solution is a scalable, secure, and user-centric digital commerce platform built on a microservices architecture. It includes a React Native-based Self-Care app for customer engagement, headless CMS integration for marketing flexibility, and secure payment processing compliant with PCI-DSS. The solution supports real-time inventory and order synchronization with SAP, and ensures accessibility compliance with WCAG 2.1 AA standards. We will implement a secure, password-protected portal with custom pricing tiers and bulk ordering workflows, while maintaining a decoupled frontend architecture for seamless integration and future scalability.</a:t>
            </a:r>
          </a:p>
        </p:txBody>
      </p:sp>
      <p:sp>
        <p:nvSpPr>
          <p:cNvPr id="308" name="Google Shape;308;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314" name="Google Shape;314;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315" name="Google Shape;315;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316" name="Google Shape;316;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317" name="Google Shape;317;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318" name="Google Shape;318;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Racing Queensland Backend APIs</a:t>
            </a:r>
            <a:endParaRPr b="1" i="0" sz="800" u="none" cap="none" strike="noStrike">
              <a:solidFill>
                <a:srgbClr val="525252"/>
              </a:solidFill>
              <a:latin typeface="Montserrat"/>
              <a:ea typeface="Montserrat"/>
              <a:cs typeface="Montserrat"/>
              <a:sym typeface="Montserrat"/>
            </a:endParaRPr>
          </a:p>
        </p:txBody>
      </p:sp>
      <p:sp>
        <p:nvSpPr>
          <p:cNvPr id="319" name="Google Shape;319;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320" name="Google Shape;320;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321" name="Google Shape;321;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322" name="Google Shape;322;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3" name="Google Shape;323;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324" name="Google Shape;324;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325" name="Google Shape;325;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6" name="Google Shape;326;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327" name="Google Shape;327;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328" name="Google Shape;328;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329" name="Google Shape;329;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pic>
        <p:nvPicPr>
          <p:cNvPr id="330" name="Google Shape;330;p13"/>
          <p:cNvPicPr preferRelativeResize="0"/>
          <p:nvPr/>
        </p:nvPicPr>
        <p:blipFill rotWithShape="1">
          <a:blip r:embed="rId5">
            <a:alphaModFix/>
          </a:blip>
          <a:srcRect b="0" l="0" r="0" t="0"/>
          <a:stretch/>
        </p:blipFill>
        <p:spPr>
          <a:xfrm>
            <a:off x="7572597" y="1767500"/>
            <a:ext cx="324045" cy="357300"/>
          </a:xfrm>
          <a:prstGeom prst="rect">
            <a:avLst/>
          </a:prstGeom>
          <a:noFill/>
          <a:ln>
            <a:noFill/>
          </a:ln>
        </p:spPr>
      </p:pic>
      <p:cxnSp>
        <p:nvCxnSpPr>
          <p:cNvPr id="331" name="Google Shape;331;p13"/>
          <p:cNvCxnSpPr>
            <a:stCxn id="315" idx="0"/>
            <a:endCxn id="314"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332" name="Google Shape;332;p13"/>
          <p:cNvCxnSpPr>
            <a:stCxn id="316" idx="1"/>
            <a:endCxn id="321"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333" name="Google Shape;333;p13"/>
          <p:cNvCxnSpPr>
            <a:stCxn id="321" idx="1"/>
            <a:endCxn id="322"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4" name="Google Shape;334;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335" name="Google Shape;335;p13"/>
          <p:cNvCxnSpPr>
            <a:stCxn id="322" idx="1"/>
            <a:endCxn id="325"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6" name="Google Shape;336;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337" name="Google Shape;337;p13"/>
          <p:cNvCxnSpPr>
            <a:stCxn id="314" idx="0"/>
            <a:endCxn id="318"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338" name="Google Shape;338;p13"/>
          <p:cNvCxnSpPr>
            <a:stCxn id="314" idx="0"/>
            <a:endCxn id="319"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339" name="Google Shape;339;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345" name="Google Shape;345;p14"/>
          <p:cNvGraphicFramePr/>
          <p:nvPr/>
        </p:nvGraphicFramePr>
        <p:xfrm>
          <a:off x="264425" y="755775"/>
          <a:ext cx="3000000" cy="3000000"/>
        </p:xfrm>
        <a:graphic>
          <a:graphicData uri="http://schemas.openxmlformats.org/drawingml/2006/table">
            <a:tbl>
              <a:tblPr>
                <a:noFill/>
                <a:tableStyleId>{4776C36E-D2AD-4AE9-B92F-3330EE880BF7}</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346" name="Google Shape;346;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353" name="Google Shape;353;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354" name="Google Shape;35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355" name="Google Shape;355;p15"/>
          <p:cNvGraphicFramePr/>
          <p:nvPr/>
        </p:nvGraphicFramePr>
        <p:xfrm>
          <a:off x="189880" y="722548"/>
          <a:ext cx="3000000" cy="3000000"/>
        </p:xfrm>
        <a:graphic>
          <a:graphicData uri="http://schemas.openxmlformats.org/drawingml/2006/table">
            <a:tbl>
              <a:tblPr bandRow="1" firstRow="1">
                <a:noFill/>
                <a:tableStyleId>{759350B3-BBFF-4BFA-8656-60803C743C3A}</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56" name="Google Shape;356;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r>
              <a:t>Our technical approach leverages a microservices architecture to support scalable faceted search and instant filtering for up to 50,000+ SKUs. We utilize REST/GraphQL APIs to decouple frontend and backend services, ensuring flexibility and performance. The solution is built with React Native and Flutter, enabling cross-platform mobile experiences while integrating with headless CMS platforms like Sanity and Strapi for dynamic content management.</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63" name="Google Shape;363;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64" name="Google Shape;364;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65" name="Google Shape;365;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66" name="Google Shape;366;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67" name="Google Shape;367;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68" name="Google Shape;368;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69" name="Google Shape;369;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2" name="Google Shape;372;p16"/>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373" name="Google Shape;373;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74" name="Google Shape;374;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75" name="Google Shape;375;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77" name="Google Shape;377;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78" name="Google Shape;378;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5" name="Google Shape;385;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6" name="Google Shape;386;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87" name="Google Shape;387;p17"/>
          <p:cNvSpPr/>
          <p:nvPr/>
        </p:nvSpPr>
        <p:spPr>
          <a:xfrm>
            <a:off x="2303501" y="2698629"/>
            <a:ext cx="1202100" cy="13272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8" name="Google Shape;388;p17"/>
          <p:cNvSpPr/>
          <p:nvPr/>
        </p:nvSpPr>
        <p:spPr>
          <a:xfrm>
            <a:off x="3799228" y="2698629"/>
            <a:ext cx="1202100" cy="13668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9" name="Google Shape;389;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90" name="Google Shape;390;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91" name="Google Shape;391;p17"/>
          <p:cNvGrpSpPr/>
          <p:nvPr/>
        </p:nvGrpSpPr>
        <p:grpSpPr>
          <a:xfrm>
            <a:off x="3934107" y="2120825"/>
            <a:ext cx="817618" cy="72728"/>
            <a:chOff x="3198956" y="2429934"/>
            <a:chExt cx="1353000" cy="149400"/>
          </a:xfrm>
        </p:grpSpPr>
        <p:sp>
          <p:nvSpPr>
            <p:cNvPr id="392" name="Google Shape;392;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3" name="Google Shape;393;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4" name="Google Shape;394;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5" name="Google Shape;395;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6" name="Google Shape;396;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97" name="Google Shape;397;p17"/>
          <p:cNvCxnSpPr>
            <a:stCxn id="389" idx="3"/>
            <a:endCxn id="390"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8" name="Google Shape;398;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99" name="Google Shape;399;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400" name="Google Shape;400;p17"/>
          <p:cNvCxnSpPr>
            <a:stCxn id="390" idx="3"/>
            <a:endCxn id="399"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401" name="Google Shape;401;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402" name="Google Shape;402;p17"/>
          <p:cNvCxnSpPr>
            <a:stCxn id="399" idx="3"/>
            <a:endCxn id="401"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403" name="Google Shape;403;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404" name="Google Shape;404;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405" name="Google Shape;405;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6" name="Google Shape;406;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7" name="Google Shape;407;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8" name="Google Shape;408;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9" name="Google Shape;409;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0" name="Google Shape;410;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1" name="Google Shape;411;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2" name="Google Shape;412;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13" name="Google Shape;413;p17"/>
          <p:cNvCxnSpPr/>
          <p:nvPr/>
        </p:nvCxnSpPr>
        <p:spPr>
          <a:xfrm>
            <a:off x="3992919" y="2867471"/>
            <a:ext cx="0" cy="1011600"/>
          </a:xfrm>
          <a:prstGeom prst="straightConnector1">
            <a:avLst/>
          </a:prstGeom>
          <a:noFill/>
          <a:ln cap="flat" cmpd="sng" w="12700">
            <a:solidFill>
              <a:srgbClr val="7F7F7F"/>
            </a:solidFill>
            <a:prstDash val="solid"/>
            <a:miter lim="8000"/>
            <a:headEnd len="sm" w="sm" type="none"/>
            <a:tailEnd len="sm" w="sm" type="none"/>
          </a:ln>
        </p:spPr>
      </p:cxnSp>
      <p:sp>
        <p:nvSpPr>
          <p:cNvPr id="414" name="Google Shape;414;p17"/>
          <p:cNvSpPr/>
          <p:nvPr/>
        </p:nvSpPr>
        <p:spPr>
          <a:xfrm>
            <a:off x="3804525" y="4077663"/>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415" name="Google Shape;415;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416" name="Google Shape;416;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417" name="Google Shape;417;p17"/>
          <p:cNvSpPr/>
          <p:nvPr/>
        </p:nvSpPr>
        <p:spPr>
          <a:xfrm>
            <a:off x="2308793" y="4041178"/>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418" name="Google Shape;418;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419" name="Google Shape;419;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420" name="Google Shape;420;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421" name="Google Shape;421;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422" name="Google Shape;422;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423" name="Google Shape;423;p17"/>
          <p:cNvCxnSpPr/>
          <p:nvPr/>
        </p:nvCxnSpPr>
        <p:spPr>
          <a:xfrm flipH="1">
            <a:off x="4443986" y="292788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4" name="Google Shape;424;p17"/>
          <p:cNvCxnSpPr/>
          <p:nvPr/>
        </p:nvCxnSpPr>
        <p:spPr>
          <a:xfrm>
            <a:off x="3995621" y="2867471"/>
            <a:ext cx="147900" cy="0"/>
          </a:xfrm>
          <a:prstGeom prst="straightConnector1">
            <a:avLst/>
          </a:prstGeom>
          <a:noFill/>
          <a:ln cap="flat" cmpd="sng" w="9525">
            <a:solidFill>
              <a:srgbClr val="616161"/>
            </a:solidFill>
            <a:prstDash val="solid"/>
            <a:miter lim="8000"/>
            <a:headEnd len="sm" w="sm" type="none"/>
            <a:tailEnd len="med" w="med" type="triangle"/>
          </a:ln>
        </p:spPr>
      </p:cxnSp>
      <p:cxnSp>
        <p:nvCxnSpPr>
          <p:cNvPr id="425" name="Google Shape;425;p17"/>
          <p:cNvCxnSpPr/>
          <p:nvPr/>
        </p:nvCxnSpPr>
        <p:spPr>
          <a:xfrm>
            <a:off x="3992919" y="3881063"/>
            <a:ext cx="150900" cy="0"/>
          </a:xfrm>
          <a:prstGeom prst="straightConnector1">
            <a:avLst/>
          </a:prstGeom>
          <a:noFill/>
          <a:ln cap="flat" cmpd="sng" w="12700">
            <a:solidFill>
              <a:srgbClr val="7F7F7F"/>
            </a:solidFill>
            <a:prstDash val="solid"/>
            <a:miter lim="8000"/>
            <a:headEnd len="sm" w="sm" type="none"/>
            <a:tailEnd len="sm" w="sm" type="none"/>
          </a:ln>
        </p:spPr>
      </p:cxnSp>
      <p:sp>
        <p:nvSpPr>
          <p:cNvPr id="426" name="Google Shape;426;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427" name="Google Shape;427;p17"/>
          <p:cNvCxnSpPr/>
          <p:nvPr/>
        </p:nvCxnSpPr>
        <p:spPr>
          <a:xfrm flipH="1">
            <a:off x="4443986" y="3192628"/>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8" name="Google Shape;428;p17"/>
          <p:cNvCxnSpPr/>
          <p:nvPr/>
        </p:nvCxnSpPr>
        <p:spPr>
          <a:xfrm flipH="1">
            <a:off x="4443986" y="345737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9" name="Google Shape;429;p17"/>
          <p:cNvCxnSpPr/>
          <p:nvPr/>
        </p:nvCxnSpPr>
        <p:spPr>
          <a:xfrm flipH="1">
            <a:off x="4443986" y="3714215"/>
            <a:ext cx="1200" cy="105000"/>
          </a:xfrm>
          <a:prstGeom prst="straightConnector1">
            <a:avLst/>
          </a:prstGeom>
          <a:noFill/>
          <a:ln cap="flat" cmpd="sng" w="9525">
            <a:solidFill>
              <a:srgbClr val="616161"/>
            </a:solidFill>
            <a:prstDash val="solid"/>
            <a:miter lim="8000"/>
            <a:headEnd len="sm" w="sm" type="none"/>
            <a:tailEnd len="med" w="med" type="triangle"/>
          </a:ln>
        </p:spPr>
      </p:cxnSp>
      <p:pic>
        <p:nvPicPr>
          <p:cNvPr id="430" name="Google Shape;430;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431" name="Google Shape;431;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432" name="Google Shape;432;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433" name="Google Shape;433;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434" name="Google Shape;434;p17"/>
          <p:cNvGrpSpPr/>
          <p:nvPr/>
        </p:nvGrpSpPr>
        <p:grpSpPr>
          <a:xfrm>
            <a:off x="308754" y="1982358"/>
            <a:ext cx="1734192" cy="256660"/>
            <a:chOff x="530597" y="1659894"/>
            <a:chExt cx="1541778" cy="210931"/>
          </a:xfrm>
        </p:grpSpPr>
        <p:sp>
          <p:nvSpPr>
            <p:cNvPr id="435" name="Google Shape;435;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436" name="Google Shape;436;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37" name="Google Shape;437;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438" name="Google Shape;438;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439" name="Google Shape;439;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440" name="Google Shape;440;p17"/>
          <p:cNvGrpSpPr/>
          <p:nvPr/>
        </p:nvGrpSpPr>
        <p:grpSpPr>
          <a:xfrm>
            <a:off x="298800" y="2292174"/>
            <a:ext cx="1734192" cy="256660"/>
            <a:chOff x="530597" y="1659894"/>
            <a:chExt cx="1541778" cy="210931"/>
          </a:xfrm>
        </p:grpSpPr>
        <p:sp>
          <p:nvSpPr>
            <p:cNvPr id="441" name="Google Shape;441;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442" name="Google Shape;442;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3" name="Google Shape;443;p17"/>
          <p:cNvGrpSpPr/>
          <p:nvPr/>
        </p:nvGrpSpPr>
        <p:grpSpPr>
          <a:xfrm>
            <a:off x="308757" y="2617640"/>
            <a:ext cx="1734192" cy="256660"/>
            <a:chOff x="530597" y="1659894"/>
            <a:chExt cx="1541778" cy="210931"/>
          </a:xfrm>
        </p:grpSpPr>
        <p:sp>
          <p:nvSpPr>
            <p:cNvPr id="444" name="Google Shape;444;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445" name="Google Shape;445;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6" name="Google Shape;446;p17"/>
          <p:cNvGrpSpPr/>
          <p:nvPr/>
        </p:nvGrpSpPr>
        <p:grpSpPr>
          <a:xfrm>
            <a:off x="298803" y="2943091"/>
            <a:ext cx="1734192" cy="256660"/>
            <a:chOff x="530597" y="1659894"/>
            <a:chExt cx="1541778" cy="210931"/>
          </a:xfrm>
        </p:grpSpPr>
        <p:sp>
          <p:nvSpPr>
            <p:cNvPr id="447" name="Google Shape;447;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448" name="Google Shape;448;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9" name="Google Shape;449;p17"/>
          <p:cNvGrpSpPr/>
          <p:nvPr/>
        </p:nvGrpSpPr>
        <p:grpSpPr>
          <a:xfrm>
            <a:off x="298803" y="3281643"/>
            <a:ext cx="1734192" cy="256660"/>
            <a:chOff x="530597" y="1659894"/>
            <a:chExt cx="1541778" cy="210931"/>
          </a:xfrm>
        </p:grpSpPr>
        <p:sp>
          <p:nvSpPr>
            <p:cNvPr id="450" name="Google Shape;45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451" name="Google Shape;45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52" name="Google Shape;452;p17"/>
          <p:cNvGrpSpPr/>
          <p:nvPr/>
        </p:nvGrpSpPr>
        <p:grpSpPr>
          <a:xfrm>
            <a:off x="298803" y="3624423"/>
            <a:ext cx="1734192" cy="256660"/>
            <a:chOff x="530597" y="1659894"/>
            <a:chExt cx="1541778" cy="210931"/>
          </a:xfrm>
        </p:grpSpPr>
        <p:sp>
          <p:nvSpPr>
            <p:cNvPr id="453" name="Google Shape;453;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454" name="Google Shape;454;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55" name="Google Shape;455;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r>
              <a:t>We follow an agile development lifecycle, with iterative sprints focused on delivering incremental value. Our methodology includes continuous integration and delivery (CI/CD) pipelines to ensure rapid deployment and testing. We prioritize secure, password-protected portals with custom price tiers and bulk ordering workflows, while also ensuring seamless payment processing through Stripe, PayPal, and Afterpay for multi-currency support.</a:t>
            </a:r>
          </a:p>
        </p:txBody>
      </p:sp>
      <p:sp>
        <p:nvSpPr>
          <p:cNvPr id="456" name="Google Shape;456;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57" name="Google Shape;457;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63" name="Google Shape;463;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4" name="Google Shape;464;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5" name="Google Shape;465;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6" name="Google Shape;466;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7" name="Google Shape;467;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68" name="Google Shape;468;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69" name="Google Shape;469;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72" name="Google Shape;472;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73" name="Google Shape;473;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74" name="Google Shape;474;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75" name="Google Shape;475;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6" name="Google Shape;476;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77" name="Google Shape;477;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8" name="Google Shape;478;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79" name="Google Shape;479;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80" name="Google Shape;480;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1" name="Google Shape;481;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82" name="Google Shape;482;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83" name="Google Shape;483;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84" name="Google Shape;484;p18"/>
          <p:cNvCxnSpPr/>
          <p:nvPr/>
        </p:nvCxnSpPr>
        <p:spPr>
          <a:xfrm rot="10800000">
            <a:off x="6608487" y="3903739"/>
            <a:ext cx="1217400" cy="5100"/>
          </a:xfrm>
          <a:prstGeom prst="straightConnector1">
            <a:avLst/>
          </a:prstGeom>
          <a:noFill/>
          <a:ln cap="flat" cmpd="sng" w="19050">
            <a:solidFill>
              <a:srgbClr val="999999"/>
            </a:solidFill>
            <a:prstDash val="dot"/>
            <a:miter lim="80"/>
            <a:headEnd len="sm" w="sm" type="oval"/>
            <a:tailEnd len="sm" w="sm" type="oval"/>
          </a:ln>
        </p:spPr>
      </p:cxnSp>
      <p:cxnSp>
        <p:nvCxnSpPr>
          <p:cNvPr id="485" name="Google Shape;485;p18"/>
          <p:cNvCxnSpPr/>
          <p:nvPr/>
        </p:nvCxnSpPr>
        <p:spPr>
          <a:xfrm>
            <a:off x="7149754" y="3492278"/>
            <a:ext cx="900" cy="902700"/>
          </a:xfrm>
          <a:prstGeom prst="straightConnector1">
            <a:avLst/>
          </a:prstGeom>
          <a:noFill/>
          <a:ln cap="flat" cmpd="sng" w="19050">
            <a:solidFill>
              <a:srgbClr val="999999"/>
            </a:solidFill>
            <a:prstDash val="dot"/>
            <a:miter lim="80"/>
            <a:headEnd len="sm" w="sm" type="oval"/>
            <a:tailEnd len="sm" w="sm" type="oval"/>
          </a:ln>
        </p:spPr>
      </p:cxnSp>
      <p:sp>
        <p:nvSpPr>
          <p:cNvPr id="486" name="Google Shape;486;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7" name="Google Shape;487;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88" name="Google Shape;488;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89" name="Google Shape;489;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90" name="Google Shape;490;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91" name="Google Shape;491;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92" name="Google Shape;492;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93" name="Google Shape;493;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94" name="Google Shape;494;p18"/>
          <p:cNvCxnSpPr/>
          <p:nvPr/>
        </p:nvCxnSpPr>
        <p:spPr>
          <a:xfrm rot="10800000">
            <a:off x="2632112" y="175270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5" name="Google Shape;495;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6" name="Google Shape;496;p18"/>
          <p:cNvCxnSpPr/>
          <p:nvPr/>
        </p:nvCxnSpPr>
        <p:spPr>
          <a:xfrm>
            <a:off x="5423642" y="177225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7" name="Google Shape;497;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8" name="Google Shape;498;p18"/>
          <p:cNvCxnSpPr/>
          <p:nvPr/>
        </p:nvCxnSpPr>
        <p:spPr>
          <a:xfrm>
            <a:off x="5423650" y="2504893"/>
            <a:ext cx="0" cy="332700"/>
          </a:xfrm>
          <a:prstGeom prst="straightConnector1">
            <a:avLst/>
          </a:prstGeom>
          <a:noFill/>
          <a:ln cap="flat" cmpd="sng" w="25400">
            <a:solidFill>
              <a:srgbClr val="B7B7B7"/>
            </a:solidFill>
            <a:prstDash val="solid"/>
            <a:miter lim="8000"/>
            <a:headEnd len="sm" w="sm" type="none"/>
            <a:tailEnd len="med" w="med" type="triangle"/>
          </a:ln>
        </p:spPr>
      </p:cxnSp>
      <p:cxnSp>
        <p:nvCxnSpPr>
          <p:cNvPr id="499" name="Google Shape;499;p18"/>
          <p:cNvCxnSpPr>
            <a:stCxn id="490" idx="3"/>
            <a:endCxn id="489" idx="1"/>
          </p:cNvCxnSpPr>
          <p:nvPr/>
        </p:nvCxnSpPr>
        <p:spPr>
          <a:xfrm flipH="1" rot="10800000">
            <a:off x="3750325" y="1548954"/>
            <a:ext cx="729000" cy="300"/>
          </a:xfrm>
          <a:prstGeom prst="straightConnector1">
            <a:avLst/>
          </a:prstGeom>
          <a:noFill/>
          <a:ln cap="flat" cmpd="sng" w="9525">
            <a:solidFill>
              <a:srgbClr val="B7B7B7"/>
            </a:solidFill>
            <a:prstDash val="solid"/>
            <a:miter lim="8000"/>
            <a:headEnd len="med" w="med" type="triangle"/>
            <a:tailEnd len="med" w="med" type="triangle"/>
          </a:ln>
        </p:spPr>
      </p:cxnSp>
      <p:cxnSp>
        <p:nvCxnSpPr>
          <p:cNvPr id="500" name="Google Shape;500;p18"/>
          <p:cNvCxnSpPr>
            <a:stCxn id="501" idx="3"/>
            <a:endCxn id="491" idx="1"/>
          </p:cNvCxnSpPr>
          <p:nvPr/>
        </p:nvCxnSpPr>
        <p:spPr>
          <a:xfrm>
            <a:off x="3750325" y="2229258"/>
            <a:ext cx="729000" cy="0"/>
          </a:xfrm>
          <a:prstGeom prst="straightConnector1">
            <a:avLst/>
          </a:prstGeom>
          <a:noFill/>
          <a:ln cap="flat" cmpd="sng" w="9525">
            <a:solidFill>
              <a:srgbClr val="B7B7B7"/>
            </a:solidFill>
            <a:prstDash val="solid"/>
            <a:miter lim="8000"/>
            <a:headEnd len="med" w="med" type="triangle"/>
            <a:tailEnd len="med" w="med" type="triangle"/>
          </a:ln>
        </p:spPr>
      </p:cxnSp>
      <p:sp>
        <p:nvSpPr>
          <p:cNvPr id="501" name="Google Shape;501;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502" name="Google Shape;502;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503" name="Google Shape;503;p18"/>
          <p:cNvCxnSpPr/>
          <p:nvPr/>
        </p:nvCxnSpPr>
        <p:spPr>
          <a:xfrm rot="10800000">
            <a:off x="2632100" y="2507218"/>
            <a:ext cx="0" cy="365700"/>
          </a:xfrm>
          <a:prstGeom prst="straightConnector1">
            <a:avLst/>
          </a:prstGeom>
          <a:noFill/>
          <a:ln cap="flat" cmpd="sng" w="25400">
            <a:solidFill>
              <a:srgbClr val="B7B7B7"/>
            </a:solidFill>
            <a:prstDash val="solid"/>
            <a:miter lim="8000"/>
            <a:headEnd len="sm" w="sm" type="none"/>
            <a:tailEnd len="med" w="med" type="triangle"/>
          </a:ln>
        </p:spPr>
      </p:cxnSp>
      <p:cxnSp>
        <p:nvCxnSpPr>
          <p:cNvPr id="504" name="Google Shape;504;p18"/>
          <p:cNvCxnSpPr>
            <a:stCxn id="488" idx="0"/>
            <a:endCxn id="469"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505" name="Google Shape;505;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506" name="Google Shape;506;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507" name="Google Shape;507;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8" name="Google Shape;508;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509" name="Google Shape;509;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0" name="Google Shape;510;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511" name="Google Shape;511;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512" name="Google Shape;512;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513" name="Google Shape;513;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514" name="Google Shape;514;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515" name="Google Shape;515;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516" name="Google Shape;516;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517" name="Google Shape;517;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518" name="Google Shape;518;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519" name="Google Shape;519;p18"/>
          <p:cNvCxnSpPr>
            <a:stCxn id="505"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520" name="Google Shape;520;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521" name="Google Shape;521;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pic>
        <p:nvPicPr>
          <p:cNvPr id="522" name="Google Shape;522;p18"/>
          <p:cNvPicPr preferRelativeResize="0"/>
          <p:nvPr/>
        </p:nvPicPr>
        <p:blipFill rotWithShape="1">
          <a:blip r:embed="rId11">
            <a:alphaModFix/>
          </a:blip>
          <a:srcRect b="0" l="0" r="0" t="0"/>
          <a:stretch/>
        </p:blipFill>
        <p:spPr>
          <a:xfrm>
            <a:off x="2384560" y="678107"/>
            <a:ext cx="542839" cy="224450"/>
          </a:xfrm>
          <a:prstGeom prst="rect">
            <a:avLst/>
          </a:prstGeom>
          <a:noFill/>
          <a:ln>
            <a:noFill/>
          </a:ln>
        </p:spPr>
      </p:pic>
      <p:sp>
        <p:nvSpPr>
          <p:cNvPr id="523" name="Google Shape;523;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529" name="Google Shape;529;p19"/>
          <p:cNvGraphicFramePr/>
          <p:nvPr/>
        </p:nvGraphicFramePr>
        <p:xfrm>
          <a:off x="232325" y="700950"/>
          <a:ext cx="3000000" cy="3000000"/>
        </p:xfrm>
        <a:graphic>
          <a:graphicData uri="http://schemas.openxmlformats.org/drawingml/2006/table">
            <a:tbl>
              <a:tblPr>
                <a:noFill/>
                <a:tableStyleId>{486883CD-E40B-490B-9AF7-50432A68762B}</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530" name="Google Shape;530;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531" name="Google Shape;531;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3" name="Google Shape;533;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534" name="Google Shape;534;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5" name="Google Shape;535;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536" name="Google Shape;536;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r>
              <a:t>We follow an agile development lifecycle, with iterative sprints focused on delivering incremental value. Our methodology includes continuous integration and delivery (CI/CD) pipelines to ensure rapid deployment and testing. We prioritize secure, password-protected portals with custom price tiers and bulk ordering workflows, while also ensuring seamless payment processing through Stripe, PayPal, and Afterpay for multi-currency support.</a:t>
            </a:r>
          </a:p>
        </p:txBody>
      </p:sp>
      <p:sp>
        <p:nvSpPr>
          <p:cNvPr id="537" name="Google Shape;537;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538" name="Google Shape;538;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539" name="Google Shape;539;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540" name="Google Shape;540;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541" name="Google Shape;541;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542" name="Google Shape;542;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543" name="Google Shape;543;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544" name="Google Shape;544;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545" name="Google Shape;545;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546" name="Google Shape;546;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53" name="Google Shape;553;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54" name="Google Shape;554;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55" name="Google Shape;555;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556" name="Google Shape;556;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57" name="Google Shape;557;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58" name="Google Shape;558;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59" name="Google Shape;559;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2" name="Google Shape;562;p20"/>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563" name="Google Shape;563;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64" name="Google Shape;564;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65" name="Google Shape;565;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67" name="Google Shape;567;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68" name="Google Shape;568;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75" name="Google Shape;575;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6" name="Google Shape;576;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77" name="Google Shape;577;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a:t>
            </a:r>
            <a:r>
              <a:rPr b="1" lang="en" sz="1100">
                <a:latin typeface="Montserrat"/>
                <a:ea typeface="Montserrat"/>
                <a:cs typeface="Montserrat"/>
                <a:sym typeface="Montserrat"/>
              </a:rPr>
              <a:t>80</a:t>
            </a:r>
            <a:r>
              <a:rPr b="1" i="0" lang="en" sz="1100" u="none" cap="none" strike="noStrike">
                <a:solidFill>
                  <a:srgbClr val="000000"/>
                </a:solidFill>
                <a:latin typeface="Montserrat"/>
                <a:ea typeface="Montserrat"/>
                <a:cs typeface="Montserrat"/>
                <a:sym typeface="Montserrat"/>
              </a:rPr>
              <a:t>,712.63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a:t>
            </a:r>
            <a:r>
              <a:rPr b="1" lang="en" sz="1100">
                <a:latin typeface="Montserrat"/>
                <a:ea typeface="Montserrat"/>
                <a:cs typeface="Montserrat"/>
                <a:sym typeface="Montserrat"/>
              </a:rPr>
              <a:t>78</a:t>
            </a:r>
            <a:r>
              <a:rPr b="1" i="0" lang="en" sz="1100" u="none" cap="none" strike="noStrike">
                <a:solidFill>
                  <a:srgbClr val="000000"/>
                </a:solidFill>
                <a:latin typeface="Montserrat"/>
                <a:ea typeface="Montserrat"/>
                <a:cs typeface="Montserrat"/>
                <a:sym typeface="Montserrat"/>
              </a:rPr>
              <a:t>,727.00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8" name="Google Shape;578;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79" name="Google Shape;579;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80" name="Google Shape;580;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81" name="Google Shape;581;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2"/>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Payment Milestones</a:t>
            </a:r>
            <a:endParaRPr b="1" i="0" sz="2000" u="none" cap="none" strike="noStrike">
              <a:solidFill>
                <a:schemeClr val="dk1"/>
              </a:solidFill>
              <a:latin typeface="Montserrat"/>
              <a:ea typeface="Montserrat"/>
              <a:cs typeface="Montserrat"/>
              <a:sym typeface="Montserrat"/>
            </a:endParaRPr>
          </a:p>
        </p:txBody>
      </p:sp>
      <p:graphicFrame>
        <p:nvGraphicFramePr>
          <p:cNvPr id="587" name="Google Shape;587;p22"/>
          <p:cNvGraphicFramePr/>
          <p:nvPr/>
        </p:nvGraphicFramePr>
        <p:xfrm>
          <a:off x="450100" y="877425"/>
          <a:ext cx="3000000" cy="3000000"/>
        </p:xfrm>
        <a:graphic>
          <a:graphicData uri="http://schemas.openxmlformats.org/drawingml/2006/table">
            <a:tbl>
              <a:tblPr>
                <a:noFill/>
                <a:tableStyleId>{A0409FBF-130E-4C89-B222-25A7FCDD58EE}</a:tableStyleId>
              </a:tblPr>
              <a:tblGrid>
                <a:gridCol w="3532775"/>
                <a:gridCol w="2286950"/>
                <a:gridCol w="2286950"/>
              </a:tblGrid>
              <a:tr h="330475">
                <a:tc gridSpan="2">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Payment Milestones</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2"/>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Cost in AUD</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Kickoff</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 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Discovery Phase ( 2 Weeks) Sign off</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6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25%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1</a:t>
                      </a:r>
                      <a:r>
                        <a:rPr lang="en" sz="1100" u="none" cap="none" strike="noStrike">
                          <a:latin typeface="Montserrat"/>
                          <a:ea typeface="Montserrat"/>
                          <a:cs typeface="Montserrat"/>
                          <a:sym typeface="Montserrat"/>
                        </a:rPr>
                        <a:t>,682</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10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30%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,418</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UAT Sign off</a:t>
                      </a:r>
                      <a:endParaRPr b="1" sz="1100" u="none" cap="none" strike="noStrike">
                        <a:solidFill>
                          <a:srgbClr val="000000"/>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1</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,945</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Project Go-live</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5% of total cost</a:t>
                      </a:r>
                      <a:endParaRPr sz="1100" u="none" cap="none" strike="noStrike">
                        <a:solidFill>
                          <a:schemeClr val="dk1"/>
                        </a:solidFill>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3</a:t>
                      </a:r>
                      <a:r>
                        <a:rPr lang="en" sz="1100" u="none" cap="none" strike="noStrike">
                          <a:latin typeface="Montserrat"/>
                          <a:ea typeface="Montserrat"/>
                          <a:cs typeface="Montserrat"/>
                          <a:sym typeface="Montserrat"/>
                        </a:rPr>
                        <a:t>,736</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Hypercare </a:t>
                      </a:r>
                      <a:endParaRPr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TTN Investment</a:t>
                      </a:r>
                      <a:endParaRPr sz="1100" u="none" cap="none" strike="noStrike">
                        <a:solidFill>
                          <a:schemeClr val="lt1"/>
                        </a:solidFill>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0</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gridSpan="2">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Total Cost</a:t>
                      </a:r>
                      <a:endParaRPr b="1" sz="1100" u="none" cap="none" strike="noStrike">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AUD </a:t>
                      </a:r>
                      <a:r>
                        <a:rPr b="1" lang="en" sz="1100">
                          <a:latin typeface="Montserrat"/>
                          <a:ea typeface="Montserrat"/>
                          <a:cs typeface="Montserrat"/>
                          <a:sym typeface="Montserrat"/>
                        </a:rPr>
                        <a:t>87</a:t>
                      </a:r>
                      <a:r>
                        <a:rPr b="1" lang="en" sz="1100" u="none" cap="none" strike="noStrike">
                          <a:latin typeface="Montserrat"/>
                          <a:ea typeface="Montserrat"/>
                          <a:cs typeface="Montserrat"/>
                          <a:sym typeface="Montserrat"/>
                        </a:rPr>
                        <a:t>,727</a:t>
                      </a:r>
                      <a:endParaRPr b="1"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r>
            </a:tbl>
          </a:graphicData>
        </a:graphic>
      </p:graphicFrame>
      <p:sp>
        <p:nvSpPr>
          <p:cNvPr id="588" name="Google Shape;588;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95" name="Google Shape;595;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96" name="Google Shape;596;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97" name="Google Shape;597;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98" name="Google Shape;598;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99" name="Google Shape;599;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600" name="Google Shape;600;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601" name="Google Shape;601;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4" name="Google Shape;604;p23"/>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605" name="Google Shape;605;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606" name="Google Shape;606;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607" name="Google Shape;607;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609" name="Google Shape;609;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610" name="Google Shape;610;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5" name="Shape 615"/>
        <p:cNvGrpSpPr/>
        <p:nvPr/>
      </p:nvGrpSpPr>
      <p:grpSpPr>
        <a:xfrm>
          <a:off x="0" y="0"/>
          <a:ext cx="0" cy="0"/>
          <a:chOff x="0" y="0"/>
          <a:chExt cx="0" cy="0"/>
        </a:xfrm>
      </p:grpSpPr>
      <p:sp>
        <p:nvSpPr>
          <p:cNvPr id="616" name="Google Shape;616;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618" name="Google Shape;618;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19" name="Google Shape;619;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20" name="Google Shape;620;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21" name="Google Shape;621;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622" name="Google Shape;622;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23" name="Google Shape;623;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24" name="Google Shape;624;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625" name="Google Shape;625;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26" name="Google Shape;626;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633" name="Google Shape;633;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634" name="Google Shape;634;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35" name="Google Shape;635;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636" name="Google Shape;636;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637" name="Google Shape;637;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38" name="Google Shape;638;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39" name="Google Shape;639;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640" name="Google Shape;640;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641" name="Google Shape;641;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642" name="Google Shape;642;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6" name="Shape 646"/>
        <p:cNvGrpSpPr/>
        <p:nvPr/>
      </p:nvGrpSpPr>
      <p:grpSpPr>
        <a:xfrm>
          <a:off x="0" y="0"/>
          <a:ext cx="0" cy="0"/>
          <a:chOff x="0" y="0"/>
          <a:chExt cx="0" cy="0"/>
        </a:xfrm>
      </p:grpSpPr>
      <p:sp>
        <p:nvSpPr>
          <p:cNvPr id="647" name="Google Shape;647;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649" name="Google Shape;649;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650" name="Google Shape;650;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51" name="Google Shape;651;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52" name="Google Shape;652;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653" name="Google Shape;653;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54" name="Google Shape;654;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655" name="Google Shape;655;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656" name="Google Shape;656;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57" name="Google Shape;657;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658" name="Google Shape;658;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659" name="Google Shape;659;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660" name="Google Shape;660;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661" name="Google Shape;661;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67" name="Google Shape;667;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68" name="Google Shape;668;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69" name="Google Shape;669;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70" name="Google Shape;670;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r>
              <a:t>Apex Retail Solutions seeks a robust, scalable, and secure digital commerce platform to enhance their retail operations. Our solution offers a comprehensive suite of capabilities, including faceted search, multi-currency checkout, and headless CMS integration, all built on a microservices architecture. We have a proven track record in developing secure, accessible, and user-centric applications, with experience in integrating with major platforms such as SAP, Stripe, and React Native. Our approach ensures seamless scalability, compliance, and real-time synchronization to meet the evolving needs of modern retail.</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id="675" name="Google Shape;675;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pic>
        <p:nvPicPr>
          <p:cNvPr id="676" name="Google Shape;676;p28"/>
          <p:cNvPicPr preferRelativeResize="0"/>
          <p:nvPr/>
        </p:nvPicPr>
        <p:blipFill rotWithShape="1">
          <a:blip r:embed="rId4">
            <a:alphaModFix/>
          </a:blip>
          <a:srcRect b="3131" l="0" r="0" t="3122"/>
          <a:stretch/>
        </p:blipFill>
        <p:spPr>
          <a:xfrm>
            <a:off x="210229" y="2037900"/>
            <a:ext cx="5420723" cy="873450"/>
          </a:xfrm>
          <a:prstGeom prst="rect">
            <a:avLst/>
          </a:prstGeom>
          <a:noFill/>
          <a:ln>
            <a:noFill/>
          </a:ln>
        </p:spPr>
      </p:pic>
      <p:cxnSp>
        <p:nvCxnSpPr>
          <p:cNvPr id="677" name="Google Shape;677;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